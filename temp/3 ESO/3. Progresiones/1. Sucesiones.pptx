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6425F-BA0D-44D5-B486-3600DA79E498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1AEA5-2712-48C2-A70F-2C9F570C18A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1861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AEA5-2712-48C2-A70F-2C9F570C18A6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6055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AEA5-2712-48C2-A70F-2C9F570C18A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3094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AEA5-2712-48C2-A70F-2C9F570C18A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7557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0.pn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1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9" Type="http://schemas.openxmlformats.org/officeDocument/2006/relationships/image" Target="../media/image1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90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Progresiones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48971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sucesiones</a:t>
            </a:r>
            <a:r>
              <a:rPr lang="es-ES" sz="2000" b="1" dirty="0"/>
              <a:t> son conjuntos de números (u otros objetos) dados ordenadamente.</a:t>
            </a:r>
            <a:endParaRPr lang="es-ES" sz="28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CAF0DC20-6DDE-2EFC-F109-2DA1470A7AB2}"/>
              </a:ext>
            </a:extLst>
          </p:cNvPr>
          <p:cNvSpPr/>
          <p:nvPr/>
        </p:nvSpPr>
        <p:spPr>
          <a:xfrm>
            <a:off x="535084" y="1625605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9E8EFBD7-E4E6-B336-FB83-B3D4EB6A3B0B}"/>
              </a:ext>
            </a:extLst>
          </p:cNvPr>
          <p:cNvSpPr txBox="1"/>
          <p:nvPr/>
        </p:nvSpPr>
        <p:spPr>
          <a:xfrm>
            <a:off x="535084" y="162560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elementos de la sucesión se llaman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términos</a:t>
            </a:r>
            <a:r>
              <a:rPr lang="es-ES" sz="2000" b="1" dirty="0"/>
              <a:t> y se designan mediante una letra con subíndice. El subíndice de cada elemento indica el lugar que ocupa en la sucesión: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8BDE328-6E96-4485-643A-365B0C2CE270}"/>
              </a:ext>
            </a:extLst>
          </p:cNvPr>
          <p:cNvSpPr txBox="1"/>
          <p:nvPr/>
        </p:nvSpPr>
        <p:spPr>
          <a:xfrm>
            <a:off x="4617243" y="2496465"/>
            <a:ext cx="29575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u="none" strike="noStrike" baseline="0" dirty="0"/>
              <a:t>s</a:t>
            </a:r>
            <a:r>
              <a:rPr lang="es-ES" sz="2000" b="1" u="none" strike="noStrike" baseline="-25000" dirty="0"/>
              <a:t>1</a:t>
            </a:r>
            <a:r>
              <a:rPr lang="es-ES" sz="2000" b="1" u="none" strike="noStrike" baseline="0" dirty="0"/>
              <a:t>, s</a:t>
            </a:r>
            <a:r>
              <a:rPr lang="es-ES" sz="2000" b="1" u="none" strike="noStrike" baseline="-25000" dirty="0"/>
              <a:t>2</a:t>
            </a:r>
            <a:r>
              <a:rPr lang="es-ES" sz="2000" b="1" u="none" strike="noStrike" baseline="0" dirty="0"/>
              <a:t>, s</a:t>
            </a:r>
            <a:r>
              <a:rPr lang="es-ES" sz="2000" b="1" u="none" strike="noStrike" baseline="-25000" dirty="0"/>
              <a:t>3</a:t>
            </a:r>
            <a:r>
              <a:rPr lang="es-ES" sz="2000" b="1" u="none" strike="noStrike" baseline="0" dirty="0"/>
              <a:t>, s</a:t>
            </a:r>
            <a:r>
              <a:rPr lang="es-ES" sz="2000" b="1" u="none" strike="noStrike" baseline="-25000" dirty="0"/>
              <a:t>4</a:t>
            </a:r>
            <a:r>
              <a:rPr lang="es-ES" sz="2000" b="1" u="none" strike="noStrike" baseline="0" dirty="0"/>
              <a:t>, s</a:t>
            </a:r>
            <a:r>
              <a:rPr lang="es-ES" sz="2000" b="1" u="none" strike="noStrike" baseline="-25000" dirty="0"/>
              <a:t>5</a:t>
            </a:r>
            <a:r>
              <a:rPr lang="es-ES" sz="2000" b="1" u="none" strike="noStrike" baseline="0" dirty="0"/>
              <a:t>, s</a:t>
            </a:r>
            <a:r>
              <a:rPr lang="es-ES" sz="2000" b="1" u="none" strike="noStrike" baseline="-25000" dirty="0"/>
              <a:t>6</a:t>
            </a:r>
            <a:r>
              <a:rPr lang="es-ES" sz="2000" b="1" u="none" strike="noStrike" baseline="0" dirty="0"/>
              <a:t>, …</a:t>
            </a:r>
            <a:endParaRPr lang="es-ES" sz="2000" b="1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2D9BCCB-1AED-6126-08E1-55A5999011C8}"/>
              </a:ext>
            </a:extLst>
          </p:cNvPr>
          <p:cNvSpPr txBox="1"/>
          <p:nvPr/>
        </p:nvSpPr>
        <p:spPr>
          <a:xfrm>
            <a:off x="535084" y="2981325"/>
            <a:ext cx="2771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EJEMPLOS: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2BC1B5C-E199-CD6C-7D51-250D6B7CF509}"/>
              </a:ext>
            </a:extLst>
          </p:cNvPr>
          <p:cNvSpPr txBox="1"/>
          <p:nvPr/>
        </p:nvSpPr>
        <p:spPr>
          <a:xfrm>
            <a:off x="535084" y="3400545"/>
            <a:ext cx="3941666" cy="2532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pt-BR" sz="1800" b="0" i="0" u="none" strike="noStrike" baseline="0" dirty="0"/>
              <a:t>a) 1, 5, 9, 13, 17, …</a:t>
            </a:r>
          </a:p>
          <a:p>
            <a:pPr algn="l">
              <a:lnSpc>
                <a:spcPct val="150000"/>
              </a:lnSpc>
            </a:pPr>
            <a:r>
              <a:rPr lang="pl-PL" sz="1800" b="0" i="0" u="none" strike="noStrike" baseline="0" dirty="0"/>
              <a:t>b) 170, 120, 70, 20, –30, –80, …</a:t>
            </a:r>
          </a:p>
          <a:p>
            <a:pPr algn="l">
              <a:lnSpc>
                <a:spcPct val="150000"/>
              </a:lnSpc>
            </a:pPr>
            <a:r>
              <a:rPr lang="es-ES" sz="1800" b="0" i="0" u="none" strike="noStrike" baseline="0" dirty="0"/>
              <a:t>c) 2, 4, 8, 16, 32, 64, …</a:t>
            </a:r>
          </a:p>
          <a:p>
            <a:pPr algn="l">
              <a:lnSpc>
                <a:spcPct val="150000"/>
              </a:lnSpc>
            </a:pPr>
            <a:r>
              <a:rPr lang="es-ES" sz="1800" b="0" i="0" u="none" strike="noStrike" baseline="0" dirty="0"/>
              <a:t>d) 1, –3, 9, –27, 81, –243, …</a:t>
            </a:r>
          </a:p>
          <a:p>
            <a:pPr algn="l">
              <a:lnSpc>
                <a:spcPct val="150000"/>
              </a:lnSpc>
            </a:pPr>
            <a:r>
              <a:rPr lang="es-ES" sz="1800" b="0" i="0" u="none" strike="noStrike" baseline="0" dirty="0"/>
              <a:t>e) 1, 1, 2, 3, 5, 8, …</a:t>
            </a:r>
          </a:p>
          <a:p>
            <a:pPr algn="l">
              <a:lnSpc>
                <a:spcPct val="150000"/>
              </a:lnSpc>
            </a:pPr>
            <a:r>
              <a:rPr lang="es-ES" sz="1800" b="0" i="0" u="none" strike="noStrike" baseline="0" dirty="0"/>
              <a:t>f ) 1, 4, 9, 16, 25, 36, …</a:t>
            </a:r>
            <a:endParaRPr lang="es-ES" sz="2000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0023435-71D6-E672-A5FA-9745A5D8F2EB}"/>
              </a:ext>
            </a:extLst>
          </p:cNvPr>
          <p:cNvCxnSpPr/>
          <p:nvPr/>
        </p:nvCxnSpPr>
        <p:spPr>
          <a:xfrm>
            <a:off x="2897284" y="3657600"/>
            <a:ext cx="1531841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42992C03-AE32-93C7-A0D5-4FAFF91B870D}"/>
              </a:ext>
            </a:extLst>
          </p:cNvPr>
          <p:cNvCxnSpPr/>
          <p:nvPr/>
        </p:nvCxnSpPr>
        <p:spPr>
          <a:xfrm>
            <a:off x="4116484" y="4070985"/>
            <a:ext cx="1531841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8C56A9E-BF29-4ABE-29A9-23F609C8029F}"/>
              </a:ext>
            </a:extLst>
          </p:cNvPr>
          <p:cNvCxnSpPr/>
          <p:nvPr/>
        </p:nvCxnSpPr>
        <p:spPr>
          <a:xfrm>
            <a:off x="3354484" y="4484370"/>
            <a:ext cx="1531841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147B84FE-D03E-6E3C-4E8C-2FB72D48A3CA}"/>
              </a:ext>
            </a:extLst>
          </p:cNvPr>
          <p:cNvCxnSpPr/>
          <p:nvPr/>
        </p:nvCxnSpPr>
        <p:spPr>
          <a:xfrm>
            <a:off x="3745009" y="4897755"/>
            <a:ext cx="1531841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F594207-B54C-21A0-4ED3-D0E3ACAA62E2}"/>
              </a:ext>
            </a:extLst>
          </p:cNvPr>
          <p:cNvCxnSpPr/>
          <p:nvPr/>
        </p:nvCxnSpPr>
        <p:spPr>
          <a:xfrm>
            <a:off x="2944909" y="5311140"/>
            <a:ext cx="1531841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0127298A-2D62-FDF8-867B-F479AA8CAA4F}"/>
              </a:ext>
            </a:extLst>
          </p:cNvPr>
          <p:cNvCxnSpPr/>
          <p:nvPr/>
        </p:nvCxnSpPr>
        <p:spPr>
          <a:xfrm>
            <a:off x="3230659" y="5724525"/>
            <a:ext cx="1531841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19C1988-B67B-BD9F-F44C-29AE058208C6}"/>
              </a:ext>
            </a:extLst>
          </p:cNvPr>
          <p:cNvSpPr txBox="1"/>
          <p:nvPr/>
        </p:nvSpPr>
        <p:spPr>
          <a:xfrm>
            <a:off x="4493418" y="3472935"/>
            <a:ext cx="3621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Sumar 4 al anterior término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2449541-E52B-94FC-C106-1F08291C16AD}"/>
              </a:ext>
            </a:extLst>
          </p:cNvPr>
          <p:cNvSpPr txBox="1"/>
          <p:nvPr/>
        </p:nvSpPr>
        <p:spPr>
          <a:xfrm>
            <a:off x="5763815" y="3886319"/>
            <a:ext cx="3621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Restar 50 al anterior término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00E6BFC-DF1F-B75A-4DA5-257E99355BD9}"/>
              </a:ext>
            </a:extLst>
          </p:cNvPr>
          <p:cNvSpPr txBox="1"/>
          <p:nvPr/>
        </p:nvSpPr>
        <p:spPr>
          <a:xfrm>
            <a:off x="4982765" y="4299704"/>
            <a:ext cx="45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Multiplicar por 2 al anterior término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6DF989D-911A-6782-94E4-F73C70CA013F}"/>
              </a:ext>
            </a:extLst>
          </p:cNvPr>
          <p:cNvSpPr txBox="1"/>
          <p:nvPr/>
        </p:nvSpPr>
        <p:spPr>
          <a:xfrm>
            <a:off x="5391745" y="4713089"/>
            <a:ext cx="45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Multiplicar por -3 al anterior término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E4A4CE2-BFA8-AB43-EFA0-8E9F08771C66}"/>
              </a:ext>
            </a:extLst>
          </p:cNvPr>
          <p:cNvSpPr txBox="1"/>
          <p:nvPr/>
        </p:nvSpPr>
        <p:spPr>
          <a:xfrm>
            <a:off x="4579143" y="5126473"/>
            <a:ext cx="45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Sumar los 2 términos anteriores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8E2BF47-C209-3458-52C6-DFBE7CD40BA0}"/>
              </a:ext>
            </a:extLst>
          </p:cNvPr>
          <p:cNvSpPr txBox="1"/>
          <p:nvPr/>
        </p:nvSpPr>
        <p:spPr>
          <a:xfrm>
            <a:off x="4877394" y="5539858"/>
            <a:ext cx="5352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Posición del término elevada al cuadrado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7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 animBg="1"/>
      <p:bldP spid="11" grpId="0"/>
      <p:bldP spid="13" grpId="0"/>
      <p:bldP spid="15" grpId="0"/>
      <p:bldP spid="17" grpId="0" uiExpand="1" build="p"/>
      <p:bldP spid="25" grpId="0" uiExpand="1"/>
      <p:bldP spid="26" grpId="0" uiExpand="1"/>
      <p:bldP spid="27" grpId="0" uiExpand="1"/>
      <p:bldP spid="28" grpId="0" uiExpand="1"/>
      <p:bldP spid="29" grpId="0" uiExpand="1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Progresiones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79748"/>
            <a:ext cx="11121832" cy="65361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término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general </a:t>
            </a:r>
            <a:r>
              <a:rPr lang="es-ES" sz="2000" b="1" dirty="0"/>
              <a:t>de una sucesión </a:t>
            </a:r>
            <a:r>
              <a:rPr lang="es-ES" sz="2000" b="1" i="1" dirty="0"/>
              <a:t>s </a:t>
            </a:r>
            <a:r>
              <a:rPr lang="es-ES" sz="2000" b="1" dirty="0"/>
              <a:t>(y se simboliza con </a:t>
            </a:r>
            <a:r>
              <a:rPr lang="es-ES" sz="2000" b="1" i="1" dirty="0"/>
              <a:t>s</a:t>
            </a:r>
            <a:r>
              <a:rPr lang="es-ES" sz="2000" b="1" i="1" baseline="-25000" dirty="0"/>
              <a:t>n</a:t>
            </a:r>
            <a:r>
              <a:rPr lang="es-ES" sz="2000" b="1" dirty="0"/>
              <a:t>) a la expresión que representa un término cualquiera de esta.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DFD4CF9A-05A4-F81F-7A91-09FDB743BFE5}"/>
              </a:ext>
            </a:extLst>
          </p:cNvPr>
          <p:cNvSpPr/>
          <p:nvPr/>
        </p:nvSpPr>
        <p:spPr>
          <a:xfrm>
            <a:off x="535084" y="1888947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!CuadroTexto 1">
                <a:extLst>
                  <a:ext uri="{FF2B5EF4-FFF2-40B4-BE49-F238E27FC236}">
                    <a16:creationId xmlns:a16="http://schemas.microsoft.com/office/drawing/2014/main" id="{EB5ACB1F-9B8D-E29B-B36F-D78C95CFCE2E}"/>
                  </a:ext>
                </a:extLst>
              </p:cNvPr>
              <p:cNvSpPr txBox="1"/>
              <p:nvPr/>
            </p:nvSpPr>
            <p:spPr>
              <a:xfrm>
                <a:off x="535084" y="1861813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Hay sucesiones cuyo término general puede expresarse mediante una fórmula,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ES" sz="2000" b="1" dirty="0"/>
                  <a:t>, en la cual, dándole a </a:t>
                </a:r>
                <a:r>
                  <a:rPr lang="es-ES" sz="2000" b="1" i="1" dirty="0"/>
                  <a:t>n </a:t>
                </a:r>
                <a:r>
                  <a:rPr lang="es-ES" sz="2000" b="1" dirty="0"/>
                  <a:t>un cierto valor, se obtiene el término correspondiente.</a:t>
                </a:r>
                <a:endParaRPr lang="es-ES" sz="2400" b="1" dirty="0"/>
              </a:p>
            </p:txBody>
          </p:sp>
        </mc:Choice>
        <mc:Fallback xmlns="">
          <p:sp>
            <p:nvSpPr>
              <p:cNvPr id="6" name="!CuadroTexto 1">
                <a:extLst>
                  <a:ext uri="{FF2B5EF4-FFF2-40B4-BE49-F238E27FC236}">
                    <a16:creationId xmlns:a16="http://schemas.microsoft.com/office/drawing/2014/main" id="{EB5ACB1F-9B8D-E29B-B36F-D78C95CFC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861813"/>
                <a:ext cx="11121832" cy="707886"/>
              </a:xfrm>
              <a:prstGeom prst="rect">
                <a:avLst/>
              </a:prstGeom>
              <a:blipFill>
                <a:blip r:embed="rId6"/>
                <a:stretch>
                  <a:fillRect l="-603" t="-4274" b="-1367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id="{D56E147A-7EFC-A8BC-4E6B-3FA1BACAC7BE}"/>
              </a:ext>
            </a:extLst>
          </p:cNvPr>
          <p:cNvSpPr txBox="1"/>
          <p:nvPr/>
        </p:nvSpPr>
        <p:spPr>
          <a:xfrm>
            <a:off x="535084" y="2741452"/>
            <a:ext cx="5027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pt-BR" sz="2000" b="0" i="0" u="none" strike="noStrike" baseline="0" dirty="0"/>
              <a:t>a) 1, 5, 9, 13, 17,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5227713-4D49-DD3D-29F0-75F73B60D8C9}"/>
                  </a:ext>
                </a:extLst>
              </p:cNvPr>
              <p:cNvSpPr txBox="1"/>
              <p:nvPr/>
            </p:nvSpPr>
            <p:spPr>
              <a:xfrm>
                <a:off x="2778123" y="3812971"/>
                <a:ext cx="176965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25227713-4D49-DD3D-29F0-75F73B60D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123" y="3812971"/>
                <a:ext cx="1769651" cy="369332"/>
              </a:xfrm>
              <a:prstGeom prst="rect">
                <a:avLst/>
              </a:prstGeom>
              <a:blipFill>
                <a:blip r:embed="rId7"/>
                <a:stretch>
                  <a:fillRect l="-1724" r="-3103" b="-131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71ED3CA-E558-3A87-4FBE-FB7C9CDA40D9}"/>
              </a:ext>
            </a:extLst>
          </p:cNvPr>
          <p:cNvCxnSpPr>
            <a:cxnSpLocks/>
          </p:cNvCxnSpPr>
          <p:nvPr/>
        </p:nvCxnSpPr>
        <p:spPr>
          <a:xfrm>
            <a:off x="4730748" y="3997637"/>
            <a:ext cx="14116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A3E0E6-CFB5-FFBF-C4BA-FFAAA183F74E}"/>
              </a:ext>
            </a:extLst>
          </p:cNvPr>
          <p:cNvSpPr txBox="1"/>
          <p:nvPr/>
        </p:nvSpPr>
        <p:spPr>
          <a:xfrm>
            <a:off x="6311900" y="3078522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n=1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9053EC35-82FF-BE9B-F840-E44AE30A2FA0}"/>
              </a:ext>
            </a:extLst>
          </p:cNvPr>
          <p:cNvCxnSpPr>
            <a:cxnSpLocks/>
          </p:cNvCxnSpPr>
          <p:nvPr/>
        </p:nvCxnSpPr>
        <p:spPr>
          <a:xfrm>
            <a:off x="7054850" y="3278577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FFDCD26-3BD7-5465-93A3-3CBA8258B42F}"/>
                  </a:ext>
                </a:extLst>
              </p:cNvPr>
              <p:cNvSpPr txBox="1"/>
              <p:nvPr/>
            </p:nvSpPr>
            <p:spPr>
              <a:xfrm>
                <a:off x="7950202" y="3078522"/>
                <a:ext cx="211583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−3=1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BFFDCD26-3BD7-5465-93A3-3CBA8258B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2" y="3078522"/>
                <a:ext cx="2115836" cy="307777"/>
              </a:xfrm>
              <a:prstGeom prst="rect">
                <a:avLst/>
              </a:prstGeom>
              <a:blipFill>
                <a:blip r:embed="rId8"/>
                <a:stretch>
                  <a:fillRect l="-2882" b="-2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uadroTexto 33">
            <a:extLst>
              <a:ext uri="{FF2B5EF4-FFF2-40B4-BE49-F238E27FC236}">
                <a16:creationId xmlns:a16="http://schemas.microsoft.com/office/drawing/2014/main" id="{CA75E520-581D-3015-2C0C-435D4AEC9F8D}"/>
              </a:ext>
            </a:extLst>
          </p:cNvPr>
          <p:cNvSpPr txBox="1"/>
          <p:nvPr/>
        </p:nvSpPr>
        <p:spPr>
          <a:xfrm>
            <a:off x="6311900" y="3423195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n=2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DF8C2176-EA27-A277-7A67-7990AABE57F9}"/>
              </a:ext>
            </a:extLst>
          </p:cNvPr>
          <p:cNvCxnSpPr>
            <a:cxnSpLocks/>
          </p:cNvCxnSpPr>
          <p:nvPr/>
        </p:nvCxnSpPr>
        <p:spPr>
          <a:xfrm>
            <a:off x="7054850" y="3623250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5B60081-EF17-6A38-945D-C733FBF0D880}"/>
                  </a:ext>
                </a:extLst>
              </p:cNvPr>
              <p:cNvSpPr txBox="1"/>
              <p:nvPr/>
            </p:nvSpPr>
            <p:spPr>
              <a:xfrm>
                <a:off x="7950202" y="3423195"/>
                <a:ext cx="20597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∙2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−3=5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55B60081-EF17-6A38-945D-C733FBF0D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2" y="3423195"/>
                <a:ext cx="2059731" cy="307777"/>
              </a:xfrm>
              <a:prstGeom prst="rect">
                <a:avLst/>
              </a:prstGeom>
              <a:blipFill>
                <a:blip r:embed="rId9"/>
                <a:stretch>
                  <a:fillRect l="-2959" r="-296" b="-2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uadroTexto 36">
            <a:extLst>
              <a:ext uri="{FF2B5EF4-FFF2-40B4-BE49-F238E27FC236}">
                <a16:creationId xmlns:a16="http://schemas.microsoft.com/office/drawing/2014/main" id="{4900D64B-FE22-C444-E784-06363CFC13CD}"/>
              </a:ext>
            </a:extLst>
          </p:cNvPr>
          <p:cNvSpPr txBox="1"/>
          <p:nvPr/>
        </p:nvSpPr>
        <p:spPr>
          <a:xfrm>
            <a:off x="6311900" y="3775268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n=3</a:t>
            </a:r>
          </a:p>
        </p:txBody>
      </p: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E7B4915-EA42-EAAE-8648-986EB2A01455}"/>
              </a:ext>
            </a:extLst>
          </p:cNvPr>
          <p:cNvCxnSpPr>
            <a:cxnSpLocks/>
          </p:cNvCxnSpPr>
          <p:nvPr/>
        </p:nvCxnSpPr>
        <p:spPr>
          <a:xfrm>
            <a:off x="7054850" y="3975323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F4CA934F-C214-BF8F-2FD7-04FAB77AD025}"/>
                  </a:ext>
                </a:extLst>
              </p:cNvPr>
              <p:cNvSpPr txBox="1"/>
              <p:nvPr/>
            </p:nvSpPr>
            <p:spPr>
              <a:xfrm>
                <a:off x="7950202" y="3775268"/>
                <a:ext cx="20656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∙3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−3=9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F4CA934F-C214-BF8F-2FD7-04FAB77AD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2" y="3775268"/>
                <a:ext cx="2065694" cy="307777"/>
              </a:xfrm>
              <a:prstGeom prst="rect">
                <a:avLst/>
              </a:prstGeom>
              <a:blipFill>
                <a:blip r:embed="rId10"/>
                <a:stretch>
                  <a:fillRect l="-2950" b="-196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Abrir llave 39">
            <a:extLst>
              <a:ext uri="{FF2B5EF4-FFF2-40B4-BE49-F238E27FC236}">
                <a16:creationId xmlns:a16="http://schemas.microsoft.com/office/drawing/2014/main" id="{D8E67110-352F-4E9B-7828-66B60F0B8FB1}"/>
              </a:ext>
            </a:extLst>
          </p:cNvPr>
          <p:cNvSpPr/>
          <p:nvPr/>
        </p:nvSpPr>
        <p:spPr>
          <a:xfrm>
            <a:off x="6271419" y="3141562"/>
            <a:ext cx="80961" cy="1706664"/>
          </a:xfrm>
          <a:prstGeom prst="leftBrace">
            <a:avLst>
              <a:gd name="adj1" fmla="val 91666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47590E-0A53-853C-0B30-979E133EF7FF}"/>
              </a:ext>
            </a:extLst>
          </p:cNvPr>
          <p:cNvSpPr txBox="1"/>
          <p:nvPr/>
        </p:nvSpPr>
        <p:spPr>
          <a:xfrm>
            <a:off x="6311900" y="4127341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n=4</a:t>
            </a: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3F2761EA-6ABB-127E-3417-37AC36EC281A}"/>
              </a:ext>
            </a:extLst>
          </p:cNvPr>
          <p:cNvCxnSpPr>
            <a:cxnSpLocks/>
          </p:cNvCxnSpPr>
          <p:nvPr/>
        </p:nvCxnSpPr>
        <p:spPr>
          <a:xfrm>
            <a:off x="7054850" y="4327396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C426A9D2-F454-E3D8-82F5-5F3928E59188}"/>
                  </a:ext>
                </a:extLst>
              </p:cNvPr>
              <p:cNvSpPr txBox="1"/>
              <p:nvPr/>
            </p:nvSpPr>
            <p:spPr>
              <a:xfrm>
                <a:off x="7950202" y="4127341"/>
                <a:ext cx="220836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∙4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−3=1</m:t>
                    </m:r>
                  </m:oMath>
                </a14:m>
                <a:r>
                  <a:rPr lang="es-ES" sz="2000" dirty="0"/>
                  <a:t>3 </a:t>
                </a: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C426A9D2-F454-E3D8-82F5-5F3928E59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2" y="4127341"/>
                <a:ext cx="2208361" cy="307777"/>
              </a:xfrm>
              <a:prstGeom prst="rect">
                <a:avLst/>
              </a:prstGeom>
              <a:blipFill>
                <a:blip r:embed="rId11"/>
                <a:stretch>
                  <a:fillRect l="-2762" t="-25490" r="-6354" b="-490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CuadroTexto 43">
            <a:extLst>
              <a:ext uri="{FF2B5EF4-FFF2-40B4-BE49-F238E27FC236}">
                <a16:creationId xmlns:a16="http://schemas.microsoft.com/office/drawing/2014/main" id="{3A4F88F1-BE3B-C6A6-8DE1-294578913953}"/>
              </a:ext>
            </a:extLst>
          </p:cNvPr>
          <p:cNvSpPr txBox="1"/>
          <p:nvPr/>
        </p:nvSpPr>
        <p:spPr>
          <a:xfrm>
            <a:off x="6311900" y="4472014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n=5</a:t>
            </a:r>
          </a:p>
        </p:txBody>
      </p: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27961BD3-69FB-AA26-B32F-5334D013D72F}"/>
              </a:ext>
            </a:extLst>
          </p:cNvPr>
          <p:cNvCxnSpPr>
            <a:cxnSpLocks/>
          </p:cNvCxnSpPr>
          <p:nvPr/>
        </p:nvCxnSpPr>
        <p:spPr>
          <a:xfrm>
            <a:off x="7054850" y="4672069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F7782D3D-7414-1F58-B469-01071C04664A}"/>
                  </a:ext>
                </a:extLst>
              </p:cNvPr>
              <p:cNvSpPr txBox="1"/>
              <p:nvPr/>
            </p:nvSpPr>
            <p:spPr>
              <a:xfrm>
                <a:off x="7950202" y="4472014"/>
                <a:ext cx="220836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∙5</m:t>
                    </m:r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−3=17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F7782D3D-7414-1F58-B469-01071C046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2" y="4472014"/>
                <a:ext cx="2208361" cy="307777"/>
              </a:xfrm>
              <a:prstGeom prst="rect">
                <a:avLst/>
              </a:prstGeom>
              <a:blipFill>
                <a:blip r:embed="rId12"/>
                <a:stretch>
                  <a:fillRect l="-2762" b="-2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8385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 animBg="1"/>
      <p:bldP spid="6" grpId="0"/>
      <p:bldP spid="7" grpId="0"/>
      <p:bldP spid="8" grpId="0"/>
      <p:bldP spid="14" grpId="0"/>
      <p:bldP spid="33" grpId="0"/>
      <p:bldP spid="34" grpId="0"/>
      <p:bldP spid="36" grpId="0"/>
      <p:bldP spid="37" grpId="0"/>
      <p:bldP spid="39" grpId="0"/>
      <p:bldP spid="40" grpId="0" animBg="1"/>
      <p:bldP spid="41" grpId="0"/>
      <p:bldP spid="43" grpId="0"/>
      <p:bldP spid="44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Progresiones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BC53F746-513E-817B-C4A9-A4683C12EB48}"/>
              </a:ext>
            </a:extLst>
          </p:cNvPr>
          <p:cNvSpPr/>
          <p:nvPr/>
        </p:nvSpPr>
        <p:spPr>
          <a:xfrm>
            <a:off x="535084" y="1079748"/>
            <a:ext cx="11121832" cy="65361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535084" y="105261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término</a:t>
            </a:r>
            <a:r>
              <a:rPr lang="es-ES" sz="2000" b="1" dirty="0"/>
              <a:t>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general </a:t>
            </a:r>
            <a:r>
              <a:rPr lang="es-ES" sz="2000" b="1" dirty="0"/>
              <a:t>de una sucesión </a:t>
            </a:r>
            <a:r>
              <a:rPr lang="es-ES" sz="2000" b="1" i="1" dirty="0"/>
              <a:t>s </a:t>
            </a:r>
            <a:r>
              <a:rPr lang="es-ES" sz="2000" b="1" dirty="0"/>
              <a:t>(y se simboliza con </a:t>
            </a:r>
            <a:r>
              <a:rPr lang="es-ES" sz="2000" b="1" i="1" dirty="0"/>
              <a:t>s</a:t>
            </a:r>
            <a:r>
              <a:rPr lang="es-ES" sz="2000" b="1" i="1" baseline="-25000" dirty="0"/>
              <a:t>n</a:t>
            </a:r>
            <a:r>
              <a:rPr lang="es-ES" sz="2000" b="1" dirty="0"/>
              <a:t>) a la expresión que representa un término cualquiera de esta.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DFD4CF9A-05A4-F81F-7A91-09FDB743BFE5}"/>
              </a:ext>
            </a:extLst>
          </p:cNvPr>
          <p:cNvSpPr/>
          <p:nvPr/>
        </p:nvSpPr>
        <p:spPr>
          <a:xfrm>
            <a:off x="535084" y="1888947"/>
            <a:ext cx="11121832" cy="707886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!CuadroTexto 1">
                <a:extLst>
                  <a:ext uri="{FF2B5EF4-FFF2-40B4-BE49-F238E27FC236}">
                    <a16:creationId xmlns:a16="http://schemas.microsoft.com/office/drawing/2014/main" id="{EB5ACB1F-9B8D-E29B-B36F-D78C95CFCE2E}"/>
                  </a:ext>
                </a:extLst>
              </p:cNvPr>
              <p:cNvSpPr txBox="1"/>
              <p:nvPr/>
            </p:nvSpPr>
            <p:spPr>
              <a:xfrm>
                <a:off x="535084" y="1861813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Hay sucesiones cuyo término general puede expresarse mediante una fórmula,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ES" sz="2000" b="1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s-ES" sz="2000" b="1" dirty="0"/>
                  <a:t>, en la cual, dándole a </a:t>
                </a:r>
                <a:r>
                  <a:rPr lang="es-ES" sz="2000" b="1" i="1" dirty="0"/>
                  <a:t>n </a:t>
                </a:r>
                <a:r>
                  <a:rPr lang="es-ES" sz="2000" b="1" dirty="0"/>
                  <a:t>un cierto valor, se obtiene el término correspondiente.</a:t>
                </a:r>
                <a:endParaRPr lang="es-ES" sz="2400" b="1" dirty="0"/>
              </a:p>
            </p:txBody>
          </p:sp>
        </mc:Choice>
        <mc:Fallback xmlns="">
          <p:sp>
            <p:nvSpPr>
              <p:cNvPr id="6" name="!CuadroTexto 1">
                <a:extLst>
                  <a:ext uri="{FF2B5EF4-FFF2-40B4-BE49-F238E27FC236}">
                    <a16:creationId xmlns:a16="http://schemas.microsoft.com/office/drawing/2014/main" id="{EB5ACB1F-9B8D-E29B-B36F-D78C95CFC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861813"/>
                <a:ext cx="11121832" cy="707886"/>
              </a:xfrm>
              <a:prstGeom prst="rect">
                <a:avLst/>
              </a:prstGeom>
              <a:blipFill>
                <a:blip r:embed="rId6"/>
                <a:stretch>
                  <a:fillRect l="-603" t="-4274" b="-1367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Marco 10">
            <a:extLst>
              <a:ext uri="{FF2B5EF4-FFF2-40B4-BE49-F238E27FC236}">
                <a16:creationId xmlns:a16="http://schemas.microsoft.com/office/drawing/2014/main" id="{9AA336E7-7E31-A96E-5857-807959FEEE73}"/>
              </a:ext>
            </a:extLst>
          </p:cNvPr>
          <p:cNvSpPr/>
          <p:nvPr/>
        </p:nvSpPr>
        <p:spPr>
          <a:xfrm>
            <a:off x="535084" y="2743144"/>
            <a:ext cx="11121832" cy="65361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400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BC96AD6C-5B05-BC45-B32C-C8341224F9EF}"/>
              </a:ext>
            </a:extLst>
          </p:cNvPr>
          <p:cNvSpPr txBox="1"/>
          <p:nvPr/>
        </p:nvSpPr>
        <p:spPr>
          <a:xfrm>
            <a:off x="535084" y="2716010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sucesiones</a:t>
            </a:r>
            <a:r>
              <a:rPr lang="es-ES" sz="2000" b="1" dirty="0"/>
              <a:t> cuyos términos se obtienen a partir de los anteriores se dice</a:t>
            </a:r>
          </a:p>
          <a:p>
            <a:r>
              <a:rPr lang="es-ES" sz="2000" b="1" dirty="0"/>
              <a:t>que están dadas en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forma recurrente.</a:t>
            </a:r>
            <a:endParaRPr lang="es-ES" sz="2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2D2E656-5B48-63D3-191C-8B01C200CD1E}"/>
              </a:ext>
            </a:extLst>
          </p:cNvPr>
          <p:cNvSpPr txBox="1"/>
          <p:nvPr/>
        </p:nvSpPr>
        <p:spPr>
          <a:xfrm>
            <a:off x="535084" y="3543073"/>
            <a:ext cx="5027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pt-BR" sz="2000" dirty="0"/>
              <a:t>e</a:t>
            </a:r>
            <a:r>
              <a:rPr lang="pt-BR" sz="2000" b="0" i="0" u="none" strike="noStrike" baseline="0" dirty="0"/>
              <a:t>) 1, 1, 2, 3, 5, 8,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CF370E6-B559-165A-3AC9-04BFD6F6BE56}"/>
                  </a:ext>
                </a:extLst>
              </p:cNvPr>
              <p:cNvSpPr txBox="1"/>
              <p:nvPr/>
            </p:nvSpPr>
            <p:spPr>
              <a:xfrm>
                <a:off x="2147565" y="4711293"/>
                <a:ext cx="24299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CF370E6-B559-165A-3AC9-04BFD6F6B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565" y="4711293"/>
                <a:ext cx="2429961" cy="369332"/>
              </a:xfrm>
              <a:prstGeom prst="rect">
                <a:avLst/>
              </a:prstGeom>
              <a:blipFill>
                <a:blip r:embed="rId7"/>
                <a:stretch>
                  <a:fillRect l="-1003" r="-501" b="-2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9DF417B-570B-92DA-20C7-4A3B563A2DB5}"/>
              </a:ext>
            </a:extLst>
          </p:cNvPr>
          <p:cNvCxnSpPr>
            <a:cxnSpLocks/>
          </p:cNvCxnSpPr>
          <p:nvPr/>
        </p:nvCxnSpPr>
        <p:spPr>
          <a:xfrm>
            <a:off x="4699511" y="4959718"/>
            <a:ext cx="14116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F0D3549-FB86-E6CF-161C-71B36E658BA3}"/>
              </a:ext>
            </a:extLst>
          </p:cNvPr>
          <p:cNvSpPr txBox="1"/>
          <p:nvPr/>
        </p:nvSpPr>
        <p:spPr>
          <a:xfrm>
            <a:off x="6240182" y="4202874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n=3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992B895-9566-FBC7-3362-07D00E371857}"/>
              </a:ext>
            </a:extLst>
          </p:cNvPr>
          <p:cNvCxnSpPr>
            <a:cxnSpLocks/>
          </p:cNvCxnSpPr>
          <p:nvPr/>
        </p:nvCxnSpPr>
        <p:spPr>
          <a:xfrm>
            <a:off x="6983132" y="4402929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492C14D-8CAF-546D-8D6A-A85789F61753}"/>
                  </a:ext>
                </a:extLst>
              </p:cNvPr>
              <p:cNvSpPr txBox="1"/>
              <p:nvPr/>
            </p:nvSpPr>
            <p:spPr>
              <a:xfrm>
                <a:off x="7878484" y="4202874"/>
                <a:ext cx="28261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ES" sz="20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0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=1+1=2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0492C14D-8CAF-546D-8D6A-A85789F61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484" y="4202874"/>
                <a:ext cx="2826158" cy="307777"/>
              </a:xfrm>
              <a:prstGeom prst="rect">
                <a:avLst/>
              </a:prstGeom>
              <a:blipFill>
                <a:blip r:embed="rId8"/>
                <a:stretch>
                  <a:fillRect l="-2155" b="-196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D63859BA-7469-7C2D-6668-F9BDF437AC6D}"/>
              </a:ext>
            </a:extLst>
          </p:cNvPr>
          <p:cNvSpPr txBox="1"/>
          <p:nvPr/>
        </p:nvSpPr>
        <p:spPr>
          <a:xfrm>
            <a:off x="6240182" y="4547547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n=4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4C166B13-B8B2-8A8A-04EB-26E0F5D4B9CF}"/>
              </a:ext>
            </a:extLst>
          </p:cNvPr>
          <p:cNvCxnSpPr>
            <a:cxnSpLocks/>
          </p:cNvCxnSpPr>
          <p:nvPr/>
        </p:nvCxnSpPr>
        <p:spPr>
          <a:xfrm>
            <a:off x="6983132" y="4747602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C4F8EAC-81D7-840A-4984-DA86364EBD9F}"/>
              </a:ext>
            </a:extLst>
          </p:cNvPr>
          <p:cNvSpPr txBox="1"/>
          <p:nvPr/>
        </p:nvSpPr>
        <p:spPr>
          <a:xfrm>
            <a:off x="6240182" y="4899620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n=5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40D7ABA6-58E0-D71A-A086-1775BDCCAE76}"/>
              </a:ext>
            </a:extLst>
          </p:cNvPr>
          <p:cNvCxnSpPr>
            <a:cxnSpLocks/>
          </p:cNvCxnSpPr>
          <p:nvPr/>
        </p:nvCxnSpPr>
        <p:spPr>
          <a:xfrm>
            <a:off x="6983132" y="5099675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brir llave 25">
            <a:extLst>
              <a:ext uri="{FF2B5EF4-FFF2-40B4-BE49-F238E27FC236}">
                <a16:creationId xmlns:a16="http://schemas.microsoft.com/office/drawing/2014/main" id="{A145C744-F20E-AE53-9C74-D353F256ECEB}"/>
              </a:ext>
            </a:extLst>
          </p:cNvPr>
          <p:cNvSpPr/>
          <p:nvPr/>
        </p:nvSpPr>
        <p:spPr>
          <a:xfrm>
            <a:off x="6199701" y="4265914"/>
            <a:ext cx="80961" cy="1385889"/>
          </a:xfrm>
          <a:prstGeom prst="leftBrace">
            <a:avLst>
              <a:gd name="adj1" fmla="val 91666"/>
              <a:gd name="adj2" fmla="val 50000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EFB7C4A-B689-3C44-F78D-C8263B0301EB}"/>
              </a:ext>
            </a:extLst>
          </p:cNvPr>
          <p:cNvSpPr txBox="1"/>
          <p:nvPr/>
        </p:nvSpPr>
        <p:spPr>
          <a:xfrm>
            <a:off x="6240182" y="5251693"/>
            <a:ext cx="742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n=6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2328E703-AA6C-B251-3C7E-E25A907BF594}"/>
              </a:ext>
            </a:extLst>
          </p:cNvPr>
          <p:cNvCxnSpPr>
            <a:cxnSpLocks/>
          </p:cNvCxnSpPr>
          <p:nvPr/>
        </p:nvCxnSpPr>
        <p:spPr>
          <a:xfrm>
            <a:off x="6983132" y="5451748"/>
            <a:ext cx="725805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93CE007C-AEDE-25E5-FFCC-6F7F1A58C9BC}"/>
                  </a:ext>
                </a:extLst>
              </p:cNvPr>
              <p:cNvSpPr txBox="1"/>
              <p:nvPr/>
            </p:nvSpPr>
            <p:spPr>
              <a:xfrm>
                <a:off x="7878484" y="4570328"/>
                <a:ext cx="28321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s-ES" sz="20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ES" sz="20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=2+1=3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93CE007C-AEDE-25E5-FFCC-6F7F1A58C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484" y="4570328"/>
                <a:ext cx="2832122" cy="307777"/>
              </a:xfrm>
              <a:prstGeom prst="rect">
                <a:avLst/>
              </a:prstGeom>
              <a:blipFill>
                <a:blip r:embed="rId9"/>
                <a:stretch>
                  <a:fillRect l="-2151" b="-2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13BA5A72-71A9-2E69-9FBB-FF323209947F}"/>
                  </a:ext>
                </a:extLst>
              </p:cNvPr>
              <p:cNvSpPr txBox="1"/>
              <p:nvPr/>
            </p:nvSpPr>
            <p:spPr>
              <a:xfrm>
                <a:off x="7878484" y="4936813"/>
                <a:ext cx="28321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s-ES" sz="20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s-ES" sz="20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=3+2=5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13BA5A72-71A9-2E69-9FBB-FF3232099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484" y="4936813"/>
                <a:ext cx="2832122" cy="307777"/>
              </a:xfrm>
              <a:prstGeom prst="rect">
                <a:avLst/>
              </a:prstGeom>
              <a:blipFill>
                <a:blip r:embed="rId10"/>
                <a:stretch>
                  <a:fillRect l="-2151" b="-20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D719FC9-214D-73F5-A647-262543B830AE}"/>
                  </a:ext>
                </a:extLst>
              </p:cNvPr>
              <p:cNvSpPr txBox="1"/>
              <p:nvPr/>
            </p:nvSpPr>
            <p:spPr>
              <a:xfrm>
                <a:off x="7869519" y="5281576"/>
                <a:ext cx="28321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s-ES" sz="20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s-ES" sz="2000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s-ES" sz="2000" b="0" i="1" smtClean="0">
                        <a:latin typeface="Cambria Math" panose="02040503050406030204" pitchFamily="18" charset="0"/>
                      </a:rPr>
                      <m:t>=5+3=8</m:t>
                    </m:r>
                  </m:oMath>
                </a14:m>
                <a:r>
                  <a:rPr lang="es-ES" sz="2000" dirty="0"/>
                  <a:t> 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1D719FC9-214D-73F5-A647-262543B83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519" y="5281576"/>
                <a:ext cx="2832122" cy="307777"/>
              </a:xfrm>
              <a:prstGeom prst="rect">
                <a:avLst/>
              </a:prstGeom>
              <a:blipFill>
                <a:blip r:embed="rId11"/>
                <a:stretch>
                  <a:fillRect l="-2366" b="-1960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4194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3" grpId="0"/>
      <p:bldP spid="16" grpId="0"/>
      <p:bldP spid="19" grpId="0"/>
      <p:bldP spid="20" grpId="0"/>
      <p:bldP spid="23" grpId="0"/>
      <p:bldP spid="26" grpId="0" animBg="1"/>
      <p:bldP spid="27" grpId="0"/>
      <p:bldP spid="47" grpId="0"/>
      <p:bldP spid="48" grpId="0"/>
      <p:bldP spid="4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CCACCDF7-1644-4F9F-A1B1-7A39C21EC43C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3. Progresion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1. Sucesione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CC5502D-95D4-415F-8D6C-6DE8E2801832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D7BB0B9-E817-4C29-AA4C-ABD9625ECE34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EF015B0-488D-476C-B4A2-DD80D9051412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472</Words>
  <Application>Microsoft Office PowerPoint</Application>
  <PresentationFormat>Panorámica</PresentationFormat>
  <Paragraphs>51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Sucesiones</dc:title>
  <dc:creator>Illán Linos Souto</dc:creator>
  <cp:lastModifiedBy>Illán Linos</cp:lastModifiedBy>
  <cp:revision>76</cp:revision>
  <dcterms:created xsi:type="dcterms:W3CDTF">2024-08-18T18:48:07Z</dcterms:created>
  <dcterms:modified xsi:type="dcterms:W3CDTF">2025-11-20T16:20:47Z</dcterms:modified>
</cp:coreProperties>
</file>