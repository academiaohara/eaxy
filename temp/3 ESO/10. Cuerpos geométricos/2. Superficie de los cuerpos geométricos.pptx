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custDataLst>
    <p:tags r:id="rId7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10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79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75FE5-6BFB-4F69-8CC6-F2811B60FCF8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8E46E2-95A7-4317-8B41-7DD45A9640B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6428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E46E2-95A7-4317-8B41-7DD45A9640B6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9011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E46E2-95A7-4317-8B41-7DD45A9640B6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7778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E46E2-95A7-4317-8B41-7DD45A9640B6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4908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E46E2-95A7-4317-8B41-7DD45A9640B6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0574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4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13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5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60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10: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Cuerpos Geométricos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681461" y="1070544"/>
            <a:ext cx="4957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ÁREA DE UN CILINDRO</a:t>
            </a:r>
            <a:endParaRPr lang="es-ES" sz="2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50B08E8-977E-4A54-D380-EDDF72808FC3}"/>
              </a:ext>
            </a:extLst>
          </p:cNvPr>
          <p:cNvSpPr/>
          <p:nvPr/>
        </p:nvSpPr>
        <p:spPr>
          <a:xfrm>
            <a:off x="536482" y="1207846"/>
            <a:ext cx="125506" cy="12550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2F64B1AA-0770-35C0-CA8C-703833D5F84B}"/>
                  </a:ext>
                </a:extLst>
              </p:cNvPr>
              <p:cNvSpPr txBox="1"/>
              <p:nvPr/>
            </p:nvSpPr>
            <p:spPr>
              <a:xfrm>
                <a:off x="6869101" y="1767548"/>
                <a:ext cx="1511888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𝑩𝑨𝑺𝑬</m:t>
                          </m:r>
                        </m:sub>
                      </m:sSub>
                      <m:r>
                        <a:rPr lang="es-ES" sz="20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0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2F64B1AA-0770-35C0-CA8C-703833D5F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9101" y="1767548"/>
                <a:ext cx="1511888" cy="314766"/>
              </a:xfrm>
              <a:prstGeom prst="rect">
                <a:avLst/>
              </a:prstGeom>
              <a:blipFill>
                <a:blip r:embed="rId6"/>
                <a:stretch>
                  <a:fillRect l="-3226" r="-1210" b="-1923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E5D437DC-859D-9BA6-242A-614B754990DB}"/>
                  </a:ext>
                </a:extLst>
              </p:cNvPr>
              <p:cNvSpPr txBox="1"/>
              <p:nvPr/>
            </p:nvSpPr>
            <p:spPr>
              <a:xfrm>
                <a:off x="8291832" y="3095065"/>
                <a:ext cx="20462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sz="20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𝑳𝑨𝑻𝑬𝑹𝑨𝑳</m:t>
                          </m:r>
                        </m:sub>
                      </m:sSub>
                      <m:r>
                        <a:rPr lang="es-ES" sz="20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0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s-ES" sz="20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𝒓𝒉</m:t>
                      </m:r>
                    </m:oMath>
                  </m:oMathPara>
                </a14:m>
                <a:endPara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E5D437DC-859D-9BA6-242A-614B75499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832" y="3095065"/>
                <a:ext cx="2046266" cy="307777"/>
              </a:xfrm>
              <a:prstGeom prst="rect">
                <a:avLst/>
              </a:prstGeom>
              <a:blipFill>
                <a:blip r:embed="rId7"/>
                <a:stretch>
                  <a:fillRect l="-2083" r="-2679" b="-22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6" name="Grupo 75">
            <a:extLst>
              <a:ext uri="{FF2B5EF4-FFF2-40B4-BE49-F238E27FC236}">
                <a16:creationId xmlns:a16="http://schemas.microsoft.com/office/drawing/2014/main" id="{7BFA432B-0000-41CF-B25B-D3243425147C}"/>
              </a:ext>
            </a:extLst>
          </p:cNvPr>
          <p:cNvGrpSpPr/>
          <p:nvPr/>
        </p:nvGrpSpPr>
        <p:grpSpPr>
          <a:xfrm>
            <a:off x="1232026" y="2219366"/>
            <a:ext cx="1170012" cy="2175298"/>
            <a:chOff x="1232026" y="2219366"/>
            <a:chExt cx="1170012" cy="2175298"/>
          </a:xfrm>
        </p:grpSpPr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288F3BC5-1944-7A6D-480F-DCC652A0D0AE}"/>
                </a:ext>
              </a:extLst>
            </p:cNvPr>
            <p:cNvSpPr/>
            <p:nvPr/>
          </p:nvSpPr>
          <p:spPr>
            <a:xfrm>
              <a:off x="1239213" y="2441227"/>
              <a:ext cx="1162825" cy="1948979"/>
            </a:xfrm>
            <a:custGeom>
              <a:avLst/>
              <a:gdLst>
                <a:gd name="connsiteX0" fmla="*/ 4106 w 1294891"/>
                <a:gd name="connsiteY0" fmla="*/ 0 h 2145941"/>
                <a:gd name="connsiteX1" fmla="*/ 1292462 w 1294891"/>
                <a:gd name="connsiteY1" fmla="*/ 0 h 2145941"/>
                <a:gd name="connsiteX2" fmla="*/ 1292462 w 1294891"/>
                <a:gd name="connsiteY2" fmla="*/ 850117 h 2145941"/>
                <a:gd name="connsiteX3" fmla="*/ 1294891 w 1294891"/>
                <a:gd name="connsiteY3" fmla="*/ 850117 h 2145941"/>
                <a:gd name="connsiteX4" fmla="*/ 1294891 w 1294891"/>
                <a:gd name="connsiteY4" fmla="*/ 1894667 h 2145941"/>
                <a:gd name="connsiteX5" fmla="*/ 1287491 w 1294891"/>
                <a:gd name="connsiteY5" fmla="*/ 1894667 h 2145941"/>
                <a:gd name="connsiteX6" fmla="*/ 1287703 w 1294891"/>
                <a:gd name="connsiteY6" fmla="*/ 1895490 h 2145941"/>
                <a:gd name="connsiteX7" fmla="*/ 644336 w 1294891"/>
                <a:gd name="connsiteY7" fmla="*/ 2145941 h 2145941"/>
                <a:gd name="connsiteX8" fmla="*/ 968 w 1294891"/>
                <a:gd name="connsiteY8" fmla="*/ 1895490 h 2145941"/>
                <a:gd name="connsiteX9" fmla="*/ 1179 w 1294891"/>
                <a:gd name="connsiteY9" fmla="*/ 1894667 h 2145941"/>
                <a:gd name="connsiteX10" fmla="*/ 0 w 1294891"/>
                <a:gd name="connsiteY10" fmla="*/ 1894667 h 2145941"/>
                <a:gd name="connsiteX11" fmla="*/ 0 w 1294891"/>
                <a:gd name="connsiteY11" fmla="*/ 850117 h 2145941"/>
                <a:gd name="connsiteX12" fmla="*/ 4106 w 1294891"/>
                <a:gd name="connsiteY12" fmla="*/ 850117 h 2145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94891" h="2145941">
                  <a:moveTo>
                    <a:pt x="4106" y="0"/>
                  </a:moveTo>
                  <a:lnTo>
                    <a:pt x="1292462" y="0"/>
                  </a:lnTo>
                  <a:lnTo>
                    <a:pt x="1292462" y="850117"/>
                  </a:lnTo>
                  <a:lnTo>
                    <a:pt x="1294891" y="850117"/>
                  </a:lnTo>
                  <a:lnTo>
                    <a:pt x="1294891" y="1894667"/>
                  </a:lnTo>
                  <a:lnTo>
                    <a:pt x="1287491" y="1894667"/>
                  </a:lnTo>
                  <a:lnTo>
                    <a:pt x="1287703" y="1895490"/>
                  </a:lnTo>
                  <a:cubicBezTo>
                    <a:pt x="1287703" y="2033811"/>
                    <a:pt x="999658" y="2145941"/>
                    <a:pt x="644336" y="2145941"/>
                  </a:cubicBezTo>
                  <a:cubicBezTo>
                    <a:pt x="289013" y="2145941"/>
                    <a:pt x="968" y="2033811"/>
                    <a:pt x="968" y="1895490"/>
                  </a:cubicBezTo>
                  <a:lnTo>
                    <a:pt x="1179" y="1894667"/>
                  </a:lnTo>
                  <a:lnTo>
                    <a:pt x="0" y="1894667"/>
                  </a:lnTo>
                  <a:lnTo>
                    <a:pt x="0" y="850117"/>
                  </a:lnTo>
                  <a:lnTo>
                    <a:pt x="4106" y="850117"/>
                  </a:lnTo>
                  <a:close/>
                </a:path>
              </a:pathLst>
            </a:custGeom>
            <a:gradFill>
              <a:gsLst>
                <a:gs pos="27000">
                  <a:srgbClr val="C0E5F5"/>
                </a:gs>
                <a:gs pos="64200">
                  <a:srgbClr val="88CDEC"/>
                </a:gs>
                <a:gs pos="0">
                  <a:schemeClr val="bg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dirty="0"/>
            </a:p>
          </p:txBody>
        </p:sp>
        <p:sp>
          <p:nvSpPr>
            <p:cNvPr id="22" name="Arco 21">
              <a:extLst>
                <a:ext uri="{FF2B5EF4-FFF2-40B4-BE49-F238E27FC236}">
                  <a16:creationId xmlns:a16="http://schemas.microsoft.com/office/drawing/2014/main" id="{2B3BF78C-1C7C-38E5-9F4D-4CE01315A653}"/>
                </a:ext>
              </a:extLst>
            </p:cNvPr>
            <p:cNvSpPr/>
            <p:nvPr/>
          </p:nvSpPr>
          <p:spPr>
            <a:xfrm rot="5400000" flipH="1">
              <a:off x="1589645" y="3585373"/>
              <a:ext cx="451671" cy="1166910"/>
            </a:xfrm>
            <a:prstGeom prst="arc">
              <a:avLst>
                <a:gd name="adj1" fmla="val 16200000"/>
                <a:gd name="adj2" fmla="val 5372496"/>
              </a:avLst>
            </a:prstGeom>
            <a:noFill/>
            <a:ln w="12700" cap="rnd">
              <a:solidFill>
                <a:schemeClr val="tx1"/>
              </a:solidFill>
              <a:prstDash val="dash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4" name="Arco 23">
              <a:extLst>
                <a:ext uri="{FF2B5EF4-FFF2-40B4-BE49-F238E27FC236}">
                  <a16:creationId xmlns:a16="http://schemas.microsoft.com/office/drawing/2014/main" id="{8F74A3AB-C362-F560-B917-8D16E4A70E8E}"/>
                </a:ext>
              </a:extLst>
            </p:cNvPr>
            <p:cNvSpPr/>
            <p:nvPr/>
          </p:nvSpPr>
          <p:spPr>
            <a:xfrm rot="5400000">
              <a:off x="1593237" y="3588968"/>
              <a:ext cx="451671" cy="1159721"/>
            </a:xfrm>
            <a:prstGeom prst="arc">
              <a:avLst>
                <a:gd name="adj1" fmla="val 16200000"/>
                <a:gd name="adj2" fmla="val 5372496"/>
              </a:avLst>
            </a:prstGeom>
            <a:noFill/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9E425CF8-8A79-FE6D-A799-7DC421A93E4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4471" y="3307016"/>
              <a:ext cx="1723627" cy="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7D3CD475-3CBC-D5D8-D43A-35815E750E5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538932" y="3307014"/>
              <a:ext cx="1723627" cy="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5CCF94B6-A215-9B12-8738-76C26F99D275}"/>
                </a:ext>
              </a:extLst>
            </p:cNvPr>
            <p:cNvSpPr/>
            <p:nvPr/>
          </p:nvSpPr>
          <p:spPr>
            <a:xfrm rot="5400000">
              <a:off x="1590967" y="1865229"/>
              <a:ext cx="451671" cy="1159945"/>
            </a:xfrm>
            <a:prstGeom prst="ellipse">
              <a:avLst/>
            </a:prstGeom>
            <a:gradFill flip="none" rotWithShape="1">
              <a:gsLst>
                <a:gs pos="27000">
                  <a:schemeClr val="accent5">
                    <a:lumMod val="20000"/>
                    <a:lumOff val="80000"/>
                  </a:schemeClr>
                </a:gs>
                <a:gs pos="64200">
                  <a:schemeClr val="accent5">
                    <a:lumMod val="40000"/>
                    <a:lumOff val="60000"/>
                  </a:schemeClr>
                </a:gs>
                <a:gs pos="0">
                  <a:schemeClr val="bg1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5000000" scaled="0"/>
              <a:tileRect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37" name="Flecha: a la derecha 36">
            <a:extLst>
              <a:ext uri="{FF2B5EF4-FFF2-40B4-BE49-F238E27FC236}">
                <a16:creationId xmlns:a16="http://schemas.microsoft.com/office/drawing/2014/main" id="{54B47C4B-864C-1777-2C1B-F6FFDD97A61E}"/>
              </a:ext>
            </a:extLst>
          </p:cNvPr>
          <p:cNvSpPr/>
          <p:nvPr/>
        </p:nvSpPr>
        <p:spPr>
          <a:xfrm>
            <a:off x="2979402" y="3149631"/>
            <a:ext cx="1125074" cy="314766"/>
          </a:xfrm>
          <a:prstGeom prst="rightArrow">
            <a:avLst>
              <a:gd name="adj1" fmla="val 50000"/>
              <a:gd name="adj2" fmla="val 9885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1196FF73-4BF1-82EB-7FB2-5E0637BA4031}"/>
              </a:ext>
            </a:extLst>
          </p:cNvPr>
          <p:cNvSpPr/>
          <p:nvPr/>
        </p:nvSpPr>
        <p:spPr>
          <a:xfrm>
            <a:off x="5587993" y="1517131"/>
            <a:ext cx="869312" cy="869313"/>
          </a:xfrm>
          <a:prstGeom prst="ellipse">
            <a:avLst/>
          </a:prstGeom>
          <a:gradFill flip="none" rotWithShape="1">
            <a:gsLst>
              <a:gs pos="27000">
                <a:schemeClr val="accent5">
                  <a:lumMod val="20000"/>
                  <a:lumOff val="80000"/>
                </a:schemeClr>
              </a:gs>
              <a:gs pos="64200">
                <a:schemeClr val="accent5">
                  <a:lumMod val="40000"/>
                  <a:lumOff val="60000"/>
                </a:schemeClr>
              </a:gs>
              <a:gs pos="0">
                <a:schemeClr val="bg1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5000000" scaled="0"/>
            <a:tileRect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F5A981FC-52BD-F5AD-040E-708FE5BC8087}"/>
              </a:ext>
            </a:extLst>
          </p:cNvPr>
          <p:cNvSpPr/>
          <p:nvPr/>
        </p:nvSpPr>
        <p:spPr>
          <a:xfrm>
            <a:off x="4668624" y="2386444"/>
            <a:ext cx="2708050" cy="1782383"/>
          </a:xfrm>
          <a:prstGeom prst="rect">
            <a:avLst/>
          </a:prstGeom>
          <a:gradFill flip="none" rotWithShape="1">
            <a:gsLst>
              <a:gs pos="27000">
                <a:srgbClr val="C0E5F5"/>
              </a:gs>
              <a:gs pos="64200">
                <a:srgbClr val="88CDEC"/>
              </a:gs>
              <a:gs pos="0">
                <a:schemeClr val="bg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5000000" scaled="0"/>
            <a:tileRect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577A5075-329B-4937-1D96-E304F420CDB0}"/>
              </a:ext>
            </a:extLst>
          </p:cNvPr>
          <p:cNvSpPr/>
          <p:nvPr/>
        </p:nvSpPr>
        <p:spPr>
          <a:xfrm>
            <a:off x="5587993" y="4168827"/>
            <a:ext cx="869312" cy="869313"/>
          </a:xfrm>
          <a:prstGeom prst="ellipse">
            <a:avLst/>
          </a:prstGeom>
          <a:gradFill flip="none" rotWithShape="1">
            <a:gsLst>
              <a:gs pos="27000">
                <a:schemeClr val="accent5">
                  <a:lumMod val="20000"/>
                  <a:lumOff val="80000"/>
                </a:schemeClr>
              </a:gs>
              <a:gs pos="64200">
                <a:schemeClr val="accent5">
                  <a:lumMod val="40000"/>
                  <a:lumOff val="60000"/>
                </a:schemeClr>
              </a:gs>
              <a:gs pos="0">
                <a:schemeClr val="bg1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5000000" scaled="0"/>
            <a:tileRect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08D461FC-6D53-F2AE-9453-6A70A4BEBFA2}"/>
              </a:ext>
            </a:extLst>
          </p:cNvPr>
          <p:cNvSpPr/>
          <p:nvPr/>
        </p:nvSpPr>
        <p:spPr>
          <a:xfrm>
            <a:off x="1797119" y="2413909"/>
            <a:ext cx="45720" cy="457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5021BCCD-0491-2F9E-4E39-B3F8B017FE3F}"/>
              </a:ext>
            </a:extLst>
          </p:cNvPr>
          <p:cNvCxnSpPr>
            <a:endCxn id="33" idx="0"/>
          </p:cNvCxnSpPr>
          <p:nvPr/>
        </p:nvCxnSpPr>
        <p:spPr>
          <a:xfrm>
            <a:off x="1842839" y="2436769"/>
            <a:ext cx="55393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0BF34A47-4955-F90E-4EEB-890674274A56}"/>
              </a:ext>
            </a:extLst>
          </p:cNvPr>
          <p:cNvSpPr txBox="1"/>
          <p:nvPr/>
        </p:nvSpPr>
        <p:spPr>
          <a:xfrm>
            <a:off x="2023421" y="2145631"/>
            <a:ext cx="95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i="1" dirty="0"/>
              <a:t>r</a:t>
            </a:r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52D06DFD-E53F-346F-3F3E-117E1652B513}"/>
              </a:ext>
            </a:extLst>
          </p:cNvPr>
          <p:cNvCxnSpPr/>
          <p:nvPr/>
        </p:nvCxnSpPr>
        <p:spPr>
          <a:xfrm>
            <a:off x="2711450" y="2445200"/>
            <a:ext cx="0" cy="1723627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6D354DD7-C95F-62C6-682A-6EBF4B65D8BD}"/>
              </a:ext>
            </a:extLst>
          </p:cNvPr>
          <p:cNvSpPr txBox="1"/>
          <p:nvPr/>
        </p:nvSpPr>
        <p:spPr>
          <a:xfrm>
            <a:off x="2537339" y="3095065"/>
            <a:ext cx="123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h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2AF5B8F3-E318-2B73-0FFF-249E5645F9F7}"/>
              </a:ext>
            </a:extLst>
          </p:cNvPr>
          <p:cNvCxnSpPr>
            <a:cxnSpLocks/>
          </p:cNvCxnSpPr>
          <p:nvPr/>
        </p:nvCxnSpPr>
        <p:spPr>
          <a:xfrm>
            <a:off x="7794772" y="2386444"/>
            <a:ext cx="0" cy="1782383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uadroTexto 50">
            <a:extLst>
              <a:ext uri="{FF2B5EF4-FFF2-40B4-BE49-F238E27FC236}">
                <a16:creationId xmlns:a16="http://schemas.microsoft.com/office/drawing/2014/main" id="{2F39F241-2788-D871-84D1-5E08007F29F7}"/>
              </a:ext>
            </a:extLst>
          </p:cNvPr>
          <p:cNvSpPr txBox="1"/>
          <p:nvPr/>
        </p:nvSpPr>
        <p:spPr>
          <a:xfrm>
            <a:off x="5637549" y="3702284"/>
            <a:ext cx="916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2</a:t>
            </a:r>
            <a:r>
              <a:rPr lang="el-GR" b="1" dirty="0"/>
              <a:t>π</a:t>
            </a:r>
            <a:r>
              <a:rPr lang="es-ES" b="1" dirty="0"/>
              <a:t>r</a:t>
            </a:r>
          </a:p>
        </p:txBody>
      </p: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3FC670C6-06C1-FEEC-B7D2-39A1416D48D8}"/>
              </a:ext>
            </a:extLst>
          </p:cNvPr>
          <p:cNvCxnSpPr>
            <a:cxnSpLocks/>
          </p:cNvCxnSpPr>
          <p:nvPr/>
        </p:nvCxnSpPr>
        <p:spPr>
          <a:xfrm flipV="1">
            <a:off x="4674922" y="4045974"/>
            <a:ext cx="2701754" cy="1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CuadroTexto 54">
            <a:extLst>
              <a:ext uri="{FF2B5EF4-FFF2-40B4-BE49-F238E27FC236}">
                <a16:creationId xmlns:a16="http://schemas.microsoft.com/office/drawing/2014/main" id="{BA280F1E-83B8-A98F-8C4D-BEFBDC8E9D95}"/>
              </a:ext>
            </a:extLst>
          </p:cNvPr>
          <p:cNvSpPr txBox="1"/>
          <p:nvPr/>
        </p:nvSpPr>
        <p:spPr>
          <a:xfrm>
            <a:off x="7586805" y="3064287"/>
            <a:ext cx="123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h</a:t>
            </a:r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A16C1813-D472-A477-2F54-CC137EE42FE2}"/>
              </a:ext>
            </a:extLst>
          </p:cNvPr>
          <p:cNvSpPr/>
          <p:nvPr/>
        </p:nvSpPr>
        <p:spPr>
          <a:xfrm>
            <a:off x="5999789" y="1928927"/>
            <a:ext cx="45720" cy="457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2957843C-C410-E5D5-33A5-174D2AD3F04E}"/>
              </a:ext>
            </a:extLst>
          </p:cNvPr>
          <p:cNvCxnSpPr>
            <a:cxnSpLocks/>
            <a:endCxn id="38" idx="7"/>
          </p:cNvCxnSpPr>
          <p:nvPr/>
        </p:nvCxnSpPr>
        <p:spPr>
          <a:xfrm flipV="1">
            <a:off x="6022649" y="1644439"/>
            <a:ext cx="307348" cy="3073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CuadroTexto 62">
            <a:extLst>
              <a:ext uri="{FF2B5EF4-FFF2-40B4-BE49-F238E27FC236}">
                <a16:creationId xmlns:a16="http://schemas.microsoft.com/office/drawing/2014/main" id="{4BF82297-8CA1-4A40-E556-F3CC44A432BB}"/>
              </a:ext>
            </a:extLst>
          </p:cNvPr>
          <p:cNvSpPr txBox="1"/>
          <p:nvPr/>
        </p:nvSpPr>
        <p:spPr>
          <a:xfrm>
            <a:off x="6045509" y="1510990"/>
            <a:ext cx="95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i="1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743CBCFF-2158-192A-7DDA-157B1D315B8F}"/>
                  </a:ext>
                </a:extLst>
              </p:cNvPr>
              <p:cNvSpPr txBox="1"/>
              <p:nvPr/>
            </p:nvSpPr>
            <p:spPr>
              <a:xfrm>
                <a:off x="6863568" y="4496663"/>
                <a:ext cx="1511888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𝑩𝑨𝑺𝑬</m:t>
                          </m:r>
                        </m:sub>
                      </m:sSub>
                      <m:r>
                        <a:rPr lang="es-ES" sz="20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0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743CBCFF-2158-192A-7DDA-157B1D315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568" y="4496663"/>
                <a:ext cx="1511888" cy="314766"/>
              </a:xfrm>
              <a:prstGeom prst="rect">
                <a:avLst/>
              </a:prstGeom>
              <a:blipFill>
                <a:blip r:embed="rId8"/>
                <a:stretch>
                  <a:fillRect l="-3226" r="-1210" b="-2156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68A818A3-97BA-86F1-471F-EBD68AEC2D25}"/>
                  </a:ext>
                </a:extLst>
              </p:cNvPr>
              <p:cNvSpPr txBox="1"/>
              <p:nvPr/>
            </p:nvSpPr>
            <p:spPr>
              <a:xfrm>
                <a:off x="2558865" y="5598622"/>
                <a:ext cx="7068538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𝑪𝑰𝑳𝑰𝑵𝑫𝑹𝑶</m:t>
                          </m:r>
                        </m:sub>
                      </m:sSub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400" b="1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1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sz="2400" b="1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𝑳𝑨𝑻𝑬𝑹𝑨𝑳</m:t>
                          </m:r>
                        </m:sub>
                      </m:sSub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ES" sz="2400" b="1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1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sz="2400" b="1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𝑩𝑨𝑺𝑬</m:t>
                          </m:r>
                        </m:sub>
                      </m:sSub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s-ES" sz="24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𝒓𝒉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sSup>
                        <m:sSupPr>
                          <m:ctrlPr>
                            <a:rPr lang="es-ES" sz="2400" b="1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s-ES" sz="2400" b="1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68A818A3-97BA-86F1-471F-EBD68AEC2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865" y="5598622"/>
                <a:ext cx="7068538" cy="37766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000"/>
                            </p:stCondLst>
                            <p:childTnLst>
                              <p:par>
                                <p:cTn id="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500"/>
                            </p:stCondLst>
                            <p:childTnLst>
                              <p:par>
                                <p:cTn id="9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4000"/>
                            </p:stCondLst>
                            <p:childTnLst>
                              <p:par>
                                <p:cTn id="9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animBg="1"/>
      <p:bldP spid="14" grpId="0"/>
      <p:bldP spid="15" grpId="0"/>
      <p:bldP spid="37" grpId="0" animBg="1"/>
      <p:bldP spid="38" grpId="0" animBg="1"/>
      <p:bldP spid="39" grpId="0" animBg="1"/>
      <p:bldP spid="40" grpId="0" animBg="1"/>
      <p:bldP spid="43" grpId="0" animBg="1"/>
      <p:bldP spid="46" grpId="0"/>
      <p:bldP spid="49" grpId="0"/>
      <p:bldP spid="51" grpId="0"/>
      <p:bldP spid="55" grpId="0"/>
      <p:bldP spid="60" grpId="0" animBg="1"/>
      <p:bldP spid="63" grpId="0"/>
      <p:bldP spid="66" grpId="0"/>
      <p:bldP spid="6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C9C133E4-8B77-EAAB-5FDF-CA45286B1581}"/>
              </a:ext>
            </a:extLst>
          </p:cNvPr>
          <p:cNvGrpSpPr/>
          <p:nvPr/>
        </p:nvGrpSpPr>
        <p:grpSpPr>
          <a:xfrm>
            <a:off x="4260538" y="-1188064"/>
            <a:ext cx="5842392" cy="5842392"/>
            <a:chOff x="4260538" y="-1188064"/>
            <a:chExt cx="5842392" cy="5842392"/>
          </a:xfrm>
        </p:grpSpPr>
        <p:sp>
          <p:nvSpPr>
            <p:cNvPr id="41" name="Arco 40">
              <a:extLst>
                <a:ext uri="{FF2B5EF4-FFF2-40B4-BE49-F238E27FC236}">
                  <a16:creationId xmlns:a16="http://schemas.microsoft.com/office/drawing/2014/main" id="{F89E028B-0013-57AA-FB41-3A157DAD4E66}"/>
                </a:ext>
              </a:extLst>
            </p:cNvPr>
            <p:cNvSpPr/>
            <p:nvPr/>
          </p:nvSpPr>
          <p:spPr>
            <a:xfrm>
              <a:off x="4260538" y="-1188064"/>
              <a:ext cx="5842392" cy="5842392"/>
            </a:xfrm>
            <a:prstGeom prst="arc">
              <a:avLst>
                <a:gd name="adj1" fmla="val 3996078"/>
                <a:gd name="adj2" fmla="val 9841405"/>
              </a:avLst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60000"/>
                  </a:schemeClr>
                </a:gs>
                <a:gs pos="70000">
                  <a:schemeClr val="accent1">
                    <a:lumMod val="45000"/>
                    <a:lumOff val="55000"/>
                    <a:alpha val="78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00000" scaled="0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dirty="0"/>
            </a:p>
          </p:txBody>
        </p: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E9C23EC6-FCCE-4DC3-2C51-54DEBA6376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0080" y="1719520"/>
              <a:ext cx="2804912" cy="81599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recto 74">
              <a:extLst>
                <a:ext uri="{FF2B5EF4-FFF2-40B4-BE49-F238E27FC236}">
                  <a16:creationId xmlns:a16="http://schemas.microsoft.com/office/drawing/2014/main" id="{A1E70B86-3B6E-057E-85D2-DA90464FF747}"/>
                </a:ext>
              </a:extLst>
            </p:cNvPr>
            <p:cNvCxnSpPr>
              <a:cxnSpLocks/>
              <a:stCxn id="41" idx="0"/>
            </p:cNvCxnSpPr>
            <p:nvPr/>
          </p:nvCxnSpPr>
          <p:spPr>
            <a:xfrm flipH="1" flipV="1">
              <a:off x="7184992" y="1719520"/>
              <a:ext cx="1156828" cy="26945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10: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Cuerpos Geométricos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681461" y="1070544"/>
            <a:ext cx="4957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ÁREA DE UN CONO</a:t>
            </a:r>
            <a:endParaRPr lang="es-ES" sz="2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50B08E8-977E-4A54-D380-EDDF72808FC3}"/>
              </a:ext>
            </a:extLst>
          </p:cNvPr>
          <p:cNvSpPr/>
          <p:nvPr/>
        </p:nvSpPr>
        <p:spPr>
          <a:xfrm>
            <a:off x="536482" y="1207846"/>
            <a:ext cx="125506" cy="12550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Flecha: a la derecha 36">
            <a:extLst>
              <a:ext uri="{FF2B5EF4-FFF2-40B4-BE49-F238E27FC236}">
                <a16:creationId xmlns:a16="http://schemas.microsoft.com/office/drawing/2014/main" id="{54B47C4B-864C-1777-2C1B-F6FFDD97A61E}"/>
              </a:ext>
            </a:extLst>
          </p:cNvPr>
          <p:cNvSpPr/>
          <p:nvPr/>
        </p:nvSpPr>
        <p:spPr>
          <a:xfrm>
            <a:off x="2979402" y="3149631"/>
            <a:ext cx="1125074" cy="314766"/>
          </a:xfrm>
          <a:prstGeom prst="rightArrow">
            <a:avLst>
              <a:gd name="adj1" fmla="val 50000"/>
              <a:gd name="adj2" fmla="val 9885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68A818A3-97BA-86F1-471F-EBD68AEC2D25}"/>
                  </a:ext>
                </a:extLst>
              </p:cNvPr>
              <p:cNvSpPr txBox="1"/>
              <p:nvPr/>
            </p:nvSpPr>
            <p:spPr>
              <a:xfrm>
                <a:off x="3054430" y="5781803"/>
                <a:ext cx="6083139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𝑪𝑰𝑳𝑰𝑵𝑫𝑹𝑶</m:t>
                          </m:r>
                        </m:sub>
                      </m:sSub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400" b="1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1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sz="2400" b="1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𝑳𝑨𝑻𝑬𝑹𝑨𝑳</m:t>
                          </m:r>
                        </m:sub>
                      </m:sSub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400" b="1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1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sz="2400" b="1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𝑩𝑨𝑺𝑬</m:t>
                          </m:r>
                        </m:sub>
                      </m:sSub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s-ES" sz="24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𝒓𝒈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400" b="1" i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sSup>
                        <m:sSupPr>
                          <m:ctrlPr>
                            <a:rPr lang="es-ES" sz="2400" b="1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s-ES" sz="2400" b="1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68A818A3-97BA-86F1-471F-EBD68AEC2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430" y="5781803"/>
                <a:ext cx="6083139" cy="3776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upo 3">
            <a:extLst>
              <a:ext uri="{FF2B5EF4-FFF2-40B4-BE49-F238E27FC236}">
                <a16:creationId xmlns:a16="http://schemas.microsoft.com/office/drawing/2014/main" id="{68C5B18F-7850-8672-5EFC-D54646202DE4}"/>
              </a:ext>
            </a:extLst>
          </p:cNvPr>
          <p:cNvGrpSpPr/>
          <p:nvPr/>
        </p:nvGrpSpPr>
        <p:grpSpPr>
          <a:xfrm>
            <a:off x="777275" y="1692399"/>
            <a:ext cx="1711634" cy="3238961"/>
            <a:chOff x="3568204" y="3112673"/>
            <a:chExt cx="1711634" cy="3238961"/>
          </a:xfrm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FE28C8BB-C63A-2A8E-68F6-842110C73256}"/>
                </a:ext>
              </a:extLst>
            </p:cNvPr>
            <p:cNvSpPr/>
            <p:nvPr/>
          </p:nvSpPr>
          <p:spPr>
            <a:xfrm>
              <a:off x="3568204" y="3140823"/>
              <a:ext cx="1711634" cy="3198111"/>
            </a:xfrm>
            <a:custGeom>
              <a:avLst/>
              <a:gdLst>
                <a:gd name="connsiteX0" fmla="*/ 927395 w 1711634"/>
                <a:gd name="connsiteY0" fmla="*/ 0 h 3198111"/>
                <a:gd name="connsiteX1" fmla="*/ 1663976 w 1711634"/>
                <a:gd name="connsiteY1" fmla="*/ 2570995 h 3198111"/>
                <a:gd name="connsiteX2" fmla="*/ 1673158 w 1711634"/>
                <a:gd name="connsiteY2" fmla="*/ 2584852 h 3198111"/>
                <a:gd name="connsiteX3" fmla="*/ 1711634 w 1711634"/>
                <a:gd name="connsiteY3" fmla="*/ 2725417 h 3198111"/>
                <a:gd name="connsiteX4" fmla="*/ 855817 w 1711634"/>
                <a:gd name="connsiteY4" fmla="*/ 3198111 h 3198111"/>
                <a:gd name="connsiteX5" fmla="*/ 0 w 1711634"/>
                <a:gd name="connsiteY5" fmla="*/ 2725417 h 3198111"/>
                <a:gd name="connsiteX6" fmla="*/ 17387 w 1711634"/>
                <a:gd name="connsiteY6" fmla="*/ 2630153 h 3198111"/>
                <a:gd name="connsiteX7" fmla="*/ 38432 w 1711634"/>
                <a:gd name="connsiteY7" fmla="*/ 2584946 h 319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1634" h="3198111">
                  <a:moveTo>
                    <a:pt x="927395" y="0"/>
                  </a:moveTo>
                  <a:lnTo>
                    <a:pt x="1663976" y="2570995"/>
                  </a:lnTo>
                  <a:lnTo>
                    <a:pt x="1673158" y="2584852"/>
                  </a:lnTo>
                  <a:cubicBezTo>
                    <a:pt x="1698164" y="2629257"/>
                    <a:pt x="1711634" y="2676468"/>
                    <a:pt x="1711634" y="2725417"/>
                  </a:cubicBezTo>
                  <a:cubicBezTo>
                    <a:pt x="1711634" y="2986479"/>
                    <a:pt x="1328472" y="3198111"/>
                    <a:pt x="855817" y="3198111"/>
                  </a:cubicBezTo>
                  <a:cubicBezTo>
                    <a:pt x="383162" y="3198111"/>
                    <a:pt x="0" y="2986479"/>
                    <a:pt x="0" y="2725417"/>
                  </a:cubicBezTo>
                  <a:cubicBezTo>
                    <a:pt x="0" y="2692785"/>
                    <a:pt x="5987" y="2660924"/>
                    <a:pt x="17387" y="2630153"/>
                  </a:cubicBezTo>
                  <a:lnTo>
                    <a:pt x="38432" y="258494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60000"/>
                  </a:schemeClr>
                </a:gs>
                <a:gs pos="70000">
                  <a:schemeClr val="accent1">
                    <a:lumMod val="45000"/>
                    <a:lumOff val="55000"/>
                    <a:alpha val="78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dirty="0"/>
            </a:p>
          </p:txBody>
        </p:sp>
        <p:sp>
          <p:nvSpPr>
            <p:cNvPr id="7" name="Arco 6">
              <a:extLst>
                <a:ext uri="{FF2B5EF4-FFF2-40B4-BE49-F238E27FC236}">
                  <a16:creationId xmlns:a16="http://schemas.microsoft.com/office/drawing/2014/main" id="{DE3577C5-BAB6-3355-4EA6-AD883EB45E6C}"/>
                </a:ext>
              </a:extLst>
            </p:cNvPr>
            <p:cNvSpPr/>
            <p:nvPr/>
          </p:nvSpPr>
          <p:spPr>
            <a:xfrm>
              <a:off x="3568204" y="5400834"/>
              <a:ext cx="1711633" cy="945388"/>
            </a:xfrm>
            <a:prstGeom prst="arc">
              <a:avLst>
                <a:gd name="adj1" fmla="val 11133510"/>
                <a:gd name="adj2" fmla="val 0"/>
              </a:avLst>
            </a:prstGeom>
            <a:noFill/>
            <a:ln cap="rnd">
              <a:prstDash val="dash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1ED2511B-08FE-2047-F0B0-7765E0A348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86040" y="3118652"/>
              <a:ext cx="908902" cy="2653498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6C92234E-155B-C8EC-75CE-4EA7435B13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4942" y="3112673"/>
              <a:ext cx="762358" cy="265868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Arco 9">
              <a:extLst>
                <a:ext uri="{FF2B5EF4-FFF2-40B4-BE49-F238E27FC236}">
                  <a16:creationId xmlns:a16="http://schemas.microsoft.com/office/drawing/2014/main" id="{FB1BDAB6-EB8B-3E6E-C3B1-EE8C5CC64675}"/>
                </a:ext>
              </a:extLst>
            </p:cNvPr>
            <p:cNvSpPr/>
            <p:nvPr/>
          </p:nvSpPr>
          <p:spPr>
            <a:xfrm>
              <a:off x="3568204" y="5406246"/>
              <a:ext cx="1711633" cy="945388"/>
            </a:xfrm>
            <a:prstGeom prst="arc">
              <a:avLst>
                <a:gd name="adj1" fmla="val 21213424"/>
                <a:gd name="adj2" fmla="val 11277812"/>
              </a:avLst>
            </a:prstGeom>
            <a:noFill/>
            <a:ln cap="rnd"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2797C8DF-C8D8-5BB5-2468-8B913AABF37B}"/>
              </a:ext>
            </a:extLst>
          </p:cNvPr>
          <p:cNvCxnSpPr>
            <a:cxnSpLocks/>
          </p:cNvCxnSpPr>
          <p:nvPr/>
        </p:nvCxnSpPr>
        <p:spPr>
          <a:xfrm>
            <a:off x="1828800" y="1692399"/>
            <a:ext cx="764740" cy="2760855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0DBAFD4-A03F-BCFC-5C04-42E5C843B4A2}"/>
              </a:ext>
            </a:extLst>
          </p:cNvPr>
          <p:cNvSpPr txBox="1"/>
          <p:nvPr/>
        </p:nvSpPr>
        <p:spPr>
          <a:xfrm>
            <a:off x="2241739" y="2635137"/>
            <a:ext cx="263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g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B69E4E88-3BFE-2F70-F079-26A9D9EF7CE2}"/>
              </a:ext>
            </a:extLst>
          </p:cNvPr>
          <p:cNvSpPr/>
          <p:nvPr/>
        </p:nvSpPr>
        <p:spPr>
          <a:xfrm>
            <a:off x="1614143" y="440740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984538CA-B6F8-2406-9396-A54CE406A69C}"/>
              </a:ext>
            </a:extLst>
          </p:cNvPr>
          <p:cNvCxnSpPr>
            <a:cxnSpLocks/>
          </p:cNvCxnSpPr>
          <p:nvPr/>
        </p:nvCxnSpPr>
        <p:spPr>
          <a:xfrm>
            <a:off x="1633091" y="4432646"/>
            <a:ext cx="85089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CED6AC9-25A5-83DB-27CB-6D828028A747}"/>
              </a:ext>
            </a:extLst>
          </p:cNvPr>
          <p:cNvSpPr txBox="1"/>
          <p:nvPr/>
        </p:nvSpPr>
        <p:spPr>
          <a:xfrm>
            <a:off x="2037567" y="4115449"/>
            <a:ext cx="95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i="1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22481802-BF82-3849-4E17-BF7B31E121D7}"/>
                  </a:ext>
                </a:extLst>
              </p:cNvPr>
              <p:cNvSpPr txBox="1"/>
              <p:nvPr/>
            </p:nvSpPr>
            <p:spPr>
              <a:xfrm>
                <a:off x="8370143" y="2381630"/>
                <a:ext cx="190359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sz="20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𝑳𝑨𝑻𝑬𝑹𝑨𝑳</m:t>
                          </m:r>
                        </m:sub>
                      </m:sSub>
                      <m:r>
                        <a:rPr lang="es-ES" sz="20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s-ES" sz="20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𝒓𝒈</m:t>
                      </m:r>
                    </m:oMath>
                  </m:oMathPara>
                </a14:m>
                <a:endPara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22481802-BF82-3849-4E17-BF7B31E12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0143" y="2381630"/>
                <a:ext cx="1903598" cy="307777"/>
              </a:xfrm>
              <a:prstGeom prst="rect">
                <a:avLst/>
              </a:prstGeom>
              <a:blipFill>
                <a:blip r:embed="rId7"/>
                <a:stretch>
                  <a:fillRect l="-2244" r="-3205" b="-3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CuadroTexto 46">
            <a:extLst>
              <a:ext uri="{FF2B5EF4-FFF2-40B4-BE49-F238E27FC236}">
                <a16:creationId xmlns:a16="http://schemas.microsoft.com/office/drawing/2014/main" id="{DB5B2BC5-3C04-49BB-2C55-F85E8C4D7113}"/>
              </a:ext>
            </a:extLst>
          </p:cNvPr>
          <p:cNvSpPr txBox="1"/>
          <p:nvPr/>
        </p:nvSpPr>
        <p:spPr>
          <a:xfrm>
            <a:off x="6723308" y="3743699"/>
            <a:ext cx="1326659" cy="521669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21563115"/>
              </a:avLst>
            </a:prstTxWarp>
            <a:spAutoFit/>
          </a:bodyPr>
          <a:lstStyle/>
          <a:p>
            <a:pPr algn="ctr"/>
            <a:r>
              <a:rPr lang="es-ES" b="1" spc="300" dirty="0"/>
              <a:t>2</a:t>
            </a:r>
            <a:r>
              <a:rPr lang="el-GR" b="1" spc="300" dirty="0"/>
              <a:t>π</a:t>
            </a:r>
            <a:r>
              <a:rPr lang="es-ES" b="1" spc="300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6E671924-FB9C-E3A1-B117-11613897B05E}"/>
                  </a:ext>
                </a:extLst>
              </p:cNvPr>
              <p:cNvSpPr txBox="1"/>
              <p:nvPr/>
            </p:nvSpPr>
            <p:spPr>
              <a:xfrm>
                <a:off x="6500179" y="4884161"/>
                <a:ext cx="1511888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𝑩𝑨𝑺𝑬</m:t>
                          </m:r>
                        </m:sub>
                      </m:sSub>
                      <m:r>
                        <a:rPr lang="es-ES" sz="20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0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6E671924-FB9C-E3A1-B117-11613897B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0179" y="4884161"/>
                <a:ext cx="1511888" cy="314766"/>
              </a:xfrm>
              <a:prstGeom prst="rect">
                <a:avLst/>
              </a:prstGeom>
              <a:blipFill>
                <a:blip r:embed="rId8"/>
                <a:stretch>
                  <a:fillRect l="-2823" r="-1210" b="-1923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upo 15">
            <a:extLst>
              <a:ext uri="{FF2B5EF4-FFF2-40B4-BE49-F238E27FC236}">
                <a16:creationId xmlns:a16="http://schemas.microsoft.com/office/drawing/2014/main" id="{3842E5C1-1148-0485-6C30-A35212DE99EA}"/>
              </a:ext>
            </a:extLst>
          </p:cNvPr>
          <p:cNvGrpSpPr/>
          <p:nvPr/>
        </p:nvGrpSpPr>
        <p:grpSpPr>
          <a:xfrm>
            <a:off x="5367839" y="4363455"/>
            <a:ext cx="869312" cy="869313"/>
            <a:chOff x="5367839" y="4363455"/>
            <a:chExt cx="869312" cy="869313"/>
          </a:xfrm>
        </p:grpSpPr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9EDC0FED-6BE0-C4B7-104F-360A709A193A}"/>
                </a:ext>
              </a:extLst>
            </p:cNvPr>
            <p:cNvSpPr/>
            <p:nvPr/>
          </p:nvSpPr>
          <p:spPr>
            <a:xfrm>
              <a:off x="5367839" y="4363455"/>
              <a:ext cx="869312" cy="869313"/>
            </a:xfrm>
            <a:prstGeom prst="ellipse">
              <a:avLst/>
            </a:prstGeom>
            <a:gradFill flip="none" rotWithShape="1">
              <a:gsLst>
                <a:gs pos="27000">
                  <a:schemeClr val="accent5">
                    <a:lumMod val="20000"/>
                    <a:lumOff val="80000"/>
                  </a:schemeClr>
                </a:gs>
                <a:gs pos="64200">
                  <a:schemeClr val="accent5">
                    <a:lumMod val="40000"/>
                    <a:lumOff val="60000"/>
                  </a:schemeClr>
                </a:gs>
                <a:gs pos="0">
                  <a:schemeClr val="bg1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5000000" scaled="0"/>
              <a:tileRect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49DC8EEB-89DB-2BFC-EB2B-8017E68B4B31}"/>
                </a:ext>
              </a:extLst>
            </p:cNvPr>
            <p:cNvSpPr/>
            <p:nvPr/>
          </p:nvSpPr>
          <p:spPr>
            <a:xfrm>
              <a:off x="5779635" y="4781392"/>
              <a:ext cx="45720" cy="457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C073C438-15D6-2F83-CE20-D5EF2A75A5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2495" y="4496904"/>
              <a:ext cx="307348" cy="3073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CuadroTexto 67">
              <a:extLst>
                <a:ext uri="{FF2B5EF4-FFF2-40B4-BE49-F238E27FC236}">
                  <a16:creationId xmlns:a16="http://schemas.microsoft.com/office/drawing/2014/main" id="{2B2DF778-3BE2-7D22-20C2-660CB5388D18}"/>
                </a:ext>
              </a:extLst>
            </p:cNvPr>
            <p:cNvSpPr txBox="1"/>
            <p:nvPr/>
          </p:nvSpPr>
          <p:spPr>
            <a:xfrm>
              <a:off x="5825355" y="4363455"/>
              <a:ext cx="95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i="1" dirty="0"/>
                <a:t>r</a:t>
              </a:r>
            </a:p>
          </p:txBody>
        </p:sp>
      </p:grpSp>
      <p:sp>
        <p:nvSpPr>
          <p:cNvPr id="69" name="Arco 68">
            <a:extLst>
              <a:ext uri="{FF2B5EF4-FFF2-40B4-BE49-F238E27FC236}">
                <a16:creationId xmlns:a16="http://schemas.microsoft.com/office/drawing/2014/main" id="{C9B8438C-A4DA-24AC-822A-740B5C64D10A}"/>
              </a:ext>
            </a:extLst>
          </p:cNvPr>
          <p:cNvSpPr/>
          <p:nvPr/>
        </p:nvSpPr>
        <p:spPr>
          <a:xfrm>
            <a:off x="4551411" y="-897191"/>
            <a:ext cx="5260646" cy="5260646"/>
          </a:xfrm>
          <a:prstGeom prst="arc">
            <a:avLst>
              <a:gd name="adj1" fmla="val 4008664"/>
              <a:gd name="adj2" fmla="val 9816917"/>
            </a:avLst>
          </a:prstGeom>
          <a:noFill/>
          <a:ln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A384E88A-C9FB-399A-D70F-93A785B6CB0D}"/>
              </a:ext>
            </a:extLst>
          </p:cNvPr>
          <p:cNvCxnSpPr>
            <a:cxnSpLocks/>
          </p:cNvCxnSpPr>
          <p:nvPr/>
        </p:nvCxnSpPr>
        <p:spPr>
          <a:xfrm>
            <a:off x="7256123" y="1659073"/>
            <a:ext cx="1189377" cy="2704382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CuadroTexto 71">
            <a:extLst>
              <a:ext uri="{FF2B5EF4-FFF2-40B4-BE49-F238E27FC236}">
                <a16:creationId xmlns:a16="http://schemas.microsoft.com/office/drawing/2014/main" id="{657001BF-AC6F-2758-3862-8A881729D6A1}"/>
              </a:ext>
            </a:extLst>
          </p:cNvPr>
          <p:cNvSpPr txBox="1"/>
          <p:nvPr/>
        </p:nvSpPr>
        <p:spPr>
          <a:xfrm>
            <a:off x="7828134" y="2819803"/>
            <a:ext cx="439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2259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7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750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animBg="1"/>
      <p:bldP spid="67" grpId="0"/>
      <p:bldP spid="12" grpId="0"/>
      <p:bldP spid="18" grpId="0" animBg="1"/>
      <p:bldP spid="21" grpId="0"/>
      <p:bldP spid="44" grpId="0"/>
      <p:bldP spid="47" grpId="0"/>
      <p:bldP spid="52" grpId="0"/>
      <p:bldP spid="69" grpId="0" animBg="1"/>
      <p:bldP spid="7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A27FDF11-6E89-B8F4-147E-C39CAC4E9190}"/>
              </a:ext>
            </a:extLst>
          </p:cNvPr>
          <p:cNvGrpSpPr/>
          <p:nvPr/>
        </p:nvGrpSpPr>
        <p:grpSpPr>
          <a:xfrm>
            <a:off x="777275" y="1692399"/>
            <a:ext cx="1711634" cy="3238961"/>
            <a:chOff x="777275" y="1692399"/>
            <a:chExt cx="1711634" cy="3238961"/>
          </a:xfrm>
        </p:grpSpPr>
        <p:sp>
          <p:nvSpPr>
            <p:cNvPr id="47" name="Forma libre: forma 46">
              <a:extLst>
                <a:ext uri="{FF2B5EF4-FFF2-40B4-BE49-F238E27FC236}">
                  <a16:creationId xmlns:a16="http://schemas.microsoft.com/office/drawing/2014/main" id="{DCA1C03E-86BD-52EE-8558-B917E501EE67}"/>
                </a:ext>
              </a:extLst>
            </p:cNvPr>
            <p:cNvSpPr/>
            <p:nvPr/>
          </p:nvSpPr>
          <p:spPr>
            <a:xfrm>
              <a:off x="777275" y="3154461"/>
              <a:ext cx="1711634" cy="1764199"/>
            </a:xfrm>
            <a:custGeom>
              <a:avLst/>
              <a:gdLst>
                <a:gd name="connsiteX0" fmla="*/ 434273 w 1711634"/>
                <a:gd name="connsiteY0" fmla="*/ 0 h 1764199"/>
                <a:gd name="connsiteX1" fmla="*/ 557772 w 1711634"/>
                <a:gd name="connsiteY1" fmla="*/ 37024 h 1764199"/>
                <a:gd name="connsiteX2" fmla="*/ 890895 w 1711634"/>
                <a:gd name="connsiteY2" fmla="*/ 74171 h 1764199"/>
                <a:gd name="connsiteX3" fmla="*/ 1224018 w 1711634"/>
                <a:gd name="connsiteY3" fmla="*/ 37024 h 1764199"/>
                <a:gd name="connsiteX4" fmla="*/ 1338942 w 1711634"/>
                <a:gd name="connsiteY4" fmla="*/ 2571 h 1764199"/>
                <a:gd name="connsiteX5" fmla="*/ 1663976 w 1711634"/>
                <a:gd name="connsiteY5" fmla="*/ 1137083 h 1764199"/>
                <a:gd name="connsiteX6" fmla="*/ 1673158 w 1711634"/>
                <a:gd name="connsiteY6" fmla="*/ 1150940 h 1764199"/>
                <a:gd name="connsiteX7" fmla="*/ 1711634 w 1711634"/>
                <a:gd name="connsiteY7" fmla="*/ 1291505 h 1764199"/>
                <a:gd name="connsiteX8" fmla="*/ 855817 w 1711634"/>
                <a:gd name="connsiteY8" fmla="*/ 1764199 h 1764199"/>
                <a:gd name="connsiteX9" fmla="*/ 0 w 1711634"/>
                <a:gd name="connsiteY9" fmla="*/ 1291505 h 1764199"/>
                <a:gd name="connsiteX10" fmla="*/ 17387 w 1711634"/>
                <a:gd name="connsiteY10" fmla="*/ 1196241 h 1764199"/>
                <a:gd name="connsiteX11" fmla="*/ 38432 w 1711634"/>
                <a:gd name="connsiteY11" fmla="*/ 1151034 h 1764199"/>
                <a:gd name="connsiteX12" fmla="*/ 434273 w 1711634"/>
                <a:gd name="connsiteY12" fmla="*/ 0 h 1764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1634" h="1764199">
                  <a:moveTo>
                    <a:pt x="434273" y="0"/>
                  </a:moveTo>
                  <a:lnTo>
                    <a:pt x="557772" y="37024"/>
                  </a:lnTo>
                  <a:cubicBezTo>
                    <a:pt x="660161" y="60944"/>
                    <a:pt x="772731" y="74171"/>
                    <a:pt x="890895" y="74171"/>
                  </a:cubicBezTo>
                  <a:cubicBezTo>
                    <a:pt x="1009059" y="74171"/>
                    <a:pt x="1121629" y="60944"/>
                    <a:pt x="1224018" y="37024"/>
                  </a:cubicBezTo>
                  <a:lnTo>
                    <a:pt x="1338942" y="2571"/>
                  </a:lnTo>
                  <a:lnTo>
                    <a:pt x="1663976" y="1137083"/>
                  </a:lnTo>
                  <a:lnTo>
                    <a:pt x="1673158" y="1150940"/>
                  </a:lnTo>
                  <a:cubicBezTo>
                    <a:pt x="1698164" y="1195345"/>
                    <a:pt x="1711634" y="1242556"/>
                    <a:pt x="1711634" y="1291505"/>
                  </a:cubicBezTo>
                  <a:cubicBezTo>
                    <a:pt x="1711634" y="1552567"/>
                    <a:pt x="1328472" y="1764199"/>
                    <a:pt x="855817" y="1764199"/>
                  </a:cubicBezTo>
                  <a:cubicBezTo>
                    <a:pt x="383162" y="1764199"/>
                    <a:pt x="0" y="1552567"/>
                    <a:pt x="0" y="1291505"/>
                  </a:cubicBezTo>
                  <a:cubicBezTo>
                    <a:pt x="0" y="1258873"/>
                    <a:pt x="5987" y="1227012"/>
                    <a:pt x="17387" y="1196241"/>
                  </a:cubicBezTo>
                  <a:lnTo>
                    <a:pt x="38432" y="1151034"/>
                  </a:lnTo>
                  <a:lnTo>
                    <a:pt x="434273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60000"/>
                  </a:schemeClr>
                </a:gs>
                <a:gs pos="70000">
                  <a:schemeClr val="accent1">
                    <a:lumMod val="45000"/>
                    <a:lumOff val="55000"/>
                    <a:alpha val="78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dirty="0"/>
            </a:p>
          </p:txBody>
        </p:sp>
        <p:sp>
          <p:nvSpPr>
            <p:cNvPr id="7" name="Arco 6">
              <a:extLst>
                <a:ext uri="{FF2B5EF4-FFF2-40B4-BE49-F238E27FC236}">
                  <a16:creationId xmlns:a16="http://schemas.microsoft.com/office/drawing/2014/main" id="{DE3577C5-BAB6-3355-4EA6-AD883EB45E6C}"/>
                </a:ext>
              </a:extLst>
            </p:cNvPr>
            <p:cNvSpPr/>
            <p:nvPr/>
          </p:nvSpPr>
          <p:spPr>
            <a:xfrm>
              <a:off x="777275" y="3980560"/>
              <a:ext cx="1711633" cy="945388"/>
            </a:xfrm>
            <a:prstGeom prst="arc">
              <a:avLst>
                <a:gd name="adj1" fmla="val 11133510"/>
                <a:gd name="adj2" fmla="val 0"/>
              </a:avLst>
            </a:prstGeom>
            <a:noFill/>
            <a:ln cap="rnd">
              <a:prstDash val="dash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1ED2511B-08FE-2047-F0B0-7765E0A348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5111" y="1698378"/>
              <a:ext cx="908902" cy="2653498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6C92234E-155B-C8EC-75CE-4EA7435B13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04013" y="1692399"/>
              <a:ext cx="762358" cy="265868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Arco 9">
              <a:extLst>
                <a:ext uri="{FF2B5EF4-FFF2-40B4-BE49-F238E27FC236}">
                  <a16:creationId xmlns:a16="http://schemas.microsoft.com/office/drawing/2014/main" id="{FB1BDAB6-EB8B-3E6E-C3B1-EE8C5CC64675}"/>
                </a:ext>
              </a:extLst>
            </p:cNvPr>
            <p:cNvSpPr/>
            <p:nvPr/>
          </p:nvSpPr>
          <p:spPr>
            <a:xfrm>
              <a:off x="777275" y="3985972"/>
              <a:ext cx="1711633" cy="945388"/>
            </a:xfrm>
            <a:prstGeom prst="arc">
              <a:avLst>
                <a:gd name="adj1" fmla="val 21213424"/>
                <a:gd name="adj2" fmla="val 11277812"/>
              </a:avLst>
            </a:prstGeom>
            <a:noFill/>
            <a:ln cap="rnd"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EAA48D07-58C7-9DEC-3348-59C6CEC32100}"/>
              </a:ext>
            </a:extLst>
          </p:cNvPr>
          <p:cNvGrpSpPr/>
          <p:nvPr/>
        </p:nvGrpSpPr>
        <p:grpSpPr>
          <a:xfrm>
            <a:off x="1211549" y="1720549"/>
            <a:ext cx="904669" cy="1508083"/>
            <a:chOff x="1211549" y="1720549"/>
            <a:chExt cx="904669" cy="1508083"/>
          </a:xfrm>
        </p:grpSpPr>
        <p:sp>
          <p:nvSpPr>
            <p:cNvPr id="49" name="Forma libre: forma 48">
              <a:extLst>
                <a:ext uri="{FF2B5EF4-FFF2-40B4-BE49-F238E27FC236}">
                  <a16:creationId xmlns:a16="http://schemas.microsoft.com/office/drawing/2014/main" id="{589AAFF8-F9BD-D3DB-FB5D-F12757E141DE}"/>
                </a:ext>
              </a:extLst>
            </p:cNvPr>
            <p:cNvSpPr/>
            <p:nvPr/>
          </p:nvSpPr>
          <p:spPr>
            <a:xfrm>
              <a:off x="1211549" y="1720549"/>
              <a:ext cx="904669" cy="1508083"/>
            </a:xfrm>
            <a:custGeom>
              <a:avLst/>
              <a:gdLst>
                <a:gd name="connsiteX0" fmla="*/ 493122 w 904669"/>
                <a:gd name="connsiteY0" fmla="*/ 0 h 1508083"/>
                <a:gd name="connsiteX1" fmla="*/ 904669 w 904669"/>
                <a:gd name="connsiteY1" fmla="*/ 1436483 h 1508083"/>
                <a:gd name="connsiteX2" fmla="*/ 789745 w 904669"/>
                <a:gd name="connsiteY2" fmla="*/ 1470936 h 1508083"/>
                <a:gd name="connsiteX3" fmla="*/ 456622 w 904669"/>
                <a:gd name="connsiteY3" fmla="*/ 1508083 h 1508083"/>
                <a:gd name="connsiteX4" fmla="*/ 123499 w 904669"/>
                <a:gd name="connsiteY4" fmla="*/ 1470936 h 1508083"/>
                <a:gd name="connsiteX5" fmla="*/ 0 w 904669"/>
                <a:gd name="connsiteY5" fmla="*/ 1433912 h 1508083"/>
                <a:gd name="connsiteX6" fmla="*/ 493122 w 904669"/>
                <a:gd name="connsiteY6" fmla="*/ 0 h 150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4669" h="1508083">
                  <a:moveTo>
                    <a:pt x="493122" y="0"/>
                  </a:moveTo>
                  <a:lnTo>
                    <a:pt x="904669" y="1436483"/>
                  </a:lnTo>
                  <a:lnTo>
                    <a:pt x="789745" y="1470936"/>
                  </a:lnTo>
                  <a:cubicBezTo>
                    <a:pt x="687356" y="1494856"/>
                    <a:pt x="574786" y="1508083"/>
                    <a:pt x="456622" y="1508083"/>
                  </a:cubicBezTo>
                  <a:cubicBezTo>
                    <a:pt x="338458" y="1508083"/>
                    <a:pt x="225888" y="1494856"/>
                    <a:pt x="123499" y="1470936"/>
                  </a:cubicBezTo>
                  <a:lnTo>
                    <a:pt x="0" y="1433912"/>
                  </a:lnTo>
                  <a:lnTo>
                    <a:pt x="493122" y="0"/>
                  </a:lnTo>
                  <a:close/>
                </a:path>
              </a:pathLst>
            </a:custGeom>
            <a:pattFill prst="pct5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dirty="0"/>
            </a:p>
          </p:txBody>
        </p:sp>
        <p:sp>
          <p:nvSpPr>
            <p:cNvPr id="52" name="Arco 51">
              <a:extLst>
                <a:ext uri="{FF2B5EF4-FFF2-40B4-BE49-F238E27FC236}">
                  <a16:creationId xmlns:a16="http://schemas.microsoft.com/office/drawing/2014/main" id="{250B3B7B-7A6D-AAA9-6DAB-269FA0FFF1FB}"/>
                </a:ext>
              </a:extLst>
            </p:cNvPr>
            <p:cNvSpPr/>
            <p:nvPr/>
          </p:nvSpPr>
          <p:spPr>
            <a:xfrm>
              <a:off x="1228509" y="3024188"/>
              <a:ext cx="886367" cy="204444"/>
            </a:xfrm>
            <a:prstGeom prst="arc">
              <a:avLst>
                <a:gd name="adj1" fmla="val 21532937"/>
                <a:gd name="adj2" fmla="val 21174483"/>
              </a:avLst>
            </a:prstGeom>
            <a:noFill/>
            <a:ln cap="rnd">
              <a:prstDash val="dash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83" name="Forma libre: forma 82">
            <a:extLst>
              <a:ext uri="{FF2B5EF4-FFF2-40B4-BE49-F238E27FC236}">
                <a16:creationId xmlns:a16="http://schemas.microsoft.com/office/drawing/2014/main" id="{BA274818-D119-1AD3-B137-06EE3A4F1AC7}"/>
              </a:ext>
            </a:extLst>
          </p:cNvPr>
          <p:cNvSpPr/>
          <p:nvPr/>
        </p:nvSpPr>
        <p:spPr>
          <a:xfrm>
            <a:off x="6221278" y="1733132"/>
            <a:ext cx="1714000" cy="995802"/>
          </a:xfrm>
          <a:custGeom>
            <a:avLst/>
            <a:gdLst>
              <a:gd name="connsiteX0" fmla="*/ 960456 w 1714000"/>
              <a:gd name="connsiteY0" fmla="*/ 0 h 995802"/>
              <a:gd name="connsiteX1" fmla="*/ 1714000 w 1714000"/>
              <a:gd name="connsiteY1" fmla="*/ 659489 h 995802"/>
              <a:gd name="connsiteX2" fmla="*/ 1643847 w 1714000"/>
              <a:gd name="connsiteY2" fmla="*/ 733123 h 995802"/>
              <a:gd name="connsiteX3" fmla="*/ 722790 w 1714000"/>
              <a:gd name="connsiteY3" fmla="*/ 966356 h 995802"/>
              <a:gd name="connsiteX4" fmla="*/ 16036 w 1714000"/>
              <a:gd name="connsiteY4" fmla="*/ 331342 h 995802"/>
              <a:gd name="connsiteX5" fmla="*/ 0 w 1714000"/>
              <a:gd name="connsiteY5" fmla="*/ 274981 h 995802"/>
              <a:gd name="connsiteX6" fmla="*/ 960456 w 1714000"/>
              <a:gd name="connsiteY6" fmla="*/ 0 h 995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4000" h="995802">
                <a:moveTo>
                  <a:pt x="960456" y="0"/>
                </a:moveTo>
                <a:lnTo>
                  <a:pt x="1714000" y="659489"/>
                </a:lnTo>
                <a:lnTo>
                  <a:pt x="1643847" y="733123"/>
                </a:lnTo>
                <a:cubicBezTo>
                  <a:pt x="1397312" y="957443"/>
                  <a:pt x="1052413" y="1047715"/>
                  <a:pt x="722790" y="966356"/>
                </a:cubicBezTo>
                <a:cubicBezTo>
                  <a:pt x="393167" y="884998"/>
                  <a:pt x="129883" y="644611"/>
                  <a:pt x="16036" y="331342"/>
                </a:cubicBezTo>
                <a:lnTo>
                  <a:pt x="0" y="274981"/>
                </a:lnTo>
                <a:lnTo>
                  <a:pt x="960456" y="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81" name="Forma libre: forma 80">
            <a:extLst>
              <a:ext uri="{FF2B5EF4-FFF2-40B4-BE49-F238E27FC236}">
                <a16:creationId xmlns:a16="http://schemas.microsoft.com/office/drawing/2014/main" id="{2E4C8F27-9157-6BE3-21C4-CAFF7CF2A86E}"/>
              </a:ext>
            </a:extLst>
          </p:cNvPr>
          <p:cNvSpPr/>
          <p:nvPr/>
        </p:nvSpPr>
        <p:spPr>
          <a:xfrm>
            <a:off x="4373373" y="2008113"/>
            <a:ext cx="5006587" cy="2646294"/>
          </a:xfrm>
          <a:custGeom>
            <a:avLst/>
            <a:gdLst>
              <a:gd name="connsiteX0" fmla="*/ 1847906 w 5006587"/>
              <a:gd name="connsiteY0" fmla="*/ 0 h 2646294"/>
              <a:gd name="connsiteX1" fmla="*/ 1863942 w 5006587"/>
              <a:gd name="connsiteY1" fmla="*/ 56361 h 2646294"/>
              <a:gd name="connsiteX2" fmla="*/ 2570696 w 5006587"/>
              <a:gd name="connsiteY2" fmla="*/ 691375 h 2646294"/>
              <a:gd name="connsiteX3" fmla="*/ 3491753 w 5006587"/>
              <a:gd name="connsiteY3" fmla="*/ 458142 h 2646294"/>
              <a:gd name="connsiteX4" fmla="*/ 3561906 w 5006587"/>
              <a:gd name="connsiteY4" fmla="*/ 384508 h 2646294"/>
              <a:gd name="connsiteX5" fmla="*/ 5006587 w 5006587"/>
              <a:gd name="connsiteY5" fmla="*/ 1648868 h 2646294"/>
              <a:gd name="connsiteX6" fmla="*/ 2170743 w 5006587"/>
              <a:gd name="connsiteY6" fmla="*/ 2575778 h 2646294"/>
              <a:gd name="connsiteX7" fmla="*/ 0 w 5006587"/>
              <a:gd name="connsiteY7" fmla="*/ 529061 h 2646294"/>
              <a:gd name="connsiteX8" fmla="*/ 1847906 w 5006587"/>
              <a:gd name="connsiteY8" fmla="*/ 0 h 2646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06587" h="2646294">
                <a:moveTo>
                  <a:pt x="1847906" y="0"/>
                </a:moveTo>
                <a:lnTo>
                  <a:pt x="1863942" y="56361"/>
                </a:lnTo>
                <a:cubicBezTo>
                  <a:pt x="1977789" y="369630"/>
                  <a:pt x="2241073" y="610017"/>
                  <a:pt x="2570696" y="691375"/>
                </a:cubicBezTo>
                <a:cubicBezTo>
                  <a:pt x="2900319" y="772734"/>
                  <a:pt x="3245218" y="682462"/>
                  <a:pt x="3491753" y="458142"/>
                </a:cubicBezTo>
                <a:lnTo>
                  <a:pt x="3561906" y="384508"/>
                </a:lnTo>
                <a:lnTo>
                  <a:pt x="5006587" y="1648868"/>
                </a:lnTo>
                <a:cubicBezTo>
                  <a:pt x="4302250" y="2453656"/>
                  <a:pt x="3214429" y="2809216"/>
                  <a:pt x="2170743" y="2575778"/>
                </a:cubicBezTo>
                <a:cubicBezTo>
                  <a:pt x="1127056" y="2342340"/>
                  <a:pt x="294367" y="1557226"/>
                  <a:pt x="0" y="529061"/>
                </a:cubicBezTo>
                <a:lnTo>
                  <a:pt x="1847906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60000"/>
                </a:schemeClr>
              </a:gs>
              <a:gs pos="70000">
                <a:schemeClr val="accent1">
                  <a:lumMod val="45000"/>
                  <a:lumOff val="55000"/>
                  <a:alpha val="78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600000" scaled="0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10: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Cuerpos Geométricos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681461" y="1070544"/>
            <a:ext cx="4957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ÁREA DE UN TRONCO DE CONO</a:t>
            </a:r>
            <a:endParaRPr lang="es-ES" sz="2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50B08E8-977E-4A54-D380-EDDF72808FC3}"/>
              </a:ext>
            </a:extLst>
          </p:cNvPr>
          <p:cNvSpPr/>
          <p:nvPr/>
        </p:nvSpPr>
        <p:spPr>
          <a:xfrm>
            <a:off x="536482" y="1207846"/>
            <a:ext cx="125506" cy="12550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E5D437DC-859D-9BA6-242A-614B754990DB}"/>
                  </a:ext>
                </a:extLst>
              </p:cNvPr>
              <p:cNvSpPr txBox="1"/>
              <p:nvPr/>
            </p:nvSpPr>
            <p:spPr>
              <a:xfrm>
                <a:off x="8970123" y="2683954"/>
                <a:ext cx="285879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sz="20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𝑳𝑨𝑻𝑬𝑹𝑨𝑳</m:t>
                          </m:r>
                        </m:sub>
                      </m:sSub>
                      <m:r>
                        <a:rPr lang="es-ES" sz="20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s-ES" sz="20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s-ES" sz="20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r>
                        <a:rPr lang="es-ES" sz="20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𝒈</m:t>
                      </m:r>
                      <m:r>
                        <a:rPr lang="es-ES" sz="20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s-ES" sz="2000" b="1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s-ES" sz="2000" b="1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s-ES" sz="20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E5D437DC-859D-9BA6-242A-614B75499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0123" y="2683954"/>
                <a:ext cx="2858796" cy="307777"/>
              </a:xfrm>
              <a:prstGeom prst="rect">
                <a:avLst/>
              </a:prstGeom>
              <a:blipFill>
                <a:blip r:embed="rId6"/>
                <a:stretch>
                  <a:fillRect l="-1279" r="-2559" b="-3725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Flecha: a la derecha 36">
            <a:extLst>
              <a:ext uri="{FF2B5EF4-FFF2-40B4-BE49-F238E27FC236}">
                <a16:creationId xmlns:a16="http://schemas.microsoft.com/office/drawing/2014/main" id="{54B47C4B-864C-1777-2C1B-F6FFDD97A61E}"/>
              </a:ext>
            </a:extLst>
          </p:cNvPr>
          <p:cNvSpPr/>
          <p:nvPr/>
        </p:nvSpPr>
        <p:spPr>
          <a:xfrm>
            <a:off x="2979402" y="3149631"/>
            <a:ext cx="1125074" cy="314766"/>
          </a:xfrm>
          <a:prstGeom prst="rightArrow">
            <a:avLst>
              <a:gd name="adj1" fmla="val 50000"/>
              <a:gd name="adj2" fmla="val 9885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2F39F241-2788-D871-84D1-5E08007F29F7}"/>
              </a:ext>
            </a:extLst>
          </p:cNvPr>
          <p:cNvSpPr txBox="1"/>
          <p:nvPr/>
        </p:nvSpPr>
        <p:spPr>
          <a:xfrm>
            <a:off x="6712527" y="3705395"/>
            <a:ext cx="1326659" cy="521669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21563115"/>
              </a:avLst>
            </a:prstTxWarp>
            <a:spAutoFit/>
          </a:bodyPr>
          <a:lstStyle/>
          <a:p>
            <a:pPr algn="ctr"/>
            <a:r>
              <a:rPr lang="es-ES" b="1" spc="300" dirty="0"/>
              <a:t>2</a:t>
            </a:r>
            <a:r>
              <a:rPr lang="el-GR" b="1" spc="300" dirty="0"/>
              <a:t>π</a:t>
            </a:r>
            <a:r>
              <a:rPr lang="es-ES" b="1" spc="300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743CBCFF-2158-192A-7DDA-157B1D315B8F}"/>
                  </a:ext>
                </a:extLst>
              </p:cNvPr>
              <p:cNvSpPr txBox="1"/>
              <p:nvPr/>
            </p:nvSpPr>
            <p:spPr>
              <a:xfrm>
                <a:off x="7092896" y="4979823"/>
                <a:ext cx="1511888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𝑩𝑨𝑺𝑬</m:t>
                          </m:r>
                        </m:sub>
                      </m:sSub>
                      <m:r>
                        <a:rPr lang="es-ES" sz="20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0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743CBCFF-2158-192A-7DDA-157B1D315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2896" y="4979823"/>
                <a:ext cx="1511888" cy="314766"/>
              </a:xfrm>
              <a:prstGeom prst="rect">
                <a:avLst/>
              </a:prstGeom>
              <a:blipFill>
                <a:blip r:embed="rId7"/>
                <a:stretch>
                  <a:fillRect l="-3226" r="-1210" b="-1923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68A818A3-97BA-86F1-471F-EBD68AEC2D25}"/>
                  </a:ext>
                </a:extLst>
              </p:cNvPr>
              <p:cNvSpPr txBox="1"/>
              <p:nvPr/>
            </p:nvSpPr>
            <p:spPr>
              <a:xfrm>
                <a:off x="1992212" y="5812033"/>
                <a:ext cx="7182287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𝑪𝑰𝑳𝑰𝑵𝑫𝑹𝑶</m:t>
                          </m:r>
                        </m:sub>
                      </m:sSub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400" b="1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1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sz="2400" b="1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𝑳𝑨𝑻𝑬𝑹𝑨𝑳</m:t>
                          </m:r>
                        </m:sub>
                      </m:sSub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400" b="1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1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sz="2400" b="1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𝑩𝑨𝑺𝑬</m:t>
                          </m:r>
                        </m:sub>
                      </m:sSub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s-ES" sz="2400" b="1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s-ES" sz="2400" b="1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r>
                        <a:rPr lang="es-ES" sz="2400" b="1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𝒈</m:t>
                      </m:r>
                      <m:r>
                        <a:rPr lang="es-ES" sz="24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s-ES" sz="2400" b="1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s-ES" sz="2400" b="1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s-ES" sz="2400" b="1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400" b="1" i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sSup>
                        <m:sSupPr>
                          <m:ctrlPr>
                            <a:rPr lang="es-ES" sz="2400" b="1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s-ES" sz="2400" b="1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68A818A3-97BA-86F1-471F-EBD68AEC2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212" y="5812033"/>
                <a:ext cx="7182287" cy="3776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2797C8DF-C8D8-5BB5-2468-8B913AABF37B}"/>
              </a:ext>
            </a:extLst>
          </p:cNvPr>
          <p:cNvCxnSpPr>
            <a:cxnSpLocks/>
          </p:cNvCxnSpPr>
          <p:nvPr/>
        </p:nvCxnSpPr>
        <p:spPr>
          <a:xfrm>
            <a:off x="1828800" y="1692399"/>
            <a:ext cx="395119" cy="142645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0DBAFD4-A03F-BCFC-5C04-42E5C843B4A2}"/>
              </a:ext>
            </a:extLst>
          </p:cNvPr>
          <p:cNvSpPr txBox="1"/>
          <p:nvPr/>
        </p:nvSpPr>
        <p:spPr>
          <a:xfrm>
            <a:off x="1977123" y="2246209"/>
            <a:ext cx="594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g’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9C04F11-7D0B-00AB-AC86-75D30B62BA00}"/>
              </a:ext>
            </a:extLst>
          </p:cNvPr>
          <p:cNvSpPr/>
          <p:nvPr/>
        </p:nvSpPr>
        <p:spPr>
          <a:xfrm>
            <a:off x="6034301" y="4592344"/>
            <a:ext cx="869312" cy="869313"/>
          </a:xfrm>
          <a:prstGeom prst="ellipse">
            <a:avLst/>
          </a:prstGeom>
          <a:gradFill flip="none" rotWithShape="1">
            <a:gsLst>
              <a:gs pos="27000">
                <a:schemeClr val="accent5">
                  <a:lumMod val="20000"/>
                  <a:lumOff val="80000"/>
                </a:schemeClr>
              </a:gs>
              <a:gs pos="64200">
                <a:schemeClr val="accent5">
                  <a:lumMod val="40000"/>
                  <a:lumOff val="60000"/>
                </a:schemeClr>
              </a:gs>
              <a:gs pos="0">
                <a:schemeClr val="bg1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5000000" scaled="0"/>
            <a:tileRect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B69E4E88-3BFE-2F70-F079-26A9D9EF7CE2}"/>
              </a:ext>
            </a:extLst>
          </p:cNvPr>
          <p:cNvSpPr/>
          <p:nvPr/>
        </p:nvSpPr>
        <p:spPr>
          <a:xfrm>
            <a:off x="1659125" y="309403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984538CA-B6F8-2406-9396-A54CE406A69C}"/>
              </a:ext>
            </a:extLst>
          </p:cNvPr>
          <p:cNvCxnSpPr>
            <a:cxnSpLocks/>
            <a:endCxn id="52" idx="0"/>
          </p:cNvCxnSpPr>
          <p:nvPr/>
        </p:nvCxnSpPr>
        <p:spPr>
          <a:xfrm flipV="1">
            <a:off x="1655044" y="3117794"/>
            <a:ext cx="45825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CED6AC9-25A5-83DB-27CB-6D828028A747}"/>
              </a:ext>
            </a:extLst>
          </p:cNvPr>
          <p:cNvSpPr txBox="1"/>
          <p:nvPr/>
        </p:nvSpPr>
        <p:spPr>
          <a:xfrm>
            <a:off x="1671692" y="2802443"/>
            <a:ext cx="376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i="1" dirty="0"/>
              <a:t>r’</a:t>
            </a:r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A16C1813-D472-A477-2F54-CC137EE42FE2}"/>
              </a:ext>
            </a:extLst>
          </p:cNvPr>
          <p:cNvSpPr/>
          <p:nvPr/>
        </p:nvSpPr>
        <p:spPr>
          <a:xfrm>
            <a:off x="6446097" y="5010281"/>
            <a:ext cx="45720" cy="457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2957843C-C410-E5D5-33A5-174D2AD3F04E}"/>
              </a:ext>
            </a:extLst>
          </p:cNvPr>
          <p:cNvCxnSpPr>
            <a:cxnSpLocks/>
          </p:cNvCxnSpPr>
          <p:nvPr/>
        </p:nvCxnSpPr>
        <p:spPr>
          <a:xfrm flipV="1">
            <a:off x="6468957" y="4725793"/>
            <a:ext cx="307348" cy="3073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CuadroTexto 62">
            <a:extLst>
              <a:ext uri="{FF2B5EF4-FFF2-40B4-BE49-F238E27FC236}">
                <a16:creationId xmlns:a16="http://schemas.microsoft.com/office/drawing/2014/main" id="{4BF82297-8CA1-4A40-E556-F3CC44A432BB}"/>
              </a:ext>
            </a:extLst>
          </p:cNvPr>
          <p:cNvSpPr txBox="1"/>
          <p:nvPr/>
        </p:nvSpPr>
        <p:spPr>
          <a:xfrm>
            <a:off x="6491817" y="4592344"/>
            <a:ext cx="95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i="1" dirty="0"/>
              <a:t>r</a:t>
            </a:r>
          </a:p>
        </p:txBody>
      </p:sp>
      <p:sp>
        <p:nvSpPr>
          <p:cNvPr id="35" name="Arco 34">
            <a:extLst>
              <a:ext uri="{FF2B5EF4-FFF2-40B4-BE49-F238E27FC236}">
                <a16:creationId xmlns:a16="http://schemas.microsoft.com/office/drawing/2014/main" id="{F5B38837-D468-0249-F465-CC93A77DB2FE}"/>
              </a:ext>
            </a:extLst>
          </p:cNvPr>
          <p:cNvSpPr/>
          <p:nvPr/>
        </p:nvSpPr>
        <p:spPr>
          <a:xfrm>
            <a:off x="4551411" y="-897191"/>
            <a:ext cx="5260646" cy="5260646"/>
          </a:xfrm>
          <a:prstGeom prst="arc">
            <a:avLst>
              <a:gd name="adj1" fmla="val 2474053"/>
              <a:gd name="adj2" fmla="val 9816917"/>
            </a:avLst>
          </a:prstGeom>
          <a:noFill/>
          <a:ln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38264879-6DC4-654A-B541-B36595EAD6C5}"/>
              </a:ext>
            </a:extLst>
          </p:cNvPr>
          <p:cNvCxnSpPr>
            <a:cxnSpLocks/>
          </p:cNvCxnSpPr>
          <p:nvPr/>
        </p:nvCxnSpPr>
        <p:spPr>
          <a:xfrm flipV="1">
            <a:off x="4315774" y="1921739"/>
            <a:ext cx="1905504" cy="544447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51013117-F45E-7FC9-4665-6815C4EAD90F}"/>
              </a:ext>
            </a:extLst>
          </p:cNvPr>
          <p:cNvCxnSpPr>
            <a:cxnSpLocks/>
          </p:cNvCxnSpPr>
          <p:nvPr/>
        </p:nvCxnSpPr>
        <p:spPr>
          <a:xfrm>
            <a:off x="7256123" y="1659073"/>
            <a:ext cx="744773" cy="65431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DFC2EEC5-127E-46BC-D249-ACE0F81C099B}"/>
              </a:ext>
            </a:extLst>
          </p:cNvPr>
          <p:cNvSpPr txBox="1"/>
          <p:nvPr/>
        </p:nvSpPr>
        <p:spPr>
          <a:xfrm>
            <a:off x="7610552" y="1659072"/>
            <a:ext cx="439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g’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B901258F-7249-95CC-50A5-BD480C5ACA87}"/>
              </a:ext>
            </a:extLst>
          </p:cNvPr>
          <p:cNvSpPr txBox="1"/>
          <p:nvPr/>
        </p:nvSpPr>
        <p:spPr>
          <a:xfrm>
            <a:off x="5135998" y="1793579"/>
            <a:ext cx="263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g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BC292EDA-8D8E-76AF-F219-B607CA606D77}"/>
              </a:ext>
            </a:extLst>
          </p:cNvPr>
          <p:cNvSpPr txBox="1"/>
          <p:nvPr/>
        </p:nvSpPr>
        <p:spPr>
          <a:xfrm>
            <a:off x="2447916" y="3464397"/>
            <a:ext cx="263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g</a:t>
            </a:r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D4F14FFB-C877-FC95-B1D8-7359E42B9D35}"/>
              </a:ext>
            </a:extLst>
          </p:cNvPr>
          <p:cNvSpPr/>
          <p:nvPr/>
        </p:nvSpPr>
        <p:spPr>
          <a:xfrm>
            <a:off x="1614143" y="440740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50B13BDC-CB34-DA39-860D-F90DB6F0A613}"/>
              </a:ext>
            </a:extLst>
          </p:cNvPr>
          <p:cNvCxnSpPr>
            <a:cxnSpLocks/>
          </p:cNvCxnSpPr>
          <p:nvPr/>
        </p:nvCxnSpPr>
        <p:spPr>
          <a:xfrm>
            <a:off x="1633091" y="4432646"/>
            <a:ext cx="85089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CuadroTexto 71">
            <a:extLst>
              <a:ext uri="{FF2B5EF4-FFF2-40B4-BE49-F238E27FC236}">
                <a16:creationId xmlns:a16="http://schemas.microsoft.com/office/drawing/2014/main" id="{0D66D846-1D2C-6882-5479-274F86E95CCF}"/>
              </a:ext>
            </a:extLst>
          </p:cNvPr>
          <p:cNvSpPr txBox="1"/>
          <p:nvPr/>
        </p:nvSpPr>
        <p:spPr>
          <a:xfrm>
            <a:off x="1857484" y="4125860"/>
            <a:ext cx="95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i="1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CuadroTexto 85">
                <a:extLst>
                  <a:ext uri="{FF2B5EF4-FFF2-40B4-BE49-F238E27FC236}">
                    <a16:creationId xmlns:a16="http://schemas.microsoft.com/office/drawing/2014/main" id="{C84A4F9E-D793-1E21-AF1C-08D596821744}"/>
                  </a:ext>
                </a:extLst>
              </p:cNvPr>
              <p:cNvSpPr txBox="1"/>
              <p:nvPr/>
            </p:nvSpPr>
            <p:spPr>
              <a:xfrm>
                <a:off x="9420966" y="1735844"/>
                <a:ext cx="1884467" cy="74860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86" name="CuadroTexto 85">
                <a:extLst>
                  <a:ext uri="{FF2B5EF4-FFF2-40B4-BE49-F238E27FC236}">
                    <a16:creationId xmlns:a16="http://schemas.microsoft.com/office/drawing/2014/main" id="{C84A4F9E-D793-1E21-AF1C-08D596821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0966" y="1735844"/>
                <a:ext cx="1884467" cy="74860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076EBCC2-481E-2159-E8DD-F8492AD4EFCF}"/>
              </a:ext>
            </a:extLst>
          </p:cNvPr>
          <p:cNvCxnSpPr>
            <a:cxnSpLocks/>
          </p:cNvCxnSpPr>
          <p:nvPr/>
        </p:nvCxnSpPr>
        <p:spPr>
          <a:xfrm flipH="1">
            <a:off x="1685705" y="1720549"/>
            <a:ext cx="16731" cy="139634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89">
            <a:extLst>
              <a:ext uri="{FF2B5EF4-FFF2-40B4-BE49-F238E27FC236}">
                <a16:creationId xmlns:a16="http://schemas.microsoft.com/office/drawing/2014/main" id="{2F444250-1A75-8E21-1600-24F8C443E0CA}"/>
              </a:ext>
            </a:extLst>
          </p:cNvPr>
          <p:cNvCxnSpPr>
            <a:cxnSpLocks/>
          </p:cNvCxnSpPr>
          <p:nvPr/>
        </p:nvCxnSpPr>
        <p:spPr>
          <a:xfrm>
            <a:off x="2111411" y="3124265"/>
            <a:ext cx="0" cy="132886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de flecha 92">
            <a:extLst>
              <a:ext uri="{FF2B5EF4-FFF2-40B4-BE49-F238E27FC236}">
                <a16:creationId xmlns:a16="http://schemas.microsoft.com/office/drawing/2014/main" id="{6FF601EA-F365-9FDD-2DF4-BF90B3539C72}"/>
              </a:ext>
            </a:extLst>
          </p:cNvPr>
          <p:cNvCxnSpPr>
            <a:cxnSpLocks/>
          </p:cNvCxnSpPr>
          <p:nvPr/>
        </p:nvCxnSpPr>
        <p:spPr>
          <a:xfrm>
            <a:off x="2229542" y="3140442"/>
            <a:ext cx="357933" cy="129220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06769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000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000"/>
                            </p:stCondLst>
                            <p:childTnLst>
                              <p:par>
                                <p:cTn id="9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3000"/>
                            </p:stCondLst>
                            <p:childTnLst>
                              <p:par>
                                <p:cTn id="10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500"/>
                            </p:stCondLst>
                            <p:childTnLst>
                              <p:par>
                                <p:cTn id="1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4000"/>
                            </p:stCondLst>
                            <p:childTnLst>
                              <p:par>
                                <p:cTn id="1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4500"/>
                            </p:stCondLst>
                            <p:childTnLst>
                              <p:par>
                                <p:cTn id="1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0"/>
                            </p:stCondLst>
                            <p:childTnLst>
                              <p:par>
                                <p:cTn id="1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500"/>
                            </p:stCondLst>
                            <p:childTnLst>
                              <p:par>
                                <p:cTn id="1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81" grpId="0" animBg="1"/>
      <p:bldP spid="5" grpId="0"/>
      <p:bldP spid="3" grpId="0" animBg="1"/>
      <p:bldP spid="15" grpId="0"/>
      <p:bldP spid="37" grpId="0" animBg="1"/>
      <p:bldP spid="51" grpId="0"/>
      <p:bldP spid="66" grpId="0"/>
      <p:bldP spid="67" grpId="0"/>
      <p:bldP spid="12" grpId="0"/>
      <p:bldP spid="13" grpId="0" animBg="1"/>
      <p:bldP spid="18" grpId="0" animBg="1"/>
      <p:bldP spid="21" grpId="0"/>
      <p:bldP spid="60" grpId="0" animBg="1"/>
      <p:bldP spid="63" grpId="0"/>
      <p:bldP spid="35" grpId="0" animBg="1"/>
      <p:bldP spid="40" grpId="0"/>
      <p:bldP spid="65" grpId="0"/>
      <p:bldP spid="68" grpId="0"/>
      <p:bldP spid="70" grpId="0" animBg="1"/>
      <p:bldP spid="72" grpId="0"/>
      <p:bldP spid="8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10: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Cuerpos Geométricos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681461" y="1070544"/>
            <a:ext cx="4957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ÁREA DE UNA ESFERA</a:t>
            </a:r>
            <a:endParaRPr lang="es-ES" sz="2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50B08E8-977E-4A54-D380-EDDF72808FC3}"/>
              </a:ext>
            </a:extLst>
          </p:cNvPr>
          <p:cNvSpPr/>
          <p:nvPr/>
        </p:nvSpPr>
        <p:spPr>
          <a:xfrm>
            <a:off x="536482" y="1207846"/>
            <a:ext cx="125506" cy="12550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0C93794-239B-F904-27F4-1B6F7ED82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329" y="1582992"/>
            <a:ext cx="3421942" cy="3063368"/>
          </a:xfrm>
          <a:prstGeom prst="rect">
            <a:avLst/>
          </a:prstGeom>
        </p:spPr>
      </p:pic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2F2EAE50-A310-5B3A-E1BA-C82CDE5BD0A6}"/>
              </a:ext>
            </a:extLst>
          </p:cNvPr>
          <p:cNvCxnSpPr/>
          <p:nvPr/>
        </p:nvCxnSpPr>
        <p:spPr>
          <a:xfrm>
            <a:off x="2374523" y="2043166"/>
            <a:ext cx="0" cy="1090677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28D0BF51-83CB-BC32-F999-22EB81C42BBC}"/>
              </a:ext>
            </a:extLst>
          </p:cNvPr>
          <p:cNvCxnSpPr/>
          <p:nvPr/>
        </p:nvCxnSpPr>
        <p:spPr>
          <a:xfrm>
            <a:off x="2374523" y="3133842"/>
            <a:ext cx="0" cy="1090677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ADFA0FF-28B7-865F-3494-1A79A07D65C8}"/>
              </a:ext>
            </a:extLst>
          </p:cNvPr>
          <p:cNvSpPr txBox="1"/>
          <p:nvPr/>
        </p:nvSpPr>
        <p:spPr>
          <a:xfrm>
            <a:off x="2427319" y="3544552"/>
            <a:ext cx="159489" cy="399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i="1" dirty="0">
                <a:solidFill>
                  <a:srgbClr val="C00000"/>
                </a:solidFill>
              </a:rPr>
              <a:t>R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3630002-3CD9-53F1-5786-2B43AD319192}"/>
              </a:ext>
            </a:extLst>
          </p:cNvPr>
          <p:cNvSpPr txBox="1"/>
          <p:nvPr/>
        </p:nvSpPr>
        <p:spPr>
          <a:xfrm>
            <a:off x="2187299" y="2377968"/>
            <a:ext cx="159489" cy="399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i="1" dirty="0">
                <a:solidFill>
                  <a:srgbClr val="C00000"/>
                </a:solidFill>
              </a:rPr>
              <a:t>R</a:t>
            </a:r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331FF66D-F945-87C3-BA1E-40F62C535821}"/>
              </a:ext>
            </a:extLst>
          </p:cNvPr>
          <p:cNvSpPr/>
          <p:nvPr/>
        </p:nvSpPr>
        <p:spPr>
          <a:xfrm>
            <a:off x="3898271" y="2938242"/>
            <a:ext cx="1125074" cy="314766"/>
          </a:xfrm>
          <a:prstGeom prst="rightArrow">
            <a:avLst>
              <a:gd name="adj1" fmla="val 50000"/>
              <a:gd name="adj2" fmla="val 9885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3B30DD9-9EE0-6FD5-17AA-743FC55D270C}"/>
              </a:ext>
            </a:extLst>
          </p:cNvPr>
          <p:cNvSpPr/>
          <p:nvPr/>
        </p:nvSpPr>
        <p:spPr>
          <a:xfrm>
            <a:off x="5335571" y="1844217"/>
            <a:ext cx="5165889" cy="25169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35601B73-8C62-23B7-CE9A-461797DA5A53}"/>
              </a:ext>
            </a:extLst>
          </p:cNvPr>
          <p:cNvCxnSpPr/>
          <p:nvPr/>
        </p:nvCxnSpPr>
        <p:spPr>
          <a:xfrm>
            <a:off x="11095201" y="1837147"/>
            <a:ext cx="0" cy="2516956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D399D04-8A79-DB4D-2DC0-9AA8EB6AA979}"/>
              </a:ext>
            </a:extLst>
          </p:cNvPr>
          <p:cNvSpPr txBox="1"/>
          <p:nvPr/>
        </p:nvSpPr>
        <p:spPr>
          <a:xfrm>
            <a:off x="10612567" y="2910959"/>
            <a:ext cx="45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2R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963BB715-08F5-8617-225F-C66E49019F84}"/>
              </a:ext>
            </a:extLst>
          </p:cNvPr>
          <p:cNvCxnSpPr>
            <a:cxnSpLocks/>
          </p:cNvCxnSpPr>
          <p:nvPr/>
        </p:nvCxnSpPr>
        <p:spPr>
          <a:xfrm>
            <a:off x="5335571" y="4756661"/>
            <a:ext cx="5165889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EAA930D-EB11-640D-EBC2-FCFB5AF38FAD}"/>
              </a:ext>
            </a:extLst>
          </p:cNvPr>
          <p:cNvSpPr txBox="1"/>
          <p:nvPr/>
        </p:nvSpPr>
        <p:spPr>
          <a:xfrm>
            <a:off x="7431016" y="4387329"/>
            <a:ext cx="974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2</a:t>
            </a:r>
            <a:r>
              <a:rPr lang="el-GR" b="1" dirty="0"/>
              <a:t>π</a:t>
            </a:r>
            <a:r>
              <a:rPr lang="es-ES" b="1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18346C09-CBC2-AFEB-CC27-0CC4DE5D3CBA}"/>
                  </a:ext>
                </a:extLst>
              </p:cNvPr>
              <p:cNvSpPr txBox="1"/>
              <p:nvPr/>
            </p:nvSpPr>
            <p:spPr>
              <a:xfrm>
                <a:off x="2776854" y="5507886"/>
                <a:ext cx="6638292" cy="3985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𝑬𝑺𝑭𝑬𝑹𝑨</m:t>
                          </m:r>
                        </m:sub>
                      </m:sSub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4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1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sz="2400" b="1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𝑳𝑨𝑻𝑬𝑹𝑨𝑳</m:t>
                          </m:r>
                          <m:r>
                            <a:rPr lang="es-ES" sz="24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s-ES" sz="24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𝑪𝑰𝑳𝑰𝑵𝑫𝑹𝑶</m:t>
                          </m:r>
                        </m:sub>
                      </m:sSub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s-ES" sz="2400" b="1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s-ES" sz="2400" b="1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s-E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sSup>
                        <m:sSup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18346C09-CBC2-AFEB-CC27-0CC4DE5D3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6854" y="5507886"/>
                <a:ext cx="6638292" cy="398571"/>
              </a:xfrm>
              <a:prstGeom prst="rect">
                <a:avLst/>
              </a:prstGeom>
              <a:blipFill>
                <a:blip r:embed="rId7"/>
                <a:stretch>
                  <a:fillRect l="-551" b="-1230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431467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animBg="1"/>
      <p:bldP spid="17" grpId="0"/>
      <p:bldP spid="20" grpId="0"/>
      <p:bldP spid="22" grpId="0" animBg="1"/>
      <p:bldP spid="23" grpId="0" animBg="1"/>
      <p:bldP spid="26" grpId="0"/>
      <p:bldP spid="30" grpId="0"/>
      <p:bldP spid="3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F09577BD-2096-4352-85A0-2E020E1A88D0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3 ESO\\10. Cuerpos geométrico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SCORM_PASSING_SCORE" val="100.000000"/>
  <p:tag name="ISPRING_PRESENTATION_TITLE" val="2. Superficie de los cuerpos geométricos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E3FFC4B-ABF3-44E2-B692-CBF415813614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E83B12D-E9B1-4EA8-81AF-714CBC0D0734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BBD1540D-FCD5-494A-8448-B24C3E072C23}:25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F8F963F-9884-4E22-B705-8BBD1DAEE727}:26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1181</TotalTime>
  <Words>158</Words>
  <Application>Microsoft Office PowerPoint</Application>
  <PresentationFormat>Panorámica</PresentationFormat>
  <Paragraphs>46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Superficie de los cuerpos geométricos</dc:title>
  <dc:creator>Illán Linos Souto</dc:creator>
  <cp:lastModifiedBy>Illán Linos</cp:lastModifiedBy>
  <cp:revision>115</cp:revision>
  <dcterms:created xsi:type="dcterms:W3CDTF">2024-08-18T18:48:07Z</dcterms:created>
  <dcterms:modified xsi:type="dcterms:W3CDTF">2025-11-20T22:35:34Z</dcterms:modified>
</cp:coreProperties>
</file>