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96B17-5588-4BA8-8C7A-6661F597187B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B65BF7-1B84-4E23-8836-4FF99DB704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171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6135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1911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063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</a:t>
            </a:r>
            <a:r>
              <a:rPr lang="es-ES" sz="2000" b="1" dirty="0">
                <a:solidFill>
                  <a:srgbClr val="4E95D9"/>
                </a:solidFill>
              </a:rPr>
              <a:t>cuerpos geométricos limitados por polígonos </a:t>
            </a:r>
            <a:r>
              <a:rPr lang="es-ES" sz="2000" b="1" dirty="0"/>
              <a:t>se llaman poliedros.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1ABDE47-6C7B-1F39-6479-928D04341721}"/>
              </a:ext>
            </a:extLst>
          </p:cNvPr>
          <p:cNvGrpSpPr/>
          <p:nvPr/>
        </p:nvGrpSpPr>
        <p:grpSpPr>
          <a:xfrm>
            <a:off x="5002435" y="1782897"/>
            <a:ext cx="1848436" cy="1776412"/>
            <a:chOff x="1772543" y="3662363"/>
            <a:chExt cx="2299395" cy="2209800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0AE750ED-19A0-892E-7588-FFD03FCA8DC9}"/>
                </a:ext>
              </a:extLst>
            </p:cNvPr>
            <p:cNvCxnSpPr/>
            <p:nvPr/>
          </p:nvCxnSpPr>
          <p:spPr>
            <a:xfrm>
              <a:off x="2665161" y="3677171"/>
              <a:ext cx="0" cy="1193279"/>
            </a:xfrm>
            <a:prstGeom prst="line">
              <a:avLst/>
            </a:prstGeom>
            <a:ln w="28575"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5AC12D2F-AAA5-940F-54FB-DB0EE21381BB}"/>
                </a:ext>
              </a:extLst>
            </p:cNvPr>
            <p:cNvCxnSpPr/>
            <p:nvPr/>
          </p:nvCxnSpPr>
          <p:spPr>
            <a:xfrm flipH="1">
              <a:off x="2665161" y="4808732"/>
              <a:ext cx="1406777" cy="61718"/>
            </a:xfrm>
            <a:prstGeom prst="line">
              <a:avLst/>
            </a:prstGeom>
            <a:ln w="28575"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2C3F6A5-07D4-9450-7EB5-B879F61381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2543" y="4866753"/>
              <a:ext cx="892618" cy="572022"/>
            </a:xfrm>
            <a:prstGeom prst="line">
              <a:avLst/>
            </a:prstGeom>
            <a:ln w="28575"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06EA4EE-BCFA-D212-F018-6C63400F611E}"/>
                </a:ext>
              </a:extLst>
            </p:cNvPr>
            <p:cNvGrpSpPr/>
            <p:nvPr/>
          </p:nvGrpSpPr>
          <p:grpSpPr>
            <a:xfrm>
              <a:off x="1772543" y="3662363"/>
              <a:ext cx="2299395" cy="2209800"/>
              <a:chOff x="1963043" y="3700463"/>
              <a:chExt cx="2299395" cy="2209800"/>
            </a:xfrm>
          </p:grpSpPr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27C81A97-B3AF-D006-F0D0-A88271E646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63043" y="4026289"/>
                <a:ext cx="448415" cy="1450586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0E13F806-C8E5-6241-E366-10F570BCA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2763" y="4271963"/>
                <a:ext cx="90487" cy="163830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47F46285-41BF-0D18-819E-71EEA0F832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9834" y="4107251"/>
                <a:ext cx="587071" cy="1479162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E84DCF2D-F43F-67EE-3CD4-42628EE2FD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5239" y="4043363"/>
                <a:ext cx="647524" cy="219075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8B5962FF-F105-D940-8714-DC3E5FB9C9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7676" y="3700463"/>
                <a:ext cx="782158" cy="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>
                <a:extLst>
                  <a:ext uri="{FF2B5EF4-FFF2-40B4-BE49-F238E27FC236}">
                    <a16:creationId xmlns:a16="http://schemas.microsoft.com/office/drawing/2014/main" id="{C1718AA3-2325-AF8F-3A6E-87F561730D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2763" y="4107251"/>
                <a:ext cx="587071" cy="155187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recto 16">
                <a:extLst>
                  <a:ext uri="{FF2B5EF4-FFF2-40B4-BE49-F238E27FC236}">
                    <a16:creationId xmlns:a16="http://schemas.microsoft.com/office/drawing/2014/main" id="{3C34D96F-1700-E22B-0905-48B8B7D31A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39834" y="3715271"/>
                <a:ext cx="0" cy="39198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recto 17">
                <a:extLst>
                  <a:ext uri="{FF2B5EF4-FFF2-40B4-BE49-F238E27FC236}">
                    <a16:creationId xmlns:a16="http://schemas.microsoft.com/office/drawing/2014/main" id="{1E9AD896-5CED-587C-C275-3A77105328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9834" y="3700463"/>
                <a:ext cx="622604" cy="1146369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recto 18">
                <a:extLst>
                  <a:ext uri="{FF2B5EF4-FFF2-40B4-BE49-F238E27FC236}">
                    <a16:creationId xmlns:a16="http://schemas.microsoft.com/office/drawing/2014/main" id="{98F44FD7-6C43-D696-6DC9-0113F6EE3CA0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2415691" y="3700463"/>
                <a:ext cx="439970" cy="317289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6A59C25A-0581-3F5C-E14A-439B9ED1AE4D}"/>
                  </a:ext>
                </a:extLst>
              </p:cNvPr>
              <p:cNvCxnSpPr/>
              <p:nvPr/>
            </p:nvCxnSpPr>
            <p:spPr>
              <a:xfrm>
                <a:off x="1963043" y="5476875"/>
                <a:ext cx="1180207" cy="433388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D5AFE0AA-3C5D-4DDB-4C67-90B5ABB72C69}"/>
                  </a:ext>
                </a:extLst>
              </p:cNvPr>
              <p:cNvCxnSpPr/>
              <p:nvPr/>
            </p:nvCxnSpPr>
            <p:spPr>
              <a:xfrm flipV="1">
                <a:off x="3143250" y="5586413"/>
                <a:ext cx="1083655" cy="32385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B05F47D7-02DE-E37A-A7C2-4A0725237AC5}"/>
                  </a:ext>
                </a:extLst>
              </p:cNvPr>
              <p:cNvCxnSpPr/>
              <p:nvPr/>
            </p:nvCxnSpPr>
            <p:spPr>
              <a:xfrm flipV="1">
                <a:off x="4226905" y="4846832"/>
                <a:ext cx="35533" cy="739581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E8C0D1B7-4D06-29D6-0017-4312796A8993}"/>
              </a:ext>
            </a:extLst>
          </p:cNvPr>
          <p:cNvGrpSpPr/>
          <p:nvPr/>
        </p:nvGrpSpPr>
        <p:grpSpPr>
          <a:xfrm>
            <a:off x="3137085" y="1815679"/>
            <a:ext cx="5600430" cy="1813376"/>
            <a:chOff x="3137085" y="1815679"/>
            <a:chExt cx="5600430" cy="1813376"/>
          </a:xfrm>
        </p:grpSpPr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1B3D112E-B59C-1BA4-82D9-2B8B066CC6F4}"/>
                </a:ext>
              </a:extLst>
            </p:cNvPr>
            <p:cNvCxnSpPr>
              <a:cxnSpLocks/>
            </p:cNvCxnSpPr>
            <p:nvPr/>
          </p:nvCxnSpPr>
          <p:spPr>
            <a:xfrm>
              <a:off x="4434302" y="2727378"/>
              <a:ext cx="959166" cy="2370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A87D020C-0BA5-1886-55AC-A7F2D9EE8D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717" y="2057795"/>
              <a:ext cx="807886" cy="3000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69236A95-5372-9796-3B56-D8B88745F0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22307" y="3313067"/>
              <a:ext cx="514351" cy="9625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6C4D41AD-D60B-A01F-4F20-BD8E3070F09F}"/>
                </a:ext>
              </a:extLst>
            </p:cNvPr>
            <p:cNvSpPr txBox="1"/>
            <p:nvPr/>
          </p:nvSpPr>
          <p:spPr>
            <a:xfrm>
              <a:off x="3137085" y="2504383"/>
              <a:ext cx="13852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CARAS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9E07D5C5-B807-841E-D5F7-613A5AF31CAC}"/>
                </a:ext>
              </a:extLst>
            </p:cNvPr>
            <p:cNvSpPr txBox="1"/>
            <p:nvPr/>
          </p:nvSpPr>
          <p:spPr>
            <a:xfrm>
              <a:off x="7294242" y="1815679"/>
              <a:ext cx="13823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LADOS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7D979DF3-D035-599A-081F-4F94F844BDB3}"/>
                </a:ext>
              </a:extLst>
            </p:cNvPr>
            <p:cNvSpPr txBox="1"/>
            <p:nvPr/>
          </p:nvSpPr>
          <p:spPr>
            <a:xfrm>
              <a:off x="7147838" y="3228945"/>
              <a:ext cx="15896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VÉRTICES</a:t>
              </a:r>
            </a:p>
          </p:txBody>
        </p:sp>
      </p:grpSp>
      <p:sp>
        <p:nvSpPr>
          <p:cNvPr id="33" name="!Marco 10">
            <a:extLst>
              <a:ext uri="{FF2B5EF4-FFF2-40B4-BE49-F238E27FC236}">
                <a16:creationId xmlns:a16="http://schemas.microsoft.com/office/drawing/2014/main" id="{8F9EDFDA-37DE-1C34-B1AD-064390057839}"/>
              </a:ext>
            </a:extLst>
          </p:cNvPr>
          <p:cNvSpPr/>
          <p:nvPr/>
        </p:nvSpPr>
        <p:spPr>
          <a:xfrm>
            <a:off x="535084" y="3828587"/>
            <a:ext cx="11121832" cy="75570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!CuadroTexto 1">
            <a:extLst>
              <a:ext uri="{FF2B5EF4-FFF2-40B4-BE49-F238E27FC236}">
                <a16:creationId xmlns:a16="http://schemas.microsoft.com/office/drawing/2014/main" id="{E44AC9C0-CAB6-C336-438B-7EFD5CE5460A}"/>
              </a:ext>
            </a:extLst>
          </p:cNvPr>
          <p:cNvSpPr txBox="1"/>
          <p:nvPr/>
        </p:nvSpPr>
        <p:spPr>
          <a:xfrm>
            <a:off x="535084" y="385249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prisma es un </a:t>
            </a:r>
            <a:r>
              <a:rPr lang="es-ES" sz="2000" b="1" dirty="0">
                <a:solidFill>
                  <a:srgbClr val="4E95D9"/>
                </a:solidFill>
              </a:rPr>
              <a:t>poliedro limitado por dos polígonos iguales y paralelos</a:t>
            </a:r>
            <a:r>
              <a:rPr lang="es-ES" sz="2000" b="1" dirty="0"/>
              <a:t>, llamados bases, </a:t>
            </a:r>
            <a:r>
              <a:rPr lang="es-ES" sz="2000" b="1" dirty="0">
                <a:solidFill>
                  <a:srgbClr val="4E95D9"/>
                </a:solidFill>
              </a:rPr>
              <a:t>y varios paralelogramos </a:t>
            </a:r>
            <a:r>
              <a:rPr lang="es-ES" sz="2000" b="1" dirty="0"/>
              <a:t>llamados caras laterales.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EDEAD90-453C-10F8-6D2C-326B73A8C09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1334CA03-A7D2-C60E-BB7A-F4E11B9DFA4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3" grpId="0" animBg="1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prismas </a:t>
            </a:r>
            <a:r>
              <a:rPr lang="es-ES" sz="2000" b="1" dirty="0">
                <a:solidFill>
                  <a:srgbClr val="4E95D9"/>
                </a:solidFill>
              </a:rPr>
              <a:t>cuyas caras son todas rectángulos se llaman ortoedros.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9950C2CF-0058-57F7-ECCF-3311FAE49303}"/>
              </a:ext>
            </a:extLst>
          </p:cNvPr>
          <p:cNvSpPr/>
          <p:nvPr/>
        </p:nvSpPr>
        <p:spPr>
          <a:xfrm>
            <a:off x="535084" y="1678367"/>
            <a:ext cx="11121832" cy="715172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8E8B65EE-889A-5957-1905-DA977833AFA8}"/>
              </a:ext>
            </a:extLst>
          </p:cNvPr>
          <p:cNvSpPr txBox="1"/>
          <p:nvPr/>
        </p:nvSpPr>
        <p:spPr>
          <a:xfrm>
            <a:off x="535084" y="168565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las </a:t>
            </a:r>
            <a:r>
              <a:rPr lang="es-ES" sz="2000" b="1" dirty="0">
                <a:solidFill>
                  <a:srgbClr val="4E95D9"/>
                </a:solidFill>
              </a:rPr>
              <a:t>bases </a:t>
            </a:r>
            <a:r>
              <a:rPr lang="es-ES" sz="2000" b="1" dirty="0"/>
              <a:t>son </a:t>
            </a:r>
            <a:r>
              <a:rPr lang="es-ES" sz="2000" b="1" dirty="0">
                <a:solidFill>
                  <a:srgbClr val="4E95D9"/>
                </a:solidFill>
              </a:rPr>
              <a:t>polígonos regulares </a:t>
            </a:r>
            <a:r>
              <a:rPr lang="es-ES" sz="2000" b="1" dirty="0"/>
              <a:t>y las </a:t>
            </a:r>
            <a:r>
              <a:rPr lang="es-ES" sz="2000" b="1" dirty="0">
                <a:solidFill>
                  <a:srgbClr val="4E95D9"/>
                </a:solidFill>
              </a:rPr>
              <a:t>caras laterales </a:t>
            </a:r>
            <a:r>
              <a:rPr lang="es-ES" sz="2000" b="1" dirty="0"/>
              <a:t>son </a:t>
            </a:r>
            <a:r>
              <a:rPr lang="es-ES" sz="2000" b="1" dirty="0">
                <a:solidFill>
                  <a:srgbClr val="4E95D9"/>
                </a:solidFill>
              </a:rPr>
              <a:t>rectángulos</a:t>
            </a:r>
            <a:r>
              <a:rPr lang="es-ES" sz="2000" b="1" dirty="0"/>
              <a:t>, el </a:t>
            </a:r>
            <a:r>
              <a:rPr lang="es-ES" sz="2000" b="1" dirty="0">
                <a:solidFill>
                  <a:srgbClr val="4E95D9"/>
                </a:solidFill>
              </a:rPr>
              <a:t>prisma</a:t>
            </a:r>
            <a:r>
              <a:rPr lang="es-ES" sz="2000" b="1" dirty="0"/>
              <a:t> se llama </a:t>
            </a:r>
            <a:r>
              <a:rPr lang="es-ES" sz="2000" b="1" dirty="0">
                <a:solidFill>
                  <a:srgbClr val="4E95D9"/>
                </a:solidFill>
              </a:rPr>
              <a:t>regular.</a:t>
            </a: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4151E195-0004-7264-C4EC-0A98F925EA95}"/>
              </a:ext>
            </a:extLst>
          </p:cNvPr>
          <p:cNvGrpSpPr/>
          <p:nvPr/>
        </p:nvGrpSpPr>
        <p:grpSpPr>
          <a:xfrm>
            <a:off x="3979907" y="2803076"/>
            <a:ext cx="1614679" cy="2421250"/>
            <a:chOff x="3126786" y="8726888"/>
            <a:chExt cx="1614679" cy="2421250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46F83863-3AB7-0401-283E-F814C89A9CBE}"/>
                </a:ext>
              </a:extLst>
            </p:cNvPr>
            <p:cNvCxnSpPr>
              <a:cxnSpLocks/>
            </p:cNvCxnSpPr>
            <p:nvPr/>
          </p:nvCxnSpPr>
          <p:spPr>
            <a:xfrm>
              <a:off x="3130549" y="908311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EB86C3C1-A999-0AA7-3259-0A5678292A1D}"/>
                </a:ext>
              </a:extLst>
            </p:cNvPr>
            <p:cNvCxnSpPr>
              <a:cxnSpLocks/>
            </p:cNvCxnSpPr>
            <p:nvPr/>
          </p:nvCxnSpPr>
          <p:spPr>
            <a:xfrm>
              <a:off x="3130549" y="11148138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2E4AA0E-CAF2-16F2-856B-0282F179169E}"/>
                </a:ext>
              </a:extLst>
            </p:cNvPr>
            <p:cNvCxnSpPr>
              <a:cxnSpLocks/>
            </p:cNvCxnSpPr>
            <p:nvPr/>
          </p:nvCxnSpPr>
          <p:spPr>
            <a:xfrm>
              <a:off x="4204494" y="908311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2A633D59-0B3B-06F8-6B39-D47D124BD101}"/>
                </a:ext>
              </a:extLst>
            </p:cNvPr>
            <p:cNvCxnSpPr>
              <a:cxnSpLocks/>
            </p:cNvCxnSpPr>
            <p:nvPr/>
          </p:nvCxnSpPr>
          <p:spPr>
            <a:xfrm>
              <a:off x="3130549" y="9083118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DE671F81-FA99-1799-404E-2ADCABD146B3}"/>
                </a:ext>
              </a:extLst>
            </p:cNvPr>
            <p:cNvCxnSpPr/>
            <p:nvPr/>
          </p:nvCxnSpPr>
          <p:spPr>
            <a:xfrm flipV="1">
              <a:off x="3126786" y="8726889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7B35177C-59BB-7828-DABC-36AF744AC1D6}"/>
                </a:ext>
              </a:extLst>
            </p:cNvPr>
            <p:cNvCxnSpPr/>
            <p:nvPr/>
          </p:nvCxnSpPr>
          <p:spPr>
            <a:xfrm flipV="1">
              <a:off x="4200730" y="8726888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FA22355C-2E48-3B63-AB8E-431917CCF6BE}"/>
                </a:ext>
              </a:extLst>
            </p:cNvPr>
            <p:cNvCxnSpPr/>
            <p:nvPr/>
          </p:nvCxnSpPr>
          <p:spPr>
            <a:xfrm flipV="1">
              <a:off x="4200729" y="10791907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547321DD-7BA6-CD3F-9ED0-2B6D6E77D45D}"/>
                </a:ext>
              </a:extLst>
            </p:cNvPr>
            <p:cNvCxnSpPr/>
            <p:nvPr/>
          </p:nvCxnSpPr>
          <p:spPr>
            <a:xfrm flipV="1">
              <a:off x="3126786" y="10791906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67896983-763F-E874-CB59-26E6C5916FFD}"/>
                </a:ext>
              </a:extLst>
            </p:cNvPr>
            <p:cNvCxnSpPr>
              <a:cxnSpLocks/>
            </p:cNvCxnSpPr>
            <p:nvPr/>
          </p:nvCxnSpPr>
          <p:spPr>
            <a:xfrm>
              <a:off x="3663756" y="8726888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74344FA8-B35A-3158-6ABB-11CA86C762E3}"/>
                </a:ext>
              </a:extLst>
            </p:cNvPr>
            <p:cNvCxnSpPr>
              <a:cxnSpLocks/>
            </p:cNvCxnSpPr>
            <p:nvPr/>
          </p:nvCxnSpPr>
          <p:spPr>
            <a:xfrm>
              <a:off x="3663756" y="10791906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6BE946BA-E6C4-EE5C-ED27-DAB4820D0645}"/>
                </a:ext>
              </a:extLst>
            </p:cNvPr>
            <p:cNvCxnSpPr>
              <a:cxnSpLocks/>
            </p:cNvCxnSpPr>
            <p:nvPr/>
          </p:nvCxnSpPr>
          <p:spPr>
            <a:xfrm>
              <a:off x="4737701" y="872688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7BF42C41-7AEB-EF87-54F9-3E6B57CA07F4}"/>
                </a:ext>
              </a:extLst>
            </p:cNvPr>
            <p:cNvCxnSpPr>
              <a:cxnSpLocks/>
            </p:cNvCxnSpPr>
            <p:nvPr/>
          </p:nvCxnSpPr>
          <p:spPr>
            <a:xfrm>
              <a:off x="3663756" y="872688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B22D97E1-5528-4BFC-1901-37391CA0DC26}"/>
              </a:ext>
            </a:extLst>
          </p:cNvPr>
          <p:cNvGrpSpPr/>
          <p:nvPr/>
        </p:nvGrpSpPr>
        <p:grpSpPr>
          <a:xfrm>
            <a:off x="6660938" y="2814833"/>
            <a:ext cx="1356753" cy="2357514"/>
            <a:chOff x="5807817" y="8738645"/>
            <a:chExt cx="1356753" cy="2357514"/>
          </a:xfrm>
        </p:grpSpPr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52C076B8-57FB-FB3F-46D9-8AFE8566F826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41" y="8738645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CA9496F3-22B6-3855-6B48-18C232A9E218}"/>
                </a:ext>
              </a:extLst>
            </p:cNvPr>
            <p:cNvCxnSpPr>
              <a:cxnSpLocks/>
            </p:cNvCxnSpPr>
            <p:nvPr/>
          </p:nvCxnSpPr>
          <p:spPr>
            <a:xfrm>
              <a:off x="6110245" y="8745855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BCC75AC4-ACC9-2D3D-0F38-53F660B0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0173" y="9119424"/>
              <a:ext cx="747254" cy="230109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A3FB2A91-4BB9-7A84-A31C-A2AC3C9CFE39}"/>
                </a:ext>
              </a:extLst>
            </p:cNvPr>
            <p:cNvCxnSpPr>
              <a:cxnSpLocks/>
            </p:cNvCxnSpPr>
            <p:nvPr/>
          </p:nvCxnSpPr>
          <p:spPr>
            <a:xfrm>
              <a:off x="5807882" y="9059633"/>
              <a:ext cx="602291" cy="28990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DA56539-46FC-76CD-C2A0-1315188353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7882" y="8741026"/>
              <a:ext cx="301145" cy="318607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EE91C9A-337F-A44A-4C5B-D6A3BD8D8B7C}"/>
                </a:ext>
              </a:extLst>
            </p:cNvPr>
            <p:cNvCxnSpPr>
              <a:cxnSpLocks/>
            </p:cNvCxnSpPr>
            <p:nvPr/>
          </p:nvCxnSpPr>
          <p:spPr>
            <a:xfrm>
              <a:off x="6109027" y="8741026"/>
              <a:ext cx="788538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BE1252E0-4F31-F9EA-2D08-E86F4003C95E}"/>
                </a:ext>
              </a:extLst>
            </p:cNvPr>
            <p:cNvCxnSpPr>
              <a:cxnSpLocks/>
            </p:cNvCxnSpPr>
            <p:nvPr/>
          </p:nvCxnSpPr>
          <p:spPr>
            <a:xfrm>
              <a:off x="6897565" y="8741026"/>
              <a:ext cx="259862" cy="378398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AED29F3B-A25B-16D9-706D-022B36BC95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6154" y="10866050"/>
              <a:ext cx="747254" cy="230109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15CDD969-91CC-60D4-4AF5-85C980640370}"/>
                </a:ext>
              </a:extLst>
            </p:cNvPr>
            <p:cNvCxnSpPr>
              <a:cxnSpLocks/>
            </p:cNvCxnSpPr>
            <p:nvPr/>
          </p:nvCxnSpPr>
          <p:spPr>
            <a:xfrm>
              <a:off x="5813863" y="10806259"/>
              <a:ext cx="602291" cy="28990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C6FE9DE1-FB53-1685-0409-9BFCF683DB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3863" y="10487652"/>
              <a:ext cx="301145" cy="318607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22BF222F-329A-6AAD-808E-D04E7C098698}"/>
                </a:ext>
              </a:extLst>
            </p:cNvPr>
            <p:cNvCxnSpPr>
              <a:cxnSpLocks/>
            </p:cNvCxnSpPr>
            <p:nvPr/>
          </p:nvCxnSpPr>
          <p:spPr>
            <a:xfrm>
              <a:off x="6115008" y="10487652"/>
              <a:ext cx="788538" cy="0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CCC4781D-C588-E9F5-7E11-B6F76F700E65}"/>
                </a:ext>
              </a:extLst>
            </p:cNvPr>
            <p:cNvCxnSpPr/>
            <p:nvPr/>
          </p:nvCxnSpPr>
          <p:spPr>
            <a:xfrm flipH="1" flipV="1">
              <a:off x="6904708" y="10485271"/>
              <a:ext cx="259862" cy="378398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3264E0D0-3268-E76C-D135-0741F8D25C50}"/>
                </a:ext>
              </a:extLst>
            </p:cNvPr>
            <p:cNvCxnSpPr>
              <a:cxnSpLocks/>
            </p:cNvCxnSpPr>
            <p:nvPr/>
          </p:nvCxnSpPr>
          <p:spPr>
            <a:xfrm>
              <a:off x="7156979" y="9119424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6DE10A9F-32D1-A689-88D9-F6AB8B6B99DE}"/>
                </a:ext>
              </a:extLst>
            </p:cNvPr>
            <p:cNvCxnSpPr>
              <a:cxnSpLocks/>
            </p:cNvCxnSpPr>
            <p:nvPr/>
          </p:nvCxnSpPr>
          <p:spPr>
            <a:xfrm>
              <a:off x="5807817" y="9057186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4343183C-0EE8-9D5C-7E52-14EC33FCB27E}"/>
                </a:ext>
              </a:extLst>
            </p:cNvPr>
            <p:cNvCxnSpPr>
              <a:cxnSpLocks/>
            </p:cNvCxnSpPr>
            <p:nvPr/>
          </p:nvCxnSpPr>
          <p:spPr>
            <a:xfrm>
              <a:off x="6413226" y="9349533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4EA9194-2AE8-67B2-B78C-12AA4358063B}"/>
              </a:ext>
            </a:extLst>
          </p:cNvPr>
          <p:cNvSpPr txBox="1"/>
          <p:nvPr/>
        </p:nvSpPr>
        <p:spPr>
          <a:xfrm>
            <a:off x="3802230" y="5438120"/>
            <a:ext cx="1810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ORTOEDRO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45BA0D58-5C30-D780-EFA8-460C34DA690D}"/>
              </a:ext>
            </a:extLst>
          </p:cNvPr>
          <p:cNvSpPr txBox="1"/>
          <p:nvPr/>
        </p:nvSpPr>
        <p:spPr>
          <a:xfrm>
            <a:off x="6160980" y="5299826"/>
            <a:ext cx="23908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PRISMA PENTAGONAL</a:t>
            </a:r>
          </a:p>
          <a:p>
            <a:pPr algn="ctr"/>
            <a:r>
              <a:rPr lang="es-ES" sz="2000" b="1" dirty="0"/>
              <a:t>REGULAR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DFFE96D-D029-DA9D-A927-1414FCAF04B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CD74AC5-6282-D8E0-F82B-2ACC8FA48898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11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4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9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4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 animBg="1"/>
      <p:bldP spid="5" grpId="0"/>
      <p:bldP spid="66" grpId="0"/>
      <p:bldP spid="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715172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pirámide es un poliedro que tiene por </a:t>
            </a:r>
            <a:r>
              <a:rPr lang="es-ES" sz="2000" b="1" dirty="0">
                <a:solidFill>
                  <a:srgbClr val="4E95D9"/>
                </a:solidFill>
              </a:rPr>
              <a:t>base un polígono regular </a:t>
            </a:r>
            <a:r>
              <a:rPr lang="es-ES" sz="2000" b="1" dirty="0"/>
              <a:t>cualquiera y sus </a:t>
            </a:r>
            <a:r>
              <a:rPr lang="es-ES" sz="2000" b="1" dirty="0">
                <a:solidFill>
                  <a:srgbClr val="4E95D9"/>
                </a:solidFill>
              </a:rPr>
              <a:t>caras laterales son triángulos.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C905073-E24D-2CB2-AB2C-EACEC0842C9F}"/>
              </a:ext>
            </a:extLst>
          </p:cNvPr>
          <p:cNvCxnSpPr>
            <a:cxnSpLocks/>
          </p:cNvCxnSpPr>
          <p:nvPr/>
        </p:nvCxnSpPr>
        <p:spPr>
          <a:xfrm flipH="1">
            <a:off x="5913083" y="2721420"/>
            <a:ext cx="182918" cy="1532158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E8901E3-9167-6EF8-0CA2-CC04DBDB6E7B}"/>
              </a:ext>
            </a:extLst>
          </p:cNvPr>
          <p:cNvCxnSpPr>
            <a:cxnSpLocks/>
          </p:cNvCxnSpPr>
          <p:nvPr/>
        </p:nvCxnSpPr>
        <p:spPr>
          <a:xfrm>
            <a:off x="6096000" y="2694382"/>
            <a:ext cx="885709" cy="1829511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7EFD30E-E7EF-2280-3DBD-7C6E48BD0D0C}"/>
              </a:ext>
            </a:extLst>
          </p:cNvPr>
          <p:cNvCxnSpPr>
            <a:cxnSpLocks/>
          </p:cNvCxnSpPr>
          <p:nvPr/>
        </p:nvCxnSpPr>
        <p:spPr>
          <a:xfrm>
            <a:off x="6096000" y="2694382"/>
            <a:ext cx="138633" cy="2492833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entro">
            <a:extLst>
              <a:ext uri="{FF2B5EF4-FFF2-40B4-BE49-F238E27FC236}">
                <a16:creationId xmlns:a16="http://schemas.microsoft.com/office/drawing/2014/main" id="{01467223-97DE-C9F7-7778-8CCED7BE5073}"/>
              </a:ext>
            </a:extLst>
          </p:cNvPr>
          <p:cNvCxnSpPr>
            <a:cxnSpLocks/>
          </p:cNvCxnSpPr>
          <p:nvPr/>
        </p:nvCxnSpPr>
        <p:spPr>
          <a:xfrm>
            <a:off x="6069610" y="2749685"/>
            <a:ext cx="0" cy="1975795"/>
          </a:xfrm>
          <a:prstGeom prst="line">
            <a:avLst/>
          </a:prstGeom>
          <a:ln w="28575" cap="rnd">
            <a:solidFill>
              <a:schemeClr val="tx1"/>
            </a:solidFill>
            <a:prstDash val="dash"/>
            <a:round/>
            <a:headEnd type="non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942823BB-1192-9F88-47B2-232AEC4FE1AF}"/>
              </a:ext>
            </a:extLst>
          </p:cNvPr>
          <p:cNvCxnSpPr>
            <a:cxnSpLocks/>
          </p:cNvCxnSpPr>
          <p:nvPr/>
        </p:nvCxnSpPr>
        <p:spPr>
          <a:xfrm flipH="1">
            <a:off x="5183335" y="2694382"/>
            <a:ext cx="912665" cy="2203452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13BF012F-4D10-AAF0-DB9F-8D107B9B8407}"/>
              </a:ext>
            </a:extLst>
          </p:cNvPr>
          <p:cNvCxnSpPr>
            <a:cxnSpLocks/>
          </p:cNvCxnSpPr>
          <p:nvPr/>
        </p:nvCxnSpPr>
        <p:spPr>
          <a:xfrm flipH="1" flipV="1">
            <a:off x="5183335" y="4897834"/>
            <a:ext cx="1051298" cy="289382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B19DC016-98C2-4D7F-67DC-0A1C7B917C7E}"/>
              </a:ext>
            </a:extLst>
          </p:cNvPr>
          <p:cNvCxnSpPr>
            <a:cxnSpLocks/>
          </p:cNvCxnSpPr>
          <p:nvPr/>
        </p:nvCxnSpPr>
        <p:spPr>
          <a:xfrm flipH="1">
            <a:off x="6234633" y="4544326"/>
            <a:ext cx="747076" cy="642890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BFD014A0-65A9-57E9-F505-E54AB936730F}"/>
              </a:ext>
            </a:extLst>
          </p:cNvPr>
          <p:cNvCxnSpPr>
            <a:cxnSpLocks/>
          </p:cNvCxnSpPr>
          <p:nvPr/>
        </p:nvCxnSpPr>
        <p:spPr>
          <a:xfrm flipH="1">
            <a:off x="5217572" y="4281688"/>
            <a:ext cx="687015" cy="591205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18EEF494-9672-2EDF-E047-1E9E5F6744F5}"/>
              </a:ext>
            </a:extLst>
          </p:cNvPr>
          <p:cNvCxnSpPr>
            <a:cxnSpLocks/>
          </p:cNvCxnSpPr>
          <p:nvPr/>
        </p:nvCxnSpPr>
        <p:spPr>
          <a:xfrm>
            <a:off x="5913083" y="4269092"/>
            <a:ext cx="1068626" cy="262638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uadroTexto 72">
            <a:extLst>
              <a:ext uri="{FF2B5EF4-FFF2-40B4-BE49-F238E27FC236}">
                <a16:creationId xmlns:a16="http://schemas.microsoft.com/office/drawing/2014/main" id="{E1ACEDF5-EF43-6A76-0D72-ADA156A7F581}"/>
              </a:ext>
            </a:extLst>
          </p:cNvPr>
          <p:cNvSpPr txBox="1"/>
          <p:nvPr/>
        </p:nvSpPr>
        <p:spPr>
          <a:xfrm>
            <a:off x="535084" y="1986496"/>
            <a:ext cx="11121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Una pirámide es regular cuando la base es un polígono regular y el vértice se proyecta</a:t>
            </a:r>
          </a:p>
          <a:p>
            <a:pPr algn="l"/>
            <a:r>
              <a:rPr lang="es-ES" sz="2000" b="1" i="0" u="none" strike="noStrike" baseline="0" dirty="0"/>
              <a:t>sobre el centro de ese polígono</a:t>
            </a:r>
            <a:endParaRPr lang="es-ES" sz="2000" b="1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51A26B52-9960-7B6D-2D37-C7D497382D4C}"/>
              </a:ext>
            </a:extLst>
          </p:cNvPr>
          <p:cNvSpPr txBox="1"/>
          <p:nvPr/>
        </p:nvSpPr>
        <p:spPr>
          <a:xfrm>
            <a:off x="4756150" y="5333052"/>
            <a:ext cx="2679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PIRÁMIDE CUADRÁNGULAR REGULAR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F575E1B-28EE-4028-FC77-AFDD0CC061F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E6B88E3-64C3-A4F0-C6C7-B68118D1937A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495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6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1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65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15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5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3" grpId="0" uiExpand="1" build="p"/>
      <p:bldP spid="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715172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poliedro es </a:t>
            </a:r>
            <a:r>
              <a:rPr lang="es-ES" sz="2000" b="1" dirty="0">
                <a:solidFill>
                  <a:srgbClr val="4E95D9"/>
                </a:solidFill>
              </a:rPr>
              <a:t>regular si todas sus caras son polígonos regulares idénticos </a:t>
            </a:r>
            <a:r>
              <a:rPr lang="es-ES" sz="2000" b="1" dirty="0"/>
              <a:t>y en cada vértice concurren el mismo número de caras. También se les llama </a:t>
            </a:r>
            <a:r>
              <a:rPr lang="es-ES" sz="2000" b="1" dirty="0">
                <a:solidFill>
                  <a:srgbClr val="4E95D9"/>
                </a:solidFill>
              </a:rPr>
              <a:t>“sólidos platónicos”.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CD047AC-B31F-0FAB-C230-4AE77D5A69FD}"/>
              </a:ext>
            </a:extLst>
          </p:cNvPr>
          <p:cNvGrpSpPr/>
          <p:nvPr/>
        </p:nvGrpSpPr>
        <p:grpSpPr>
          <a:xfrm>
            <a:off x="2936875" y="2022521"/>
            <a:ext cx="1889919" cy="1622941"/>
            <a:chOff x="2073275" y="10119955"/>
            <a:chExt cx="1889919" cy="1622941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73A88810-AE23-FAE8-052E-35DF8548D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0200" y="11126271"/>
              <a:ext cx="1092994" cy="616625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1E65AEA7-B295-EA50-415E-23FD21E8D1FA}"/>
                </a:ext>
              </a:extLst>
            </p:cNvPr>
            <p:cNvCxnSpPr>
              <a:cxnSpLocks/>
            </p:cNvCxnSpPr>
            <p:nvPr/>
          </p:nvCxnSpPr>
          <p:spPr>
            <a:xfrm>
              <a:off x="2073275" y="11126270"/>
              <a:ext cx="796925" cy="616625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B2332A73-B98C-70F6-3F9D-61A9B7EA51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3275" y="10119955"/>
              <a:ext cx="941705" cy="1006315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217B364-68D3-E5DD-85D3-7BF01090CB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4980" y="10119955"/>
              <a:ext cx="948214" cy="1006314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E9BADCD2-83A1-6BF3-9A08-BC40A7CA6642}"/>
                </a:ext>
              </a:extLst>
            </p:cNvPr>
            <p:cNvCxnSpPr>
              <a:cxnSpLocks/>
            </p:cNvCxnSpPr>
            <p:nvPr/>
          </p:nvCxnSpPr>
          <p:spPr>
            <a:xfrm>
              <a:off x="2073275" y="11126269"/>
              <a:ext cx="1889919" cy="0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C2090685-5252-39F9-869B-E6F9D69948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0200" y="10119955"/>
              <a:ext cx="144780" cy="1622941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4E49E68-AB64-9EED-93B3-00E9A5E18B6D}"/>
              </a:ext>
            </a:extLst>
          </p:cNvPr>
          <p:cNvGrpSpPr/>
          <p:nvPr/>
        </p:nvGrpSpPr>
        <p:grpSpPr>
          <a:xfrm>
            <a:off x="5196679" y="2064634"/>
            <a:ext cx="1639095" cy="1555160"/>
            <a:chOff x="4333079" y="10162068"/>
            <a:chExt cx="1639095" cy="1555160"/>
          </a:xfrm>
        </p:grpSpPr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C6149BF7-BDD6-7D62-4172-749E8D312340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79" y="11717228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7DBDAA3D-4C75-6467-F94B-90867048F4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080" y="10552390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E520CDB4-4CAF-D0CA-10AB-5B03B0C574D7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80" y="10547830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EE486FDA-54BE-8C4D-36CC-0CFFA438F8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5449" y="10552390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2568C251-DE54-0945-EBF1-06D1A15FBE07}"/>
                </a:ext>
              </a:extLst>
            </p:cNvPr>
            <p:cNvCxnSpPr>
              <a:cxnSpLocks/>
            </p:cNvCxnSpPr>
            <p:nvPr/>
          </p:nvCxnSpPr>
          <p:spPr>
            <a:xfrm>
              <a:off x="4799805" y="11326500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7B7D096A-4D55-7CD7-1C01-69D0C29391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805" y="10166628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B57DFAB5-56C9-8B12-F5F6-D337FAACE4E9}"/>
                </a:ext>
              </a:extLst>
            </p:cNvPr>
            <p:cNvCxnSpPr>
              <a:cxnSpLocks/>
            </p:cNvCxnSpPr>
            <p:nvPr/>
          </p:nvCxnSpPr>
          <p:spPr>
            <a:xfrm>
              <a:off x="4799805" y="10162068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6DEF0CEA-13E9-7745-4DF1-D4C7C00DF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2174" y="10166628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50F936C1-7091-4E03-C851-F3E323D379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080" y="10162068"/>
              <a:ext cx="466724" cy="38576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DA287425-34E6-E663-37E2-14615373FE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5448" y="10163957"/>
              <a:ext cx="466724" cy="38576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E7988709-3164-B882-8BE8-3DA93B3228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474" y="11328388"/>
              <a:ext cx="466722" cy="38884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BAE2E46B-77DA-A4C5-A042-63394B55C2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6057" y="11328389"/>
              <a:ext cx="466724" cy="38576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3564A31-99F0-B6E2-4CF9-25BE03E085C0}"/>
              </a:ext>
            </a:extLst>
          </p:cNvPr>
          <p:cNvGrpSpPr/>
          <p:nvPr/>
        </p:nvGrpSpPr>
        <p:grpSpPr>
          <a:xfrm>
            <a:off x="7140572" y="1925547"/>
            <a:ext cx="1824041" cy="1806058"/>
            <a:chOff x="6276972" y="10022981"/>
            <a:chExt cx="1824041" cy="1806058"/>
          </a:xfrm>
        </p:grpSpPr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544AD08-97F4-3C45-9E48-2FD6C56D68B2}"/>
                </a:ext>
              </a:extLst>
            </p:cNvPr>
            <p:cNvCxnSpPr>
              <a:cxnSpLocks/>
            </p:cNvCxnSpPr>
            <p:nvPr/>
          </p:nvCxnSpPr>
          <p:spPr>
            <a:xfrm>
              <a:off x="6276975" y="11158018"/>
              <a:ext cx="1285875" cy="1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F260A1E7-6579-1403-024F-0C78659140FB}"/>
                </a:ext>
              </a:extLst>
            </p:cNvPr>
            <p:cNvCxnSpPr>
              <a:cxnSpLocks/>
            </p:cNvCxnSpPr>
            <p:nvPr/>
          </p:nvCxnSpPr>
          <p:spPr>
            <a:xfrm>
              <a:off x="6276975" y="11158019"/>
              <a:ext cx="911225" cy="671020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4C3AC95B-7BDE-F935-9318-981DCFD4E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9945" y="10036175"/>
              <a:ext cx="908255" cy="1115203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ECC21D52-351A-EB17-50E8-8813CD0A1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2850" y="10718006"/>
              <a:ext cx="538163" cy="440012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B45B8B8C-BD85-30D4-3380-F41CF8306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8200" y="11158018"/>
              <a:ext cx="374650" cy="671021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0A4A7D11-4A45-0EAB-A018-490C59531B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8200" y="10718006"/>
              <a:ext cx="912813" cy="1111033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D6A9C257-AEFC-CBF6-8797-4129934AB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88200" y="10041580"/>
              <a:ext cx="374650" cy="1116437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CBF9BC53-CCB1-AAA5-5CDD-7AB554EAF2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88200" y="10022981"/>
              <a:ext cx="908249" cy="695024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B846B51B-0A3D-6D32-8E9D-79595CCFA1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2715" y="10718003"/>
              <a:ext cx="380720" cy="1091201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6CF6DD54-3C10-7CFE-48B7-4D56E4B51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6972" y="10718003"/>
              <a:ext cx="514908" cy="440014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AD28521-C191-F63A-DD68-11679A2110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2715" y="10708622"/>
              <a:ext cx="1293734" cy="0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6574AFF-CE15-1CB0-77D6-C46AA4A8F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2712" y="10036175"/>
              <a:ext cx="380723" cy="674218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9CCF3566-C5D5-96E5-322F-F9D3BC5BB9FD}"/>
              </a:ext>
            </a:extLst>
          </p:cNvPr>
          <p:cNvGrpSpPr/>
          <p:nvPr/>
        </p:nvGrpSpPr>
        <p:grpSpPr>
          <a:xfrm>
            <a:off x="6472232" y="4355544"/>
            <a:ext cx="1609730" cy="1833728"/>
            <a:chOff x="5405433" y="12656178"/>
            <a:chExt cx="1609730" cy="1833728"/>
          </a:xfrm>
        </p:grpSpPr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9F6D53B-027C-FA41-74BB-5463B39ADD54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55" y="12656178"/>
              <a:ext cx="812007" cy="476416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61628CFA-49F6-C7B0-446D-54A137433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819" y="12656178"/>
              <a:ext cx="795336" cy="476416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D97008D3-01C2-A63A-8D93-9B6C8B67A4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3100" y="13046869"/>
              <a:ext cx="450056" cy="779960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1763F561-34DB-AA63-6918-FDD5BE0199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03156" y="13046869"/>
              <a:ext cx="466724" cy="77678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AE766F46-C9A9-BF42-E129-0F7F616AD7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156" y="12656178"/>
              <a:ext cx="0" cy="39069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821E9F2F-20C1-F164-2BF0-1EC0C6E0D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819" y="13132594"/>
              <a:ext cx="0" cy="88859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51FC18A3-011A-3BE8-6719-B4A69CA3BA33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54" y="13046869"/>
              <a:ext cx="812009" cy="85725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E66AA939-EA3F-975C-DAB9-C12B50C7D5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9878" y="13132594"/>
              <a:ext cx="345284" cy="688672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7465A474-7D10-7A58-BFE2-EF0F9D249B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9879" y="13822061"/>
              <a:ext cx="345284" cy="199124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6B17F5A4-8D7E-C37A-28D2-7FC484C35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5162" y="13132594"/>
              <a:ext cx="0" cy="88859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5E648D6F-D119-6428-E559-DAE63D7E9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9825" y="13821266"/>
              <a:ext cx="450053" cy="666259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3E5CCA0A-73D0-40C7-730E-6DD2C36158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9823" y="14028310"/>
              <a:ext cx="795339" cy="459215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9FBC0CF1-7E9D-62AF-0BEC-6308A9DBDD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44764" y="13827624"/>
              <a:ext cx="475056" cy="65990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E400E06C-1E6E-DA71-9298-B4395B5168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3093" y="13822061"/>
              <a:ext cx="916785" cy="5563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20699F98-3E2C-D241-9B2F-B211010750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7819" y="13821266"/>
              <a:ext cx="345273" cy="196128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5DABC9F1-7EE8-8AA5-427D-07759E1CBB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5433" y="14023566"/>
              <a:ext cx="803671" cy="466340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2B6B5234-1396-FE9D-3254-207312517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5759" y="13138157"/>
              <a:ext cx="329005" cy="683295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7114AABA-0E9C-1DE2-A0BB-994A6699D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423" y="13046074"/>
              <a:ext cx="795730" cy="88109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D87A7D9-F41A-3B0C-2E78-2797417053D3}"/>
              </a:ext>
            </a:extLst>
          </p:cNvPr>
          <p:cNvGrpSpPr/>
          <p:nvPr/>
        </p:nvGrpSpPr>
        <p:grpSpPr>
          <a:xfrm>
            <a:off x="3762564" y="4400765"/>
            <a:ext cx="1781600" cy="1698405"/>
            <a:chOff x="3174736" y="12701399"/>
            <a:chExt cx="1781600" cy="1698405"/>
          </a:xfrm>
        </p:grpSpPr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858450C0-8864-1D1C-6ECC-0A9E3E2FC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8710" y="13576889"/>
              <a:ext cx="415741" cy="577506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F8437711-FA97-9EDE-6B87-E9A739808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74736" y="13576889"/>
              <a:ext cx="170920" cy="517801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0680E0D0-A177-ABAA-9CDB-95FABC9653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50940" y="14094690"/>
              <a:ext cx="461448" cy="295204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8F40C322-0CCC-187A-6299-3C87D4CEEB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2209" y="13563101"/>
              <a:ext cx="258562" cy="1326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4308EBE6-E82D-CF43-9856-CCC5C8F41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0327" y="14154395"/>
              <a:ext cx="44124" cy="23549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36D358F1-98A3-43B2-344C-ED536F0933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2390" y="13937456"/>
              <a:ext cx="716279" cy="21693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3C1BCDDA-636D-B5DD-AB6A-401B4E88E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87567" y="13193701"/>
              <a:ext cx="0" cy="74375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E9AEBAC9-890F-15A9-80E1-701C77436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0771" y="12957958"/>
              <a:ext cx="431619" cy="605143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30F90AD6-DA4C-A531-C451-7730E1B90A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2390" y="12957958"/>
              <a:ext cx="715177" cy="23315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9FDE51D7-1CE5-00BC-0A48-C4B1B049A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838" y="13046074"/>
              <a:ext cx="147204" cy="523921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8153F87F-B3F5-0415-B507-1A58AEB6DA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042" y="12734925"/>
              <a:ext cx="461184" cy="31037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38FEDF6B-62B5-ED91-F617-692855093B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89995" y="12734151"/>
              <a:ext cx="90334" cy="223807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3D138DA1-C729-436A-CC0F-FBC4A22B8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4641" y="12701399"/>
              <a:ext cx="542090" cy="27576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2A4C3198-DF2F-988D-CA44-9C14F375F0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6731" y="12701399"/>
              <a:ext cx="446402" cy="342614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B55AF832-20A7-C801-E81B-C490378A44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6756" y="13044013"/>
              <a:ext cx="196377" cy="147100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4EAAFFFB-FC29-53DA-C30B-D0CC63CC4D86}"/>
                </a:ext>
              </a:extLst>
            </p:cNvPr>
            <p:cNvCxnSpPr>
              <a:cxnSpLocks/>
            </p:cNvCxnSpPr>
            <p:nvPr/>
          </p:nvCxnSpPr>
          <p:spPr>
            <a:xfrm>
              <a:off x="4782653" y="13050504"/>
              <a:ext cx="173683" cy="46070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cto 89">
              <a:extLst>
                <a:ext uri="{FF2B5EF4-FFF2-40B4-BE49-F238E27FC236}">
                  <a16:creationId xmlns:a16="http://schemas.microsoft.com/office/drawing/2014/main" id="{CF802933-B65C-D70A-E05F-C65B9947C4A9}"/>
                </a:ext>
              </a:extLst>
            </p:cNvPr>
            <p:cNvCxnSpPr>
              <a:cxnSpLocks/>
            </p:cNvCxnSpPr>
            <p:nvPr/>
          </p:nvCxnSpPr>
          <p:spPr>
            <a:xfrm>
              <a:off x="4587567" y="13937456"/>
              <a:ext cx="195086" cy="10846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B4E09EB7-BCE7-66C1-B61C-A3A4A2A9FE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0955" y="13515500"/>
              <a:ext cx="173683" cy="53042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FC9935EE-CC12-3AE9-37AB-6828EE05B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9596" y="14054037"/>
              <a:ext cx="391359" cy="345767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B0A65C00-3475-EFEA-FDC6-9291290D2B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9565" y="14393074"/>
              <a:ext cx="570026" cy="6730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CuadroTexto 93">
            <a:extLst>
              <a:ext uri="{FF2B5EF4-FFF2-40B4-BE49-F238E27FC236}">
                <a16:creationId xmlns:a16="http://schemas.microsoft.com/office/drawing/2014/main" id="{6B4C19CE-EE3E-8CCD-FC52-1FF669D14B13}"/>
              </a:ext>
            </a:extLst>
          </p:cNvPr>
          <p:cNvSpPr txBox="1"/>
          <p:nvPr/>
        </p:nvSpPr>
        <p:spPr>
          <a:xfrm>
            <a:off x="2393950" y="3805860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TETRAEDRO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16035C7E-1B22-D5B8-C7F5-0C55B417F5CD}"/>
              </a:ext>
            </a:extLst>
          </p:cNvPr>
          <p:cNvSpPr txBox="1"/>
          <p:nvPr/>
        </p:nvSpPr>
        <p:spPr>
          <a:xfrm>
            <a:off x="4666905" y="3805192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D86ECC"/>
                </a:solidFill>
              </a:rPr>
              <a:t>CUBO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A556FAD5-DB6D-8D5E-EB3D-7EFEA49BB63E}"/>
              </a:ext>
            </a:extLst>
          </p:cNvPr>
          <p:cNvSpPr txBox="1"/>
          <p:nvPr/>
        </p:nvSpPr>
        <p:spPr>
          <a:xfrm>
            <a:off x="6707185" y="3805192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OCTAEDRO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C88801E4-3C02-250F-4702-32894D2072E0}"/>
              </a:ext>
            </a:extLst>
          </p:cNvPr>
          <p:cNvSpPr txBox="1"/>
          <p:nvPr/>
        </p:nvSpPr>
        <p:spPr>
          <a:xfrm>
            <a:off x="3352556" y="6220739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A7ABFB"/>
                </a:solidFill>
              </a:rPr>
              <a:t>DODECAEDRO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9A147E77-33AA-ADC1-CB56-BE493169475A}"/>
              </a:ext>
            </a:extLst>
          </p:cNvPr>
          <p:cNvSpPr txBox="1"/>
          <p:nvPr/>
        </p:nvSpPr>
        <p:spPr>
          <a:xfrm>
            <a:off x="6003921" y="6220739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ICOSAEDRO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074DBE4-FD89-FCE0-9B62-A53BDD506DB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6A9C5AA-1770-AB19-554C-27DD500711C8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10: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71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94" grpId="0"/>
      <p:bldP spid="95" grpId="0"/>
      <p:bldP spid="96" grpId="0"/>
      <p:bldP spid="97" grpId="0"/>
      <p:bldP spid="9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B5AED4E-81F2-4CAD-B01A-19EADDA8DE95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ULTRA_SCORM_COURCE_TITLE" val="1. Poliedros"/>
  <p:tag name="ISPRING_PRESENTATION_TITLE" val="1. Poliedr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10. Cuerpos geométrico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B7924F-8FDD-49D1-9080-691E6884D336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C4CCD4F-78BB-4309-9FE4-0973AA627180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27215C2-8631-48CD-9A0C-62A6F1B8FC1F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DD0610A-E2F2-4078-B4EE-07484CA4D635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175</Words>
  <Application>Microsoft Office PowerPoint</Application>
  <PresentationFormat>Panorámica</PresentationFormat>
  <Paragraphs>28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Poliedros</dc:title>
  <dc:creator>Illán Linos Souto</dc:creator>
  <cp:lastModifiedBy>Illán Linos</cp:lastModifiedBy>
  <cp:revision>64</cp:revision>
  <dcterms:created xsi:type="dcterms:W3CDTF">2024-08-18T18:48:07Z</dcterms:created>
  <dcterms:modified xsi:type="dcterms:W3CDTF">2025-11-20T22:38:06Z</dcterms:modified>
</cp:coreProperties>
</file>