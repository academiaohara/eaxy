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85EF8-D895-4F28-98DF-58BD4B9D51E2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1A03F-5EA7-4ADD-A860-A19BA2C399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924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1A03F-5EA7-4ADD-A860-A19BA2C399C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931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1A03F-5EA7-4ADD-A860-A19BA2C399C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2230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1A03F-5EA7-4ADD-A860-A19BA2C399C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386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1A03F-5EA7-4ADD-A860-A19BA2C399C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92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42906"/>
            <a:ext cx="11121832" cy="502223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8032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Calcular la </a:t>
            </a:r>
            <a:r>
              <a:rPr lang="es-ES" sz="2000" b="1" dirty="0">
                <a:solidFill>
                  <a:srgbClr val="4E95D9"/>
                </a:solidFill>
                <a:latin typeface="Century Gothic" panose="020B0502020202020204" pitchFamily="34" charset="0"/>
              </a:rPr>
              <a:t>raíz cuadrada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sz="2000" b="1" dirty="0">
                <a:latin typeface="Century Gothic" panose="020B0502020202020204" pitchFamily="34" charset="0"/>
              </a:rPr>
              <a:t>es hacer la operación inversa de elevar al cuadrado.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E42F753-72BB-0B8B-BFEE-4AB88D3E4146}"/>
                  </a:ext>
                </a:extLst>
              </p:cNvPr>
              <p:cNvSpPr txBox="1"/>
              <p:nvPr/>
            </p:nvSpPr>
            <p:spPr>
              <a:xfrm>
                <a:off x="5668438" y="1953345"/>
                <a:ext cx="2930305" cy="512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rad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E42F753-72BB-0B8B-BFEE-4AB88D3E4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438" y="1953345"/>
                <a:ext cx="2930305" cy="5127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48B9D7F-0972-D1D2-AD3D-30CC07628879}"/>
                  </a:ext>
                </a:extLst>
              </p:cNvPr>
              <p:cNvSpPr txBox="1"/>
              <p:nvPr/>
            </p:nvSpPr>
            <p:spPr>
              <a:xfrm>
                <a:off x="3489892" y="1999358"/>
                <a:ext cx="2930305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48B9D7F-0972-D1D2-AD3D-30CC07628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92" y="1999358"/>
                <a:ext cx="2930305" cy="47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CFC69629-1F24-472E-CEA7-C3727051CF04}"/>
              </a:ext>
            </a:extLst>
          </p:cNvPr>
          <p:cNvGrpSpPr/>
          <p:nvPr/>
        </p:nvGrpSpPr>
        <p:grpSpPr>
          <a:xfrm>
            <a:off x="3489892" y="2577279"/>
            <a:ext cx="5118448" cy="512833"/>
            <a:chOff x="2483849" y="5670166"/>
            <a:chExt cx="5118448" cy="5128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5CBAF913-C9B9-15B1-F263-B6CC0ECF1615}"/>
                    </a:ext>
                  </a:extLst>
                </p:cNvPr>
                <p:cNvSpPr txBox="1"/>
                <p:nvPr/>
              </p:nvSpPr>
              <p:spPr>
                <a:xfrm>
                  <a:off x="4671992" y="5670166"/>
                  <a:ext cx="2930305" cy="5128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400" b="1">
                      <a:latin typeface="Century Gothic" panose="020B0502020202020204" pitchFamily="34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E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rad>
                        <m:r>
                          <a:rPr lang="es-E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s-E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5CBAF913-C9B9-15B1-F263-B6CC0ECF1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992" y="5670166"/>
                  <a:ext cx="2930305" cy="51283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1092049D-11BF-516F-49D3-3C6258865E44}"/>
                    </a:ext>
                  </a:extLst>
                </p:cNvPr>
                <p:cNvSpPr txBox="1"/>
                <p:nvPr/>
              </p:nvSpPr>
              <p:spPr>
                <a:xfrm>
                  <a:off x="2483849" y="5685298"/>
                  <a:ext cx="2930305" cy="470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400" b="1">
                      <a:latin typeface="Century Gothic" panose="020B0502020202020204" pitchFamily="34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E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s-E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1092049D-11BF-516F-49D3-3C6258865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3849" y="5685298"/>
                  <a:ext cx="2930305" cy="470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DFB60150-7E07-4B5E-4EA9-D1D02900712D}"/>
                </a:ext>
              </a:extLst>
            </p:cNvPr>
            <p:cNvCxnSpPr>
              <a:cxnSpLocks/>
            </p:cNvCxnSpPr>
            <p:nvPr/>
          </p:nvCxnSpPr>
          <p:spPr>
            <a:xfrm>
              <a:off x="4680048" y="5947193"/>
              <a:ext cx="75885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AC1842C8-9B9A-1E54-3A5F-CC04B58E1CB7}"/>
              </a:ext>
            </a:extLst>
          </p:cNvPr>
          <p:cNvGrpSpPr/>
          <p:nvPr/>
        </p:nvGrpSpPr>
        <p:grpSpPr>
          <a:xfrm>
            <a:off x="6878320" y="3044199"/>
            <a:ext cx="3167373" cy="438666"/>
            <a:chOff x="6878320" y="3044199"/>
            <a:chExt cx="3167373" cy="438666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80D66FB2-F2D8-DB5A-1919-4F0395D3E49F}"/>
                </a:ext>
              </a:extLst>
            </p:cNvPr>
            <p:cNvGrpSpPr/>
            <p:nvPr/>
          </p:nvGrpSpPr>
          <p:grpSpPr>
            <a:xfrm flipV="1">
              <a:off x="6878320" y="3044199"/>
              <a:ext cx="1557017" cy="254000"/>
              <a:chOff x="7518400" y="2317750"/>
              <a:chExt cx="701675" cy="254000"/>
            </a:xfrm>
          </p:grpSpPr>
          <p:cxnSp>
            <p:nvCxnSpPr>
              <p:cNvPr id="28" name="Conector recto de flecha 27">
                <a:extLst>
                  <a:ext uri="{FF2B5EF4-FFF2-40B4-BE49-F238E27FC236}">
                    <a16:creationId xmlns:a16="http://schemas.microsoft.com/office/drawing/2014/main" id="{8E20A44B-074D-DC53-47D2-3C2CC4B26607}"/>
                  </a:ext>
                </a:extLst>
              </p:cNvPr>
              <p:cNvCxnSpPr/>
              <p:nvPr/>
            </p:nvCxnSpPr>
            <p:spPr>
              <a:xfrm>
                <a:off x="7518400" y="2317750"/>
                <a:ext cx="0" cy="254000"/>
              </a:xfrm>
              <a:prstGeom prst="straightConnector1">
                <a:avLst/>
              </a:prstGeom>
              <a:ln w="28575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CE9AE929-5EF9-9C03-B8F0-5F2777DBD895}"/>
                  </a:ext>
                </a:extLst>
              </p:cNvPr>
              <p:cNvCxnSpPr/>
              <p:nvPr/>
            </p:nvCxnSpPr>
            <p:spPr>
              <a:xfrm>
                <a:off x="7518400" y="2317750"/>
                <a:ext cx="701675" cy="0"/>
              </a:xfrm>
              <a:prstGeom prst="line">
                <a:avLst/>
              </a:prstGeom>
              <a:ln w="28575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EA462AD-B8C9-004B-A4B4-2B0B5824C924}"/>
                </a:ext>
              </a:extLst>
            </p:cNvPr>
            <p:cNvSpPr txBox="1"/>
            <p:nvPr/>
          </p:nvSpPr>
          <p:spPr>
            <a:xfrm>
              <a:off x="8488677" y="3113533"/>
              <a:ext cx="1557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Radicando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C909E45F-9EC6-772C-C3D4-D46540C7D305}"/>
              </a:ext>
            </a:extLst>
          </p:cNvPr>
          <p:cNvGrpSpPr/>
          <p:nvPr/>
        </p:nvGrpSpPr>
        <p:grpSpPr>
          <a:xfrm>
            <a:off x="7518400" y="2336284"/>
            <a:ext cx="2314418" cy="438666"/>
            <a:chOff x="7518400" y="2336284"/>
            <a:chExt cx="2314418" cy="438666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8F2E1E4E-BD0A-DE0E-A5C2-E1AA872B1873}"/>
                </a:ext>
              </a:extLst>
            </p:cNvPr>
            <p:cNvGrpSpPr/>
            <p:nvPr/>
          </p:nvGrpSpPr>
          <p:grpSpPr>
            <a:xfrm>
              <a:off x="7518400" y="2520950"/>
              <a:ext cx="701675" cy="254000"/>
              <a:chOff x="7518400" y="2317750"/>
              <a:chExt cx="701675" cy="254000"/>
            </a:xfrm>
          </p:grpSpPr>
          <p:cxnSp>
            <p:nvCxnSpPr>
              <p:cNvPr id="18" name="Conector recto de flecha 17">
                <a:extLst>
                  <a:ext uri="{FF2B5EF4-FFF2-40B4-BE49-F238E27FC236}">
                    <a16:creationId xmlns:a16="http://schemas.microsoft.com/office/drawing/2014/main" id="{05E68FFB-9431-DB95-44A5-C4561C230BC7}"/>
                  </a:ext>
                </a:extLst>
              </p:cNvPr>
              <p:cNvCxnSpPr/>
              <p:nvPr/>
            </p:nvCxnSpPr>
            <p:spPr>
              <a:xfrm>
                <a:off x="7518400" y="2317750"/>
                <a:ext cx="0" cy="254000"/>
              </a:xfrm>
              <a:prstGeom prst="straightConnector1">
                <a:avLst/>
              </a:prstGeom>
              <a:ln w="28575"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C7FDB641-DC90-6AC7-2799-9DF60DA7B0AB}"/>
                  </a:ext>
                </a:extLst>
              </p:cNvPr>
              <p:cNvCxnSpPr/>
              <p:nvPr/>
            </p:nvCxnSpPr>
            <p:spPr>
              <a:xfrm>
                <a:off x="7518400" y="2317750"/>
                <a:ext cx="701675" cy="0"/>
              </a:xfrm>
              <a:prstGeom prst="line">
                <a:avLst/>
              </a:prstGeom>
              <a:ln w="28575"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8BD8EEA7-F3D7-662F-F1F2-A8DCBE589219}"/>
                </a:ext>
              </a:extLst>
            </p:cNvPr>
            <p:cNvSpPr txBox="1"/>
            <p:nvPr/>
          </p:nvSpPr>
          <p:spPr>
            <a:xfrm>
              <a:off x="8275802" y="2336284"/>
              <a:ext cx="1557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Raíz</a:t>
              </a: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1B37527D-5F69-0A59-3BC9-13DFA040325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1D1369-4E1A-6D04-45EF-A8BC0231097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42906"/>
            <a:ext cx="11121832" cy="502223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9396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Los números cuya raíz es exacta se llaman </a:t>
            </a:r>
            <a:r>
              <a:rPr lang="es-ES" sz="2000" b="1" dirty="0">
                <a:solidFill>
                  <a:srgbClr val="4E95D9"/>
                </a:solidFill>
                <a:latin typeface="Century Gothic" panose="020B0502020202020204" pitchFamily="34" charset="0"/>
              </a:rPr>
              <a:t>cuadrados perfectos</a:t>
            </a:r>
            <a:r>
              <a:rPr lang="es-ES" sz="2000" b="1" dirty="0">
                <a:latin typeface="Century Gothic" panose="020B0502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C77A9B5-E90C-2826-B4C2-ACE27826D1E1}"/>
                  </a:ext>
                </a:extLst>
              </p:cNvPr>
              <p:cNvSpPr txBox="1"/>
              <p:nvPr/>
            </p:nvSpPr>
            <p:spPr>
              <a:xfrm>
                <a:off x="1816633" y="2069175"/>
                <a:ext cx="2930305" cy="512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rad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C77A9B5-E90C-2826-B4C2-ACE27826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633" y="2069175"/>
                <a:ext cx="2930305" cy="5127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C680D5E-9DCC-D751-4B09-BCDA4E5602E3}"/>
                  </a:ext>
                </a:extLst>
              </p:cNvPr>
              <p:cNvSpPr txBox="1"/>
              <p:nvPr/>
            </p:nvSpPr>
            <p:spPr>
              <a:xfrm>
                <a:off x="4746938" y="2072926"/>
                <a:ext cx="293030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𝟑𝟔</m:t>
                          </m:r>
                        </m:e>
                      </m:rad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C680D5E-9DCC-D751-4B09-BCDA4E560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938" y="2072926"/>
                <a:ext cx="2930305" cy="505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3F25C93-2555-0B3F-004B-C375D71023A3}"/>
                  </a:ext>
                </a:extLst>
              </p:cNvPr>
              <p:cNvSpPr txBox="1"/>
              <p:nvPr/>
            </p:nvSpPr>
            <p:spPr>
              <a:xfrm>
                <a:off x="7395352" y="2072926"/>
                <a:ext cx="3405957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dirty="0" smtClean="0">
                              <a:latin typeface="Cambria Math" panose="02040503050406030204" pitchFamily="18" charset="0"/>
                            </a:rPr>
                            <m:t>𝟒𝟎𝟎</m:t>
                          </m:r>
                        </m:e>
                      </m:rad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dirty="0" smtClean="0"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3F25C93-2555-0B3F-004B-C375D710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352" y="2072926"/>
                <a:ext cx="3405957" cy="505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o 7">
            <a:extLst>
              <a:ext uri="{FF2B5EF4-FFF2-40B4-BE49-F238E27FC236}">
                <a16:creationId xmlns:a16="http://schemas.microsoft.com/office/drawing/2014/main" id="{0502F603-019A-D590-44C0-600273AF1FFD}"/>
              </a:ext>
            </a:extLst>
          </p:cNvPr>
          <p:cNvGrpSpPr/>
          <p:nvPr/>
        </p:nvGrpSpPr>
        <p:grpSpPr>
          <a:xfrm>
            <a:off x="2858245" y="2804763"/>
            <a:ext cx="1066800" cy="1100554"/>
            <a:chOff x="1702603" y="9515300"/>
            <a:chExt cx="1066800" cy="1100554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E5675067-AFA0-6E61-BB0D-DA4A463AB9AB}"/>
                </a:ext>
              </a:extLst>
            </p:cNvPr>
            <p:cNvSpPr/>
            <p:nvPr/>
          </p:nvSpPr>
          <p:spPr>
            <a:xfrm>
              <a:off x="1702603" y="9515300"/>
              <a:ext cx="762000" cy="76200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6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5">
                      <a:lumMod val="50000"/>
                    </a:schemeClr>
                  </a:solidFill>
                </a:rPr>
                <a:t>25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4025B72-8DA1-152B-9CD8-BF1F0AEFE5A4}"/>
                </a:ext>
              </a:extLst>
            </p:cNvPr>
            <p:cNvSpPr txBox="1"/>
            <p:nvPr/>
          </p:nvSpPr>
          <p:spPr>
            <a:xfrm>
              <a:off x="2464603" y="9723970"/>
              <a:ext cx="304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9ECF36A-6AB5-FD17-9DB3-D18181C1EE39}"/>
                </a:ext>
              </a:extLst>
            </p:cNvPr>
            <p:cNvSpPr txBox="1"/>
            <p:nvPr/>
          </p:nvSpPr>
          <p:spPr>
            <a:xfrm>
              <a:off x="1931203" y="10277300"/>
              <a:ext cx="304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5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59B2F90-73F8-7582-D457-BEB52A116A61}"/>
              </a:ext>
            </a:extLst>
          </p:cNvPr>
          <p:cNvGrpSpPr/>
          <p:nvPr/>
        </p:nvGrpSpPr>
        <p:grpSpPr>
          <a:xfrm>
            <a:off x="5681782" y="2804763"/>
            <a:ext cx="1312800" cy="1346554"/>
            <a:chOff x="4272082" y="9392299"/>
            <a:chExt cx="1312800" cy="1346554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B49DF456-8BC7-E71A-AF85-BE7956D40262}"/>
                </a:ext>
              </a:extLst>
            </p:cNvPr>
            <p:cNvSpPr/>
            <p:nvPr/>
          </p:nvSpPr>
          <p:spPr>
            <a:xfrm>
              <a:off x="4272082" y="9392299"/>
              <a:ext cx="1008000" cy="100800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6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5">
                      <a:lumMod val="50000"/>
                    </a:schemeClr>
                  </a:solidFill>
                </a:rPr>
                <a:t>36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860C5140-00DC-1B76-4114-039676C01B55}"/>
                </a:ext>
              </a:extLst>
            </p:cNvPr>
            <p:cNvSpPr txBox="1"/>
            <p:nvPr/>
          </p:nvSpPr>
          <p:spPr>
            <a:xfrm>
              <a:off x="5280082" y="9727022"/>
              <a:ext cx="304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AA74387-BA11-1F87-AC3E-E7C75E0DD106}"/>
                </a:ext>
              </a:extLst>
            </p:cNvPr>
            <p:cNvSpPr txBox="1"/>
            <p:nvPr/>
          </p:nvSpPr>
          <p:spPr>
            <a:xfrm>
              <a:off x="4623682" y="10400299"/>
              <a:ext cx="304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422C78D1-7A0E-E3A0-49E2-D9B7C723BCD9}"/>
              </a:ext>
            </a:extLst>
          </p:cNvPr>
          <p:cNvGrpSpPr/>
          <p:nvPr/>
        </p:nvGrpSpPr>
        <p:grpSpPr>
          <a:xfrm>
            <a:off x="8252509" y="2804763"/>
            <a:ext cx="2106443" cy="1979166"/>
            <a:chOff x="6880909" y="9095440"/>
            <a:chExt cx="2106443" cy="1979166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09C74DAC-A5E2-170A-B2C2-A7E83D34E421}"/>
                </a:ext>
              </a:extLst>
            </p:cNvPr>
            <p:cNvSpPr/>
            <p:nvPr/>
          </p:nvSpPr>
          <p:spPr>
            <a:xfrm>
              <a:off x="6880909" y="9095440"/>
              <a:ext cx="1640612" cy="164061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50196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5">
                      <a:lumMod val="50000"/>
                    </a:schemeClr>
                  </a:solidFill>
                </a:rPr>
                <a:t>400</a:t>
              </a:r>
              <a:endParaRPr lang="es-ES" sz="16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73D8D13-A831-AE92-9D5E-53E232384D76}"/>
                </a:ext>
              </a:extLst>
            </p:cNvPr>
            <p:cNvSpPr txBox="1"/>
            <p:nvPr/>
          </p:nvSpPr>
          <p:spPr>
            <a:xfrm>
              <a:off x="8521521" y="9746469"/>
              <a:ext cx="4658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20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19A4DE2C-CCFE-F1A8-9627-EF2C114ADD8C}"/>
                </a:ext>
              </a:extLst>
            </p:cNvPr>
            <p:cNvSpPr txBox="1"/>
            <p:nvPr/>
          </p:nvSpPr>
          <p:spPr>
            <a:xfrm>
              <a:off x="7479885" y="10736052"/>
              <a:ext cx="4426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accent5">
                      <a:lumMod val="75000"/>
                    </a:schemeClr>
                  </a:solidFill>
                </a:rPr>
                <a:t>20</a:t>
              </a: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95263EF-BC79-BC86-10F7-F6F44A4A536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8E68AF-CFB1-DD16-4734-08B1F255A7A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89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42906"/>
            <a:ext cx="11121832" cy="502223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9396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la mayoría de los números, la raíz no resulta en un número natural</a:t>
            </a:r>
            <a:r>
              <a:rPr lang="es-ES" sz="2000" b="1" dirty="0">
                <a:latin typeface="Century Gothic" panose="020B0502020202020204" pitchFamily="34" charset="0"/>
              </a:rPr>
              <a:t>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55B0C1A-C831-13BC-76BE-E14F3838A3E0}"/>
              </a:ext>
            </a:extLst>
          </p:cNvPr>
          <p:cNvGrpSpPr/>
          <p:nvPr/>
        </p:nvGrpSpPr>
        <p:grpSpPr>
          <a:xfrm>
            <a:off x="632210" y="1935522"/>
            <a:ext cx="2923790" cy="573940"/>
            <a:chOff x="810234" y="12752902"/>
            <a:chExt cx="2923790" cy="573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3D1C8ED5-9088-38CD-8E42-8DE5100394D8}"/>
                    </a:ext>
                  </a:extLst>
                </p:cNvPr>
                <p:cNvSpPr txBox="1"/>
                <p:nvPr/>
              </p:nvSpPr>
              <p:spPr>
                <a:xfrm>
                  <a:off x="1999319" y="12752902"/>
                  <a:ext cx="1734705" cy="57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400" b="1">
                      <a:latin typeface="Century Gothic" panose="020B0502020202020204" pitchFamily="34" charset="0"/>
                    </a:defRPr>
                  </a:lvl1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ES" sz="28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2800" b="1" i="1" dirty="0" smtClean="0">
                                <a:latin typeface="Cambria Math" panose="02040503050406030204" pitchFamily="18" charset="0"/>
                              </a:rPr>
                              <m:t>𝟒𝟎</m:t>
                            </m:r>
                          </m:e>
                        </m:rad>
                      </m:oMath>
                    </m:oMathPara>
                  </a14:m>
                  <a:endParaRPr lang="es-ES" sz="2800" dirty="0"/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3D1C8ED5-9088-38CD-8E42-8DE5100394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9319" y="12752902"/>
                  <a:ext cx="1734705" cy="57394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uadroTexto 1">
              <a:extLst>
                <a:ext uri="{FF2B5EF4-FFF2-40B4-BE49-F238E27FC236}">
                  <a16:creationId xmlns:a16="http://schemas.microsoft.com/office/drawing/2014/main" id="{5615F3B7-619A-DF8E-6BE4-23FD33693716}"/>
                </a:ext>
              </a:extLst>
            </p:cNvPr>
            <p:cNvSpPr txBox="1"/>
            <p:nvPr/>
          </p:nvSpPr>
          <p:spPr>
            <a:xfrm>
              <a:off x="810234" y="12799093"/>
              <a:ext cx="1957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EJEMPLO: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209D851-F9B3-D1D6-5980-E1254E032B86}"/>
                  </a:ext>
                </a:extLst>
              </p:cNvPr>
              <p:cNvSpPr txBox="1"/>
              <p:nvPr/>
            </p:nvSpPr>
            <p:spPr>
              <a:xfrm>
                <a:off x="2770284" y="2648472"/>
                <a:ext cx="3435541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209D851-F9B3-D1D6-5980-E1254E032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284" y="2648472"/>
                <a:ext cx="3435541" cy="5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C9D8174-5A5E-69B8-A347-93607F2D2DA3}"/>
                  </a:ext>
                </a:extLst>
              </p:cNvPr>
              <p:cNvSpPr txBox="1"/>
              <p:nvPr/>
            </p:nvSpPr>
            <p:spPr>
              <a:xfrm>
                <a:off x="5990734" y="2648472"/>
                <a:ext cx="3420351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  <m:sup>
                          <m:r>
                            <a:rPr lang="es-ES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𝟒𝟗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" sz="2800" b="1" i="1" dirty="0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C9D8174-5A5E-69B8-A347-93607F2D2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734" y="2648472"/>
                <a:ext cx="3420351" cy="5329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71487C1-D931-B219-6D5F-E190948ABCBD}"/>
                  </a:ext>
                </a:extLst>
              </p:cNvPr>
              <p:cNvSpPr txBox="1"/>
              <p:nvPr/>
            </p:nvSpPr>
            <p:spPr>
              <a:xfrm>
                <a:off x="4630847" y="3491712"/>
                <a:ext cx="2930305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>
                    <a:latin typeface="Century Gothic" panose="020B0502020202020204" pitchFamily="34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dirty="0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ad>
                        <m:radPr>
                          <m:degHide m:val="on"/>
                          <m:ctrlPr>
                            <a:rPr lang="es-E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𝟒𝟎</m:t>
                          </m:r>
                        </m:e>
                      </m:rad>
                      <m:r>
                        <a:rPr lang="es-E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s-E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s-E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71487C1-D931-B219-6D5F-E190948A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847" y="3491712"/>
                <a:ext cx="2930305" cy="5739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adroTexto 1">
            <a:extLst>
              <a:ext uri="{FF2B5EF4-FFF2-40B4-BE49-F238E27FC236}">
                <a16:creationId xmlns:a16="http://schemas.microsoft.com/office/drawing/2014/main" id="{E72E41DF-8EEF-7D29-01BC-8661A597FCF3}"/>
              </a:ext>
            </a:extLst>
          </p:cNvPr>
          <p:cNvSpPr txBox="1"/>
          <p:nvPr/>
        </p:nvSpPr>
        <p:spPr>
          <a:xfrm>
            <a:off x="632209" y="4476931"/>
            <a:ext cx="9905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Al número natural que más se aproxima, por debajo, a la raíz lo llamamos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raíz entera.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8CD5B5A-2ECC-33BF-B098-5F3B66A7E96A}"/>
              </a:ext>
            </a:extLst>
          </p:cNvPr>
          <p:cNvSpPr txBox="1"/>
          <p:nvPr/>
        </p:nvSpPr>
        <p:spPr>
          <a:xfrm>
            <a:off x="2984500" y="5396041"/>
            <a:ext cx="622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latin typeface="Century Gothic" panose="020B0502020202020204" pitchFamily="34" charset="0"/>
              </a:rPr>
              <a:t>La raíz entera de 40 es 6.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2747D26-7799-6314-DD38-595AA05E0F2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7B96FB-6A4F-1911-E32F-769175F1287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756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95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1" grpId="0"/>
      <p:bldP spid="13" grpId="0"/>
      <p:bldP spid="14" grpId="0"/>
      <p:bldP spid="1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CuadroTexto 1">
                <a:extLst>
                  <a:ext uri="{FF2B5EF4-FFF2-40B4-BE49-F238E27FC236}">
                    <a16:creationId xmlns:a16="http://schemas.microsoft.com/office/drawing/2014/main" id="{62C6765A-902D-DE87-7FD1-DE8AF47F8DA5}"/>
                  </a:ext>
                </a:extLst>
              </p:cNvPr>
              <p:cNvSpPr txBox="1"/>
              <p:nvPr/>
            </p:nvSpPr>
            <p:spPr>
              <a:xfrm>
                <a:off x="664493" y="1740164"/>
                <a:ext cx="612133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𝟏𝟒𝟒</m:t>
                          </m:r>
                        </m:e>
                      </m:rad>
                    </m:oMath>
                  </m:oMathPara>
                </a14:m>
                <a:endParaRPr lang="es-ES" sz="2800" b="1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" name="!!CuadroTexto 1">
                <a:extLst>
                  <a:ext uri="{FF2B5EF4-FFF2-40B4-BE49-F238E27FC236}">
                    <a16:creationId xmlns:a16="http://schemas.microsoft.com/office/drawing/2014/main" id="{62C6765A-902D-DE87-7FD1-DE8AF47F8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93" y="1740164"/>
                <a:ext cx="612133" cy="573940"/>
              </a:xfrm>
              <a:prstGeom prst="rect">
                <a:avLst/>
              </a:prstGeom>
              <a:blipFill>
                <a:blip r:embed="rId6"/>
                <a:stretch>
                  <a:fillRect l="-29000" r="-14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118217F-AE51-6DB9-3EB1-A9845E132430}"/>
              </a:ext>
            </a:extLst>
          </p:cNvPr>
          <p:cNvCxnSpPr>
            <a:cxnSpLocks/>
          </p:cNvCxnSpPr>
          <p:nvPr/>
        </p:nvCxnSpPr>
        <p:spPr>
          <a:xfrm>
            <a:off x="1469398" y="2040394"/>
            <a:ext cx="419101" cy="82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41F282C7-2428-EFC9-C814-29E1883D5FB0}"/>
              </a:ext>
            </a:extLst>
          </p:cNvPr>
          <p:cNvSpPr txBox="1"/>
          <p:nvPr/>
        </p:nvSpPr>
        <p:spPr>
          <a:xfrm>
            <a:off x="2541412" y="1778784"/>
            <a:ext cx="833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/>
              <a:t>144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54CF2CB-1B4A-EA47-3A77-1CC3C236FAF5}"/>
              </a:ext>
            </a:extLst>
          </p:cNvPr>
          <p:cNvCxnSpPr>
            <a:cxnSpLocks/>
          </p:cNvCxnSpPr>
          <p:nvPr/>
        </p:nvCxnSpPr>
        <p:spPr>
          <a:xfrm>
            <a:off x="3934857" y="2048688"/>
            <a:ext cx="419101" cy="82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EB7CA7E-5962-8249-EA80-E1F48026DAC0}"/>
              </a:ext>
            </a:extLst>
          </p:cNvPr>
          <p:cNvSpPr/>
          <p:nvPr/>
        </p:nvSpPr>
        <p:spPr>
          <a:xfrm>
            <a:off x="4447701" y="1842091"/>
            <a:ext cx="1839503" cy="396606"/>
          </a:xfrm>
          <a:prstGeom prst="roundRect">
            <a:avLst>
              <a:gd name="adj" fmla="val 30209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sz="28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5726EA2-83AA-7F5F-3698-55361C2475B1}"/>
              </a:ext>
            </a:extLst>
          </p:cNvPr>
          <p:cNvSpPr/>
          <p:nvPr/>
        </p:nvSpPr>
        <p:spPr>
          <a:xfrm>
            <a:off x="3426681" y="1850385"/>
            <a:ext cx="434749" cy="396606"/>
          </a:xfrm>
          <a:prstGeom prst="roundRect">
            <a:avLst>
              <a:gd name="adj" fmla="val 30209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058C52-EF92-7613-BA63-0B2F14C8FE63}"/>
              </a:ext>
            </a:extLst>
          </p:cNvPr>
          <p:cNvSpPr txBox="1"/>
          <p:nvPr/>
        </p:nvSpPr>
        <p:spPr>
          <a:xfrm>
            <a:off x="391648" y="1146866"/>
            <a:ext cx="2558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 la calculadora: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7E028884-7CC7-9AA5-597D-FDEB02515649}"/>
              </a:ext>
            </a:extLst>
          </p:cNvPr>
          <p:cNvGrpSpPr/>
          <p:nvPr/>
        </p:nvGrpSpPr>
        <p:grpSpPr>
          <a:xfrm>
            <a:off x="2030378" y="1850385"/>
            <a:ext cx="568372" cy="396606"/>
            <a:chOff x="2107184" y="1696559"/>
            <a:chExt cx="568372" cy="3966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ángulo: esquinas redondeadas 15">
                  <a:extLst>
                    <a:ext uri="{FF2B5EF4-FFF2-40B4-BE49-F238E27FC236}">
                      <a16:creationId xmlns:a16="http://schemas.microsoft.com/office/drawing/2014/main" id="{7E12B9DB-4B05-1266-2CBE-7E1524D19973}"/>
                    </a:ext>
                  </a:extLst>
                </p:cNvPr>
                <p:cNvSpPr/>
                <p:nvPr/>
              </p:nvSpPr>
              <p:spPr>
                <a:xfrm>
                  <a:off x="2107184" y="1696559"/>
                  <a:ext cx="568372" cy="396606"/>
                </a:xfrm>
                <a:prstGeom prst="roundRect">
                  <a:avLst>
                    <a:gd name="adj" fmla="val 30209"/>
                  </a:avLst>
                </a:prstGeom>
                <a:noFill/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ES" sz="20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/>
                        </m:rad>
                      </m:oMath>
                    </m:oMathPara>
                  </a14:m>
                  <a:endParaRPr lang="es-ES" sz="2000" baseline="30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ángulo: esquinas redondeadas 15">
                  <a:extLst>
                    <a:ext uri="{FF2B5EF4-FFF2-40B4-BE49-F238E27FC236}">
                      <a16:creationId xmlns:a16="http://schemas.microsoft.com/office/drawing/2014/main" id="{7E12B9DB-4B05-1266-2CBE-7E1524D199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184" y="1696559"/>
                  <a:ext cx="568372" cy="396606"/>
                </a:xfrm>
                <a:prstGeom prst="roundRect">
                  <a:avLst>
                    <a:gd name="adj" fmla="val 30209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2329206-E80D-B165-6825-238A60AB898F}"/>
                </a:ext>
              </a:extLst>
            </p:cNvPr>
            <p:cNvSpPr/>
            <p:nvPr/>
          </p:nvSpPr>
          <p:spPr>
            <a:xfrm>
              <a:off x="2371725" y="1851025"/>
              <a:ext cx="161440" cy="1619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00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AE91FCC-84E3-696D-CB18-F263390E090B}"/>
              </a:ext>
            </a:extLst>
          </p:cNvPr>
          <p:cNvGrpSpPr/>
          <p:nvPr/>
        </p:nvGrpSpPr>
        <p:grpSpPr>
          <a:xfrm>
            <a:off x="6873475" y="1146866"/>
            <a:ext cx="1838162" cy="3320728"/>
            <a:chOff x="6764083" y="3118982"/>
            <a:chExt cx="1838162" cy="3320728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9DA2E78-C4C7-AC4F-14D3-01659C4D51C1}"/>
                </a:ext>
              </a:extLst>
            </p:cNvPr>
            <p:cNvSpPr/>
            <p:nvPr/>
          </p:nvSpPr>
          <p:spPr>
            <a:xfrm rot="855948">
              <a:off x="7176037" y="3679395"/>
              <a:ext cx="1418614" cy="494124"/>
            </a:xfrm>
            <a:prstGeom prst="rect">
              <a:avLst/>
            </a:prstGeom>
            <a:solidFill>
              <a:srgbClr val="CEDC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Imagen 25" descr="Una calculadora científica&#10;&#10;Descripción generada automáticamente">
              <a:extLst>
                <a:ext uri="{FF2B5EF4-FFF2-40B4-BE49-F238E27FC236}">
                  <a16:creationId xmlns:a16="http://schemas.microsoft.com/office/drawing/2014/main" id="{BBEDD6F9-20E3-2CC7-A870-3AF7705C00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52" r="21895"/>
            <a:stretch/>
          </p:blipFill>
          <p:spPr>
            <a:xfrm rot="855948">
              <a:off x="6764083" y="3118982"/>
              <a:ext cx="1838162" cy="3320728"/>
            </a:xfrm>
            <a:prstGeom prst="rect">
              <a:avLst/>
            </a:prstGeom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DDCBE21-8B68-01BB-CB6D-B7CF012FAAC1}"/>
                </a:ext>
              </a:extLst>
            </p:cNvPr>
            <p:cNvSpPr txBox="1"/>
            <p:nvPr/>
          </p:nvSpPr>
          <p:spPr>
            <a:xfrm rot="835581">
              <a:off x="7233645" y="3894160"/>
              <a:ext cx="13319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dirty="0"/>
                <a:t>12</a:t>
              </a: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BF7CC813-B46C-B174-50F8-3BEE610B4D3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0670FA-2714-A171-B441-8A0D9231F23C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996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5" grpId="0" animBg="1"/>
      <p:bldP spid="17" grpId="0" animBg="1"/>
      <p:bldP spid="1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18908EE-6104-4DAD-B3CA-EAE5A9A1644C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2. Las raíces"/>
  <p:tag name="ISPRING_OUTPUT_FOLDER" val="[[&quot;\uFFFD\/\uFFFD\uFFFD{21D528DD-60A0-4F5B-BB24-A0E5BDBD4B43}&quot;,&quot;C:\\Users\\34717\\Desktop\\Apuntes\\3 ESO\\2. Potencias y raíces. Números aproximados&quot;]]"/>
  <p:tag name="ISPRING_PRESENTATION_TITLE" val="2. Las raíc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A44003F-9D9D-48EF-AD8F-B3D97DD5DB5C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B64B5C5-71BD-4FBB-A187-52BEE11AF22F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2FFEE90-E403-41DA-BC73-62305435AFE0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CD000B8-6952-48EE-92FD-D69BF3CF5C23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156</Words>
  <Application>Microsoft Office PowerPoint</Application>
  <PresentationFormat>Panorámica</PresentationFormat>
  <Paragraphs>43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Las raíces</dc:title>
  <dc:creator>Illán Linos Souto</dc:creator>
  <cp:lastModifiedBy>Illán Linos</cp:lastModifiedBy>
  <cp:revision>39</cp:revision>
  <dcterms:created xsi:type="dcterms:W3CDTF">2024-08-18T18:48:07Z</dcterms:created>
  <dcterms:modified xsi:type="dcterms:W3CDTF">2025-11-20T16:16:54Z</dcterms:modified>
</cp:coreProperties>
</file>