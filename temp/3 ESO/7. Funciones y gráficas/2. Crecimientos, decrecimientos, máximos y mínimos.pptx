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8" r:id="rId2"/>
    <p:sldId id="261" r:id="rId3"/>
    <p:sldId id="260" r:id="rId4"/>
  </p:sldIdLst>
  <p:sldSz cx="12192000" cy="6858000"/>
  <p:notesSz cx="6858000" cy="9144000"/>
  <p:custDataLst>
    <p:tags r:id="rId6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BCEAFA"/>
    <a:srgbClr val="B4E8FA"/>
    <a:srgbClr val="C9EEFB"/>
    <a:srgbClr val="A2E1F8"/>
    <a:srgbClr val="EF4246"/>
    <a:srgbClr val="BCC6E2"/>
    <a:srgbClr val="A5AED5"/>
    <a:srgbClr val="636EAD"/>
    <a:srgbClr val="383F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6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B6DBE-1D4C-4109-B004-13A544731143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4BF45-98EA-425E-9AC0-5A4D03F947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49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304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0195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0753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5" name="Conector recto 484">
            <a:extLst>
              <a:ext uri="{FF2B5EF4-FFF2-40B4-BE49-F238E27FC236}">
                <a16:creationId xmlns:a16="http://schemas.microsoft.com/office/drawing/2014/main" id="{2735F611-0041-3C96-A142-DE50CB3A3022}"/>
              </a:ext>
            </a:extLst>
          </p:cNvPr>
          <p:cNvCxnSpPr>
            <a:cxnSpLocks/>
          </p:cNvCxnSpPr>
          <p:nvPr/>
        </p:nvCxnSpPr>
        <p:spPr>
          <a:xfrm>
            <a:off x="8928258" y="4063125"/>
            <a:ext cx="0" cy="10826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ector recto 456">
            <a:extLst>
              <a:ext uri="{FF2B5EF4-FFF2-40B4-BE49-F238E27FC236}">
                <a16:creationId xmlns:a16="http://schemas.microsoft.com/office/drawing/2014/main" id="{613BE247-6266-D306-8949-656B91891FF0}"/>
              </a:ext>
            </a:extLst>
          </p:cNvPr>
          <p:cNvCxnSpPr>
            <a:cxnSpLocks/>
          </p:cNvCxnSpPr>
          <p:nvPr/>
        </p:nvCxnSpPr>
        <p:spPr>
          <a:xfrm>
            <a:off x="7731918" y="4046062"/>
            <a:ext cx="0" cy="10826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ector recto 454">
            <a:extLst>
              <a:ext uri="{FF2B5EF4-FFF2-40B4-BE49-F238E27FC236}">
                <a16:creationId xmlns:a16="http://schemas.microsoft.com/office/drawing/2014/main" id="{E7C39F7C-9FDE-14AA-2388-D8BDF3A470DD}"/>
              </a:ext>
            </a:extLst>
          </p:cNvPr>
          <p:cNvCxnSpPr>
            <a:cxnSpLocks/>
            <a:stCxn id="12" idx="0"/>
          </p:cNvCxnSpPr>
          <p:nvPr/>
        </p:nvCxnSpPr>
        <p:spPr>
          <a:xfrm>
            <a:off x="6972300" y="4655810"/>
            <a:ext cx="0" cy="47292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ector recto 448">
            <a:extLst>
              <a:ext uri="{FF2B5EF4-FFF2-40B4-BE49-F238E27FC236}">
                <a16:creationId xmlns:a16="http://schemas.microsoft.com/office/drawing/2014/main" id="{A445D5CC-7DCA-811C-8F39-25475FA060C6}"/>
              </a:ext>
            </a:extLst>
          </p:cNvPr>
          <p:cNvCxnSpPr>
            <a:cxnSpLocks/>
          </p:cNvCxnSpPr>
          <p:nvPr/>
        </p:nvCxnSpPr>
        <p:spPr>
          <a:xfrm>
            <a:off x="5175250" y="3366042"/>
            <a:ext cx="0" cy="17626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ector recto 447">
            <a:extLst>
              <a:ext uri="{FF2B5EF4-FFF2-40B4-BE49-F238E27FC236}">
                <a16:creationId xmlns:a16="http://schemas.microsoft.com/office/drawing/2014/main" id="{1CFCE444-07BB-F07D-09C0-6FB920C0928F}"/>
              </a:ext>
            </a:extLst>
          </p:cNvPr>
          <p:cNvCxnSpPr>
            <a:cxnSpLocks/>
          </p:cNvCxnSpPr>
          <p:nvPr/>
        </p:nvCxnSpPr>
        <p:spPr>
          <a:xfrm>
            <a:off x="4438650" y="4251325"/>
            <a:ext cx="0" cy="87741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Una función es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creciente</a:t>
            </a:r>
            <a:r>
              <a:rPr lang="es-ES" sz="2000" b="1" dirty="0"/>
              <a:t> en un tramo cuando al aumentar la </a:t>
            </a:r>
            <a:r>
              <a:rPr lang="es-ES" sz="2000" b="1" i="1" dirty="0"/>
              <a:t>x </a:t>
            </a:r>
            <a:r>
              <a:rPr lang="es-ES" sz="2000" b="1" dirty="0"/>
              <a:t>(es decir, al recorrerla de izquierda a derecha), aumenta la </a:t>
            </a:r>
            <a:r>
              <a:rPr lang="es-ES" sz="2000" b="1" i="1" dirty="0"/>
              <a:t>y</a:t>
            </a:r>
            <a:r>
              <a:rPr lang="es-ES" sz="2000" b="1" dirty="0"/>
              <a:t>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15A9808D-C313-04F9-F0C7-074D3900A40B}"/>
              </a:ext>
            </a:extLst>
          </p:cNvPr>
          <p:cNvSpPr/>
          <p:nvPr/>
        </p:nvSpPr>
        <p:spPr>
          <a:xfrm>
            <a:off x="535084" y="1891867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B440CCC5-C26F-1CC8-4CF1-429096DC1BFE}"/>
              </a:ext>
            </a:extLst>
          </p:cNvPr>
          <p:cNvSpPr txBox="1"/>
          <p:nvPr/>
        </p:nvSpPr>
        <p:spPr>
          <a:xfrm>
            <a:off x="535084" y="1895510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Es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decreciente</a:t>
            </a:r>
            <a:r>
              <a:rPr lang="es-ES" sz="2000" b="1" dirty="0"/>
              <a:t> si, al aumentar la </a:t>
            </a:r>
            <a:r>
              <a:rPr lang="es-ES" sz="2000" b="1" i="1" dirty="0"/>
              <a:t>x</a:t>
            </a:r>
            <a:r>
              <a:rPr lang="es-ES" sz="2000" b="1" dirty="0"/>
              <a:t>, disminuye la </a:t>
            </a:r>
            <a:r>
              <a:rPr lang="es-ES" sz="2000" b="1" i="1" dirty="0"/>
              <a:t>y</a:t>
            </a:r>
            <a:r>
              <a:rPr lang="es-ES" sz="2000" b="1" dirty="0"/>
              <a:t>.</a:t>
            </a:r>
            <a:endParaRPr lang="es-ES" sz="4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!Marco 10">
            <a:extLst>
              <a:ext uri="{FF2B5EF4-FFF2-40B4-BE49-F238E27FC236}">
                <a16:creationId xmlns:a16="http://schemas.microsoft.com/office/drawing/2014/main" id="{6FE8F05B-DFD9-371F-FDFC-06EE7FFBA942}"/>
              </a:ext>
            </a:extLst>
          </p:cNvPr>
          <p:cNvSpPr/>
          <p:nvPr/>
        </p:nvSpPr>
        <p:spPr>
          <a:xfrm>
            <a:off x="535084" y="2416056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9C856894-1567-EFC8-D311-EA6ED1D5CF17}"/>
              </a:ext>
            </a:extLst>
          </p:cNvPr>
          <p:cNvSpPr txBox="1"/>
          <p:nvPr/>
        </p:nvSpPr>
        <p:spPr>
          <a:xfrm>
            <a:off x="535084" y="2419699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Si mantiene el mismo valor en todo un tramo, se dice que es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constante</a:t>
            </a:r>
            <a:r>
              <a:rPr lang="es-ES" sz="2000" b="1" dirty="0"/>
              <a:t> en ese tramo.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488" name="Grupo 487">
            <a:extLst>
              <a:ext uri="{FF2B5EF4-FFF2-40B4-BE49-F238E27FC236}">
                <a16:creationId xmlns:a16="http://schemas.microsoft.com/office/drawing/2014/main" id="{AD582F78-2310-3828-38D6-1FAB59E47156}"/>
              </a:ext>
            </a:extLst>
          </p:cNvPr>
          <p:cNvGrpSpPr/>
          <p:nvPr/>
        </p:nvGrpSpPr>
        <p:grpSpPr>
          <a:xfrm>
            <a:off x="4438649" y="3366042"/>
            <a:ext cx="4514851" cy="1343414"/>
            <a:chOff x="4438649" y="3366042"/>
            <a:chExt cx="4514851" cy="1343414"/>
          </a:xfrm>
        </p:grpSpPr>
        <p:cxnSp>
          <p:nvCxnSpPr>
            <p:cNvPr id="463" name="Conector recto 462">
              <a:extLst>
                <a:ext uri="{FF2B5EF4-FFF2-40B4-BE49-F238E27FC236}">
                  <a16:creationId xmlns:a16="http://schemas.microsoft.com/office/drawing/2014/main" id="{CB6314AE-DECD-4009-D4DE-C439422A7534}"/>
                </a:ext>
              </a:extLst>
            </p:cNvPr>
            <p:cNvCxnSpPr>
              <a:cxnSpLocks/>
            </p:cNvCxnSpPr>
            <p:nvPr/>
          </p:nvCxnSpPr>
          <p:spPr>
            <a:xfrm>
              <a:off x="7731918" y="4035533"/>
              <a:ext cx="1221582" cy="0"/>
            </a:xfrm>
            <a:prstGeom prst="line">
              <a:avLst/>
            </a:prstGeom>
            <a:noFill/>
            <a:ln w="38100"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6E4F3E96-DD0B-00ED-3DFC-9B094D9D7775}"/>
                </a:ext>
              </a:extLst>
            </p:cNvPr>
            <p:cNvSpPr/>
            <p:nvPr/>
          </p:nvSpPr>
          <p:spPr>
            <a:xfrm>
              <a:off x="4438649" y="3366042"/>
              <a:ext cx="3290887" cy="1343414"/>
            </a:xfrm>
            <a:custGeom>
              <a:avLst/>
              <a:gdLst>
                <a:gd name="connsiteX0" fmla="*/ 0 w 3314700"/>
                <a:gd name="connsiteY0" fmla="*/ 893232 h 1343108"/>
                <a:gd name="connsiteX1" fmla="*/ 838200 w 3314700"/>
                <a:gd name="connsiteY1" fmla="*/ 7407 h 1343108"/>
                <a:gd name="connsiteX2" fmla="*/ 2447925 w 3314700"/>
                <a:gd name="connsiteY2" fmla="*/ 1331382 h 1343108"/>
                <a:gd name="connsiteX3" fmla="*/ 3314700 w 3314700"/>
                <a:gd name="connsiteY3" fmla="*/ 655107 h 1343108"/>
                <a:gd name="connsiteX0" fmla="*/ 0 w 3290887"/>
                <a:gd name="connsiteY0" fmla="*/ 893232 h 1343414"/>
                <a:gd name="connsiteX1" fmla="*/ 838200 w 3290887"/>
                <a:gd name="connsiteY1" fmla="*/ 7407 h 1343414"/>
                <a:gd name="connsiteX2" fmla="*/ 2447925 w 3290887"/>
                <a:gd name="connsiteY2" fmla="*/ 1331382 h 1343414"/>
                <a:gd name="connsiteX3" fmla="*/ 3290887 w 3290887"/>
                <a:gd name="connsiteY3" fmla="*/ 674157 h 1343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887" h="1343414">
                  <a:moveTo>
                    <a:pt x="0" y="893232"/>
                  </a:moveTo>
                  <a:cubicBezTo>
                    <a:pt x="215106" y="413807"/>
                    <a:pt x="430213" y="-65618"/>
                    <a:pt x="838200" y="7407"/>
                  </a:cubicBezTo>
                  <a:cubicBezTo>
                    <a:pt x="1246188" y="80432"/>
                    <a:pt x="2035175" y="1223432"/>
                    <a:pt x="2447925" y="1331382"/>
                  </a:cubicBezTo>
                  <a:cubicBezTo>
                    <a:pt x="2860675" y="1439332"/>
                    <a:pt x="3132137" y="788457"/>
                    <a:pt x="3290887" y="674157"/>
                  </a:cubicBezTo>
                </a:path>
              </a:pathLst>
            </a:custGeom>
            <a:noFill/>
            <a:ln w="38100"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489" name="Grupo 488">
            <a:extLst>
              <a:ext uri="{FF2B5EF4-FFF2-40B4-BE49-F238E27FC236}">
                <a16:creationId xmlns:a16="http://schemas.microsoft.com/office/drawing/2014/main" id="{F8E4E78B-09A6-9C44-3774-EE2C3D1059D7}"/>
              </a:ext>
            </a:extLst>
          </p:cNvPr>
          <p:cNvGrpSpPr/>
          <p:nvPr/>
        </p:nvGrpSpPr>
        <p:grpSpPr>
          <a:xfrm>
            <a:off x="4154043" y="3852930"/>
            <a:ext cx="341757" cy="459262"/>
            <a:chOff x="4154043" y="3852930"/>
            <a:chExt cx="341757" cy="459262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6182A8C7-02AB-E7DE-BAD0-681F032CE198}"/>
                </a:ext>
              </a:extLst>
            </p:cNvPr>
            <p:cNvSpPr/>
            <p:nvPr/>
          </p:nvSpPr>
          <p:spPr>
            <a:xfrm>
              <a:off x="4381500" y="4197892"/>
              <a:ext cx="114300" cy="1143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5480018A-9585-A48C-6DF0-3CA822A96330}"/>
                </a:ext>
              </a:extLst>
            </p:cNvPr>
            <p:cNvSpPr txBox="1"/>
            <p:nvPr/>
          </p:nvSpPr>
          <p:spPr>
            <a:xfrm>
              <a:off x="4154043" y="3852930"/>
              <a:ext cx="256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A</a:t>
              </a:r>
            </a:p>
          </p:txBody>
        </p:sp>
      </p:grpSp>
      <p:grpSp>
        <p:nvGrpSpPr>
          <p:cNvPr id="490" name="Grupo 489">
            <a:extLst>
              <a:ext uri="{FF2B5EF4-FFF2-40B4-BE49-F238E27FC236}">
                <a16:creationId xmlns:a16="http://schemas.microsoft.com/office/drawing/2014/main" id="{E9368EE5-191F-9241-BDE0-BFADE8C18F58}"/>
              </a:ext>
            </a:extLst>
          </p:cNvPr>
          <p:cNvGrpSpPr/>
          <p:nvPr/>
        </p:nvGrpSpPr>
        <p:grpSpPr>
          <a:xfrm>
            <a:off x="5047234" y="2968848"/>
            <a:ext cx="256032" cy="454344"/>
            <a:chOff x="5047234" y="2968848"/>
            <a:chExt cx="256032" cy="454344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EC803D09-7154-8572-FA60-A72BCEE536C7}"/>
                </a:ext>
              </a:extLst>
            </p:cNvPr>
            <p:cNvSpPr/>
            <p:nvPr/>
          </p:nvSpPr>
          <p:spPr>
            <a:xfrm>
              <a:off x="5118100" y="3308892"/>
              <a:ext cx="114300" cy="1143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C8584102-7D47-028B-8B37-2B61F9A09289}"/>
                </a:ext>
              </a:extLst>
            </p:cNvPr>
            <p:cNvSpPr txBox="1"/>
            <p:nvPr/>
          </p:nvSpPr>
          <p:spPr>
            <a:xfrm>
              <a:off x="5047234" y="2968848"/>
              <a:ext cx="256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B</a:t>
              </a:r>
            </a:p>
          </p:txBody>
        </p:sp>
      </p:grpSp>
      <p:grpSp>
        <p:nvGrpSpPr>
          <p:cNvPr id="491" name="Grupo 490">
            <a:extLst>
              <a:ext uri="{FF2B5EF4-FFF2-40B4-BE49-F238E27FC236}">
                <a16:creationId xmlns:a16="http://schemas.microsoft.com/office/drawing/2014/main" id="{B60725A8-1144-3149-662A-405F6192B046}"/>
              </a:ext>
            </a:extLst>
          </p:cNvPr>
          <p:cNvGrpSpPr/>
          <p:nvPr/>
        </p:nvGrpSpPr>
        <p:grpSpPr>
          <a:xfrm>
            <a:off x="6844284" y="4225518"/>
            <a:ext cx="256032" cy="544592"/>
            <a:chOff x="6844284" y="4225518"/>
            <a:chExt cx="256032" cy="544592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689BE650-8349-53D2-AA62-A2FEF3DEA188}"/>
                </a:ext>
              </a:extLst>
            </p:cNvPr>
            <p:cNvSpPr/>
            <p:nvPr/>
          </p:nvSpPr>
          <p:spPr>
            <a:xfrm>
              <a:off x="6915150" y="4655810"/>
              <a:ext cx="114300" cy="1143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3B89208-3C1F-12D5-CC60-AB450BBD5939}"/>
                </a:ext>
              </a:extLst>
            </p:cNvPr>
            <p:cNvSpPr txBox="1"/>
            <p:nvPr/>
          </p:nvSpPr>
          <p:spPr>
            <a:xfrm>
              <a:off x="6844284" y="4225518"/>
              <a:ext cx="256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C</a:t>
              </a:r>
            </a:p>
          </p:txBody>
        </p:sp>
      </p:grpSp>
      <p:grpSp>
        <p:nvGrpSpPr>
          <p:cNvPr id="492" name="Grupo 491">
            <a:extLst>
              <a:ext uri="{FF2B5EF4-FFF2-40B4-BE49-F238E27FC236}">
                <a16:creationId xmlns:a16="http://schemas.microsoft.com/office/drawing/2014/main" id="{7AE8A4F1-DCBB-7659-FD38-082E9E991147}"/>
              </a:ext>
            </a:extLst>
          </p:cNvPr>
          <p:cNvGrpSpPr/>
          <p:nvPr/>
        </p:nvGrpSpPr>
        <p:grpSpPr>
          <a:xfrm>
            <a:off x="7603109" y="3578895"/>
            <a:ext cx="256032" cy="516004"/>
            <a:chOff x="7603109" y="3578895"/>
            <a:chExt cx="256032" cy="516004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1E922B28-B7C1-F2FA-5BB4-400A91C96702}"/>
                </a:ext>
              </a:extLst>
            </p:cNvPr>
            <p:cNvSpPr/>
            <p:nvPr/>
          </p:nvSpPr>
          <p:spPr>
            <a:xfrm>
              <a:off x="7668798" y="3980599"/>
              <a:ext cx="114300" cy="1143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C1DADC40-2757-ADEF-A124-F88FBBC99467}"/>
                </a:ext>
              </a:extLst>
            </p:cNvPr>
            <p:cNvSpPr txBox="1"/>
            <p:nvPr/>
          </p:nvSpPr>
          <p:spPr>
            <a:xfrm>
              <a:off x="7603109" y="3578895"/>
              <a:ext cx="256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D</a:t>
              </a:r>
            </a:p>
          </p:txBody>
        </p:sp>
      </p:grp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076E9A3A-2E02-DB70-E050-665581F20C37}"/>
              </a:ext>
            </a:extLst>
          </p:cNvPr>
          <p:cNvCxnSpPr>
            <a:cxnSpLocks/>
          </p:cNvCxnSpPr>
          <p:nvPr/>
        </p:nvCxnSpPr>
        <p:spPr>
          <a:xfrm>
            <a:off x="3922776" y="5134388"/>
            <a:ext cx="53126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3" name="Grupo 492">
            <a:extLst>
              <a:ext uri="{FF2B5EF4-FFF2-40B4-BE49-F238E27FC236}">
                <a16:creationId xmlns:a16="http://schemas.microsoft.com/office/drawing/2014/main" id="{FA547D84-109D-2F57-C9EF-DDF99238386A}"/>
              </a:ext>
            </a:extLst>
          </p:cNvPr>
          <p:cNvGrpSpPr/>
          <p:nvPr/>
        </p:nvGrpSpPr>
        <p:grpSpPr>
          <a:xfrm>
            <a:off x="8803830" y="3573806"/>
            <a:ext cx="256032" cy="515851"/>
            <a:chOff x="8803830" y="3573806"/>
            <a:chExt cx="256032" cy="515851"/>
          </a:xfrm>
        </p:grpSpPr>
        <p:sp>
          <p:nvSpPr>
            <p:cNvPr id="467" name="Elipse 466">
              <a:extLst>
                <a:ext uri="{FF2B5EF4-FFF2-40B4-BE49-F238E27FC236}">
                  <a16:creationId xmlns:a16="http://schemas.microsoft.com/office/drawing/2014/main" id="{55CFA502-89B3-57AA-9C4F-3422781F8510}"/>
                </a:ext>
              </a:extLst>
            </p:cNvPr>
            <p:cNvSpPr/>
            <p:nvPr/>
          </p:nvSpPr>
          <p:spPr>
            <a:xfrm>
              <a:off x="8874696" y="3975357"/>
              <a:ext cx="114300" cy="1143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8" name="CuadroTexto 467">
              <a:extLst>
                <a:ext uri="{FF2B5EF4-FFF2-40B4-BE49-F238E27FC236}">
                  <a16:creationId xmlns:a16="http://schemas.microsoft.com/office/drawing/2014/main" id="{D4065B5C-C7E1-8354-0AF5-C69EC239CD9A}"/>
                </a:ext>
              </a:extLst>
            </p:cNvPr>
            <p:cNvSpPr txBox="1"/>
            <p:nvPr/>
          </p:nvSpPr>
          <p:spPr>
            <a:xfrm>
              <a:off x="8803830" y="3573806"/>
              <a:ext cx="256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E</a:t>
              </a:r>
            </a:p>
          </p:txBody>
        </p:sp>
      </p:grpSp>
      <p:sp>
        <p:nvSpPr>
          <p:cNvPr id="469" name="CuadroTexto 468">
            <a:extLst>
              <a:ext uri="{FF2B5EF4-FFF2-40B4-BE49-F238E27FC236}">
                <a16:creationId xmlns:a16="http://schemas.microsoft.com/office/drawing/2014/main" id="{DF622375-99CF-137A-275B-A6DC1F230285}"/>
              </a:ext>
            </a:extLst>
          </p:cNvPr>
          <p:cNvSpPr txBox="1"/>
          <p:nvPr/>
        </p:nvSpPr>
        <p:spPr>
          <a:xfrm>
            <a:off x="5240576" y="5128737"/>
            <a:ext cx="171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>
                    <a:lumMod val="65000"/>
                  </a:schemeClr>
                </a:solidFill>
              </a:rPr>
              <a:t>DECRECIENTE</a:t>
            </a:r>
          </a:p>
        </p:txBody>
      </p:sp>
      <p:sp>
        <p:nvSpPr>
          <p:cNvPr id="472" name="CuadroTexto 471">
            <a:extLst>
              <a:ext uri="{FF2B5EF4-FFF2-40B4-BE49-F238E27FC236}">
                <a16:creationId xmlns:a16="http://schemas.microsoft.com/office/drawing/2014/main" id="{38E8F63A-39E2-19FC-EC7F-0FF6FAE48712}"/>
              </a:ext>
            </a:extLst>
          </p:cNvPr>
          <p:cNvSpPr txBox="1"/>
          <p:nvPr/>
        </p:nvSpPr>
        <p:spPr>
          <a:xfrm>
            <a:off x="2864240" y="5162014"/>
            <a:ext cx="171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>
                    <a:lumMod val="65000"/>
                  </a:schemeClr>
                </a:solidFill>
              </a:rPr>
              <a:t>CRECIENTE</a:t>
            </a:r>
          </a:p>
        </p:txBody>
      </p:sp>
      <p:sp>
        <p:nvSpPr>
          <p:cNvPr id="473" name="Arco 472">
            <a:extLst>
              <a:ext uri="{FF2B5EF4-FFF2-40B4-BE49-F238E27FC236}">
                <a16:creationId xmlns:a16="http://schemas.microsoft.com/office/drawing/2014/main" id="{996B95C8-A180-2542-6928-1517E2CB3188}"/>
              </a:ext>
            </a:extLst>
          </p:cNvPr>
          <p:cNvSpPr/>
          <p:nvPr/>
        </p:nvSpPr>
        <p:spPr>
          <a:xfrm>
            <a:off x="3781860" y="4411252"/>
            <a:ext cx="1135349" cy="1255700"/>
          </a:xfrm>
          <a:prstGeom prst="arc">
            <a:avLst>
              <a:gd name="adj1" fmla="val 21263183"/>
              <a:gd name="adj2" fmla="val 8050909"/>
            </a:avLst>
          </a:prstGeom>
          <a:noFill/>
          <a:ln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4" name="CuadroTexto 473">
            <a:extLst>
              <a:ext uri="{FF2B5EF4-FFF2-40B4-BE49-F238E27FC236}">
                <a16:creationId xmlns:a16="http://schemas.microsoft.com/office/drawing/2014/main" id="{4800BC15-CB9B-10C4-2669-009A3FCCD04D}"/>
              </a:ext>
            </a:extLst>
          </p:cNvPr>
          <p:cNvSpPr txBox="1"/>
          <p:nvPr/>
        </p:nvSpPr>
        <p:spPr>
          <a:xfrm>
            <a:off x="7342426" y="5128737"/>
            <a:ext cx="171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>
                    <a:lumMod val="65000"/>
                  </a:schemeClr>
                </a:solidFill>
              </a:rPr>
              <a:t>CRECIENTE</a:t>
            </a:r>
          </a:p>
        </p:txBody>
      </p:sp>
      <p:sp>
        <p:nvSpPr>
          <p:cNvPr id="475" name="Arco 474">
            <a:extLst>
              <a:ext uri="{FF2B5EF4-FFF2-40B4-BE49-F238E27FC236}">
                <a16:creationId xmlns:a16="http://schemas.microsoft.com/office/drawing/2014/main" id="{F98CC2DA-E7DF-F969-7B5F-0DE7AFE1A758}"/>
              </a:ext>
            </a:extLst>
          </p:cNvPr>
          <p:cNvSpPr/>
          <p:nvPr/>
        </p:nvSpPr>
        <p:spPr>
          <a:xfrm flipH="1">
            <a:off x="7274792" y="4422072"/>
            <a:ext cx="1027403" cy="1191960"/>
          </a:xfrm>
          <a:prstGeom prst="arc">
            <a:avLst>
              <a:gd name="adj1" fmla="val 21573414"/>
              <a:gd name="adj2" fmla="val 7735104"/>
            </a:avLst>
          </a:prstGeom>
          <a:noFill/>
          <a:ln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6" name="CuadroTexto 475">
            <a:extLst>
              <a:ext uri="{FF2B5EF4-FFF2-40B4-BE49-F238E27FC236}">
                <a16:creationId xmlns:a16="http://schemas.microsoft.com/office/drawing/2014/main" id="{C5C8D90A-3935-4BF0-E5FB-41AACA123B8D}"/>
              </a:ext>
            </a:extLst>
          </p:cNvPr>
          <p:cNvSpPr txBox="1"/>
          <p:nvPr/>
        </p:nvSpPr>
        <p:spPr>
          <a:xfrm>
            <a:off x="4403725" y="4273994"/>
            <a:ext cx="803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B &gt; A</a:t>
            </a:r>
          </a:p>
        </p:txBody>
      </p:sp>
      <p:sp>
        <p:nvSpPr>
          <p:cNvPr id="477" name="CuadroTexto 476">
            <a:extLst>
              <a:ext uri="{FF2B5EF4-FFF2-40B4-BE49-F238E27FC236}">
                <a16:creationId xmlns:a16="http://schemas.microsoft.com/office/drawing/2014/main" id="{15C557DF-0669-5E37-BAED-57C382DB2104}"/>
              </a:ext>
            </a:extLst>
          </p:cNvPr>
          <p:cNvSpPr txBox="1"/>
          <p:nvPr/>
        </p:nvSpPr>
        <p:spPr>
          <a:xfrm>
            <a:off x="5518507" y="4421423"/>
            <a:ext cx="803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 &lt; B</a:t>
            </a:r>
          </a:p>
        </p:txBody>
      </p:sp>
      <p:sp>
        <p:nvSpPr>
          <p:cNvPr id="478" name="CuadroTexto 477">
            <a:extLst>
              <a:ext uri="{FF2B5EF4-FFF2-40B4-BE49-F238E27FC236}">
                <a16:creationId xmlns:a16="http://schemas.microsoft.com/office/drawing/2014/main" id="{BB069BBC-E2AE-8291-D69E-D9AB0A556B2D}"/>
              </a:ext>
            </a:extLst>
          </p:cNvPr>
          <p:cNvSpPr txBox="1"/>
          <p:nvPr/>
        </p:nvSpPr>
        <p:spPr>
          <a:xfrm>
            <a:off x="6965528" y="4692075"/>
            <a:ext cx="803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D &gt; C</a:t>
            </a:r>
          </a:p>
        </p:txBody>
      </p:sp>
      <p:sp>
        <p:nvSpPr>
          <p:cNvPr id="479" name="CuadroTexto 478">
            <a:extLst>
              <a:ext uri="{FF2B5EF4-FFF2-40B4-BE49-F238E27FC236}">
                <a16:creationId xmlns:a16="http://schemas.microsoft.com/office/drawing/2014/main" id="{95EDD8A0-F82D-87F8-2F60-1635F6BE40D8}"/>
              </a:ext>
            </a:extLst>
          </p:cNvPr>
          <p:cNvSpPr txBox="1"/>
          <p:nvPr/>
        </p:nvSpPr>
        <p:spPr>
          <a:xfrm>
            <a:off x="7905474" y="4406073"/>
            <a:ext cx="803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E = D</a:t>
            </a:r>
          </a:p>
        </p:txBody>
      </p:sp>
      <p:sp>
        <p:nvSpPr>
          <p:cNvPr id="486" name="Arco 485">
            <a:extLst>
              <a:ext uri="{FF2B5EF4-FFF2-40B4-BE49-F238E27FC236}">
                <a16:creationId xmlns:a16="http://schemas.microsoft.com/office/drawing/2014/main" id="{EBEC02CF-B703-05AB-5054-343F4BCA3063}"/>
              </a:ext>
            </a:extLst>
          </p:cNvPr>
          <p:cNvSpPr/>
          <p:nvPr/>
        </p:nvSpPr>
        <p:spPr>
          <a:xfrm rot="11613127">
            <a:off x="8197812" y="3462439"/>
            <a:ext cx="1632624" cy="1786154"/>
          </a:xfrm>
          <a:prstGeom prst="arc">
            <a:avLst>
              <a:gd name="adj1" fmla="val 21263183"/>
              <a:gd name="adj2" fmla="val 4753377"/>
            </a:avLst>
          </a:prstGeom>
          <a:noFill/>
          <a:ln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7" name="CuadroTexto 486">
            <a:extLst>
              <a:ext uri="{FF2B5EF4-FFF2-40B4-BE49-F238E27FC236}">
                <a16:creationId xmlns:a16="http://schemas.microsoft.com/office/drawing/2014/main" id="{F74C85C3-A80B-F65B-F93B-CC5B6D323BB4}"/>
              </a:ext>
            </a:extLst>
          </p:cNvPr>
          <p:cNvSpPr txBox="1"/>
          <p:nvPr/>
        </p:nvSpPr>
        <p:spPr>
          <a:xfrm>
            <a:off x="8898599" y="3271151"/>
            <a:ext cx="171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>
                    <a:lumMod val="65000"/>
                  </a:schemeClr>
                </a:solidFill>
              </a:rPr>
              <a:t>CONSTANTE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BDA80C5-914D-91A9-E471-567FB2C51AE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1C19767-5536-5974-5655-F62E7210E57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Funciones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431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7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775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775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 animBg="1"/>
      <p:bldP spid="4" grpId="0"/>
      <p:bldP spid="5" grpId="0" animBg="1"/>
      <p:bldP spid="8" grpId="0"/>
      <p:bldP spid="469" grpId="0"/>
      <p:bldP spid="472" grpId="0"/>
      <p:bldP spid="473" grpId="0" animBg="1"/>
      <p:bldP spid="474" grpId="0"/>
      <p:bldP spid="475" grpId="0" animBg="1"/>
      <p:bldP spid="476" grpId="0"/>
      <p:bldP spid="477" grpId="0"/>
      <p:bldP spid="478" grpId="0"/>
      <p:bldP spid="479" grpId="0"/>
      <p:bldP spid="486" grpId="0" animBg="1"/>
      <p:bldP spid="48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5" name="Conector recto 484">
            <a:extLst>
              <a:ext uri="{FF2B5EF4-FFF2-40B4-BE49-F238E27FC236}">
                <a16:creationId xmlns:a16="http://schemas.microsoft.com/office/drawing/2014/main" id="{2735F611-0041-3C96-A142-DE50CB3A3022}"/>
              </a:ext>
            </a:extLst>
          </p:cNvPr>
          <p:cNvCxnSpPr>
            <a:cxnSpLocks/>
          </p:cNvCxnSpPr>
          <p:nvPr/>
        </p:nvCxnSpPr>
        <p:spPr>
          <a:xfrm>
            <a:off x="8928258" y="4063125"/>
            <a:ext cx="0" cy="10826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ector recto 456">
            <a:extLst>
              <a:ext uri="{FF2B5EF4-FFF2-40B4-BE49-F238E27FC236}">
                <a16:creationId xmlns:a16="http://schemas.microsoft.com/office/drawing/2014/main" id="{613BE247-6266-D306-8949-656B91891FF0}"/>
              </a:ext>
            </a:extLst>
          </p:cNvPr>
          <p:cNvCxnSpPr>
            <a:cxnSpLocks/>
          </p:cNvCxnSpPr>
          <p:nvPr/>
        </p:nvCxnSpPr>
        <p:spPr>
          <a:xfrm>
            <a:off x="7731918" y="4046062"/>
            <a:ext cx="0" cy="10826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ector recto 454">
            <a:extLst>
              <a:ext uri="{FF2B5EF4-FFF2-40B4-BE49-F238E27FC236}">
                <a16:creationId xmlns:a16="http://schemas.microsoft.com/office/drawing/2014/main" id="{E7C39F7C-9FDE-14AA-2388-D8BDF3A470DD}"/>
              </a:ext>
            </a:extLst>
          </p:cNvPr>
          <p:cNvCxnSpPr>
            <a:cxnSpLocks/>
            <a:stCxn id="12" idx="0"/>
          </p:cNvCxnSpPr>
          <p:nvPr/>
        </p:nvCxnSpPr>
        <p:spPr>
          <a:xfrm>
            <a:off x="6972300" y="4655810"/>
            <a:ext cx="0" cy="47292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ector recto 448">
            <a:extLst>
              <a:ext uri="{FF2B5EF4-FFF2-40B4-BE49-F238E27FC236}">
                <a16:creationId xmlns:a16="http://schemas.microsoft.com/office/drawing/2014/main" id="{A445D5CC-7DCA-811C-8F39-25475FA060C6}"/>
              </a:ext>
            </a:extLst>
          </p:cNvPr>
          <p:cNvCxnSpPr>
            <a:cxnSpLocks/>
          </p:cNvCxnSpPr>
          <p:nvPr/>
        </p:nvCxnSpPr>
        <p:spPr>
          <a:xfrm>
            <a:off x="5175250" y="3366042"/>
            <a:ext cx="0" cy="17626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ector recto 447">
            <a:extLst>
              <a:ext uri="{FF2B5EF4-FFF2-40B4-BE49-F238E27FC236}">
                <a16:creationId xmlns:a16="http://schemas.microsoft.com/office/drawing/2014/main" id="{1CFCE444-07BB-F07D-09C0-6FB920C0928F}"/>
              </a:ext>
            </a:extLst>
          </p:cNvPr>
          <p:cNvCxnSpPr>
            <a:cxnSpLocks/>
          </p:cNvCxnSpPr>
          <p:nvPr/>
        </p:nvCxnSpPr>
        <p:spPr>
          <a:xfrm>
            <a:off x="4438650" y="4251325"/>
            <a:ext cx="0" cy="87741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Una función es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creciente</a:t>
            </a:r>
            <a:r>
              <a:rPr lang="es-ES" sz="2000" b="1" dirty="0"/>
              <a:t> en un tramo cuando al aumentar la </a:t>
            </a:r>
            <a:r>
              <a:rPr lang="es-ES" sz="2000" b="1" i="1" dirty="0"/>
              <a:t>x </a:t>
            </a:r>
            <a:r>
              <a:rPr lang="es-ES" sz="2000" b="1" dirty="0"/>
              <a:t>(es decir, al recorrerla de izquierda a derecha), aumenta la </a:t>
            </a:r>
            <a:r>
              <a:rPr lang="es-ES" sz="2000" b="1" i="1" dirty="0"/>
              <a:t>y</a:t>
            </a:r>
            <a:r>
              <a:rPr lang="es-ES" sz="2000" b="1" dirty="0"/>
              <a:t>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15A9808D-C313-04F9-F0C7-074D3900A40B}"/>
              </a:ext>
            </a:extLst>
          </p:cNvPr>
          <p:cNvSpPr/>
          <p:nvPr/>
        </p:nvSpPr>
        <p:spPr>
          <a:xfrm>
            <a:off x="535084" y="1891867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B440CCC5-C26F-1CC8-4CF1-429096DC1BFE}"/>
              </a:ext>
            </a:extLst>
          </p:cNvPr>
          <p:cNvSpPr txBox="1"/>
          <p:nvPr/>
        </p:nvSpPr>
        <p:spPr>
          <a:xfrm>
            <a:off x="535084" y="1895510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Es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decreciente</a:t>
            </a:r>
            <a:r>
              <a:rPr lang="es-ES" sz="2000" b="1" dirty="0"/>
              <a:t> si, al aumentar la </a:t>
            </a:r>
            <a:r>
              <a:rPr lang="es-ES" sz="2000" b="1" i="1" dirty="0"/>
              <a:t>x</a:t>
            </a:r>
            <a:r>
              <a:rPr lang="es-ES" sz="2000" b="1" dirty="0"/>
              <a:t>, disminuye la </a:t>
            </a:r>
            <a:r>
              <a:rPr lang="es-ES" sz="2000" b="1" i="1" dirty="0"/>
              <a:t>y</a:t>
            </a:r>
            <a:r>
              <a:rPr lang="es-ES" sz="2000" b="1" dirty="0"/>
              <a:t>.</a:t>
            </a:r>
            <a:endParaRPr lang="es-ES" sz="4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!Marco 10">
            <a:extLst>
              <a:ext uri="{FF2B5EF4-FFF2-40B4-BE49-F238E27FC236}">
                <a16:creationId xmlns:a16="http://schemas.microsoft.com/office/drawing/2014/main" id="{6FE8F05B-DFD9-371F-FDFC-06EE7FFBA942}"/>
              </a:ext>
            </a:extLst>
          </p:cNvPr>
          <p:cNvSpPr/>
          <p:nvPr/>
        </p:nvSpPr>
        <p:spPr>
          <a:xfrm>
            <a:off x="535084" y="2416056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9C856894-1567-EFC8-D311-EA6ED1D5CF17}"/>
              </a:ext>
            </a:extLst>
          </p:cNvPr>
          <p:cNvSpPr txBox="1"/>
          <p:nvPr/>
        </p:nvSpPr>
        <p:spPr>
          <a:xfrm>
            <a:off x="535084" y="2419699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Si mantiene el mismo valor en todo un tramo, se dice que es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constante</a:t>
            </a:r>
            <a:r>
              <a:rPr lang="es-ES" sz="2000" b="1" dirty="0"/>
              <a:t> en ese tramo.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CF031C6E-5D43-18FA-060D-CDC0A6D49A15}"/>
              </a:ext>
            </a:extLst>
          </p:cNvPr>
          <p:cNvGrpSpPr/>
          <p:nvPr/>
        </p:nvGrpSpPr>
        <p:grpSpPr>
          <a:xfrm>
            <a:off x="4438650" y="3366042"/>
            <a:ext cx="4514850" cy="1343108"/>
            <a:chOff x="4438650" y="3366042"/>
            <a:chExt cx="4514850" cy="1343108"/>
          </a:xfrm>
        </p:grpSpPr>
        <p:cxnSp>
          <p:nvCxnSpPr>
            <p:cNvPr id="463" name="Conector recto 462">
              <a:extLst>
                <a:ext uri="{FF2B5EF4-FFF2-40B4-BE49-F238E27FC236}">
                  <a16:creationId xmlns:a16="http://schemas.microsoft.com/office/drawing/2014/main" id="{CB6314AE-DECD-4009-D4DE-C439422A7534}"/>
                </a:ext>
              </a:extLst>
            </p:cNvPr>
            <p:cNvCxnSpPr>
              <a:cxnSpLocks/>
            </p:cNvCxnSpPr>
            <p:nvPr/>
          </p:nvCxnSpPr>
          <p:spPr>
            <a:xfrm>
              <a:off x="7731918" y="4035533"/>
              <a:ext cx="1221582" cy="0"/>
            </a:xfrm>
            <a:prstGeom prst="line">
              <a:avLst/>
            </a:pr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6E4F3E96-DD0B-00ED-3DFC-9B094D9D7775}"/>
                </a:ext>
              </a:extLst>
            </p:cNvPr>
            <p:cNvSpPr/>
            <p:nvPr/>
          </p:nvSpPr>
          <p:spPr>
            <a:xfrm>
              <a:off x="4438650" y="3366042"/>
              <a:ext cx="3314700" cy="1343108"/>
            </a:xfrm>
            <a:custGeom>
              <a:avLst/>
              <a:gdLst>
                <a:gd name="connsiteX0" fmla="*/ 0 w 3314700"/>
                <a:gd name="connsiteY0" fmla="*/ 893232 h 1343108"/>
                <a:gd name="connsiteX1" fmla="*/ 838200 w 3314700"/>
                <a:gd name="connsiteY1" fmla="*/ 7407 h 1343108"/>
                <a:gd name="connsiteX2" fmla="*/ 2447925 w 3314700"/>
                <a:gd name="connsiteY2" fmla="*/ 1331382 h 1343108"/>
                <a:gd name="connsiteX3" fmla="*/ 3314700 w 3314700"/>
                <a:gd name="connsiteY3" fmla="*/ 655107 h 1343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4700" h="1343108">
                  <a:moveTo>
                    <a:pt x="0" y="893232"/>
                  </a:moveTo>
                  <a:cubicBezTo>
                    <a:pt x="215106" y="413807"/>
                    <a:pt x="430213" y="-65618"/>
                    <a:pt x="838200" y="7407"/>
                  </a:cubicBezTo>
                  <a:cubicBezTo>
                    <a:pt x="1246188" y="80432"/>
                    <a:pt x="2035175" y="1223432"/>
                    <a:pt x="2447925" y="1331382"/>
                  </a:cubicBezTo>
                  <a:cubicBezTo>
                    <a:pt x="2860675" y="1439332"/>
                    <a:pt x="3155950" y="769407"/>
                    <a:pt x="3314700" y="655107"/>
                  </a:cubicBezTo>
                </a:path>
              </a:pathLst>
            </a:cu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1" name="Elipse 10">
            <a:extLst>
              <a:ext uri="{FF2B5EF4-FFF2-40B4-BE49-F238E27FC236}">
                <a16:creationId xmlns:a16="http://schemas.microsoft.com/office/drawing/2014/main" id="{1E922B28-B7C1-F2FA-5BB4-400A91C96702}"/>
              </a:ext>
            </a:extLst>
          </p:cNvPr>
          <p:cNvSpPr/>
          <p:nvPr/>
        </p:nvSpPr>
        <p:spPr>
          <a:xfrm>
            <a:off x="7673975" y="3980446"/>
            <a:ext cx="114300" cy="114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89BE650-8349-53D2-AA62-A2FEF3DEA188}"/>
              </a:ext>
            </a:extLst>
          </p:cNvPr>
          <p:cNvSpPr/>
          <p:nvPr/>
        </p:nvSpPr>
        <p:spPr>
          <a:xfrm>
            <a:off x="6915150" y="4655810"/>
            <a:ext cx="114300" cy="114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C803D09-7154-8572-FA60-A72BCEE536C7}"/>
              </a:ext>
            </a:extLst>
          </p:cNvPr>
          <p:cNvSpPr/>
          <p:nvPr/>
        </p:nvSpPr>
        <p:spPr>
          <a:xfrm>
            <a:off x="5118100" y="3308892"/>
            <a:ext cx="114300" cy="114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182A8C7-02AB-E7DE-BAD0-681F032CE198}"/>
              </a:ext>
            </a:extLst>
          </p:cNvPr>
          <p:cNvSpPr/>
          <p:nvPr/>
        </p:nvSpPr>
        <p:spPr>
          <a:xfrm>
            <a:off x="4381500" y="4197892"/>
            <a:ext cx="114300" cy="114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480018A-9585-A48C-6DF0-3CA822A96330}"/>
              </a:ext>
            </a:extLst>
          </p:cNvPr>
          <p:cNvSpPr txBox="1"/>
          <p:nvPr/>
        </p:nvSpPr>
        <p:spPr>
          <a:xfrm>
            <a:off x="4154043" y="3852930"/>
            <a:ext cx="2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8584102-7D47-028B-8B37-2B61F9A09289}"/>
              </a:ext>
            </a:extLst>
          </p:cNvPr>
          <p:cNvSpPr txBox="1"/>
          <p:nvPr/>
        </p:nvSpPr>
        <p:spPr>
          <a:xfrm>
            <a:off x="5047234" y="2968848"/>
            <a:ext cx="2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3B89208-3C1F-12D5-CC60-AB450BBD5939}"/>
              </a:ext>
            </a:extLst>
          </p:cNvPr>
          <p:cNvSpPr txBox="1"/>
          <p:nvPr/>
        </p:nvSpPr>
        <p:spPr>
          <a:xfrm>
            <a:off x="6844284" y="4225518"/>
            <a:ext cx="2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1DADC40-2757-ADEF-A124-F88FBBC99467}"/>
              </a:ext>
            </a:extLst>
          </p:cNvPr>
          <p:cNvSpPr txBox="1"/>
          <p:nvPr/>
        </p:nvSpPr>
        <p:spPr>
          <a:xfrm>
            <a:off x="7603109" y="3578895"/>
            <a:ext cx="2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D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076E9A3A-2E02-DB70-E050-665581F20C37}"/>
              </a:ext>
            </a:extLst>
          </p:cNvPr>
          <p:cNvCxnSpPr>
            <a:cxnSpLocks/>
          </p:cNvCxnSpPr>
          <p:nvPr/>
        </p:nvCxnSpPr>
        <p:spPr>
          <a:xfrm>
            <a:off x="3922776" y="5134388"/>
            <a:ext cx="53126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7" name="Elipse 466">
            <a:extLst>
              <a:ext uri="{FF2B5EF4-FFF2-40B4-BE49-F238E27FC236}">
                <a16:creationId xmlns:a16="http://schemas.microsoft.com/office/drawing/2014/main" id="{55CFA502-89B3-57AA-9C4F-3422781F8510}"/>
              </a:ext>
            </a:extLst>
          </p:cNvPr>
          <p:cNvSpPr/>
          <p:nvPr/>
        </p:nvSpPr>
        <p:spPr>
          <a:xfrm>
            <a:off x="8874696" y="3975357"/>
            <a:ext cx="114300" cy="114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8" name="CuadroTexto 467">
            <a:extLst>
              <a:ext uri="{FF2B5EF4-FFF2-40B4-BE49-F238E27FC236}">
                <a16:creationId xmlns:a16="http://schemas.microsoft.com/office/drawing/2014/main" id="{D4065B5C-C7E1-8354-0AF5-C69EC239CD9A}"/>
              </a:ext>
            </a:extLst>
          </p:cNvPr>
          <p:cNvSpPr txBox="1"/>
          <p:nvPr/>
        </p:nvSpPr>
        <p:spPr>
          <a:xfrm>
            <a:off x="8803830" y="3573806"/>
            <a:ext cx="2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E</a:t>
            </a:r>
          </a:p>
        </p:txBody>
      </p:sp>
      <p:sp>
        <p:nvSpPr>
          <p:cNvPr id="469" name="CuadroTexto 468">
            <a:extLst>
              <a:ext uri="{FF2B5EF4-FFF2-40B4-BE49-F238E27FC236}">
                <a16:creationId xmlns:a16="http://schemas.microsoft.com/office/drawing/2014/main" id="{DF622375-99CF-137A-275B-A6DC1F230285}"/>
              </a:ext>
            </a:extLst>
          </p:cNvPr>
          <p:cNvSpPr txBox="1"/>
          <p:nvPr/>
        </p:nvSpPr>
        <p:spPr>
          <a:xfrm>
            <a:off x="5240576" y="5128737"/>
            <a:ext cx="171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>
                    <a:lumMod val="65000"/>
                  </a:schemeClr>
                </a:solidFill>
              </a:rPr>
              <a:t>DECRECIENTE</a:t>
            </a:r>
          </a:p>
        </p:txBody>
      </p:sp>
      <p:sp>
        <p:nvSpPr>
          <p:cNvPr id="472" name="CuadroTexto 471">
            <a:extLst>
              <a:ext uri="{FF2B5EF4-FFF2-40B4-BE49-F238E27FC236}">
                <a16:creationId xmlns:a16="http://schemas.microsoft.com/office/drawing/2014/main" id="{38E8F63A-39E2-19FC-EC7F-0FF6FAE48712}"/>
              </a:ext>
            </a:extLst>
          </p:cNvPr>
          <p:cNvSpPr txBox="1"/>
          <p:nvPr/>
        </p:nvSpPr>
        <p:spPr>
          <a:xfrm>
            <a:off x="2864240" y="5162014"/>
            <a:ext cx="171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>
                    <a:lumMod val="65000"/>
                  </a:schemeClr>
                </a:solidFill>
              </a:rPr>
              <a:t>CRECIENTE</a:t>
            </a:r>
          </a:p>
        </p:txBody>
      </p:sp>
      <p:sp>
        <p:nvSpPr>
          <p:cNvPr id="473" name="Arco 472">
            <a:extLst>
              <a:ext uri="{FF2B5EF4-FFF2-40B4-BE49-F238E27FC236}">
                <a16:creationId xmlns:a16="http://schemas.microsoft.com/office/drawing/2014/main" id="{996B95C8-A180-2542-6928-1517E2CB3188}"/>
              </a:ext>
            </a:extLst>
          </p:cNvPr>
          <p:cNvSpPr/>
          <p:nvPr/>
        </p:nvSpPr>
        <p:spPr>
          <a:xfrm>
            <a:off x="3781860" y="4411252"/>
            <a:ext cx="1135349" cy="1255700"/>
          </a:xfrm>
          <a:prstGeom prst="arc">
            <a:avLst>
              <a:gd name="adj1" fmla="val 21263183"/>
              <a:gd name="adj2" fmla="val 8050909"/>
            </a:avLst>
          </a:prstGeom>
          <a:noFill/>
          <a:ln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4" name="CuadroTexto 473">
            <a:extLst>
              <a:ext uri="{FF2B5EF4-FFF2-40B4-BE49-F238E27FC236}">
                <a16:creationId xmlns:a16="http://schemas.microsoft.com/office/drawing/2014/main" id="{4800BC15-CB9B-10C4-2669-009A3FCCD04D}"/>
              </a:ext>
            </a:extLst>
          </p:cNvPr>
          <p:cNvSpPr txBox="1"/>
          <p:nvPr/>
        </p:nvSpPr>
        <p:spPr>
          <a:xfrm>
            <a:off x="7342426" y="5128737"/>
            <a:ext cx="171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>
                    <a:lumMod val="65000"/>
                  </a:schemeClr>
                </a:solidFill>
              </a:rPr>
              <a:t>CRECIENTE</a:t>
            </a:r>
          </a:p>
        </p:txBody>
      </p:sp>
      <p:sp>
        <p:nvSpPr>
          <p:cNvPr id="475" name="Arco 474">
            <a:extLst>
              <a:ext uri="{FF2B5EF4-FFF2-40B4-BE49-F238E27FC236}">
                <a16:creationId xmlns:a16="http://schemas.microsoft.com/office/drawing/2014/main" id="{F98CC2DA-E7DF-F969-7B5F-0DE7AFE1A758}"/>
              </a:ext>
            </a:extLst>
          </p:cNvPr>
          <p:cNvSpPr/>
          <p:nvPr/>
        </p:nvSpPr>
        <p:spPr>
          <a:xfrm flipH="1">
            <a:off x="7274792" y="4422072"/>
            <a:ext cx="1027403" cy="1191960"/>
          </a:xfrm>
          <a:prstGeom prst="arc">
            <a:avLst>
              <a:gd name="adj1" fmla="val 21573414"/>
              <a:gd name="adj2" fmla="val 7735104"/>
            </a:avLst>
          </a:prstGeom>
          <a:noFill/>
          <a:ln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6" name="CuadroTexto 475">
            <a:extLst>
              <a:ext uri="{FF2B5EF4-FFF2-40B4-BE49-F238E27FC236}">
                <a16:creationId xmlns:a16="http://schemas.microsoft.com/office/drawing/2014/main" id="{C5C8D90A-3935-4BF0-E5FB-41AACA123B8D}"/>
              </a:ext>
            </a:extLst>
          </p:cNvPr>
          <p:cNvSpPr txBox="1"/>
          <p:nvPr/>
        </p:nvSpPr>
        <p:spPr>
          <a:xfrm>
            <a:off x="4403725" y="4273994"/>
            <a:ext cx="803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B &gt; A</a:t>
            </a:r>
          </a:p>
        </p:txBody>
      </p:sp>
      <p:sp>
        <p:nvSpPr>
          <p:cNvPr id="477" name="CuadroTexto 476">
            <a:extLst>
              <a:ext uri="{FF2B5EF4-FFF2-40B4-BE49-F238E27FC236}">
                <a16:creationId xmlns:a16="http://schemas.microsoft.com/office/drawing/2014/main" id="{15C557DF-0669-5E37-BAED-57C382DB2104}"/>
              </a:ext>
            </a:extLst>
          </p:cNvPr>
          <p:cNvSpPr txBox="1"/>
          <p:nvPr/>
        </p:nvSpPr>
        <p:spPr>
          <a:xfrm>
            <a:off x="5518507" y="4421423"/>
            <a:ext cx="803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 &lt; B</a:t>
            </a:r>
          </a:p>
        </p:txBody>
      </p:sp>
      <p:sp>
        <p:nvSpPr>
          <p:cNvPr id="478" name="CuadroTexto 477">
            <a:extLst>
              <a:ext uri="{FF2B5EF4-FFF2-40B4-BE49-F238E27FC236}">
                <a16:creationId xmlns:a16="http://schemas.microsoft.com/office/drawing/2014/main" id="{BB069BBC-E2AE-8291-D69E-D9AB0A556B2D}"/>
              </a:ext>
            </a:extLst>
          </p:cNvPr>
          <p:cNvSpPr txBox="1"/>
          <p:nvPr/>
        </p:nvSpPr>
        <p:spPr>
          <a:xfrm>
            <a:off x="6965528" y="4692075"/>
            <a:ext cx="803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D &gt; C</a:t>
            </a:r>
          </a:p>
        </p:txBody>
      </p:sp>
      <p:sp>
        <p:nvSpPr>
          <p:cNvPr id="479" name="CuadroTexto 478">
            <a:extLst>
              <a:ext uri="{FF2B5EF4-FFF2-40B4-BE49-F238E27FC236}">
                <a16:creationId xmlns:a16="http://schemas.microsoft.com/office/drawing/2014/main" id="{95EDD8A0-F82D-87F8-2F60-1635F6BE40D8}"/>
              </a:ext>
            </a:extLst>
          </p:cNvPr>
          <p:cNvSpPr txBox="1"/>
          <p:nvPr/>
        </p:nvSpPr>
        <p:spPr>
          <a:xfrm>
            <a:off x="7905474" y="4406073"/>
            <a:ext cx="803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E = D</a:t>
            </a:r>
          </a:p>
        </p:txBody>
      </p:sp>
      <p:sp>
        <p:nvSpPr>
          <p:cNvPr id="486" name="Arco 485">
            <a:extLst>
              <a:ext uri="{FF2B5EF4-FFF2-40B4-BE49-F238E27FC236}">
                <a16:creationId xmlns:a16="http://schemas.microsoft.com/office/drawing/2014/main" id="{EBEC02CF-B703-05AB-5054-343F4BCA3063}"/>
              </a:ext>
            </a:extLst>
          </p:cNvPr>
          <p:cNvSpPr/>
          <p:nvPr/>
        </p:nvSpPr>
        <p:spPr>
          <a:xfrm rot="11613127">
            <a:off x="8197812" y="3462439"/>
            <a:ext cx="1632624" cy="1786154"/>
          </a:xfrm>
          <a:prstGeom prst="arc">
            <a:avLst>
              <a:gd name="adj1" fmla="val 21263183"/>
              <a:gd name="adj2" fmla="val 4753377"/>
            </a:avLst>
          </a:prstGeom>
          <a:noFill/>
          <a:ln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7" name="CuadroTexto 486">
            <a:extLst>
              <a:ext uri="{FF2B5EF4-FFF2-40B4-BE49-F238E27FC236}">
                <a16:creationId xmlns:a16="http://schemas.microsoft.com/office/drawing/2014/main" id="{F74C85C3-A80B-F65B-F93B-CC5B6D323BB4}"/>
              </a:ext>
            </a:extLst>
          </p:cNvPr>
          <p:cNvSpPr txBox="1"/>
          <p:nvPr/>
        </p:nvSpPr>
        <p:spPr>
          <a:xfrm>
            <a:off x="8898599" y="3271151"/>
            <a:ext cx="171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>
                    <a:lumMod val="65000"/>
                  </a:schemeClr>
                </a:solidFill>
              </a:rPr>
              <a:t>CONSTANTE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140563C-5CCE-DB50-4701-5883B17D23E8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B91F78D-D391-CE89-5D96-6A5206C71F2F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Funciones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675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E68971B7-4D6E-F02C-F7F2-37BFF2F1F7EB}"/>
              </a:ext>
            </a:extLst>
          </p:cNvPr>
          <p:cNvCxnSpPr>
            <a:cxnSpLocks/>
          </p:cNvCxnSpPr>
          <p:nvPr/>
        </p:nvCxnSpPr>
        <p:spPr>
          <a:xfrm>
            <a:off x="3922776" y="5547350"/>
            <a:ext cx="5312664" cy="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F0F4176-67BC-7E62-EDB8-AC5B59DA918A}"/>
              </a:ext>
            </a:extLst>
          </p:cNvPr>
          <p:cNvCxnSpPr>
            <a:cxnSpLocks/>
          </p:cNvCxnSpPr>
          <p:nvPr/>
        </p:nvCxnSpPr>
        <p:spPr>
          <a:xfrm>
            <a:off x="3922776" y="4207705"/>
            <a:ext cx="5312664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BBFBF51-24F2-A02A-9F7B-BC6EE18185D8}"/>
              </a:ext>
            </a:extLst>
          </p:cNvPr>
          <p:cNvSpPr txBox="1"/>
          <p:nvPr/>
        </p:nvSpPr>
        <p:spPr>
          <a:xfrm>
            <a:off x="5803900" y="3892550"/>
            <a:ext cx="1225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MÁXIMO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649C8C7-E359-E01C-1891-586CC1F35F5A}"/>
              </a:ext>
            </a:extLst>
          </p:cNvPr>
          <p:cNvSpPr txBox="1"/>
          <p:nvPr/>
        </p:nvSpPr>
        <p:spPr>
          <a:xfrm>
            <a:off x="7435850" y="5201586"/>
            <a:ext cx="1225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MÍNIMO</a:t>
            </a:r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3AF0E90F-0ED4-DEA7-C7F3-7D1E68011C1D}"/>
              </a:ext>
            </a:extLst>
          </p:cNvPr>
          <p:cNvSpPr/>
          <p:nvPr/>
        </p:nvSpPr>
        <p:spPr>
          <a:xfrm>
            <a:off x="5277866" y="3959086"/>
            <a:ext cx="612775" cy="178621"/>
          </a:xfrm>
          <a:custGeom>
            <a:avLst/>
            <a:gdLst>
              <a:gd name="connsiteX0" fmla="*/ 612775 w 612775"/>
              <a:gd name="connsiteY0" fmla="*/ 124646 h 178621"/>
              <a:gd name="connsiteX1" fmla="*/ 412750 w 612775"/>
              <a:gd name="connsiteY1" fmla="*/ 821 h 178621"/>
              <a:gd name="connsiteX2" fmla="*/ 0 w 612775"/>
              <a:gd name="connsiteY2" fmla="*/ 178621 h 17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2775" h="178621">
                <a:moveTo>
                  <a:pt x="612775" y="124646"/>
                </a:moveTo>
                <a:cubicBezTo>
                  <a:pt x="563827" y="58235"/>
                  <a:pt x="514879" y="-8175"/>
                  <a:pt x="412750" y="821"/>
                </a:cubicBezTo>
                <a:cubicBezTo>
                  <a:pt x="310621" y="9817"/>
                  <a:pt x="69321" y="151634"/>
                  <a:pt x="0" y="178621"/>
                </a:cubicBezTo>
              </a:path>
            </a:pathLst>
          </a:custGeom>
          <a:noFill/>
          <a:ln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Arco 24">
            <a:extLst>
              <a:ext uri="{FF2B5EF4-FFF2-40B4-BE49-F238E27FC236}">
                <a16:creationId xmlns:a16="http://schemas.microsoft.com/office/drawing/2014/main" id="{41DCFB24-CF3C-E307-F07D-8AF86A615F82}"/>
              </a:ext>
            </a:extLst>
          </p:cNvPr>
          <p:cNvSpPr/>
          <p:nvPr/>
        </p:nvSpPr>
        <p:spPr>
          <a:xfrm>
            <a:off x="6978824" y="5360334"/>
            <a:ext cx="912640" cy="336262"/>
          </a:xfrm>
          <a:prstGeom prst="arc">
            <a:avLst>
              <a:gd name="adj1" fmla="val 21352976"/>
              <a:gd name="adj2" fmla="val 10125700"/>
            </a:avLst>
          </a:prstGeom>
          <a:noFill/>
          <a:ln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463" name="Conector recto 462">
            <a:extLst>
              <a:ext uri="{FF2B5EF4-FFF2-40B4-BE49-F238E27FC236}">
                <a16:creationId xmlns:a16="http://schemas.microsoft.com/office/drawing/2014/main" id="{CB6314AE-DECD-4009-D4DE-C439422A7534}"/>
              </a:ext>
            </a:extLst>
          </p:cNvPr>
          <p:cNvCxnSpPr>
            <a:cxnSpLocks/>
          </p:cNvCxnSpPr>
          <p:nvPr/>
        </p:nvCxnSpPr>
        <p:spPr>
          <a:xfrm>
            <a:off x="7731918" y="4873733"/>
            <a:ext cx="1221582" cy="0"/>
          </a:xfrm>
          <a:prstGeom prst="line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Una función es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creciente</a:t>
            </a:r>
            <a:r>
              <a:rPr lang="es-ES" sz="2000" b="1" dirty="0"/>
              <a:t> en un tramo cuando al aumentar la </a:t>
            </a:r>
            <a:r>
              <a:rPr lang="es-ES" sz="2000" b="1" i="1" dirty="0"/>
              <a:t>x </a:t>
            </a:r>
            <a:r>
              <a:rPr lang="es-ES" sz="2000" b="1" dirty="0"/>
              <a:t>(es decir, al recorrerla de izquierda a derecha), aumenta la </a:t>
            </a:r>
            <a:r>
              <a:rPr lang="es-ES" sz="2000" b="1" i="1" dirty="0"/>
              <a:t>y</a:t>
            </a:r>
            <a:r>
              <a:rPr lang="es-ES" sz="2000" b="1" dirty="0"/>
              <a:t>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15A9808D-C313-04F9-F0C7-074D3900A40B}"/>
              </a:ext>
            </a:extLst>
          </p:cNvPr>
          <p:cNvSpPr/>
          <p:nvPr/>
        </p:nvSpPr>
        <p:spPr>
          <a:xfrm>
            <a:off x="535084" y="1891867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B440CCC5-C26F-1CC8-4CF1-429096DC1BFE}"/>
              </a:ext>
            </a:extLst>
          </p:cNvPr>
          <p:cNvSpPr txBox="1"/>
          <p:nvPr/>
        </p:nvSpPr>
        <p:spPr>
          <a:xfrm>
            <a:off x="535084" y="1895510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Es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decreciente</a:t>
            </a:r>
            <a:r>
              <a:rPr lang="es-ES" sz="2000" b="1" dirty="0"/>
              <a:t> si, al aumentar la </a:t>
            </a:r>
            <a:r>
              <a:rPr lang="es-ES" sz="2000" b="1" i="1" dirty="0"/>
              <a:t>x</a:t>
            </a:r>
            <a:r>
              <a:rPr lang="es-ES" sz="2000" b="1" dirty="0"/>
              <a:t>, disminuye la </a:t>
            </a:r>
            <a:r>
              <a:rPr lang="es-ES" sz="2000" b="1" i="1" dirty="0"/>
              <a:t>y</a:t>
            </a:r>
            <a:r>
              <a:rPr lang="es-ES" sz="2000" b="1" dirty="0"/>
              <a:t>.</a:t>
            </a:r>
            <a:endParaRPr lang="es-ES" sz="4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!Marco 10">
            <a:extLst>
              <a:ext uri="{FF2B5EF4-FFF2-40B4-BE49-F238E27FC236}">
                <a16:creationId xmlns:a16="http://schemas.microsoft.com/office/drawing/2014/main" id="{6FE8F05B-DFD9-371F-FDFC-06EE7FFBA942}"/>
              </a:ext>
            </a:extLst>
          </p:cNvPr>
          <p:cNvSpPr/>
          <p:nvPr/>
        </p:nvSpPr>
        <p:spPr>
          <a:xfrm>
            <a:off x="535084" y="2416056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9C856894-1567-EFC8-D311-EA6ED1D5CF17}"/>
              </a:ext>
            </a:extLst>
          </p:cNvPr>
          <p:cNvSpPr txBox="1"/>
          <p:nvPr/>
        </p:nvSpPr>
        <p:spPr>
          <a:xfrm>
            <a:off x="535084" y="2419699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Si mantiene el mismo valor en todo un tramo, se dice que es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constante</a:t>
            </a:r>
            <a:r>
              <a:rPr lang="es-ES" sz="2000" b="1" dirty="0"/>
              <a:t> en ese tramo.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6E4F3E96-DD0B-00ED-3DFC-9B094D9D7775}"/>
              </a:ext>
            </a:extLst>
          </p:cNvPr>
          <p:cNvSpPr/>
          <p:nvPr/>
        </p:nvSpPr>
        <p:spPr>
          <a:xfrm>
            <a:off x="4438650" y="4204242"/>
            <a:ext cx="3314700" cy="1343108"/>
          </a:xfrm>
          <a:custGeom>
            <a:avLst/>
            <a:gdLst>
              <a:gd name="connsiteX0" fmla="*/ 0 w 3314700"/>
              <a:gd name="connsiteY0" fmla="*/ 893232 h 1343108"/>
              <a:gd name="connsiteX1" fmla="*/ 838200 w 3314700"/>
              <a:gd name="connsiteY1" fmla="*/ 7407 h 1343108"/>
              <a:gd name="connsiteX2" fmla="*/ 2447925 w 3314700"/>
              <a:gd name="connsiteY2" fmla="*/ 1331382 h 1343108"/>
              <a:gd name="connsiteX3" fmla="*/ 3314700 w 3314700"/>
              <a:gd name="connsiteY3" fmla="*/ 655107 h 1343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700" h="1343108">
                <a:moveTo>
                  <a:pt x="0" y="893232"/>
                </a:moveTo>
                <a:cubicBezTo>
                  <a:pt x="215106" y="413807"/>
                  <a:pt x="430213" y="-65618"/>
                  <a:pt x="838200" y="7407"/>
                </a:cubicBezTo>
                <a:cubicBezTo>
                  <a:pt x="1246188" y="80432"/>
                  <a:pt x="2035175" y="1223432"/>
                  <a:pt x="2447925" y="1331382"/>
                </a:cubicBezTo>
                <a:cubicBezTo>
                  <a:pt x="2860675" y="1439332"/>
                  <a:pt x="3155950" y="769407"/>
                  <a:pt x="3314700" y="655107"/>
                </a:cubicBezTo>
              </a:path>
            </a:pathLst>
          </a:cu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E922B28-B7C1-F2FA-5BB4-400A91C96702}"/>
              </a:ext>
            </a:extLst>
          </p:cNvPr>
          <p:cNvSpPr/>
          <p:nvPr/>
        </p:nvSpPr>
        <p:spPr>
          <a:xfrm>
            <a:off x="7673975" y="4818646"/>
            <a:ext cx="114300" cy="114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89BE650-8349-53D2-AA62-A2FEF3DEA188}"/>
              </a:ext>
            </a:extLst>
          </p:cNvPr>
          <p:cNvSpPr/>
          <p:nvPr/>
        </p:nvSpPr>
        <p:spPr>
          <a:xfrm>
            <a:off x="6915150" y="5494010"/>
            <a:ext cx="114300" cy="114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C803D09-7154-8572-FA60-A72BCEE536C7}"/>
              </a:ext>
            </a:extLst>
          </p:cNvPr>
          <p:cNvSpPr/>
          <p:nvPr/>
        </p:nvSpPr>
        <p:spPr>
          <a:xfrm>
            <a:off x="5118100" y="4147092"/>
            <a:ext cx="114300" cy="114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182A8C7-02AB-E7DE-BAD0-681F032CE198}"/>
              </a:ext>
            </a:extLst>
          </p:cNvPr>
          <p:cNvSpPr/>
          <p:nvPr/>
        </p:nvSpPr>
        <p:spPr>
          <a:xfrm>
            <a:off x="4381500" y="5036092"/>
            <a:ext cx="114300" cy="114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!Marco 10">
            <a:extLst>
              <a:ext uri="{FF2B5EF4-FFF2-40B4-BE49-F238E27FC236}">
                <a16:creationId xmlns:a16="http://schemas.microsoft.com/office/drawing/2014/main" id="{7F97C87D-C21E-0AB3-C07F-6AB828AAC11C}"/>
              </a:ext>
            </a:extLst>
          </p:cNvPr>
          <p:cNvSpPr/>
          <p:nvPr/>
        </p:nvSpPr>
        <p:spPr>
          <a:xfrm>
            <a:off x="535084" y="294520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!CuadroTexto 1">
            <a:extLst>
              <a:ext uri="{FF2B5EF4-FFF2-40B4-BE49-F238E27FC236}">
                <a16:creationId xmlns:a16="http://schemas.microsoft.com/office/drawing/2014/main" id="{5AFF424E-A882-0F0B-6607-73507E0AC633}"/>
              </a:ext>
            </a:extLst>
          </p:cNvPr>
          <p:cNvSpPr txBox="1"/>
          <p:nvPr/>
        </p:nvSpPr>
        <p:spPr>
          <a:xfrm>
            <a:off x="535084" y="295248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El punto en el que la ordenada toma mayor valor 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máximo</a:t>
            </a:r>
            <a:r>
              <a:rPr lang="es-ES" sz="2000" b="1" dirty="0"/>
              <a:t> de la función,</a:t>
            </a:r>
          </a:p>
          <a:p>
            <a:r>
              <a:rPr lang="es-ES" sz="2000" b="1" dirty="0"/>
              <a:t>y aquel en el que la ordenada toma el menor valor,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mínimo.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480018A-9585-A48C-6DF0-3CA822A96330}"/>
              </a:ext>
            </a:extLst>
          </p:cNvPr>
          <p:cNvSpPr txBox="1"/>
          <p:nvPr/>
        </p:nvSpPr>
        <p:spPr>
          <a:xfrm>
            <a:off x="4154043" y="4691130"/>
            <a:ext cx="2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8584102-7D47-028B-8B37-2B61F9A09289}"/>
              </a:ext>
            </a:extLst>
          </p:cNvPr>
          <p:cNvSpPr txBox="1"/>
          <p:nvPr/>
        </p:nvSpPr>
        <p:spPr>
          <a:xfrm>
            <a:off x="5047234" y="3807048"/>
            <a:ext cx="2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3B89208-3C1F-12D5-CC60-AB450BBD5939}"/>
              </a:ext>
            </a:extLst>
          </p:cNvPr>
          <p:cNvSpPr txBox="1"/>
          <p:nvPr/>
        </p:nvSpPr>
        <p:spPr>
          <a:xfrm>
            <a:off x="6844284" y="5063718"/>
            <a:ext cx="2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1DADC40-2757-ADEF-A124-F88FBBC99467}"/>
              </a:ext>
            </a:extLst>
          </p:cNvPr>
          <p:cNvSpPr txBox="1"/>
          <p:nvPr/>
        </p:nvSpPr>
        <p:spPr>
          <a:xfrm>
            <a:off x="7603109" y="4417095"/>
            <a:ext cx="2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D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076E9A3A-2E02-DB70-E050-665581F20C37}"/>
              </a:ext>
            </a:extLst>
          </p:cNvPr>
          <p:cNvCxnSpPr>
            <a:cxnSpLocks/>
          </p:cNvCxnSpPr>
          <p:nvPr/>
        </p:nvCxnSpPr>
        <p:spPr>
          <a:xfrm>
            <a:off x="3922776" y="5972588"/>
            <a:ext cx="53126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7" name="Elipse 466">
            <a:extLst>
              <a:ext uri="{FF2B5EF4-FFF2-40B4-BE49-F238E27FC236}">
                <a16:creationId xmlns:a16="http://schemas.microsoft.com/office/drawing/2014/main" id="{55CFA502-89B3-57AA-9C4F-3422781F8510}"/>
              </a:ext>
            </a:extLst>
          </p:cNvPr>
          <p:cNvSpPr/>
          <p:nvPr/>
        </p:nvSpPr>
        <p:spPr>
          <a:xfrm>
            <a:off x="8874696" y="4813557"/>
            <a:ext cx="114300" cy="114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8" name="CuadroTexto 467">
            <a:extLst>
              <a:ext uri="{FF2B5EF4-FFF2-40B4-BE49-F238E27FC236}">
                <a16:creationId xmlns:a16="http://schemas.microsoft.com/office/drawing/2014/main" id="{D4065B5C-C7E1-8354-0AF5-C69EC239CD9A}"/>
              </a:ext>
            </a:extLst>
          </p:cNvPr>
          <p:cNvSpPr txBox="1"/>
          <p:nvPr/>
        </p:nvSpPr>
        <p:spPr>
          <a:xfrm>
            <a:off x="8803830" y="4412006"/>
            <a:ext cx="2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E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F7652F3-47F8-F360-67AD-CBF30BAB7CD8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35BAFAC-60FC-1300-B331-4710133C7D1B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Funciones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2085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9" grpId="0" animBg="1"/>
      <p:bldP spid="25" grpId="0" animBg="1"/>
      <p:bldP spid="17" grpId="0" animBg="1"/>
      <p:bldP spid="1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E651E660-8282-441F-A00C-CBCBB451D803"/>
  <p:tag name="ISPRING_CMI5_LAUNCH_METHOD" val="any window"/>
  <p:tag name="ISPRING_SCORM_RATE_SLIDES" val="1"/>
  <p:tag name="ISPRINGCLOUDFOLDERID" val="1"/>
  <p:tag name="ISPRINGONLINEFOLDERID" val="1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PASSING_SCORE" val="100.000000"/>
  <p:tag name="ISPRING_PRESENTATION_TITLE" val="2. Crecimientos, decrecimientos, máximos y mínimos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3 ESO\\7. Funciones y gráfica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8004D1C-903C-469A-B53A-152F0049E142}:25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E5A2C7A-4FE8-4F11-81B7-B8E1EE4D896D}:26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F487C76-C76E-4560-BCA8-E21D0B0843F4}:26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272</Words>
  <Application>Microsoft Office PowerPoint</Application>
  <PresentationFormat>Panorámica</PresentationFormat>
  <Paragraphs>50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Crecimientos, decrecimientos, máximos y mínimos</dc:title>
  <dc:creator>Illán Linos Souto</dc:creator>
  <cp:lastModifiedBy>Illán Linos</cp:lastModifiedBy>
  <cp:revision>73</cp:revision>
  <dcterms:created xsi:type="dcterms:W3CDTF">2024-08-18T18:48:07Z</dcterms:created>
  <dcterms:modified xsi:type="dcterms:W3CDTF">2025-11-20T18:31:52Z</dcterms:modified>
</cp:coreProperties>
</file>