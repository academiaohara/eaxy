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4" r:id="rId3"/>
    <p:sldId id="265" r:id="rId4"/>
    <p:sldId id="266" r:id="rId5"/>
    <p:sldId id="263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custDataLst>
    <p:tags r:id="rId13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7FF1D-46AE-4DFF-A0E4-CB1AA45D4666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A8FDF-C0F9-4E8D-915E-47BE293E5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26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746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627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9463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7607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8865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4811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0242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3476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5103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A8FDF-C0F9-4E8D-915E-47BE293E5F5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7117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mediatriz de un segmento es la </a:t>
            </a:r>
            <a:r>
              <a:rPr lang="es-ES" sz="2000" b="1" dirty="0">
                <a:solidFill>
                  <a:srgbClr val="4E95D9"/>
                </a:solidFill>
              </a:rPr>
              <a:t>recta perpendicular al segmento en su punto medio. </a:t>
            </a:r>
            <a:r>
              <a:rPr lang="es-ES" sz="2000" b="1" dirty="0"/>
              <a:t>Los puntos de la mediatriz equidistan (están a igual distancia) de los extremos del segmento.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6D56598-61A7-1EE7-F8E6-AD7D19547F48}"/>
                  </a:ext>
                </a:extLst>
              </p:cNvPr>
              <p:cNvSpPr txBox="1"/>
              <p:nvPr/>
            </p:nvSpPr>
            <p:spPr>
              <a:xfrm>
                <a:off x="765943" y="2332708"/>
                <a:ext cx="590492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000" b="1" dirty="0">
                    <a:solidFill>
                      <a:schemeClr val="tx1"/>
                    </a:solidFill>
                    <a:latin typeface="AGaramondPro-Regular"/>
                  </a:rPr>
                  <a:t>PA es el segmento cuyos extremos son </a:t>
                </a:r>
                <a:r>
                  <a:rPr lang="es-ES" sz="2000" b="1" dirty="0">
                    <a:solidFill>
                      <a:schemeClr val="tx1"/>
                    </a:solidFill>
                    <a:latin typeface="AGaramondPro-Italic"/>
                  </a:rPr>
                  <a:t>P </a:t>
                </a:r>
                <a:r>
                  <a:rPr lang="es-ES" sz="2000" b="1" dirty="0">
                    <a:solidFill>
                      <a:schemeClr val="tx1"/>
                    </a:solidFill>
                    <a:latin typeface="AGaramondPro-Regular"/>
                  </a:rPr>
                  <a:t>y A.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𝑷𝑨</m:t>
                        </m:r>
                      </m:e>
                    </m:acc>
                  </m:oMath>
                </a14:m>
                <a:r>
                  <a:rPr lang="es-ES" sz="2000" b="1" dirty="0">
                    <a:solidFill>
                      <a:schemeClr val="tx1"/>
                    </a:solidFill>
                    <a:latin typeface="AGaramondPro-Italic"/>
                  </a:rPr>
                  <a:t> </a:t>
                </a:r>
                <a:r>
                  <a:rPr lang="es-ES" sz="2000" b="1" dirty="0">
                    <a:solidFill>
                      <a:schemeClr val="tx1"/>
                    </a:solidFill>
                    <a:latin typeface="AGaramondPro-Regular"/>
                  </a:rPr>
                  <a:t>es la longitud de ese segmento.</a:t>
                </a:r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6D56598-61A7-1EE7-F8E6-AD7D19547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43" y="2332708"/>
                <a:ext cx="5904929" cy="707886"/>
              </a:xfrm>
              <a:prstGeom prst="rect">
                <a:avLst/>
              </a:prstGeom>
              <a:blipFill>
                <a:blip r:embed="rId6"/>
                <a:stretch>
                  <a:fillRect l="-1136" t="-5172" b="-146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DD0C877-8A4F-AE01-BE9D-B911AA92DBD0}"/>
                  </a:ext>
                </a:extLst>
              </p:cNvPr>
              <p:cNvSpPr txBox="1"/>
              <p:nvPr/>
            </p:nvSpPr>
            <p:spPr>
              <a:xfrm>
                <a:off x="9143786" y="2308684"/>
                <a:ext cx="169454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𝑷𝑨</m:t>
                          </m:r>
                        </m:e>
                      </m:acc>
                      <m:r>
                        <a:rPr lang="es-E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ES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s-E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DD0C877-8A4F-AE01-BE9D-B911AA92D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786" y="2308684"/>
                <a:ext cx="169454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C8E0753-025C-C252-F638-0B7C92F4DBDB}"/>
                  </a:ext>
                </a:extLst>
              </p:cNvPr>
              <p:cNvSpPr txBox="1"/>
              <p:nvPr/>
            </p:nvSpPr>
            <p:spPr>
              <a:xfrm>
                <a:off x="9143786" y="2764929"/>
                <a:ext cx="1694543" cy="400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𝑸𝑨</m:t>
                          </m:r>
                        </m:e>
                      </m:acc>
                      <m:r>
                        <a:rPr lang="es-E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ES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𝑸𝑩</m:t>
                          </m:r>
                        </m:e>
                      </m:acc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C8E0753-025C-C252-F638-0B7C92F4D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786" y="2764929"/>
                <a:ext cx="1694543" cy="400815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o 10">
            <a:extLst>
              <a:ext uri="{FF2B5EF4-FFF2-40B4-BE49-F238E27FC236}">
                <a16:creationId xmlns:a16="http://schemas.microsoft.com/office/drawing/2014/main" id="{E11F7A21-785D-5B9F-B920-B5F016BA5FBF}"/>
              </a:ext>
            </a:extLst>
          </p:cNvPr>
          <p:cNvGrpSpPr/>
          <p:nvPr/>
        </p:nvGrpSpPr>
        <p:grpSpPr>
          <a:xfrm>
            <a:off x="6100612" y="4234972"/>
            <a:ext cx="109794" cy="117885"/>
            <a:chOff x="5033699" y="7141369"/>
            <a:chExt cx="109794" cy="117885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8BE67302-D263-C7AC-D685-5DF046AD95F2}"/>
                </a:ext>
              </a:extLst>
            </p:cNvPr>
            <p:cNvSpPr/>
            <p:nvPr/>
          </p:nvSpPr>
          <p:spPr>
            <a:xfrm>
              <a:off x="5033699" y="7141369"/>
              <a:ext cx="109794" cy="1178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3902DE73-5C39-561B-E2E7-41F6AF729626}"/>
                </a:ext>
              </a:extLst>
            </p:cNvPr>
            <p:cNvSpPr/>
            <p:nvPr/>
          </p:nvSpPr>
          <p:spPr>
            <a:xfrm>
              <a:off x="5065737" y="717745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764B29D-1044-1A9A-1F07-EC61A909B815}"/>
              </a:ext>
            </a:extLst>
          </p:cNvPr>
          <p:cNvSpPr txBox="1"/>
          <p:nvPr/>
        </p:nvSpPr>
        <p:spPr>
          <a:xfrm>
            <a:off x="2760632" y="4414463"/>
            <a:ext cx="1197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7291A46-6C7C-5B5F-FCDA-09BFD45017E9}"/>
              </a:ext>
            </a:extLst>
          </p:cNvPr>
          <p:cNvSpPr txBox="1"/>
          <p:nvPr/>
        </p:nvSpPr>
        <p:spPr>
          <a:xfrm>
            <a:off x="8246328" y="4450324"/>
            <a:ext cx="1197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B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3312130-5C0A-780E-9070-5530F29ACB66}"/>
              </a:ext>
            </a:extLst>
          </p:cNvPr>
          <p:cNvCxnSpPr>
            <a:cxnSpLocks/>
          </p:cNvCxnSpPr>
          <p:nvPr/>
        </p:nvCxnSpPr>
        <p:spPr>
          <a:xfrm>
            <a:off x="6096000" y="3266635"/>
            <a:ext cx="0" cy="2066447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CDEDEDB-F5CE-93FE-07BF-ACBF30EF4D9D}"/>
              </a:ext>
            </a:extLst>
          </p:cNvPr>
          <p:cNvCxnSpPr/>
          <p:nvPr/>
        </p:nvCxnSpPr>
        <p:spPr>
          <a:xfrm flipV="1">
            <a:off x="3366220" y="3563815"/>
            <a:ext cx="2729780" cy="782314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52196A1-3B5A-0F75-99B8-8F29756E128D}"/>
              </a:ext>
            </a:extLst>
          </p:cNvPr>
          <p:cNvCxnSpPr>
            <a:cxnSpLocks/>
          </p:cNvCxnSpPr>
          <p:nvPr/>
        </p:nvCxnSpPr>
        <p:spPr>
          <a:xfrm flipH="1" flipV="1">
            <a:off x="6105225" y="3563814"/>
            <a:ext cx="2729780" cy="782314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9484C480-702F-3A18-00D9-DBA7C7C13D9D}"/>
              </a:ext>
            </a:extLst>
          </p:cNvPr>
          <p:cNvSpPr/>
          <p:nvPr/>
        </p:nvSpPr>
        <p:spPr>
          <a:xfrm>
            <a:off x="6073140" y="354095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D1AE33C7-6773-8AFA-1118-0790F6BAF6CD}"/>
              </a:ext>
            </a:extLst>
          </p:cNvPr>
          <p:cNvCxnSpPr/>
          <p:nvPr/>
        </p:nvCxnSpPr>
        <p:spPr>
          <a:xfrm>
            <a:off x="3361607" y="4361253"/>
            <a:ext cx="2729780" cy="481617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64B0963-1169-0F31-4767-DC597666CD2D}"/>
              </a:ext>
            </a:extLst>
          </p:cNvPr>
          <p:cNvCxnSpPr>
            <a:cxnSpLocks/>
          </p:cNvCxnSpPr>
          <p:nvPr/>
        </p:nvCxnSpPr>
        <p:spPr>
          <a:xfrm flipH="1">
            <a:off x="6100612" y="4361254"/>
            <a:ext cx="2729780" cy="481617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AB43B0AD-B1FC-FAC0-CDA5-80F903BB0F4A}"/>
              </a:ext>
            </a:extLst>
          </p:cNvPr>
          <p:cNvSpPr/>
          <p:nvPr/>
        </p:nvSpPr>
        <p:spPr>
          <a:xfrm flipV="1">
            <a:off x="6071702" y="482479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B5A6579-1464-DC3D-C6F8-70537B1D32E5}"/>
              </a:ext>
            </a:extLst>
          </p:cNvPr>
          <p:cNvCxnSpPr>
            <a:cxnSpLocks/>
          </p:cNvCxnSpPr>
          <p:nvPr/>
        </p:nvCxnSpPr>
        <p:spPr>
          <a:xfrm>
            <a:off x="3368425" y="4353690"/>
            <a:ext cx="54551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1399F61F-3A11-476C-E5EB-D62ABEB7E75D}"/>
              </a:ext>
            </a:extLst>
          </p:cNvPr>
          <p:cNvCxnSpPr>
            <a:cxnSpLocks/>
          </p:cNvCxnSpPr>
          <p:nvPr/>
        </p:nvCxnSpPr>
        <p:spPr>
          <a:xfrm>
            <a:off x="8825114" y="4254535"/>
            <a:ext cx="0" cy="1983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F66ADF94-45F1-58E4-3151-107F3D2CC237}"/>
              </a:ext>
            </a:extLst>
          </p:cNvPr>
          <p:cNvCxnSpPr>
            <a:cxnSpLocks/>
          </p:cNvCxnSpPr>
          <p:nvPr/>
        </p:nvCxnSpPr>
        <p:spPr>
          <a:xfrm>
            <a:off x="3366220" y="4254690"/>
            <a:ext cx="0" cy="198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69BE791-7D91-DE9E-AD4C-205F2C70FC15}"/>
              </a:ext>
            </a:extLst>
          </p:cNvPr>
          <p:cNvSpPr txBox="1"/>
          <p:nvPr/>
        </p:nvSpPr>
        <p:spPr>
          <a:xfrm>
            <a:off x="5296336" y="3233745"/>
            <a:ext cx="1197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P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B259E31-BD84-6707-4C46-55C140FDC4C2}"/>
              </a:ext>
            </a:extLst>
          </p:cNvPr>
          <p:cNvSpPr txBox="1"/>
          <p:nvPr/>
        </p:nvSpPr>
        <p:spPr>
          <a:xfrm>
            <a:off x="5264579" y="4786276"/>
            <a:ext cx="1197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Q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CB92907-6044-3D23-96D5-60DE5868886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8817108-86EA-F983-7E13-855D663EECF8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16" grpId="0"/>
      <p:bldP spid="17" grpId="0"/>
      <p:bldP spid="32" grpId="0" animBg="1"/>
      <p:bldP spid="38" grpId="0" animBg="1"/>
      <p:bldP spid="42" grpId="0"/>
      <p:bldP spid="6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mediatriz de un segmento es la </a:t>
            </a:r>
            <a:r>
              <a:rPr lang="es-ES" sz="2000" b="1" dirty="0">
                <a:solidFill>
                  <a:srgbClr val="4E95D9"/>
                </a:solidFill>
              </a:rPr>
              <a:t>recta perpendicular al segmento en su punto medio. </a:t>
            </a:r>
            <a:r>
              <a:rPr lang="es-ES" sz="2000" b="1" dirty="0"/>
              <a:t>Los puntos de la mediatriz equidistan (están a igual distancia) de los extremos del segmento.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D882301-D846-C0B8-F5D2-A874FA4817A2}"/>
              </a:ext>
            </a:extLst>
          </p:cNvPr>
          <p:cNvCxnSpPr>
            <a:cxnSpLocks/>
          </p:cNvCxnSpPr>
          <p:nvPr/>
        </p:nvCxnSpPr>
        <p:spPr>
          <a:xfrm>
            <a:off x="4372974" y="4408177"/>
            <a:ext cx="351486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3EE5647-F894-46FF-6BF9-7056A7A4EAF7}"/>
              </a:ext>
            </a:extLst>
          </p:cNvPr>
          <p:cNvCxnSpPr>
            <a:cxnSpLocks/>
          </p:cNvCxnSpPr>
          <p:nvPr/>
        </p:nvCxnSpPr>
        <p:spPr>
          <a:xfrm>
            <a:off x="7888834" y="4193250"/>
            <a:ext cx="0" cy="43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AAC9BC4-56FE-4888-A976-05F52A5B75D1}"/>
              </a:ext>
            </a:extLst>
          </p:cNvPr>
          <p:cNvCxnSpPr>
            <a:cxnSpLocks/>
          </p:cNvCxnSpPr>
          <p:nvPr/>
        </p:nvCxnSpPr>
        <p:spPr>
          <a:xfrm>
            <a:off x="4371553" y="4145258"/>
            <a:ext cx="0" cy="43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2F31AD6-DDB6-148F-068C-D93E53DC9FB5}"/>
              </a:ext>
            </a:extLst>
          </p:cNvPr>
          <p:cNvSpPr txBox="1"/>
          <p:nvPr/>
        </p:nvSpPr>
        <p:spPr>
          <a:xfrm>
            <a:off x="3972533" y="4702184"/>
            <a:ext cx="771470" cy="33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EE88B8-D214-8313-5E63-648DED2592BD}"/>
              </a:ext>
            </a:extLst>
          </p:cNvPr>
          <p:cNvSpPr txBox="1"/>
          <p:nvPr/>
        </p:nvSpPr>
        <p:spPr>
          <a:xfrm>
            <a:off x="7502108" y="4702184"/>
            <a:ext cx="771470" cy="33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B</a:t>
            </a:r>
          </a:p>
        </p:txBody>
      </p:sp>
      <p:sp>
        <p:nvSpPr>
          <p:cNvPr id="15" name="!!Arco 180">
            <a:extLst>
              <a:ext uri="{FF2B5EF4-FFF2-40B4-BE49-F238E27FC236}">
                <a16:creationId xmlns:a16="http://schemas.microsoft.com/office/drawing/2014/main" id="{080D45B5-ED17-D9D5-8B84-62799DE196BC}"/>
              </a:ext>
            </a:extLst>
          </p:cNvPr>
          <p:cNvSpPr/>
          <p:nvPr/>
        </p:nvSpPr>
        <p:spPr>
          <a:xfrm>
            <a:off x="1937848" y="1995410"/>
            <a:ext cx="4805251" cy="4805252"/>
          </a:xfrm>
          <a:prstGeom prst="arc">
            <a:avLst>
              <a:gd name="adj1" fmla="val 18512808"/>
              <a:gd name="adj2" fmla="val 352463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9" name="!!Compas">
            <a:extLst>
              <a:ext uri="{FF2B5EF4-FFF2-40B4-BE49-F238E27FC236}">
                <a16:creationId xmlns:a16="http://schemas.microsoft.com/office/drawing/2014/main" id="{04315421-9AE9-DA58-C049-44849B5E581D}"/>
              </a:ext>
            </a:extLst>
          </p:cNvPr>
          <p:cNvGrpSpPr/>
          <p:nvPr/>
        </p:nvGrpSpPr>
        <p:grpSpPr>
          <a:xfrm>
            <a:off x="2794586" y="1985697"/>
            <a:ext cx="3159236" cy="4824678"/>
            <a:chOff x="-54036" y="6349932"/>
            <a:chExt cx="4903200" cy="74880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0031F9EB-D3B8-DB4B-F9BB-5DDBC25BFF54}"/>
                </a:ext>
              </a:extLst>
            </p:cNvPr>
            <p:cNvSpPr/>
            <p:nvPr/>
          </p:nvSpPr>
          <p:spPr>
            <a:xfrm rot="18522477">
              <a:off x="-1346436" y="7642332"/>
              <a:ext cx="7488000" cy="4903200"/>
            </a:xfrm>
            <a:custGeom>
              <a:avLst/>
              <a:gdLst>
                <a:gd name="connsiteX0" fmla="*/ 0 w 7500728"/>
                <a:gd name="connsiteY0" fmla="*/ 2432736 h 4858492"/>
                <a:gd name="connsiteX1" fmla="*/ 3750364 w 7500728"/>
                <a:gd name="connsiteY1" fmla="*/ 2432736 h 4858492"/>
                <a:gd name="connsiteX2" fmla="*/ 7500728 w 7500728"/>
                <a:gd name="connsiteY2" fmla="*/ 2432736 h 4858492"/>
                <a:gd name="connsiteX3" fmla="*/ 7500728 w 7500728"/>
                <a:gd name="connsiteY3" fmla="*/ 4858492 h 4858492"/>
                <a:gd name="connsiteX4" fmla="*/ 3750364 w 7500728"/>
                <a:gd name="connsiteY4" fmla="*/ 4858492 h 4858492"/>
                <a:gd name="connsiteX5" fmla="*/ 0 w 7500728"/>
                <a:gd name="connsiteY5" fmla="*/ 4858492 h 4858492"/>
                <a:gd name="connsiteX6" fmla="*/ 0 w 7500728"/>
                <a:gd name="connsiteY6" fmla="*/ 0 h 4858492"/>
                <a:gd name="connsiteX7" fmla="*/ 3750364 w 7500728"/>
                <a:gd name="connsiteY7" fmla="*/ 0 h 4858492"/>
                <a:gd name="connsiteX8" fmla="*/ 7500728 w 7500728"/>
                <a:gd name="connsiteY8" fmla="*/ 0 h 4858492"/>
                <a:gd name="connsiteX9" fmla="*/ 7500728 w 7500728"/>
                <a:gd name="connsiteY9" fmla="*/ 2425756 h 4858492"/>
                <a:gd name="connsiteX10" fmla="*/ 3750364 w 7500728"/>
                <a:gd name="connsiteY10" fmla="*/ 2425756 h 4858492"/>
                <a:gd name="connsiteX11" fmla="*/ 0 w 7500728"/>
                <a:gd name="connsiteY11" fmla="*/ 2425756 h 485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00728" h="4858492">
                  <a:moveTo>
                    <a:pt x="0" y="2432736"/>
                  </a:moveTo>
                  <a:lnTo>
                    <a:pt x="3750364" y="2432736"/>
                  </a:lnTo>
                  <a:lnTo>
                    <a:pt x="7500728" y="2432736"/>
                  </a:lnTo>
                  <a:lnTo>
                    <a:pt x="7500728" y="4858492"/>
                  </a:lnTo>
                  <a:lnTo>
                    <a:pt x="3750364" y="4858492"/>
                  </a:lnTo>
                  <a:lnTo>
                    <a:pt x="0" y="4858492"/>
                  </a:lnTo>
                  <a:close/>
                  <a:moveTo>
                    <a:pt x="0" y="0"/>
                  </a:moveTo>
                  <a:lnTo>
                    <a:pt x="3750364" y="0"/>
                  </a:lnTo>
                  <a:lnTo>
                    <a:pt x="7500728" y="0"/>
                  </a:lnTo>
                  <a:lnTo>
                    <a:pt x="7500728" y="2425756"/>
                  </a:lnTo>
                  <a:lnTo>
                    <a:pt x="3750364" y="2425756"/>
                  </a:lnTo>
                  <a:lnTo>
                    <a:pt x="0" y="242575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C57152D2-5C5C-E07E-ED7E-FA5127227A6C}"/>
                </a:ext>
              </a:extLst>
            </p:cNvPr>
            <p:cNvSpPr>
              <a:spLocks/>
            </p:cNvSpPr>
            <p:nvPr/>
          </p:nvSpPr>
          <p:spPr>
            <a:xfrm rot="21506393">
              <a:off x="2336666" y="7074590"/>
              <a:ext cx="2388102" cy="410903"/>
            </a:xfrm>
            <a:custGeom>
              <a:avLst/>
              <a:gdLst>
                <a:gd name="connsiteX0" fmla="*/ 0 w 2388102"/>
                <a:gd name="connsiteY0" fmla="*/ 308566 h 410903"/>
                <a:gd name="connsiteX1" fmla="*/ 1411322 w 2388102"/>
                <a:gd name="connsiteY1" fmla="*/ 220226 h 410903"/>
                <a:gd name="connsiteX2" fmla="*/ 1410793 w 2388102"/>
                <a:gd name="connsiteY2" fmla="*/ 124709 h 410903"/>
                <a:gd name="connsiteX3" fmla="*/ 1374341 w 2388102"/>
                <a:gd name="connsiteY3" fmla="*/ 124709 h 410903"/>
                <a:gd name="connsiteX4" fmla="*/ 1316886 w 2388102"/>
                <a:gd name="connsiteY4" fmla="*/ 86625 h 410903"/>
                <a:gd name="connsiteX5" fmla="*/ 1311986 w 2388102"/>
                <a:gd name="connsiteY5" fmla="*/ 62354 h 410903"/>
                <a:gd name="connsiteX6" fmla="*/ 1330249 w 2388102"/>
                <a:gd name="connsiteY6" fmla="*/ 18264 h 410903"/>
                <a:gd name="connsiteX7" fmla="*/ 1374341 w 2388102"/>
                <a:gd name="connsiteY7" fmla="*/ 0 h 410903"/>
                <a:gd name="connsiteX8" fmla="*/ 1546111 w 2388102"/>
                <a:gd name="connsiteY8" fmla="*/ 0 h 410903"/>
                <a:gd name="connsiteX9" fmla="*/ 1608466 w 2388102"/>
                <a:gd name="connsiteY9" fmla="*/ 62355 h 410903"/>
                <a:gd name="connsiteX10" fmla="*/ 1608465 w 2388102"/>
                <a:gd name="connsiteY10" fmla="*/ 62355 h 410903"/>
                <a:gd name="connsiteX11" fmla="*/ 1546110 w 2388102"/>
                <a:gd name="connsiteY11" fmla="*/ 124710 h 410903"/>
                <a:gd name="connsiteX12" fmla="*/ 1507783 w 2388102"/>
                <a:gd name="connsiteY12" fmla="*/ 124710 h 410903"/>
                <a:gd name="connsiteX13" fmla="*/ 1508278 w 2388102"/>
                <a:gd name="connsiteY13" fmla="*/ 214157 h 410903"/>
                <a:gd name="connsiteX14" fmla="*/ 2052914 w 2388102"/>
                <a:gd name="connsiteY14" fmla="*/ 180067 h 410903"/>
                <a:gd name="connsiteX15" fmla="*/ 2388102 w 2388102"/>
                <a:gd name="connsiteY15" fmla="*/ 150514 h 410903"/>
                <a:gd name="connsiteX16" fmla="*/ 2049080 w 2388102"/>
                <a:gd name="connsiteY16" fmla="*/ 283574 h 410903"/>
                <a:gd name="connsiteX17" fmla="*/ 2048595 w 2388102"/>
                <a:gd name="connsiteY17" fmla="*/ 281343 h 410903"/>
                <a:gd name="connsiteX18" fmla="*/ 2043341 w 2388102"/>
                <a:gd name="connsiteY18" fmla="*/ 283405 h 410903"/>
                <a:gd name="connsiteX19" fmla="*/ 6406 w 2388102"/>
                <a:gd name="connsiteY19" fmla="*/ 410903 h 41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88102" h="410903">
                  <a:moveTo>
                    <a:pt x="0" y="308566"/>
                  </a:moveTo>
                  <a:lnTo>
                    <a:pt x="1411322" y="220226"/>
                  </a:lnTo>
                  <a:lnTo>
                    <a:pt x="1410793" y="124709"/>
                  </a:lnTo>
                  <a:lnTo>
                    <a:pt x="1374341" y="124709"/>
                  </a:lnTo>
                  <a:cubicBezTo>
                    <a:pt x="1348513" y="124709"/>
                    <a:pt x="1326352" y="109006"/>
                    <a:pt x="1316886" y="86625"/>
                  </a:cubicBezTo>
                  <a:lnTo>
                    <a:pt x="1311986" y="62354"/>
                  </a:lnTo>
                  <a:lnTo>
                    <a:pt x="1330249" y="18264"/>
                  </a:lnTo>
                  <a:cubicBezTo>
                    <a:pt x="1341533" y="6979"/>
                    <a:pt x="1357122" y="0"/>
                    <a:pt x="1374341" y="0"/>
                  </a:cubicBezTo>
                  <a:lnTo>
                    <a:pt x="1546111" y="0"/>
                  </a:lnTo>
                  <a:cubicBezTo>
                    <a:pt x="1580549" y="0"/>
                    <a:pt x="1608466" y="27917"/>
                    <a:pt x="1608466" y="62355"/>
                  </a:cubicBezTo>
                  <a:lnTo>
                    <a:pt x="1608465" y="62355"/>
                  </a:lnTo>
                  <a:cubicBezTo>
                    <a:pt x="1608465" y="96793"/>
                    <a:pt x="1580548" y="124710"/>
                    <a:pt x="1546110" y="124710"/>
                  </a:cubicBezTo>
                  <a:lnTo>
                    <a:pt x="1507783" y="124710"/>
                  </a:lnTo>
                  <a:lnTo>
                    <a:pt x="1508278" y="214157"/>
                  </a:lnTo>
                  <a:lnTo>
                    <a:pt x="2052914" y="180067"/>
                  </a:lnTo>
                  <a:lnTo>
                    <a:pt x="2388102" y="150514"/>
                  </a:lnTo>
                  <a:lnTo>
                    <a:pt x="2049080" y="283574"/>
                  </a:lnTo>
                  <a:lnTo>
                    <a:pt x="2048595" y="281343"/>
                  </a:lnTo>
                  <a:lnTo>
                    <a:pt x="2043341" y="283405"/>
                  </a:lnTo>
                  <a:lnTo>
                    <a:pt x="6406" y="4109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55C08436-1908-27AF-53F7-31BA78305900}"/>
                </a:ext>
              </a:extLst>
            </p:cNvPr>
            <p:cNvSpPr>
              <a:spLocks/>
            </p:cNvSpPr>
            <p:nvPr/>
          </p:nvSpPr>
          <p:spPr>
            <a:xfrm rot="10826393">
              <a:off x="2060203" y="7725617"/>
              <a:ext cx="411509" cy="2382571"/>
            </a:xfrm>
            <a:custGeom>
              <a:avLst/>
              <a:gdLst>
                <a:gd name="connsiteX0" fmla="*/ 411509 w 411509"/>
                <a:gd name="connsiteY0" fmla="*/ 2367059 h 2382571"/>
                <a:gd name="connsiteX1" fmla="*/ 310151 w 411509"/>
                <a:gd name="connsiteY1" fmla="*/ 2382571 h 2382571"/>
                <a:gd name="connsiteX2" fmla="*/ 1386 w 411509"/>
                <a:gd name="connsiteY2" fmla="*/ 365141 h 2382571"/>
                <a:gd name="connsiteX3" fmla="*/ 2283 w 411509"/>
                <a:gd name="connsiteY3" fmla="*/ 359569 h 2382571"/>
                <a:gd name="connsiteX4" fmla="*/ 0 w 411509"/>
                <a:gd name="connsiteY4" fmla="*/ 359569 h 2382571"/>
                <a:gd name="connsiteX5" fmla="*/ 57889 w 411509"/>
                <a:gd name="connsiteY5" fmla="*/ 0 h 2382571"/>
                <a:gd name="connsiteX6" fmla="*/ 100322 w 411509"/>
                <a:gd name="connsiteY6" fmla="*/ 333803 h 23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509" h="2382571">
                  <a:moveTo>
                    <a:pt x="411509" y="2367059"/>
                  </a:moveTo>
                  <a:lnTo>
                    <a:pt x="310151" y="2382571"/>
                  </a:lnTo>
                  <a:lnTo>
                    <a:pt x="1386" y="365141"/>
                  </a:lnTo>
                  <a:lnTo>
                    <a:pt x="2283" y="359569"/>
                  </a:lnTo>
                  <a:lnTo>
                    <a:pt x="0" y="359569"/>
                  </a:lnTo>
                  <a:lnTo>
                    <a:pt x="57889" y="0"/>
                  </a:lnTo>
                  <a:lnTo>
                    <a:pt x="100322" y="3338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2F611819-AB17-BECF-3048-56E4C0F7239C}"/>
                </a:ext>
              </a:extLst>
            </p:cNvPr>
            <p:cNvSpPr>
              <a:spLocks/>
            </p:cNvSpPr>
            <p:nvPr/>
          </p:nvSpPr>
          <p:spPr>
            <a:xfrm rot="18506393">
              <a:off x="1708869" y="6961196"/>
              <a:ext cx="555626" cy="868920"/>
            </a:xfrm>
            <a:custGeom>
              <a:avLst/>
              <a:gdLst>
                <a:gd name="connsiteX0" fmla="*/ 277813 w 555626"/>
                <a:gd name="connsiteY0" fmla="*/ 456623 h 868920"/>
                <a:gd name="connsiteX1" fmla="*/ 143329 w 555626"/>
                <a:gd name="connsiteY1" fmla="*/ 591107 h 868920"/>
                <a:gd name="connsiteX2" fmla="*/ 277813 w 555626"/>
                <a:gd name="connsiteY2" fmla="*/ 725591 h 868920"/>
                <a:gd name="connsiteX3" fmla="*/ 412297 w 555626"/>
                <a:gd name="connsiteY3" fmla="*/ 591107 h 868920"/>
                <a:gd name="connsiteX4" fmla="*/ 277813 w 555626"/>
                <a:gd name="connsiteY4" fmla="*/ 456623 h 868920"/>
                <a:gd name="connsiteX5" fmla="*/ 277813 w 555626"/>
                <a:gd name="connsiteY5" fmla="*/ 0 h 868920"/>
                <a:gd name="connsiteX6" fmla="*/ 332503 w 555626"/>
                <a:gd name="connsiteY6" fmla="*/ 54690 h 868920"/>
                <a:gd name="connsiteX7" fmla="*/ 332503 w 555626"/>
                <a:gd name="connsiteY7" fmla="*/ 324336 h 868920"/>
                <a:gd name="connsiteX8" fmla="*/ 385951 w 555626"/>
                <a:gd name="connsiteY8" fmla="*/ 335126 h 868920"/>
                <a:gd name="connsiteX9" fmla="*/ 555626 w 555626"/>
                <a:gd name="connsiteY9" fmla="*/ 591107 h 868920"/>
                <a:gd name="connsiteX10" fmla="*/ 277813 w 555626"/>
                <a:gd name="connsiteY10" fmla="*/ 868920 h 868920"/>
                <a:gd name="connsiteX11" fmla="*/ 0 w 555626"/>
                <a:gd name="connsiteY11" fmla="*/ 591107 h 868920"/>
                <a:gd name="connsiteX12" fmla="*/ 169676 w 555626"/>
                <a:gd name="connsiteY12" fmla="*/ 335126 h 868920"/>
                <a:gd name="connsiteX13" fmla="*/ 223123 w 555626"/>
                <a:gd name="connsiteY13" fmla="*/ 324336 h 868920"/>
                <a:gd name="connsiteX14" fmla="*/ 223123 w 555626"/>
                <a:gd name="connsiteY14" fmla="*/ 54690 h 868920"/>
                <a:gd name="connsiteX15" fmla="*/ 277813 w 555626"/>
                <a:gd name="connsiteY15" fmla="*/ 0 h 86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626" h="868920">
                  <a:moveTo>
                    <a:pt x="277813" y="456623"/>
                  </a:moveTo>
                  <a:cubicBezTo>
                    <a:pt x="203540" y="456623"/>
                    <a:pt x="143329" y="516834"/>
                    <a:pt x="143329" y="591107"/>
                  </a:cubicBezTo>
                  <a:cubicBezTo>
                    <a:pt x="143329" y="665380"/>
                    <a:pt x="203540" y="725591"/>
                    <a:pt x="277813" y="725591"/>
                  </a:cubicBezTo>
                  <a:cubicBezTo>
                    <a:pt x="352086" y="725591"/>
                    <a:pt x="412297" y="665380"/>
                    <a:pt x="412297" y="591107"/>
                  </a:cubicBezTo>
                  <a:cubicBezTo>
                    <a:pt x="412297" y="516834"/>
                    <a:pt x="352086" y="456623"/>
                    <a:pt x="277813" y="456623"/>
                  </a:cubicBezTo>
                  <a:close/>
                  <a:moveTo>
                    <a:pt x="277813" y="0"/>
                  </a:moveTo>
                  <a:cubicBezTo>
                    <a:pt x="308017" y="0"/>
                    <a:pt x="332503" y="24486"/>
                    <a:pt x="332503" y="54690"/>
                  </a:cubicBezTo>
                  <a:lnTo>
                    <a:pt x="332503" y="324336"/>
                  </a:lnTo>
                  <a:lnTo>
                    <a:pt x="385951" y="335126"/>
                  </a:lnTo>
                  <a:cubicBezTo>
                    <a:pt x="485662" y="377300"/>
                    <a:pt x="555626" y="476033"/>
                    <a:pt x="555626" y="591107"/>
                  </a:cubicBezTo>
                  <a:cubicBezTo>
                    <a:pt x="555626" y="744539"/>
                    <a:pt x="431245" y="868920"/>
                    <a:pt x="277813" y="868920"/>
                  </a:cubicBezTo>
                  <a:cubicBezTo>
                    <a:pt x="124381" y="868920"/>
                    <a:pt x="0" y="744539"/>
                    <a:pt x="0" y="591107"/>
                  </a:cubicBezTo>
                  <a:cubicBezTo>
                    <a:pt x="0" y="476033"/>
                    <a:pt x="69965" y="377300"/>
                    <a:pt x="169676" y="335126"/>
                  </a:cubicBezTo>
                  <a:lnTo>
                    <a:pt x="223123" y="324336"/>
                  </a:lnTo>
                  <a:lnTo>
                    <a:pt x="223123" y="54690"/>
                  </a:lnTo>
                  <a:cubicBezTo>
                    <a:pt x="223123" y="24486"/>
                    <a:pt x="247609" y="0"/>
                    <a:pt x="277813" y="0"/>
                  </a:cubicBezTo>
                  <a:close/>
                </a:path>
              </a:pathLst>
            </a:cu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E5F7FF5F-7E66-BD68-A8C0-1D77F1F2214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34DA73A-CC67-5854-23A9-CEFC8468430D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02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6600000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mediatriz de un segmento es la </a:t>
            </a:r>
            <a:r>
              <a:rPr lang="es-ES" sz="2000" b="1" dirty="0">
                <a:solidFill>
                  <a:srgbClr val="4E95D9"/>
                </a:solidFill>
              </a:rPr>
              <a:t>recta perpendicular al segmento en su punto medio. </a:t>
            </a:r>
            <a:r>
              <a:rPr lang="es-ES" sz="2000" b="1" dirty="0"/>
              <a:t>Los puntos de la mediatriz equidistan (están a igual distancia) de los extremos del segmento.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D882301-D846-C0B8-F5D2-A874FA4817A2}"/>
              </a:ext>
            </a:extLst>
          </p:cNvPr>
          <p:cNvCxnSpPr>
            <a:cxnSpLocks/>
          </p:cNvCxnSpPr>
          <p:nvPr/>
        </p:nvCxnSpPr>
        <p:spPr>
          <a:xfrm>
            <a:off x="4372974" y="4408177"/>
            <a:ext cx="351486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3EE5647-F894-46FF-6BF9-7056A7A4EAF7}"/>
              </a:ext>
            </a:extLst>
          </p:cNvPr>
          <p:cNvCxnSpPr>
            <a:cxnSpLocks/>
          </p:cNvCxnSpPr>
          <p:nvPr/>
        </p:nvCxnSpPr>
        <p:spPr>
          <a:xfrm>
            <a:off x="7888834" y="4193250"/>
            <a:ext cx="0" cy="43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AAC9BC4-56FE-4888-A976-05F52A5B75D1}"/>
              </a:ext>
            </a:extLst>
          </p:cNvPr>
          <p:cNvCxnSpPr>
            <a:cxnSpLocks/>
          </p:cNvCxnSpPr>
          <p:nvPr/>
        </p:nvCxnSpPr>
        <p:spPr>
          <a:xfrm>
            <a:off x="4371553" y="4145258"/>
            <a:ext cx="0" cy="43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2F31AD6-DDB6-148F-068C-D93E53DC9FB5}"/>
              </a:ext>
            </a:extLst>
          </p:cNvPr>
          <p:cNvSpPr txBox="1"/>
          <p:nvPr/>
        </p:nvSpPr>
        <p:spPr>
          <a:xfrm>
            <a:off x="3972533" y="4702184"/>
            <a:ext cx="771470" cy="33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EE88B8-D214-8313-5E63-648DED2592BD}"/>
              </a:ext>
            </a:extLst>
          </p:cNvPr>
          <p:cNvSpPr txBox="1"/>
          <p:nvPr/>
        </p:nvSpPr>
        <p:spPr>
          <a:xfrm>
            <a:off x="7502108" y="4702184"/>
            <a:ext cx="771470" cy="33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B</a:t>
            </a:r>
          </a:p>
        </p:txBody>
      </p:sp>
      <p:sp>
        <p:nvSpPr>
          <p:cNvPr id="15" name="!!Arco 180">
            <a:extLst>
              <a:ext uri="{FF2B5EF4-FFF2-40B4-BE49-F238E27FC236}">
                <a16:creationId xmlns:a16="http://schemas.microsoft.com/office/drawing/2014/main" id="{080D45B5-ED17-D9D5-8B84-62799DE196BC}"/>
              </a:ext>
            </a:extLst>
          </p:cNvPr>
          <p:cNvSpPr/>
          <p:nvPr/>
        </p:nvSpPr>
        <p:spPr>
          <a:xfrm>
            <a:off x="1937848" y="1995410"/>
            <a:ext cx="4805251" cy="4805252"/>
          </a:xfrm>
          <a:prstGeom prst="arc">
            <a:avLst>
              <a:gd name="adj1" fmla="val 18512808"/>
              <a:gd name="adj2" fmla="val 352463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9" name="!!Compas">
            <a:extLst>
              <a:ext uri="{FF2B5EF4-FFF2-40B4-BE49-F238E27FC236}">
                <a16:creationId xmlns:a16="http://schemas.microsoft.com/office/drawing/2014/main" id="{04315421-9AE9-DA58-C049-44849B5E581D}"/>
              </a:ext>
            </a:extLst>
          </p:cNvPr>
          <p:cNvGrpSpPr/>
          <p:nvPr/>
        </p:nvGrpSpPr>
        <p:grpSpPr>
          <a:xfrm flipH="1">
            <a:off x="6308225" y="1982629"/>
            <a:ext cx="3159236" cy="4824678"/>
            <a:chOff x="-54036" y="6349932"/>
            <a:chExt cx="4903200" cy="74880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0031F9EB-D3B8-DB4B-F9BB-5DDBC25BFF54}"/>
                </a:ext>
              </a:extLst>
            </p:cNvPr>
            <p:cNvSpPr/>
            <p:nvPr/>
          </p:nvSpPr>
          <p:spPr>
            <a:xfrm rot="18522477">
              <a:off x="-1346436" y="7642332"/>
              <a:ext cx="7488000" cy="4903200"/>
            </a:xfrm>
            <a:custGeom>
              <a:avLst/>
              <a:gdLst>
                <a:gd name="connsiteX0" fmla="*/ 0 w 7500728"/>
                <a:gd name="connsiteY0" fmla="*/ 2432736 h 4858492"/>
                <a:gd name="connsiteX1" fmla="*/ 3750364 w 7500728"/>
                <a:gd name="connsiteY1" fmla="*/ 2432736 h 4858492"/>
                <a:gd name="connsiteX2" fmla="*/ 7500728 w 7500728"/>
                <a:gd name="connsiteY2" fmla="*/ 2432736 h 4858492"/>
                <a:gd name="connsiteX3" fmla="*/ 7500728 w 7500728"/>
                <a:gd name="connsiteY3" fmla="*/ 4858492 h 4858492"/>
                <a:gd name="connsiteX4" fmla="*/ 3750364 w 7500728"/>
                <a:gd name="connsiteY4" fmla="*/ 4858492 h 4858492"/>
                <a:gd name="connsiteX5" fmla="*/ 0 w 7500728"/>
                <a:gd name="connsiteY5" fmla="*/ 4858492 h 4858492"/>
                <a:gd name="connsiteX6" fmla="*/ 0 w 7500728"/>
                <a:gd name="connsiteY6" fmla="*/ 0 h 4858492"/>
                <a:gd name="connsiteX7" fmla="*/ 3750364 w 7500728"/>
                <a:gd name="connsiteY7" fmla="*/ 0 h 4858492"/>
                <a:gd name="connsiteX8" fmla="*/ 7500728 w 7500728"/>
                <a:gd name="connsiteY8" fmla="*/ 0 h 4858492"/>
                <a:gd name="connsiteX9" fmla="*/ 7500728 w 7500728"/>
                <a:gd name="connsiteY9" fmla="*/ 2425756 h 4858492"/>
                <a:gd name="connsiteX10" fmla="*/ 3750364 w 7500728"/>
                <a:gd name="connsiteY10" fmla="*/ 2425756 h 4858492"/>
                <a:gd name="connsiteX11" fmla="*/ 0 w 7500728"/>
                <a:gd name="connsiteY11" fmla="*/ 2425756 h 485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00728" h="4858492">
                  <a:moveTo>
                    <a:pt x="0" y="2432736"/>
                  </a:moveTo>
                  <a:lnTo>
                    <a:pt x="3750364" y="2432736"/>
                  </a:lnTo>
                  <a:lnTo>
                    <a:pt x="7500728" y="2432736"/>
                  </a:lnTo>
                  <a:lnTo>
                    <a:pt x="7500728" y="4858492"/>
                  </a:lnTo>
                  <a:lnTo>
                    <a:pt x="3750364" y="4858492"/>
                  </a:lnTo>
                  <a:lnTo>
                    <a:pt x="0" y="4858492"/>
                  </a:lnTo>
                  <a:close/>
                  <a:moveTo>
                    <a:pt x="0" y="0"/>
                  </a:moveTo>
                  <a:lnTo>
                    <a:pt x="3750364" y="0"/>
                  </a:lnTo>
                  <a:lnTo>
                    <a:pt x="7500728" y="0"/>
                  </a:lnTo>
                  <a:lnTo>
                    <a:pt x="7500728" y="2425756"/>
                  </a:lnTo>
                  <a:lnTo>
                    <a:pt x="3750364" y="2425756"/>
                  </a:lnTo>
                  <a:lnTo>
                    <a:pt x="0" y="242575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C57152D2-5C5C-E07E-ED7E-FA5127227A6C}"/>
                </a:ext>
              </a:extLst>
            </p:cNvPr>
            <p:cNvSpPr>
              <a:spLocks/>
            </p:cNvSpPr>
            <p:nvPr/>
          </p:nvSpPr>
          <p:spPr>
            <a:xfrm rot="21506393">
              <a:off x="2336666" y="7074590"/>
              <a:ext cx="2388102" cy="410903"/>
            </a:xfrm>
            <a:custGeom>
              <a:avLst/>
              <a:gdLst>
                <a:gd name="connsiteX0" fmla="*/ 0 w 2388102"/>
                <a:gd name="connsiteY0" fmla="*/ 308566 h 410903"/>
                <a:gd name="connsiteX1" fmla="*/ 1411322 w 2388102"/>
                <a:gd name="connsiteY1" fmla="*/ 220226 h 410903"/>
                <a:gd name="connsiteX2" fmla="*/ 1410793 w 2388102"/>
                <a:gd name="connsiteY2" fmla="*/ 124709 h 410903"/>
                <a:gd name="connsiteX3" fmla="*/ 1374341 w 2388102"/>
                <a:gd name="connsiteY3" fmla="*/ 124709 h 410903"/>
                <a:gd name="connsiteX4" fmla="*/ 1316886 w 2388102"/>
                <a:gd name="connsiteY4" fmla="*/ 86625 h 410903"/>
                <a:gd name="connsiteX5" fmla="*/ 1311986 w 2388102"/>
                <a:gd name="connsiteY5" fmla="*/ 62354 h 410903"/>
                <a:gd name="connsiteX6" fmla="*/ 1330249 w 2388102"/>
                <a:gd name="connsiteY6" fmla="*/ 18264 h 410903"/>
                <a:gd name="connsiteX7" fmla="*/ 1374341 w 2388102"/>
                <a:gd name="connsiteY7" fmla="*/ 0 h 410903"/>
                <a:gd name="connsiteX8" fmla="*/ 1546111 w 2388102"/>
                <a:gd name="connsiteY8" fmla="*/ 0 h 410903"/>
                <a:gd name="connsiteX9" fmla="*/ 1608466 w 2388102"/>
                <a:gd name="connsiteY9" fmla="*/ 62355 h 410903"/>
                <a:gd name="connsiteX10" fmla="*/ 1608465 w 2388102"/>
                <a:gd name="connsiteY10" fmla="*/ 62355 h 410903"/>
                <a:gd name="connsiteX11" fmla="*/ 1546110 w 2388102"/>
                <a:gd name="connsiteY11" fmla="*/ 124710 h 410903"/>
                <a:gd name="connsiteX12" fmla="*/ 1507783 w 2388102"/>
                <a:gd name="connsiteY12" fmla="*/ 124710 h 410903"/>
                <a:gd name="connsiteX13" fmla="*/ 1508278 w 2388102"/>
                <a:gd name="connsiteY13" fmla="*/ 214157 h 410903"/>
                <a:gd name="connsiteX14" fmla="*/ 2052914 w 2388102"/>
                <a:gd name="connsiteY14" fmla="*/ 180067 h 410903"/>
                <a:gd name="connsiteX15" fmla="*/ 2388102 w 2388102"/>
                <a:gd name="connsiteY15" fmla="*/ 150514 h 410903"/>
                <a:gd name="connsiteX16" fmla="*/ 2049080 w 2388102"/>
                <a:gd name="connsiteY16" fmla="*/ 283574 h 410903"/>
                <a:gd name="connsiteX17" fmla="*/ 2048595 w 2388102"/>
                <a:gd name="connsiteY17" fmla="*/ 281343 h 410903"/>
                <a:gd name="connsiteX18" fmla="*/ 2043341 w 2388102"/>
                <a:gd name="connsiteY18" fmla="*/ 283405 h 410903"/>
                <a:gd name="connsiteX19" fmla="*/ 6406 w 2388102"/>
                <a:gd name="connsiteY19" fmla="*/ 410903 h 41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88102" h="410903">
                  <a:moveTo>
                    <a:pt x="0" y="308566"/>
                  </a:moveTo>
                  <a:lnTo>
                    <a:pt x="1411322" y="220226"/>
                  </a:lnTo>
                  <a:lnTo>
                    <a:pt x="1410793" y="124709"/>
                  </a:lnTo>
                  <a:lnTo>
                    <a:pt x="1374341" y="124709"/>
                  </a:lnTo>
                  <a:cubicBezTo>
                    <a:pt x="1348513" y="124709"/>
                    <a:pt x="1326352" y="109006"/>
                    <a:pt x="1316886" y="86625"/>
                  </a:cubicBezTo>
                  <a:lnTo>
                    <a:pt x="1311986" y="62354"/>
                  </a:lnTo>
                  <a:lnTo>
                    <a:pt x="1330249" y="18264"/>
                  </a:lnTo>
                  <a:cubicBezTo>
                    <a:pt x="1341533" y="6979"/>
                    <a:pt x="1357122" y="0"/>
                    <a:pt x="1374341" y="0"/>
                  </a:cubicBezTo>
                  <a:lnTo>
                    <a:pt x="1546111" y="0"/>
                  </a:lnTo>
                  <a:cubicBezTo>
                    <a:pt x="1580549" y="0"/>
                    <a:pt x="1608466" y="27917"/>
                    <a:pt x="1608466" y="62355"/>
                  </a:cubicBezTo>
                  <a:lnTo>
                    <a:pt x="1608465" y="62355"/>
                  </a:lnTo>
                  <a:cubicBezTo>
                    <a:pt x="1608465" y="96793"/>
                    <a:pt x="1580548" y="124710"/>
                    <a:pt x="1546110" y="124710"/>
                  </a:cubicBezTo>
                  <a:lnTo>
                    <a:pt x="1507783" y="124710"/>
                  </a:lnTo>
                  <a:lnTo>
                    <a:pt x="1508278" y="214157"/>
                  </a:lnTo>
                  <a:lnTo>
                    <a:pt x="2052914" y="180067"/>
                  </a:lnTo>
                  <a:lnTo>
                    <a:pt x="2388102" y="150514"/>
                  </a:lnTo>
                  <a:lnTo>
                    <a:pt x="2049080" y="283574"/>
                  </a:lnTo>
                  <a:lnTo>
                    <a:pt x="2048595" y="281343"/>
                  </a:lnTo>
                  <a:lnTo>
                    <a:pt x="2043341" y="283405"/>
                  </a:lnTo>
                  <a:lnTo>
                    <a:pt x="6406" y="4109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55C08436-1908-27AF-53F7-31BA78305900}"/>
                </a:ext>
              </a:extLst>
            </p:cNvPr>
            <p:cNvSpPr>
              <a:spLocks/>
            </p:cNvSpPr>
            <p:nvPr/>
          </p:nvSpPr>
          <p:spPr>
            <a:xfrm rot="10826393">
              <a:off x="2060203" y="7725617"/>
              <a:ext cx="411509" cy="2382571"/>
            </a:xfrm>
            <a:custGeom>
              <a:avLst/>
              <a:gdLst>
                <a:gd name="connsiteX0" fmla="*/ 411509 w 411509"/>
                <a:gd name="connsiteY0" fmla="*/ 2367059 h 2382571"/>
                <a:gd name="connsiteX1" fmla="*/ 310151 w 411509"/>
                <a:gd name="connsiteY1" fmla="*/ 2382571 h 2382571"/>
                <a:gd name="connsiteX2" fmla="*/ 1386 w 411509"/>
                <a:gd name="connsiteY2" fmla="*/ 365141 h 2382571"/>
                <a:gd name="connsiteX3" fmla="*/ 2283 w 411509"/>
                <a:gd name="connsiteY3" fmla="*/ 359569 h 2382571"/>
                <a:gd name="connsiteX4" fmla="*/ 0 w 411509"/>
                <a:gd name="connsiteY4" fmla="*/ 359569 h 2382571"/>
                <a:gd name="connsiteX5" fmla="*/ 57889 w 411509"/>
                <a:gd name="connsiteY5" fmla="*/ 0 h 2382571"/>
                <a:gd name="connsiteX6" fmla="*/ 100322 w 411509"/>
                <a:gd name="connsiteY6" fmla="*/ 333803 h 23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509" h="2382571">
                  <a:moveTo>
                    <a:pt x="411509" y="2367059"/>
                  </a:moveTo>
                  <a:lnTo>
                    <a:pt x="310151" y="2382571"/>
                  </a:lnTo>
                  <a:lnTo>
                    <a:pt x="1386" y="365141"/>
                  </a:lnTo>
                  <a:lnTo>
                    <a:pt x="2283" y="359569"/>
                  </a:lnTo>
                  <a:lnTo>
                    <a:pt x="0" y="359569"/>
                  </a:lnTo>
                  <a:lnTo>
                    <a:pt x="57889" y="0"/>
                  </a:lnTo>
                  <a:lnTo>
                    <a:pt x="100322" y="3338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2F611819-AB17-BECF-3048-56E4C0F7239C}"/>
                </a:ext>
              </a:extLst>
            </p:cNvPr>
            <p:cNvSpPr>
              <a:spLocks/>
            </p:cNvSpPr>
            <p:nvPr/>
          </p:nvSpPr>
          <p:spPr>
            <a:xfrm rot="18506393">
              <a:off x="1708869" y="6961196"/>
              <a:ext cx="555626" cy="868920"/>
            </a:xfrm>
            <a:custGeom>
              <a:avLst/>
              <a:gdLst>
                <a:gd name="connsiteX0" fmla="*/ 277813 w 555626"/>
                <a:gd name="connsiteY0" fmla="*/ 456623 h 868920"/>
                <a:gd name="connsiteX1" fmla="*/ 143329 w 555626"/>
                <a:gd name="connsiteY1" fmla="*/ 591107 h 868920"/>
                <a:gd name="connsiteX2" fmla="*/ 277813 w 555626"/>
                <a:gd name="connsiteY2" fmla="*/ 725591 h 868920"/>
                <a:gd name="connsiteX3" fmla="*/ 412297 w 555626"/>
                <a:gd name="connsiteY3" fmla="*/ 591107 h 868920"/>
                <a:gd name="connsiteX4" fmla="*/ 277813 w 555626"/>
                <a:gd name="connsiteY4" fmla="*/ 456623 h 868920"/>
                <a:gd name="connsiteX5" fmla="*/ 277813 w 555626"/>
                <a:gd name="connsiteY5" fmla="*/ 0 h 868920"/>
                <a:gd name="connsiteX6" fmla="*/ 332503 w 555626"/>
                <a:gd name="connsiteY6" fmla="*/ 54690 h 868920"/>
                <a:gd name="connsiteX7" fmla="*/ 332503 w 555626"/>
                <a:gd name="connsiteY7" fmla="*/ 324336 h 868920"/>
                <a:gd name="connsiteX8" fmla="*/ 385951 w 555626"/>
                <a:gd name="connsiteY8" fmla="*/ 335126 h 868920"/>
                <a:gd name="connsiteX9" fmla="*/ 555626 w 555626"/>
                <a:gd name="connsiteY9" fmla="*/ 591107 h 868920"/>
                <a:gd name="connsiteX10" fmla="*/ 277813 w 555626"/>
                <a:gd name="connsiteY10" fmla="*/ 868920 h 868920"/>
                <a:gd name="connsiteX11" fmla="*/ 0 w 555626"/>
                <a:gd name="connsiteY11" fmla="*/ 591107 h 868920"/>
                <a:gd name="connsiteX12" fmla="*/ 169676 w 555626"/>
                <a:gd name="connsiteY12" fmla="*/ 335126 h 868920"/>
                <a:gd name="connsiteX13" fmla="*/ 223123 w 555626"/>
                <a:gd name="connsiteY13" fmla="*/ 324336 h 868920"/>
                <a:gd name="connsiteX14" fmla="*/ 223123 w 555626"/>
                <a:gd name="connsiteY14" fmla="*/ 54690 h 868920"/>
                <a:gd name="connsiteX15" fmla="*/ 277813 w 555626"/>
                <a:gd name="connsiteY15" fmla="*/ 0 h 86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626" h="868920">
                  <a:moveTo>
                    <a:pt x="277813" y="456623"/>
                  </a:moveTo>
                  <a:cubicBezTo>
                    <a:pt x="203540" y="456623"/>
                    <a:pt x="143329" y="516834"/>
                    <a:pt x="143329" y="591107"/>
                  </a:cubicBezTo>
                  <a:cubicBezTo>
                    <a:pt x="143329" y="665380"/>
                    <a:pt x="203540" y="725591"/>
                    <a:pt x="277813" y="725591"/>
                  </a:cubicBezTo>
                  <a:cubicBezTo>
                    <a:pt x="352086" y="725591"/>
                    <a:pt x="412297" y="665380"/>
                    <a:pt x="412297" y="591107"/>
                  </a:cubicBezTo>
                  <a:cubicBezTo>
                    <a:pt x="412297" y="516834"/>
                    <a:pt x="352086" y="456623"/>
                    <a:pt x="277813" y="456623"/>
                  </a:cubicBezTo>
                  <a:close/>
                  <a:moveTo>
                    <a:pt x="277813" y="0"/>
                  </a:moveTo>
                  <a:cubicBezTo>
                    <a:pt x="308017" y="0"/>
                    <a:pt x="332503" y="24486"/>
                    <a:pt x="332503" y="54690"/>
                  </a:cubicBezTo>
                  <a:lnTo>
                    <a:pt x="332503" y="324336"/>
                  </a:lnTo>
                  <a:lnTo>
                    <a:pt x="385951" y="335126"/>
                  </a:lnTo>
                  <a:cubicBezTo>
                    <a:pt x="485662" y="377300"/>
                    <a:pt x="555626" y="476033"/>
                    <a:pt x="555626" y="591107"/>
                  </a:cubicBezTo>
                  <a:cubicBezTo>
                    <a:pt x="555626" y="744539"/>
                    <a:pt x="431245" y="868920"/>
                    <a:pt x="277813" y="868920"/>
                  </a:cubicBezTo>
                  <a:cubicBezTo>
                    <a:pt x="124381" y="868920"/>
                    <a:pt x="0" y="744539"/>
                    <a:pt x="0" y="591107"/>
                  </a:cubicBezTo>
                  <a:cubicBezTo>
                    <a:pt x="0" y="476033"/>
                    <a:pt x="69965" y="377300"/>
                    <a:pt x="169676" y="335126"/>
                  </a:cubicBezTo>
                  <a:lnTo>
                    <a:pt x="223123" y="324336"/>
                  </a:lnTo>
                  <a:lnTo>
                    <a:pt x="223123" y="54690"/>
                  </a:lnTo>
                  <a:cubicBezTo>
                    <a:pt x="223123" y="24486"/>
                    <a:pt x="247609" y="0"/>
                    <a:pt x="277813" y="0"/>
                  </a:cubicBezTo>
                  <a:close/>
                </a:path>
              </a:pathLst>
            </a:cu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!!Arco 180">
            <a:extLst>
              <a:ext uri="{FF2B5EF4-FFF2-40B4-BE49-F238E27FC236}">
                <a16:creationId xmlns:a16="http://schemas.microsoft.com/office/drawing/2014/main" id="{8AC277A1-C3F8-4F38-780C-57D020FFE647}"/>
              </a:ext>
            </a:extLst>
          </p:cNvPr>
          <p:cNvSpPr/>
          <p:nvPr/>
        </p:nvSpPr>
        <p:spPr>
          <a:xfrm flipH="1">
            <a:off x="5485713" y="2010360"/>
            <a:ext cx="4805251" cy="4805252"/>
          </a:xfrm>
          <a:prstGeom prst="arc">
            <a:avLst>
              <a:gd name="adj1" fmla="val 18512808"/>
              <a:gd name="adj2" fmla="val 352463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2FCF032-2482-2DD9-5EF2-EB1592DD840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8B57DD-51F9-12BA-7CD0-B0761F15E9EC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680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6600000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mediatriz de un segmento es la </a:t>
            </a:r>
            <a:r>
              <a:rPr lang="es-ES" sz="2000" b="1" dirty="0">
                <a:solidFill>
                  <a:srgbClr val="4E95D9"/>
                </a:solidFill>
              </a:rPr>
              <a:t>recta perpendicular al segmento en su punto medio. </a:t>
            </a:r>
            <a:r>
              <a:rPr lang="es-ES" sz="2000" b="1" dirty="0"/>
              <a:t>Los puntos de la mediatriz equidistan (están a igual distancia) de los extremos del segmento.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D882301-D846-C0B8-F5D2-A874FA4817A2}"/>
              </a:ext>
            </a:extLst>
          </p:cNvPr>
          <p:cNvCxnSpPr>
            <a:cxnSpLocks/>
          </p:cNvCxnSpPr>
          <p:nvPr/>
        </p:nvCxnSpPr>
        <p:spPr>
          <a:xfrm>
            <a:off x="4372974" y="4408177"/>
            <a:ext cx="351486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3EE5647-F894-46FF-6BF9-7056A7A4EAF7}"/>
              </a:ext>
            </a:extLst>
          </p:cNvPr>
          <p:cNvCxnSpPr>
            <a:cxnSpLocks/>
          </p:cNvCxnSpPr>
          <p:nvPr/>
        </p:nvCxnSpPr>
        <p:spPr>
          <a:xfrm>
            <a:off x="7888834" y="4193250"/>
            <a:ext cx="0" cy="43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AAC9BC4-56FE-4888-A976-05F52A5B75D1}"/>
              </a:ext>
            </a:extLst>
          </p:cNvPr>
          <p:cNvCxnSpPr>
            <a:cxnSpLocks/>
          </p:cNvCxnSpPr>
          <p:nvPr/>
        </p:nvCxnSpPr>
        <p:spPr>
          <a:xfrm>
            <a:off x="4371553" y="4145258"/>
            <a:ext cx="0" cy="43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2F31AD6-DDB6-148F-068C-D93E53DC9FB5}"/>
              </a:ext>
            </a:extLst>
          </p:cNvPr>
          <p:cNvSpPr txBox="1"/>
          <p:nvPr/>
        </p:nvSpPr>
        <p:spPr>
          <a:xfrm>
            <a:off x="3972533" y="4702184"/>
            <a:ext cx="771470" cy="33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EE88B8-D214-8313-5E63-648DED2592BD}"/>
              </a:ext>
            </a:extLst>
          </p:cNvPr>
          <p:cNvSpPr txBox="1"/>
          <p:nvPr/>
        </p:nvSpPr>
        <p:spPr>
          <a:xfrm>
            <a:off x="7502108" y="4702184"/>
            <a:ext cx="771470" cy="33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B</a:t>
            </a:r>
          </a:p>
        </p:txBody>
      </p:sp>
      <p:sp>
        <p:nvSpPr>
          <p:cNvPr id="15" name="!!Arco 180">
            <a:extLst>
              <a:ext uri="{FF2B5EF4-FFF2-40B4-BE49-F238E27FC236}">
                <a16:creationId xmlns:a16="http://schemas.microsoft.com/office/drawing/2014/main" id="{080D45B5-ED17-D9D5-8B84-62799DE196BC}"/>
              </a:ext>
            </a:extLst>
          </p:cNvPr>
          <p:cNvSpPr/>
          <p:nvPr/>
        </p:nvSpPr>
        <p:spPr>
          <a:xfrm>
            <a:off x="1946116" y="2000787"/>
            <a:ext cx="4805251" cy="4805252"/>
          </a:xfrm>
          <a:prstGeom prst="arc">
            <a:avLst>
              <a:gd name="adj1" fmla="val 18512808"/>
              <a:gd name="adj2" fmla="val 352463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!!Arco 180">
            <a:extLst>
              <a:ext uri="{FF2B5EF4-FFF2-40B4-BE49-F238E27FC236}">
                <a16:creationId xmlns:a16="http://schemas.microsoft.com/office/drawing/2014/main" id="{8AC277A1-C3F8-4F38-780C-57D020FFE647}"/>
              </a:ext>
            </a:extLst>
          </p:cNvPr>
          <p:cNvSpPr/>
          <p:nvPr/>
        </p:nvSpPr>
        <p:spPr>
          <a:xfrm flipH="1">
            <a:off x="5485713" y="2005597"/>
            <a:ext cx="4805251" cy="4805252"/>
          </a:xfrm>
          <a:prstGeom prst="arc">
            <a:avLst>
              <a:gd name="adj1" fmla="val 18512808"/>
              <a:gd name="adj2" fmla="val 352463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D4F7542-84A9-3A7B-1647-218DB1DF3CD8}"/>
              </a:ext>
            </a:extLst>
          </p:cNvPr>
          <p:cNvCxnSpPr>
            <a:cxnSpLocks/>
          </p:cNvCxnSpPr>
          <p:nvPr/>
        </p:nvCxnSpPr>
        <p:spPr>
          <a:xfrm>
            <a:off x="6118543" y="2297901"/>
            <a:ext cx="0" cy="4220551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C914DD6-6448-C341-FA22-9A43B2282CE4}"/>
              </a:ext>
            </a:extLst>
          </p:cNvPr>
          <p:cNvSpPr/>
          <p:nvPr/>
        </p:nvSpPr>
        <p:spPr>
          <a:xfrm rot="5400000">
            <a:off x="2584403" y="4641709"/>
            <a:ext cx="6227999" cy="795194"/>
          </a:xfrm>
          <a:prstGeom prst="rect">
            <a:avLst/>
          </a:prstGeom>
          <a:solidFill>
            <a:srgbClr val="196B24">
              <a:lumMod val="60000"/>
              <a:lumOff val="40000"/>
              <a:alpha val="54000"/>
            </a:srgbClr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1F29AA8-BDA2-CB6D-652F-33D2E0ACC70E}"/>
              </a:ext>
            </a:extLst>
          </p:cNvPr>
          <p:cNvSpPr txBox="1"/>
          <p:nvPr/>
        </p:nvSpPr>
        <p:spPr>
          <a:xfrm>
            <a:off x="5738937" y="2029328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1493ECF-BBE1-7EB3-86F8-BE8A08CE1D9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A5E492-CF1C-20EA-E264-6FE2DC1168AA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919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bisectriz de un ángulo es una </a:t>
            </a:r>
            <a:r>
              <a:rPr lang="es-ES" sz="2000" b="1" dirty="0">
                <a:solidFill>
                  <a:srgbClr val="4E95D9"/>
                </a:solidFill>
              </a:rPr>
              <a:t>semirrecta que divide al ángulo en otros dos ángulos iguales. </a:t>
            </a:r>
            <a:r>
              <a:rPr lang="es-ES" sz="2000" b="1" dirty="0"/>
              <a:t>Los puntos de la bisectriz equidistan (están a igual distancia) de los lados del ángulo.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354C849-3730-2642-7DFA-5F9EFAA1F07F}"/>
                  </a:ext>
                </a:extLst>
              </p:cNvPr>
              <p:cNvSpPr txBox="1"/>
              <p:nvPr/>
            </p:nvSpPr>
            <p:spPr>
              <a:xfrm>
                <a:off x="7674282" y="3233164"/>
                <a:ext cx="2102143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𝑷𝑹</m:t>
                          </m:r>
                        </m:e>
                      </m:acc>
                      <m:r>
                        <a:rPr lang="es-E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E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354C849-3730-2642-7DFA-5F9EFAA1F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282" y="3233164"/>
                <a:ext cx="2102143" cy="462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695C547-E700-C6B6-6C96-C2ACC0064EAE}"/>
                  </a:ext>
                </a:extLst>
              </p:cNvPr>
              <p:cNvSpPr txBox="1"/>
              <p:nvPr/>
            </p:nvSpPr>
            <p:spPr>
              <a:xfrm>
                <a:off x="7674282" y="3812541"/>
                <a:ext cx="2102143" cy="46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sSup>
                            <m:sSupPr>
                              <m:ctrlPr>
                                <a:rPr lang="es-E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s-E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s-E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E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sSup>
                            <m:sSupPr>
                              <m:ctrlPr>
                                <a:rPr lang="es-E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dirty="0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es-ES" sz="2400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695C547-E700-C6B6-6C96-C2ACC0064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282" y="3812541"/>
                <a:ext cx="2102143" cy="463588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o 6">
            <a:extLst>
              <a:ext uri="{FF2B5EF4-FFF2-40B4-BE49-F238E27FC236}">
                <a16:creationId xmlns:a16="http://schemas.microsoft.com/office/drawing/2014/main" id="{1B630433-E469-B894-9D05-F7C11783832B}"/>
              </a:ext>
            </a:extLst>
          </p:cNvPr>
          <p:cNvGrpSpPr/>
          <p:nvPr/>
        </p:nvGrpSpPr>
        <p:grpSpPr>
          <a:xfrm>
            <a:off x="4073327" y="5410543"/>
            <a:ext cx="109794" cy="117885"/>
            <a:chOff x="5033699" y="7141369"/>
            <a:chExt cx="109794" cy="1178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06E3016-60FA-9A6F-ABF8-916F8E8393BE}"/>
                </a:ext>
              </a:extLst>
            </p:cNvPr>
            <p:cNvSpPr/>
            <p:nvPr/>
          </p:nvSpPr>
          <p:spPr>
            <a:xfrm>
              <a:off x="5033699" y="7141369"/>
              <a:ext cx="109794" cy="1178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3BB5C1E1-9EE7-ADF9-D777-3EE54A2227D2}"/>
                </a:ext>
              </a:extLst>
            </p:cNvPr>
            <p:cNvSpPr/>
            <p:nvPr/>
          </p:nvSpPr>
          <p:spPr>
            <a:xfrm>
              <a:off x="5065737" y="717745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09B9256-3C24-1D71-BE67-0395544086E7}"/>
              </a:ext>
            </a:extLst>
          </p:cNvPr>
          <p:cNvSpPr txBox="1"/>
          <p:nvPr/>
        </p:nvSpPr>
        <p:spPr>
          <a:xfrm>
            <a:off x="4059483" y="2471903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A8005EB-0B1B-D0FA-E5D5-F7677E7A2490}"/>
              </a:ext>
            </a:extLst>
          </p:cNvPr>
          <p:cNvSpPr txBox="1"/>
          <p:nvPr/>
        </p:nvSpPr>
        <p:spPr>
          <a:xfrm>
            <a:off x="3449020" y="4557048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60º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CB963225-891F-2CC7-ECCF-38FC9275507A}"/>
              </a:ext>
            </a:extLst>
          </p:cNvPr>
          <p:cNvGrpSpPr/>
          <p:nvPr/>
        </p:nvGrpSpPr>
        <p:grpSpPr>
          <a:xfrm rot="1779390">
            <a:off x="3390459" y="4440044"/>
            <a:ext cx="109794" cy="117885"/>
            <a:chOff x="5033699" y="7141369"/>
            <a:chExt cx="109794" cy="117885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DC53B7FC-BEED-FE73-0432-0A312D7F25E8}"/>
                </a:ext>
              </a:extLst>
            </p:cNvPr>
            <p:cNvSpPr/>
            <p:nvPr/>
          </p:nvSpPr>
          <p:spPr>
            <a:xfrm>
              <a:off x="5033699" y="7141369"/>
              <a:ext cx="109794" cy="1178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A6ED4EF5-0946-040B-52C3-D99DB4721144}"/>
                </a:ext>
              </a:extLst>
            </p:cNvPr>
            <p:cNvSpPr/>
            <p:nvPr/>
          </p:nvSpPr>
          <p:spPr>
            <a:xfrm>
              <a:off x="5065737" y="717745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7532E98-0AF0-2E9F-5E02-E7BFE4EE96FD}"/>
              </a:ext>
            </a:extLst>
          </p:cNvPr>
          <p:cNvSpPr txBox="1"/>
          <p:nvPr/>
        </p:nvSpPr>
        <p:spPr>
          <a:xfrm>
            <a:off x="6146828" y="5521031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s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A860741-D552-D1F9-CF04-FACDF5E0ECB9}"/>
              </a:ext>
            </a:extLst>
          </p:cNvPr>
          <p:cNvCxnSpPr>
            <a:cxnSpLocks/>
          </p:cNvCxnSpPr>
          <p:nvPr/>
        </p:nvCxnSpPr>
        <p:spPr>
          <a:xfrm flipH="1" flipV="1">
            <a:off x="3418780" y="4411489"/>
            <a:ext cx="753023" cy="41612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32C42C2-B303-5CDD-783C-1787466EE157}"/>
              </a:ext>
            </a:extLst>
          </p:cNvPr>
          <p:cNvSpPr txBox="1"/>
          <p:nvPr/>
        </p:nvSpPr>
        <p:spPr>
          <a:xfrm>
            <a:off x="2626156" y="4057636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5670F7E-DFB3-0BA8-5C98-BC6D17EA712A}"/>
              </a:ext>
            </a:extLst>
          </p:cNvPr>
          <p:cNvSpPr txBox="1"/>
          <p:nvPr/>
        </p:nvSpPr>
        <p:spPr>
          <a:xfrm>
            <a:off x="3469471" y="5510075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7D741CA-B058-1E32-F2F5-A6BAADB105AB}"/>
              </a:ext>
            </a:extLst>
          </p:cNvPr>
          <p:cNvSpPr txBox="1"/>
          <p:nvPr/>
        </p:nvSpPr>
        <p:spPr>
          <a:xfrm>
            <a:off x="3197092" y="3041484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R</a:t>
            </a:r>
            <a:r>
              <a:rPr lang="es-ES" sz="2400" b="1" dirty="0">
                <a:latin typeface="Agency FB" panose="020B0503020202020204" pitchFamily="34" charset="0"/>
              </a:rPr>
              <a:t>’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0BF27A9-AFE5-76FE-1D2B-487D051E8036}"/>
              </a:ext>
            </a:extLst>
          </p:cNvPr>
          <p:cNvGrpSpPr/>
          <p:nvPr/>
        </p:nvGrpSpPr>
        <p:grpSpPr>
          <a:xfrm rot="1779390">
            <a:off x="3877497" y="3584146"/>
            <a:ext cx="109794" cy="117885"/>
            <a:chOff x="5033699" y="7141369"/>
            <a:chExt cx="109794" cy="117885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1B755010-5249-20A7-DFA0-565E1EF392EA}"/>
                </a:ext>
              </a:extLst>
            </p:cNvPr>
            <p:cNvSpPr/>
            <p:nvPr/>
          </p:nvSpPr>
          <p:spPr>
            <a:xfrm>
              <a:off x="5033699" y="7141369"/>
              <a:ext cx="109794" cy="1178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6885ED38-09FD-A849-7138-00A821E51FA5}"/>
                </a:ext>
              </a:extLst>
            </p:cNvPr>
            <p:cNvSpPr/>
            <p:nvPr/>
          </p:nvSpPr>
          <p:spPr>
            <a:xfrm>
              <a:off x="5065737" y="717745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88B71B2-ECAE-23AE-2276-17E18B61E1A6}"/>
              </a:ext>
            </a:extLst>
          </p:cNvPr>
          <p:cNvSpPr txBox="1"/>
          <p:nvPr/>
        </p:nvSpPr>
        <p:spPr>
          <a:xfrm>
            <a:off x="5497331" y="3116912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39EC0FA-5C9C-9BA9-D94E-DA865251F074}"/>
              </a:ext>
            </a:extLst>
          </p:cNvPr>
          <p:cNvCxnSpPr>
            <a:cxnSpLocks/>
          </p:cNvCxnSpPr>
          <p:nvPr/>
        </p:nvCxnSpPr>
        <p:spPr>
          <a:xfrm flipH="1" flipV="1">
            <a:off x="3907427" y="3553461"/>
            <a:ext cx="1320806" cy="755362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upo 43">
            <a:extLst>
              <a:ext uri="{FF2B5EF4-FFF2-40B4-BE49-F238E27FC236}">
                <a16:creationId xmlns:a16="http://schemas.microsoft.com/office/drawing/2014/main" id="{C7390764-8234-4B1E-D25B-08CB5BFDC4E9}"/>
              </a:ext>
            </a:extLst>
          </p:cNvPr>
          <p:cNvGrpSpPr/>
          <p:nvPr/>
        </p:nvGrpSpPr>
        <p:grpSpPr>
          <a:xfrm>
            <a:off x="5046373" y="5409735"/>
            <a:ext cx="109794" cy="117885"/>
            <a:chOff x="5033699" y="7141369"/>
            <a:chExt cx="109794" cy="117885"/>
          </a:xfrm>
        </p:grpSpPr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D6DA9F5A-59BB-B972-9901-A680A3D75924}"/>
                </a:ext>
              </a:extLst>
            </p:cNvPr>
            <p:cNvSpPr/>
            <p:nvPr/>
          </p:nvSpPr>
          <p:spPr>
            <a:xfrm>
              <a:off x="5033699" y="7141369"/>
              <a:ext cx="109794" cy="1178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74ECCFEC-9A58-67B4-15DD-A42ED07DB4A1}"/>
                </a:ext>
              </a:extLst>
            </p:cNvPr>
            <p:cNvSpPr/>
            <p:nvPr/>
          </p:nvSpPr>
          <p:spPr>
            <a:xfrm>
              <a:off x="5065737" y="717745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47" name="Arco 46">
            <a:extLst>
              <a:ext uri="{FF2B5EF4-FFF2-40B4-BE49-F238E27FC236}">
                <a16:creationId xmlns:a16="http://schemas.microsoft.com/office/drawing/2014/main" id="{E30D085F-61E0-6B1C-89FC-A83138926474}"/>
              </a:ext>
            </a:extLst>
          </p:cNvPr>
          <p:cNvSpPr/>
          <p:nvPr/>
        </p:nvSpPr>
        <p:spPr>
          <a:xfrm>
            <a:off x="1767933" y="4412709"/>
            <a:ext cx="2210850" cy="2210850"/>
          </a:xfrm>
          <a:prstGeom prst="arc">
            <a:avLst>
              <a:gd name="adj1" fmla="val 17745307"/>
              <a:gd name="adj2" fmla="val 0"/>
            </a:avLst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BC4850D9-C88E-78FE-B2DE-D4A1BCEB5FB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4068140" y="4631505"/>
            <a:ext cx="0" cy="87857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DCCC9BD4-4963-8CA6-8C2B-378188F916E5}"/>
              </a:ext>
            </a:extLst>
          </p:cNvPr>
          <p:cNvCxnSpPr>
            <a:cxnSpLocks/>
          </p:cNvCxnSpPr>
          <p:nvPr/>
        </p:nvCxnSpPr>
        <p:spPr>
          <a:xfrm flipV="1">
            <a:off x="5046373" y="4054376"/>
            <a:ext cx="0" cy="1474052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6F953B55-5A0D-B918-E388-FDB16DC5BA25}"/>
              </a:ext>
            </a:extLst>
          </p:cNvPr>
          <p:cNvCxnSpPr>
            <a:cxnSpLocks/>
          </p:cNvCxnSpPr>
          <p:nvPr/>
        </p:nvCxnSpPr>
        <p:spPr>
          <a:xfrm flipH="1">
            <a:off x="2789492" y="3552446"/>
            <a:ext cx="3410438" cy="1965688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F325B087-5660-C560-E56E-AA7D505B771A}"/>
              </a:ext>
            </a:extLst>
          </p:cNvPr>
          <p:cNvCxnSpPr>
            <a:cxnSpLocks/>
          </p:cNvCxnSpPr>
          <p:nvPr/>
        </p:nvCxnSpPr>
        <p:spPr>
          <a:xfrm>
            <a:off x="2760082" y="5528428"/>
            <a:ext cx="41181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EB1DB45-A078-2290-B576-0DBD4E7E098A}"/>
              </a:ext>
            </a:extLst>
          </p:cNvPr>
          <p:cNvCxnSpPr>
            <a:cxnSpLocks/>
          </p:cNvCxnSpPr>
          <p:nvPr/>
        </p:nvCxnSpPr>
        <p:spPr>
          <a:xfrm flipV="1">
            <a:off x="2775957" y="2592994"/>
            <a:ext cx="1691687" cy="2929285"/>
          </a:xfrm>
          <a:prstGeom prst="line">
            <a:avLst/>
          </a:prstGeom>
          <a:ln w="28575">
            <a:solidFill>
              <a:schemeClr val="tx1"/>
            </a:solidFill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3AFFBA6D-833B-74CF-7CEA-F86F83E88C57}"/>
              </a:ext>
            </a:extLst>
          </p:cNvPr>
          <p:cNvSpPr txBox="1"/>
          <p:nvPr/>
        </p:nvSpPr>
        <p:spPr>
          <a:xfrm>
            <a:off x="4466187" y="5510075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S</a:t>
            </a:r>
            <a:r>
              <a:rPr lang="es-ES" sz="2400" b="1" dirty="0">
                <a:latin typeface="Agency FB" panose="020B0503020202020204" pitchFamily="34" charset="0"/>
              </a:rPr>
              <a:t>’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58A203A-3BF4-4064-2095-F109C5FA2A24}"/>
              </a:ext>
            </a:extLst>
          </p:cNvPr>
          <p:cNvSpPr txBox="1"/>
          <p:nvPr/>
        </p:nvSpPr>
        <p:spPr>
          <a:xfrm>
            <a:off x="3597494" y="4230824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P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F4D4444-2ECE-067E-7353-6D33515C0731}"/>
              </a:ext>
            </a:extLst>
          </p:cNvPr>
          <p:cNvSpPr txBox="1"/>
          <p:nvPr/>
        </p:nvSpPr>
        <p:spPr>
          <a:xfrm>
            <a:off x="4525461" y="3573193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Q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9139C9-BD28-6A85-7911-586901D589B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49EEEC-A5D7-4EF2-37E0-7EC02CDFEF2D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306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000"/>
                            </p:stCondLst>
                            <p:childTnLst>
                              <p:par>
                                <p:cTn id="1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6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80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15" grpId="0"/>
      <p:bldP spid="19" grpId="0"/>
      <p:bldP spid="19" grpId="1"/>
      <p:bldP spid="23" grpId="0"/>
      <p:bldP spid="26" grpId="0"/>
      <p:bldP spid="27" grpId="0"/>
      <p:bldP spid="28" grpId="0"/>
      <p:bldP spid="35" grpId="0"/>
      <p:bldP spid="47" grpId="0" animBg="1"/>
      <p:bldP spid="47" grpId="1" animBg="1"/>
      <p:bldP spid="53" grpId="0"/>
      <p:bldP spid="54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bisectriz de un ángulo es una </a:t>
            </a:r>
            <a:r>
              <a:rPr lang="es-ES" sz="2000" b="1" dirty="0">
                <a:solidFill>
                  <a:srgbClr val="4E95D9"/>
                </a:solidFill>
              </a:rPr>
              <a:t>semirrecta que divide al ángulo en otros dos ángulos iguales. </a:t>
            </a:r>
            <a:r>
              <a:rPr lang="es-ES" sz="2000" b="1" dirty="0"/>
              <a:t>Los puntos de la bisectriz equidistan (están a igual distancia) de los lados del ángulo.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354C849-3730-2642-7DFA-5F9EFAA1F07F}"/>
                  </a:ext>
                </a:extLst>
              </p:cNvPr>
              <p:cNvSpPr txBox="1"/>
              <p:nvPr/>
            </p:nvSpPr>
            <p:spPr>
              <a:xfrm>
                <a:off x="7674282" y="3233164"/>
                <a:ext cx="2102143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𝑷𝑹</m:t>
                          </m:r>
                        </m:e>
                      </m:acc>
                      <m:r>
                        <a:rPr lang="es-E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E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354C849-3730-2642-7DFA-5F9EFAA1F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282" y="3233164"/>
                <a:ext cx="2102143" cy="462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695C547-E700-C6B6-6C96-C2ACC0064EAE}"/>
                  </a:ext>
                </a:extLst>
              </p:cNvPr>
              <p:cNvSpPr txBox="1"/>
              <p:nvPr/>
            </p:nvSpPr>
            <p:spPr>
              <a:xfrm>
                <a:off x="7674282" y="3812541"/>
                <a:ext cx="2102143" cy="46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sSup>
                            <m:sSupPr>
                              <m:ctrlPr>
                                <a:rPr lang="es-E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s-E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s-E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E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sSup>
                            <m:sSupPr>
                              <m:ctrlPr>
                                <a:rPr lang="es-E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dirty="0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es-ES" sz="2400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695C547-E700-C6B6-6C96-C2ACC0064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282" y="3812541"/>
                <a:ext cx="2102143" cy="463588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709B9256-3C24-1D71-BE67-0395544086E7}"/>
              </a:ext>
            </a:extLst>
          </p:cNvPr>
          <p:cNvSpPr txBox="1"/>
          <p:nvPr/>
        </p:nvSpPr>
        <p:spPr>
          <a:xfrm>
            <a:off x="4059483" y="2471903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A8005EB-0B1B-D0FA-E5D5-F7677E7A2490}"/>
              </a:ext>
            </a:extLst>
          </p:cNvPr>
          <p:cNvSpPr txBox="1"/>
          <p:nvPr/>
        </p:nvSpPr>
        <p:spPr>
          <a:xfrm>
            <a:off x="3664895" y="4843328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30º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7532E98-0AF0-2E9F-5E02-E7BFE4EE96FD}"/>
              </a:ext>
            </a:extLst>
          </p:cNvPr>
          <p:cNvSpPr txBox="1"/>
          <p:nvPr/>
        </p:nvSpPr>
        <p:spPr>
          <a:xfrm>
            <a:off x="6146828" y="5521031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88B71B2-ECAE-23AE-2276-17E18B61E1A6}"/>
              </a:ext>
            </a:extLst>
          </p:cNvPr>
          <p:cNvSpPr txBox="1"/>
          <p:nvPr/>
        </p:nvSpPr>
        <p:spPr>
          <a:xfrm>
            <a:off x="5497331" y="3116912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47" name="Arco 46">
            <a:extLst>
              <a:ext uri="{FF2B5EF4-FFF2-40B4-BE49-F238E27FC236}">
                <a16:creationId xmlns:a16="http://schemas.microsoft.com/office/drawing/2014/main" id="{E30D085F-61E0-6B1C-89FC-A83138926474}"/>
              </a:ext>
            </a:extLst>
          </p:cNvPr>
          <p:cNvSpPr/>
          <p:nvPr/>
        </p:nvSpPr>
        <p:spPr>
          <a:xfrm>
            <a:off x="1767933" y="4412709"/>
            <a:ext cx="2210850" cy="2210850"/>
          </a:xfrm>
          <a:prstGeom prst="arc">
            <a:avLst>
              <a:gd name="adj1" fmla="val 19686158"/>
              <a:gd name="adj2" fmla="val 0"/>
            </a:avLst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6F953B55-5A0D-B918-E388-FDB16DC5BA25}"/>
              </a:ext>
            </a:extLst>
          </p:cNvPr>
          <p:cNvCxnSpPr>
            <a:cxnSpLocks/>
          </p:cNvCxnSpPr>
          <p:nvPr/>
        </p:nvCxnSpPr>
        <p:spPr>
          <a:xfrm flipH="1">
            <a:off x="2789492" y="3552446"/>
            <a:ext cx="3410438" cy="1965688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F325B087-5660-C560-E56E-AA7D505B771A}"/>
              </a:ext>
            </a:extLst>
          </p:cNvPr>
          <p:cNvCxnSpPr>
            <a:cxnSpLocks/>
          </p:cNvCxnSpPr>
          <p:nvPr/>
        </p:nvCxnSpPr>
        <p:spPr>
          <a:xfrm>
            <a:off x="2760082" y="5528428"/>
            <a:ext cx="41181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EB1DB45-A078-2290-B576-0DBD4E7E098A}"/>
              </a:ext>
            </a:extLst>
          </p:cNvPr>
          <p:cNvCxnSpPr>
            <a:cxnSpLocks/>
          </p:cNvCxnSpPr>
          <p:nvPr/>
        </p:nvCxnSpPr>
        <p:spPr>
          <a:xfrm flipV="1">
            <a:off x="2775957" y="2592994"/>
            <a:ext cx="1691687" cy="2929285"/>
          </a:xfrm>
          <a:prstGeom prst="line">
            <a:avLst/>
          </a:prstGeom>
          <a:ln w="28575">
            <a:solidFill>
              <a:schemeClr val="tx1"/>
            </a:solidFill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238ABD96-83F8-084C-6222-AFC210A88CF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599455-56ED-690B-11D1-FE526CDAC2FB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183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bisectriz de un ángulo es una </a:t>
            </a:r>
            <a:r>
              <a:rPr lang="es-ES" sz="2000" b="1" dirty="0">
                <a:solidFill>
                  <a:srgbClr val="4E95D9"/>
                </a:solidFill>
              </a:rPr>
              <a:t>semirrecta que divide al ángulo en otros dos ángulos iguales.</a:t>
            </a:r>
            <a:r>
              <a:rPr lang="es-ES" sz="2000" b="1" dirty="0"/>
              <a:t> Los puntos de la bisectriz equidistan (están a igual distancia) de los lados del ángulo.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!!Arco 180">
            <a:extLst>
              <a:ext uri="{FF2B5EF4-FFF2-40B4-BE49-F238E27FC236}">
                <a16:creationId xmlns:a16="http://schemas.microsoft.com/office/drawing/2014/main" id="{EFA93801-D78B-3640-8EE9-17EFFBE62EF4}"/>
              </a:ext>
            </a:extLst>
          </p:cNvPr>
          <p:cNvSpPr>
            <a:spLocks noChangeAspect="1"/>
          </p:cNvSpPr>
          <p:nvPr/>
        </p:nvSpPr>
        <p:spPr>
          <a:xfrm>
            <a:off x="2191572" y="3827180"/>
            <a:ext cx="4258586" cy="4258585"/>
          </a:xfrm>
          <a:prstGeom prst="arc">
            <a:avLst>
              <a:gd name="adj1" fmla="val 18012121"/>
              <a:gd name="adj2" fmla="val 21580698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2E006023-6A60-166B-B3BF-334B4CF24DA3}"/>
              </a:ext>
            </a:extLst>
          </p:cNvPr>
          <p:cNvCxnSpPr>
            <a:cxnSpLocks/>
          </p:cNvCxnSpPr>
          <p:nvPr/>
        </p:nvCxnSpPr>
        <p:spPr>
          <a:xfrm>
            <a:off x="4317488" y="5953364"/>
            <a:ext cx="383280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A06D27-705D-97A9-32F9-1233AF326575}"/>
              </a:ext>
            </a:extLst>
          </p:cNvPr>
          <p:cNvCxnSpPr>
            <a:cxnSpLocks/>
          </p:cNvCxnSpPr>
          <p:nvPr/>
        </p:nvCxnSpPr>
        <p:spPr>
          <a:xfrm flipV="1">
            <a:off x="4313693" y="3638551"/>
            <a:ext cx="1334478" cy="2310749"/>
          </a:xfrm>
          <a:prstGeom prst="line">
            <a:avLst/>
          </a:prstGeom>
          <a:ln w="38100" cap="rnd">
            <a:solidFill>
              <a:schemeClr val="tx1"/>
            </a:solidFill>
            <a:round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!!Compas">
            <a:extLst>
              <a:ext uri="{FF2B5EF4-FFF2-40B4-BE49-F238E27FC236}">
                <a16:creationId xmlns:a16="http://schemas.microsoft.com/office/drawing/2014/main" id="{4B8ACFFF-A5CE-EBE9-2BA7-D7E7FC466DB6}"/>
              </a:ext>
            </a:extLst>
          </p:cNvPr>
          <p:cNvGrpSpPr/>
          <p:nvPr/>
        </p:nvGrpSpPr>
        <p:grpSpPr>
          <a:xfrm rot="21084092">
            <a:off x="2890786" y="3793878"/>
            <a:ext cx="2825251" cy="4314627"/>
            <a:chOff x="-54038" y="6349932"/>
            <a:chExt cx="4903201" cy="7488000"/>
          </a:xfrm>
        </p:grpSpPr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BDE097B5-A7A5-7A8E-C73B-7FB05DB69E32}"/>
                </a:ext>
              </a:extLst>
            </p:cNvPr>
            <p:cNvSpPr/>
            <p:nvPr/>
          </p:nvSpPr>
          <p:spPr>
            <a:xfrm rot="18522477">
              <a:off x="-1346437" y="7642331"/>
              <a:ext cx="7488000" cy="4903201"/>
            </a:xfrm>
            <a:custGeom>
              <a:avLst/>
              <a:gdLst>
                <a:gd name="connsiteX0" fmla="*/ 0 w 7500728"/>
                <a:gd name="connsiteY0" fmla="*/ 2432736 h 4858492"/>
                <a:gd name="connsiteX1" fmla="*/ 3750364 w 7500728"/>
                <a:gd name="connsiteY1" fmla="*/ 2432736 h 4858492"/>
                <a:gd name="connsiteX2" fmla="*/ 7500728 w 7500728"/>
                <a:gd name="connsiteY2" fmla="*/ 2432736 h 4858492"/>
                <a:gd name="connsiteX3" fmla="*/ 7500728 w 7500728"/>
                <a:gd name="connsiteY3" fmla="*/ 4858492 h 4858492"/>
                <a:gd name="connsiteX4" fmla="*/ 3750364 w 7500728"/>
                <a:gd name="connsiteY4" fmla="*/ 4858492 h 4858492"/>
                <a:gd name="connsiteX5" fmla="*/ 0 w 7500728"/>
                <a:gd name="connsiteY5" fmla="*/ 4858492 h 4858492"/>
                <a:gd name="connsiteX6" fmla="*/ 0 w 7500728"/>
                <a:gd name="connsiteY6" fmla="*/ 0 h 4858492"/>
                <a:gd name="connsiteX7" fmla="*/ 3750364 w 7500728"/>
                <a:gd name="connsiteY7" fmla="*/ 0 h 4858492"/>
                <a:gd name="connsiteX8" fmla="*/ 7500728 w 7500728"/>
                <a:gd name="connsiteY8" fmla="*/ 0 h 4858492"/>
                <a:gd name="connsiteX9" fmla="*/ 7500728 w 7500728"/>
                <a:gd name="connsiteY9" fmla="*/ 2425756 h 4858492"/>
                <a:gd name="connsiteX10" fmla="*/ 3750364 w 7500728"/>
                <a:gd name="connsiteY10" fmla="*/ 2425756 h 4858492"/>
                <a:gd name="connsiteX11" fmla="*/ 0 w 7500728"/>
                <a:gd name="connsiteY11" fmla="*/ 2425756 h 485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00728" h="4858492">
                  <a:moveTo>
                    <a:pt x="0" y="2432736"/>
                  </a:moveTo>
                  <a:lnTo>
                    <a:pt x="3750364" y="2432736"/>
                  </a:lnTo>
                  <a:lnTo>
                    <a:pt x="7500728" y="2432736"/>
                  </a:lnTo>
                  <a:lnTo>
                    <a:pt x="7500728" y="4858492"/>
                  </a:lnTo>
                  <a:lnTo>
                    <a:pt x="3750364" y="4858492"/>
                  </a:lnTo>
                  <a:lnTo>
                    <a:pt x="0" y="4858492"/>
                  </a:lnTo>
                  <a:close/>
                  <a:moveTo>
                    <a:pt x="0" y="0"/>
                  </a:moveTo>
                  <a:lnTo>
                    <a:pt x="3750364" y="0"/>
                  </a:lnTo>
                  <a:lnTo>
                    <a:pt x="7500728" y="0"/>
                  </a:lnTo>
                  <a:lnTo>
                    <a:pt x="7500728" y="2425756"/>
                  </a:lnTo>
                  <a:lnTo>
                    <a:pt x="3750364" y="2425756"/>
                  </a:lnTo>
                  <a:lnTo>
                    <a:pt x="0" y="242575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053C9B89-3B19-ABDF-49A4-9B425FBA5D88}"/>
                </a:ext>
              </a:extLst>
            </p:cNvPr>
            <p:cNvSpPr>
              <a:spLocks/>
            </p:cNvSpPr>
            <p:nvPr/>
          </p:nvSpPr>
          <p:spPr>
            <a:xfrm rot="21506393">
              <a:off x="2336666" y="7074590"/>
              <a:ext cx="2388102" cy="410903"/>
            </a:xfrm>
            <a:custGeom>
              <a:avLst/>
              <a:gdLst>
                <a:gd name="connsiteX0" fmla="*/ 0 w 2388102"/>
                <a:gd name="connsiteY0" fmla="*/ 308566 h 410903"/>
                <a:gd name="connsiteX1" fmla="*/ 1411322 w 2388102"/>
                <a:gd name="connsiteY1" fmla="*/ 220226 h 410903"/>
                <a:gd name="connsiteX2" fmla="*/ 1410793 w 2388102"/>
                <a:gd name="connsiteY2" fmla="*/ 124709 h 410903"/>
                <a:gd name="connsiteX3" fmla="*/ 1374341 w 2388102"/>
                <a:gd name="connsiteY3" fmla="*/ 124709 h 410903"/>
                <a:gd name="connsiteX4" fmla="*/ 1316886 w 2388102"/>
                <a:gd name="connsiteY4" fmla="*/ 86625 h 410903"/>
                <a:gd name="connsiteX5" fmla="*/ 1311986 w 2388102"/>
                <a:gd name="connsiteY5" fmla="*/ 62354 h 410903"/>
                <a:gd name="connsiteX6" fmla="*/ 1330249 w 2388102"/>
                <a:gd name="connsiteY6" fmla="*/ 18264 h 410903"/>
                <a:gd name="connsiteX7" fmla="*/ 1374341 w 2388102"/>
                <a:gd name="connsiteY7" fmla="*/ 0 h 410903"/>
                <a:gd name="connsiteX8" fmla="*/ 1546111 w 2388102"/>
                <a:gd name="connsiteY8" fmla="*/ 0 h 410903"/>
                <a:gd name="connsiteX9" fmla="*/ 1608466 w 2388102"/>
                <a:gd name="connsiteY9" fmla="*/ 62355 h 410903"/>
                <a:gd name="connsiteX10" fmla="*/ 1608465 w 2388102"/>
                <a:gd name="connsiteY10" fmla="*/ 62355 h 410903"/>
                <a:gd name="connsiteX11" fmla="*/ 1546110 w 2388102"/>
                <a:gd name="connsiteY11" fmla="*/ 124710 h 410903"/>
                <a:gd name="connsiteX12" fmla="*/ 1507783 w 2388102"/>
                <a:gd name="connsiteY12" fmla="*/ 124710 h 410903"/>
                <a:gd name="connsiteX13" fmla="*/ 1508278 w 2388102"/>
                <a:gd name="connsiteY13" fmla="*/ 214157 h 410903"/>
                <a:gd name="connsiteX14" fmla="*/ 2052914 w 2388102"/>
                <a:gd name="connsiteY14" fmla="*/ 180067 h 410903"/>
                <a:gd name="connsiteX15" fmla="*/ 2388102 w 2388102"/>
                <a:gd name="connsiteY15" fmla="*/ 150514 h 410903"/>
                <a:gd name="connsiteX16" fmla="*/ 2049080 w 2388102"/>
                <a:gd name="connsiteY16" fmla="*/ 283574 h 410903"/>
                <a:gd name="connsiteX17" fmla="*/ 2048595 w 2388102"/>
                <a:gd name="connsiteY17" fmla="*/ 281343 h 410903"/>
                <a:gd name="connsiteX18" fmla="*/ 2043341 w 2388102"/>
                <a:gd name="connsiteY18" fmla="*/ 283405 h 410903"/>
                <a:gd name="connsiteX19" fmla="*/ 6406 w 2388102"/>
                <a:gd name="connsiteY19" fmla="*/ 410903 h 41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88102" h="410903">
                  <a:moveTo>
                    <a:pt x="0" y="308566"/>
                  </a:moveTo>
                  <a:lnTo>
                    <a:pt x="1411322" y="220226"/>
                  </a:lnTo>
                  <a:lnTo>
                    <a:pt x="1410793" y="124709"/>
                  </a:lnTo>
                  <a:lnTo>
                    <a:pt x="1374341" y="124709"/>
                  </a:lnTo>
                  <a:cubicBezTo>
                    <a:pt x="1348513" y="124709"/>
                    <a:pt x="1326352" y="109006"/>
                    <a:pt x="1316886" y="86625"/>
                  </a:cubicBezTo>
                  <a:lnTo>
                    <a:pt x="1311986" y="62354"/>
                  </a:lnTo>
                  <a:lnTo>
                    <a:pt x="1330249" y="18264"/>
                  </a:lnTo>
                  <a:cubicBezTo>
                    <a:pt x="1341533" y="6979"/>
                    <a:pt x="1357122" y="0"/>
                    <a:pt x="1374341" y="0"/>
                  </a:cubicBezTo>
                  <a:lnTo>
                    <a:pt x="1546111" y="0"/>
                  </a:lnTo>
                  <a:cubicBezTo>
                    <a:pt x="1580549" y="0"/>
                    <a:pt x="1608466" y="27917"/>
                    <a:pt x="1608466" y="62355"/>
                  </a:cubicBezTo>
                  <a:lnTo>
                    <a:pt x="1608465" y="62355"/>
                  </a:lnTo>
                  <a:cubicBezTo>
                    <a:pt x="1608465" y="96793"/>
                    <a:pt x="1580548" y="124710"/>
                    <a:pt x="1546110" y="124710"/>
                  </a:cubicBezTo>
                  <a:lnTo>
                    <a:pt x="1507783" y="124710"/>
                  </a:lnTo>
                  <a:lnTo>
                    <a:pt x="1508278" y="214157"/>
                  </a:lnTo>
                  <a:lnTo>
                    <a:pt x="2052914" y="180067"/>
                  </a:lnTo>
                  <a:lnTo>
                    <a:pt x="2388102" y="150514"/>
                  </a:lnTo>
                  <a:lnTo>
                    <a:pt x="2049080" y="283574"/>
                  </a:lnTo>
                  <a:lnTo>
                    <a:pt x="2048595" y="281343"/>
                  </a:lnTo>
                  <a:lnTo>
                    <a:pt x="2043341" y="283405"/>
                  </a:lnTo>
                  <a:lnTo>
                    <a:pt x="6406" y="4109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AE0ECFFA-5DA7-2103-26AA-2AF82CE11562}"/>
                </a:ext>
              </a:extLst>
            </p:cNvPr>
            <p:cNvSpPr>
              <a:spLocks/>
            </p:cNvSpPr>
            <p:nvPr/>
          </p:nvSpPr>
          <p:spPr>
            <a:xfrm rot="10826393">
              <a:off x="2060203" y="7725617"/>
              <a:ext cx="411509" cy="2382571"/>
            </a:xfrm>
            <a:custGeom>
              <a:avLst/>
              <a:gdLst>
                <a:gd name="connsiteX0" fmla="*/ 411509 w 411509"/>
                <a:gd name="connsiteY0" fmla="*/ 2367059 h 2382571"/>
                <a:gd name="connsiteX1" fmla="*/ 310151 w 411509"/>
                <a:gd name="connsiteY1" fmla="*/ 2382571 h 2382571"/>
                <a:gd name="connsiteX2" fmla="*/ 1386 w 411509"/>
                <a:gd name="connsiteY2" fmla="*/ 365141 h 2382571"/>
                <a:gd name="connsiteX3" fmla="*/ 2283 w 411509"/>
                <a:gd name="connsiteY3" fmla="*/ 359569 h 2382571"/>
                <a:gd name="connsiteX4" fmla="*/ 0 w 411509"/>
                <a:gd name="connsiteY4" fmla="*/ 359569 h 2382571"/>
                <a:gd name="connsiteX5" fmla="*/ 57889 w 411509"/>
                <a:gd name="connsiteY5" fmla="*/ 0 h 2382571"/>
                <a:gd name="connsiteX6" fmla="*/ 100322 w 411509"/>
                <a:gd name="connsiteY6" fmla="*/ 333803 h 23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509" h="2382571">
                  <a:moveTo>
                    <a:pt x="411509" y="2367059"/>
                  </a:moveTo>
                  <a:lnTo>
                    <a:pt x="310151" y="2382571"/>
                  </a:lnTo>
                  <a:lnTo>
                    <a:pt x="1386" y="365141"/>
                  </a:lnTo>
                  <a:lnTo>
                    <a:pt x="2283" y="359569"/>
                  </a:lnTo>
                  <a:lnTo>
                    <a:pt x="0" y="359569"/>
                  </a:lnTo>
                  <a:lnTo>
                    <a:pt x="57889" y="0"/>
                  </a:lnTo>
                  <a:lnTo>
                    <a:pt x="100322" y="3338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C7CCA6FC-0AA0-D50F-EF8E-82545CB52E03}"/>
                </a:ext>
              </a:extLst>
            </p:cNvPr>
            <p:cNvSpPr>
              <a:spLocks/>
            </p:cNvSpPr>
            <p:nvPr/>
          </p:nvSpPr>
          <p:spPr>
            <a:xfrm rot="18506393">
              <a:off x="1708869" y="6961196"/>
              <a:ext cx="555626" cy="868920"/>
            </a:xfrm>
            <a:custGeom>
              <a:avLst/>
              <a:gdLst>
                <a:gd name="connsiteX0" fmla="*/ 277813 w 555626"/>
                <a:gd name="connsiteY0" fmla="*/ 456623 h 868920"/>
                <a:gd name="connsiteX1" fmla="*/ 143329 w 555626"/>
                <a:gd name="connsiteY1" fmla="*/ 591107 h 868920"/>
                <a:gd name="connsiteX2" fmla="*/ 277813 w 555626"/>
                <a:gd name="connsiteY2" fmla="*/ 725591 h 868920"/>
                <a:gd name="connsiteX3" fmla="*/ 412297 w 555626"/>
                <a:gd name="connsiteY3" fmla="*/ 591107 h 868920"/>
                <a:gd name="connsiteX4" fmla="*/ 277813 w 555626"/>
                <a:gd name="connsiteY4" fmla="*/ 456623 h 868920"/>
                <a:gd name="connsiteX5" fmla="*/ 277813 w 555626"/>
                <a:gd name="connsiteY5" fmla="*/ 0 h 868920"/>
                <a:gd name="connsiteX6" fmla="*/ 332503 w 555626"/>
                <a:gd name="connsiteY6" fmla="*/ 54690 h 868920"/>
                <a:gd name="connsiteX7" fmla="*/ 332503 w 555626"/>
                <a:gd name="connsiteY7" fmla="*/ 324336 h 868920"/>
                <a:gd name="connsiteX8" fmla="*/ 385951 w 555626"/>
                <a:gd name="connsiteY8" fmla="*/ 335126 h 868920"/>
                <a:gd name="connsiteX9" fmla="*/ 555626 w 555626"/>
                <a:gd name="connsiteY9" fmla="*/ 591107 h 868920"/>
                <a:gd name="connsiteX10" fmla="*/ 277813 w 555626"/>
                <a:gd name="connsiteY10" fmla="*/ 868920 h 868920"/>
                <a:gd name="connsiteX11" fmla="*/ 0 w 555626"/>
                <a:gd name="connsiteY11" fmla="*/ 591107 h 868920"/>
                <a:gd name="connsiteX12" fmla="*/ 169676 w 555626"/>
                <a:gd name="connsiteY12" fmla="*/ 335126 h 868920"/>
                <a:gd name="connsiteX13" fmla="*/ 223123 w 555626"/>
                <a:gd name="connsiteY13" fmla="*/ 324336 h 868920"/>
                <a:gd name="connsiteX14" fmla="*/ 223123 w 555626"/>
                <a:gd name="connsiteY14" fmla="*/ 54690 h 868920"/>
                <a:gd name="connsiteX15" fmla="*/ 277813 w 555626"/>
                <a:gd name="connsiteY15" fmla="*/ 0 h 86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626" h="868920">
                  <a:moveTo>
                    <a:pt x="277813" y="456623"/>
                  </a:moveTo>
                  <a:cubicBezTo>
                    <a:pt x="203540" y="456623"/>
                    <a:pt x="143329" y="516834"/>
                    <a:pt x="143329" y="591107"/>
                  </a:cubicBezTo>
                  <a:cubicBezTo>
                    <a:pt x="143329" y="665380"/>
                    <a:pt x="203540" y="725591"/>
                    <a:pt x="277813" y="725591"/>
                  </a:cubicBezTo>
                  <a:cubicBezTo>
                    <a:pt x="352086" y="725591"/>
                    <a:pt x="412297" y="665380"/>
                    <a:pt x="412297" y="591107"/>
                  </a:cubicBezTo>
                  <a:cubicBezTo>
                    <a:pt x="412297" y="516834"/>
                    <a:pt x="352086" y="456623"/>
                    <a:pt x="277813" y="456623"/>
                  </a:cubicBezTo>
                  <a:close/>
                  <a:moveTo>
                    <a:pt x="277813" y="0"/>
                  </a:moveTo>
                  <a:cubicBezTo>
                    <a:pt x="308017" y="0"/>
                    <a:pt x="332503" y="24486"/>
                    <a:pt x="332503" y="54690"/>
                  </a:cubicBezTo>
                  <a:lnTo>
                    <a:pt x="332503" y="324336"/>
                  </a:lnTo>
                  <a:lnTo>
                    <a:pt x="385951" y="335126"/>
                  </a:lnTo>
                  <a:cubicBezTo>
                    <a:pt x="485662" y="377300"/>
                    <a:pt x="555626" y="476033"/>
                    <a:pt x="555626" y="591107"/>
                  </a:cubicBezTo>
                  <a:cubicBezTo>
                    <a:pt x="555626" y="744539"/>
                    <a:pt x="431245" y="868920"/>
                    <a:pt x="277813" y="868920"/>
                  </a:cubicBezTo>
                  <a:cubicBezTo>
                    <a:pt x="124381" y="868920"/>
                    <a:pt x="0" y="744539"/>
                    <a:pt x="0" y="591107"/>
                  </a:cubicBezTo>
                  <a:cubicBezTo>
                    <a:pt x="0" y="476033"/>
                    <a:pt x="69965" y="377300"/>
                    <a:pt x="169676" y="335126"/>
                  </a:cubicBezTo>
                  <a:lnTo>
                    <a:pt x="223123" y="324336"/>
                  </a:lnTo>
                  <a:lnTo>
                    <a:pt x="223123" y="54690"/>
                  </a:lnTo>
                  <a:cubicBezTo>
                    <a:pt x="223123" y="24486"/>
                    <a:pt x="247609" y="0"/>
                    <a:pt x="277813" y="0"/>
                  </a:cubicBezTo>
                  <a:close/>
                </a:path>
              </a:pathLst>
            </a:cu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935711CF-FFD5-9312-3C20-BEBCDAA0E93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14795A-6752-1C50-23C8-9695D97462FB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479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E580CCD-9037-753E-1C21-C8872E5922D6}"/>
              </a:ext>
            </a:extLst>
          </p:cNvPr>
          <p:cNvCxnSpPr>
            <a:cxnSpLocks/>
          </p:cNvCxnSpPr>
          <p:nvPr/>
        </p:nvCxnSpPr>
        <p:spPr>
          <a:xfrm>
            <a:off x="4317488" y="5953364"/>
            <a:ext cx="383280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153B113-3375-2170-4DC5-466E9E16BAFC}"/>
              </a:ext>
            </a:extLst>
          </p:cNvPr>
          <p:cNvCxnSpPr>
            <a:cxnSpLocks/>
          </p:cNvCxnSpPr>
          <p:nvPr/>
        </p:nvCxnSpPr>
        <p:spPr>
          <a:xfrm flipV="1">
            <a:off x="4313693" y="3638551"/>
            <a:ext cx="1334478" cy="2310749"/>
          </a:xfrm>
          <a:prstGeom prst="line">
            <a:avLst/>
          </a:prstGeom>
          <a:ln w="38100" cap="rnd">
            <a:solidFill>
              <a:schemeClr val="tx1"/>
            </a:solidFill>
            <a:round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bisectriz de un ángulo es una </a:t>
            </a:r>
            <a:r>
              <a:rPr lang="es-ES" sz="2000" b="1" dirty="0">
                <a:solidFill>
                  <a:srgbClr val="4E95D9"/>
                </a:solidFill>
              </a:rPr>
              <a:t>semirrecta que divide al ángulo en otros dos ángulos iguales.</a:t>
            </a:r>
            <a:r>
              <a:rPr lang="es-ES" sz="2000" b="1" dirty="0"/>
              <a:t> Los puntos de la bisectriz equidistan (están a igual distancia) de los lados del ángulo.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!!Arco 180">
            <a:extLst>
              <a:ext uri="{FF2B5EF4-FFF2-40B4-BE49-F238E27FC236}">
                <a16:creationId xmlns:a16="http://schemas.microsoft.com/office/drawing/2014/main" id="{EFA93801-D78B-3640-8EE9-17EFFBE62EF4}"/>
              </a:ext>
            </a:extLst>
          </p:cNvPr>
          <p:cNvSpPr>
            <a:spLocks noChangeAspect="1"/>
          </p:cNvSpPr>
          <p:nvPr/>
        </p:nvSpPr>
        <p:spPr>
          <a:xfrm>
            <a:off x="2191572" y="3827180"/>
            <a:ext cx="4258586" cy="4258585"/>
          </a:xfrm>
          <a:prstGeom prst="arc">
            <a:avLst>
              <a:gd name="adj1" fmla="val 18012121"/>
              <a:gd name="adj2" fmla="val 21580698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0" name="!!Compas">
            <a:extLst>
              <a:ext uri="{FF2B5EF4-FFF2-40B4-BE49-F238E27FC236}">
                <a16:creationId xmlns:a16="http://schemas.microsoft.com/office/drawing/2014/main" id="{4B8ACFFF-A5CE-EBE9-2BA7-D7E7FC466DB6}"/>
              </a:ext>
            </a:extLst>
          </p:cNvPr>
          <p:cNvGrpSpPr/>
          <p:nvPr/>
        </p:nvGrpSpPr>
        <p:grpSpPr>
          <a:xfrm rot="1043057">
            <a:off x="3959498" y="1952393"/>
            <a:ext cx="2825251" cy="4314627"/>
            <a:chOff x="-54038" y="6349932"/>
            <a:chExt cx="4903201" cy="7488000"/>
          </a:xfrm>
        </p:grpSpPr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BDE097B5-A7A5-7A8E-C73B-7FB05DB69E32}"/>
                </a:ext>
              </a:extLst>
            </p:cNvPr>
            <p:cNvSpPr/>
            <p:nvPr/>
          </p:nvSpPr>
          <p:spPr>
            <a:xfrm rot="18522477">
              <a:off x="-1346437" y="7642331"/>
              <a:ext cx="7488000" cy="4903201"/>
            </a:xfrm>
            <a:custGeom>
              <a:avLst/>
              <a:gdLst>
                <a:gd name="connsiteX0" fmla="*/ 0 w 7500728"/>
                <a:gd name="connsiteY0" fmla="*/ 2432736 h 4858492"/>
                <a:gd name="connsiteX1" fmla="*/ 3750364 w 7500728"/>
                <a:gd name="connsiteY1" fmla="*/ 2432736 h 4858492"/>
                <a:gd name="connsiteX2" fmla="*/ 7500728 w 7500728"/>
                <a:gd name="connsiteY2" fmla="*/ 2432736 h 4858492"/>
                <a:gd name="connsiteX3" fmla="*/ 7500728 w 7500728"/>
                <a:gd name="connsiteY3" fmla="*/ 4858492 h 4858492"/>
                <a:gd name="connsiteX4" fmla="*/ 3750364 w 7500728"/>
                <a:gd name="connsiteY4" fmla="*/ 4858492 h 4858492"/>
                <a:gd name="connsiteX5" fmla="*/ 0 w 7500728"/>
                <a:gd name="connsiteY5" fmla="*/ 4858492 h 4858492"/>
                <a:gd name="connsiteX6" fmla="*/ 0 w 7500728"/>
                <a:gd name="connsiteY6" fmla="*/ 0 h 4858492"/>
                <a:gd name="connsiteX7" fmla="*/ 3750364 w 7500728"/>
                <a:gd name="connsiteY7" fmla="*/ 0 h 4858492"/>
                <a:gd name="connsiteX8" fmla="*/ 7500728 w 7500728"/>
                <a:gd name="connsiteY8" fmla="*/ 0 h 4858492"/>
                <a:gd name="connsiteX9" fmla="*/ 7500728 w 7500728"/>
                <a:gd name="connsiteY9" fmla="*/ 2425756 h 4858492"/>
                <a:gd name="connsiteX10" fmla="*/ 3750364 w 7500728"/>
                <a:gd name="connsiteY10" fmla="*/ 2425756 h 4858492"/>
                <a:gd name="connsiteX11" fmla="*/ 0 w 7500728"/>
                <a:gd name="connsiteY11" fmla="*/ 2425756 h 485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00728" h="4858492">
                  <a:moveTo>
                    <a:pt x="0" y="2432736"/>
                  </a:moveTo>
                  <a:lnTo>
                    <a:pt x="3750364" y="2432736"/>
                  </a:lnTo>
                  <a:lnTo>
                    <a:pt x="7500728" y="2432736"/>
                  </a:lnTo>
                  <a:lnTo>
                    <a:pt x="7500728" y="4858492"/>
                  </a:lnTo>
                  <a:lnTo>
                    <a:pt x="3750364" y="4858492"/>
                  </a:lnTo>
                  <a:lnTo>
                    <a:pt x="0" y="4858492"/>
                  </a:lnTo>
                  <a:close/>
                  <a:moveTo>
                    <a:pt x="0" y="0"/>
                  </a:moveTo>
                  <a:lnTo>
                    <a:pt x="3750364" y="0"/>
                  </a:lnTo>
                  <a:lnTo>
                    <a:pt x="7500728" y="0"/>
                  </a:lnTo>
                  <a:lnTo>
                    <a:pt x="7500728" y="2425756"/>
                  </a:lnTo>
                  <a:lnTo>
                    <a:pt x="3750364" y="2425756"/>
                  </a:lnTo>
                  <a:lnTo>
                    <a:pt x="0" y="242575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053C9B89-3B19-ABDF-49A4-9B425FBA5D88}"/>
                </a:ext>
              </a:extLst>
            </p:cNvPr>
            <p:cNvSpPr>
              <a:spLocks/>
            </p:cNvSpPr>
            <p:nvPr/>
          </p:nvSpPr>
          <p:spPr>
            <a:xfrm rot="21506393">
              <a:off x="2336666" y="7074590"/>
              <a:ext cx="2388102" cy="410903"/>
            </a:xfrm>
            <a:custGeom>
              <a:avLst/>
              <a:gdLst>
                <a:gd name="connsiteX0" fmla="*/ 0 w 2388102"/>
                <a:gd name="connsiteY0" fmla="*/ 308566 h 410903"/>
                <a:gd name="connsiteX1" fmla="*/ 1411322 w 2388102"/>
                <a:gd name="connsiteY1" fmla="*/ 220226 h 410903"/>
                <a:gd name="connsiteX2" fmla="*/ 1410793 w 2388102"/>
                <a:gd name="connsiteY2" fmla="*/ 124709 h 410903"/>
                <a:gd name="connsiteX3" fmla="*/ 1374341 w 2388102"/>
                <a:gd name="connsiteY3" fmla="*/ 124709 h 410903"/>
                <a:gd name="connsiteX4" fmla="*/ 1316886 w 2388102"/>
                <a:gd name="connsiteY4" fmla="*/ 86625 h 410903"/>
                <a:gd name="connsiteX5" fmla="*/ 1311986 w 2388102"/>
                <a:gd name="connsiteY5" fmla="*/ 62354 h 410903"/>
                <a:gd name="connsiteX6" fmla="*/ 1330249 w 2388102"/>
                <a:gd name="connsiteY6" fmla="*/ 18264 h 410903"/>
                <a:gd name="connsiteX7" fmla="*/ 1374341 w 2388102"/>
                <a:gd name="connsiteY7" fmla="*/ 0 h 410903"/>
                <a:gd name="connsiteX8" fmla="*/ 1546111 w 2388102"/>
                <a:gd name="connsiteY8" fmla="*/ 0 h 410903"/>
                <a:gd name="connsiteX9" fmla="*/ 1608466 w 2388102"/>
                <a:gd name="connsiteY9" fmla="*/ 62355 h 410903"/>
                <a:gd name="connsiteX10" fmla="*/ 1608465 w 2388102"/>
                <a:gd name="connsiteY10" fmla="*/ 62355 h 410903"/>
                <a:gd name="connsiteX11" fmla="*/ 1546110 w 2388102"/>
                <a:gd name="connsiteY11" fmla="*/ 124710 h 410903"/>
                <a:gd name="connsiteX12" fmla="*/ 1507783 w 2388102"/>
                <a:gd name="connsiteY12" fmla="*/ 124710 h 410903"/>
                <a:gd name="connsiteX13" fmla="*/ 1508278 w 2388102"/>
                <a:gd name="connsiteY13" fmla="*/ 214157 h 410903"/>
                <a:gd name="connsiteX14" fmla="*/ 2052914 w 2388102"/>
                <a:gd name="connsiteY14" fmla="*/ 180067 h 410903"/>
                <a:gd name="connsiteX15" fmla="*/ 2388102 w 2388102"/>
                <a:gd name="connsiteY15" fmla="*/ 150514 h 410903"/>
                <a:gd name="connsiteX16" fmla="*/ 2049080 w 2388102"/>
                <a:gd name="connsiteY16" fmla="*/ 283574 h 410903"/>
                <a:gd name="connsiteX17" fmla="*/ 2048595 w 2388102"/>
                <a:gd name="connsiteY17" fmla="*/ 281343 h 410903"/>
                <a:gd name="connsiteX18" fmla="*/ 2043341 w 2388102"/>
                <a:gd name="connsiteY18" fmla="*/ 283405 h 410903"/>
                <a:gd name="connsiteX19" fmla="*/ 6406 w 2388102"/>
                <a:gd name="connsiteY19" fmla="*/ 410903 h 41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88102" h="410903">
                  <a:moveTo>
                    <a:pt x="0" y="308566"/>
                  </a:moveTo>
                  <a:lnTo>
                    <a:pt x="1411322" y="220226"/>
                  </a:lnTo>
                  <a:lnTo>
                    <a:pt x="1410793" y="124709"/>
                  </a:lnTo>
                  <a:lnTo>
                    <a:pt x="1374341" y="124709"/>
                  </a:lnTo>
                  <a:cubicBezTo>
                    <a:pt x="1348513" y="124709"/>
                    <a:pt x="1326352" y="109006"/>
                    <a:pt x="1316886" y="86625"/>
                  </a:cubicBezTo>
                  <a:lnTo>
                    <a:pt x="1311986" y="62354"/>
                  </a:lnTo>
                  <a:lnTo>
                    <a:pt x="1330249" y="18264"/>
                  </a:lnTo>
                  <a:cubicBezTo>
                    <a:pt x="1341533" y="6979"/>
                    <a:pt x="1357122" y="0"/>
                    <a:pt x="1374341" y="0"/>
                  </a:cubicBezTo>
                  <a:lnTo>
                    <a:pt x="1546111" y="0"/>
                  </a:lnTo>
                  <a:cubicBezTo>
                    <a:pt x="1580549" y="0"/>
                    <a:pt x="1608466" y="27917"/>
                    <a:pt x="1608466" y="62355"/>
                  </a:cubicBezTo>
                  <a:lnTo>
                    <a:pt x="1608465" y="62355"/>
                  </a:lnTo>
                  <a:cubicBezTo>
                    <a:pt x="1608465" y="96793"/>
                    <a:pt x="1580548" y="124710"/>
                    <a:pt x="1546110" y="124710"/>
                  </a:cubicBezTo>
                  <a:lnTo>
                    <a:pt x="1507783" y="124710"/>
                  </a:lnTo>
                  <a:lnTo>
                    <a:pt x="1508278" y="214157"/>
                  </a:lnTo>
                  <a:lnTo>
                    <a:pt x="2052914" y="180067"/>
                  </a:lnTo>
                  <a:lnTo>
                    <a:pt x="2388102" y="150514"/>
                  </a:lnTo>
                  <a:lnTo>
                    <a:pt x="2049080" y="283574"/>
                  </a:lnTo>
                  <a:lnTo>
                    <a:pt x="2048595" y="281343"/>
                  </a:lnTo>
                  <a:lnTo>
                    <a:pt x="2043341" y="283405"/>
                  </a:lnTo>
                  <a:lnTo>
                    <a:pt x="6406" y="4109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AE0ECFFA-5DA7-2103-26AA-2AF82CE11562}"/>
                </a:ext>
              </a:extLst>
            </p:cNvPr>
            <p:cNvSpPr>
              <a:spLocks/>
            </p:cNvSpPr>
            <p:nvPr/>
          </p:nvSpPr>
          <p:spPr>
            <a:xfrm rot="10826393">
              <a:off x="2060203" y="7725617"/>
              <a:ext cx="411509" cy="2382571"/>
            </a:xfrm>
            <a:custGeom>
              <a:avLst/>
              <a:gdLst>
                <a:gd name="connsiteX0" fmla="*/ 411509 w 411509"/>
                <a:gd name="connsiteY0" fmla="*/ 2367059 h 2382571"/>
                <a:gd name="connsiteX1" fmla="*/ 310151 w 411509"/>
                <a:gd name="connsiteY1" fmla="*/ 2382571 h 2382571"/>
                <a:gd name="connsiteX2" fmla="*/ 1386 w 411509"/>
                <a:gd name="connsiteY2" fmla="*/ 365141 h 2382571"/>
                <a:gd name="connsiteX3" fmla="*/ 2283 w 411509"/>
                <a:gd name="connsiteY3" fmla="*/ 359569 h 2382571"/>
                <a:gd name="connsiteX4" fmla="*/ 0 w 411509"/>
                <a:gd name="connsiteY4" fmla="*/ 359569 h 2382571"/>
                <a:gd name="connsiteX5" fmla="*/ 57889 w 411509"/>
                <a:gd name="connsiteY5" fmla="*/ 0 h 2382571"/>
                <a:gd name="connsiteX6" fmla="*/ 100322 w 411509"/>
                <a:gd name="connsiteY6" fmla="*/ 333803 h 23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509" h="2382571">
                  <a:moveTo>
                    <a:pt x="411509" y="2367059"/>
                  </a:moveTo>
                  <a:lnTo>
                    <a:pt x="310151" y="2382571"/>
                  </a:lnTo>
                  <a:lnTo>
                    <a:pt x="1386" y="365141"/>
                  </a:lnTo>
                  <a:lnTo>
                    <a:pt x="2283" y="359569"/>
                  </a:lnTo>
                  <a:lnTo>
                    <a:pt x="0" y="359569"/>
                  </a:lnTo>
                  <a:lnTo>
                    <a:pt x="57889" y="0"/>
                  </a:lnTo>
                  <a:lnTo>
                    <a:pt x="100322" y="3338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C7CCA6FC-0AA0-D50F-EF8E-82545CB52E03}"/>
                </a:ext>
              </a:extLst>
            </p:cNvPr>
            <p:cNvSpPr>
              <a:spLocks/>
            </p:cNvSpPr>
            <p:nvPr/>
          </p:nvSpPr>
          <p:spPr>
            <a:xfrm rot="18506393">
              <a:off x="1708869" y="6961196"/>
              <a:ext cx="555626" cy="868920"/>
            </a:xfrm>
            <a:custGeom>
              <a:avLst/>
              <a:gdLst>
                <a:gd name="connsiteX0" fmla="*/ 277813 w 555626"/>
                <a:gd name="connsiteY0" fmla="*/ 456623 h 868920"/>
                <a:gd name="connsiteX1" fmla="*/ 143329 w 555626"/>
                <a:gd name="connsiteY1" fmla="*/ 591107 h 868920"/>
                <a:gd name="connsiteX2" fmla="*/ 277813 w 555626"/>
                <a:gd name="connsiteY2" fmla="*/ 725591 h 868920"/>
                <a:gd name="connsiteX3" fmla="*/ 412297 w 555626"/>
                <a:gd name="connsiteY3" fmla="*/ 591107 h 868920"/>
                <a:gd name="connsiteX4" fmla="*/ 277813 w 555626"/>
                <a:gd name="connsiteY4" fmla="*/ 456623 h 868920"/>
                <a:gd name="connsiteX5" fmla="*/ 277813 w 555626"/>
                <a:gd name="connsiteY5" fmla="*/ 0 h 868920"/>
                <a:gd name="connsiteX6" fmla="*/ 332503 w 555626"/>
                <a:gd name="connsiteY6" fmla="*/ 54690 h 868920"/>
                <a:gd name="connsiteX7" fmla="*/ 332503 w 555626"/>
                <a:gd name="connsiteY7" fmla="*/ 324336 h 868920"/>
                <a:gd name="connsiteX8" fmla="*/ 385951 w 555626"/>
                <a:gd name="connsiteY8" fmla="*/ 335126 h 868920"/>
                <a:gd name="connsiteX9" fmla="*/ 555626 w 555626"/>
                <a:gd name="connsiteY9" fmla="*/ 591107 h 868920"/>
                <a:gd name="connsiteX10" fmla="*/ 277813 w 555626"/>
                <a:gd name="connsiteY10" fmla="*/ 868920 h 868920"/>
                <a:gd name="connsiteX11" fmla="*/ 0 w 555626"/>
                <a:gd name="connsiteY11" fmla="*/ 591107 h 868920"/>
                <a:gd name="connsiteX12" fmla="*/ 169676 w 555626"/>
                <a:gd name="connsiteY12" fmla="*/ 335126 h 868920"/>
                <a:gd name="connsiteX13" fmla="*/ 223123 w 555626"/>
                <a:gd name="connsiteY13" fmla="*/ 324336 h 868920"/>
                <a:gd name="connsiteX14" fmla="*/ 223123 w 555626"/>
                <a:gd name="connsiteY14" fmla="*/ 54690 h 868920"/>
                <a:gd name="connsiteX15" fmla="*/ 277813 w 555626"/>
                <a:gd name="connsiteY15" fmla="*/ 0 h 86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626" h="868920">
                  <a:moveTo>
                    <a:pt x="277813" y="456623"/>
                  </a:moveTo>
                  <a:cubicBezTo>
                    <a:pt x="203540" y="456623"/>
                    <a:pt x="143329" y="516834"/>
                    <a:pt x="143329" y="591107"/>
                  </a:cubicBezTo>
                  <a:cubicBezTo>
                    <a:pt x="143329" y="665380"/>
                    <a:pt x="203540" y="725591"/>
                    <a:pt x="277813" y="725591"/>
                  </a:cubicBezTo>
                  <a:cubicBezTo>
                    <a:pt x="352086" y="725591"/>
                    <a:pt x="412297" y="665380"/>
                    <a:pt x="412297" y="591107"/>
                  </a:cubicBezTo>
                  <a:cubicBezTo>
                    <a:pt x="412297" y="516834"/>
                    <a:pt x="352086" y="456623"/>
                    <a:pt x="277813" y="456623"/>
                  </a:cubicBezTo>
                  <a:close/>
                  <a:moveTo>
                    <a:pt x="277813" y="0"/>
                  </a:moveTo>
                  <a:cubicBezTo>
                    <a:pt x="308017" y="0"/>
                    <a:pt x="332503" y="24486"/>
                    <a:pt x="332503" y="54690"/>
                  </a:cubicBezTo>
                  <a:lnTo>
                    <a:pt x="332503" y="324336"/>
                  </a:lnTo>
                  <a:lnTo>
                    <a:pt x="385951" y="335126"/>
                  </a:lnTo>
                  <a:cubicBezTo>
                    <a:pt x="485662" y="377300"/>
                    <a:pt x="555626" y="476033"/>
                    <a:pt x="555626" y="591107"/>
                  </a:cubicBezTo>
                  <a:cubicBezTo>
                    <a:pt x="555626" y="744539"/>
                    <a:pt x="431245" y="868920"/>
                    <a:pt x="277813" y="868920"/>
                  </a:cubicBezTo>
                  <a:cubicBezTo>
                    <a:pt x="124381" y="868920"/>
                    <a:pt x="0" y="744539"/>
                    <a:pt x="0" y="591107"/>
                  </a:cubicBezTo>
                  <a:cubicBezTo>
                    <a:pt x="0" y="476033"/>
                    <a:pt x="69965" y="377300"/>
                    <a:pt x="169676" y="335126"/>
                  </a:cubicBezTo>
                  <a:lnTo>
                    <a:pt x="223123" y="324336"/>
                  </a:lnTo>
                  <a:lnTo>
                    <a:pt x="223123" y="54690"/>
                  </a:lnTo>
                  <a:cubicBezTo>
                    <a:pt x="223123" y="24486"/>
                    <a:pt x="247609" y="0"/>
                    <a:pt x="277813" y="0"/>
                  </a:cubicBezTo>
                  <a:close/>
                </a:path>
              </a:pathLst>
            </a:cu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!!Arco 180">
            <a:extLst>
              <a:ext uri="{FF2B5EF4-FFF2-40B4-BE49-F238E27FC236}">
                <a16:creationId xmlns:a16="http://schemas.microsoft.com/office/drawing/2014/main" id="{C5CB7023-6D05-BD09-E335-83205329E099}"/>
              </a:ext>
            </a:extLst>
          </p:cNvPr>
          <p:cNvSpPr>
            <a:spLocks noChangeAspect="1"/>
          </p:cNvSpPr>
          <p:nvPr/>
        </p:nvSpPr>
        <p:spPr>
          <a:xfrm>
            <a:off x="3242830" y="1980413"/>
            <a:ext cx="4258586" cy="4258585"/>
          </a:xfrm>
          <a:prstGeom prst="arc">
            <a:avLst>
              <a:gd name="adj1" fmla="val 19496131"/>
              <a:gd name="adj2" fmla="val 1545171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F3DEE5-0844-B48D-37C7-D65E3544FAA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B119BF-AF78-28E9-C471-0D0BF1CAB281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890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6B6D5C1-A1A9-8B38-F4CE-85EDC657E917}"/>
              </a:ext>
            </a:extLst>
          </p:cNvPr>
          <p:cNvCxnSpPr>
            <a:cxnSpLocks/>
          </p:cNvCxnSpPr>
          <p:nvPr/>
        </p:nvCxnSpPr>
        <p:spPr>
          <a:xfrm>
            <a:off x="4317488" y="5953364"/>
            <a:ext cx="383280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10E4678-21B4-4429-BDC5-FE44B7AC5703}"/>
              </a:ext>
            </a:extLst>
          </p:cNvPr>
          <p:cNvCxnSpPr>
            <a:cxnSpLocks/>
          </p:cNvCxnSpPr>
          <p:nvPr/>
        </p:nvCxnSpPr>
        <p:spPr>
          <a:xfrm flipV="1">
            <a:off x="4313693" y="3638551"/>
            <a:ext cx="1334478" cy="2310749"/>
          </a:xfrm>
          <a:prstGeom prst="line">
            <a:avLst/>
          </a:prstGeom>
          <a:ln w="38100" cap="rnd">
            <a:solidFill>
              <a:schemeClr val="tx1"/>
            </a:solidFill>
            <a:round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bisectriz de un ángulo es una </a:t>
            </a:r>
            <a:r>
              <a:rPr lang="es-ES" sz="2000" b="1" dirty="0">
                <a:solidFill>
                  <a:srgbClr val="4E95D9"/>
                </a:solidFill>
              </a:rPr>
              <a:t>semirrecta que divide al ángulo en otros dos ángulos iguales. </a:t>
            </a:r>
            <a:r>
              <a:rPr lang="es-ES" sz="2000" b="1" dirty="0"/>
              <a:t>Los puntos de la bisectriz equidistan (están a igual distancia) de los lados del ángulo.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!!Arco 180">
            <a:extLst>
              <a:ext uri="{FF2B5EF4-FFF2-40B4-BE49-F238E27FC236}">
                <a16:creationId xmlns:a16="http://schemas.microsoft.com/office/drawing/2014/main" id="{EFA93801-D78B-3640-8EE9-17EFFBE62EF4}"/>
              </a:ext>
            </a:extLst>
          </p:cNvPr>
          <p:cNvSpPr>
            <a:spLocks noChangeAspect="1"/>
          </p:cNvSpPr>
          <p:nvPr/>
        </p:nvSpPr>
        <p:spPr>
          <a:xfrm>
            <a:off x="2191572" y="3827180"/>
            <a:ext cx="4258586" cy="4258585"/>
          </a:xfrm>
          <a:prstGeom prst="arc">
            <a:avLst>
              <a:gd name="adj1" fmla="val 18012121"/>
              <a:gd name="adj2" fmla="val 21580698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!!Arco 180">
            <a:extLst>
              <a:ext uri="{FF2B5EF4-FFF2-40B4-BE49-F238E27FC236}">
                <a16:creationId xmlns:a16="http://schemas.microsoft.com/office/drawing/2014/main" id="{C5CB7023-6D05-BD09-E335-83205329E099}"/>
              </a:ext>
            </a:extLst>
          </p:cNvPr>
          <p:cNvSpPr>
            <a:spLocks noChangeAspect="1"/>
          </p:cNvSpPr>
          <p:nvPr/>
        </p:nvSpPr>
        <p:spPr>
          <a:xfrm>
            <a:off x="3242830" y="1980413"/>
            <a:ext cx="4258586" cy="4258585"/>
          </a:xfrm>
          <a:prstGeom prst="arc">
            <a:avLst>
              <a:gd name="adj1" fmla="val 19496131"/>
              <a:gd name="adj2" fmla="val 1545171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!Arco 180">
            <a:extLst>
              <a:ext uri="{FF2B5EF4-FFF2-40B4-BE49-F238E27FC236}">
                <a16:creationId xmlns:a16="http://schemas.microsoft.com/office/drawing/2014/main" id="{EFCB2364-B38D-4E54-7E3B-DA09C627BB5F}"/>
              </a:ext>
            </a:extLst>
          </p:cNvPr>
          <p:cNvSpPr>
            <a:spLocks noChangeAspect="1"/>
          </p:cNvSpPr>
          <p:nvPr/>
        </p:nvSpPr>
        <p:spPr>
          <a:xfrm rot="18538634">
            <a:off x="4320863" y="3820007"/>
            <a:ext cx="4258586" cy="4258585"/>
          </a:xfrm>
          <a:prstGeom prst="arc">
            <a:avLst>
              <a:gd name="adj1" fmla="val 19496131"/>
              <a:gd name="adj2" fmla="val 1545171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0" name="!!Compas">
            <a:extLst>
              <a:ext uri="{FF2B5EF4-FFF2-40B4-BE49-F238E27FC236}">
                <a16:creationId xmlns:a16="http://schemas.microsoft.com/office/drawing/2014/main" id="{4B8ACFFF-A5CE-EBE9-2BA7-D7E7FC466DB6}"/>
              </a:ext>
            </a:extLst>
          </p:cNvPr>
          <p:cNvGrpSpPr/>
          <p:nvPr/>
        </p:nvGrpSpPr>
        <p:grpSpPr>
          <a:xfrm rot="19555688">
            <a:off x="5037532" y="3799158"/>
            <a:ext cx="2825251" cy="4314627"/>
            <a:chOff x="-54038" y="6349932"/>
            <a:chExt cx="4903201" cy="7488000"/>
          </a:xfrm>
        </p:grpSpPr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BDE097B5-A7A5-7A8E-C73B-7FB05DB69E32}"/>
                </a:ext>
              </a:extLst>
            </p:cNvPr>
            <p:cNvSpPr/>
            <p:nvPr/>
          </p:nvSpPr>
          <p:spPr>
            <a:xfrm rot="18522477">
              <a:off x="-1346437" y="7642331"/>
              <a:ext cx="7488000" cy="4903201"/>
            </a:xfrm>
            <a:custGeom>
              <a:avLst/>
              <a:gdLst>
                <a:gd name="connsiteX0" fmla="*/ 0 w 7500728"/>
                <a:gd name="connsiteY0" fmla="*/ 2432736 h 4858492"/>
                <a:gd name="connsiteX1" fmla="*/ 3750364 w 7500728"/>
                <a:gd name="connsiteY1" fmla="*/ 2432736 h 4858492"/>
                <a:gd name="connsiteX2" fmla="*/ 7500728 w 7500728"/>
                <a:gd name="connsiteY2" fmla="*/ 2432736 h 4858492"/>
                <a:gd name="connsiteX3" fmla="*/ 7500728 w 7500728"/>
                <a:gd name="connsiteY3" fmla="*/ 4858492 h 4858492"/>
                <a:gd name="connsiteX4" fmla="*/ 3750364 w 7500728"/>
                <a:gd name="connsiteY4" fmla="*/ 4858492 h 4858492"/>
                <a:gd name="connsiteX5" fmla="*/ 0 w 7500728"/>
                <a:gd name="connsiteY5" fmla="*/ 4858492 h 4858492"/>
                <a:gd name="connsiteX6" fmla="*/ 0 w 7500728"/>
                <a:gd name="connsiteY6" fmla="*/ 0 h 4858492"/>
                <a:gd name="connsiteX7" fmla="*/ 3750364 w 7500728"/>
                <a:gd name="connsiteY7" fmla="*/ 0 h 4858492"/>
                <a:gd name="connsiteX8" fmla="*/ 7500728 w 7500728"/>
                <a:gd name="connsiteY8" fmla="*/ 0 h 4858492"/>
                <a:gd name="connsiteX9" fmla="*/ 7500728 w 7500728"/>
                <a:gd name="connsiteY9" fmla="*/ 2425756 h 4858492"/>
                <a:gd name="connsiteX10" fmla="*/ 3750364 w 7500728"/>
                <a:gd name="connsiteY10" fmla="*/ 2425756 h 4858492"/>
                <a:gd name="connsiteX11" fmla="*/ 0 w 7500728"/>
                <a:gd name="connsiteY11" fmla="*/ 2425756 h 485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00728" h="4858492">
                  <a:moveTo>
                    <a:pt x="0" y="2432736"/>
                  </a:moveTo>
                  <a:lnTo>
                    <a:pt x="3750364" y="2432736"/>
                  </a:lnTo>
                  <a:lnTo>
                    <a:pt x="7500728" y="2432736"/>
                  </a:lnTo>
                  <a:lnTo>
                    <a:pt x="7500728" y="4858492"/>
                  </a:lnTo>
                  <a:lnTo>
                    <a:pt x="3750364" y="4858492"/>
                  </a:lnTo>
                  <a:lnTo>
                    <a:pt x="0" y="4858492"/>
                  </a:lnTo>
                  <a:close/>
                  <a:moveTo>
                    <a:pt x="0" y="0"/>
                  </a:moveTo>
                  <a:lnTo>
                    <a:pt x="3750364" y="0"/>
                  </a:lnTo>
                  <a:lnTo>
                    <a:pt x="7500728" y="0"/>
                  </a:lnTo>
                  <a:lnTo>
                    <a:pt x="7500728" y="2425756"/>
                  </a:lnTo>
                  <a:lnTo>
                    <a:pt x="3750364" y="2425756"/>
                  </a:lnTo>
                  <a:lnTo>
                    <a:pt x="0" y="242575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053C9B89-3B19-ABDF-49A4-9B425FBA5D88}"/>
                </a:ext>
              </a:extLst>
            </p:cNvPr>
            <p:cNvSpPr>
              <a:spLocks/>
            </p:cNvSpPr>
            <p:nvPr/>
          </p:nvSpPr>
          <p:spPr>
            <a:xfrm rot="21506393">
              <a:off x="2336666" y="7074590"/>
              <a:ext cx="2388102" cy="410903"/>
            </a:xfrm>
            <a:custGeom>
              <a:avLst/>
              <a:gdLst>
                <a:gd name="connsiteX0" fmla="*/ 0 w 2388102"/>
                <a:gd name="connsiteY0" fmla="*/ 308566 h 410903"/>
                <a:gd name="connsiteX1" fmla="*/ 1411322 w 2388102"/>
                <a:gd name="connsiteY1" fmla="*/ 220226 h 410903"/>
                <a:gd name="connsiteX2" fmla="*/ 1410793 w 2388102"/>
                <a:gd name="connsiteY2" fmla="*/ 124709 h 410903"/>
                <a:gd name="connsiteX3" fmla="*/ 1374341 w 2388102"/>
                <a:gd name="connsiteY3" fmla="*/ 124709 h 410903"/>
                <a:gd name="connsiteX4" fmla="*/ 1316886 w 2388102"/>
                <a:gd name="connsiteY4" fmla="*/ 86625 h 410903"/>
                <a:gd name="connsiteX5" fmla="*/ 1311986 w 2388102"/>
                <a:gd name="connsiteY5" fmla="*/ 62354 h 410903"/>
                <a:gd name="connsiteX6" fmla="*/ 1330249 w 2388102"/>
                <a:gd name="connsiteY6" fmla="*/ 18264 h 410903"/>
                <a:gd name="connsiteX7" fmla="*/ 1374341 w 2388102"/>
                <a:gd name="connsiteY7" fmla="*/ 0 h 410903"/>
                <a:gd name="connsiteX8" fmla="*/ 1546111 w 2388102"/>
                <a:gd name="connsiteY8" fmla="*/ 0 h 410903"/>
                <a:gd name="connsiteX9" fmla="*/ 1608466 w 2388102"/>
                <a:gd name="connsiteY9" fmla="*/ 62355 h 410903"/>
                <a:gd name="connsiteX10" fmla="*/ 1608465 w 2388102"/>
                <a:gd name="connsiteY10" fmla="*/ 62355 h 410903"/>
                <a:gd name="connsiteX11" fmla="*/ 1546110 w 2388102"/>
                <a:gd name="connsiteY11" fmla="*/ 124710 h 410903"/>
                <a:gd name="connsiteX12" fmla="*/ 1507783 w 2388102"/>
                <a:gd name="connsiteY12" fmla="*/ 124710 h 410903"/>
                <a:gd name="connsiteX13" fmla="*/ 1508278 w 2388102"/>
                <a:gd name="connsiteY13" fmla="*/ 214157 h 410903"/>
                <a:gd name="connsiteX14" fmla="*/ 2052914 w 2388102"/>
                <a:gd name="connsiteY14" fmla="*/ 180067 h 410903"/>
                <a:gd name="connsiteX15" fmla="*/ 2388102 w 2388102"/>
                <a:gd name="connsiteY15" fmla="*/ 150514 h 410903"/>
                <a:gd name="connsiteX16" fmla="*/ 2049080 w 2388102"/>
                <a:gd name="connsiteY16" fmla="*/ 283574 h 410903"/>
                <a:gd name="connsiteX17" fmla="*/ 2048595 w 2388102"/>
                <a:gd name="connsiteY17" fmla="*/ 281343 h 410903"/>
                <a:gd name="connsiteX18" fmla="*/ 2043341 w 2388102"/>
                <a:gd name="connsiteY18" fmla="*/ 283405 h 410903"/>
                <a:gd name="connsiteX19" fmla="*/ 6406 w 2388102"/>
                <a:gd name="connsiteY19" fmla="*/ 410903 h 41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88102" h="410903">
                  <a:moveTo>
                    <a:pt x="0" y="308566"/>
                  </a:moveTo>
                  <a:lnTo>
                    <a:pt x="1411322" y="220226"/>
                  </a:lnTo>
                  <a:lnTo>
                    <a:pt x="1410793" y="124709"/>
                  </a:lnTo>
                  <a:lnTo>
                    <a:pt x="1374341" y="124709"/>
                  </a:lnTo>
                  <a:cubicBezTo>
                    <a:pt x="1348513" y="124709"/>
                    <a:pt x="1326352" y="109006"/>
                    <a:pt x="1316886" y="86625"/>
                  </a:cubicBezTo>
                  <a:lnTo>
                    <a:pt x="1311986" y="62354"/>
                  </a:lnTo>
                  <a:lnTo>
                    <a:pt x="1330249" y="18264"/>
                  </a:lnTo>
                  <a:cubicBezTo>
                    <a:pt x="1341533" y="6979"/>
                    <a:pt x="1357122" y="0"/>
                    <a:pt x="1374341" y="0"/>
                  </a:cubicBezTo>
                  <a:lnTo>
                    <a:pt x="1546111" y="0"/>
                  </a:lnTo>
                  <a:cubicBezTo>
                    <a:pt x="1580549" y="0"/>
                    <a:pt x="1608466" y="27917"/>
                    <a:pt x="1608466" y="62355"/>
                  </a:cubicBezTo>
                  <a:lnTo>
                    <a:pt x="1608465" y="62355"/>
                  </a:lnTo>
                  <a:cubicBezTo>
                    <a:pt x="1608465" y="96793"/>
                    <a:pt x="1580548" y="124710"/>
                    <a:pt x="1546110" y="124710"/>
                  </a:cubicBezTo>
                  <a:lnTo>
                    <a:pt x="1507783" y="124710"/>
                  </a:lnTo>
                  <a:lnTo>
                    <a:pt x="1508278" y="214157"/>
                  </a:lnTo>
                  <a:lnTo>
                    <a:pt x="2052914" y="180067"/>
                  </a:lnTo>
                  <a:lnTo>
                    <a:pt x="2388102" y="150514"/>
                  </a:lnTo>
                  <a:lnTo>
                    <a:pt x="2049080" y="283574"/>
                  </a:lnTo>
                  <a:lnTo>
                    <a:pt x="2048595" y="281343"/>
                  </a:lnTo>
                  <a:lnTo>
                    <a:pt x="2043341" y="283405"/>
                  </a:lnTo>
                  <a:lnTo>
                    <a:pt x="6406" y="4109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AE0ECFFA-5DA7-2103-26AA-2AF82CE11562}"/>
                </a:ext>
              </a:extLst>
            </p:cNvPr>
            <p:cNvSpPr>
              <a:spLocks/>
            </p:cNvSpPr>
            <p:nvPr/>
          </p:nvSpPr>
          <p:spPr>
            <a:xfrm rot="10826393">
              <a:off x="2060203" y="7725617"/>
              <a:ext cx="411509" cy="2382571"/>
            </a:xfrm>
            <a:custGeom>
              <a:avLst/>
              <a:gdLst>
                <a:gd name="connsiteX0" fmla="*/ 411509 w 411509"/>
                <a:gd name="connsiteY0" fmla="*/ 2367059 h 2382571"/>
                <a:gd name="connsiteX1" fmla="*/ 310151 w 411509"/>
                <a:gd name="connsiteY1" fmla="*/ 2382571 h 2382571"/>
                <a:gd name="connsiteX2" fmla="*/ 1386 w 411509"/>
                <a:gd name="connsiteY2" fmla="*/ 365141 h 2382571"/>
                <a:gd name="connsiteX3" fmla="*/ 2283 w 411509"/>
                <a:gd name="connsiteY3" fmla="*/ 359569 h 2382571"/>
                <a:gd name="connsiteX4" fmla="*/ 0 w 411509"/>
                <a:gd name="connsiteY4" fmla="*/ 359569 h 2382571"/>
                <a:gd name="connsiteX5" fmla="*/ 57889 w 411509"/>
                <a:gd name="connsiteY5" fmla="*/ 0 h 2382571"/>
                <a:gd name="connsiteX6" fmla="*/ 100322 w 411509"/>
                <a:gd name="connsiteY6" fmla="*/ 333803 h 23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509" h="2382571">
                  <a:moveTo>
                    <a:pt x="411509" y="2367059"/>
                  </a:moveTo>
                  <a:lnTo>
                    <a:pt x="310151" y="2382571"/>
                  </a:lnTo>
                  <a:lnTo>
                    <a:pt x="1386" y="365141"/>
                  </a:lnTo>
                  <a:lnTo>
                    <a:pt x="2283" y="359569"/>
                  </a:lnTo>
                  <a:lnTo>
                    <a:pt x="0" y="359569"/>
                  </a:lnTo>
                  <a:lnTo>
                    <a:pt x="57889" y="0"/>
                  </a:lnTo>
                  <a:lnTo>
                    <a:pt x="100322" y="333803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65000"/>
                  </a:sysClr>
                </a:gs>
                <a:gs pos="100000">
                  <a:srgbClr val="A5A5A5">
                    <a:lumMod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C7CCA6FC-0AA0-D50F-EF8E-82545CB52E03}"/>
                </a:ext>
              </a:extLst>
            </p:cNvPr>
            <p:cNvSpPr>
              <a:spLocks/>
            </p:cNvSpPr>
            <p:nvPr/>
          </p:nvSpPr>
          <p:spPr>
            <a:xfrm rot="18506393">
              <a:off x="1708869" y="6961196"/>
              <a:ext cx="555626" cy="868920"/>
            </a:xfrm>
            <a:custGeom>
              <a:avLst/>
              <a:gdLst>
                <a:gd name="connsiteX0" fmla="*/ 277813 w 555626"/>
                <a:gd name="connsiteY0" fmla="*/ 456623 h 868920"/>
                <a:gd name="connsiteX1" fmla="*/ 143329 w 555626"/>
                <a:gd name="connsiteY1" fmla="*/ 591107 h 868920"/>
                <a:gd name="connsiteX2" fmla="*/ 277813 w 555626"/>
                <a:gd name="connsiteY2" fmla="*/ 725591 h 868920"/>
                <a:gd name="connsiteX3" fmla="*/ 412297 w 555626"/>
                <a:gd name="connsiteY3" fmla="*/ 591107 h 868920"/>
                <a:gd name="connsiteX4" fmla="*/ 277813 w 555626"/>
                <a:gd name="connsiteY4" fmla="*/ 456623 h 868920"/>
                <a:gd name="connsiteX5" fmla="*/ 277813 w 555626"/>
                <a:gd name="connsiteY5" fmla="*/ 0 h 868920"/>
                <a:gd name="connsiteX6" fmla="*/ 332503 w 555626"/>
                <a:gd name="connsiteY6" fmla="*/ 54690 h 868920"/>
                <a:gd name="connsiteX7" fmla="*/ 332503 w 555626"/>
                <a:gd name="connsiteY7" fmla="*/ 324336 h 868920"/>
                <a:gd name="connsiteX8" fmla="*/ 385951 w 555626"/>
                <a:gd name="connsiteY8" fmla="*/ 335126 h 868920"/>
                <a:gd name="connsiteX9" fmla="*/ 555626 w 555626"/>
                <a:gd name="connsiteY9" fmla="*/ 591107 h 868920"/>
                <a:gd name="connsiteX10" fmla="*/ 277813 w 555626"/>
                <a:gd name="connsiteY10" fmla="*/ 868920 h 868920"/>
                <a:gd name="connsiteX11" fmla="*/ 0 w 555626"/>
                <a:gd name="connsiteY11" fmla="*/ 591107 h 868920"/>
                <a:gd name="connsiteX12" fmla="*/ 169676 w 555626"/>
                <a:gd name="connsiteY12" fmla="*/ 335126 h 868920"/>
                <a:gd name="connsiteX13" fmla="*/ 223123 w 555626"/>
                <a:gd name="connsiteY13" fmla="*/ 324336 h 868920"/>
                <a:gd name="connsiteX14" fmla="*/ 223123 w 555626"/>
                <a:gd name="connsiteY14" fmla="*/ 54690 h 868920"/>
                <a:gd name="connsiteX15" fmla="*/ 277813 w 555626"/>
                <a:gd name="connsiteY15" fmla="*/ 0 h 86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626" h="868920">
                  <a:moveTo>
                    <a:pt x="277813" y="456623"/>
                  </a:moveTo>
                  <a:cubicBezTo>
                    <a:pt x="203540" y="456623"/>
                    <a:pt x="143329" y="516834"/>
                    <a:pt x="143329" y="591107"/>
                  </a:cubicBezTo>
                  <a:cubicBezTo>
                    <a:pt x="143329" y="665380"/>
                    <a:pt x="203540" y="725591"/>
                    <a:pt x="277813" y="725591"/>
                  </a:cubicBezTo>
                  <a:cubicBezTo>
                    <a:pt x="352086" y="725591"/>
                    <a:pt x="412297" y="665380"/>
                    <a:pt x="412297" y="591107"/>
                  </a:cubicBezTo>
                  <a:cubicBezTo>
                    <a:pt x="412297" y="516834"/>
                    <a:pt x="352086" y="456623"/>
                    <a:pt x="277813" y="456623"/>
                  </a:cubicBezTo>
                  <a:close/>
                  <a:moveTo>
                    <a:pt x="277813" y="0"/>
                  </a:moveTo>
                  <a:cubicBezTo>
                    <a:pt x="308017" y="0"/>
                    <a:pt x="332503" y="24486"/>
                    <a:pt x="332503" y="54690"/>
                  </a:cubicBezTo>
                  <a:lnTo>
                    <a:pt x="332503" y="324336"/>
                  </a:lnTo>
                  <a:lnTo>
                    <a:pt x="385951" y="335126"/>
                  </a:lnTo>
                  <a:cubicBezTo>
                    <a:pt x="485662" y="377300"/>
                    <a:pt x="555626" y="476033"/>
                    <a:pt x="555626" y="591107"/>
                  </a:cubicBezTo>
                  <a:cubicBezTo>
                    <a:pt x="555626" y="744539"/>
                    <a:pt x="431245" y="868920"/>
                    <a:pt x="277813" y="868920"/>
                  </a:cubicBezTo>
                  <a:cubicBezTo>
                    <a:pt x="124381" y="868920"/>
                    <a:pt x="0" y="744539"/>
                    <a:pt x="0" y="591107"/>
                  </a:cubicBezTo>
                  <a:cubicBezTo>
                    <a:pt x="0" y="476033"/>
                    <a:pt x="69965" y="377300"/>
                    <a:pt x="169676" y="335126"/>
                  </a:cubicBezTo>
                  <a:lnTo>
                    <a:pt x="223123" y="324336"/>
                  </a:lnTo>
                  <a:lnTo>
                    <a:pt x="223123" y="54690"/>
                  </a:lnTo>
                  <a:cubicBezTo>
                    <a:pt x="223123" y="24486"/>
                    <a:pt x="247609" y="0"/>
                    <a:pt x="277813" y="0"/>
                  </a:cubicBezTo>
                  <a:close/>
                </a:path>
              </a:pathLst>
            </a:cu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Rectángulo 7">
            <a:extLst>
              <a:ext uri="{FF2B5EF4-FFF2-40B4-BE49-F238E27FC236}">
                <a16:creationId xmlns:a16="http://schemas.microsoft.com/office/drawing/2014/main" id="{24AC4DD1-F47F-BFE8-2BDE-E02FB1EF6D0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27B5DE-2CFD-503E-C711-6053F709F64B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755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Arco 180">
            <a:extLst>
              <a:ext uri="{FF2B5EF4-FFF2-40B4-BE49-F238E27FC236}">
                <a16:creationId xmlns:a16="http://schemas.microsoft.com/office/drawing/2014/main" id="{C5CB7023-6D05-BD09-E335-83205329E099}"/>
              </a:ext>
            </a:extLst>
          </p:cNvPr>
          <p:cNvSpPr>
            <a:spLocks noChangeAspect="1"/>
          </p:cNvSpPr>
          <p:nvPr/>
        </p:nvSpPr>
        <p:spPr>
          <a:xfrm>
            <a:off x="3242830" y="1980413"/>
            <a:ext cx="4258586" cy="4258585"/>
          </a:xfrm>
          <a:prstGeom prst="arc">
            <a:avLst>
              <a:gd name="adj1" fmla="val 19496131"/>
              <a:gd name="adj2" fmla="val 1545171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!Arco 180">
            <a:extLst>
              <a:ext uri="{FF2B5EF4-FFF2-40B4-BE49-F238E27FC236}">
                <a16:creationId xmlns:a16="http://schemas.microsoft.com/office/drawing/2014/main" id="{EFCB2364-B38D-4E54-7E3B-DA09C627BB5F}"/>
              </a:ext>
            </a:extLst>
          </p:cNvPr>
          <p:cNvSpPr>
            <a:spLocks noChangeAspect="1"/>
          </p:cNvSpPr>
          <p:nvPr/>
        </p:nvSpPr>
        <p:spPr>
          <a:xfrm rot="18538634">
            <a:off x="4320863" y="3820007"/>
            <a:ext cx="4258586" cy="4258585"/>
          </a:xfrm>
          <a:prstGeom prst="arc">
            <a:avLst>
              <a:gd name="adj1" fmla="val 19496131"/>
              <a:gd name="adj2" fmla="val 1545171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2BD3B32-904E-E5C7-2A65-02BFC1648B9D}"/>
              </a:ext>
            </a:extLst>
          </p:cNvPr>
          <p:cNvCxnSpPr>
            <a:cxnSpLocks/>
          </p:cNvCxnSpPr>
          <p:nvPr/>
        </p:nvCxnSpPr>
        <p:spPr>
          <a:xfrm flipH="1">
            <a:off x="4319032" y="3726164"/>
            <a:ext cx="3822571" cy="2215526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3BEF493-95DF-1521-7F55-3B1EB0F12632}"/>
              </a:ext>
            </a:extLst>
          </p:cNvPr>
          <p:cNvCxnSpPr>
            <a:cxnSpLocks/>
          </p:cNvCxnSpPr>
          <p:nvPr/>
        </p:nvCxnSpPr>
        <p:spPr>
          <a:xfrm>
            <a:off x="4317488" y="5953364"/>
            <a:ext cx="383280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CDDC28B-FC81-C922-9D02-0E8BC2882DA5}"/>
              </a:ext>
            </a:extLst>
          </p:cNvPr>
          <p:cNvCxnSpPr>
            <a:cxnSpLocks/>
          </p:cNvCxnSpPr>
          <p:nvPr/>
        </p:nvCxnSpPr>
        <p:spPr>
          <a:xfrm flipV="1">
            <a:off x="4313693" y="3638551"/>
            <a:ext cx="1334478" cy="2310749"/>
          </a:xfrm>
          <a:prstGeom prst="line">
            <a:avLst/>
          </a:prstGeom>
          <a:ln w="38100" cap="rnd">
            <a:solidFill>
              <a:schemeClr val="tx1"/>
            </a:solidFill>
            <a:round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4481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bisectriz de un ángulo es una </a:t>
            </a:r>
            <a:r>
              <a:rPr lang="es-ES" sz="2000" b="1" dirty="0">
                <a:solidFill>
                  <a:srgbClr val="4E95D9"/>
                </a:solidFill>
              </a:rPr>
              <a:t>semirrecta que divide al ángulo en otros dos ángulos iguales.</a:t>
            </a:r>
            <a:r>
              <a:rPr lang="es-ES" sz="2000" b="1" dirty="0"/>
              <a:t> Los puntos de la bisectriz equidistan (están a igual distancia) de los lados del ángulo.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!!Arco 180">
            <a:extLst>
              <a:ext uri="{FF2B5EF4-FFF2-40B4-BE49-F238E27FC236}">
                <a16:creationId xmlns:a16="http://schemas.microsoft.com/office/drawing/2014/main" id="{EFA93801-D78B-3640-8EE9-17EFFBE62EF4}"/>
              </a:ext>
            </a:extLst>
          </p:cNvPr>
          <p:cNvSpPr>
            <a:spLocks noChangeAspect="1"/>
          </p:cNvSpPr>
          <p:nvPr/>
        </p:nvSpPr>
        <p:spPr>
          <a:xfrm>
            <a:off x="2191572" y="3827180"/>
            <a:ext cx="4258586" cy="4258585"/>
          </a:xfrm>
          <a:prstGeom prst="arc">
            <a:avLst>
              <a:gd name="adj1" fmla="val 18012121"/>
              <a:gd name="adj2" fmla="val 21580698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84D1974-0003-AB09-181E-4D7EB7ED3CA2}"/>
              </a:ext>
            </a:extLst>
          </p:cNvPr>
          <p:cNvSpPr txBox="1"/>
          <p:nvPr/>
        </p:nvSpPr>
        <p:spPr>
          <a:xfrm>
            <a:off x="7303741" y="3358246"/>
            <a:ext cx="11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76AE86-0F93-BB49-36B6-D0F3635D924F}"/>
              </a:ext>
            </a:extLst>
          </p:cNvPr>
          <p:cNvSpPr/>
          <p:nvPr/>
        </p:nvSpPr>
        <p:spPr>
          <a:xfrm rot="9000000">
            <a:off x="3653455" y="4621572"/>
            <a:ext cx="6227999" cy="795194"/>
          </a:xfrm>
          <a:prstGeom prst="rect">
            <a:avLst/>
          </a:prstGeom>
          <a:solidFill>
            <a:srgbClr val="196B24">
              <a:lumMod val="60000"/>
              <a:lumOff val="40000"/>
              <a:alpha val="54000"/>
            </a:srgbClr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1C627E-EF91-2BCD-60C3-B64B94C0C05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F12D8A-50A1-3186-A6D4-AF7F86973B49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261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0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C80DCB5-E68A-40D8-8B9E-B5F373B414D1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Mediatriz y bisectriz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9. Problemas métricos en el plano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B043748-0E27-4C63-94C0-3D1C593DE3F2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5C46E55-50C2-443B-9E6E-995AA8CB9BC7}:26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E524C10-089C-44F0-9F98-1549AC5B76AD}:26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3AF5BD7-FBF3-45F8-A3C3-C3BDC0C29CE9}:26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01337E2-8B53-47D1-986D-C400A36B4FA2}:26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6E8F394-2AEC-49C5-AA22-3459E6D3DF7D}:25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C5D1472-983F-4038-B5C9-4418FBE245FE}:25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20B8D3C-3FA7-4EBF-85F6-53490CF97234}:26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E1D4216-F5D8-4AF3-A647-7F88482F3DB7}:26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4A4A469-458D-4CAA-B00A-E93686157B13}:262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507</Words>
  <Application>Microsoft Office PowerPoint</Application>
  <PresentationFormat>Panorámica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AGaramondPro-Italic</vt:lpstr>
      <vt:lpstr>AGaramondPro-Regular</vt:lpstr>
      <vt:lpstr>Agency FB</vt:lpstr>
      <vt:lpstr>Aptos</vt:lpstr>
      <vt:lpstr>Arial</vt:lpstr>
      <vt:lpstr>Calibri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Mediatriz y bisectriz</dc:title>
  <dc:creator>Illán Linos Souto</dc:creator>
  <cp:lastModifiedBy>Illán Linos</cp:lastModifiedBy>
  <cp:revision>51</cp:revision>
  <dcterms:created xsi:type="dcterms:W3CDTF">2024-08-18T18:48:07Z</dcterms:created>
  <dcterms:modified xsi:type="dcterms:W3CDTF">2025-11-20T22:24:22Z</dcterms:modified>
</cp:coreProperties>
</file>