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tags/tag3.xml" ContentType="application/vnd.openxmlformats-officedocument.presentationml.tags+xml"/>
  <Override PartName="/ppt/notesSlides/notesSlide2.xml" ContentType="application/vnd.openxmlformats-officedocument.presentationml.notesSlide+xml"/>
  <Override PartName="/ppt/tags/tag4.xml" ContentType="application/vnd.openxmlformats-officedocument.presentationml.tags+xml"/>
  <Override PartName="/ppt/notesSlides/notesSlide3.xml" ContentType="application/vnd.openxmlformats-officedocument.presentationml.notesSlide+xml"/>
  <Override PartName="/ppt/tags/tag5.xml" ContentType="application/vnd.openxmlformats-officedocument.presentationml.tags+xml"/>
  <Override PartName="/ppt/notesSlides/notesSlide4.xml" ContentType="application/vnd.openxmlformats-officedocument.presentationml.notesSlide+xml"/>
  <Override PartName="/ppt/tags/tag6.xml" ContentType="application/vnd.openxmlformats-officedocument.presentationml.tags+xml"/>
  <Override PartName="/ppt/notesSlides/notesSlide5.xml" ContentType="application/vnd.openxmlformats-officedocument.presentationml.notesSlide+xml"/>
  <Override PartName="/ppt/tags/tag7.xml" ContentType="application/vnd.openxmlformats-officedocument.presentationml.tags+xml"/>
  <Override PartName="/ppt/notesSlides/notesSlide6.xml" ContentType="application/vnd.openxmlformats-officedocument.presentationml.notesSlide+xml"/>
  <Override PartName="/ppt/tags/tag8.xml" ContentType="application/vnd.openxmlformats-officedocument.presentationml.tags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</p:sldIdLst>
  <p:sldSz cx="12192000" cy="6858000"/>
  <p:notesSz cx="6858000" cy="9144000"/>
  <p:custDataLst>
    <p:tags r:id="rId10"/>
  </p:custDataLst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56082"/>
    <a:srgbClr val="EF4246"/>
    <a:srgbClr val="5759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Sin estilo, cuadrícula de la tab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74" autoAdjust="0"/>
    <p:restoredTop sz="96238" autoAdjust="0"/>
  </p:normalViewPr>
  <p:slideViewPr>
    <p:cSldViewPr snapToGrid="0">
      <p:cViewPr varScale="1">
        <p:scale>
          <a:sx n="107" d="100"/>
          <a:sy n="107" d="100"/>
        </p:scale>
        <p:origin x="630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tags" Target="tags/tag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31A7A4-4E00-47A4-871E-0F902546309C}" type="datetimeFigureOut">
              <a:rPr lang="es-ES" smtClean="0"/>
              <a:t>20/11/2025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DF0FFB7-F56E-4AC8-BAE0-5DD4AE0729C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765521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F0FFB7-F56E-4AC8-BAE0-5DD4AE0729C8}" type="slidenum">
              <a:rPr lang="es-ES" smtClean="0"/>
              <a:t>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2023665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F0FFB7-F56E-4AC8-BAE0-5DD4AE0729C8}" type="slidenum">
              <a:rPr lang="es-ES" smtClean="0"/>
              <a:t>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157691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F0FFB7-F56E-4AC8-BAE0-5DD4AE0729C8}" type="slidenum">
              <a:rPr lang="es-ES" smtClean="0"/>
              <a:t>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6840171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F0FFB7-F56E-4AC8-BAE0-5DD4AE0729C8}" type="slidenum">
              <a:rPr lang="es-ES" smtClean="0"/>
              <a:t>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1670961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F0FFB7-F56E-4AC8-BAE0-5DD4AE0729C8}" type="slidenum">
              <a:rPr lang="es-ES" smtClean="0"/>
              <a:t>5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0206109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F0FFB7-F56E-4AC8-BAE0-5DD4AE0729C8}" type="slidenum">
              <a:rPr lang="es-ES" smtClean="0"/>
              <a:t>6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8072332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F0FFB7-F56E-4AC8-BAE0-5DD4AE0729C8}" type="slidenum">
              <a:rPr lang="es-ES" smtClean="0"/>
              <a:t>7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466329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F30CC69-0242-EE52-5289-975CBA2714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6F73D9F-B4D1-33D9-1D9E-271DC37A5E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1B39749-7708-B233-4400-98CF8C5017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26388BE-A95D-EE17-9576-0B1138379D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43D0BC4-CBE6-D467-E4D6-D64D32A57D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8788960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030BAC-1FB0-491F-B603-3E5454500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2D2B9C2-E0AD-3BBC-D8A3-47A4754CCC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B1FCF2C-2E83-F0B3-7C49-1FAAE14120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A684B2A-CB3A-7102-BDD4-2F18AA9CC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A8DB67A-C1BA-90FE-61D4-ECDD22E4C0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5728481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BDC9DC-72C3-F198-AFF4-787C9902F3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4580639-1DFF-62A6-4B36-1388D36D2A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D1EF8A9-8072-80ED-8C3E-2612BB66FA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6F21A17-5845-AA5F-EF08-20FC40F70B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ADA33D3-04F5-0B1F-71C9-5784F3658A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1574621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A352E5-63E6-0BEF-532D-E52C8C5C11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D0E9DDE-BBA1-199E-A343-07F0C4D637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21534CA-3C16-BC29-D85F-2DFF0D4AC4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25BE418-589F-9F63-2F44-25C1FEC282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B9955F2-ABB9-4947-BBFF-5D163FE48F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C49642F-2057-D0A7-29F6-105C0BC44B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8304965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A2EB1B-6FEB-11D6-7747-C644CB42BD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E7A958E-B4E1-010E-7195-E2BBB20852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001E33A-EA12-5855-CF73-F53B369C3F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F0888ACB-A13F-1F1E-6897-3B8D4972FC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DF7CF691-1808-02B7-B038-046B7536E39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77277917-8322-4093-178F-A9DACEF589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54B37C16-BE58-1006-6656-85C156369C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A0F44860-CAA5-300E-EC8A-678764646F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938632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B697BC-44BC-F6A3-3B3A-9061217A6B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A266EEE2-A47A-6360-2F03-FCB00E03D9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FC4E4590-3762-5D55-5414-FD37FCCC9C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3EABE1C9-EE22-D475-B974-B7FD868900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8235959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65A1C9C2-287B-BFB5-6360-B6B9BF11D9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42A85BED-F9C2-B7AA-F0C1-B4BBE23B30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BA57394-8137-0A52-85CD-7B5C04D760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8645243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4E36CD-55FB-DE2E-9C92-ECB6F01289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3189CA2-3ED8-7653-E541-3314D3E7CC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234EC18-037F-C4BA-B572-E9717A54E8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E363633-E074-9B5A-A143-CED74E7198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58EB83B-4105-2D5F-9E15-1089C67BC3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634990F-A961-2D4E-817B-8363E47BBF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7691549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DB6008-DB7C-3324-403B-7657B81765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62FD88B2-9A94-BDDB-FAF2-931DA13042D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 dirty="0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5A41C9A-1AEA-7DDD-D68F-E69F0B3887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E954D82-C7F9-CAFF-7A53-9B8702713F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C78EE88-8582-855D-4C7A-80A0B6B1C8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C7705F8-A957-7664-DD87-ADB5F3227B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0537321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58A047-3EF9-CD34-78AF-5041439860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C4FC04D-A229-A68C-D470-62CFD3084A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79EF32C-D8D2-51BE-CEBE-3458EDBB78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81F469C-112A-DEC8-A016-1F623F9192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690AE46-A55B-56FF-1006-2C0A6D79D6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0092121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F857533-87A5-755E-31C0-0F39BDFFA88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161402F-BC08-3B7E-9D9B-FB176E46CE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2D70B13-29F6-BFB0-3110-5363018D98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1110C1E-4D6E-44ED-E74C-E8B2893C7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4609230-F255-4451-22E1-498837BDBA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181146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CA11EF0C-DF51-DDFE-8A88-2777D9AAB4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42B8EC7-7A82-FD16-3D86-7F6E80B1F3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DCAE80F-9F6E-A95C-C6E1-E800DB8A5A5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37CFB18-B5E6-AFA1-A378-83FC7C484D2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F426725-340B-BBCA-B44B-A0300BEA83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1464058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notesSlide" Target="../notesSlides/notesSlide1.xml"/><Relationship Id="rId7" Type="http://schemas.openxmlformats.org/officeDocument/2006/relationships/image" Target="../media/image9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Relationship Id="rId6" Type="http://schemas.openxmlformats.org/officeDocument/2006/relationships/image" Target="../media/image8.png"/><Relationship Id="rId9" Type="http://schemas.openxmlformats.org/officeDocument/2006/relationships/image" Target="../media/image11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notesSlide" Target="../notesSlides/notesSlide2.xml"/><Relationship Id="rId7" Type="http://schemas.openxmlformats.org/officeDocument/2006/relationships/image" Target="../media/image9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10" Type="http://schemas.openxmlformats.org/officeDocument/2006/relationships/image" Target="../media/image12.png"/><Relationship Id="rId9" Type="http://schemas.openxmlformats.org/officeDocument/2006/relationships/image" Target="../media/image11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notesSlide" Target="../notesSlides/notesSlide3.xml"/><Relationship Id="rId7" Type="http://schemas.openxmlformats.org/officeDocument/2006/relationships/image" Target="../media/image15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4.xml"/><Relationship Id="rId6" Type="http://schemas.openxmlformats.org/officeDocument/2006/relationships/image" Target="../media/image1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notesSlide" Target="../notesSlides/notesSlide4.xml"/><Relationship Id="rId7" Type="http://schemas.openxmlformats.org/officeDocument/2006/relationships/image" Target="../media/image15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5.xml"/><Relationship Id="rId6" Type="http://schemas.openxmlformats.org/officeDocument/2006/relationships/image" Target="../media/image14.png"/><Relationship Id="rId9" Type="http://schemas.openxmlformats.org/officeDocument/2006/relationships/image" Target="../media/image1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7" Type="http://schemas.openxmlformats.org/officeDocument/2006/relationships/image" Target="../media/image19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8.xml"/><Relationship Id="rId6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!CuadroTexto 1">
            <a:extLst>
              <a:ext uri="{FF2B5EF4-FFF2-40B4-BE49-F238E27FC236}">
                <a16:creationId xmlns:a16="http://schemas.microsoft.com/office/drawing/2014/main" id="{9392ACFB-BB77-6E52-3E51-6568D27ECDD5}"/>
              </a:ext>
            </a:extLst>
          </p:cNvPr>
          <p:cNvSpPr txBox="1"/>
          <p:nvPr/>
        </p:nvSpPr>
        <p:spPr>
          <a:xfrm>
            <a:off x="334407" y="976328"/>
            <a:ext cx="267187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RECTÁNGULO:</a:t>
            </a:r>
            <a:endParaRPr lang="es-ES" sz="2000" b="1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grpSp>
        <p:nvGrpSpPr>
          <p:cNvPr id="9" name="Grupo 8">
            <a:extLst>
              <a:ext uri="{FF2B5EF4-FFF2-40B4-BE49-F238E27FC236}">
                <a16:creationId xmlns:a16="http://schemas.microsoft.com/office/drawing/2014/main" id="{18EB5215-EB36-BF32-B03A-9823AB9D2242}"/>
              </a:ext>
            </a:extLst>
          </p:cNvPr>
          <p:cNvGrpSpPr/>
          <p:nvPr/>
        </p:nvGrpSpPr>
        <p:grpSpPr>
          <a:xfrm>
            <a:off x="1126062" y="1468499"/>
            <a:ext cx="2765868" cy="975945"/>
            <a:chOff x="985837" y="3836008"/>
            <a:chExt cx="2765868" cy="975945"/>
          </a:xfrm>
        </p:grpSpPr>
        <p:sp>
          <p:nvSpPr>
            <p:cNvPr id="10" name="Rectángulo 9">
              <a:extLst>
                <a:ext uri="{FF2B5EF4-FFF2-40B4-BE49-F238E27FC236}">
                  <a16:creationId xmlns:a16="http://schemas.microsoft.com/office/drawing/2014/main" id="{E659213B-05F4-1AE2-7D1A-FD6218BC6D60}"/>
                </a:ext>
              </a:extLst>
            </p:cNvPr>
            <p:cNvSpPr/>
            <p:nvPr/>
          </p:nvSpPr>
          <p:spPr>
            <a:xfrm>
              <a:off x="1352551" y="3836008"/>
              <a:ext cx="2399154" cy="60623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cap="rnd">
              <a:solidFill>
                <a:schemeClr val="accent4">
                  <a:lumMod val="60000"/>
                  <a:lumOff val="40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sz="1600"/>
            </a:p>
          </p:txBody>
        </p:sp>
        <p:sp>
          <p:nvSpPr>
            <p:cNvPr id="11" name="CuadroTexto 10">
              <a:extLst>
                <a:ext uri="{FF2B5EF4-FFF2-40B4-BE49-F238E27FC236}">
                  <a16:creationId xmlns:a16="http://schemas.microsoft.com/office/drawing/2014/main" id="{71DBC54B-DA8B-3B82-213F-948B296F6EEC}"/>
                </a:ext>
              </a:extLst>
            </p:cNvPr>
            <p:cNvSpPr txBox="1"/>
            <p:nvPr/>
          </p:nvSpPr>
          <p:spPr>
            <a:xfrm>
              <a:off x="985837" y="3957600"/>
              <a:ext cx="30003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2000" b="1" dirty="0">
                  <a:solidFill>
                    <a:schemeClr val="accent1">
                      <a:lumMod val="60000"/>
                      <a:lumOff val="40000"/>
                    </a:schemeClr>
                  </a:solidFill>
                </a:rPr>
                <a:t>a</a:t>
              </a:r>
            </a:p>
          </p:txBody>
        </p:sp>
        <p:sp>
          <p:nvSpPr>
            <p:cNvPr id="13" name="CuadroTexto 12">
              <a:extLst>
                <a:ext uri="{FF2B5EF4-FFF2-40B4-BE49-F238E27FC236}">
                  <a16:creationId xmlns:a16="http://schemas.microsoft.com/office/drawing/2014/main" id="{29913689-8D98-4950-E705-4A280A5C7450}"/>
                </a:ext>
              </a:extLst>
            </p:cNvPr>
            <p:cNvSpPr txBox="1"/>
            <p:nvPr/>
          </p:nvSpPr>
          <p:spPr>
            <a:xfrm>
              <a:off x="2424998" y="4411843"/>
              <a:ext cx="30003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2000" b="1" dirty="0">
                  <a:solidFill>
                    <a:schemeClr val="accent1">
                      <a:lumMod val="60000"/>
                      <a:lumOff val="40000"/>
                    </a:schemeClr>
                  </a:solidFill>
                </a:rPr>
                <a:t>b</a:t>
              </a:r>
            </a:p>
          </p:txBody>
        </p:sp>
      </p:grpSp>
      <p:sp>
        <p:nvSpPr>
          <p:cNvPr id="14" name="CuadroTexto 13">
            <a:extLst>
              <a:ext uri="{FF2B5EF4-FFF2-40B4-BE49-F238E27FC236}">
                <a16:creationId xmlns:a16="http://schemas.microsoft.com/office/drawing/2014/main" id="{98171E38-DD57-7BF6-CD32-7D60AA7FDBF0}"/>
              </a:ext>
            </a:extLst>
          </p:cNvPr>
          <p:cNvSpPr txBox="1"/>
          <p:nvPr/>
        </p:nvSpPr>
        <p:spPr>
          <a:xfrm>
            <a:off x="4503244" y="1288407"/>
            <a:ext cx="11620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ÁREA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0566127D-4E0D-1797-ECC2-8FF368977AD4}"/>
              </a:ext>
            </a:extLst>
          </p:cNvPr>
          <p:cNvSpPr txBox="1"/>
          <p:nvPr/>
        </p:nvSpPr>
        <p:spPr>
          <a:xfrm>
            <a:off x="4503244" y="1807772"/>
            <a:ext cx="19978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PERÍMETRO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CuadroTexto 16">
                <a:extLst>
                  <a:ext uri="{FF2B5EF4-FFF2-40B4-BE49-F238E27FC236}">
                    <a16:creationId xmlns:a16="http://schemas.microsoft.com/office/drawing/2014/main" id="{FB3DB109-A839-68FD-9CDD-8459C0DF6E18}"/>
                  </a:ext>
                </a:extLst>
              </p:cNvPr>
              <p:cNvSpPr txBox="1"/>
              <p:nvPr/>
            </p:nvSpPr>
            <p:spPr>
              <a:xfrm>
                <a:off x="6589455" y="1334573"/>
                <a:ext cx="1077218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𝑨</m:t>
                      </m:r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s-ES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𝒃</m:t>
                      </m:r>
                    </m:oMath>
                  </m:oMathPara>
                </a14:m>
                <a:endParaRPr lang="es-ES" sz="2000" b="1" dirty="0"/>
              </a:p>
            </p:txBody>
          </p:sp>
        </mc:Choice>
        <mc:Fallback xmlns="">
          <p:sp>
            <p:nvSpPr>
              <p:cNvPr id="17" name="CuadroTexto 16">
                <a:extLst>
                  <a:ext uri="{FF2B5EF4-FFF2-40B4-BE49-F238E27FC236}">
                    <a16:creationId xmlns:a16="http://schemas.microsoft.com/office/drawing/2014/main" id="{FB3DB109-A839-68FD-9CDD-8459C0DF6E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89455" y="1334573"/>
                <a:ext cx="1077218" cy="307777"/>
              </a:xfrm>
              <a:prstGeom prst="rect">
                <a:avLst/>
              </a:prstGeom>
              <a:blipFill>
                <a:blip r:embed="rId6"/>
                <a:stretch>
                  <a:fillRect l="-4520" r="-4520" b="-12000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CuadroTexto 17">
                <a:extLst>
                  <a:ext uri="{FF2B5EF4-FFF2-40B4-BE49-F238E27FC236}">
                    <a16:creationId xmlns:a16="http://schemas.microsoft.com/office/drawing/2014/main" id="{9A9CFA07-9FB3-6D1A-AE3C-9A3DD2722A05}"/>
                  </a:ext>
                </a:extLst>
              </p:cNvPr>
              <p:cNvSpPr txBox="1"/>
              <p:nvPr/>
            </p:nvSpPr>
            <p:spPr>
              <a:xfrm>
                <a:off x="6589455" y="1853938"/>
                <a:ext cx="1511631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𝑷</m:t>
                      </m:r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𝒃</m:t>
                      </m:r>
                    </m:oMath>
                  </m:oMathPara>
                </a14:m>
                <a:endParaRPr lang="es-ES" sz="2000" b="1" dirty="0"/>
              </a:p>
            </p:txBody>
          </p:sp>
        </mc:Choice>
        <mc:Fallback xmlns="">
          <p:sp>
            <p:nvSpPr>
              <p:cNvPr id="18" name="CuadroTexto 17">
                <a:extLst>
                  <a:ext uri="{FF2B5EF4-FFF2-40B4-BE49-F238E27FC236}">
                    <a16:creationId xmlns:a16="http://schemas.microsoft.com/office/drawing/2014/main" id="{9A9CFA07-9FB3-6D1A-AE3C-9A3DD2722A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89455" y="1853938"/>
                <a:ext cx="1511631" cy="307777"/>
              </a:xfrm>
              <a:prstGeom prst="rect">
                <a:avLst/>
              </a:prstGeom>
              <a:blipFill>
                <a:blip r:embed="rId7"/>
                <a:stretch>
                  <a:fillRect l="-3226" r="-3226" b="-11765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!CuadroTexto 1">
            <a:extLst>
              <a:ext uri="{FF2B5EF4-FFF2-40B4-BE49-F238E27FC236}">
                <a16:creationId xmlns:a16="http://schemas.microsoft.com/office/drawing/2014/main" id="{FC13699F-1629-C8BF-EDE3-605FC21A57EE}"/>
              </a:ext>
            </a:extLst>
          </p:cNvPr>
          <p:cNvSpPr txBox="1"/>
          <p:nvPr/>
        </p:nvSpPr>
        <p:spPr>
          <a:xfrm>
            <a:off x="339927" y="2439107"/>
            <a:ext cx="29051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CUADRADO:</a:t>
            </a:r>
            <a:endParaRPr lang="es-ES" sz="2000" b="1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grpSp>
        <p:nvGrpSpPr>
          <p:cNvPr id="29" name="Grupo 28">
            <a:extLst>
              <a:ext uri="{FF2B5EF4-FFF2-40B4-BE49-F238E27FC236}">
                <a16:creationId xmlns:a16="http://schemas.microsoft.com/office/drawing/2014/main" id="{1C897560-7ED7-7E55-D88F-28EBAD4E0BD0}"/>
              </a:ext>
            </a:extLst>
          </p:cNvPr>
          <p:cNvGrpSpPr/>
          <p:nvPr/>
        </p:nvGrpSpPr>
        <p:grpSpPr>
          <a:xfrm>
            <a:off x="2208019" y="2839217"/>
            <a:ext cx="964752" cy="1053146"/>
            <a:chOff x="1782736" y="6287161"/>
            <a:chExt cx="964752" cy="1053146"/>
          </a:xfrm>
        </p:grpSpPr>
        <p:sp>
          <p:nvSpPr>
            <p:cNvPr id="30" name="Rectángulo 29">
              <a:extLst>
                <a:ext uri="{FF2B5EF4-FFF2-40B4-BE49-F238E27FC236}">
                  <a16:creationId xmlns:a16="http://schemas.microsoft.com/office/drawing/2014/main" id="{0C72B63D-912E-2A0B-305D-672A3C6EEE44}"/>
                </a:ext>
              </a:extLst>
            </p:cNvPr>
            <p:cNvSpPr/>
            <p:nvPr/>
          </p:nvSpPr>
          <p:spPr>
            <a:xfrm>
              <a:off x="2082774" y="6287161"/>
              <a:ext cx="664714" cy="664714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cap="rnd">
              <a:solidFill>
                <a:schemeClr val="accent4">
                  <a:lumMod val="60000"/>
                  <a:lumOff val="40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sz="1600"/>
            </a:p>
          </p:txBody>
        </p:sp>
        <p:sp>
          <p:nvSpPr>
            <p:cNvPr id="31" name="CuadroTexto 30">
              <a:extLst>
                <a:ext uri="{FF2B5EF4-FFF2-40B4-BE49-F238E27FC236}">
                  <a16:creationId xmlns:a16="http://schemas.microsoft.com/office/drawing/2014/main" id="{5EE921A4-6463-E92E-1D63-2535AF964974}"/>
                </a:ext>
              </a:extLst>
            </p:cNvPr>
            <p:cNvSpPr txBox="1"/>
            <p:nvPr/>
          </p:nvSpPr>
          <p:spPr>
            <a:xfrm>
              <a:off x="1782736" y="6419463"/>
              <a:ext cx="30003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2000" b="1" dirty="0">
                  <a:solidFill>
                    <a:schemeClr val="accent1">
                      <a:lumMod val="60000"/>
                      <a:lumOff val="40000"/>
                    </a:schemeClr>
                  </a:solidFill>
                </a:rPr>
                <a:t>l</a:t>
              </a:r>
            </a:p>
          </p:txBody>
        </p:sp>
        <p:sp>
          <p:nvSpPr>
            <p:cNvPr id="32" name="CuadroTexto 31">
              <a:extLst>
                <a:ext uri="{FF2B5EF4-FFF2-40B4-BE49-F238E27FC236}">
                  <a16:creationId xmlns:a16="http://schemas.microsoft.com/office/drawing/2014/main" id="{219703FD-A67B-BAED-41C3-32C0AE2AE9B8}"/>
                </a:ext>
              </a:extLst>
            </p:cNvPr>
            <p:cNvSpPr txBox="1"/>
            <p:nvPr/>
          </p:nvSpPr>
          <p:spPr>
            <a:xfrm>
              <a:off x="2265112" y="6940197"/>
              <a:ext cx="30003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2000" b="1" dirty="0">
                  <a:solidFill>
                    <a:schemeClr val="accent1">
                      <a:lumMod val="60000"/>
                      <a:lumOff val="40000"/>
                    </a:schemeClr>
                  </a:solidFill>
                </a:rPr>
                <a:t>l</a:t>
              </a:r>
            </a:p>
          </p:txBody>
        </p:sp>
      </p:grpSp>
      <p:sp>
        <p:nvSpPr>
          <p:cNvPr id="33" name="CuadroTexto 32">
            <a:extLst>
              <a:ext uri="{FF2B5EF4-FFF2-40B4-BE49-F238E27FC236}">
                <a16:creationId xmlns:a16="http://schemas.microsoft.com/office/drawing/2014/main" id="{C3E76447-78EF-5328-1C42-C09729278688}"/>
              </a:ext>
            </a:extLst>
          </p:cNvPr>
          <p:cNvSpPr txBox="1"/>
          <p:nvPr/>
        </p:nvSpPr>
        <p:spPr>
          <a:xfrm>
            <a:off x="4242777" y="2717784"/>
            <a:ext cx="11620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ÁREA</a:t>
            </a:r>
          </a:p>
        </p:txBody>
      </p:sp>
      <p:sp>
        <p:nvSpPr>
          <p:cNvPr id="34" name="CuadroTexto 33">
            <a:extLst>
              <a:ext uri="{FF2B5EF4-FFF2-40B4-BE49-F238E27FC236}">
                <a16:creationId xmlns:a16="http://schemas.microsoft.com/office/drawing/2014/main" id="{21A685DD-9899-7DE3-CF05-5A46F2DF0771}"/>
              </a:ext>
            </a:extLst>
          </p:cNvPr>
          <p:cNvSpPr txBox="1"/>
          <p:nvPr/>
        </p:nvSpPr>
        <p:spPr>
          <a:xfrm>
            <a:off x="4242777" y="3316340"/>
            <a:ext cx="19978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PERÍMETRO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CuadroTexto 34">
                <a:extLst>
                  <a:ext uri="{FF2B5EF4-FFF2-40B4-BE49-F238E27FC236}">
                    <a16:creationId xmlns:a16="http://schemas.microsoft.com/office/drawing/2014/main" id="{CB6ADD8F-3D2F-BCB7-7CB6-55420FC8EB36}"/>
                  </a:ext>
                </a:extLst>
              </p:cNvPr>
              <p:cNvSpPr txBox="1"/>
              <p:nvPr/>
            </p:nvSpPr>
            <p:spPr>
              <a:xfrm>
                <a:off x="6376613" y="2763950"/>
                <a:ext cx="794320" cy="3147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𝑨</m:t>
                      </m:r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s-ES" sz="20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ES" sz="2000" b="1" i="1" smtClean="0">
                              <a:latin typeface="Cambria Math" panose="02040503050406030204" pitchFamily="18" charset="0"/>
                            </a:rPr>
                            <m:t>𝒍</m:t>
                          </m:r>
                        </m:e>
                        <m:sup>
                          <m:r>
                            <a:rPr lang="es-ES" sz="20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es-ES" sz="2000" b="1" dirty="0"/>
              </a:p>
            </p:txBody>
          </p:sp>
        </mc:Choice>
        <mc:Fallback xmlns="">
          <p:sp>
            <p:nvSpPr>
              <p:cNvPr id="35" name="CuadroTexto 34">
                <a:extLst>
                  <a:ext uri="{FF2B5EF4-FFF2-40B4-BE49-F238E27FC236}">
                    <a16:creationId xmlns:a16="http://schemas.microsoft.com/office/drawing/2014/main" id="{CB6ADD8F-3D2F-BCB7-7CB6-55420FC8EB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76613" y="2763950"/>
                <a:ext cx="794320" cy="314766"/>
              </a:xfrm>
              <a:prstGeom prst="rect">
                <a:avLst/>
              </a:prstGeom>
              <a:blipFill>
                <a:blip r:embed="rId8"/>
                <a:stretch>
                  <a:fillRect l="-6154" r="-3077" b="-11538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CuadroTexto 35">
                <a:extLst>
                  <a:ext uri="{FF2B5EF4-FFF2-40B4-BE49-F238E27FC236}">
                    <a16:creationId xmlns:a16="http://schemas.microsoft.com/office/drawing/2014/main" id="{1D9F6538-2642-B198-B240-3F176B45366D}"/>
                  </a:ext>
                </a:extLst>
              </p:cNvPr>
              <p:cNvSpPr txBox="1"/>
              <p:nvPr/>
            </p:nvSpPr>
            <p:spPr>
              <a:xfrm>
                <a:off x="6376613" y="3362506"/>
                <a:ext cx="831766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𝑷</m:t>
                      </m:r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𝒍</m:t>
                      </m:r>
                    </m:oMath>
                  </m:oMathPara>
                </a14:m>
                <a:endParaRPr lang="es-ES" sz="2000" b="1" dirty="0"/>
              </a:p>
            </p:txBody>
          </p:sp>
        </mc:Choice>
        <mc:Fallback xmlns="">
          <p:sp>
            <p:nvSpPr>
              <p:cNvPr id="36" name="CuadroTexto 35">
                <a:extLst>
                  <a:ext uri="{FF2B5EF4-FFF2-40B4-BE49-F238E27FC236}">
                    <a16:creationId xmlns:a16="http://schemas.microsoft.com/office/drawing/2014/main" id="{1D9F6538-2642-B198-B240-3F176B4536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76613" y="3362506"/>
                <a:ext cx="831766" cy="307777"/>
              </a:xfrm>
              <a:prstGeom prst="rect">
                <a:avLst/>
              </a:prstGeom>
              <a:blipFill>
                <a:blip r:embed="rId9"/>
                <a:stretch>
                  <a:fillRect l="-5882" r="-7353" b="-12000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" name="!CuadroTexto 1">
            <a:extLst>
              <a:ext uri="{FF2B5EF4-FFF2-40B4-BE49-F238E27FC236}">
                <a16:creationId xmlns:a16="http://schemas.microsoft.com/office/drawing/2014/main" id="{BFE6F0B1-A91A-81A4-3B7A-CA4B1AED7834}"/>
              </a:ext>
            </a:extLst>
          </p:cNvPr>
          <p:cNvSpPr txBox="1"/>
          <p:nvPr/>
        </p:nvSpPr>
        <p:spPr>
          <a:xfrm>
            <a:off x="326586" y="3986882"/>
            <a:ext cx="58627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PARALELOGRAMO CUALQUIERA:</a:t>
            </a:r>
            <a:endParaRPr lang="es-ES" sz="2000" b="1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8" name="Forma libre: forma 37">
            <a:extLst>
              <a:ext uri="{FF2B5EF4-FFF2-40B4-BE49-F238E27FC236}">
                <a16:creationId xmlns:a16="http://schemas.microsoft.com/office/drawing/2014/main" id="{78EDDBC3-4B32-FA94-BFE5-58EC492D2974}"/>
              </a:ext>
            </a:extLst>
          </p:cNvPr>
          <p:cNvSpPr>
            <a:spLocks noChangeAspect="1"/>
          </p:cNvSpPr>
          <p:nvPr/>
        </p:nvSpPr>
        <p:spPr>
          <a:xfrm>
            <a:off x="4242777" y="4618706"/>
            <a:ext cx="1384868" cy="1404000"/>
          </a:xfrm>
          <a:custGeom>
            <a:avLst/>
            <a:gdLst>
              <a:gd name="connsiteX0" fmla="*/ 7 w 1698649"/>
              <a:gd name="connsiteY0" fmla="*/ 1722094 h 1722120"/>
              <a:gd name="connsiteX1" fmla="*/ 1 w 1698649"/>
              <a:gd name="connsiteY1" fmla="*/ 1722120 h 1722120"/>
              <a:gd name="connsiteX2" fmla="*/ 0 w 1698649"/>
              <a:gd name="connsiteY2" fmla="*/ 1722120 h 1722120"/>
              <a:gd name="connsiteX3" fmla="*/ 429682 w 1698649"/>
              <a:gd name="connsiteY3" fmla="*/ 0 h 1722120"/>
              <a:gd name="connsiteX4" fmla="*/ 1698649 w 1698649"/>
              <a:gd name="connsiteY4" fmla="*/ 0 h 1722120"/>
              <a:gd name="connsiteX5" fmla="*/ 1273987 w 1698649"/>
              <a:gd name="connsiteY5" fmla="*/ 1722120 h 1722120"/>
              <a:gd name="connsiteX6" fmla="*/ 429682 w 1698649"/>
              <a:gd name="connsiteY6" fmla="*/ 1722120 h 17221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698649" h="1722120">
                <a:moveTo>
                  <a:pt x="7" y="1722094"/>
                </a:moveTo>
                <a:lnTo>
                  <a:pt x="1" y="1722120"/>
                </a:lnTo>
                <a:lnTo>
                  <a:pt x="0" y="1722120"/>
                </a:lnTo>
                <a:close/>
                <a:moveTo>
                  <a:pt x="429682" y="0"/>
                </a:moveTo>
                <a:lnTo>
                  <a:pt x="1698649" y="0"/>
                </a:lnTo>
                <a:lnTo>
                  <a:pt x="1273987" y="1722120"/>
                </a:lnTo>
                <a:lnTo>
                  <a:pt x="429682" y="1722120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cap="rnd">
            <a:noFill/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s-ES" sz="1600"/>
          </a:p>
        </p:txBody>
      </p:sp>
      <p:sp>
        <p:nvSpPr>
          <p:cNvPr id="39" name="Triángulo isósceles 38">
            <a:extLst>
              <a:ext uri="{FF2B5EF4-FFF2-40B4-BE49-F238E27FC236}">
                <a16:creationId xmlns:a16="http://schemas.microsoft.com/office/drawing/2014/main" id="{D1E24246-58E6-D07E-DA30-528E53E5C7B5}"/>
              </a:ext>
            </a:extLst>
          </p:cNvPr>
          <p:cNvSpPr/>
          <p:nvPr/>
        </p:nvSpPr>
        <p:spPr>
          <a:xfrm>
            <a:off x="4167939" y="4618706"/>
            <a:ext cx="429682" cy="1404000"/>
          </a:xfrm>
          <a:prstGeom prst="triangle">
            <a:avLst>
              <a:gd name="adj" fmla="val 100000"/>
            </a:avLst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600"/>
          </a:p>
        </p:txBody>
      </p:sp>
      <p:sp>
        <p:nvSpPr>
          <p:cNvPr id="40" name="Flecha: hacia abajo 39">
            <a:extLst>
              <a:ext uri="{FF2B5EF4-FFF2-40B4-BE49-F238E27FC236}">
                <a16:creationId xmlns:a16="http://schemas.microsoft.com/office/drawing/2014/main" id="{BBC42358-BC49-45CD-D743-839949F71568}"/>
              </a:ext>
            </a:extLst>
          </p:cNvPr>
          <p:cNvSpPr/>
          <p:nvPr/>
        </p:nvSpPr>
        <p:spPr>
          <a:xfrm rot="16200000">
            <a:off x="3281882" y="4697937"/>
            <a:ext cx="280998" cy="1245537"/>
          </a:xfrm>
          <a:prstGeom prst="downArrow">
            <a:avLst>
              <a:gd name="adj1" fmla="val 40960"/>
              <a:gd name="adj2" fmla="val 50000"/>
            </a:avLst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600"/>
          </a:p>
        </p:txBody>
      </p:sp>
      <p:grpSp>
        <p:nvGrpSpPr>
          <p:cNvPr id="41" name="Grupo 40">
            <a:extLst>
              <a:ext uri="{FF2B5EF4-FFF2-40B4-BE49-F238E27FC236}">
                <a16:creationId xmlns:a16="http://schemas.microsoft.com/office/drawing/2014/main" id="{28E5A601-D24E-2B65-A04B-D48C1B1615FA}"/>
              </a:ext>
            </a:extLst>
          </p:cNvPr>
          <p:cNvGrpSpPr/>
          <p:nvPr/>
        </p:nvGrpSpPr>
        <p:grpSpPr>
          <a:xfrm>
            <a:off x="1015578" y="4592863"/>
            <a:ext cx="1586406" cy="1762750"/>
            <a:chOff x="2209685" y="8623246"/>
            <a:chExt cx="1906648" cy="2118590"/>
          </a:xfrm>
        </p:grpSpPr>
        <p:sp>
          <p:nvSpPr>
            <p:cNvPr id="42" name="Paralelogramo 41">
              <a:extLst>
                <a:ext uri="{FF2B5EF4-FFF2-40B4-BE49-F238E27FC236}">
                  <a16:creationId xmlns:a16="http://schemas.microsoft.com/office/drawing/2014/main" id="{FE0BBA20-9AF1-D01D-9A71-1A89BD1974A2}"/>
                </a:ext>
              </a:extLst>
            </p:cNvPr>
            <p:cNvSpPr/>
            <p:nvPr/>
          </p:nvSpPr>
          <p:spPr>
            <a:xfrm>
              <a:off x="2417684" y="8623246"/>
              <a:ext cx="1698649" cy="1722120"/>
            </a:xfrm>
            <a:prstGeom prst="parallelogram">
              <a:avLst/>
            </a:prstGeom>
            <a:solidFill>
              <a:schemeClr val="accent1">
                <a:lumMod val="20000"/>
                <a:lumOff val="80000"/>
              </a:schemeClr>
            </a:solidFill>
            <a:ln cap="rnd">
              <a:noFill/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sz="1600" dirty="0"/>
            </a:p>
          </p:txBody>
        </p:sp>
        <p:sp>
          <p:nvSpPr>
            <p:cNvPr id="43" name="Paralelogramo 42">
              <a:extLst>
                <a:ext uri="{FF2B5EF4-FFF2-40B4-BE49-F238E27FC236}">
                  <a16:creationId xmlns:a16="http://schemas.microsoft.com/office/drawing/2014/main" id="{10EF7445-81A2-0CF0-3267-8BA1BD8F16C4}"/>
                </a:ext>
              </a:extLst>
            </p:cNvPr>
            <p:cNvSpPr/>
            <p:nvPr/>
          </p:nvSpPr>
          <p:spPr>
            <a:xfrm>
              <a:off x="2417684" y="8623246"/>
              <a:ext cx="1698649" cy="1722120"/>
            </a:xfrm>
            <a:prstGeom prst="parallelogram">
              <a:avLst/>
            </a:prstGeom>
            <a:noFill/>
            <a:ln cap="rnd">
              <a:solidFill>
                <a:schemeClr val="accent4">
                  <a:lumMod val="60000"/>
                  <a:lumOff val="40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sz="1600"/>
            </a:p>
          </p:txBody>
        </p:sp>
        <p:sp>
          <p:nvSpPr>
            <p:cNvPr id="44" name="CuadroTexto 43">
              <a:extLst>
                <a:ext uri="{FF2B5EF4-FFF2-40B4-BE49-F238E27FC236}">
                  <a16:creationId xmlns:a16="http://schemas.microsoft.com/office/drawing/2014/main" id="{32A37571-111B-17D2-D485-44590DD5D984}"/>
                </a:ext>
              </a:extLst>
            </p:cNvPr>
            <p:cNvSpPr txBox="1"/>
            <p:nvPr/>
          </p:nvSpPr>
          <p:spPr>
            <a:xfrm>
              <a:off x="2897215" y="10341726"/>
              <a:ext cx="30003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2000" b="1" dirty="0">
                  <a:solidFill>
                    <a:schemeClr val="accent1">
                      <a:lumMod val="60000"/>
                      <a:lumOff val="40000"/>
                    </a:schemeClr>
                  </a:solidFill>
                </a:rPr>
                <a:t>b</a:t>
              </a:r>
            </a:p>
          </p:txBody>
        </p:sp>
        <p:sp>
          <p:nvSpPr>
            <p:cNvPr id="45" name="CuadroTexto 44">
              <a:extLst>
                <a:ext uri="{FF2B5EF4-FFF2-40B4-BE49-F238E27FC236}">
                  <a16:creationId xmlns:a16="http://schemas.microsoft.com/office/drawing/2014/main" id="{F32B03DF-F158-799E-912F-B3871717AC51}"/>
                </a:ext>
              </a:extLst>
            </p:cNvPr>
            <p:cNvSpPr txBox="1"/>
            <p:nvPr/>
          </p:nvSpPr>
          <p:spPr>
            <a:xfrm>
              <a:off x="2209685" y="9253473"/>
              <a:ext cx="30003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2000" b="1" dirty="0">
                  <a:solidFill>
                    <a:schemeClr val="accent1">
                      <a:lumMod val="60000"/>
                      <a:lumOff val="40000"/>
                    </a:schemeClr>
                  </a:solidFill>
                </a:rPr>
                <a:t>c</a:t>
              </a:r>
            </a:p>
          </p:txBody>
        </p:sp>
        <p:sp>
          <p:nvSpPr>
            <p:cNvPr id="46" name="CuadroTexto 45">
              <a:extLst>
                <a:ext uri="{FF2B5EF4-FFF2-40B4-BE49-F238E27FC236}">
                  <a16:creationId xmlns:a16="http://schemas.microsoft.com/office/drawing/2014/main" id="{13526C37-BDD5-5E6E-8AA8-6CD87A287869}"/>
                </a:ext>
              </a:extLst>
            </p:cNvPr>
            <p:cNvSpPr txBox="1"/>
            <p:nvPr/>
          </p:nvSpPr>
          <p:spPr>
            <a:xfrm>
              <a:off x="2994439" y="9251654"/>
              <a:ext cx="30003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2000" b="1" dirty="0">
                  <a:solidFill>
                    <a:schemeClr val="accent1">
                      <a:lumMod val="60000"/>
                      <a:lumOff val="40000"/>
                    </a:schemeClr>
                  </a:solidFill>
                </a:rPr>
                <a:t>a</a:t>
              </a:r>
            </a:p>
          </p:txBody>
        </p:sp>
        <p:cxnSp>
          <p:nvCxnSpPr>
            <p:cNvPr id="47" name="Conector recto 46">
              <a:extLst>
                <a:ext uri="{FF2B5EF4-FFF2-40B4-BE49-F238E27FC236}">
                  <a16:creationId xmlns:a16="http://schemas.microsoft.com/office/drawing/2014/main" id="{D86682B2-5304-A147-F3B2-1383B297C639}"/>
                </a:ext>
              </a:extLst>
            </p:cNvPr>
            <p:cNvCxnSpPr>
              <a:cxnSpLocks/>
            </p:cNvCxnSpPr>
            <p:nvPr/>
          </p:nvCxnSpPr>
          <p:spPr>
            <a:xfrm>
              <a:off x="2847974" y="8623246"/>
              <a:ext cx="0" cy="1718480"/>
            </a:xfrm>
            <a:prstGeom prst="line">
              <a:avLst/>
            </a:prstGeom>
            <a:ln>
              <a:solidFill>
                <a:schemeClr val="accent4">
                  <a:lumMod val="60000"/>
                  <a:lumOff val="40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Rectángulo 3">
            <a:extLst>
              <a:ext uri="{FF2B5EF4-FFF2-40B4-BE49-F238E27FC236}">
                <a16:creationId xmlns:a16="http://schemas.microsoft.com/office/drawing/2014/main" id="{B9A6ABC1-49C4-6647-9D67-B220E36734B9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3A6C57E0-33F6-CED7-DCD7-35A0288CDC3F}"/>
              </a:ext>
            </a:extLst>
          </p:cNvPr>
          <p:cNvSpPr txBox="1"/>
          <p:nvPr/>
        </p:nvSpPr>
        <p:spPr>
          <a:xfrm>
            <a:off x="3601" y="33951"/>
            <a:ext cx="1182084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9: </a:t>
            </a:r>
            <a:r>
              <a:rPr lang="es-ES" sz="4400" dirty="0">
                <a:latin typeface="SF Fedora" panose="00000400000000000000" pitchFamily="2" charset="0"/>
                <a:cs typeface="SF Fedora" panose="00000400000000000000" pitchFamily="2" charset="0"/>
              </a:rPr>
              <a:t>Problemas Métricos en el Plano</a:t>
            </a:r>
            <a:endParaRPr lang="es-ES" sz="4000" dirty="0">
              <a:latin typeface="SF Fedora" panose="00000400000000000000" pitchFamily="2" charset="0"/>
              <a:cs typeface="SF Fedora" panose="00000400000000000000" pitchFamily="2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948256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500"/>
                            </p:stCondLst>
                            <p:childTnLst>
                              <p:par>
                                <p:cTn id="3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2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1000"/>
                            </p:stCondLst>
                            <p:childTnLst>
                              <p:par>
                                <p:cTn id="5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1500"/>
                            </p:stCondLst>
                            <p:childTnLst>
                              <p:par>
                                <p:cTn id="5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2000"/>
                            </p:stCondLst>
                            <p:childTnLst>
                              <p:par>
                                <p:cTn id="6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2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825"/>
                            </p:stCondLst>
                            <p:childTnLst>
                              <p:par>
                                <p:cTn id="7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1325"/>
                            </p:stCondLst>
                            <p:childTnLst>
                              <p:par>
                                <p:cTn id="7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7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2075"/>
                            </p:stCondLst>
                            <p:childTnLst>
                              <p:par>
                                <p:cTn id="8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4" grpId="0"/>
      <p:bldP spid="16" grpId="0"/>
      <p:bldP spid="17" grpId="0"/>
      <p:bldP spid="18" grpId="0"/>
      <p:bldP spid="28" grpId="0"/>
      <p:bldP spid="33" grpId="0"/>
      <p:bldP spid="34" grpId="0"/>
      <p:bldP spid="35" grpId="0"/>
      <p:bldP spid="36" grpId="0"/>
      <p:bldP spid="37" grpId="0"/>
      <p:bldP spid="38" grpId="0" animBg="1"/>
      <p:bldP spid="39" grpId="0" animBg="1"/>
      <p:bldP spid="40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!CuadroTexto 1">
            <a:extLst>
              <a:ext uri="{FF2B5EF4-FFF2-40B4-BE49-F238E27FC236}">
                <a16:creationId xmlns:a16="http://schemas.microsoft.com/office/drawing/2014/main" id="{9392ACFB-BB77-6E52-3E51-6568D27ECDD5}"/>
              </a:ext>
            </a:extLst>
          </p:cNvPr>
          <p:cNvSpPr txBox="1"/>
          <p:nvPr/>
        </p:nvSpPr>
        <p:spPr>
          <a:xfrm>
            <a:off x="334407" y="976328"/>
            <a:ext cx="267187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RECTÁNGULO:</a:t>
            </a:r>
            <a:endParaRPr lang="es-ES" sz="2000" b="1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grpSp>
        <p:nvGrpSpPr>
          <p:cNvPr id="9" name="Grupo 8">
            <a:extLst>
              <a:ext uri="{FF2B5EF4-FFF2-40B4-BE49-F238E27FC236}">
                <a16:creationId xmlns:a16="http://schemas.microsoft.com/office/drawing/2014/main" id="{18EB5215-EB36-BF32-B03A-9823AB9D2242}"/>
              </a:ext>
            </a:extLst>
          </p:cNvPr>
          <p:cNvGrpSpPr/>
          <p:nvPr/>
        </p:nvGrpSpPr>
        <p:grpSpPr>
          <a:xfrm>
            <a:off x="1126062" y="1468499"/>
            <a:ext cx="2765868" cy="975945"/>
            <a:chOff x="985837" y="3836008"/>
            <a:chExt cx="2765868" cy="975945"/>
          </a:xfrm>
        </p:grpSpPr>
        <p:sp>
          <p:nvSpPr>
            <p:cNvPr id="10" name="Rectángulo 9">
              <a:extLst>
                <a:ext uri="{FF2B5EF4-FFF2-40B4-BE49-F238E27FC236}">
                  <a16:creationId xmlns:a16="http://schemas.microsoft.com/office/drawing/2014/main" id="{E659213B-05F4-1AE2-7D1A-FD6218BC6D60}"/>
                </a:ext>
              </a:extLst>
            </p:cNvPr>
            <p:cNvSpPr/>
            <p:nvPr/>
          </p:nvSpPr>
          <p:spPr>
            <a:xfrm>
              <a:off x="1352551" y="3836008"/>
              <a:ext cx="2399154" cy="60623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cap="rnd">
              <a:solidFill>
                <a:schemeClr val="accent4">
                  <a:lumMod val="60000"/>
                  <a:lumOff val="40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sz="1600"/>
            </a:p>
          </p:txBody>
        </p:sp>
        <p:sp>
          <p:nvSpPr>
            <p:cNvPr id="11" name="CuadroTexto 10">
              <a:extLst>
                <a:ext uri="{FF2B5EF4-FFF2-40B4-BE49-F238E27FC236}">
                  <a16:creationId xmlns:a16="http://schemas.microsoft.com/office/drawing/2014/main" id="{71DBC54B-DA8B-3B82-213F-948B296F6EEC}"/>
                </a:ext>
              </a:extLst>
            </p:cNvPr>
            <p:cNvSpPr txBox="1"/>
            <p:nvPr/>
          </p:nvSpPr>
          <p:spPr>
            <a:xfrm>
              <a:off x="985837" y="3957600"/>
              <a:ext cx="30003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2000" b="1" dirty="0">
                  <a:solidFill>
                    <a:schemeClr val="accent1">
                      <a:lumMod val="60000"/>
                      <a:lumOff val="40000"/>
                    </a:schemeClr>
                  </a:solidFill>
                </a:rPr>
                <a:t>a</a:t>
              </a:r>
            </a:p>
          </p:txBody>
        </p:sp>
        <p:sp>
          <p:nvSpPr>
            <p:cNvPr id="13" name="CuadroTexto 12">
              <a:extLst>
                <a:ext uri="{FF2B5EF4-FFF2-40B4-BE49-F238E27FC236}">
                  <a16:creationId xmlns:a16="http://schemas.microsoft.com/office/drawing/2014/main" id="{29913689-8D98-4950-E705-4A280A5C7450}"/>
                </a:ext>
              </a:extLst>
            </p:cNvPr>
            <p:cNvSpPr txBox="1"/>
            <p:nvPr/>
          </p:nvSpPr>
          <p:spPr>
            <a:xfrm>
              <a:off x="2424998" y="4411843"/>
              <a:ext cx="30003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2000" b="1" dirty="0">
                  <a:solidFill>
                    <a:schemeClr val="accent1">
                      <a:lumMod val="60000"/>
                      <a:lumOff val="40000"/>
                    </a:schemeClr>
                  </a:solidFill>
                </a:rPr>
                <a:t>b</a:t>
              </a:r>
            </a:p>
          </p:txBody>
        </p:sp>
      </p:grpSp>
      <p:sp>
        <p:nvSpPr>
          <p:cNvPr id="14" name="CuadroTexto 13">
            <a:extLst>
              <a:ext uri="{FF2B5EF4-FFF2-40B4-BE49-F238E27FC236}">
                <a16:creationId xmlns:a16="http://schemas.microsoft.com/office/drawing/2014/main" id="{98171E38-DD57-7BF6-CD32-7D60AA7FDBF0}"/>
              </a:ext>
            </a:extLst>
          </p:cNvPr>
          <p:cNvSpPr txBox="1"/>
          <p:nvPr/>
        </p:nvSpPr>
        <p:spPr>
          <a:xfrm>
            <a:off x="4503244" y="1288407"/>
            <a:ext cx="11620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ÁREA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0566127D-4E0D-1797-ECC2-8FF368977AD4}"/>
              </a:ext>
            </a:extLst>
          </p:cNvPr>
          <p:cNvSpPr txBox="1"/>
          <p:nvPr/>
        </p:nvSpPr>
        <p:spPr>
          <a:xfrm>
            <a:off x="4503244" y="1807772"/>
            <a:ext cx="19978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PERÍMETRO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CuadroTexto 16">
                <a:extLst>
                  <a:ext uri="{FF2B5EF4-FFF2-40B4-BE49-F238E27FC236}">
                    <a16:creationId xmlns:a16="http://schemas.microsoft.com/office/drawing/2014/main" id="{FB3DB109-A839-68FD-9CDD-8459C0DF6E18}"/>
                  </a:ext>
                </a:extLst>
              </p:cNvPr>
              <p:cNvSpPr txBox="1"/>
              <p:nvPr/>
            </p:nvSpPr>
            <p:spPr>
              <a:xfrm>
                <a:off x="6589455" y="1334573"/>
                <a:ext cx="1077218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𝑨</m:t>
                      </m:r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s-ES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𝒃</m:t>
                      </m:r>
                    </m:oMath>
                  </m:oMathPara>
                </a14:m>
                <a:endParaRPr lang="es-ES" sz="2000" b="1" dirty="0"/>
              </a:p>
            </p:txBody>
          </p:sp>
        </mc:Choice>
        <mc:Fallback xmlns="">
          <p:sp>
            <p:nvSpPr>
              <p:cNvPr id="17" name="CuadroTexto 16">
                <a:extLst>
                  <a:ext uri="{FF2B5EF4-FFF2-40B4-BE49-F238E27FC236}">
                    <a16:creationId xmlns:a16="http://schemas.microsoft.com/office/drawing/2014/main" id="{FB3DB109-A839-68FD-9CDD-8459C0DF6E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89455" y="1334573"/>
                <a:ext cx="1077218" cy="307777"/>
              </a:xfrm>
              <a:prstGeom prst="rect">
                <a:avLst/>
              </a:prstGeom>
              <a:blipFill>
                <a:blip r:embed="rId6"/>
                <a:stretch>
                  <a:fillRect l="-4520" r="-4520" b="-12000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CuadroTexto 17">
                <a:extLst>
                  <a:ext uri="{FF2B5EF4-FFF2-40B4-BE49-F238E27FC236}">
                    <a16:creationId xmlns:a16="http://schemas.microsoft.com/office/drawing/2014/main" id="{9A9CFA07-9FB3-6D1A-AE3C-9A3DD2722A05}"/>
                  </a:ext>
                </a:extLst>
              </p:cNvPr>
              <p:cNvSpPr txBox="1"/>
              <p:nvPr/>
            </p:nvSpPr>
            <p:spPr>
              <a:xfrm>
                <a:off x="6589455" y="1853938"/>
                <a:ext cx="1511631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𝑷</m:t>
                      </m:r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𝒃</m:t>
                      </m:r>
                    </m:oMath>
                  </m:oMathPara>
                </a14:m>
                <a:endParaRPr lang="es-ES" sz="2000" b="1" dirty="0"/>
              </a:p>
            </p:txBody>
          </p:sp>
        </mc:Choice>
        <mc:Fallback xmlns="">
          <p:sp>
            <p:nvSpPr>
              <p:cNvPr id="18" name="CuadroTexto 17">
                <a:extLst>
                  <a:ext uri="{FF2B5EF4-FFF2-40B4-BE49-F238E27FC236}">
                    <a16:creationId xmlns:a16="http://schemas.microsoft.com/office/drawing/2014/main" id="{9A9CFA07-9FB3-6D1A-AE3C-9A3DD2722A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89455" y="1853938"/>
                <a:ext cx="1511631" cy="307777"/>
              </a:xfrm>
              <a:prstGeom prst="rect">
                <a:avLst/>
              </a:prstGeom>
              <a:blipFill>
                <a:blip r:embed="rId7"/>
                <a:stretch>
                  <a:fillRect l="-3226" r="-3226" b="-11765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!CuadroTexto 1">
            <a:extLst>
              <a:ext uri="{FF2B5EF4-FFF2-40B4-BE49-F238E27FC236}">
                <a16:creationId xmlns:a16="http://schemas.microsoft.com/office/drawing/2014/main" id="{FC13699F-1629-C8BF-EDE3-605FC21A57EE}"/>
              </a:ext>
            </a:extLst>
          </p:cNvPr>
          <p:cNvSpPr txBox="1"/>
          <p:nvPr/>
        </p:nvSpPr>
        <p:spPr>
          <a:xfrm>
            <a:off x="339927" y="2439107"/>
            <a:ext cx="29051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CUADRADO:</a:t>
            </a:r>
            <a:endParaRPr lang="es-ES" sz="2000" b="1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grpSp>
        <p:nvGrpSpPr>
          <p:cNvPr id="29" name="Grupo 28">
            <a:extLst>
              <a:ext uri="{FF2B5EF4-FFF2-40B4-BE49-F238E27FC236}">
                <a16:creationId xmlns:a16="http://schemas.microsoft.com/office/drawing/2014/main" id="{1C897560-7ED7-7E55-D88F-28EBAD4E0BD0}"/>
              </a:ext>
            </a:extLst>
          </p:cNvPr>
          <p:cNvGrpSpPr/>
          <p:nvPr/>
        </p:nvGrpSpPr>
        <p:grpSpPr>
          <a:xfrm>
            <a:off x="2208019" y="2839217"/>
            <a:ext cx="964752" cy="1053146"/>
            <a:chOff x="1782736" y="6287161"/>
            <a:chExt cx="964752" cy="1053146"/>
          </a:xfrm>
        </p:grpSpPr>
        <p:sp>
          <p:nvSpPr>
            <p:cNvPr id="30" name="Rectángulo 29">
              <a:extLst>
                <a:ext uri="{FF2B5EF4-FFF2-40B4-BE49-F238E27FC236}">
                  <a16:creationId xmlns:a16="http://schemas.microsoft.com/office/drawing/2014/main" id="{0C72B63D-912E-2A0B-305D-672A3C6EEE44}"/>
                </a:ext>
              </a:extLst>
            </p:cNvPr>
            <p:cNvSpPr/>
            <p:nvPr/>
          </p:nvSpPr>
          <p:spPr>
            <a:xfrm>
              <a:off x="2082774" y="6287161"/>
              <a:ext cx="664714" cy="664714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cap="rnd">
              <a:solidFill>
                <a:schemeClr val="accent4">
                  <a:lumMod val="60000"/>
                  <a:lumOff val="40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sz="1600"/>
            </a:p>
          </p:txBody>
        </p:sp>
        <p:sp>
          <p:nvSpPr>
            <p:cNvPr id="31" name="CuadroTexto 30">
              <a:extLst>
                <a:ext uri="{FF2B5EF4-FFF2-40B4-BE49-F238E27FC236}">
                  <a16:creationId xmlns:a16="http://schemas.microsoft.com/office/drawing/2014/main" id="{5EE921A4-6463-E92E-1D63-2535AF964974}"/>
                </a:ext>
              </a:extLst>
            </p:cNvPr>
            <p:cNvSpPr txBox="1"/>
            <p:nvPr/>
          </p:nvSpPr>
          <p:spPr>
            <a:xfrm>
              <a:off x="1782736" y="6419463"/>
              <a:ext cx="30003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2000" b="1" dirty="0">
                  <a:solidFill>
                    <a:schemeClr val="accent1">
                      <a:lumMod val="60000"/>
                      <a:lumOff val="40000"/>
                    </a:schemeClr>
                  </a:solidFill>
                </a:rPr>
                <a:t>l</a:t>
              </a:r>
            </a:p>
          </p:txBody>
        </p:sp>
        <p:sp>
          <p:nvSpPr>
            <p:cNvPr id="32" name="CuadroTexto 31">
              <a:extLst>
                <a:ext uri="{FF2B5EF4-FFF2-40B4-BE49-F238E27FC236}">
                  <a16:creationId xmlns:a16="http://schemas.microsoft.com/office/drawing/2014/main" id="{219703FD-A67B-BAED-41C3-32C0AE2AE9B8}"/>
                </a:ext>
              </a:extLst>
            </p:cNvPr>
            <p:cNvSpPr txBox="1"/>
            <p:nvPr/>
          </p:nvSpPr>
          <p:spPr>
            <a:xfrm>
              <a:off x="2265112" y="6940197"/>
              <a:ext cx="30003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2000" b="1" dirty="0">
                  <a:solidFill>
                    <a:schemeClr val="accent1">
                      <a:lumMod val="60000"/>
                      <a:lumOff val="40000"/>
                    </a:schemeClr>
                  </a:solidFill>
                </a:rPr>
                <a:t>l</a:t>
              </a:r>
            </a:p>
          </p:txBody>
        </p:sp>
      </p:grpSp>
      <p:sp>
        <p:nvSpPr>
          <p:cNvPr id="33" name="CuadroTexto 32">
            <a:extLst>
              <a:ext uri="{FF2B5EF4-FFF2-40B4-BE49-F238E27FC236}">
                <a16:creationId xmlns:a16="http://schemas.microsoft.com/office/drawing/2014/main" id="{C3E76447-78EF-5328-1C42-C09729278688}"/>
              </a:ext>
            </a:extLst>
          </p:cNvPr>
          <p:cNvSpPr txBox="1"/>
          <p:nvPr/>
        </p:nvSpPr>
        <p:spPr>
          <a:xfrm>
            <a:off x="4242777" y="2717784"/>
            <a:ext cx="11620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ÁREA</a:t>
            </a:r>
          </a:p>
        </p:txBody>
      </p:sp>
      <p:sp>
        <p:nvSpPr>
          <p:cNvPr id="34" name="CuadroTexto 33">
            <a:extLst>
              <a:ext uri="{FF2B5EF4-FFF2-40B4-BE49-F238E27FC236}">
                <a16:creationId xmlns:a16="http://schemas.microsoft.com/office/drawing/2014/main" id="{21A685DD-9899-7DE3-CF05-5A46F2DF0771}"/>
              </a:ext>
            </a:extLst>
          </p:cNvPr>
          <p:cNvSpPr txBox="1"/>
          <p:nvPr/>
        </p:nvSpPr>
        <p:spPr>
          <a:xfrm>
            <a:off x="4242777" y="3316340"/>
            <a:ext cx="19978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PERÍMETRO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CuadroTexto 34">
                <a:extLst>
                  <a:ext uri="{FF2B5EF4-FFF2-40B4-BE49-F238E27FC236}">
                    <a16:creationId xmlns:a16="http://schemas.microsoft.com/office/drawing/2014/main" id="{CB6ADD8F-3D2F-BCB7-7CB6-55420FC8EB36}"/>
                  </a:ext>
                </a:extLst>
              </p:cNvPr>
              <p:cNvSpPr txBox="1"/>
              <p:nvPr/>
            </p:nvSpPr>
            <p:spPr>
              <a:xfrm>
                <a:off x="6376613" y="2763950"/>
                <a:ext cx="794320" cy="3147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𝑨</m:t>
                      </m:r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s-ES" sz="20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ES" sz="2000" b="1" i="1" smtClean="0">
                              <a:latin typeface="Cambria Math" panose="02040503050406030204" pitchFamily="18" charset="0"/>
                            </a:rPr>
                            <m:t>𝒍</m:t>
                          </m:r>
                        </m:e>
                        <m:sup>
                          <m:r>
                            <a:rPr lang="es-ES" sz="20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es-ES" sz="2000" b="1" dirty="0"/>
              </a:p>
            </p:txBody>
          </p:sp>
        </mc:Choice>
        <mc:Fallback xmlns="">
          <p:sp>
            <p:nvSpPr>
              <p:cNvPr id="35" name="CuadroTexto 34">
                <a:extLst>
                  <a:ext uri="{FF2B5EF4-FFF2-40B4-BE49-F238E27FC236}">
                    <a16:creationId xmlns:a16="http://schemas.microsoft.com/office/drawing/2014/main" id="{CB6ADD8F-3D2F-BCB7-7CB6-55420FC8EB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76613" y="2763950"/>
                <a:ext cx="794320" cy="314766"/>
              </a:xfrm>
              <a:prstGeom prst="rect">
                <a:avLst/>
              </a:prstGeom>
              <a:blipFill>
                <a:blip r:embed="rId8"/>
                <a:stretch>
                  <a:fillRect l="-6154" r="-3077" b="-11538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CuadroTexto 35">
                <a:extLst>
                  <a:ext uri="{FF2B5EF4-FFF2-40B4-BE49-F238E27FC236}">
                    <a16:creationId xmlns:a16="http://schemas.microsoft.com/office/drawing/2014/main" id="{1D9F6538-2642-B198-B240-3F176B45366D}"/>
                  </a:ext>
                </a:extLst>
              </p:cNvPr>
              <p:cNvSpPr txBox="1"/>
              <p:nvPr/>
            </p:nvSpPr>
            <p:spPr>
              <a:xfrm>
                <a:off x="6376613" y="3362506"/>
                <a:ext cx="831766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𝑷</m:t>
                      </m:r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𝒍</m:t>
                      </m:r>
                    </m:oMath>
                  </m:oMathPara>
                </a14:m>
                <a:endParaRPr lang="es-ES" sz="2000" b="1" dirty="0"/>
              </a:p>
            </p:txBody>
          </p:sp>
        </mc:Choice>
        <mc:Fallback xmlns="">
          <p:sp>
            <p:nvSpPr>
              <p:cNvPr id="36" name="CuadroTexto 35">
                <a:extLst>
                  <a:ext uri="{FF2B5EF4-FFF2-40B4-BE49-F238E27FC236}">
                    <a16:creationId xmlns:a16="http://schemas.microsoft.com/office/drawing/2014/main" id="{1D9F6538-2642-B198-B240-3F176B4536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76613" y="3362506"/>
                <a:ext cx="831766" cy="307777"/>
              </a:xfrm>
              <a:prstGeom prst="rect">
                <a:avLst/>
              </a:prstGeom>
              <a:blipFill>
                <a:blip r:embed="rId9"/>
                <a:stretch>
                  <a:fillRect l="-5882" r="-7353" b="-12000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" name="!CuadroTexto 1">
            <a:extLst>
              <a:ext uri="{FF2B5EF4-FFF2-40B4-BE49-F238E27FC236}">
                <a16:creationId xmlns:a16="http://schemas.microsoft.com/office/drawing/2014/main" id="{BFE6F0B1-A91A-81A4-3B7A-CA4B1AED7834}"/>
              </a:ext>
            </a:extLst>
          </p:cNvPr>
          <p:cNvSpPr txBox="1"/>
          <p:nvPr/>
        </p:nvSpPr>
        <p:spPr>
          <a:xfrm>
            <a:off x="326586" y="3986882"/>
            <a:ext cx="58627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PARALELOGRAMO CUALQUIERA:</a:t>
            </a:r>
            <a:endParaRPr lang="es-ES" sz="2000" b="1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0" name="Flecha: hacia abajo 39">
            <a:extLst>
              <a:ext uri="{FF2B5EF4-FFF2-40B4-BE49-F238E27FC236}">
                <a16:creationId xmlns:a16="http://schemas.microsoft.com/office/drawing/2014/main" id="{BBC42358-BC49-45CD-D743-839949F71568}"/>
              </a:ext>
            </a:extLst>
          </p:cNvPr>
          <p:cNvSpPr/>
          <p:nvPr/>
        </p:nvSpPr>
        <p:spPr>
          <a:xfrm rot="16200000">
            <a:off x="3281882" y="4697937"/>
            <a:ext cx="280998" cy="1245537"/>
          </a:xfrm>
          <a:prstGeom prst="downArrow">
            <a:avLst>
              <a:gd name="adj1" fmla="val 40960"/>
              <a:gd name="adj2" fmla="val 50000"/>
            </a:avLst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600"/>
          </a:p>
        </p:txBody>
      </p:sp>
      <p:grpSp>
        <p:nvGrpSpPr>
          <p:cNvPr id="41" name="Grupo 40">
            <a:extLst>
              <a:ext uri="{FF2B5EF4-FFF2-40B4-BE49-F238E27FC236}">
                <a16:creationId xmlns:a16="http://schemas.microsoft.com/office/drawing/2014/main" id="{28E5A601-D24E-2B65-A04B-D48C1B1615FA}"/>
              </a:ext>
            </a:extLst>
          </p:cNvPr>
          <p:cNvGrpSpPr/>
          <p:nvPr/>
        </p:nvGrpSpPr>
        <p:grpSpPr>
          <a:xfrm>
            <a:off x="1015578" y="4592863"/>
            <a:ext cx="1586406" cy="1762750"/>
            <a:chOff x="2209685" y="8623246"/>
            <a:chExt cx="1906648" cy="2118590"/>
          </a:xfrm>
        </p:grpSpPr>
        <p:sp>
          <p:nvSpPr>
            <p:cNvPr id="42" name="Paralelogramo 41">
              <a:extLst>
                <a:ext uri="{FF2B5EF4-FFF2-40B4-BE49-F238E27FC236}">
                  <a16:creationId xmlns:a16="http://schemas.microsoft.com/office/drawing/2014/main" id="{FE0BBA20-9AF1-D01D-9A71-1A89BD1974A2}"/>
                </a:ext>
              </a:extLst>
            </p:cNvPr>
            <p:cNvSpPr/>
            <p:nvPr/>
          </p:nvSpPr>
          <p:spPr>
            <a:xfrm>
              <a:off x="2417684" y="8623246"/>
              <a:ext cx="1698649" cy="1722120"/>
            </a:xfrm>
            <a:prstGeom prst="parallelogram">
              <a:avLst/>
            </a:prstGeom>
            <a:solidFill>
              <a:schemeClr val="accent1">
                <a:lumMod val="20000"/>
                <a:lumOff val="80000"/>
              </a:schemeClr>
            </a:solidFill>
            <a:ln cap="rnd">
              <a:noFill/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sz="1600" dirty="0"/>
            </a:p>
          </p:txBody>
        </p:sp>
        <p:sp>
          <p:nvSpPr>
            <p:cNvPr id="43" name="Paralelogramo 42">
              <a:extLst>
                <a:ext uri="{FF2B5EF4-FFF2-40B4-BE49-F238E27FC236}">
                  <a16:creationId xmlns:a16="http://schemas.microsoft.com/office/drawing/2014/main" id="{10EF7445-81A2-0CF0-3267-8BA1BD8F16C4}"/>
                </a:ext>
              </a:extLst>
            </p:cNvPr>
            <p:cNvSpPr/>
            <p:nvPr/>
          </p:nvSpPr>
          <p:spPr>
            <a:xfrm>
              <a:off x="2417684" y="8623246"/>
              <a:ext cx="1698649" cy="1722120"/>
            </a:xfrm>
            <a:prstGeom prst="parallelogram">
              <a:avLst/>
            </a:prstGeom>
            <a:noFill/>
            <a:ln cap="rnd">
              <a:solidFill>
                <a:schemeClr val="accent4">
                  <a:lumMod val="60000"/>
                  <a:lumOff val="40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sz="1600"/>
            </a:p>
          </p:txBody>
        </p:sp>
        <p:sp>
          <p:nvSpPr>
            <p:cNvPr id="44" name="CuadroTexto 43">
              <a:extLst>
                <a:ext uri="{FF2B5EF4-FFF2-40B4-BE49-F238E27FC236}">
                  <a16:creationId xmlns:a16="http://schemas.microsoft.com/office/drawing/2014/main" id="{32A37571-111B-17D2-D485-44590DD5D984}"/>
                </a:ext>
              </a:extLst>
            </p:cNvPr>
            <p:cNvSpPr txBox="1"/>
            <p:nvPr/>
          </p:nvSpPr>
          <p:spPr>
            <a:xfrm>
              <a:off x="2897215" y="10341726"/>
              <a:ext cx="30003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2000" b="1" dirty="0">
                  <a:solidFill>
                    <a:schemeClr val="accent1">
                      <a:lumMod val="60000"/>
                      <a:lumOff val="40000"/>
                    </a:schemeClr>
                  </a:solidFill>
                </a:rPr>
                <a:t>b</a:t>
              </a:r>
            </a:p>
          </p:txBody>
        </p:sp>
        <p:sp>
          <p:nvSpPr>
            <p:cNvPr id="45" name="CuadroTexto 44">
              <a:extLst>
                <a:ext uri="{FF2B5EF4-FFF2-40B4-BE49-F238E27FC236}">
                  <a16:creationId xmlns:a16="http://schemas.microsoft.com/office/drawing/2014/main" id="{F32B03DF-F158-799E-912F-B3871717AC51}"/>
                </a:ext>
              </a:extLst>
            </p:cNvPr>
            <p:cNvSpPr txBox="1"/>
            <p:nvPr/>
          </p:nvSpPr>
          <p:spPr>
            <a:xfrm>
              <a:off x="2209685" y="9253473"/>
              <a:ext cx="30003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2000" b="1" dirty="0">
                  <a:solidFill>
                    <a:schemeClr val="accent1">
                      <a:lumMod val="60000"/>
                      <a:lumOff val="40000"/>
                    </a:schemeClr>
                  </a:solidFill>
                </a:rPr>
                <a:t>c</a:t>
              </a:r>
            </a:p>
          </p:txBody>
        </p:sp>
        <p:sp>
          <p:nvSpPr>
            <p:cNvPr id="46" name="CuadroTexto 45">
              <a:extLst>
                <a:ext uri="{FF2B5EF4-FFF2-40B4-BE49-F238E27FC236}">
                  <a16:creationId xmlns:a16="http://schemas.microsoft.com/office/drawing/2014/main" id="{13526C37-BDD5-5E6E-8AA8-6CD87A287869}"/>
                </a:ext>
              </a:extLst>
            </p:cNvPr>
            <p:cNvSpPr txBox="1"/>
            <p:nvPr/>
          </p:nvSpPr>
          <p:spPr>
            <a:xfrm>
              <a:off x="2994439" y="9251654"/>
              <a:ext cx="30003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2000" b="1" dirty="0">
                  <a:solidFill>
                    <a:schemeClr val="accent1">
                      <a:lumMod val="60000"/>
                      <a:lumOff val="40000"/>
                    </a:schemeClr>
                  </a:solidFill>
                </a:rPr>
                <a:t>a</a:t>
              </a:r>
            </a:p>
          </p:txBody>
        </p:sp>
        <p:cxnSp>
          <p:nvCxnSpPr>
            <p:cNvPr id="47" name="Conector recto 46">
              <a:extLst>
                <a:ext uri="{FF2B5EF4-FFF2-40B4-BE49-F238E27FC236}">
                  <a16:creationId xmlns:a16="http://schemas.microsoft.com/office/drawing/2014/main" id="{D86682B2-5304-A147-F3B2-1383B297C639}"/>
                </a:ext>
              </a:extLst>
            </p:cNvPr>
            <p:cNvCxnSpPr>
              <a:cxnSpLocks/>
            </p:cNvCxnSpPr>
            <p:nvPr/>
          </p:nvCxnSpPr>
          <p:spPr>
            <a:xfrm>
              <a:off x="2847974" y="8623246"/>
              <a:ext cx="0" cy="1718480"/>
            </a:xfrm>
            <a:prstGeom prst="line">
              <a:avLst/>
            </a:prstGeom>
            <a:ln>
              <a:solidFill>
                <a:schemeClr val="accent4">
                  <a:lumMod val="60000"/>
                  <a:lumOff val="40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Forma libre: forma 3">
            <a:extLst>
              <a:ext uri="{FF2B5EF4-FFF2-40B4-BE49-F238E27FC236}">
                <a16:creationId xmlns:a16="http://schemas.microsoft.com/office/drawing/2014/main" id="{2CF5F181-9490-2E7A-13A8-69EA0FB6E3BF}"/>
              </a:ext>
            </a:extLst>
          </p:cNvPr>
          <p:cNvSpPr>
            <a:spLocks noChangeAspect="1"/>
          </p:cNvSpPr>
          <p:nvPr/>
        </p:nvSpPr>
        <p:spPr>
          <a:xfrm>
            <a:off x="4242777" y="4618706"/>
            <a:ext cx="1384868" cy="1404000"/>
          </a:xfrm>
          <a:custGeom>
            <a:avLst/>
            <a:gdLst>
              <a:gd name="connsiteX0" fmla="*/ 7 w 1698649"/>
              <a:gd name="connsiteY0" fmla="*/ 1722094 h 1722120"/>
              <a:gd name="connsiteX1" fmla="*/ 1 w 1698649"/>
              <a:gd name="connsiteY1" fmla="*/ 1722120 h 1722120"/>
              <a:gd name="connsiteX2" fmla="*/ 0 w 1698649"/>
              <a:gd name="connsiteY2" fmla="*/ 1722120 h 1722120"/>
              <a:gd name="connsiteX3" fmla="*/ 429682 w 1698649"/>
              <a:gd name="connsiteY3" fmla="*/ 0 h 1722120"/>
              <a:gd name="connsiteX4" fmla="*/ 1698649 w 1698649"/>
              <a:gd name="connsiteY4" fmla="*/ 0 h 1722120"/>
              <a:gd name="connsiteX5" fmla="*/ 1273987 w 1698649"/>
              <a:gd name="connsiteY5" fmla="*/ 1722120 h 1722120"/>
              <a:gd name="connsiteX6" fmla="*/ 429682 w 1698649"/>
              <a:gd name="connsiteY6" fmla="*/ 1722120 h 17221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698649" h="1722120">
                <a:moveTo>
                  <a:pt x="7" y="1722094"/>
                </a:moveTo>
                <a:lnTo>
                  <a:pt x="1" y="1722120"/>
                </a:lnTo>
                <a:lnTo>
                  <a:pt x="0" y="1722120"/>
                </a:lnTo>
                <a:close/>
                <a:moveTo>
                  <a:pt x="429682" y="0"/>
                </a:moveTo>
                <a:lnTo>
                  <a:pt x="1698649" y="0"/>
                </a:lnTo>
                <a:lnTo>
                  <a:pt x="1273987" y="1722120"/>
                </a:lnTo>
                <a:lnTo>
                  <a:pt x="429682" y="1722120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cap="rnd">
            <a:noFill/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s-ES"/>
          </a:p>
        </p:txBody>
      </p:sp>
      <p:sp>
        <p:nvSpPr>
          <p:cNvPr id="5" name="Triángulo isósceles 4">
            <a:extLst>
              <a:ext uri="{FF2B5EF4-FFF2-40B4-BE49-F238E27FC236}">
                <a16:creationId xmlns:a16="http://schemas.microsoft.com/office/drawing/2014/main" id="{595BDDF3-0EE3-910C-F3D5-1E09E904F9D8}"/>
              </a:ext>
            </a:extLst>
          </p:cNvPr>
          <p:cNvSpPr>
            <a:spLocks noChangeAspect="1"/>
          </p:cNvSpPr>
          <p:nvPr/>
        </p:nvSpPr>
        <p:spPr>
          <a:xfrm>
            <a:off x="5248939" y="4611627"/>
            <a:ext cx="350311" cy="1404000"/>
          </a:xfrm>
          <a:prstGeom prst="triangle">
            <a:avLst>
              <a:gd name="adj" fmla="val 100000"/>
            </a:avLst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D3413ABD-4C9A-5804-CF1A-80509F1EA7AB}"/>
              </a:ext>
            </a:extLst>
          </p:cNvPr>
          <p:cNvSpPr>
            <a:spLocks noChangeAspect="1"/>
          </p:cNvSpPr>
          <p:nvPr/>
        </p:nvSpPr>
        <p:spPr>
          <a:xfrm>
            <a:off x="4592511" y="4618232"/>
            <a:ext cx="1014897" cy="1404000"/>
          </a:xfrm>
          <a:prstGeom prst="rect">
            <a:avLst/>
          </a:prstGeom>
          <a:noFill/>
          <a:ln cap="rnd">
            <a:solidFill>
              <a:schemeClr val="tx1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72C90DC8-C20D-37DE-54EC-31B3DBF3DA30}"/>
              </a:ext>
            </a:extLst>
          </p:cNvPr>
          <p:cNvSpPr txBox="1"/>
          <p:nvPr/>
        </p:nvSpPr>
        <p:spPr>
          <a:xfrm>
            <a:off x="4928664" y="6015627"/>
            <a:ext cx="3000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b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82F10B53-6D22-F7B3-DA24-47C373686E76}"/>
              </a:ext>
            </a:extLst>
          </p:cNvPr>
          <p:cNvSpPr txBox="1"/>
          <p:nvPr/>
        </p:nvSpPr>
        <p:spPr>
          <a:xfrm>
            <a:off x="4209424" y="5045116"/>
            <a:ext cx="3000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a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D954CFAC-8CAD-AB6A-8083-5F6A90B5A128}"/>
              </a:ext>
            </a:extLst>
          </p:cNvPr>
          <p:cNvSpPr txBox="1"/>
          <p:nvPr/>
        </p:nvSpPr>
        <p:spPr>
          <a:xfrm>
            <a:off x="6243872" y="4850074"/>
            <a:ext cx="11620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ÁREA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CD1235AE-911F-3681-076A-3B419BED84CE}"/>
              </a:ext>
            </a:extLst>
          </p:cNvPr>
          <p:cNvSpPr txBox="1"/>
          <p:nvPr/>
        </p:nvSpPr>
        <p:spPr>
          <a:xfrm>
            <a:off x="6243872" y="5448630"/>
            <a:ext cx="19978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PERÍMETRO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CuadroTexto 18">
                <a:extLst>
                  <a:ext uri="{FF2B5EF4-FFF2-40B4-BE49-F238E27FC236}">
                    <a16:creationId xmlns:a16="http://schemas.microsoft.com/office/drawing/2014/main" id="{5FA14CA2-69D4-3C6D-A64C-171DEB590E59}"/>
                  </a:ext>
                </a:extLst>
              </p:cNvPr>
              <p:cNvSpPr txBox="1"/>
              <p:nvPr/>
            </p:nvSpPr>
            <p:spPr>
              <a:xfrm>
                <a:off x="8102196" y="4890777"/>
                <a:ext cx="1077218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𝑨</m:t>
                      </m:r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s-ES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𝒃</m:t>
                      </m:r>
                    </m:oMath>
                  </m:oMathPara>
                </a14:m>
                <a:endParaRPr lang="es-ES" sz="2000" b="1" dirty="0"/>
              </a:p>
            </p:txBody>
          </p:sp>
        </mc:Choice>
        <mc:Fallback xmlns="">
          <p:sp>
            <p:nvSpPr>
              <p:cNvPr id="19" name="CuadroTexto 18">
                <a:extLst>
                  <a:ext uri="{FF2B5EF4-FFF2-40B4-BE49-F238E27FC236}">
                    <a16:creationId xmlns:a16="http://schemas.microsoft.com/office/drawing/2014/main" id="{5FA14CA2-69D4-3C6D-A64C-171DEB590E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02196" y="4890777"/>
                <a:ext cx="1077218" cy="307777"/>
              </a:xfrm>
              <a:prstGeom prst="rect">
                <a:avLst/>
              </a:prstGeom>
              <a:blipFill>
                <a:blip r:embed="rId10"/>
                <a:stretch>
                  <a:fillRect l="-3955" r="-5085" b="-11765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CuadroTexto 19">
                <a:extLst>
                  <a:ext uri="{FF2B5EF4-FFF2-40B4-BE49-F238E27FC236}">
                    <a16:creationId xmlns:a16="http://schemas.microsoft.com/office/drawing/2014/main" id="{EC93644C-1D6C-A6BE-65E2-FBB59E4DF281}"/>
                  </a:ext>
                </a:extLst>
              </p:cNvPr>
              <p:cNvSpPr txBox="1"/>
              <p:nvPr/>
            </p:nvSpPr>
            <p:spPr>
              <a:xfrm>
                <a:off x="8102196" y="5489333"/>
                <a:ext cx="1482777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𝑷</m:t>
                      </m:r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𝒃</m:t>
                      </m:r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𝒄</m:t>
                      </m:r>
                    </m:oMath>
                  </m:oMathPara>
                </a14:m>
                <a:endParaRPr lang="es-ES" sz="2000" b="1" dirty="0"/>
              </a:p>
            </p:txBody>
          </p:sp>
        </mc:Choice>
        <mc:Fallback xmlns="">
          <p:sp>
            <p:nvSpPr>
              <p:cNvPr id="20" name="CuadroTexto 19">
                <a:extLst>
                  <a:ext uri="{FF2B5EF4-FFF2-40B4-BE49-F238E27FC236}">
                    <a16:creationId xmlns:a16="http://schemas.microsoft.com/office/drawing/2014/main" id="{EC93644C-1D6C-A6BE-65E2-FBB59E4DF2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02196" y="5489333"/>
                <a:ext cx="1482777" cy="307777"/>
              </a:xfrm>
              <a:prstGeom prst="rect">
                <a:avLst/>
              </a:prstGeom>
              <a:blipFill>
                <a:blip r:embed="rId11"/>
                <a:stretch>
                  <a:fillRect l="-2881" r="-3292" b="-11765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Rectángulo 20">
            <a:extLst>
              <a:ext uri="{FF2B5EF4-FFF2-40B4-BE49-F238E27FC236}">
                <a16:creationId xmlns:a16="http://schemas.microsoft.com/office/drawing/2014/main" id="{D68E03B3-9511-1E13-BBF0-6DD968CED686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7FFD3421-B9AE-8D64-DC27-BE5225E0CA6F}"/>
              </a:ext>
            </a:extLst>
          </p:cNvPr>
          <p:cNvSpPr txBox="1"/>
          <p:nvPr/>
        </p:nvSpPr>
        <p:spPr>
          <a:xfrm>
            <a:off x="3601" y="33951"/>
            <a:ext cx="1182084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9: </a:t>
            </a:r>
            <a:r>
              <a:rPr lang="es-ES" sz="4400" dirty="0">
                <a:latin typeface="SF Fedora" panose="00000400000000000000" pitchFamily="2" charset="0"/>
                <a:cs typeface="SF Fedora" panose="00000400000000000000" pitchFamily="2" charset="0"/>
              </a:rPr>
              <a:t>Problemas Métricos en el Plano</a:t>
            </a:r>
            <a:endParaRPr lang="es-ES" sz="4000" dirty="0">
              <a:latin typeface="SF Fedora" panose="00000400000000000000" pitchFamily="2" charset="0"/>
              <a:cs typeface="SF Fedora" panose="00000400000000000000" pitchFamily="2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96822213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1E4F5"/>
                                      </p:to>
                                    </p:animClr>
                                    <p:set>
                                      <p:cBhvr>
                                        <p:cTn id="10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2" grpId="0"/>
      <p:bldP spid="15" grpId="0"/>
      <p:bldP spid="19" grpId="0"/>
      <p:bldP spid="20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!CuadroTexto 1">
            <a:extLst>
              <a:ext uri="{FF2B5EF4-FFF2-40B4-BE49-F238E27FC236}">
                <a16:creationId xmlns:a16="http://schemas.microsoft.com/office/drawing/2014/main" id="{AF87A70E-9BF4-718B-1946-AEA56F498C61}"/>
              </a:ext>
            </a:extLst>
          </p:cNvPr>
          <p:cNvSpPr txBox="1"/>
          <p:nvPr/>
        </p:nvSpPr>
        <p:spPr>
          <a:xfrm>
            <a:off x="332896" y="982088"/>
            <a:ext cx="267187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ROMBO:</a:t>
            </a:r>
            <a:endParaRPr lang="es-ES" sz="2000" b="1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DFF6C2C3-085E-84A6-25F0-F50B26466BEB}"/>
              </a:ext>
            </a:extLst>
          </p:cNvPr>
          <p:cNvSpPr txBox="1"/>
          <p:nvPr/>
        </p:nvSpPr>
        <p:spPr>
          <a:xfrm>
            <a:off x="4407228" y="1460455"/>
            <a:ext cx="11620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ÁREA</a:t>
            </a: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E62FF5DD-FFFE-426E-6F9A-EB351D29E02A}"/>
              </a:ext>
            </a:extLst>
          </p:cNvPr>
          <p:cNvSpPr txBox="1"/>
          <p:nvPr/>
        </p:nvSpPr>
        <p:spPr>
          <a:xfrm>
            <a:off x="4407228" y="2059011"/>
            <a:ext cx="19978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PERÍMETRO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CuadroTexto 23">
                <a:extLst>
                  <a:ext uri="{FF2B5EF4-FFF2-40B4-BE49-F238E27FC236}">
                    <a16:creationId xmlns:a16="http://schemas.microsoft.com/office/drawing/2014/main" id="{AAA21D9F-E8E5-A966-73DA-F1A98F076192}"/>
                  </a:ext>
                </a:extLst>
              </p:cNvPr>
              <p:cNvSpPr txBox="1"/>
              <p:nvPr/>
            </p:nvSpPr>
            <p:spPr>
              <a:xfrm>
                <a:off x="6988739" y="1506621"/>
                <a:ext cx="1016304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𝑨</m:t>
                      </m:r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𝒍</m:t>
                      </m:r>
                      <m:r>
                        <a:rPr lang="es-ES" sz="20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𝒂</m:t>
                      </m:r>
                    </m:oMath>
                  </m:oMathPara>
                </a14:m>
                <a:endParaRPr lang="es-ES" sz="2000" b="1" dirty="0"/>
              </a:p>
            </p:txBody>
          </p:sp>
        </mc:Choice>
        <mc:Fallback xmlns="">
          <p:sp>
            <p:nvSpPr>
              <p:cNvPr id="24" name="CuadroTexto 23">
                <a:extLst>
                  <a:ext uri="{FF2B5EF4-FFF2-40B4-BE49-F238E27FC236}">
                    <a16:creationId xmlns:a16="http://schemas.microsoft.com/office/drawing/2014/main" id="{AAA21D9F-E8E5-A966-73DA-F1A98F0761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8739" y="1506621"/>
                <a:ext cx="1016304" cy="307777"/>
              </a:xfrm>
              <a:prstGeom prst="rect">
                <a:avLst/>
              </a:prstGeom>
              <a:blipFill>
                <a:blip r:embed="rId6"/>
                <a:stretch>
                  <a:fillRect l="-4192" r="-2395" b="-11765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CuadroTexto 24">
                <a:extLst>
                  <a:ext uri="{FF2B5EF4-FFF2-40B4-BE49-F238E27FC236}">
                    <a16:creationId xmlns:a16="http://schemas.microsoft.com/office/drawing/2014/main" id="{9A395969-BB06-C592-EEED-8FDF30E30343}"/>
                  </a:ext>
                </a:extLst>
              </p:cNvPr>
              <p:cNvSpPr txBox="1"/>
              <p:nvPr/>
            </p:nvSpPr>
            <p:spPr>
              <a:xfrm>
                <a:off x="6988739" y="2105177"/>
                <a:ext cx="831766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𝑷</m:t>
                      </m:r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𝒍</m:t>
                      </m:r>
                    </m:oMath>
                  </m:oMathPara>
                </a14:m>
                <a:endParaRPr lang="es-ES" sz="2000" b="1" dirty="0"/>
              </a:p>
            </p:txBody>
          </p:sp>
        </mc:Choice>
        <mc:Fallback xmlns="">
          <p:sp>
            <p:nvSpPr>
              <p:cNvPr id="25" name="CuadroTexto 24">
                <a:extLst>
                  <a:ext uri="{FF2B5EF4-FFF2-40B4-BE49-F238E27FC236}">
                    <a16:creationId xmlns:a16="http://schemas.microsoft.com/office/drawing/2014/main" id="{9A395969-BB06-C592-EEED-8FDF30E303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8739" y="2105177"/>
                <a:ext cx="831766" cy="307777"/>
              </a:xfrm>
              <a:prstGeom prst="rect">
                <a:avLst/>
              </a:prstGeom>
              <a:blipFill>
                <a:blip r:embed="rId7"/>
                <a:stretch>
                  <a:fillRect l="-5839" r="-6569" b="-11765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CuadroTexto 25">
            <a:extLst>
              <a:ext uri="{FF2B5EF4-FFF2-40B4-BE49-F238E27FC236}">
                <a16:creationId xmlns:a16="http://schemas.microsoft.com/office/drawing/2014/main" id="{6E86229D-B1D4-9A75-C1C8-E2E65293F783}"/>
              </a:ext>
            </a:extLst>
          </p:cNvPr>
          <p:cNvSpPr txBox="1"/>
          <p:nvPr/>
        </p:nvSpPr>
        <p:spPr>
          <a:xfrm>
            <a:off x="4264561" y="3510225"/>
            <a:ext cx="22741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ÁREA DEL RECTÁNGULO: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CuadroTexto 26">
                <a:extLst>
                  <a:ext uri="{FF2B5EF4-FFF2-40B4-BE49-F238E27FC236}">
                    <a16:creationId xmlns:a16="http://schemas.microsoft.com/office/drawing/2014/main" id="{84261F0C-8325-6759-4841-8FABECE13290}"/>
                  </a:ext>
                </a:extLst>
              </p:cNvPr>
              <p:cNvSpPr txBox="1"/>
              <p:nvPr/>
            </p:nvSpPr>
            <p:spPr>
              <a:xfrm>
                <a:off x="6846072" y="3702824"/>
                <a:ext cx="1158971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𝑨</m:t>
                      </m:r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𝒅</m:t>
                      </m:r>
                      <m:r>
                        <a:rPr lang="es-ES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𝒅</m:t>
                      </m:r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′</m:t>
                      </m:r>
                    </m:oMath>
                  </m:oMathPara>
                </a14:m>
                <a:endParaRPr lang="es-ES" sz="2000" b="1" dirty="0"/>
              </a:p>
            </p:txBody>
          </p:sp>
        </mc:Choice>
        <mc:Fallback xmlns="">
          <p:sp>
            <p:nvSpPr>
              <p:cNvPr id="27" name="CuadroTexto 26">
                <a:extLst>
                  <a:ext uri="{FF2B5EF4-FFF2-40B4-BE49-F238E27FC236}">
                    <a16:creationId xmlns:a16="http://schemas.microsoft.com/office/drawing/2014/main" id="{84261F0C-8325-6759-4841-8FABECE132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46072" y="3702824"/>
                <a:ext cx="1158971" cy="307777"/>
              </a:xfrm>
              <a:prstGeom prst="rect">
                <a:avLst/>
              </a:prstGeom>
              <a:blipFill>
                <a:blip r:embed="rId8"/>
                <a:stretch>
                  <a:fillRect l="-3684" r="-5789" b="-13725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Rectángulo 37">
            <a:extLst>
              <a:ext uri="{FF2B5EF4-FFF2-40B4-BE49-F238E27FC236}">
                <a16:creationId xmlns:a16="http://schemas.microsoft.com/office/drawing/2014/main" id="{0DC5CB4A-70CC-99F5-99E1-7F19F36B252E}"/>
              </a:ext>
            </a:extLst>
          </p:cNvPr>
          <p:cNvSpPr/>
          <p:nvPr/>
        </p:nvSpPr>
        <p:spPr>
          <a:xfrm>
            <a:off x="1770929" y="3443417"/>
            <a:ext cx="1241792" cy="200845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600"/>
          </a:p>
        </p:txBody>
      </p:sp>
      <p:sp>
        <p:nvSpPr>
          <p:cNvPr id="39" name="Triángulo isósceles 38">
            <a:extLst>
              <a:ext uri="{FF2B5EF4-FFF2-40B4-BE49-F238E27FC236}">
                <a16:creationId xmlns:a16="http://schemas.microsoft.com/office/drawing/2014/main" id="{92070C23-AB83-3CB6-0FD4-6A623FC5BAA6}"/>
              </a:ext>
            </a:extLst>
          </p:cNvPr>
          <p:cNvSpPr/>
          <p:nvPr/>
        </p:nvSpPr>
        <p:spPr>
          <a:xfrm>
            <a:off x="2387602" y="3443417"/>
            <a:ext cx="626160" cy="990055"/>
          </a:xfrm>
          <a:prstGeom prst="triangle">
            <a:avLst>
              <a:gd name="adj" fmla="val 0"/>
            </a:avLst>
          </a:prstGeom>
          <a:solidFill>
            <a:schemeClr val="accent4">
              <a:lumMod val="20000"/>
              <a:lumOff val="80000"/>
            </a:schemeClr>
          </a:solidFill>
          <a:ln cap="rnd">
            <a:noFill/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600"/>
          </a:p>
        </p:txBody>
      </p:sp>
      <p:sp>
        <p:nvSpPr>
          <p:cNvPr id="48" name="Triángulo isósceles 47">
            <a:extLst>
              <a:ext uri="{FF2B5EF4-FFF2-40B4-BE49-F238E27FC236}">
                <a16:creationId xmlns:a16="http://schemas.microsoft.com/office/drawing/2014/main" id="{E83CFD59-B5FC-6403-01F5-9CF63EAFE306}"/>
              </a:ext>
            </a:extLst>
          </p:cNvPr>
          <p:cNvSpPr/>
          <p:nvPr/>
        </p:nvSpPr>
        <p:spPr>
          <a:xfrm flipH="1">
            <a:off x="1766706" y="3443416"/>
            <a:ext cx="626160" cy="990055"/>
          </a:xfrm>
          <a:prstGeom prst="triangle">
            <a:avLst>
              <a:gd name="adj" fmla="val 0"/>
            </a:avLst>
          </a:prstGeom>
          <a:solidFill>
            <a:schemeClr val="accent4">
              <a:lumMod val="20000"/>
              <a:lumOff val="80000"/>
            </a:schemeClr>
          </a:solidFill>
          <a:ln cap="rnd">
            <a:noFill/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600"/>
          </a:p>
        </p:txBody>
      </p:sp>
      <p:sp>
        <p:nvSpPr>
          <p:cNvPr id="49" name="Triángulo isósceles 48">
            <a:extLst>
              <a:ext uri="{FF2B5EF4-FFF2-40B4-BE49-F238E27FC236}">
                <a16:creationId xmlns:a16="http://schemas.microsoft.com/office/drawing/2014/main" id="{72188EBF-31AC-D031-5E06-A4331E1F88A1}"/>
              </a:ext>
            </a:extLst>
          </p:cNvPr>
          <p:cNvSpPr/>
          <p:nvPr/>
        </p:nvSpPr>
        <p:spPr>
          <a:xfrm flipV="1">
            <a:off x="2387602" y="4433471"/>
            <a:ext cx="626160" cy="990055"/>
          </a:xfrm>
          <a:prstGeom prst="triangle">
            <a:avLst>
              <a:gd name="adj" fmla="val 0"/>
            </a:avLst>
          </a:prstGeom>
          <a:solidFill>
            <a:schemeClr val="accent4">
              <a:lumMod val="20000"/>
              <a:lumOff val="80000"/>
            </a:schemeClr>
          </a:solidFill>
          <a:ln cap="rnd">
            <a:noFill/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600"/>
          </a:p>
        </p:txBody>
      </p:sp>
      <p:sp>
        <p:nvSpPr>
          <p:cNvPr id="50" name="!!Triángulo isósceles 84">
            <a:extLst>
              <a:ext uri="{FF2B5EF4-FFF2-40B4-BE49-F238E27FC236}">
                <a16:creationId xmlns:a16="http://schemas.microsoft.com/office/drawing/2014/main" id="{A62A670A-C3FF-4EAF-E050-756DD6B41F75}"/>
              </a:ext>
            </a:extLst>
          </p:cNvPr>
          <p:cNvSpPr/>
          <p:nvPr/>
        </p:nvSpPr>
        <p:spPr>
          <a:xfrm flipH="1" flipV="1">
            <a:off x="1766706" y="4433472"/>
            <a:ext cx="626160" cy="990055"/>
          </a:xfrm>
          <a:prstGeom prst="triangle">
            <a:avLst>
              <a:gd name="adj" fmla="val 0"/>
            </a:avLst>
          </a:prstGeom>
          <a:solidFill>
            <a:schemeClr val="accent4">
              <a:lumMod val="20000"/>
              <a:lumOff val="80000"/>
            </a:schemeClr>
          </a:solidFill>
          <a:ln cap="rnd">
            <a:noFill/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600"/>
          </a:p>
        </p:txBody>
      </p:sp>
      <p:grpSp>
        <p:nvGrpSpPr>
          <p:cNvPr id="51" name="Grupo 50">
            <a:extLst>
              <a:ext uri="{FF2B5EF4-FFF2-40B4-BE49-F238E27FC236}">
                <a16:creationId xmlns:a16="http://schemas.microsoft.com/office/drawing/2014/main" id="{F1D0B129-B494-5EEC-2D1E-E6544D9502E8}"/>
              </a:ext>
            </a:extLst>
          </p:cNvPr>
          <p:cNvGrpSpPr/>
          <p:nvPr/>
        </p:nvGrpSpPr>
        <p:grpSpPr>
          <a:xfrm>
            <a:off x="1153085" y="1492151"/>
            <a:ext cx="2841704" cy="1182938"/>
            <a:chOff x="633539" y="3787560"/>
            <a:chExt cx="3370570" cy="1403091"/>
          </a:xfrm>
        </p:grpSpPr>
        <p:sp>
          <p:nvSpPr>
            <p:cNvPr id="52" name="Rombo 51">
              <a:extLst>
                <a:ext uri="{FF2B5EF4-FFF2-40B4-BE49-F238E27FC236}">
                  <a16:creationId xmlns:a16="http://schemas.microsoft.com/office/drawing/2014/main" id="{2BF1F119-65E9-7769-3276-AFD52D4B62D4}"/>
                </a:ext>
              </a:extLst>
            </p:cNvPr>
            <p:cNvSpPr/>
            <p:nvPr/>
          </p:nvSpPr>
          <p:spPr>
            <a:xfrm rot="1050024">
              <a:off x="633539" y="3787560"/>
              <a:ext cx="3370570" cy="1043166"/>
            </a:xfrm>
            <a:prstGeom prst="diamond">
              <a:avLst/>
            </a:prstGeom>
            <a:solidFill>
              <a:schemeClr val="accent4">
                <a:lumMod val="20000"/>
                <a:lumOff val="80000"/>
              </a:schemeClr>
            </a:solidFill>
            <a:ln cap="rnd">
              <a:solidFill>
                <a:schemeClr val="accent4">
                  <a:lumMod val="60000"/>
                  <a:lumOff val="40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sz="1600" dirty="0"/>
            </a:p>
          </p:txBody>
        </p:sp>
        <p:sp>
          <p:nvSpPr>
            <p:cNvPr id="53" name="CuadroTexto 52">
              <a:extLst>
                <a:ext uri="{FF2B5EF4-FFF2-40B4-BE49-F238E27FC236}">
                  <a16:creationId xmlns:a16="http://schemas.microsoft.com/office/drawing/2014/main" id="{7B770AE0-9A8B-8BB3-4936-7501B72FBE22}"/>
                </a:ext>
              </a:extLst>
            </p:cNvPr>
            <p:cNvSpPr txBox="1"/>
            <p:nvPr/>
          </p:nvSpPr>
          <p:spPr>
            <a:xfrm>
              <a:off x="2847974" y="4790541"/>
              <a:ext cx="30003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2000" b="1" dirty="0">
                  <a:solidFill>
                    <a:schemeClr val="accent1">
                      <a:lumMod val="60000"/>
                      <a:lumOff val="40000"/>
                    </a:schemeClr>
                  </a:solidFill>
                </a:rPr>
                <a:t>l</a:t>
              </a:r>
            </a:p>
          </p:txBody>
        </p:sp>
        <p:sp>
          <p:nvSpPr>
            <p:cNvPr id="54" name="CuadroTexto 53">
              <a:extLst>
                <a:ext uri="{FF2B5EF4-FFF2-40B4-BE49-F238E27FC236}">
                  <a16:creationId xmlns:a16="http://schemas.microsoft.com/office/drawing/2014/main" id="{37394208-2DD9-CA24-F2D7-83946FC47E48}"/>
                </a:ext>
              </a:extLst>
            </p:cNvPr>
            <p:cNvSpPr txBox="1"/>
            <p:nvPr/>
          </p:nvSpPr>
          <p:spPr>
            <a:xfrm>
              <a:off x="1179194" y="4237410"/>
              <a:ext cx="30003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2000" b="1" dirty="0">
                  <a:solidFill>
                    <a:schemeClr val="accent1">
                      <a:lumMod val="60000"/>
                      <a:lumOff val="40000"/>
                    </a:schemeClr>
                  </a:solidFill>
                </a:rPr>
                <a:t>l</a:t>
              </a:r>
            </a:p>
          </p:txBody>
        </p:sp>
        <p:cxnSp>
          <p:nvCxnSpPr>
            <p:cNvPr id="55" name="Conector recto 54">
              <a:extLst>
                <a:ext uri="{FF2B5EF4-FFF2-40B4-BE49-F238E27FC236}">
                  <a16:creationId xmlns:a16="http://schemas.microsoft.com/office/drawing/2014/main" id="{F6E83C9D-CD6E-2DE0-60DB-8CD02B404EAB}"/>
                </a:ext>
              </a:extLst>
            </p:cNvPr>
            <p:cNvCxnSpPr>
              <a:cxnSpLocks/>
            </p:cNvCxnSpPr>
            <p:nvPr/>
          </p:nvCxnSpPr>
          <p:spPr>
            <a:xfrm>
              <a:off x="2318824" y="3817620"/>
              <a:ext cx="0" cy="996085"/>
            </a:xfrm>
            <a:prstGeom prst="line">
              <a:avLst/>
            </a:prstGeom>
            <a:ln>
              <a:solidFill>
                <a:schemeClr val="accent4">
                  <a:lumMod val="60000"/>
                  <a:lumOff val="40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0" name="CuadroTexto 59">
              <a:extLst>
                <a:ext uri="{FF2B5EF4-FFF2-40B4-BE49-F238E27FC236}">
                  <a16:creationId xmlns:a16="http://schemas.microsoft.com/office/drawing/2014/main" id="{6238B24D-ECBE-19B4-8926-65038E0DD1AB}"/>
                </a:ext>
              </a:extLst>
            </p:cNvPr>
            <p:cNvSpPr txBox="1"/>
            <p:nvPr/>
          </p:nvSpPr>
          <p:spPr>
            <a:xfrm>
              <a:off x="2347838" y="4059807"/>
              <a:ext cx="30003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2000" b="1" dirty="0">
                  <a:solidFill>
                    <a:schemeClr val="accent1">
                      <a:lumMod val="60000"/>
                      <a:lumOff val="40000"/>
                    </a:schemeClr>
                  </a:solidFill>
                </a:rPr>
                <a:t>a</a:t>
              </a:r>
            </a:p>
          </p:txBody>
        </p:sp>
      </p:grpSp>
      <p:cxnSp>
        <p:nvCxnSpPr>
          <p:cNvPr id="62" name="Conector recto 61">
            <a:extLst>
              <a:ext uri="{FF2B5EF4-FFF2-40B4-BE49-F238E27FC236}">
                <a16:creationId xmlns:a16="http://schemas.microsoft.com/office/drawing/2014/main" id="{DE99ED2B-E36C-CB05-F7CB-C06814EFE605}"/>
              </a:ext>
            </a:extLst>
          </p:cNvPr>
          <p:cNvCxnSpPr>
            <a:cxnSpLocks/>
          </p:cNvCxnSpPr>
          <p:nvPr/>
        </p:nvCxnSpPr>
        <p:spPr>
          <a:xfrm>
            <a:off x="1771970" y="4433472"/>
            <a:ext cx="1241792" cy="1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ector recto de flecha 62">
            <a:extLst>
              <a:ext uri="{FF2B5EF4-FFF2-40B4-BE49-F238E27FC236}">
                <a16:creationId xmlns:a16="http://schemas.microsoft.com/office/drawing/2014/main" id="{D21996E5-02BE-82AD-12A1-851A3FFA2A9C}"/>
              </a:ext>
            </a:extLst>
          </p:cNvPr>
          <p:cNvCxnSpPr>
            <a:cxnSpLocks/>
          </p:cNvCxnSpPr>
          <p:nvPr/>
        </p:nvCxnSpPr>
        <p:spPr>
          <a:xfrm>
            <a:off x="1423162" y="3443417"/>
            <a:ext cx="0" cy="2008456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ector recto de flecha 63">
            <a:extLst>
              <a:ext uri="{FF2B5EF4-FFF2-40B4-BE49-F238E27FC236}">
                <a16:creationId xmlns:a16="http://schemas.microsoft.com/office/drawing/2014/main" id="{1B2CED1F-C559-2879-63B5-4855269664DA}"/>
              </a:ext>
            </a:extLst>
          </p:cNvPr>
          <p:cNvCxnSpPr>
            <a:cxnSpLocks/>
          </p:cNvCxnSpPr>
          <p:nvPr/>
        </p:nvCxnSpPr>
        <p:spPr>
          <a:xfrm flipH="1">
            <a:off x="1771970" y="5926939"/>
            <a:ext cx="1241792" cy="0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CuadroTexto 64">
            <a:extLst>
              <a:ext uri="{FF2B5EF4-FFF2-40B4-BE49-F238E27FC236}">
                <a16:creationId xmlns:a16="http://schemas.microsoft.com/office/drawing/2014/main" id="{7892C5F2-A6F1-9DE8-3541-4FAF1E0E1BCA}"/>
              </a:ext>
            </a:extLst>
          </p:cNvPr>
          <p:cNvSpPr txBox="1"/>
          <p:nvPr/>
        </p:nvSpPr>
        <p:spPr>
          <a:xfrm>
            <a:off x="973407" y="4193112"/>
            <a:ext cx="5257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d’</a:t>
            </a:r>
          </a:p>
        </p:txBody>
      </p:sp>
      <p:sp>
        <p:nvSpPr>
          <p:cNvPr id="66" name="CuadroTexto 65">
            <a:extLst>
              <a:ext uri="{FF2B5EF4-FFF2-40B4-BE49-F238E27FC236}">
                <a16:creationId xmlns:a16="http://schemas.microsoft.com/office/drawing/2014/main" id="{150EB005-915E-664D-09AA-818936F9D6BC}"/>
              </a:ext>
            </a:extLst>
          </p:cNvPr>
          <p:cNvSpPr txBox="1"/>
          <p:nvPr/>
        </p:nvSpPr>
        <p:spPr>
          <a:xfrm>
            <a:off x="2129911" y="5525929"/>
            <a:ext cx="5257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d</a:t>
            </a:r>
          </a:p>
        </p:txBody>
      </p:sp>
      <p:cxnSp>
        <p:nvCxnSpPr>
          <p:cNvPr id="67" name="Conector recto 66">
            <a:extLst>
              <a:ext uri="{FF2B5EF4-FFF2-40B4-BE49-F238E27FC236}">
                <a16:creationId xmlns:a16="http://schemas.microsoft.com/office/drawing/2014/main" id="{7EBF487A-7AFF-7F8F-6BB6-A9872440DD7C}"/>
              </a:ext>
            </a:extLst>
          </p:cNvPr>
          <p:cNvCxnSpPr>
            <a:cxnSpLocks/>
          </p:cNvCxnSpPr>
          <p:nvPr/>
        </p:nvCxnSpPr>
        <p:spPr>
          <a:xfrm>
            <a:off x="2392866" y="3510225"/>
            <a:ext cx="0" cy="1973606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Forma libre: forma 67">
            <a:extLst>
              <a:ext uri="{FF2B5EF4-FFF2-40B4-BE49-F238E27FC236}">
                <a16:creationId xmlns:a16="http://schemas.microsoft.com/office/drawing/2014/main" id="{38764523-9A9E-2D2C-7484-EF4AE0ACED94}"/>
              </a:ext>
            </a:extLst>
          </p:cNvPr>
          <p:cNvSpPr/>
          <p:nvPr/>
        </p:nvSpPr>
        <p:spPr>
          <a:xfrm flipH="1">
            <a:off x="1776230" y="3440240"/>
            <a:ext cx="1231737" cy="2002108"/>
          </a:xfrm>
          <a:custGeom>
            <a:avLst/>
            <a:gdLst>
              <a:gd name="connsiteX0" fmla="*/ 620896 w 1247056"/>
              <a:gd name="connsiteY0" fmla="*/ 0 h 1980110"/>
              <a:gd name="connsiteX1" fmla="*/ 620896 w 1247056"/>
              <a:gd name="connsiteY1" fmla="*/ 8324 h 1980110"/>
              <a:gd name="connsiteX2" fmla="*/ 1 w 1247056"/>
              <a:gd name="connsiteY2" fmla="*/ 990055 h 1980110"/>
              <a:gd name="connsiteX3" fmla="*/ 0 w 1247056"/>
              <a:gd name="connsiteY3" fmla="*/ 990055 h 1980110"/>
              <a:gd name="connsiteX4" fmla="*/ 0 w 1247056"/>
              <a:gd name="connsiteY4" fmla="*/ 990056 h 1980110"/>
              <a:gd name="connsiteX5" fmla="*/ 0 w 1247056"/>
              <a:gd name="connsiteY5" fmla="*/ 990056 h 1980110"/>
              <a:gd name="connsiteX6" fmla="*/ 1 w 1247056"/>
              <a:gd name="connsiteY6" fmla="*/ 990056 h 1980110"/>
              <a:gd name="connsiteX7" fmla="*/ 620896 w 1247056"/>
              <a:gd name="connsiteY7" fmla="*/ 1971787 h 1980110"/>
              <a:gd name="connsiteX8" fmla="*/ 620896 w 1247056"/>
              <a:gd name="connsiteY8" fmla="*/ 1980110 h 1980110"/>
              <a:gd name="connsiteX9" fmla="*/ 623528 w 1247056"/>
              <a:gd name="connsiteY9" fmla="*/ 1975949 h 1980110"/>
              <a:gd name="connsiteX10" fmla="*/ 626160 w 1247056"/>
              <a:gd name="connsiteY10" fmla="*/ 1980110 h 1980110"/>
              <a:gd name="connsiteX11" fmla="*/ 626160 w 1247056"/>
              <a:gd name="connsiteY11" fmla="*/ 1971787 h 1980110"/>
              <a:gd name="connsiteX12" fmla="*/ 1247056 w 1247056"/>
              <a:gd name="connsiteY12" fmla="*/ 990055 h 1980110"/>
              <a:gd name="connsiteX13" fmla="*/ 626160 w 1247056"/>
              <a:gd name="connsiteY13" fmla="*/ 8323 h 1980110"/>
              <a:gd name="connsiteX14" fmla="*/ 626160 w 1247056"/>
              <a:gd name="connsiteY14" fmla="*/ 1 h 1980110"/>
              <a:gd name="connsiteX15" fmla="*/ 623528 w 1247056"/>
              <a:gd name="connsiteY15" fmla="*/ 4162 h 19801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247056" h="1980110">
                <a:moveTo>
                  <a:pt x="620896" y="0"/>
                </a:moveTo>
                <a:lnTo>
                  <a:pt x="620896" y="8324"/>
                </a:lnTo>
                <a:lnTo>
                  <a:pt x="1" y="990055"/>
                </a:lnTo>
                <a:lnTo>
                  <a:pt x="0" y="990055"/>
                </a:lnTo>
                <a:lnTo>
                  <a:pt x="0" y="990056"/>
                </a:lnTo>
                <a:lnTo>
                  <a:pt x="0" y="990056"/>
                </a:lnTo>
                <a:lnTo>
                  <a:pt x="1" y="990056"/>
                </a:lnTo>
                <a:lnTo>
                  <a:pt x="620896" y="1971787"/>
                </a:lnTo>
                <a:lnTo>
                  <a:pt x="620896" y="1980110"/>
                </a:lnTo>
                <a:lnTo>
                  <a:pt x="623528" y="1975949"/>
                </a:lnTo>
                <a:lnTo>
                  <a:pt x="626160" y="1980110"/>
                </a:lnTo>
                <a:lnTo>
                  <a:pt x="626160" y="1971787"/>
                </a:lnTo>
                <a:lnTo>
                  <a:pt x="1247056" y="990055"/>
                </a:lnTo>
                <a:lnTo>
                  <a:pt x="626160" y="8323"/>
                </a:lnTo>
                <a:lnTo>
                  <a:pt x="626160" y="1"/>
                </a:lnTo>
                <a:lnTo>
                  <a:pt x="623528" y="4162"/>
                </a:lnTo>
                <a:close/>
              </a:path>
            </a:pathLst>
          </a:custGeom>
          <a:noFill/>
          <a:ln cap="rnd">
            <a:solidFill>
              <a:schemeClr val="tx1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s-ES" sz="1600"/>
          </a:p>
        </p:txBody>
      </p:sp>
      <p:sp>
        <p:nvSpPr>
          <p:cNvPr id="69" name="Rectángulo 68">
            <a:extLst>
              <a:ext uri="{FF2B5EF4-FFF2-40B4-BE49-F238E27FC236}">
                <a16:creationId xmlns:a16="http://schemas.microsoft.com/office/drawing/2014/main" id="{88CD10B4-887A-987B-5F88-F87F4E0351EC}"/>
              </a:ext>
            </a:extLst>
          </p:cNvPr>
          <p:cNvSpPr/>
          <p:nvPr/>
        </p:nvSpPr>
        <p:spPr>
          <a:xfrm>
            <a:off x="1771970" y="3443417"/>
            <a:ext cx="1241792" cy="200845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600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78619F32-CE71-7579-7991-2D653340BB8D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ABD0BCB6-49C5-8047-3833-E6F6659A7295}"/>
              </a:ext>
            </a:extLst>
          </p:cNvPr>
          <p:cNvSpPr txBox="1"/>
          <p:nvPr/>
        </p:nvSpPr>
        <p:spPr>
          <a:xfrm>
            <a:off x="3601" y="33951"/>
            <a:ext cx="1182084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9: </a:t>
            </a:r>
            <a:r>
              <a:rPr lang="es-ES" sz="4400" dirty="0">
                <a:latin typeface="SF Fedora" panose="00000400000000000000" pitchFamily="2" charset="0"/>
                <a:cs typeface="SF Fedora" panose="00000400000000000000" pitchFamily="2" charset="0"/>
              </a:rPr>
              <a:t>Problemas Métricos en el Plano</a:t>
            </a:r>
            <a:endParaRPr lang="es-ES" sz="4000" dirty="0">
              <a:latin typeface="SF Fedora" panose="00000400000000000000" pitchFamily="2" charset="0"/>
              <a:cs typeface="SF Fedora" panose="00000400000000000000" pitchFamily="2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9181814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7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75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250"/>
                            </p:stCondLst>
                            <p:childTnLst>
                              <p:par>
                                <p:cTn id="1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750"/>
                            </p:stCondLst>
                            <p:childTnLst>
                              <p:par>
                                <p:cTn id="1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250"/>
                            </p:stCondLst>
                            <p:childTnLst>
                              <p:par>
                                <p:cTn id="2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750"/>
                            </p:stCondLst>
                            <p:childTnLst>
                              <p:par>
                                <p:cTn id="3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7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75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75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75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75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75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75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75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75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75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7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75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75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0" dur="2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E49EDD"/>
                                      </p:to>
                                    </p:animClr>
                                    <p:set>
                                      <p:cBhvr>
                                        <p:cTn id="81" dur="2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2" dur="2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4" dur="2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E49EDD"/>
                                      </p:to>
                                    </p:animClr>
                                    <p:set>
                                      <p:cBhvr>
                                        <p:cTn id="85" dur="2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6" dur="2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8" dur="2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E49EDD"/>
                                      </p:to>
                                    </p:animClr>
                                    <p:set>
                                      <p:cBhvr>
                                        <p:cTn id="89" dur="2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0" dur="2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2" dur="2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E49EDD"/>
                                      </p:to>
                                    </p:animClr>
                                    <p:set>
                                      <p:cBhvr>
                                        <p:cTn id="93" dur="2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4" dur="2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2000"/>
                            </p:stCondLst>
                            <p:childTnLst>
                              <p:par>
                                <p:cTn id="96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>
                            <p:stCondLst>
                              <p:cond delay="2500"/>
                            </p:stCondLst>
                            <p:childTnLst>
                              <p:par>
                                <p:cTn id="10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4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22" grpId="0"/>
      <p:bldP spid="23" grpId="0"/>
      <p:bldP spid="24" grpId="0"/>
      <p:bldP spid="25" grpId="0"/>
      <p:bldP spid="26" grpId="0"/>
      <p:bldP spid="27" grpId="0"/>
      <p:bldP spid="38" grpId="0" animBg="1"/>
      <p:bldP spid="39" grpId="0" animBg="1"/>
      <p:bldP spid="48" grpId="0" animBg="1"/>
      <p:bldP spid="49" grpId="0" animBg="1"/>
      <p:bldP spid="50" grpId="0" animBg="1"/>
      <p:bldP spid="65" grpId="0"/>
      <p:bldP spid="66" grpId="0"/>
      <p:bldP spid="68" grpId="0" animBg="1"/>
      <p:bldP spid="69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!CuadroTexto 1">
            <a:extLst>
              <a:ext uri="{FF2B5EF4-FFF2-40B4-BE49-F238E27FC236}">
                <a16:creationId xmlns:a16="http://schemas.microsoft.com/office/drawing/2014/main" id="{AF87A70E-9BF4-718B-1946-AEA56F498C61}"/>
              </a:ext>
            </a:extLst>
          </p:cNvPr>
          <p:cNvSpPr txBox="1"/>
          <p:nvPr/>
        </p:nvSpPr>
        <p:spPr>
          <a:xfrm>
            <a:off x="332896" y="982088"/>
            <a:ext cx="267187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ROMBO:</a:t>
            </a:r>
            <a:endParaRPr lang="es-ES" sz="2000" b="1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DFF6C2C3-085E-84A6-25F0-F50B26466BEB}"/>
              </a:ext>
            </a:extLst>
          </p:cNvPr>
          <p:cNvSpPr txBox="1"/>
          <p:nvPr/>
        </p:nvSpPr>
        <p:spPr>
          <a:xfrm>
            <a:off x="4407228" y="1460455"/>
            <a:ext cx="11620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ÁREA</a:t>
            </a: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E62FF5DD-FFFE-426E-6F9A-EB351D29E02A}"/>
              </a:ext>
            </a:extLst>
          </p:cNvPr>
          <p:cNvSpPr txBox="1"/>
          <p:nvPr/>
        </p:nvSpPr>
        <p:spPr>
          <a:xfrm>
            <a:off x="4407228" y="2059011"/>
            <a:ext cx="19978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PERÍMETRO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CuadroTexto 23">
                <a:extLst>
                  <a:ext uri="{FF2B5EF4-FFF2-40B4-BE49-F238E27FC236}">
                    <a16:creationId xmlns:a16="http://schemas.microsoft.com/office/drawing/2014/main" id="{AAA21D9F-E8E5-A966-73DA-F1A98F076192}"/>
                  </a:ext>
                </a:extLst>
              </p:cNvPr>
              <p:cNvSpPr txBox="1"/>
              <p:nvPr/>
            </p:nvSpPr>
            <p:spPr>
              <a:xfrm>
                <a:off x="6988739" y="1506621"/>
                <a:ext cx="1016304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𝑨</m:t>
                      </m:r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𝒍</m:t>
                      </m:r>
                      <m:r>
                        <a:rPr lang="es-ES" sz="20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𝒂</m:t>
                      </m:r>
                    </m:oMath>
                  </m:oMathPara>
                </a14:m>
                <a:endParaRPr lang="es-ES" sz="2000" b="1" dirty="0"/>
              </a:p>
            </p:txBody>
          </p:sp>
        </mc:Choice>
        <mc:Fallback xmlns="">
          <p:sp>
            <p:nvSpPr>
              <p:cNvPr id="24" name="CuadroTexto 23">
                <a:extLst>
                  <a:ext uri="{FF2B5EF4-FFF2-40B4-BE49-F238E27FC236}">
                    <a16:creationId xmlns:a16="http://schemas.microsoft.com/office/drawing/2014/main" id="{AAA21D9F-E8E5-A966-73DA-F1A98F0761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8739" y="1506621"/>
                <a:ext cx="1016304" cy="307777"/>
              </a:xfrm>
              <a:prstGeom prst="rect">
                <a:avLst/>
              </a:prstGeom>
              <a:blipFill>
                <a:blip r:embed="rId6"/>
                <a:stretch>
                  <a:fillRect l="-4192" r="-2395" b="-11765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CuadroTexto 24">
                <a:extLst>
                  <a:ext uri="{FF2B5EF4-FFF2-40B4-BE49-F238E27FC236}">
                    <a16:creationId xmlns:a16="http://schemas.microsoft.com/office/drawing/2014/main" id="{9A395969-BB06-C592-EEED-8FDF30E30343}"/>
                  </a:ext>
                </a:extLst>
              </p:cNvPr>
              <p:cNvSpPr txBox="1"/>
              <p:nvPr/>
            </p:nvSpPr>
            <p:spPr>
              <a:xfrm>
                <a:off x="6988739" y="2105177"/>
                <a:ext cx="831766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𝑷</m:t>
                      </m:r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𝒍</m:t>
                      </m:r>
                    </m:oMath>
                  </m:oMathPara>
                </a14:m>
                <a:endParaRPr lang="es-ES" sz="2000" b="1" dirty="0"/>
              </a:p>
            </p:txBody>
          </p:sp>
        </mc:Choice>
        <mc:Fallback xmlns="">
          <p:sp>
            <p:nvSpPr>
              <p:cNvPr id="25" name="CuadroTexto 24">
                <a:extLst>
                  <a:ext uri="{FF2B5EF4-FFF2-40B4-BE49-F238E27FC236}">
                    <a16:creationId xmlns:a16="http://schemas.microsoft.com/office/drawing/2014/main" id="{9A395969-BB06-C592-EEED-8FDF30E303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8739" y="2105177"/>
                <a:ext cx="831766" cy="307777"/>
              </a:xfrm>
              <a:prstGeom prst="rect">
                <a:avLst/>
              </a:prstGeom>
              <a:blipFill>
                <a:blip r:embed="rId7"/>
                <a:stretch>
                  <a:fillRect l="-5839" r="-6569" b="-11765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CuadroTexto 25">
            <a:extLst>
              <a:ext uri="{FF2B5EF4-FFF2-40B4-BE49-F238E27FC236}">
                <a16:creationId xmlns:a16="http://schemas.microsoft.com/office/drawing/2014/main" id="{6E86229D-B1D4-9A75-C1C8-E2E65293F783}"/>
              </a:ext>
            </a:extLst>
          </p:cNvPr>
          <p:cNvSpPr txBox="1"/>
          <p:nvPr/>
        </p:nvSpPr>
        <p:spPr>
          <a:xfrm>
            <a:off x="4264561" y="3510225"/>
            <a:ext cx="22741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ÁREA DEL RECTÁNGULO: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CuadroTexto 26">
                <a:extLst>
                  <a:ext uri="{FF2B5EF4-FFF2-40B4-BE49-F238E27FC236}">
                    <a16:creationId xmlns:a16="http://schemas.microsoft.com/office/drawing/2014/main" id="{84261F0C-8325-6759-4841-8FABECE13290}"/>
                  </a:ext>
                </a:extLst>
              </p:cNvPr>
              <p:cNvSpPr txBox="1"/>
              <p:nvPr/>
            </p:nvSpPr>
            <p:spPr>
              <a:xfrm>
                <a:off x="6846072" y="3702824"/>
                <a:ext cx="1158971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𝑨</m:t>
                      </m:r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𝒅</m:t>
                      </m:r>
                      <m:r>
                        <a:rPr lang="es-ES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𝒅</m:t>
                      </m:r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′</m:t>
                      </m:r>
                    </m:oMath>
                  </m:oMathPara>
                </a14:m>
                <a:endParaRPr lang="es-ES" sz="2000" b="1" dirty="0"/>
              </a:p>
            </p:txBody>
          </p:sp>
        </mc:Choice>
        <mc:Fallback xmlns="">
          <p:sp>
            <p:nvSpPr>
              <p:cNvPr id="27" name="CuadroTexto 26">
                <a:extLst>
                  <a:ext uri="{FF2B5EF4-FFF2-40B4-BE49-F238E27FC236}">
                    <a16:creationId xmlns:a16="http://schemas.microsoft.com/office/drawing/2014/main" id="{84261F0C-8325-6759-4841-8FABECE132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46072" y="3702824"/>
                <a:ext cx="1158971" cy="307777"/>
              </a:xfrm>
              <a:prstGeom prst="rect">
                <a:avLst/>
              </a:prstGeom>
              <a:blipFill>
                <a:blip r:embed="rId8"/>
                <a:stretch>
                  <a:fillRect l="-3684" r="-5789" b="-13725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Rectángulo 37">
            <a:extLst>
              <a:ext uri="{FF2B5EF4-FFF2-40B4-BE49-F238E27FC236}">
                <a16:creationId xmlns:a16="http://schemas.microsoft.com/office/drawing/2014/main" id="{0DC5CB4A-70CC-99F5-99E1-7F19F36B252E}"/>
              </a:ext>
            </a:extLst>
          </p:cNvPr>
          <p:cNvSpPr/>
          <p:nvPr/>
        </p:nvSpPr>
        <p:spPr>
          <a:xfrm>
            <a:off x="1770929" y="3443417"/>
            <a:ext cx="1241792" cy="200845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600"/>
          </a:p>
        </p:txBody>
      </p:sp>
      <p:grpSp>
        <p:nvGrpSpPr>
          <p:cNvPr id="51" name="Grupo 50">
            <a:extLst>
              <a:ext uri="{FF2B5EF4-FFF2-40B4-BE49-F238E27FC236}">
                <a16:creationId xmlns:a16="http://schemas.microsoft.com/office/drawing/2014/main" id="{F1D0B129-B494-5EEC-2D1E-E6544D9502E8}"/>
              </a:ext>
            </a:extLst>
          </p:cNvPr>
          <p:cNvGrpSpPr/>
          <p:nvPr/>
        </p:nvGrpSpPr>
        <p:grpSpPr>
          <a:xfrm>
            <a:off x="1153085" y="1492151"/>
            <a:ext cx="2841704" cy="1182938"/>
            <a:chOff x="633539" y="3787560"/>
            <a:chExt cx="3370570" cy="1403091"/>
          </a:xfrm>
        </p:grpSpPr>
        <p:sp>
          <p:nvSpPr>
            <p:cNvPr id="52" name="Rombo 51">
              <a:extLst>
                <a:ext uri="{FF2B5EF4-FFF2-40B4-BE49-F238E27FC236}">
                  <a16:creationId xmlns:a16="http://schemas.microsoft.com/office/drawing/2014/main" id="{2BF1F119-65E9-7769-3276-AFD52D4B62D4}"/>
                </a:ext>
              </a:extLst>
            </p:cNvPr>
            <p:cNvSpPr/>
            <p:nvPr/>
          </p:nvSpPr>
          <p:spPr>
            <a:xfrm rot="1050024">
              <a:off x="633539" y="3787560"/>
              <a:ext cx="3370570" cy="1043166"/>
            </a:xfrm>
            <a:prstGeom prst="diamond">
              <a:avLst/>
            </a:prstGeom>
            <a:solidFill>
              <a:schemeClr val="accent4">
                <a:lumMod val="20000"/>
                <a:lumOff val="80000"/>
              </a:schemeClr>
            </a:solidFill>
            <a:ln cap="rnd">
              <a:solidFill>
                <a:schemeClr val="accent4">
                  <a:lumMod val="60000"/>
                  <a:lumOff val="40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sz="1600" dirty="0"/>
            </a:p>
          </p:txBody>
        </p:sp>
        <p:sp>
          <p:nvSpPr>
            <p:cNvPr id="53" name="CuadroTexto 52">
              <a:extLst>
                <a:ext uri="{FF2B5EF4-FFF2-40B4-BE49-F238E27FC236}">
                  <a16:creationId xmlns:a16="http://schemas.microsoft.com/office/drawing/2014/main" id="{7B770AE0-9A8B-8BB3-4936-7501B72FBE22}"/>
                </a:ext>
              </a:extLst>
            </p:cNvPr>
            <p:cNvSpPr txBox="1"/>
            <p:nvPr/>
          </p:nvSpPr>
          <p:spPr>
            <a:xfrm>
              <a:off x="2847974" y="4790541"/>
              <a:ext cx="30003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2000" b="1" dirty="0">
                  <a:solidFill>
                    <a:schemeClr val="accent1">
                      <a:lumMod val="60000"/>
                      <a:lumOff val="40000"/>
                    </a:schemeClr>
                  </a:solidFill>
                </a:rPr>
                <a:t>l</a:t>
              </a:r>
            </a:p>
          </p:txBody>
        </p:sp>
        <p:sp>
          <p:nvSpPr>
            <p:cNvPr id="54" name="CuadroTexto 53">
              <a:extLst>
                <a:ext uri="{FF2B5EF4-FFF2-40B4-BE49-F238E27FC236}">
                  <a16:creationId xmlns:a16="http://schemas.microsoft.com/office/drawing/2014/main" id="{37394208-2DD9-CA24-F2D7-83946FC47E48}"/>
                </a:ext>
              </a:extLst>
            </p:cNvPr>
            <p:cNvSpPr txBox="1"/>
            <p:nvPr/>
          </p:nvSpPr>
          <p:spPr>
            <a:xfrm>
              <a:off x="1179194" y="4237410"/>
              <a:ext cx="30003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2000" b="1" dirty="0">
                  <a:solidFill>
                    <a:schemeClr val="accent1">
                      <a:lumMod val="60000"/>
                      <a:lumOff val="40000"/>
                    </a:schemeClr>
                  </a:solidFill>
                </a:rPr>
                <a:t>l</a:t>
              </a:r>
            </a:p>
          </p:txBody>
        </p:sp>
        <p:cxnSp>
          <p:nvCxnSpPr>
            <p:cNvPr id="55" name="Conector recto 54">
              <a:extLst>
                <a:ext uri="{FF2B5EF4-FFF2-40B4-BE49-F238E27FC236}">
                  <a16:creationId xmlns:a16="http://schemas.microsoft.com/office/drawing/2014/main" id="{F6E83C9D-CD6E-2DE0-60DB-8CD02B404EAB}"/>
                </a:ext>
              </a:extLst>
            </p:cNvPr>
            <p:cNvCxnSpPr>
              <a:cxnSpLocks/>
            </p:cNvCxnSpPr>
            <p:nvPr/>
          </p:nvCxnSpPr>
          <p:spPr>
            <a:xfrm>
              <a:off x="2318824" y="3817620"/>
              <a:ext cx="0" cy="996085"/>
            </a:xfrm>
            <a:prstGeom prst="line">
              <a:avLst/>
            </a:prstGeom>
            <a:ln>
              <a:solidFill>
                <a:schemeClr val="accent4">
                  <a:lumMod val="60000"/>
                  <a:lumOff val="40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0" name="CuadroTexto 59">
              <a:extLst>
                <a:ext uri="{FF2B5EF4-FFF2-40B4-BE49-F238E27FC236}">
                  <a16:creationId xmlns:a16="http://schemas.microsoft.com/office/drawing/2014/main" id="{6238B24D-ECBE-19B4-8926-65038E0DD1AB}"/>
                </a:ext>
              </a:extLst>
            </p:cNvPr>
            <p:cNvSpPr txBox="1"/>
            <p:nvPr/>
          </p:nvSpPr>
          <p:spPr>
            <a:xfrm>
              <a:off x="2347838" y="4059807"/>
              <a:ext cx="30003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2000" b="1" dirty="0">
                  <a:solidFill>
                    <a:schemeClr val="accent1">
                      <a:lumMod val="60000"/>
                      <a:lumOff val="40000"/>
                    </a:schemeClr>
                  </a:solidFill>
                </a:rPr>
                <a:t>a</a:t>
              </a:r>
            </a:p>
          </p:txBody>
        </p:sp>
      </p:grpSp>
      <p:sp>
        <p:nvSpPr>
          <p:cNvPr id="71" name="Triángulo isósceles 70">
            <a:extLst>
              <a:ext uri="{FF2B5EF4-FFF2-40B4-BE49-F238E27FC236}">
                <a16:creationId xmlns:a16="http://schemas.microsoft.com/office/drawing/2014/main" id="{3FD7699D-8D1A-27D0-D753-0C065BE0079A}"/>
              </a:ext>
            </a:extLst>
          </p:cNvPr>
          <p:cNvSpPr/>
          <p:nvPr/>
        </p:nvSpPr>
        <p:spPr>
          <a:xfrm>
            <a:off x="2381895" y="3440340"/>
            <a:ext cx="626160" cy="990055"/>
          </a:xfrm>
          <a:prstGeom prst="triangle">
            <a:avLst>
              <a:gd name="adj" fmla="val 0"/>
            </a:avLst>
          </a:prstGeom>
          <a:solidFill>
            <a:schemeClr val="accent5">
              <a:lumMod val="40000"/>
              <a:lumOff val="60000"/>
            </a:schemeClr>
          </a:solidFill>
          <a:ln cap="rnd">
            <a:noFill/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600"/>
          </a:p>
        </p:txBody>
      </p:sp>
      <p:sp>
        <p:nvSpPr>
          <p:cNvPr id="72" name="Triángulo isósceles 71">
            <a:extLst>
              <a:ext uri="{FF2B5EF4-FFF2-40B4-BE49-F238E27FC236}">
                <a16:creationId xmlns:a16="http://schemas.microsoft.com/office/drawing/2014/main" id="{84FB7B4E-8D71-D551-888B-4B42D598B439}"/>
              </a:ext>
            </a:extLst>
          </p:cNvPr>
          <p:cNvSpPr/>
          <p:nvPr/>
        </p:nvSpPr>
        <p:spPr>
          <a:xfrm flipH="1">
            <a:off x="1765123" y="3443415"/>
            <a:ext cx="626160" cy="990055"/>
          </a:xfrm>
          <a:prstGeom prst="triangle">
            <a:avLst>
              <a:gd name="adj" fmla="val 0"/>
            </a:avLst>
          </a:prstGeom>
          <a:solidFill>
            <a:schemeClr val="accent5">
              <a:lumMod val="40000"/>
              <a:lumOff val="60000"/>
            </a:schemeClr>
          </a:solidFill>
          <a:ln cap="rnd">
            <a:noFill/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600"/>
          </a:p>
        </p:txBody>
      </p:sp>
      <p:sp>
        <p:nvSpPr>
          <p:cNvPr id="73" name="Triángulo isósceles 72">
            <a:extLst>
              <a:ext uri="{FF2B5EF4-FFF2-40B4-BE49-F238E27FC236}">
                <a16:creationId xmlns:a16="http://schemas.microsoft.com/office/drawing/2014/main" id="{13B91B26-2985-1467-1590-379A3D845E1F}"/>
              </a:ext>
            </a:extLst>
          </p:cNvPr>
          <p:cNvSpPr/>
          <p:nvPr/>
        </p:nvSpPr>
        <p:spPr>
          <a:xfrm flipV="1">
            <a:off x="1779177" y="3449571"/>
            <a:ext cx="626160" cy="990055"/>
          </a:xfrm>
          <a:prstGeom prst="triangle">
            <a:avLst>
              <a:gd name="adj" fmla="val 0"/>
            </a:avLst>
          </a:prstGeom>
          <a:solidFill>
            <a:schemeClr val="accent5">
              <a:lumMod val="40000"/>
              <a:lumOff val="60000"/>
            </a:schemeClr>
          </a:solidFill>
          <a:ln cap="rnd">
            <a:noFill/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600"/>
          </a:p>
        </p:txBody>
      </p:sp>
      <p:sp>
        <p:nvSpPr>
          <p:cNvPr id="74" name="!!Triángulo isósceles 84">
            <a:extLst>
              <a:ext uri="{FF2B5EF4-FFF2-40B4-BE49-F238E27FC236}">
                <a16:creationId xmlns:a16="http://schemas.microsoft.com/office/drawing/2014/main" id="{AF01CF96-943E-1737-EFEA-5676921A2B7C}"/>
              </a:ext>
            </a:extLst>
          </p:cNvPr>
          <p:cNvSpPr/>
          <p:nvPr/>
        </p:nvSpPr>
        <p:spPr>
          <a:xfrm flipH="1" flipV="1">
            <a:off x="2397082" y="3443415"/>
            <a:ext cx="626160" cy="990055"/>
          </a:xfrm>
          <a:prstGeom prst="triangle">
            <a:avLst>
              <a:gd name="adj" fmla="val 0"/>
            </a:avLst>
          </a:prstGeom>
          <a:solidFill>
            <a:schemeClr val="accent5">
              <a:lumMod val="40000"/>
              <a:lumOff val="60000"/>
            </a:schemeClr>
          </a:solidFill>
          <a:ln cap="rnd">
            <a:noFill/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600"/>
          </a:p>
        </p:txBody>
      </p:sp>
      <p:cxnSp>
        <p:nvCxnSpPr>
          <p:cNvPr id="75" name="Conector recto 74">
            <a:extLst>
              <a:ext uri="{FF2B5EF4-FFF2-40B4-BE49-F238E27FC236}">
                <a16:creationId xmlns:a16="http://schemas.microsoft.com/office/drawing/2014/main" id="{4CF6FBE7-67CD-56D0-E2E7-D5A6505886DA}"/>
              </a:ext>
            </a:extLst>
          </p:cNvPr>
          <p:cNvCxnSpPr>
            <a:cxnSpLocks/>
          </p:cNvCxnSpPr>
          <p:nvPr/>
        </p:nvCxnSpPr>
        <p:spPr>
          <a:xfrm>
            <a:off x="1778268" y="4433472"/>
            <a:ext cx="1241792" cy="1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ector recto de flecha 75">
            <a:extLst>
              <a:ext uri="{FF2B5EF4-FFF2-40B4-BE49-F238E27FC236}">
                <a16:creationId xmlns:a16="http://schemas.microsoft.com/office/drawing/2014/main" id="{F3B6EF6E-4FBA-8E9E-A156-5903CE8A9F55}"/>
              </a:ext>
            </a:extLst>
          </p:cNvPr>
          <p:cNvCxnSpPr/>
          <p:nvPr/>
        </p:nvCxnSpPr>
        <p:spPr>
          <a:xfrm>
            <a:off x="1429460" y="3443417"/>
            <a:ext cx="0" cy="2008456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ector recto de flecha 76">
            <a:extLst>
              <a:ext uri="{FF2B5EF4-FFF2-40B4-BE49-F238E27FC236}">
                <a16:creationId xmlns:a16="http://schemas.microsoft.com/office/drawing/2014/main" id="{FBB0D3B4-8B21-5DEA-F76D-250003A8923E}"/>
              </a:ext>
            </a:extLst>
          </p:cNvPr>
          <p:cNvCxnSpPr>
            <a:cxnSpLocks/>
          </p:cNvCxnSpPr>
          <p:nvPr/>
        </p:nvCxnSpPr>
        <p:spPr>
          <a:xfrm flipH="1">
            <a:off x="1778268" y="5926939"/>
            <a:ext cx="1241792" cy="0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CuadroTexto 77">
            <a:extLst>
              <a:ext uri="{FF2B5EF4-FFF2-40B4-BE49-F238E27FC236}">
                <a16:creationId xmlns:a16="http://schemas.microsoft.com/office/drawing/2014/main" id="{5D8DA6B7-BE28-F79E-D371-5BD1DB0C735E}"/>
              </a:ext>
            </a:extLst>
          </p:cNvPr>
          <p:cNvSpPr txBox="1"/>
          <p:nvPr/>
        </p:nvSpPr>
        <p:spPr>
          <a:xfrm>
            <a:off x="979705" y="4193112"/>
            <a:ext cx="5257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d’</a:t>
            </a:r>
          </a:p>
        </p:txBody>
      </p:sp>
      <p:sp>
        <p:nvSpPr>
          <p:cNvPr id="79" name="CuadroTexto 78">
            <a:extLst>
              <a:ext uri="{FF2B5EF4-FFF2-40B4-BE49-F238E27FC236}">
                <a16:creationId xmlns:a16="http://schemas.microsoft.com/office/drawing/2014/main" id="{7D8BCD0B-67F5-A44C-CFAC-3502D53F3ACA}"/>
              </a:ext>
            </a:extLst>
          </p:cNvPr>
          <p:cNvSpPr txBox="1"/>
          <p:nvPr/>
        </p:nvSpPr>
        <p:spPr>
          <a:xfrm>
            <a:off x="2136209" y="5525929"/>
            <a:ext cx="5257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d</a:t>
            </a:r>
          </a:p>
        </p:txBody>
      </p:sp>
      <p:cxnSp>
        <p:nvCxnSpPr>
          <p:cNvPr id="80" name="Conector recto 79">
            <a:extLst>
              <a:ext uri="{FF2B5EF4-FFF2-40B4-BE49-F238E27FC236}">
                <a16:creationId xmlns:a16="http://schemas.microsoft.com/office/drawing/2014/main" id="{C34A6D9C-60B4-7055-D389-667FEB2C5EE7}"/>
              </a:ext>
            </a:extLst>
          </p:cNvPr>
          <p:cNvCxnSpPr>
            <a:cxnSpLocks/>
          </p:cNvCxnSpPr>
          <p:nvPr/>
        </p:nvCxnSpPr>
        <p:spPr>
          <a:xfrm>
            <a:off x="2399164" y="3510225"/>
            <a:ext cx="0" cy="1973606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Forma libre: forma 80">
            <a:extLst>
              <a:ext uri="{FF2B5EF4-FFF2-40B4-BE49-F238E27FC236}">
                <a16:creationId xmlns:a16="http://schemas.microsoft.com/office/drawing/2014/main" id="{E056D290-F0F9-C00B-F486-0B85A34F4370}"/>
              </a:ext>
            </a:extLst>
          </p:cNvPr>
          <p:cNvSpPr/>
          <p:nvPr/>
        </p:nvSpPr>
        <p:spPr>
          <a:xfrm flipH="1">
            <a:off x="1782528" y="3440240"/>
            <a:ext cx="1231737" cy="2002108"/>
          </a:xfrm>
          <a:custGeom>
            <a:avLst/>
            <a:gdLst>
              <a:gd name="connsiteX0" fmla="*/ 620896 w 1247056"/>
              <a:gd name="connsiteY0" fmla="*/ 0 h 1980110"/>
              <a:gd name="connsiteX1" fmla="*/ 620896 w 1247056"/>
              <a:gd name="connsiteY1" fmla="*/ 8324 h 1980110"/>
              <a:gd name="connsiteX2" fmla="*/ 1 w 1247056"/>
              <a:gd name="connsiteY2" fmla="*/ 990055 h 1980110"/>
              <a:gd name="connsiteX3" fmla="*/ 0 w 1247056"/>
              <a:gd name="connsiteY3" fmla="*/ 990055 h 1980110"/>
              <a:gd name="connsiteX4" fmla="*/ 0 w 1247056"/>
              <a:gd name="connsiteY4" fmla="*/ 990056 h 1980110"/>
              <a:gd name="connsiteX5" fmla="*/ 0 w 1247056"/>
              <a:gd name="connsiteY5" fmla="*/ 990056 h 1980110"/>
              <a:gd name="connsiteX6" fmla="*/ 1 w 1247056"/>
              <a:gd name="connsiteY6" fmla="*/ 990056 h 1980110"/>
              <a:gd name="connsiteX7" fmla="*/ 620896 w 1247056"/>
              <a:gd name="connsiteY7" fmla="*/ 1971787 h 1980110"/>
              <a:gd name="connsiteX8" fmla="*/ 620896 w 1247056"/>
              <a:gd name="connsiteY8" fmla="*/ 1980110 h 1980110"/>
              <a:gd name="connsiteX9" fmla="*/ 623528 w 1247056"/>
              <a:gd name="connsiteY9" fmla="*/ 1975949 h 1980110"/>
              <a:gd name="connsiteX10" fmla="*/ 626160 w 1247056"/>
              <a:gd name="connsiteY10" fmla="*/ 1980110 h 1980110"/>
              <a:gd name="connsiteX11" fmla="*/ 626160 w 1247056"/>
              <a:gd name="connsiteY11" fmla="*/ 1971787 h 1980110"/>
              <a:gd name="connsiteX12" fmla="*/ 1247056 w 1247056"/>
              <a:gd name="connsiteY12" fmla="*/ 990055 h 1980110"/>
              <a:gd name="connsiteX13" fmla="*/ 626160 w 1247056"/>
              <a:gd name="connsiteY13" fmla="*/ 8323 h 1980110"/>
              <a:gd name="connsiteX14" fmla="*/ 626160 w 1247056"/>
              <a:gd name="connsiteY14" fmla="*/ 1 h 1980110"/>
              <a:gd name="connsiteX15" fmla="*/ 623528 w 1247056"/>
              <a:gd name="connsiteY15" fmla="*/ 4162 h 19801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247056" h="1980110">
                <a:moveTo>
                  <a:pt x="620896" y="0"/>
                </a:moveTo>
                <a:lnTo>
                  <a:pt x="620896" y="8324"/>
                </a:lnTo>
                <a:lnTo>
                  <a:pt x="1" y="990055"/>
                </a:lnTo>
                <a:lnTo>
                  <a:pt x="0" y="990055"/>
                </a:lnTo>
                <a:lnTo>
                  <a:pt x="0" y="990056"/>
                </a:lnTo>
                <a:lnTo>
                  <a:pt x="0" y="990056"/>
                </a:lnTo>
                <a:lnTo>
                  <a:pt x="1" y="990056"/>
                </a:lnTo>
                <a:lnTo>
                  <a:pt x="620896" y="1971787"/>
                </a:lnTo>
                <a:lnTo>
                  <a:pt x="620896" y="1980110"/>
                </a:lnTo>
                <a:lnTo>
                  <a:pt x="623528" y="1975949"/>
                </a:lnTo>
                <a:lnTo>
                  <a:pt x="626160" y="1980110"/>
                </a:lnTo>
                <a:lnTo>
                  <a:pt x="626160" y="1971787"/>
                </a:lnTo>
                <a:lnTo>
                  <a:pt x="1247056" y="990055"/>
                </a:lnTo>
                <a:lnTo>
                  <a:pt x="626160" y="8323"/>
                </a:lnTo>
                <a:lnTo>
                  <a:pt x="626160" y="1"/>
                </a:lnTo>
                <a:lnTo>
                  <a:pt x="623528" y="4162"/>
                </a:lnTo>
                <a:close/>
              </a:path>
            </a:pathLst>
          </a:custGeom>
          <a:noFill/>
          <a:ln cap="rnd">
            <a:solidFill>
              <a:schemeClr val="tx1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s-ES" sz="1600"/>
          </a:p>
        </p:txBody>
      </p:sp>
      <p:sp>
        <p:nvSpPr>
          <p:cNvPr id="82" name="Rectángulo 81">
            <a:extLst>
              <a:ext uri="{FF2B5EF4-FFF2-40B4-BE49-F238E27FC236}">
                <a16:creationId xmlns:a16="http://schemas.microsoft.com/office/drawing/2014/main" id="{5009392D-2D1D-BC97-D764-BB9C44A9CEF9}"/>
              </a:ext>
            </a:extLst>
          </p:cNvPr>
          <p:cNvSpPr/>
          <p:nvPr/>
        </p:nvSpPr>
        <p:spPr>
          <a:xfrm>
            <a:off x="1778268" y="3443417"/>
            <a:ext cx="1241792" cy="200845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600"/>
          </a:p>
        </p:txBody>
      </p:sp>
      <p:sp>
        <p:nvSpPr>
          <p:cNvPr id="83" name="CuadroTexto 82">
            <a:extLst>
              <a:ext uri="{FF2B5EF4-FFF2-40B4-BE49-F238E27FC236}">
                <a16:creationId xmlns:a16="http://schemas.microsoft.com/office/drawing/2014/main" id="{60589CB9-5CDE-124B-6484-BC92F5A64A15}"/>
              </a:ext>
            </a:extLst>
          </p:cNvPr>
          <p:cNvSpPr txBox="1"/>
          <p:nvPr/>
        </p:nvSpPr>
        <p:spPr>
          <a:xfrm>
            <a:off x="4264561" y="4521230"/>
            <a:ext cx="22741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ÁREA DEL ROMBO: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4" name="CuadroTexto 83">
                <a:extLst>
                  <a:ext uri="{FF2B5EF4-FFF2-40B4-BE49-F238E27FC236}">
                    <a16:creationId xmlns:a16="http://schemas.microsoft.com/office/drawing/2014/main" id="{65F9340A-BA1F-AB1B-9912-74ADD8703CBA}"/>
                  </a:ext>
                </a:extLst>
              </p:cNvPr>
              <p:cNvSpPr txBox="1"/>
              <p:nvPr/>
            </p:nvSpPr>
            <p:spPr>
              <a:xfrm>
                <a:off x="6842703" y="4521230"/>
                <a:ext cx="1158971" cy="59965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𝑨</m:t>
                      </m:r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sz="2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2000" b="1" i="1">
                              <a:latin typeface="Cambria Math" panose="02040503050406030204" pitchFamily="18" charset="0"/>
                            </a:rPr>
                            <m:t>𝒅</m:t>
                          </m:r>
                          <m:r>
                            <a:rPr lang="es-ES" sz="2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lang="es-ES" sz="2000" b="1" i="1">
                              <a:latin typeface="Cambria Math" panose="02040503050406030204" pitchFamily="18" charset="0"/>
                            </a:rPr>
                            <m:t>𝒅</m:t>
                          </m:r>
                          <m:r>
                            <a:rPr lang="es-ES" sz="2000" b="1" i="1">
                              <a:latin typeface="Cambria Math" panose="02040503050406030204" pitchFamily="18" charset="0"/>
                            </a:rPr>
                            <m:t>′</m:t>
                          </m:r>
                        </m:num>
                        <m:den>
                          <m:r>
                            <a:rPr lang="es-ES" sz="20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</m:oMath>
                  </m:oMathPara>
                </a14:m>
                <a:endParaRPr lang="es-ES" sz="2000" b="1" dirty="0"/>
              </a:p>
            </p:txBody>
          </p:sp>
        </mc:Choice>
        <mc:Fallback xmlns="">
          <p:sp>
            <p:nvSpPr>
              <p:cNvPr id="84" name="CuadroTexto 83">
                <a:extLst>
                  <a:ext uri="{FF2B5EF4-FFF2-40B4-BE49-F238E27FC236}">
                    <a16:creationId xmlns:a16="http://schemas.microsoft.com/office/drawing/2014/main" id="{65F9340A-BA1F-AB1B-9912-74ADD8703C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42703" y="4521230"/>
                <a:ext cx="1158971" cy="599651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ángulo 2">
            <a:extLst>
              <a:ext uri="{FF2B5EF4-FFF2-40B4-BE49-F238E27FC236}">
                <a16:creationId xmlns:a16="http://schemas.microsoft.com/office/drawing/2014/main" id="{D5027E08-DE85-0A5E-7924-5EED089868EC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0094190D-3714-9336-0412-6950B9D3E540}"/>
              </a:ext>
            </a:extLst>
          </p:cNvPr>
          <p:cNvSpPr txBox="1"/>
          <p:nvPr/>
        </p:nvSpPr>
        <p:spPr>
          <a:xfrm>
            <a:off x="3601" y="33951"/>
            <a:ext cx="1182084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9: </a:t>
            </a:r>
            <a:r>
              <a:rPr lang="es-ES" sz="4400" dirty="0">
                <a:latin typeface="SF Fedora" panose="00000400000000000000" pitchFamily="2" charset="0"/>
                <a:cs typeface="SF Fedora" panose="00000400000000000000" pitchFamily="2" charset="0"/>
              </a:rPr>
              <a:t>Problemas Métricos en el Plano</a:t>
            </a:r>
            <a:endParaRPr lang="es-ES" sz="4000" dirty="0">
              <a:latin typeface="SF Fedora" panose="00000400000000000000" pitchFamily="2" charset="0"/>
              <a:cs typeface="SF Fedora" panose="00000400000000000000" pitchFamily="2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30805514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!CuadroTexto 1">
            <a:extLst>
              <a:ext uri="{FF2B5EF4-FFF2-40B4-BE49-F238E27FC236}">
                <a16:creationId xmlns:a16="http://schemas.microsoft.com/office/drawing/2014/main" id="{D12AD5FD-3142-7C3B-97B8-64370CA2636F}"/>
              </a:ext>
            </a:extLst>
          </p:cNvPr>
          <p:cNvSpPr txBox="1"/>
          <p:nvPr/>
        </p:nvSpPr>
        <p:spPr>
          <a:xfrm>
            <a:off x="439626" y="977574"/>
            <a:ext cx="267187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TRAPECIO:</a:t>
            </a:r>
            <a:endParaRPr lang="es-ES" sz="2000" b="1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9" name="Trapecio 5">
            <a:extLst>
              <a:ext uri="{FF2B5EF4-FFF2-40B4-BE49-F238E27FC236}">
                <a16:creationId xmlns:a16="http://schemas.microsoft.com/office/drawing/2014/main" id="{DEC97A78-5959-B78D-2BD0-4FA6660F4060}"/>
              </a:ext>
            </a:extLst>
          </p:cNvPr>
          <p:cNvSpPr/>
          <p:nvPr/>
        </p:nvSpPr>
        <p:spPr>
          <a:xfrm>
            <a:off x="1139117" y="1837227"/>
            <a:ext cx="2773680" cy="1197377"/>
          </a:xfrm>
          <a:custGeom>
            <a:avLst/>
            <a:gdLst>
              <a:gd name="connsiteX0" fmla="*/ 0 w 2773680"/>
              <a:gd name="connsiteY0" fmla="*/ 1193090 h 1193090"/>
              <a:gd name="connsiteX1" fmla="*/ 512969 w 2773680"/>
              <a:gd name="connsiteY1" fmla="*/ 0 h 1193090"/>
              <a:gd name="connsiteX2" fmla="*/ 2260711 w 2773680"/>
              <a:gd name="connsiteY2" fmla="*/ 0 h 1193090"/>
              <a:gd name="connsiteX3" fmla="*/ 2773680 w 2773680"/>
              <a:gd name="connsiteY3" fmla="*/ 1193090 h 1193090"/>
              <a:gd name="connsiteX4" fmla="*/ 0 w 2773680"/>
              <a:gd name="connsiteY4" fmla="*/ 1193090 h 1193090"/>
              <a:gd name="connsiteX0" fmla="*/ 0 w 2773680"/>
              <a:gd name="connsiteY0" fmla="*/ 1193090 h 1193090"/>
              <a:gd name="connsiteX1" fmla="*/ 512969 w 2773680"/>
              <a:gd name="connsiteY1" fmla="*/ 0 h 1193090"/>
              <a:gd name="connsiteX2" fmla="*/ 1574911 w 2773680"/>
              <a:gd name="connsiteY2" fmla="*/ 7620 h 1193090"/>
              <a:gd name="connsiteX3" fmla="*/ 2773680 w 2773680"/>
              <a:gd name="connsiteY3" fmla="*/ 1193090 h 1193090"/>
              <a:gd name="connsiteX4" fmla="*/ 0 w 2773680"/>
              <a:gd name="connsiteY4" fmla="*/ 1193090 h 1193090"/>
              <a:gd name="connsiteX0" fmla="*/ 0 w 2773680"/>
              <a:gd name="connsiteY0" fmla="*/ 1197377 h 1197377"/>
              <a:gd name="connsiteX1" fmla="*/ 512969 w 2773680"/>
              <a:gd name="connsiteY1" fmla="*/ 4287 h 1197377"/>
              <a:gd name="connsiteX2" fmla="*/ 1567768 w 2773680"/>
              <a:gd name="connsiteY2" fmla="*/ 0 h 1197377"/>
              <a:gd name="connsiteX3" fmla="*/ 2773680 w 2773680"/>
              <a:gd name="connsiteY3" fmla="*/ 1197377 h 1197377"/>
              <a:gd name="connsiteX4" fmla="*/ 0 w 2773680"/>
              <a:gd name="connsiteY4" fmla="*/ 1197377 h 1197377"/>
              <a:gd name="connsiteX0" fmla="*/ 0 w 2773680"/>
              <a:gd name="connsiteY0" fmla="*/ 1197377 h 1197377"/>
              <a:gd name="connsiteX1" fmla="*/ 512969 w 2773680"/>
              <a:gd name="connsiteY1" fmla="*/ 4287 h 1197377"/>
              <a:gd name="connsiteX2" fmla="*/ 1560624 w 2773680"/>
              <a:gd name="connsiteY2" fmla="*/ 0 h 1197377"/>
              <a:gd name="connsiteX3" fmla="*/ 2773680 w 2773680"/>
              <a:gd name="connsiteY3" fmla="*/ 1197377 h 1197377"/>
              <a:gd name="connsiteX4" fmla="*/ 0 w 2773680"/>
              <a:gd name="connsiteY4" fmla="*/ 1197377 h 11973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3680" h="1197377">
                <a:moveTo>
                  <a:pt x="0" y="1197377"/>
                </a:moveTo>
                <a:lnTo>
                  <a:pt x="512969" y="4287"/>
                </a:lnTo>
                <a:lnTo>
                  <a:pt x="1560624" y="0"/>
                </a:lnTo>
                <a:lnTo>
                  <a:pt x="2773680" y="1197377"/>
                </a:lnTo>
                <a:lnTo>
                  <a:pt x="0" y="1197377"/>
                </a:lnTo>
                <a:close/>
              </a:path>
            </a:pathLst>
          </a:custGeom>
          <a:solidFill>
            <a:schemeClr val="accent5">
              <a:lumMod val="20000"/>
              <a:lumOff val="80000"/>
            </a:schemeClr>
          </a:solidFill>
          <a:ln cap="rnd">
            <a:solidFill>
              <a:schemeClr val="accent5">
                <a:lumMod val="60000"/>
                <a:lumOff val="40000"/>
              </a:schemeClr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0" name="Trapecio 5">
            <a:extLst>
              <a:ext uri="{FF2B5EF4-FFF2-40B4-BE49-F238E27FC236}">
                <a16:creationId xmlns:a16="http://schemas.microsoft.com/office/drawing/2014/main" id="{BF3D7598-8D82-461D-985C-BB096830C31E}"/>
              </a:ext>
            </a:extLst>
          </p:cNvPr>
          <p:cNvSpPr/>
          <p:nvPr/>
        </p:nvSpPr>
        <p:spPr>
          <a:xfrm>
            <a:off x="1139117" y="1839369"/>
            <a:ext cx="2773680" cy="1197377"/>
          </a:xfrm>
          <a:custGeom>
            <a:avLst/>
            <a:gdLst>
              <a:gd name="connsiteX0" fmla="*/ 0 w 2773680"/>
              <a:gd name="connsiteY0" fmla="*/ 1193090 h 1193090"/>
              <a:gd name="connsiteX1" fmla="*/ 512969 w 2773680"/>
              <a:gd name="connsiteY1" fmla="*/ 0 h 1193090"/>
              <a:gd name="connsiteX2" fmla="*/ 2260711 w 2773680"/>
              <a:gd name="connsiteY2" fmla="*/ 0 h 1193090"/>
              <a:gd name="connsiteX3" fmla="*/ 2773680 w 2773680"/>
              <a:gd name="connsiteY3" fmla="*/ 1193090 h 1193090"/>
              <a:gd name="connsiteX4" fmla="*/ 0 w 2773680"/>
              <a:gd name="connsiteY4" fmla="*/ 1193090 h 1193090"/>
              <a:gd name="connsiteX0" fmla="*/ 0 w 2773680"/>
              <a:gd name="connsiteY0" fmla="*/ 1193090 h 1193090"/>
              <a:gd name="connsiteX1" fmla="*/ 512969 w 2773680"/>
              <a:gd name="connsiteY1" fmla="*/ 0 h 1193090"/>
              <a:gd name="connsiteX2" fmla="*/ 1574911 w 2773680"/>
              <a:gd name="connsiteY2" fmla="*/ 7620 h 1193090"/>
              <a:gd name="connsiteX3" fmla="*/ 2773680 w 2773680"/>
              <a:gd name="connsiteY3" fmla="*/ 1193090 h 1193090"/>
              <a:gd name="connsiteX4" fmla="*/ 0 w 2773680"/>
              <a:gd name="connsiteY4" fmla="*/ 1193090 h 1193090"/>
              <a:gd name="connsiteX0" fmla="*/ 0 w 2773680"/>
              <a:gd name="connsiteY0" fmla="*/ 1197377 h 1197377"/>
              <a:gd name="connsiteX1" fmla="*/ 512969 w 2773680"/>
              <a:gd name="connsiteY1" fmla="*/ 4287 h 1197377"/>
              <a:gd name="connsiteX2" fmla="*/ 1567768 w 2773680"/>
              <a:gd name="connsiteY2" fmla="*/ 0 h 1197377"/>
              <a:gd name="connsiteX3" fmla="*/ 2773680 w 2773680"/>
              <a:gd name="connsiteY3" fmla="*/ 1197377 h 1197377"/>
              <a:gd name="connsiteX4" fmla="*/ 0 w 2773680"/>
              <a:gd name="connsiteY4" fmla="*/ 1197377 h 1197377"/>
              <a:gd name="connsiteX0" fmla="*/ 0 w 2773680"/>
              <a:gd name="connsiteY0" fmla="*/ 1197377 h 1197377"/>
              <a:gd name="connsiteX1" fmla="*/ 512969 w 2773680"/>
              <a:gd name="connsiteY1" fmla="*/ 4287 h 1197377"/>
              <a:gd name="connsiteX2" fmla="*/ 1560624 w 2773680"/>
              <a:gd name="connsiteY2" fmla="*/ 0 h 1197377"/>
              <a:gd name="connsiteX3" fmla="*/ 2773680 w 2773680"/>
              <a:gd name="connsiteY3" fmla="*/ 1197377 h 1197377"/>
              <a:gd name="connsiteX4" fmla="*/ 0 w 2773680"/>
              <a:gd name="connsiteY4" fmla="*/ 1197377 h 11973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3680" h="1197377">
                <a:moveTo>
                  <a:pt x="0" y="1197377"/>
                </a:moveTo>
                <a:lnTo>
                  <a:pt x="512969" y="4287"/>
                </a:lnTo>
                <a:lnTo>
                  <a:pt x="1560624" y="0"/>
                </a:lnTo>
                <a:lnTo>
                  <a:pt x="2773680" y="1197377"/>
                </a:lnTo>
                <a:lnTo>
                  <a:pt x="0" y="1197377"/>
                </a:lnTo>
                <a:close/>
              </a:path>
            </a:pathLst>
          </a:custGeom>
          <a:solidFill>
            <a:schemeClr val="accent4">
              <a:lumMod val="20000"/>
              <a:lumOff val="80000"/>
            </a:schemeClr>
          </a:solidFill>
          <a:ln cap="rnd">
            <a:solidFill>
              <a:schemeClr val="accent4">
                <a:lumMod val="60000"/>
                <a:lumOff val="40000"/>
              </a:schemeClr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4000" b="1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31" name="CuadroTexto 30">
            <a:extLst>
              <a:ext uri="{FF2B5EF4-FFF2-40B4-BE49-F238E27FC236}">
                <a16:creationId xmlns:a16="http://schemas.microsoft.com/office/drawing/2014/main" id="{7EFF91A4-C067-934E-B7C4-0821B2282378}"/>
              </a:ext>
            </a:extLst>
          </p:cNvPr>
          <p:cNvSpPr txBox="1"/>
          <p:nvPr/>
        </p:nvSpPr>
        <p:spPr>
          <a:xfrm>
            <a:off x="2158791" y="3034604"/>
            <a:ext cx="5672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b</a:t>
            </a:r>
            <a:endParaRPr lang="es-ES" sz="2400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2" name="CuadroTexto 31">
            <a:extLst>
              <a:ext uri="{FF2B5EF4-FFF2-40B4-BE49-F238E27FC236}">
                <a16:creationId xmlns:a16="http://schemas.microsoft.com/office/drawing/2014/main" id="{A589F118-BC4F-41BB-E48B-03C7A8BD5AE6}"/>
              </a:ext>
            </a:extLst>
          </p:cNvPr>
          <p:cNvSpPr txBox="1"/>
          <p:nvPr/>
        </p:nvSpPr>
        <p:spPr>
          <a:xfrm>
            <a:off x="1889744" y="1408161"/>
            <a:ext cx="5672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b’</a:t>
            </a:r>
          </a:p>
        </p:txBody>
      </p:sp>
      <p:cxnSp>
        <p:nvCxnSpPr>
          <p:cNvPr id="33" name="Conector recto de flecha 32">
            <a:extLst>
              <a:ext uri="{FF2B5EF4-FFF2-40B4-BE49-F238E27FC236}">
                <a16:creationId xmlns:a16="http://schemas.microsoft.com/office/drawing/2014/main" id="{D20A8239-95AD-C77A-9802-D4CD795EBAC0}"/>
              </a:ext>
            </a:extLst>
          </p:cNvPr>
          <p:cNvCxnSpPr>
            <a:cxnSpLocks/>
          </p:cNvCxnSpPr>
          <p:nvPr/>
        </p:nvCxnSpPr>
        <p:spPr>
          <a:xfrm flipH="1">
            <a:off x="1845711" y="1837227"/>
            <a:ext cx="9524" cy="1197377"/>
          </a:xfrm>
          <a:prstGeom prst="straightConnector1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CuadroTexto 33">
            <a:extLst>
              <a:ext uri="{FF2B5EF4-FFF2-40B4-BE49-F238E27FC236}">
                <a16:creationId xmlns:a16="http://schemas.microsoft.com/office/drawing/2014/main" id="{8980B480-26AE-F68F-3D74-21B1DF0A9AF0}"/>
              </a:ext>
            </a:extLst>
          </p:cNvPr>
          <p:cNvSpPr txBox="1"/>
          <p:nvPr/>
        </p:nvSpPr>
        <p:spPr>
          <a:xfrm>
            <a:off x="1761049" y="2113893"/>
            <a:ext cx="5672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a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72E02B9B-4DB9-9C6D-8323-977B2541A697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88D54275-FE02-8CFF-0F3A-37E662DBC0E1}"/>
              </a:ext>
            </a:extLst>
          </p:cNvPr>
          <p:cNvSpPr txBox="1"/>
          <p:nvPr/>
        </p:nvSpPr>
        <p:spPr>
          <a:xfrm>
            <a:off x="3601" y="33951"/>
            <a:ext cx="1182084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9: </a:t>
            </a:r>
            <a:r>
              <a:rPr lang="es-ES" sz="4400" dirty="0">
                <a:latin typeface="SF Fedora" panose="00000400000000000000" pitchFamily="2" charset="0"/>
                <a:cs typeface="SF Fedora" panose="00000400000000000000" pitchFamily="2" charset="0"/>
              </a:rPr>
              <a:t>Problemas Métricos en el Plano</a:t>
            </a:r>
            <a:endParaRPr lang="es-ES" sz="4000" dirty="0">
              <a:latin typeface="SF Fedora" panose="00000400000000000000" pitchFamily="2" charset="0"/>
              <a:cs typeface="SF Fedora" panose="00000400000000000000" pitchFamily="2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1848567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7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7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7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250"/>
                            </p:stCondLst>
                            <p:childTnLst>
                              <p:par>
                                <p:cTn id="22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750"/>
                            </p:stCondLst>
                            <p:childTnLst>
                              <p:par>
                                <p:cTn id="26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29" grpId="0" animBg="1"/>
      <p:bldP spid="30" grpId="0" animBg="1"/>
      <p:bldP spid="31" grpId="0"/>
      <p:bldP spid="32" grpId="0"/>
      <p:bldP spid="3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!CuadroTexto 1">
            <a:extLst>
              <a:ext uri="{FF2B5EF4-FFF2-40B4-BE49-F238E27FC236}">
                <a16:creationId xmlns:a16="http://schemas.microsoft.com/office/drawing/2014/main" id="{D12AD5FD-3142-7C3B-97B8-64370CA2636F}"/>
              </a:ext>
            </a:extLst>
          </p:cNvPr>
          <p:cNvSpPr txBox="1"/>
          <p:nvPr/>
        </p:nvSpPr>
        <p:spPr>
          <a:xfrm>
            <a:off x="439626" y="977574"/>
            <a:ext cx="267187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TRAPECIO:</a:t>
            </a:r>
            <a:endParaRPr lang="es-ES" sz="2000" b="1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7" name="Trapecio 5">
            <a:extLst>
              <a:ext uri="{FF2B5EF4-FFF2-40B4-BE49-F238E27FC236}">
                <a16:creationId xmlns:a16="http://schemas.microsoft.com/office/drawing/2014/main" id="{39648838-050E-8959-6771-6DC156B663B0}"/>
              </a:ext>
            </a:extLst>
          </p:cNvPr>
          <p:cNvSpPr/>
          <p:nvPr/>
        </p:nvSpPr>
        <p:spPr>
          <a:xfrm rot="10800000">
            <a:off x="2675344" y="1839369"/>
            <a:ext cx="2773680" cy="1197377"/>
          </a:xfrm>
          <a:custGeom>
            <a:avLst/>
            <a:gdLst>
              <a:gd name="connsiteX0" fmla="*/ 0 w 2773680"/>
              <a:gd name="connsiteY0" fmla="*/ 1193090 h 1193090"/>
              <a:gd name="connsiteX1" fmla="*/ 512969 w 2773680"/>
              <a:gd name="connsiteY1" fmla="*/ 0 h 1193090"/>
              <a:gd name="connsiteX2" fmla="*/ 2260711 w 2773680"/>
              <a:gd name="connsiteY2" fmla="*/ 0 h 1193090"/>
              <a:gd name="connsiteX3" fmla="*/ 2773680 w 2773680"/>
              <a:gd name="connsiteY3" fmla="*/ 1193090 h 1193090"/>
              <a:gd name="connsiteX4" fmla="*/ 0 w 2773680"/>
              <a:gd name="connsiteY4" fmla="*/ 1193090 h 1193090"/>
              <a:gd name="connsiteX0" fmla="*/ 0 w 2773680"/>
              <a:gd name="connsiteY0" fmla="*/ 1193090 h 1193090"/>
              <a:gd name="connsiteX1" fmla="*/ 512969 w 2773680"/>
              <a:gd name="connsiteY1" fmla="*/ 0 h 1193090"/>
              <a:gd name="connsiteX2" fmla="*/ 1574911 w 2773680"/>
              <a:gd name="connsiteY2" fmla="*/ 7620 h 1193090"/>
              <a:gd name="connsiteX3" fmla="*/ 2773680 w 2773680"/>
              <a:gd name="connsiteY3" fmla="*/ 1193090 h 1193090"/>
              <a:gd name="connsiteX4" fmla="*/ 0 w 2773680"/>
              <a:gd name="connsiteY4" fmla="*/ 1193090 h 1193090"/>
              <a:gd name="connsiteX0" fmla="*/ 0 w 2773680"/>
              <a:gd name="connsiteY0" fmla="*/ 1197377 h 1197377"/>
              <a:gd name="connsiteX1" fmla="*/ 512969 w 2773680"/>
              <a:gd name="connsiteY1" fmla="*/ 4287 h 1197377"/>
              <a:gd name="connsiteX2" fmla="*/ 1567768 w 2773680"/>
              <a:gd name="connsiteY2" fmla="*/ 0 h 1197377"/>
              <a:gd name="connsiteX3" fmla="*/ 2773680 w 2773680"/>
              <a:gd name="connsiteY3" fmla="*/ 1197377 h 1197377"/>
              <a:gd name="connsiteX4" fmla="*/ 0 w 2773680"/>
              <a:gd name="connsiteY4" fmla="*/ 1197377 h 1197377"/>
              <a:gd name="connsiteX0" fmla="*/ 0 w 2773680"/>
              <a:gd name="connsiteY0" fmla="*/ 1197377 h 1197377"/>
              <a:gd name="connsiteX1" fmla="*/ 512969 w 2773680"/>
              <a:gd name="connsiteY1" fmla="*/ 4287 h 1197377"/>
              <a:gd name="connsiteX2" fmla="*/ 1560624 w 2773680"/>
              <a:gd name="connsiteY2" fmla="*/ 0 h 1197377"/>
              <a:gd name="connsiteX3" fmla="*/ 2773680 w 2773680"/>
              <a:gd name="connsiteY3" fmla="*/ 1197377 h 1197377"/>
              <a:gd name="connsiteX4" fmla="*/ 0 w 2773680"/>
              <a:gd name="connsiteY4" fmla="*/ 1197377 h 11973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3680" h="1197377">
                <a:moveTo>
                  <a:pt x="0" y="1197377"/>
                </a:moveTo>
                <a:lnTo>
                  <a:pt x="512969" y="4287"/>
                </a:lnTo>
                <a:lnTo>
                  <a:pt x="1560624" y="0"/>
                </a:lnTo>
                <a:lnTo>
                  <a:pt x="2773680" y="1197377"/>
                </a:lnTo>
                <a:lnTo>
                  <a:pt x="0" y="1197377"/>
                </a:lnTo>
                <a:close/>
              </a:path>
            </a:pathLst>
          </a:custGeom>
          <a:solidFill>
            <a:schemeClr val="accent5">
              <a:lumMod val="20000"/>
              <a:lumOff val="80000"/>
            </a:schemeClr>
          </a:solidFill>
          <a:ln cap="rnd">
            <a:solidFill>
              <a:schemeClr val="accent5">
                <a:lumMod val="60000"/>
                <a:lumOff val="40000"/>
              </a:schemeClr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cxnSp>
        <p:nvCxnSpPr>
          <p:cNvPr id="18" name="Conector recto 17">
            <a:extLst>
              <a:ext uri="{FF2B5EF4-FFF2-40B4-BE49-F238E27FC236}">
                <a16:creationId xmlns:a16="http://schemas.microsoft.com/office/drawing/2014/main" id="{BFEEB3B5-0661-20BA-B065-8E8351DABD76}"/>
              </a:ext>
            </a:extLst>
          </p:cNvPr>
          <p:cNvCxnSpPr>
            <a:endCxn id="17" idx="1"/>
          </p:cNvCxnSpPr>
          <p:nvPr/>
        </p:nvCxnSpPr>
        <p:spPr>
          <a:xfrm flipH="1">
            <a:off x="4936055" y="1839369"/>
            <a:ext cx="9571" cy="1193090"/>
          </a:xfrm>
          <a:prstGeom prst="line">
            <a:avLst/>
          </a:prstGeom>
          <a:solidFill>
            <a:schemeClr val="accent5">
              <a:lumMod val="20000"/>
              <a:lumOff val="80000"/>
            </a:schemeClr>
          </a:solidFill>
          <a:ln cap="rnd">
            <a:solidFill>
              <a:schemeClr val="accent5">
                <a:lumMod val="60000"/>
                <a:lumOff val="40000"/>
              </a:schemeClr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9" name="Forma libre: forma 18">
            <a:extLst>
              <a:ext uri="{FF2B5EF4-FFF2-40B4-BE49-F238E27FC236}">
                <a16:creationId xmlns:a16="http://schemas.microsoft.com/office/drawing/2014/main" id="{FF480D1F-1C29-50FF-A290-29B9C670F4CC}"/>
              </a:ext>
            </a:extLst>
          </p:cNvPr>
          <p:cNvSpPr/>
          <p:nvPr/>
        </p:nvSpPr>
        <p:spPr>
          <a:xfrm rot="10800000">
            <a:off x="2675344" y="1839369"/>
            <a:ext cx="2251233" cy="1197377"/>
          </a:xfrm>
          <a:custGeom>
            <a:avLst/>
            <a:gdLst>
              <a:gd name="connsiteX0" fmla="*/ 2251233 w 2251233"/>
              <a:gd name="connsiteY0" fmla="*/ 1197377 h 1197377"/>
              <a:gd name="connsiteX1" fmla="*/ 0 w 2251233"/>
              <a:gd name="connsiteY1" fmla="*/ 1197377 h 1197377"/>
              <a:gd name="connsiteX2" fmla="*/ 0 w 2251233"/>
              <a:gd name="connsiteY2" fmla="*/ 4248 h 1197377"/>
              <a:gd name="connsiteX3" fmla="*/ 1038177 w 2251233"/>
              <a:gd name="connsiteY3" fmla="*/ 0 h 11973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51233" h="1197377">
                <a:moveTo>
                  <a:pt x="2251233" y="1197377"/>
                </a:moveTo>
                <a:lnTo>
                  <a:pt x="0" y="1197377"/>
                </a:lnTo>
                <a:lnTo>
                  <a:pt x="0" y="4248"/>
                </a:lnTo>
                <a:lnTo>
                  <a:pt x="1038177" y="0"/>
                </a:lnTo>
                <a:close/>
              </a:path>
            </a:pathLst>
          </a:custGeom>
          <a:solidFill>
            <a:schemeClr val="accent5">
              <a:lumMod val="20000"/>
              <a:lumOff val="80000"/>
            </a:schemeClr>
          </a:solidFill>
          <a:ln cap="rnd">
            <a:solidFill>
              <a:schemeClr val="accent5">
                <a:lumMod val="60000"/>
                <a:lumOff val="40000"/>
              </a:schemeClr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s-ES" dirty="0"/>
          </a:p>
        </p:txBody>
      </p:sp>
      <p:sp>
        <p:nvSpPr>
          <p:cNvPr id="20" name="Forma libre: forma 19">
            <a:extLst>
              <a:ext uri="{FF2B5EF4-FFF2-40B4-BE49-F238E27FC236}">
                <a16:creationId xmlns:a16="http://schemas.microsoft.com/office/drawing/2014/main" id="{679BA384-843D-BAF9-90E2-C3FC33F94559}"/>
              </a:ext>
            </a:extLst>
          </p:cNvPr>
          <p:cNvSpPr/>
          <p:nvPr/>
        </p:nvSpPr>
        <p:spPr>
          <a:xfrm rot="10800000">
            <a:off x="4945627" y="1839369"/>
            <a:ext cx="522447" cy="1193129"/>
          </a:xfrm>
          <a:custGeom>
            <a:avLst/>
            <a:gdLst>
              <a:gd name="connsiteX0" fmla="*/ 522447 w 522447"/>
              <a:gd name="connsiteY0" fmla="*/ 0 h 1193129"/>
              <a:gd name="connsiteX1" fmla="*/ 522447 w 522447"/>
              <a:gd name="connsiteY1" fmla="*/ 1193129 h 1193129"/>
              <a:gd name="connsiteX2" fmla="*/ 0 w 522447"/>
              <a:gd name="connsiteY2" fmla="*/ 1193129 h 1193129"/>
              <a:gd name="connsiteX3" fmla="*/ 512969 w 522447"/>
              <a:gd name="connsiteY3" fmla="*/ 39 h 11931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2447" h="1193129">
                <a:moveTo>
                  <a:pt x="522447" y="0"/>
                </a:moveTo>
                <a:lnTo>
                  <a:pt x="522447" y="1193129"/>
                </a:lnTo>
                <a:lnTo>
                  <a:pt x="0" y="1193129"/>
                </a:lnTo>
                <a:lnTo>
                  <a:pt x="512969" y="39"/>
                </a:lnTo>
                <a:close/>
              </a:path>
            </a:pathLst>
          </a:custGeom>
          <a:solidFill>
            <a:schemeClr val="bg1"/>
          </a:solidFill>
          <a:ln cap="rnd">
            <a:solidFill>
              <a:schemeClr val="bg1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1" name="!!Forma libre: forma 12">
            <a:extLst>
              <a:ext uri="{FF2B5EF4-FFF2-40B4-BE49-F238E27FC236}">
                <a16:creationId xmlns:a16="http://schemas.microsoft.com/office/drawing/2014/main" id="{D6C15F75-567A-DDF8-880F-3FFD77ECA108}"/>
              </a:ext>
            </a:extLst>
          </p:cNvPr>
          <p:cNvSpPr/>
          <p:nvPr/>
        </p:nvSpPr>
        <p:spPr>
          <a:xfrm rot="10800000">
            <a:off x="4925783" y="1839349"/>
            <a:ext cx="522447" cy="1193129"/>
          </a:xfrm>
          <a:custGeom>
            <a:avLst/>
            <a:gdLst>
              <a:gd name="connsiteX0" fmla="*/ 522447 w 522447"/>
              <a:gd name="connsiteY0" fmla="*/ 0 h 1193129"/>
              <a:gd name="connsiteX1" fmla="*/ 522447 w 522447"/>
              <a:gd name="connsiteY1" fmla="*/ 1193129 h 1193129"/>
              <a:gd name="connsiteX2" fmla="*/ 0 w 522447"/>
              <a:gd name="connsiteY2" fmla="*/ 1193129 h 1193129"/>
              <a:gd name="connsiteX3" fmla="*/ 512969 w 522447"/>
              <a:gd name="connsiteY3" fmla="*/ 39 h 11931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2447" h="1193129">
                <a:moveTo>
                  <a:pt x="522447" y="0"/>
                </a:moveTo>
                <a:lnTo>
                  <a:pt x="522447" y="1193129"/>
                </a:lnTo>
                <a:lnTo>
                  <a:pt x="0" y="1193129"/>
                </a:lnTo>
                <a:lnTo>
                  <a:pt x="512969" y="39"/>
                </a:lnTo>
                <a:close/>
              </a:path>
            </a:pathLst>
          </a:custGeom>
          <a:solidFill>
            <a:srgbClr val="DBD2F6"/>
          </a:solidFill>
          <a:ln cap="rnd">
            <a:solidFill>
              <a:srgbClr val="9579E3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2" name="Trapecio 5">
            <a:extLst>
              <a:ext uri="{FF2B5EF4-FFF2-40B4-BE49-F238E27FC236}">
                <a16:creationId xmlns:a16="http://schemas.microsoft.com/office/drawing/2014/main" id="{08150DF7-3AA1-41D9-3883-50C738AF198B}"/>
              </a:ext>
            </a:extLst>
          </p:cNvPr>
          <p:cNvSpPr/>
          <p:nvPr/>
        </p:nvSpPr>
        <p:spPr>
          <a:xfrm>
            <a:off x="1139116" y="1839369"/>
            <a:ext cx="2773680" cy="1197377"/>
          </a:xfrm>
          <a:custGeom>
            <a:avLst/>
            <a:gdLst>
              <a:gd name="connsiteX0" fmla="*/ 0 w 2773680"/>
              <a:gd name="connsiteY0" fmla="*/ 1193090 h 1193090"/>
              <a:gd name="connsiteX1" fmla="*/ 512969 w 2773680"/>
              <a:gd name="connsiteY1" fmla="*/ 0 h 1193090"/>
              <a:gd name="connsiteX2" fmla="*/ 2260711 w 2773680"/>
              <a:gd name="connsiteY2" fmla="*/ 0 h 1193090"/>
              <a:gd name="connsiteX3" fmla="*/ 2773680 w 2773680"/>
              <a:gd name="connsiteY3" fmla="*/ 1193090 h 1193090"/>
              <a:gd name="connsiteX4" fmla="*/ 0 w 2773680"/>
              <a:gd name="connsiteY4" fmla="*/ 1193090 h 1193090"/>
              <a:gd name="connsiteX0" fmla="*/ 0 w 2773680"/>
              <a:gd name="connsiteY0" fmla="*/ 1193090 h 1193090"/>
              <a:gd name="connsiteX1" fmla="*/ 512969 w 2773680"/>
              <a:gd name="connsiteY1" fmla="*/ 0 h 1193090"/>
              <a:gd name="connsiteX2" fmla="*/ 1574911 w 2773680"/>
              <a:gd name="connsiteY2" fmla="*/ 7620 h 1193090"/>
              <a:gd name="connsiteX3" fmla="*/ 2773680 w 2773680"/>
              <a:gd name="connsiteY3" fmla="*/ 1193090 h 1193090"/>
              <a:gd name="connsiteX4" fmla="*/ 0 w 2773680"/>
              <a:gd name="connsiteY4" fmla="*/ 1193090 h 1193090"/>
              <a:gd name="connsiteX0" fmla="*/ 0 w 2773680"/>
              <a:gd name="connsiteY0" fmla="*/ 1197377 h 1197377"/>
              <a:gd name="connsiteX1" fmla="*/ 512969 w 2773680"/>
              <a:gd name="connsiteY1" fmla="*/ 4287 h 1197377"/>
              <a:gd name="connsiteX2" fmla="*/ 1567768 w 2773680"/>
              <a:gd name="connsiteY2" fmla="*/ 0 h 1197377"/>
              <a:gd name="connsiteX3" fmla="*/ 2773680 w 2773680"/>
              <a:gd name="connsiteY3" fmla="*/ 1197377 h 1197377"/>
              <a:gd name="connsiteX4" fmla="*/ 0 w 2773680"/>
              <a:gd name="connsiteY4" fmla="*/ 1197377 h 1197377"/>
              <a:gd name="connsiteX0" fmla="*/ 0 w 2773680"/>
              <a:gd name="connsiteY0" fmla="*/ 1197377 h 1197377"/>
              <a:gd name="connsiteX1" fmla="*/ 512969 w 2773680"/>
              <a:gd name="connsiteY1" fmla="*/ 4287 h 1197377"/>
              <a:gd name="connsiteX2" fmla="*/ 1560624 w 2773680"/>
              <a:gd name="connsiteY2" fmla="*/ 0 h 1197377"/>
              <a:gd name="connsiteX3" fmla="*/ 2773680 w 2773680"/>
              <a:gd name="connsiteY3" fmla="*/ 1197377 h 1197377"/>
              <a:gd name="connsiteX4" fmla="*/ 0 w 2773680"/>
              <a:gd name="connsiteY4" fmla="*/ 1197377 h 11973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3680" h="1197377">
                <a:moveTo>
                  <a:pt x="0" y="1197377"/>
                </a:moveTo>
                <a:lnTo>
                  <a:pt x="512969" y="4287"/>
                </a:lnTo>
                <a:lnTo>
                  <a:pt x="1560624" y="0"/>
                </a:lnTo>
                <a:lnTo>
                  <a:pt x="2773680" y="1197377"/>
                </a:lnTo>
                <a:lnTo>
                  <a:pt x="0" y="1197377"/>
                </a:lnTo>
                <a:close/>
              </a:path>
            </a:pathLst>
          </a:custGeom>
          <a:solidFill>
            <a:schemeClr val="accent4">
              <a:lumMod val="20000"/>
              <a:lumOff val="80000"/>
            </a:schemeClr>
          </a:solidFill>
          <a:ln cap="rnd">
            <a:solidFill>
              <a:schemeClr val="accent4">
                <a:lumMod val="60000"/>
                <a:lumOff val="40000"/>
              </a:schemeClr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4000" b="1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4547350C-A861-CAEA-B2C8-9F50E169BCED}"/>
              </a:ext>
            </a:extLst>
          </p:cNvPr>
          <p:cNvSpPr txBox="1"/>
          <p:nvPr/>
        </p:nvSpPr>
        <p:spPr>
          <a:xfrm>
            <a:off x="2158790" y="3034604"/>
            <a:ext cx="5672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b</a:t>
            </a: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12702B0D-C259-048E-A904-0DCDF0294D48}"/>
              </a:ext>
            </a:extLst>
          </p:cNvPr>
          <p:cNvSpPr txBox="1"/>
          <p:nvPr/>
        </p:nvSpPr>
        <p:spPr>
          <a:xfrm>
            <a:off x="1889743" y="1408161"/>
            <a:ext cx="5672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b’</a:t>
            </a: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A83E4D4A-DA9A-CF13-A60E-DF4DC4D8799E}"/>
              </a:ext>
            </a:extLst>
          </p:cNvPr>
          <p:cNvSpPr txBox="1"/>
          <p:nvPr/>
        </p:nvSpPr>
        <p:spPr>
          <a:xfrm>
            <a:off x="3874036" y="1377684"/>
            <a:ext cx="5672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b</a:t>
            </a: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B2459C1A-81CF-0D56-C862-BB06575D4F63}"/>
              </a:ext>
            </a:extLst>
          </p:cNvPr>
          <p:cNvSpPr txBox="1"/>
          <p:nvPr/>
        </p:nvSpPr>
        <p:spPr>
          <a:xfrm>
            <a:off x="4161764" y="3029613"/>
            <a:ext cx="5672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b’</a:t>
            </a:r>
          </a:p>
        </p:txBody>
      </p:sp>
      <p:cxnSp>
        <p:nvCxnSpPr>
          <p:cNvPr id="27" name="Conector recto de flecha 26">
            <a:extLst>
              <a:ext uri="{FF2B5EF4-FFF2-40B4-BE49-F238E27FC236}">
                <a16:creationId xmlns:a16="http://schemas.microsoft.com/office/drawing/2014/main" id="{E490A0C3-FEB9-5214-8390-714F34C528DA}"/>
              </a:ext>
            </a:extLst>
          </p:cNvPr>
          <p:cNvCxnSpPr>
            <a:cxnSpLocks/>
          </p:cNvCxnSpPr>
          <p:nvPr/>
        </p:nvCxnSpPr>
        <p:spPr>
          <a:xfrm flipH="1">
            <a:off x="1845710" y="1837227"/>
            <a:ext cx="9524" cy="1197377"/>
          </a:xfrm>
          <a:prstGeom prst="straightConnector1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CuadroTexto 27">
            <a:extLst>
              <a:ext uri="{FF2B5EF4-FFF2-40B4-BE49-F238E27FC236}">
                <a16:creationId xmlns:a16="http://schemas.microsoft.com/office/drawing/2014/main" id="{C8AEC195-49D0-656E-4D58-F0C442AD2D72}"/>
              </a:ext>
            </a:extLst>
          </p:cNvPr>
          <p:cNvSpPr txBox="1"/>
          <p:nvPr/>
        </p:nvSpPr>
        <p:spPr>
          <a:xfrm>
            <a:off x="1761048" y="2113893"/>
            <a:ext cx="5672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a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598FB94E-C92D-42F8-A74A-7D2784287449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381B01F0-45C2-0FAF-DCAC-592A084E4A49}"/>
              </a:ext>
            </a:extLst>
          </p:cNvPr>
          <p:cNvSpPr txBox="1"/>
          <p:nvPr/>
        </p:nvSpPr>
        <p:spPr>
          <a:xfrm>
            <a:off x="3601" y="33951"/>
            <a:ext cx="1182084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9: </a:t>
            </a:r>
            <a:r>
              <a:rPr lang="es-ES" sz="4400" dirty="0">
                <a:latin typeface="SF Fedora" panose="00000400000000000000" pitchFamily="2" charset="0"/>
                <a:cs typeface="SF Fedora" panose="00000400000000000000" pitchFamily="2" charset="0"/>
              </a:rPr>
              <a:t>Problemas Métricos en el Plano</a:t>
            </a:r>
            <a:endParaRPr lang="es-ES" sz="4000" dirty="0">
              <a:latin typeface="SF Fedora" panose="00000400000000000000" pitchFamily="2" charset="0"/>
              <a:cs typeface="SF Fedora" panose="00000400000000000000" pitchFamily="2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39352945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9" grpId="0" animBg="1"/>
      <p:bldP spid="20" grpId="0" animBg="1"/>
      <p:bldP spid="21" grpId="0" animBg="1"/>
      <p:bldP spid="25" grpId="0"/>
      <p:bldP spid="2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!CuadroTexto 1">
            <a:extLst>
              <a:ext uri="{FF2B5EF4-FFF2-40B4-BE49-F238E27FC236}">
                <a16:creationId xmlns:a16="http://schemas.microsoft.com/office/drawing/2014/main" id="{D12AD5FD-3142-7C3B-97B8-64370CA2636F}"/>
              </a:ext>
            </a:extLst>
          </p:cNvPr>
          <p:cNvSpPr txBox="1"/>
          <p:nvPr/>
        </p:nvSpPr>
        <p:spPr>
          <a:xfrm>
            <a:off x="439626" y="977574"/>
            <a:ext cx="267187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TRAPECIO:</a:t>
            </a:r>
            <a:endParaRPr lang="es-ES" sz="2000" b="1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4" name="Forma libre: forma 43">
            <a:extLst>
              <a:ext uri="{FF2B5EF4-FFF2-40B4-BE49-F238E27FC236}">
                <a16:creationId xmlns:a16="http://schemas.microsoft.com/office/drawing/2014/main" id="{1C09A706-9187-09A5-C344-75A972CD08FC}"/>
              </a:ext>
            </a:extLst>
          </p:cNvPr>
          <p:cNvSpPr/>
          <p:nvPr/>
        </p:nvSpPr>
        <p:spPr>
          <a:xfrm rot="10800000">
            <a:off x="3196996" y="1841645"/>
            <a:ext cx="2251233" cy="1197377"/>
          </a:xfrm>
          <a:custGeom>
            <a:avLst/>
            <a:gdLst>
              <a:gd name="connsiteX0" fmla="*/ 2251233 w 2251233"/>
              <a:gd name="connsiteY0" fmla="*/ 1197377 h 1197377"/>
              <a:gd name="connsiteX1" fmla="*/ 0 w 2251233"/>
              <a:gd name="connsiteY1" fmla="*/ 1197377 h 1197377"/>
              <a:gd name="connsiteX2" fmla="*/ 0 w 2251233"/>
              <a:gd name="connsiteY2" fmla="*/ 4248 h 1197377"/>
              <a:gd name="connsiteX3" fmla="*/ 1038177 w 2251233"/>
              <a:gd name="connsiteY3" fmla="*/ 0 h 11973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51233" h="1197377">
                <a:moveTo>
                  <a:pt x="2251233" y="1197377"/>
                </a:moveTo>
                <a:lnTo>
                  <a:pt x="0" y="1197377"/>
                </a:lnTo>
                <a:lnTo>
                  <a:pt x="0" y="4248"/>
                </a:lnTo>
                <a:lnTo>
                  <a:pt x="1038177" y="0"/>
                </a:lnTo>
                <a:close/>
              </a:path>
            </a:pathLst>
          </a:custGeom>
          <a:solidFill>
            <a:schemeClr val="accent5">
              <a:lumMod val="20000"/>
              <a:lumOff val="80000"/>
            </a:schemeClr>
          </a:solidFill>
          <a:ln cap="rnd">
            <a:solidFill>
              <a:schemeClr val="accent5">
                <a:lumMod val="60000"/>
                <a:lumOff val="40000"/>
              </a:schemeClr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s-ES" dirty="0"/>
          </a:p>
        </p:txBody>
      </p:sp>
      <p:sp>
        <p:nvSpPr>
          <p:cNvPr id="45" name="!!Forma libre: forma 12">
            <a:extLst>
              <a:ext uri="{FF2B5EF4-FFF2-40B4-BE49-F238E27FC236}">
                <a16:creationId xmlns:a16="http://schemas.microsoft.com/office/drawing/2014/main" id="{618B8BDE-B82A-269B-2D2D-22EA43C1808D}"/>
              </a:ext>
            </a:extLst>
          </p:cNvPr>
          <p:cNvSpPr/>
          <p:nvPr/>
        </p:nvSpPr>
        <p:spPr>
          <a:xfrm rot="10800000">
            <a:off x="1660767" y="1845893"/>
            <a:ext cx="522447" cy="1193129"/>
          </a:xfrm>
          <a:custGeom>
            <a:avLst/>
            <a:gdLst>
              <a:gd name="connsiteX0" fmla="*/ 522447 w 522447"/>
              <a:gd name="connsiteY0" fmla="*/ 0 h 1193129"/>
              <a:gd name="connsiteX1" fmla="*/ 522447 w 522447"/>
              <a:gd name="connsiteY1" fmla="*/ 1193129 h 1193129"/>
              <a:gd name="connsiteX2" fmla="*/ 0 w 522447"/>
              <a:gd name="connsiteY2" fmla="*/ 1193129 h 1193129"/>
              <a:gd name="connsiteX3" fmla="*/ 512969 w 522447"/>
              <a:gd name="connsiteY3" fmla="*/ 39 h 11931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2447" h="1193129">
                <a:moveTo>
                  <a:pt x="522447" y="0"/>
                </a:moveTo>
                <a:lnTo>
                  <a:pt x="522447" y="1193129"/>
                </a:lnTo>
                <a:lnTo>
                  <a:pt x="0" y="1193129"/>
                </a:lnTo>
                <a:lnTo>
                  <a:pt x="512969" y="39"/>
                </a:lnTo>
                <a:close/>
              </a:path>
            </a:pathLst>
          </a:custGeom>
          <a:solidFill>
            <a:srgbClr val="DBD2F6"/>
          </a:solidFill>
          <a:ln cap="rnd">
            <a:solidFill>
              <a:srgbClr val="9579E3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6" name="Trapecio 5">
            <a:extLst>
              <a:ext uri="{FF2B5EF4-FFF2-40B4-BE49-F238E27FC236}">
                <a16:creationId xmlns:a16="http://schemas.microsoft.com/office/drawing/2014/main" id="{A4B25228-7936-27DC-CD11-925329E143B1}"/>
              </a:ext>
            </a:extLst>
          </p:cNvPr>
          <p:cNvSpPr/>
          <p:nvPr/>
        </p:nvSpPr>
        <p:spPr>
          <a:xfrm>
            <a:off x="1660768" y="1841645"/>
            <a:ext cx="2773680" cy="1197377"/>
          </a:xfrm>
          <a:custGeom>
            <a:avLst/>
            <a:gdLst>
              <a:gd name="connsiteX0" fmla="*/ 0 w 2773680"/>
              <a:gd name="connsiteY0" fmla="*/ 1193090 h 1193090"/>
              <a:gd name="connsiteX1" fmla="*/ 512969 w 2773680"/>
              <a:gd name="connsiteY1" fmla="*/ 0 h 1193090"/>
              <a:gd name="connsiteX2" fmla="*/ 2260711 w 2773680"/>
              <a:gd name="connsiteY2" fmla="*/ 0 h 1193090"/>
              <a:gd name="connsiteX3" fmla="*/ 2773680 w 2773680"/>
              <a:gd name="connsiteY3" fmla="*/ 1193090 h 1193090"/>
              <a:gd name="connsiteX4" fmla="*/ 0 w 2773680"/>
              <a:gd name="connsiteY4" fmla="*/ 1193090 h 1193090"/>
              <a:gd name="connsiteX0" fmla="*/ 0 w 2773680"/>
              <a:gd name="connsiteY0" fmla="*/ 1193090 h 1193090"/>
              <a:gd name="connsiteX1" fmla="*/ 512969 w 2773680"/>
              <a:gd name="connsiteY1" fmla="*/ 0 h 1193090"/>
              <a:gd name="connsiteX2" fmla="*/ 1574911 w 2773680"/>
              <a:gd name="connsiteY2" fmla="*/ 7620 h 1193090"/>
              <a:gd name="connsiteX3" fmla="*/ 2773680 w 2773680"/>
              <a:gd name="connsiteY3" fmla="*/ 1193090 h 1193090"/>
              <a:gd name="connsiteX4" fmla="*/ 0 w 2773680"/>
              <a:gd name="connsiteY4" fmla="*/ 1193090 h 1193090"/>
              <a:gd name="connsiteX0" fmla="*/ 0 w 2773680"/>
              <a:gd name="connsiteY0" fmla="*/ 1197377 h 1197377"/>
              <a:gd name="connsiteX1" fmla="*/ 512969 w 2773680"/>
              <a:gd name="connsiteY1" fmla="*/ 4287 h 1197377"/>
              <a:gd name="connsiteX2" fmla="*/ 1567768 w 2773680"/>
              <a:gd name="connsiteY2" fmla="*/ 0 h 1197377"/>
              <a:gd name="connsiteX3" fmla="*/ 2773680 w 2773680"/>
              <a:gd name="connsiteY3" fmla="*/ 1197377 h 1197377"/>
              <a:gd name="connsiteX4" fmla="*/ 0 w 2773680"/>
              <a:gd name="connsiteY4" fmla="*/ 1197377 h 1197377"/>
              <a:gd name="connsiteX0" fmla="*/ 0 w 2773680"/>
              <a:gd name="connsiteY0" fmla="*/ 1197377 h 1197377"/>
              <a:gd name="connsiteX1" fmla="*/ 512969 w 2773680"/>
              <a:gd name="connsiteY1" fmla="*/ 4287 h 1197377"/>
              <a:gd name="connsiteX2" fmla="*/ 1560624 w 2773680"/>
              <a:gd name="connsiteY2" fmla="*/ 0 h 1197377"/>
              <a:gd name="connsiteX3" fmla="*/ 2773680 w 2773680"/>
              <a:gd name="connsiteY3" fmla="*/ 1197377 h 1197377"/>
              <a:gd name="connsiteX4" fmla="*/ 0 w 2773680"/>
              <a:gd name="connsiteY4" fmla="*/ 1197377 h 11973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3680" h="1197377">
                <a:moveTo>
                  <a:pt x="0" y="1197377"/>
                </a:moveTo>
                <a:lnTo>
                  <a:pt x="512969" y="4287"/>
                </a:lnTo>
                <a:lnTo>
                  <a:pt x="1560624" y="0"/>
                </a:lnTo>
                <a:lnTo>
                  <a:pt x="2773680" y="1197377"/>
                </a:lnTo>
                <a:lnTo>
                  <a:pt x="0" y="1197377"/>
                </a:lnTo>
                <a:close/>
              </a:path>
            </a:pathLst>
          </a:custGeom>
          <a:solidFill>
            <a:schemeClr val="accent4">
              <a:lumMod val="20000"/>
              <a:lumOff val="80000"/>
            </a:schemeClr>
          </a:solidFill>
          <a:ln cap="rnd">
            <a:solidFill>
              <a:schemeClr val="accent4">
                <a:lumMod val="60000"/>
                <a:lumOff val="40000"/>
              </a:schemeClr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cxnSp>
        <p:nvCxnSpPr>
          <p:cNvPr id="47" name="Conector recto 46">
            <a:extLst>
              <a:ext uri="{FF2B5EF4-FFF2-40B4-BE49-F238E27FC236}">
                <a16:creationId xmlns:a16="http://schemas.microsoft.com/office/drawing/2014/main" id="{53DEF505-7C9D-6998-6B5F-0264623A6661}"/>
              </a:ext>
            </a:extLst>
          </p:cNvPr>
          <p:cNvCxnSpPr/>
          <p:nvPr/>
        </p:nvCxnSpPr>
        <p:spPr>
          <a:xfrm flipH="1">
            <a:off x="5457707" y="1841645"/>
            <a:ext cx="9571" cy="1193090"/>
          </a:xfrm>
          <a:prstGeom prst="line">
            <a:avLst/>
          </a:prstGeom>
          <a:solidFill>
            <a:schemeClr val="accent5">
              <a:lumMod val="20000"/>
              <a:lumOff val="80000"/>
            </a:schemeClr>
          </a:solidFill>
          <a:ln cap="rnd">
            <a:solidFill>
              <a:schemeClr val="accent5">
                <a:lumMod val="60000"/>
                <a:lumOff val="40000"/>
              </a:schemeClr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48" name="Forma libre: forma 47">
            <a:extLst>
              <a:ext uri="{FF2B5EF4-FFF2-40B4-BE49-F238E27FC236}">
                <a16:creationId xmlns:a16="http://schemas.microsoft.com/office/drawing/2014/main" id="{D0F8196F-DADF-872F-ECD1-E1D846EF5DFB}"/>
              </a:ext>
            </a:extLst>
          </p:cNvPr>
          <p:cNvSpPr/>
          <p:nvPr/>
        </p:nvSpPr>
        <p:spPr>
          <a:xfrm rot="10800000">
            <a:off x="5467279" y="1841645"/>
            <a:ext cx="522447" cy="1193129"/>
          </a:xfrm>
          <a:custGeom>
            <a:avLst/>
            <a:gdLst>
              <a:gd name="connsiteX0" fmla="*/ 522447 w 522447"/>
              <a:gd name="connsiteY0" fmla="*/ 0 h 1193129"/>
              <a:gd name="connsiteX1" fmla="*/ 522447 w 522447"/>
              <a:gd name="connsiteY1" fmla="*/ 1193129 h 1193129"/>
              <a:gd name="connsiteX2" fmla="*/ 0 w 522447"/>
              <a:gd name="connsiteY2" fmla="*/ 1193129 h 1193129"/>
              <a:gd name="connsiteX3" fmla="*/ 512969 w 522447"/>
              <a:gd name="connsiteY3" fmla="*/ 39 h 11931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2447" h="1193129">
                <a:moveTo>
                  <a:pt x="522447" y="0"/>
                </a:moveTo>
                <a:lnTo>
                  <a:pt x="522447" y="1193129"/>
                </a:lnTo>
                <a:lnTo>
                  <a:pt x="0" y="1193129"/>
                </a:lnTo>
                <a:lnTo>
                  <a:pt x="512969" y="39"/>
                </a:lnTo>
                <a:close/>
              </a:path>
            </a:pathLst>
          </a:custGeom>
          <a:solidFill>
            <a:schemeClr val="bg1"/>
          </a:solidFill>
          <a:ln cap="rnd">
            <a:solidFill>
              <a:schemeClr val="bg1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9" name="Rectángulo 48">
            <a:extLst>
              <a:ext uri="{FF2B5EF4-FFF2-40B4-BE49-F238E27FC236}">
                <a16:creationId xmlns:a16="http://schemas.microsoft.com/office/drawing/2014/main" id="{59A7F9CC-525E-A459-3063-AD62473452CF}"/>
              </a:ext>
            </a:extLst>
          </p:cNvPr>
          <p:cNvSpPr/>
          <p:nvPr/>
        </p:nvSpPr>
        <p:spPr>
          <a:xfrm>
            <a:off x="1654012" y="1851255"/>
            <a:ext cx="3787464" cy="119309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0" name="Rectángulo 49">
            <a:extLst>
              <a:ext uri="{FF2B5EF4-FFF2-40B4-BE49-F238E27FC236}">
                <a16:creationId xmlns:a16="http://schemas.microsoft.com/office/drawing/2014/main" id="{F47140D4-37D8-757F-4CEC-8344018A0169}"/>
              </a:ext>
            </a:extLst>
          </p:cNvPr>
          <p:cNvSpPr/>
          <p:nvPr/>
        </p:nvSpPr>
        <p:spPr>
          <a:xfrm>
            <a:off x="1660766" y="1843656"/>
            <a:ext cx="3787464" cy="11930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1" name="CuadroTexto 50">
            <a:extLst>
              <a:ext uri="{FF2B5EF4-FFF2-40B4-BE49-F238E27FC236}">
                <a16:creationId xmlns:a16="http://schemas.microsoft.com/office/drawing/2014/main" id="{F25ADE19-0D22-0C3C-3EA8-6ED2CF89B384}"/>
              </a:ext>
            </a:extLst>
          </p:cNvPr>
          <p:cNvSpPr txBox="1"/>
          <p:nvPr/>
        </p:nvSpPr>
        <p:spPr>
          <a:xfrm>
            <a:off x="6233005" y="1307213"/>
            <a:ext cx="37369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ÁREA DEL RECTÁNGULO: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2" name="CuadroTexto 51">
                <a:extLst>
                  <a:ext uri="{FF2B5EF4-FFF2-40B4-BE49-F238E27FC236}">
                    <a16:creationId xmlns:a16="http://schemas.microsoft.com/office/drawing/2014/main" id="{49175BDE-2DE6-9D26-77E1-C1393059A53A}"/>
                  </a:ext>
                </a:extLst>
              </p:cNvPr>
              <p:cNvSpPr txBox="1"/>
              <p:nvPr/>
            </p:nvSpPr>
            <p:spPr>
              <a:xfrm>
                <a:off x="7187168" y="1749872"/>
                <a:ext cx="1828642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𝑨</m:t>
                      </m:r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=(</m:t>
                      </m:r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𝒃</m:t>
                      </m:r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s-ES" sz="20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ES" sz="2000" b="1" i="1" smtClean="0">
                              <a:latin typeface="Cambria Math" panose="02040503050406030204" pitchFamily="18" charset="0"/>
                            </a:rPr>
                            <m:t>𝒃</m:t>
                          </m:r>
                        </m:e>
                        <m:sup>
                          <m:r>
                            <a:rPr lang="es-ES" sz="2000" b="1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s-ES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s-ES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𝒂</m:t>
                      </m:r>
                    </m:oMath>
                  </m:oMathPara>
                </a14:m>
                <a:endParaRPr lang="es-ES" sz="2000" b="1" dirty="0"/>
              </a:p>
            </p:txBody>
          </p:sp>
        </mc:Choice>
        <mc:Fallback xmlns="">
          <p:sp>
            <p:nvSpPr>
              <p:cNvPr id="52" name="CuadroTexto 51">
                <a:extLst>
                  <a:ext uri="{FF2B5EF4-FFF2-40B4-BE49-F238E27FC236}">
                    <a16:creationId xmlns:a16="http://schemas.microsoft.com/office/drawing/2014/main" id="{49175BDE-2DE6-9D26-77E1-C1393059A5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87168" y="1749872"/>
                <a:ext cx="1828642" cy="307777"/>
              </a:xfrm>
              <a:prstGeom prst="rect">
                <a:avLst/>
              </a:prstGeom>
              <a:blipFill>
                <a:blip r:embed="rId6"/>
                <a:stretch>
                  <a:fillRect l="-2667" r="-1333" b="-37255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3" name="CuadroTexto 52">
            <a:extLst>
              <a:ext uri="{FF2B5EF4-FFF2-40B4-BE49-F238E27FC236}">
                <a16:creationId xmlns:a16="http://schemas.microsoft.com/office/drawing/2014/main" id="{E400B18B-BF22-37F0-8D20-C58A189D8E2F}"/>
              </a:ext>
            </a:extLst>
          </p:cNvPr>
          <p:cNvSpPr txBox="1"/>
          <p:nvPr/>
        </p:nvSpPr>
        <p:spPr>
          <a:xfrm>
            <a:off x="6233005" y="2205487"/>
            <a:ext cx="37369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ÁREA DEL TRAPECIO: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4" name="CuadroTexto 53">
                <a:extLst>
                  <a:ext uri="{FF2B5EF4-FFF2-40B4-BE49-F238E27FC236}">
                    <a16:creationId xmlns:a16="http://schemas.microsoft.com/office/drawing/2014/main" id="{5EF9E645-49B7-C7D8-CCB2-8FD7AAB858F3}"/>
                  </a:ext>
                </a:extLst>
              </p:cNvPr>
              <p:cNvSpPr txBox="1"/>
              <p:nvPr/>
            </p:nvSpPr>
            <p:spPr>
              <a:xfrm>
                <a:off x="7187168" y="2695084"/>
                <a:ext cx="1828642" cy="5940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𝑨</m:t>
                      </m:r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sz="2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2000" b="1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s-ES" sz="2000" b="1" i="1">
                              <a:latin typeface="Cambria Math" panose="02040503050406030204" pitchFamily="18" charset="0"/>
                            </a:rPr>
                            <m:t>𝒃</m:t>
                          </m:r>
                          <m:r>
                            <a:rPr lang="es-ES" sz="2000" b="1" i="1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s-ES" sz="20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ES" sz="2000" b="1" i="1">
                                  <a:latin typeface="Cambria Math" panose="02040503050406030204" pitchFamily="18" charset="0"/>
                                </a:rPr>
                                <m:t>𝒃</m:t>
                              </m:r>
                            </m:e>
                            <m:sup>
                              <m:r>
                                <a:rPr lang="es-ES" sz="2000" b="1" i="1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s-ES" sz="2000" b="1" i="1"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a:rPr lang="es-ES" sz="2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lang="es-ES" sz="2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𝒂</m:t>
                          </m:r>
                        </m:num>
                        <m:den>
                          <m:r>
                            <a:rPr lang="es-ES" sz="20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</m:oMath>
                  </m:oMathPara>
                </a14:m>
                <a:endParaRPr lang="es-ES" sz="2000" b="1" dirty="0"/>
              </a:p>
            </p:txBody>
          </p:sp>
        </mc:Choice>
        <mc:Fallback xmlns="">
          <p:sp>
            <p:nvSpPr>
              <p:cNvPr id="54" name="CuadroTexto 53">
                <a:extLst>
                  <a:ext uri="{FF2B5EF4-FFF2-40B4-BE49-F238E27FC236}">
                    <a16:creationId xmlns:a16="http://schemas.microsoft.com/office/drawing/2014/main" id="{5EF9E645-49B7-C7D8-CCB2-8FD7AAB858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87168" y="2695084"/>
                <a:ext cx="1828642" cy="594073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5" name="CuadroTexto 54">
            <a:extLst>
              <a:ext uri="{FF2B5EF4-FFF2-40B4-BE49-F238E27FC236}">
                <a16:creationId xmlns:a16="http://schemas.microsoft.com/office/drawing/2014/main" id="{4893B84E-BA9A-3262-D487-68C02B4E5754}"/>
              </a:ext>
            </a:extLst>
          </p:cNvPr>
          <p:cNvSpPr txBox="1"/>
          <p:nvPr/>
        </p:nvSpPr>
        <p:spPr>
          <a:xfrm>
            <a:off x="3040020" y="1378493"/>
            <a:ext cx="11703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b="1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b’ + b</a:t>
            </a:r>
          </a:p>
        </p:txBody>
      </p:sp>
      <p:sp>
        <p:nvSpPr>
          <p:cNvPr id="60" name="CuadroTexto 59">
            <a:extLst>
              <a:ext uri="{FF2B5EF4-FFF2-40B4-BE49-F238E27FC236}">
                <a16:creationId xmlns:a16="http://schemas.microsoft.com/office/drawing/2014/main" id="{B8104D2E-5A5C-2E9E-D203-E5B8890A7DFE}"/>
              </a:ext>
            </a:extLst>
          </p:cNvPr>
          <p:cNvSpPr txBox="1"/>
          <p:nvPr/>
        </p:nvSpPr>
        <p:spPr>
          <a:xfrm>
            <a:off x="3040020" y="3061101"/>
            <a:ext cx="11703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b="1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b + b’</a:t>
            </a:r>
          </a:p>
        </p:txBody>
      </p:sp>
      <p:sp>
        <p:nvSpPr>
          <p:cNvPr id="62" name="CuadroTexto 61">
            <a:extLst>
              <a:ext uri="{FF2B5EF4-FFF2-40B4-BE49-F238E27FC236}">
                <a16:creationId xmlns:a16="http://schemas.microsoft.com/office/drawing/2014/main" id="{A6280857-C4E7-FD8B-BF3A-D9FA9452CC3D}"/>
              </a:ext>
            </a:extLst>
          </p:cNvPr>
          <p:cNvSpPr txBox="1"/>
          <p:nvPr/>
        </p:nvSpPr>
        <p:spPr>
          <a:xfrm>
            <a:off x="813759" y="2205487"/>
            <a:ext cx="11703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b="1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a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E302D31B-C244-992F-CEBB-4AE328419C91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A2356B1E-3EA3-B165-8EC2-D73F41A79A42}"/>
              </a:ext>
            </a:extLst>
          </p:cNvPr>
          <p:cNvSpPr txBox="1"/>
          <p:nvPr/>
        </p:nvSpPr>
        <p:spPr>
          <a:xfrm>
            <a:off x="3601" y="33951"/>
            <a:ext cx="1182084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9: </a:t>
            </a:r>
            <a:r>
              <a:rPr lang="es-ES" sz="4400" dirty="0">
                <a:latin typeface="SF Fedora" panose="00000400000000000000" pitchFamily="2" charset="0"/>
                <a:cs typeface="SF Fedora" panose="00000400000000000000" pitchFamily="2" charset="0"/>
              </a:rPr>
              <a:t>Problemas Métricos en el Plano</a:t>
            </a:r>
            <a:endParaRPr lang="es-ES" sz="4000" dirty="0">
              <a:latin typeface="SF Fedora" panose="00000400000000000000" pitchFamily="2" charset="0"/>
              <a:cs typeface="SF Fedora" panose="00000400000000000000" pitchFamily="2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63596455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>
        <p159:morph option="byObject"/>
      </p:transition>
    </mc:Choice>
    <mc:Fallback xmlns="">
      <p:transition spd="slow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1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500"/>
                            </p:stCondLst>
                            <p:childTnLst>
                              <p:par>
                                <p:cTn id="1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4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0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3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500"/>
                            </p:stCondLst>
                            <p:childTnLst>
                              <p:par>
                                <p:cTn id="5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1000"/>
                            </p:stCondLst>
                            <p:childTnLst>
                              <p:par>
                                <p:cTn id="6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 animBg="1"/>
      <p:bldP spid="49" grpId="1" animBg="1"/>
      <p:bldP spid="50" grpId="0" animBg="1"/>
      <p:bldP spid="50" grpId="1" animBg="1"/>
      <p:bldP spid="51" grpId="0"/>
      <p:bldP spid="52" grpId="0"/>
      <p:bldP spid="53" grpId="0"/>
      <p:bldP spid="54" grpId="0"/>
      <p:bldP spid="55" grpId="0"/>
      <p:bldP spid="55" grpId="1"/>
      <p:bldP spid="60" grpId="0"/>
      <p:bldP spid="60" grpId="1"/>
      <p:bldP spid="62" grpId="0"/>
      <p:bldP spid="62" grpId="1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LMS_API_VERSION" val="SCORM 2004 (4th edition)"/>
  <p:tag name="ISPRING_ULTRA_SCORM_COURSE_ID" val="F0E84521-9CE2-47C8-B49C-59611A2FFC36"/>
  <p:tag name="ISPRING_CMI5_LAUNCH_METHOD" val="any window"/>
  <p:tag name="ISPRING_SCORM_RATE_SLIDES" val="1"/>
  <p:tag name="ISPRINGCLOUDFOLDERID" val="1"/>
  <p:tag name="ISPRINGONLINEFOLDERID" val="1"/>
  <p:tag name="ISPRING_SCORM_PASSING_SCORE" val="100.000000"/>
  <p:tag name="ISPRING_PUBLISH_SETTINGS" val="{&quot;commonSettings&quot;:{&quot;webSettings&quot;:{&quot;useMobileViewer&quot;:&quot;T_FALSE&quot;},&quot;lmsSettings&quot;:{&quot;useMobileViewer&quot;:&quot;T_FALSE&quot;},&quot;cloudSettings&quot;:{&quot;useMobileViewer&quot;:&quot;T_FALSE&quot;},&quot;ispringLmsSettings&quot;:{&quot;useMobileViewer&quot;:&quot;T_FALSE&quot;},&quot;playerId&quot;:&quot;free&quot;,&quot;studioSettings&quot;:{&quot;useMobileViewer&quot;:&quot;T_FALSE&quot;}},&quot;advancedSettings&quot;:{&quot;enableTextAllocation&quot;:&quot;T_TRUE&quot;,&quot;viewingFromLocalDrive&quot;:&quot;T_TRUE&quot;,&quot;contentScale&quot;:75,&quot;contentScaleMode&quot;:&quot;FIT_TO_WINDOW&quot;},&quot;accessibilitySettings&quot;:{&quot;enabled&quot;:&quot;T_FALSE&quot;},&quot;compressionSettings&quot;:{&quot;imageSettings&quot;:{&quot;jpegQuality&quot;:70,&quot;optimizeImageForResolution&quot;:&quot;T_FALSE&quot;},&quot;audioQuality&quot;:70,&quot;videoQuality&quot;:65},&quot;protectionSettings&quot;:{&quot;watermarkEnabled&quot;:&quot;T_FALSE&quot;,&quot;watermarkPosition&quot;:&quot;MIDDLE_CENTER&quot;,&quot;openWatermarkUrl&quot;:&quot;T_FALSE&quot;,&quot;openWatermarkWebPageInNewWindow&quot;:&quot;T_FALSE&quot;,&quot;displayAfterEnabled&quot;:&quot;T_FALSE&quot;,&quot;displayUntilEnabled&quot;:&quot;T_FALSE&quot;,&quot;domainRestrictionEnabled&quot;:&quot;T_FALSE&quot;,&quot;enablePassword&quot;:&quot;T_FALSE&quot;},&quot;videoSettings&quot;:{&quot;videoCompressionSettings&quot;:{&quot;audioQuality&quot;:70,&quot;videoQuality&quot;:75},&quot;secondsOnEachSlide&quot;:5,&quot;hostingSettings&quot;:{}},&quot;ispringOnlineSettings&quot;:{&quot;onlineDestinationFolderId&quot;:&quot;1&quot;},&quot;cloudSettings&quot;:{&quot;onlineDestinationFolderId&quot;:&quot;1&quot;},&quot;wordSettings&quot;:{&quot;printCopies&quot;:1},&quot;studioSettings&quot;:{&quot;onlineDestinationFolderId&quot;:&quot;1&quot;,&quot;uploadSources&quot;:true}}"/>
  <p:tag name="ISPRING_FIRST_PUBLISH" val="1"/>
  <p:tag name="ISPRING_ULTRA_SCORM_COURCE_TITLE" val="3. Área en cuadriláteros"/>
  <p:tag name="ISPRING_SCORM_ENDPOINT" val="&lt;endpoint&gt;&lt;enable&gt;0&lt;/enable&gt;&lt;lrs&gt;https://&lt;/lrs&gt;&lt;auth&gt;0&lt;/auth&gt;&lt;login&gt;&lt;/login&gt;&lt;password&gt;&lt;/password&gt;&lt;key&gt;&lt;/key&gt;&lt;name&gt;&lt;/name&gt;&lt;email&gt;&lt;/email&gt;&lt;/endpoint&gt;&#10;"/>
  <p:tag name="ISPRING_OUTPUT_FOLDER" val="[[&quot;\uFFFD\/\uFFFD\uFFFD{21D528DD-60A0-4F5B-BB24-A0E5BDBD4B43}&quot;,&quot;C:\\Users\\34717\\Desktop\\Apuntes\\3 ESO\\9. Problemas métricos en el plano&quot;]]"/>
  <p:tag name="ISPRING_SCORM_RATE_QUIZZES" val="0"/>
  <p:tag name="ISPRING_PRESENTATION_TITLE" val="3. Área en cuadriláteros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2B10D503-03A2-4179-BDDF-9F292136CF20}:257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7807E9A4-C6DE-44C9-852E-265C49C8DFC3}:258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5FCDC7B9-A85B-4FC9-893E-BEACB87ACF6C}:259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F2BC3FCA-25D8-4F23-B2B6-B496DCDC20D3}:260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53D1F2AB-04A5-478B-B784-BA880FA9F0C3}:26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5C9435D9-3458-48E5-8C9D-F24554B237AE}:262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CAFE2A26-130B-4DAF-B56F-C23E61AB8169}:263"/>
</p:tagLst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Personalizado 1">
      <a:majorFont>
        <a:latin typeface="SF Fedora"/>
        <a:ea typeface=""/>
        <a:cs typeface=""/>
      </a:majorFont>
      <a:minorFont>
        <a:latin typeface="Century Gothic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518</TotalTime>
  <Words>253</Words>
  <Application>Microsoft Office PowerPoint</Application>
  <PresentationFormat>Panorámica</PresentationFormat>
  <Paragraphs>100</Paragraphs>
  <Slides>7</Slides>
  <Notes>7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3" baseType="lpstr">
      <vt:lpstr>Aptos</vt:lpstr>
      <vt:lpstr>Arial</vt:lpstr>
      <vt:lpstr>Cambria Math</vt:lpstr>
      <vt:lpstr>Century Gothic</vt:lpstr>
      <vt:lpstr>SF Fedora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3. Área en cuadriláteros</dc:title>
  <dc:creator>Illán Linos Souto</dc:creator>
  <cp:lastModifiedBy>Illán Linos</cp:lastModifiedBy>
  <cp:revision>56</cp:revision>
  <dcterms:created xsi:type="dcterms:W3CDTF">2024-08-18T18:48:07Z</dcterms:created>
  <dcterms:modified xsi:type="dcterms:W3CDTF">2025-11-20T22:22:05Z</dcterms:modified>
</cp:coreProperties>
</file>