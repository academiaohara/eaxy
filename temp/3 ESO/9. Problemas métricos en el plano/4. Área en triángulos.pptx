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58" r:id="rId4"/>
    <p:sldId id="260" r:id="rId5"/>
    <p:sldId id="261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9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AE48-0815-435B-804D-B55E2037C019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479E9-2B8E-4436-86FF-10D8606733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934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5404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29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58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9813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479E9-2B8E-4436-86FF-10D86067336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990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rgbClr val="4E95D9"/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E87A7C-CD7F-5874-70DA-FA85F822C70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DDBEDE-F578-5EF3-3465-B2F87E43B06C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6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15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65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1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8" grpId="0"/>
      <p:bldP spid="12" grpId="0"/>
      <p:bldP spid="19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sa">
            <a:extLst>
              <a:ext uri="{FF2B5EF4-FFF2-40B4-BE49-F238E27FC236}">
                <a16:creationId xmlns:a16="http://schemas.microsoft.com/office/drawing/2014/main" id="{A79B10CD-5A47-F82A-1CD4-A28D029D3433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rgbClr val="4E95D9"/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08FB3C2-7BFD-0010-21DB-15CDF9CA4B1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457C41E-762A-5835-8CBF-52E1135891FC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120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rgbClr val="4E95D9"/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1" name="Rosa">
            <a:extLst>
              <a:ext uri="{FF2B5EF4-FFF2-40B4-BE49-F238E27FC236}">
                <a16:creationId xmlns:a16="http://schemas.microsoft.com/office/drawing/2014/main" id="{27D47846-6680-222D-86BE-E99BBE3975EC}"/>
              </a:ext>
            </a:extLst>
          </p:cNvPr>
          <p:cNvSpPr/>
          <p:nvPr/>
        </p:nvSpPr>
        <p:spPr>
          <a:xfrm rot="10800000">
            <a:off x="7887744" y="2128004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8962896" y="21288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FCECD8-02BC-B481-B43B-C9C6F173BAB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FCCC60-DE51-ED69-052A-8CA8E1DA2E3B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7829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rgbClr val="4E95D9"/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1" name="Rosa">
            <a:extLst>
              <a:ext uri="{FF2B5EF4-FFF2-40B4-BE49-F238E27FC236}">
                <a16:creationId xmlns:a16="http://schemas.microsoft.com/office/drawing/2014/main" id="{27D47846-6680-222D-86BE-E99BBE3975EC}"/>
              </a:ext>
            </a:extLst>
          </p:cNvPr>
          <p:cNvSpPr/>
          <p:nvPr/>
        </p:nvSpPr>
        <p:spPr>
          <a:xfrm rot="10800000">
            <a:off x="7887744" y="2128004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8962896" y="21288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28179D-BE52-7B14-606D-75511C973B4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472784-C93F-4F0F-D3CB-AED29FA1780F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3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Marco 10">
            <a:extLst>
              <a:ext uri="{FF2B5EF4-FFF2-40B4-BE49-F238E27FC236}">
                <a16:creationId xmlns:a16="http://schemas.microsoft.com/office/drawing/2014/main" id="{65A1C5ED-BCB7-0C2C-7683-A6630FE20EA7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718E90F3-2549-7180-9523-D519CB0F079B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a un triángulo le juntamos otro igual, se obtiene un paralelogramo. Por tanto, el área del triángulo </a:t>
            </a:r>
            <a:r>
              <a:rPr lang="es-ES" sz="2000" b="1" dirty="0">
                <a:solidFill>
                  <a:srgbClr val="4E95D9"/>
                </a:solidFill>
              </a:rPr>
              <a:t>es la mitad que la del paralelogramo.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EA7587C7-19AC-4469-C57A-6265387C1E22}"/>
              </a:ext>
            </a:extLst>
          </p:cNvPr>
          <p:cNvSpPr/>
          <p:nvPr/>
        </p:nvSpPr>
        <p:spPr>
          <a:xfrm>
            <a:off x="333479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01A7325-5FB5-7DAA-76DC-7902FE412369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4059308" y="2128802"/>
            <a:ext cx="0" cy="9397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85D1EF04-A1EC-0C4D-7273-AD018D5D95C2}"/>
              </a:ext>
            </a:extLst>
          </p:cNvPr>
          <p:cNvSpPr txBox="1"/>
          <p:nvPr/>
        </p:nvSpPr>
        <p:spPr>
          <a:xfrm>
            <a:off x="3970795" y="2367827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87CB45-260B-3C2F-47B6-66BE71711ACB}"/>
              </a:ext>
            </a:extLst>
          </p:cNvPr>
          <p:cNvSpPr txBox="1"/>
          <p:nvPr/>
        </p:nvSpPr>
        <p:spPr>
          <a:xfrm>
            <a:off x="3970795" y="3028890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3DFE8290-87D2-5EA9-E457-AFB2B7CB58BD}"/>
              </a:ext>
            </a:extLst>
          </p:cNvPr>
          <p:cNvSpPr/>
          <p:nvPr/>
        </p:nvSpPr>
        <p:spPr>
          <a:xfrm rot="16200000">
            <a:off x="6072874" y="2155134"/>
            <a:ext cx="280998" cy="887052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EF236D4-1524-3827-D722-B12672891D7A}"/>
              </a:ext>
            </a:extLst>
          </p:cNvPr>
          <p:cNvSpPr/>
          <p:nvPr/>
        </p:nvSpPr>
        <p:spPr>
          <a:xfrm rot="10800000">
            <a:off x="7887744" y="2128004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0625281B-B919-1172-07DB-EE9B2E8AA975}"/>
              </a:ext>
            </a:extLst>
          </p:cNvPr>
          <p:cNvSpPr/>
          <p:nvPr/>
        </p:nvSpPr>
        <p:spPr>
          <a:xfrm rot="10800000">
            <a:off x="7170598" y="2127206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Triángulo isósceles 14">
            <a:extLst>
              <a:ext uri="{FF2B5EF4-FFF2-40B4-BE49-F238E27FC236}">
                <a16:creationId xmlns:a16="http://schemas.microsoft.com/office/drawing/2014/main" id="{DF9932E1-8652-A1AC-F45D-564992013275}"/>
              </a:ext>
            </a:extLst>
          </p:cNvPr>
          <p:cNvSpPr/>
          <p:nvPr/>
        </p:nvSpPr>
        <p:spPr>
          <a:xfrm>
            <a:off x="7163844" y="2128802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99A9F4BD-239E-A516-37D7-8D1E720DF8AA}"/>
              </a:ext>
            </a:extLst>
          </p:cNvPr>
          <p:cNvSpPr/>
          <p:nvPr/>
        </p:nvSpPr>
        <p:spPr>
          <a:xfrm rot="10800000">
            <a:off x="7887745" y="2121203"/>
            <a:ext cx="1075152" cy="939716"/>
          </a:xfrm>
          <a:custGeom>
            <a:avLst/>
            <a:gdLst>
              <a:gd name="connsiteX0" fmla="*/ 1075152 w 1075152"/>
              <a:gd name="connsiteY0" fmla="*/ 939716 h 939716"/>
              <a:gd name="connsiteX1" fmla="*/ 0 w 1075152"/>
              <a:gd name="connsiteY1" fmla="*/ 939716 h 939716"/>
              <a:gd name="connsiteX2" fmla="*/ 0 w 1075152"/>
              <a:gd name="connsiteY2" fmla="*/ 797 h 939716"/>
              <a:gd name="connsiteX3" fmla="*/ 614 w 1075152"/>
              <a:gd name="connsiteY3" fmla="*/ 0 h 93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5152" h="939716">
                <a:moveTo>
                  <a:pt x="1075152" y="939716"/>
                </a:moveTo>
                <a:lnTo>
                  <a:pt x="0" y="939716"/>
                </a:lnTo>
                <a:lnTo>
                  <a:pt x="0" y="797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547D5EB3-2C53-C7C1-EA14-BD86F5B48F96}"/>
              </a:ext>
            </a:extLst>
          </p:cNvPr>
          <p:cNvSpPr/>
          <p:nvPr/>
        </p:nvSpPr>
        <p:spPr>
          <a:xfrm rot="10800000">
            <a:off x="7163845" y="2121202"/>
            <a:ext cx="723899" cy="938918"/>
          </a:xfrm>
          <a:custGeom>
            <a:avLst/>
            <a:gdLst>
              <a:gd name="connsiteX0" fmla="*/ 723899 w 723899"/>
              <a:gd name="connsiteY0" fmla="*/ 938918 h 938918"/>
              <a:gd name="connsiteX1" fmla="*/ 0 w 723899"/>
              <a:gd name="connsiteY1" fmla="*/ 938918 h 938918"/>
              <a:gd name="connsiteX2" fmla="*/ 723899 w 723899"/>
              <a:gd name="connsiteY2" fmla="*/ 0 h 93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899" h="938918">
                <a:moveTo>
                  <a:pt x="723899" y="938918"/>
                </a:moveTo>
                <a:lnTo>
                  <a:pt x="0" y="938918"/>
                </a:lnTo>
                <a:lnTo>
                  <a:pt x="723899" y="0"/>
                </a:lnTo>
                <a:close/>
              </a:path>
            </a:pathLst>
          </a:custGeom>
          <a:solidFill>
            <a:srgbClr val="DBD2F6"/>
          </a:solidFill>
          <a:ln cap="rnd">
            <a:solidFill>
              <a:srgbClr val="9579E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5582B8C7-BC29-F3DA-D147-280C3C8831DF}"/>
              </a:ext>
            </a:extLst>
          </p:cNvPr>
          <p:cNvSpPr/>
          <p:nvPr/>
        </p:nvSpPr>
        <p:spPr>
          <a:xfrm>
            <a:off x="7163845" y="2121203"/>
            <a:ext cx="1799052" cy="939716"/>
          </a:xfrm>
          <a:prstGeom prst="triangle">
            <a:avLst>
              <a:gd name="adj" fmla="val 40272"/>
            </a:avLst>
          </a:prstGeom>
          <a:solidFill>
            <a:schemeClr val="accent1">
              <a:lumMod val="20000"/>
              <a:lumOff val="80000"/>
            </a:schemeClr>
          </a:solidFill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599748-5712-B4E3-BB23-F58643688472}"/>
              </a:ext>
            </a:extLst>
          </p:cNvPr>
          <p:cNvSpPr/>
          <p:nvPr/>
        </p:nvSpPr>
        <p:spPr>
          <a:xfrm>
            <a:off x="7161853" y="2118378"/>
            <a:ext cx="1792299" cy="9327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8D87D4F-9022-E9C4-BD9B-F4CB30991F69}"/>
              </a:ext>
            </a:extLst>
          </p:cNvPr>
          <p:cNvSpPr/>
          <p:nvPr/>
        </p:nvSpPr>
        <p:spPr>
          <a:xfrm>
            <a:off x="7170598" y="2129797"/>
            <a:ext cx="1792299" cy="932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E1CCCE-5D1D-A7A2-2B02-138D9D5F3A4F}"/>
              </a:ext>
            </a:extLst>
          </p:cNvPr>
          <p:cNvSpPr txBox="1"/>
          <p:nvPr/>
        </p:nvSpPr>
        <p:spPr>
          <a:xfrm>
            <a:off x="7803222" y="3029309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b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747737-F5E3-4FCE-B8AC-4B35521D65B2}"/>
              </a:ext>
            </a:extLst>
          </p:cNvPr>
          <p:cNvSpPr txBox="1"/>
          <p:nvPr/>
        </p:nvSpPr>
        <p:spPr>
          <a:xfrm>
            <a:off x="8905138" y="2354383"/>
            <a:ext cx="5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E85D6E-F42A-DC0D-30D0-97FCEC3DF89C}"/>
              </a:ext>
            </a:extLst>
          </p:cNvPr>
          <p:cNvSpPr txBox="1"/>
          <p:nvPr/>
        </p:nvSpPr>
        <p:spPr>
          <a:xfrm>
            <a:off x="3439669" y="3749714"/>
            <a:ext cx="310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ÁREA DEL PARALELOGRAMO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9DB80D9-C6DF-17CE-F025-550C93B9AEBE}"/>
                  </a:ext>
                </a:extLst>
              </p:cNvPr>
              <p:cNvSpPr txBox="1"/>
              <p:nvPr/>
            </p:nvSpPr>
            <p:spPr>
              <a:xfrm>
                <a:off x="6882128" y="3938196"/>
                <a:ext cx="107721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9DB80D9-C6DF-17CE-F025-550C93B9A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128" y="3938196"/>
                <a:ext cx="1077218" cy="307777"/>
              </a:xfrm>
              <a:prstGeom prst="rect">
                <a:avLst/>
              </a:prstGeom>
              <a:blipFill>
                <a:blip r:embed="rId6"/>
                <a:stretch>
                  <a:fillRect l="-4520" r="-2260" b="-117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13E3D6FF-5CCD-B3C8-4584-DB8FBA2B26F8}"/>
              </a:ext>
            </a:extLst>
          </p:cNvPr>
          <p:cNvSpPr txBox="1"/>
          <p:nvPr/>
        </p:nvSpPr>
        <p:spPr>
          <a:xfrm>
            <a:off x="3439669" y="4688804"/>
            <a:ext cx="3107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DEL TRIÁNGULO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C8251F9-B204-7A1B-FC70-DB942153C871}"/>
                  </a:ext>
                </a:extLst>
              </p:cNvPr>
              <p:cNvSpPr txBox="1"/>
              <p:nvPr/>
            </p:nvSpPr>
            <p:spPr>
              <a:xfrm>
                <a:off x="6882128" y="4591525"/>
                <a:ext cx="1077218" cy="582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7C8251F9-B204-7A1B-FC70-DB942153C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128" y="4591525"/>
                <a:ext cx="1077218" cy="5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ángulo 20">
            <a:extLst>
              <a:ext uri="{FF2B5EF4-FFF2-40B4-BE49-F238E27FC236}">
                <a16:creationId xmlns:a16="http://schemas.microsoft.com/office/drawing/2014/main" id="{DAD295D9-E981-5178-C9DA-98B4EA15B95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211F3-7381-27F4-50AF-092F8F087B83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64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  <p:bldP spid="13" grpId="1" animBg="1"/>
      <p:bldP spid="14" grpId="0"/>
      <p:bldP spid="16" grpId="0"/>
      <p:bldP spid="17" grpId="0"/>
      <p:bldP spid="18" grpId="0"/>
      <p:bldP spid="23" grpId="0"/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CEB0510-A2E9-4E21-B398-CED3D5DF011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4. Área en triángul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9. Problemas métricos en el plano&quot;]]"/>
  <p:tag name="ISPRING_SCORM_RATE_QUIZZES" val="0"/>
  <p:tag name="ISPRING_PRESENTATION_TITLE" val="4. Área en triángulo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1BC15D2-115E-41A6-8D45-A54CA43D5EB9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3156AE-CD10-4EFC-9B40-B8AEF0BBAFAC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1DB7743-A0AC-4390-91FE-D2677FFB5C31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27EC064-8E16-4160-8DD0-CAB5F4931A95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0ADD42-B77D-47EC-9304-A66689473487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216</Words>
  <Application>Microsoft Office PowerPoint</Application>
  <PresentationFormat>Panorámica</PresentationFormat>
  <Paragraphs>31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Área en triángulos</dc:title>
  <dc:creator>Illán Linos Souto</dc:creator>
  <cp:lastModifiedBy>Illán Linos</cp:lastModifiedBy>
  <cp:revision>59</cp:revision>
  <dcterms:created xsi:type="dcterms:W3CDTF">2024-08-18T18:48:07Z</dcterms:created>
  <dcterms:modified xsi:type="dcterms:W3CDTF">2025-11-20T22:20:35Z</dcterms:modified>
</cp:coreProperties>
</file>