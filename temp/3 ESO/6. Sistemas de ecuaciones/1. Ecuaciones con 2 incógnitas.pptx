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custDataLst>
    <p:tags r:id="rId5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34717\Desktop\Apuntes\Temario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0"/>
                  <c:y val="-2.3148148148148147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29B-4738-9EBC-8EFCB0B08BD1}"/>
                </c:ext>
              </c:extLst>
            </c:dLbl>
            <c:dLbl>
              <c:idx val="1"/>
              <c:layout>
                <c:manualLayout>
                  <c:x val="0"/>
                  <c:y val="-3.2407407407407406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29B-4738-9EBC-8EFCB0B08BD1}"/>
                </c:ext>
              </c:extLst>
            </c:dLbl>
            <c:dLbl>
              <c:idx val="2"/>
              <c:layout>
                <c:manualLayout>
                  <c:x val="0"/>
                  <c:y val="-2.3148148148148234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29B-4738-9EBC-8EFCB0B08BD1}"/>
                </c:ext>
              </c:extLst>
            </c:dLbl>
            <c:dLbl>
              <c:idx val="4"/>
              <c:layout>
                <c:manualLayout>
                  <c:x val="-5.5555555555555558E-3"/>
                  <c:y val="-6.0185185185185182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29B-4738-9EBC-8EFCB0B08BD1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trendline>
            <c:spPr>
              <a:ln w="19050" cap="rnd">
                <a:solidFill>
                  <a:schemeClr val="tx2">
                    <a:lumMod val="50000"/>
                    <a:lumOff val="50000"/>
                  </a:schemeClr>
                </a:solidFill>
                <a:prstDash val="solid"/>
              </a:ln>
              <a:effectLst/>
            </c:spPr>
            <c:trendlineType val="linear"/>
            <c:dispRSqr val="0"/>
            <c:dispEq val="0"/>
          </c:trendline>
          <c:xVal>
            <c:numRef>
              <c:f>Hoja1!$B$2:$B$6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25</c:v>
                </c:pt>
                <c:pt idx="4">
                  <c:v>50</c:v>
                </c:pt>
              </c:numCache>
            </c:numRef>
          </c:xVal>
          <c:yVal>
            <c:numRef>
              <c:f>Hoja1!$C$2:$C$6</c:f>
              <c:numCache>
                <c:formatCode>General</c:formatCode>
                <c:ptCount val="5"/>
                <c:pt idx="0">
                  <c:v>50</c:v>
                </c:pt>
                <c:pt idx="1">
                  <c:v>40</c:v>
                </c:pt>
                <c:pt idx="2">
                  <c:v>25</c:v>
                </c:pt>
                <c:pt idx="4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29B-4738-9EBC-8EFCB0B08B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96827440"/>
        <c:axId val="1196810160"/>
      </c:scatterChart>
      <c:valAx>
        <c:axId val="11968274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 dirty="0"/>
                  <a:t>Edad de Alba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196810160"/>
        <c:crosses val="autoZero"/>
        <c:crossBetween val="midCat"/>
      </c:valAx>
      <c:valAx>
        <c:axId val="1196810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 dirty="0"/>
                  <a:t>Edad de Mario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19682744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629545-3435-4593-BBCD-F5570F9F8003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B80B8C-9A73-4686-9158-D00F611FD3F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869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B80B8C-9A73-4686-9158-D00F611FD3FF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01529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B80B8C-9A73-4686-9158-D00F611FD3FF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116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6: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Sistemas de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Una ecuación de primer grado con dos incógnitas expresa la relación existente</a:t>
            </a:r>
          </a:p>
          <a:p>
            <a:r>
              <a:rPr lang="es-ES" sz="2000" b="1" dirty="0"/>
              <a:t>entre dos valores desconocidos.</a:t>
            </a:r>
            <a:endParaRPr lang="es-ES" sz="4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!CuadroTexto 1">
            <a:extLst>
              <a:ext uri="{FF2B5EF4-FFF2-40B4-BE49-F238E27FC236}">
                <a16:creationId xmlns:a16="http://schemas.microsoft.com/office/drawing/2014/main" id="{5EF0B5E5-071C-6CE4-C088-63696D5F18BE}"/>
              </a:ext>
            </a:extLst>
          </p:cNvPr>
          <p:cNvSpPr txBox="1"/>
          <p:nvPr/>
        </p:nvSpPr>
        <p:spPr>
          <a:xfrm>
            <a:off x="535084" y="3453791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sz="2000" dirty="0"/>
              <a:t>La edad de Alba y de Mario suma 50 años. ¿Qué edad tiene cada uno?</a:t>
            </a:r>
            <a:endParaRPr lang="es-ES" sz="3600" dirty="0"/>
          </a:p>
        </p:txBody>
      </p:sp>
      <p:sp>
        <p:nvSpPr>
          <p:cNvPr id="3" name="!Marco 10">
            <a:extLst>
              <a:ext uri="{FF2B5EF4-FFF2-40B4-BE49-F238E27FC236}">
                <a16:creationId xmlns:a16="http://schemas.microsoft.com/office/drawing/2014/main" id="{8585892F-A33A-FA31-D35C-44EA03A22655}"/>
              </a:ext>
            </a:extLst>
          </p:cNvPr>
          <p:cNvSpPr/>
          <p:nvPr/>
        </p:nvSpPr>
        <p:spPr>
          <a:xfrm>
            <a:off x="535084" y="1950642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!CuadroTexto 1">
            <a:extLst>
              <a:ext uri="{FF2B5EF4-FFF2-40B4-BE49-F238E27FC236}">
                <a16:creationId xmlns:a16="http://schemas.microsoft.com/office/drawing/2014/main" id="{23BAEF92-1965-83F6-CF49-7A9C11E24E19}"/>
              </a:ext>
            </a:extLst>
          </p:cNvPr>
          <p:cNvSpPr txBox="1"/>
          <p:nvPr/>
        </p:nvSpPr>
        <p:spPr>
          <a:xfrm>
            <a:off x="535084" y="1965217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Las ecuaciones de primer grado con dos incógnitas reciben el nombre de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ecuaciones lineales.</a:t>
            </a:r>
            <a:endParaRPr lang="es-ES" sz="48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!Marco 10">
            <a:extLst>
              <a:ext uri="{FF2B5EF4-FFF2-40B4-BE49-F238E27FC236}">
                <a16:creationId xmlns:a16="http://schemas.microsoft.com/office/drawing/2014/main" id="{F08130BB-85EA-1398-1ACA-619CDDEDF7E1}"/>
              </a:ext>
            </a:extLst>
          </p:cNvPr>
          <p:cNvSpPr/>
          <p:nvPr/>
        </p:nvSpPr>
        <p:spPr>
          <a:xfrm>
            <a:off x="535084" y="2863392"/>
            <a:ext cx="11121832" cy="40011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000" b="1" dirty="0"/>
          </a:p>
        </p:txBody>
      </p:sp>
      <p:sp>
        <p:nvSpPr>
          <p:cNvPr id="11" name="!CuadroTexto 1">
            <a:extLst>
              <a:ext uri="{FF2B5EF4-FFF2-40B4-BE49-F238E27FC236}">
                <a16:creationId xmlns:a16="http://schemas.microsoft.com/office/drawing/2014/main" id="{41D84310-AF03-8F43-82AD-C10B495C78F3}"/>
              </a:ext>
            </a:extLst>
          </p:cNvPr>
          <p:cNvSpPr txBox="1"/>
          <p:nvPr/>
        </p:nvSpPr>
        <p:spPr>
          <a:xfrm>
            <a:off x="535084" y="2863392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Una ecuación lineal tiene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múltiples soluciones.</a:t>
            </a:r>
            <a:endParaRPr lang="es-ES" sz="5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17C0BBE-F972-3F21-DB4B-BC6A2C8876B1}"/>
              </a:ext>
            </a:extLst>
          </p:cNvPr>
          <p:cNvSpPr txBox="1"/>
          <p:nvPr/>
        </p:nvSpPr>
        <p:spPr>
          <a:xfrm>
            <a:off x="723900" y="4008120"/>
            <a:ext cx="2522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x: Edad de Alba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61149FF-F312-03A0-551C-9B5A366DF4A4}"/>
              </a:ext>
            </a:extLst>
          </p:cNvPr>
          <p:cNvSpPr txBox="1"/>
          <p:nvPr/>
        </p:nvSpPr>
        <p:spPr>
          <a:xfrm>
            <a:off x="723900" y="4405703"/>
            <a:ext cx="2522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y: Edad de Mario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9EC4167B-B081-4C84-84EF-544BD4069E75}"/>
                  </a:ext>
                </a:extLst>
              </p:cNvPr>
              <p:cNvSpPr txBox="1"/>
              <p:nvPr/>
            </p:nvSpPr>
            <p:spPr>
              <a:xfrm>
                <a:off x="5325692" y="4131826"/>
                <a:ext cx="154061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𝟓𝟎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9EC4167B-B081-4C84-84EF-544BD4069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5692" y="4131826"/>
                <a:ext cx="1540615" cy="369332"/>
              </a:xfrm>
              <a:prstGeom prst="rect">
                <a:avLst/>
              </a:prstGeom>
              <a:blipFill>
                <a:blip r:embed="rId6"/>
                <a:stretch>
                  <a:fillRect l="-2381" r="-4365" b="-3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CuadroTexto 22">
            <a:extLst>
              <a:ext uri="{FF2B5EF4-FFF2-40B4-BE49-F238E27FC236}">
                <a16:creationId xmlns:a16="http://schemas.microsoft.com/office/drawing/2014/main" id="{F6AB3E0A-3AA9-BFD8-9A06-B2D733E8C87D}"/>
              </a:ext>
            </a:extLst>
          </p:cNvPr>
          <p:cNvSpPr txBox="1"/>
          <p:nvPr/>
        </p:nvSpPr>
        <p:spPr>
          <a:xfrm>
            <a:off x="4159855" y="5038163"/>
            <a:ext cx="2522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Si x=10 e y=40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E399CFDB-B179-A9F7-2752-BD52E54CDFB4}"/>
                  </a:ext>
                </a:extLst>
              </p:cNvPr>
              <p:cNvSpPr txBox="1"/>
              <p:nvPr/>
            </p:nvSpPr>
            <p:spPr>
              <a:xfrm>
                <a:off x="6327081" y="5053700"/>
                <a:ext cx="163666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𝟒𝟎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𝟓𝟎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E399CFDB-B179-A9F7-2752-BD52E54CD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081" y="5053700"/>
                <a:ext cx="1636666" cy="307777"/>
              </a:xfrm>
              <a:prstGeom prst="rect">
                <a:avLst/>
              </a:prstGeom>
              <a:blipFill>
                <a:blip r:embed="rId7"/>
                <a:stretch>
                  <a:fillRect l="-2985" r="-2985" b="-980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CuadroTexto 24">
            <a:extLst>
              <a:ext uri="{FF2B5EF4-FFF2-40B4-BE49-F238E27FC236}">
                <a16:creationId xmlns:a16="http://schemas.microsoft.com/office/drawing/2014/main" id="{EE5F52DD-59CD-D4C7-6124-00DC795E1BE6}"/>
              </a:ext>
            </a:extLst>
          </p:cNvPr>
          <p:cNvSpPr txBox="1"/>
          <p:nvPr/>
        </p:nvSpPr>
        <p:spPr>
          <a:xfrm>
            <a:off x="4159855" y="5516291"/>
            <a:ext cx="2522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Si x=25 e y=25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522D2C63-6086-05E8-97E4-EDE27F314BBC}"/>
                  </a:ext>
                </a:extLst>
              </p:cNvPr>
              <p:cNvSpPr txBox="1"/>
              <p:nvPr/>
            </p:nvSpPr>
            <p:spPr>
              <a:xfrm>
                <a:off x="6327081" y="5547068"/>
                <a:ext cx="163666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𝟓𝟎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522D2C63-6086-05E8-97E4-EDE27F314B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081" y="5547068"/>
                <a:ext cx="1636666" cy="307777"/>
              </a:xfrm>
              <a:prstGeom prst="rect">
                <a:avLst/>
              </a:prstGeom>
              <a:blipFill>
                <a:blip r:embed="rId8"/>
                <a:stretch>
                  <a:fillRect l="-2985" r="-2985" b="-12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75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75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475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975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475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7" grpId="0"/>
      <p:bldP spid="3" grpId="0" animBg="1"/>
      <p:bldP spid="6" grpId="0"/>
      <p:bldP spid="10" grpId="0" animBg="1"/>
      <p:bldP spid="11" grpId="0"/>
      <p:bldP spid="13" grpId="0"/>
      <p:bldP spid="15" grpId="0"/>
      <p:bldP spid="22" grpId="0"/>
      <p:bldP spid="23" grpId="0"/>
      <p:bldP spid="24" grpId="0"/>
      <p:bldP spid="25" grpId="0"/>
      <p:bldP spid="2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6: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Sistemas de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48972"/>
            <a:ext cx="11121832" cy="447552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6258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Cada ecuación lineal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tiene una recta asociada </a:t>
            </a:r>
            <a:r>
              <a:rPr lang="es-ES" sz="2000" b="1" dirty="0"/>
              <a:t>en el plano.</a:t>
            </a:r>
            <a:endParaRPr lang="es-ES" sz="48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!CuadroTexto 1">
            <a:extLst>
              <a:ext uri="{FF2B5EF4-FFF2-40B4-BE49-F238E27FC236}">
                <a16:creationId xmlns:a16="http://schemas.microsoft.com/office/drawing/2014/main" id="{5EF0B5E5-071C-6CE4-C088-63696D5F18BE}"/>
              </a:ext>
            </a:extLst>
          </p:cNvPr>
          <p:cNvSpPr txBox="1"/>
          <p:nvPr/>
        </p:nvSpPr>
        <p:spPr>
          <a:xfrm>
            <a:off x="535084" y="2193997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sz="2000" dirty="0"/>
              <a:t>La edad de Alba y de Mario suma 50 años. ¿Qué edad tiene cada uno?</a:t>
            </a:r>
            <a:endParaRPr lang="es-ES" sz="3600" dirty="0"/>
          </a:p>
        </p:txBody>
      </p:sp>
      <p:sp>
        <p:nvSpPr>
          <p:cNvPr id="3" name="!Marco 10">
            <a:extLst>
              <a:ext uri="{FF2B5EF4-FFF2-40B4-BE49-F238E27FC236}">
                <a16:creationId xmlns:a16="http://schemas.microsoft.com/office/drawing/2014/main" id="{8585892F-A33A-FA31-D35C-44EA03A22655}"/>
              </a:ext>
            </a:extLst>
          </p:cNvPr>
          <p:cNvSpPr/>
          <p:nvPr/>
        </p:nvSpPr>
        <p:spPr>
          <a:xfrm>
            <a:off x="535084" y="1594633"/>
            <a:ext cx="11121832" cy="45443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!CuadroTexto 1">
            <a:extLst>
              <a:ext uri="{FF2B5EF4-FFF2-40B4-BE49-F238E27FC236}">
                <a16:creationId xmlns:a16="http://schemas.microsoft.com/office/drawing/2014/main" id="{23BAEF92-1965-83F6-CF49-7A9C11E24E19}"/>
              </a:ext>
            </a:extLst>
          </p:cNvPr>
          <p:cNvSpPr txBox="1"/>
          <p:nvPr/>
        </p:nvSpPr>
        <p:spPr>
          <a:xfrm>
            <a:off x="535084" y="1609208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Cada punto de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esa recta representa </a:t>
            </a:r>
            <a:r>
              <a:rPr lang="es-ES" sz="2000" b="1" dirty="0"/>
              <a:t>una de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las soluciones </a:t>
            </a:r>
            <a:r>
              <a:rPr lang="es-ES" sz="2000" b="1" dirty="0"/>
              <a:t>de la ecuación lineal.</a:t>
            </a:r>
            <a:endParaRPr lang="es-ES" sz="5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17C0BBE-F972-3F21-DB4B-BC6A2C8876B1}"/>
              </a:ext>
            </a:extLst>
          </p:cNvPr>
          <p:cNvSpPr txBox="1"/>
          <p:nvPr/>
        </p:nvSpPr>
        <p:spPr>
          <a:xfrm>
            <a:off x="723900" y="2748326"/>
            <a:ext cx="2522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x: Edad de Alba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61149FF-F312-03A0-551C-9B5A366DF4A4}"/>
              </a:ext>
            </a:extLst>
          </p:cNvPr>
          <p:cNvSpPr txBox="1"/>
          <p:nvPr/>
        </p:nvSpPr>
        <p:spPr>
          <a:xfrm>
            <a:off x="723900" y="3145909"/>
            <a:ext cx="2522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y: Edad de Mario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9EC4167B-B081-4C84-84EF-544BD4069E75}"/>
                  </a:ext>
                </a:extLst>
              </p:cNvPr>
              <p:cNvSpPr txBox="1"/>
              <p:nvPr/>
            </p:nvSpPr>
            <p:spPr>
              <a:xfrm>
                <a:off x="4620842" y="2961243"/>
                <a:ext cx="34763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𝟓𝟎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𝟓𝟎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9EC4167B-B081-4C84-84EF-544BD4069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0842" y="2961243"/>
                <a:ext cx="3476336" cy="369332"/>
              </a:xfrm>
              <a:prstGeom prst="rect">
                <a:avLst/>
              </a:prstGeom>
              <a:blipFill>
                <a:blip r:embed="rId6"/>
                <a:stretch>
                  <a:fillRect l="-526" r="-526" b="-3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Gráfico 13">
            <a:extLst>
              <a:ext uri="{FF2B5EF4-FFF2-40B4-BE49-F238E27FC236}">
                <a16:creationId xmlns:a16="http://schemas.microsoft.com/office/drawing/2014/main" id="{23FC9D67-9BFD-6212-F520-68C8712113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8293126"/>
              </p:ext>
            </p:extLst>
          </p:nvPr>
        </p:nvGraphicFramePr>
        <p:xfrm>
          <a:off x="4073010" y="369771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986531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7" grpId="0"/>
      <p:bldP spid="3" grpId="0" animBg="1"/>
      <p:bldP spid="6" grpId="0"/>
      <p:bldP spid="13" grpId="0"/>
      <p:bldP spid="15" grpId="0"/>
      <p:bldP spid="22" grpId="0"/>
      <p:bldGraphic spid="14" grpId="0" uiExpand="1">
        <p:bldSub>
          <a:bldChart bld="category"/>
        </p:bldSub>
      </p:bldGraphic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CD5DF2E6-ADA6-45AD-A96E-1A600D8B6AAF"/>
  <p:tag name="ISPRING_CMI5_LAUNCH_METHOD" val="any window"/>
  <p:tag name="ISPRING_SCORM_RATE_SLIDES" val="1"/>
  <p:tag name="ISPRINGCLOUDFOLDERID" val="1"/>
  <p:tag name="ISPRINGONLINEFOLDERID" val="1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PASSING_SCORE" val="100.000000"/>
  <p:tag name="ISPRING_PRESENTATION_TITLE" val="1. Ecuaciones con 2 incógnitas"/>
  <p:tag name="ISPRING_FIRST_PUBLISH" val="1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3 ESO\\6. Sistemas de ecuaciones&quot;]]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21D38C0F-B53D-45FF-8E41-7B2EEE79526B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E0F9FF1E-634F-46F9-ABAD-A6D5244FDEF4}:258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199</Words>
  <Application>Microsoft Office PowerPoint</Application>
  <PresentationFormat>Panorámica</PresentationFormat>
  <Paragraphs>28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Ecuaciones con 2 incógnitas</dc:title>
  <dc:creator>Illán Linos Souto</dc:creator>
  <cp:lastModifiedBy>Illán Linos</cp:lastModifiedBy>
  <cp:revision>61</cp:revision>
  <dcterms:created xsi:type="dcterms:W3CDTF">2024-08-18T18:48:07Z</dcterms:created>
  <dcterms:modified xsi:type="dcterms:W3CDTF">2025-11-20T18:28:49Z</dcterms:modified>
</cp:coreProperties>
</file>