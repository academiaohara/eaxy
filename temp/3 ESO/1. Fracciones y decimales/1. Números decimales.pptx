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custDataLst>
    <p:tags r:id="rId4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86A22-4182-4B40-B1FF-E1D11D17D533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B6EF5-146D-4F74-89C4-1C806DDC10A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1452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8B6EF5-146D-4F74-89C4-1C806DDC10A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7684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9706"/>
            <a:ext cx="11121832" cy="761350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123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rgbClr val="4E95D9"/>
                </a:solidFill>
                <a:latin typeface="Century Gothic" panose="020B0502020202020204" pitchFamily="34" charset="0"/>
              </a:rPr>
              <a:t>Los números decimales </a:t>
            </a:r>
            <a:r>
              <a:rPr lang="es-ES" sz="2000" b="1" dirty="0">
                <a:latin typeface="Century Gothic" panose="020B0502020202020204" pitchFamily="34" charset="0"/>
              </a:rPr>
              <a:t>son aquellos que </a:t>
            </a:r>
            <a:r>
              <a:rPr lang="es-ES" sz="2000" b="1" dirty="0">
                <a:solidFill>
                  <a:srgbClr val="4E95D9"/>
                </a:solidFill>
                <a:latin typeface="Century Gothic" panose="020B0502020202020204" pitchFamily="34" charset="0"/>
              </a:rPr>
              <a:t>representan fracciones o partes de un entero</a:t>
            </a:r>
            <a:r>
              <a:rPr lang="es-ES" sz="2000" b="1" dirty="0">
                <a:latin typeface="Century Gothic" panose="020B0502020202020204" pitchFamily="34" charset="0"/>
              </a:rPr>
              <a:t>, y se escriben con una coma decimal.</a:t>
            </a: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F46E32B4-7B0A-F19B-758C-97B1532C4E40}"/>
              </a:ext>
            </a:extLst>
          </p:cNvPr>
          <p:cNvSpPr txBox="1"/>
          <p:nvPr/>
        </p:nvSpPr>
        <p:spPr>
          <a:xfrm>
            <a:off x="535084" y="1933415"/>
            <a:ext cx="1957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FFC889-F616-0041-C927-F8E6904147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8" t="12072" r="22288" b="12072"/>
          <a:stretch/>
        </p:blipFill>
        <p:spPr>
          <a:xfrm>
            <a:off x="3395302" y="2258904"/>
            <a:ext cx="748130" cy="761000"/>
          </a:xfrm>
          <a:prstGeom prst="ellipse">
            <a:avLst/>
          </a:prstGeom>
        </p:spPr>
      </p:pic>
      <p:pic>
        <p:nvPicPr>
          <p:cNvPr id="7" name="Picture 2" descr="Moneda De Veinte Céntimos De Euro Aislada De Fondo Blanco Foto de archivo -  Imagen de objeto, anverso: 209421866">
            <a:extLst>
              <a:ext uri="{FF2B5EF4-FFF2-40B4-BE49-F238E27FC236}">
                <a16:creationId xmlns:a16="http://schemas.microsoft.com/office/drawing/2014/main" id="{A807EB6C-F60E-4A93-B2F6-4DB3228A28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6" t="5370" r="18388" b="10595"/>
          <a:stretch/>
        </p:blipFill>
        <p:spPr bwMode="auto">
          <a:xfrm>
            <a:off x="4307335" y="2279357"/>
            <a:ext cx="696130" cy="72009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oneda De Veinte Céntimos De Euro Aislada De Fondo Blanco Foto de archivo -  Imagen de objeto, anverso: 209421866">
            <a:extLst>
              <a:ext uri="{FF2B5EF4-FFF2-40B4-BE49-F238E27FC236}">
                <a16:creationId xmlns:a16="http://schemas.microsoft.com/office/drawing/2014/main" id="{80C870B7-D8F5-4144-F473-F11271DD29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6" t="5370" r="18388" b="10595"/>
          <a:stretch/>
        </p:blipFill>
        <p:spPr bwMode="auto">
          <a:xfrm>
            <a:off x="5167368" y="2279357"/>
            <a:ext cx="696130" cy="72009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Moneda De Veinte Céntimos De Euro Aislada De Fondo Blanco Foto de archivo -  Imagen de objeto, anverso: 209421866">
            <a:extLst>
              <a:ext uri="{FF2B5EF4-FFF2-40B4-BE49-F238E27FC236}">
                <a16:creationId xmlns:a16="http://schemas.microsoft.com/office/drawing/2014/main" id="{8F4F575F-2258-6E50-8885-3EB4B910BA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6" t="5370" r="18388" b="10595"/>
          <a:stretch/>
        </p:blipFill>
        <p:spPr bwMode="auto">
          <a:xfrm>
            <a:off x="6027400" y="2279357"/>
            <a:ext cx="696130" cy="72009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">
            <a:extLst>
              <a:ext uri="{FF2B5EF4-FFF2-40B4-BE49-F238E27FC236}">
                <a16:creationId xmlns:a16="http://schemas.microsoft.com/office/drawing/2014/main" id="{2E8FF6E2-7DE7-834E-4F9F-A26569A18FAD}"/>
              </a:ext>
            </a:extLst>
          </p:cNvPr>
          <p:cNvSpPr txBox="1"/>
          <p:nvPr/>
        </p:nvSpPr>
        <p:spPr>
          <a:xfrm>
            <a:off x="6887432" y="2316238"/>
            <a:ext cx="1355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1,60€</a:t>
            </a:r>
            <a:endParaRPr lang="es-ES" sz="36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!Marco 10">
            <a:extLst>
              <a:ext uri="{FF2B5EF4-FFF2-40B4-BE49-F238E27FC236}">
                <a16:creationId xmlns:a16="http://schemas.microsoft.com/office/drawing/2014/main" id="{F0AD4A1E-2A74-5887-673E-71E8D8482A2F}"/>
              </a:ext>
            </a:extLst>
          </p:cNvPr>
          <p:cNvSpPr/>
          <p:nvPr/>
        </p:nvSpPr>
        <p:spPr>
          <a:xfrm>
            <a:off x="535084" y="3241764"/>
            <a:ext cx="11121832" cy="458756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!CuadroTexto 1">
            <a:extLst>
              <a:ext uri="{FF2B5EF4-FFF2-40B4-BE49-F238E27FC236}">
                <a16:creationId xmlns:a16="http://schemas.microsoft.com/office/drawing/2014/main" id="{D3D4D74C-B4A2-78DF-EAA3-9B2D08D3EB65}"/>
              </a:ext>
            </a:extLst>
          </p:cNvPr>
          <p:cNvSpPr txBox="1"/>
          <p:nvPr/>
        </p:nvSpPr>
        <p:spPr>
          <a:xfrm>
            <a:off x="535084" y="325329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Un número decimal </a:t>
            </a:r>
            <a:r>
              <a:rPr lang="es-ES" sz="2000" b="1" dirty="0">
                <a:solidFill>
                  <a:srgbClr val="4E95D9"/>
                </a:solidFill>
                <a:latin typeface="Century Gothic" panose="020B0502020202020204" pitchFamily="34" charset="0"/>
              </a:rPr>
              <a:t>se puede expresar como fracción.</a:t>
            </a:r>
          </a:p>
        </p:txBody>
      </p:sp>
      <p:sp>
        <p:nvSpPr>
          <p:cNvPr id="21" name="!Marco 10">
            <a:extLst>
              <a:ext uri="{FF2B5EF4-FFF2-40B4-BE49-F238E27FC236}">
                <a16:creationId xmlns:a16="http://schemas.microsoft.com/office/drawing/2014/main" id="{0D9EED97-273A-B8A7-EA81-E80244ADA936}"/>
              </a:ext>
            </a:extLst>
          </p:cNvPr>
          <p:cNvSpPr/>
          <p:nvPr/>
        </p:nvSpPr>
        <p:spPr>
          <a:xfrm>
            <a:off x="535084" y="3864684"/>
            <a:ext cx="11121832" cy="787998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!CuadroTexto 1">
            <a:extLst>
              <a:ext uri="{FF2B5EF4-FFF2-40B4-BE49-F238E27FC236}">
                <a16:creationId xmlns:a16="http://schemas.microsoft.com/office/drawing/2014/main" id="{C809D011-5B77-E8F3-5550-B38F746BB5E5}"/>
              </a:ext>
            </a:extLst>
          </p:cNvPr>
          <p:cNvSpPr txBox="1"/>
          <p:nvPr/>
        </p:nvSpPr>
        <p:spPr>
          <a:xfrm>
            <a:off x="535084" y="3876216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Para ello se coloca el número sin la coma en el numerador y en el denominador la unidad seguida de tantos ceros como cifras hay a la derecha de la coma.</a:t>
            </a:r>
          </a:p>
        </p:txBody>
      </p:sp>
      <p:sp>
        <p:nvSpPr>
          <p:cNvPr id="23" name="CuadroTexto 1">
            <a:extLst>
              <a:ext uri="{FF2B5EF4-FFF2-40B4-BE49-F238E27FC236}">
                <a16:creationId xmlns:a16="http://schemas.microsoft.com/office/drawing/2014/main" id="{4B6DE6A1-9294-21F3-B943-E9DDBF6BA711}"/>
              </a:ext>
            </a:extLst>
          </p:cNvPr>
          <p:cNvSpPr txBox="1"/>
          <p:nvPr/>
        </p:nvSpPr>
        <p:spPr>
          <a:xfrm>
            <a:off x="4414912" y="5109223"/>
            <a:ext cx="2331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latin typeface="Century Gothic" panose="020B0502020202020204" pitchFamily="34" charset="0"/>
              </a:rPr>
              <a:t>1,6€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31C580FA-7A1E-50F6-41A5-79EB670408C1}"/>
              </a:ext>
            </a:extLst>
          </p:cNvPr>
          <p:cNvCxnSpPr>
            <a:cxnSpLocks/>
          </p:cNvCxnSpPr>
          <p:nvPr/>
        </p:nvCxnSpPr>
        <p:spPr>
          <a:xfrm>
            <a:off x="5532609" y="5437665"/>
            <a:ext cx="860033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uadroTexto 1">
            <a:extLst>
              <a:ext uri="{FF2B5EF4-FFF2-40B4-BE49-F238E27FC236}">
                <a16:creationId xmlns:a16="http://schemas.microsoft.com/office/drawing/2014/main" id="{3454F23E-7190-63B7-11BA-36C29D141A1C}"/>
              </a:ext>
            </a:extLst>
          </p:cNvPr>
          <p:cNvSpPr txBox="1"/>
          <p:nvPr/>
        </p:nvSpPr>
        <p:spPr>
          <a:xfrm>
            <a:off x="5803463" y="4903385"/>
            <a:ext cx="2331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16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7" name="CuadroTexto 1">
            <a:extLst>
              <a:ext uri="{FF2B5EF4-FFF2-40B4-BE49-F238E27FC236}">
                <a16:creationId xmlns:a16="http://schemas.microsoft.com/office/drawing/2014/main" id="{90121C7D-9A4C-DFBD-1433-9E288F90DDC7}"/>
              </a:ext>
            </a:extLst>
          </p:cNvPr>
          <p:cNvSpPr txBox="1"/>
          <p:nvPr/>
        </p:nvSpPr>
        <p:spPr>
          <a:xfrm>
            <a:off x="7432476" y="5109222"/>
            <a:ext cx="23317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latin typeface="Century Gothic" panose="020B0502020202020204" pitchFamily="34" charset="0"/>
              </a:rPr>
              <a:t>€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F1B8746-BDCD-A268-EB9D-2769D55E230A}"/>
              </a:ext>
            </a:extLst>
          </p:cNvPr>
          <p:cNvCxnSpPr>
            <a:cxnSpLocks/>
          </p:cNvCxnSpPr>
          <p:nvPr/>
        </p:nvCxnSpPr>
        <p:spPr>
          <a:xfrm>
            <a:off x="6542294" y="5437665"/>
            <a:ext cx="854083" cy="0"/>
          </a:xfrm>
          <a:prstGeom prst="line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1">
            <a:extLst>
              <a:ext uri="{FF2B5EF4-FFF2-40B4-BE49-F238E27FC236}">
                <a16:creationId xmlns:a16="http://schemas.microsoft.com/office/drawing/2014/main" id="{E4AA514C-7351-B0A4-2C58-65BCFFF44B48}"/>
              </a:ext>
            </a:extLst>
          </p:cNvPr>
          <p:cNvSpPr txBox="1"/>
          <p:nvPr/>
        </p:nvSpPr>
        <p:spPr>
          <a:xfrm>
            <a:off x="6506192" y="5359926"/>
            <a:ext cx="926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Century Gothic" panose="020B0502020202020204" pitchFamily="34" charset="0"/>
              </a:rPr>
              <a:t>10</a:t>
            </a:r>
            <a:endParaRPr lang="es-ES" sz="32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514D952-F386-B2CE-5BD4-0ABCF787E56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F680B5-068F-780A-2F7D-4F9BCE22C84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Fracciones Y Decimales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15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6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2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15" grpId="0"/>
      <p:bldP spid="19" grpId="0" animBg="1"/>
      <p:bldP spid="20" grpId="0"/>
      <p:bldP spid="21" grpId="0" animBg="1"/>
      <p:bldP spid="22" grpId="0"/>
      <p:bldP spid="23" grpId="0"/>
      <p:bldP spid="26" grpId="0"/>
      <p:bldP spid="27" grpId="0"/>
      <p:bldP spid="2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5E7F615-C02F-4433-B118-701575BF17D4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1. Números decimale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1. Fracciones y decimale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0EC2B75-1AAD-4943-B25D-C8C875503181}:25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79</Words>
  <Application>Microsoft Office PowerPoint</Application>
  <PresentationFormat>Panorámica</PresentationFormat>
  <Paragraphs>11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Century Gothic</vt:lpstr>
      <vt:lpstr>SF Fedora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Números decimales</dc:title>
  <dc:creator>Illán Linos Souto</dc:creator>
  <cp:lastModifiedBy>Illán Linos</cp:lastModifiedBy>
  <cp:revision>36</cp:revision>
  <dcterms:created xsi:type="dcterms:W3CDTF">2024-08-18T18:48:07Z</dcterms:created>
  <dcterms:modified xsi:type="dcterms:W3CDTF">2025-11-20T15:52:44Z</dcterms:modified>
</cp:coreProperties>
</file>