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custDataLst>
    <p:tags r:id="rId5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21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2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D661E-D2DE-42A7-984B-1B078B32D3BC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95CC9-B75B-4731-B74F-C62867143D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9051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95CC9-B75B-4731-B74F-C62867143D48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5898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95CC9-B75B-4731-B74F-C62867143D48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2482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803392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96724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calcular un aumento porcentual de un valor </a:t>
            </a:r>
            <a:r>
              <a:rPr lang="es-ES" sz="2000" b="1" dirty="0">
                <a:solidFill>
                  <a:srgbClr val="4E95D9"/>
                </a:solidFill>
              </a:rPr>
              <a:t>se multiplica dicho valor por el porcentaje y se le suma al valor inicial.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C12D57B-AB97-C154-7DF1-45AA14044AE8}"/>
              </a:ext>
            </a:extLst>
          </p:cNvPr>
          <p:cNvSpPr txBox="1"/>
          <p:nvPr/>
        </p:nvSpPr>
        <p:spPr>
          <a:xfrm>
            <a:off x="535084" y="1946137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b="1" u="none" strike="noStrike" baseline="0" dirty="0">
                <a:latin typeface="AGaramondPro-Italic"/>
              </a:rPr>
              <a:t>Un billete de avión a París costaba, el verano pasado, 460</a:t>
            </a:r>
            <a:r>
              <a:rPr lang="es-ES" sz="2000" b="1" dirty="0">
                <a:latin typeface="AGaramondPro-Italic"/>
              </a:rPr>
              <a:t>€</a:t>
            </a:r>
            <a:r>
              <a:rPr lang="es-ES" sz="2000" b="1" u="none" strike="noStrike" baseline="0" dirty="0">
                <a:latin typeface="AGaramondPro-Italic"/>
              </a:rPr>
              <a:t>, pero desde entonces ha subido un 20%. ¿Cuál es el precio actual del billete?</a:t>
            </a:r>
            <a:endParaRPr lang="es-E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22A0032F-3B92-ECAA-118B-CD260E949E0F}"/>
                  </a:ext>
                </a:extLst>
              </p:cNvPr>
              <p:cNvSpPr txBox="1"/>
              <p:nvPr/>
            </p:nvSpPr>
            <p:spPr>
              <a:xfrm>
                <a:off x="535084" y="3279983"/>
                <a:ext cx="5560916" cy="9783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𝑷𝑹𝑬𝑪𝑰𝑶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𝑽𝑰𝑬𝑱𝑶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𝟒𝟔𝟎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€</m:t>
                      </m:r>
                    </m:oMath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𝑨𝑼𝑴𝑬𝑵𝑻𝑶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% 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𝑫𝑬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𝟒𝟔𝟎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𝟒𝟔𝟎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𝟐𝟎</m:t>
                          </m:r>
                        </m:num>
                        <m:den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𝟗𝟐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€</m:t>
                      </m:r>
                    </m:oMath>
                  </m:oMathPara>
                </a14:m>
                <a:endParaRPr lang="es-ES" sz="2000" b="1" dirty="0">
                  <a:latin typeface="Cambia math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22A0032F-3B92-ECAA-118B-CD260E949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3279983"/>
                <a:ext cx="5560916" cy="9783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CuadroTexto 116">
                <a:extLst>
                  <a:ext uri="{FF2B5EF4-FFF2-40B4-BE49-F238E27FC236}">
                    <a16:creationId xmlns:a16="http://schemas.microsoft.com/office/drawing/2014/main" id="{BBC96AEC-C344-0B87-E2F9-844B412286DD}"/>
                  </a:ext>
                </a:extLst>
              </p:cNvPr>
              <p:cNvSpPr txBox="1"/>
              <p:nvPr/>
            </p:nvSpPr>
            <p:spPr>
              <a:xfrm>
                <a:off x="535084" y="4335886"/>
                <a:ext cx="4827491" cy="400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𝑷𝑹𝑬𝑪𝑰𝑶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𝑵𝑼𝑬𝑽𝑶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𝟒𝟔𝟎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€+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𝟗𝟐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€=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𝟓𝟓𝟐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€</m:t>
                      </m:r>
                    </m:oMath>
                  </m:oMathPara>
                </a14:m>
                <a:br>
                  <a:rPr lang="es-ES" sz="2000" b="1" dirty="0">
                    <a:solidFill>
                      <a:schemeClr val="accent5">
                        <a:lumMod val="75000"/>
                      </a:schemeClr>
                    </a:solidFill>
                    <a:latin typeface="Cambia math"/>
                  </a:rPr>
                </a:br>
                <a:endParaRPr lang="es-ES" sz="2000" b="1" dirty="0">
                  <a:solidFill>
                    <a:schemeClr val="accent5">
                      <a:lumMod val="75000"/>
                    </a:schemeClr>
                  </a:solidFill>
                  <a:latin typeface="Cambia math"/>
                </a:endParaRPr>
              </a:p>
            </p:txBody>
          </p:sp>
        </mc:Choice>
        <mc:Fallback xmlns="">
          <p:sp>
            <p:nvSpPr>
              <p:cNvPr id="117" name="CuadroTexto 116">
                <a:extLst>
                  <a:ext uri="{FF2B5EF4-FFF2-40B4-BE49-F238E27FC236}">
                    <a16:creationId xmlns:a16="http://schemas.microsoft.com/office/drawing/2014/main" id="{BBC96AEC-C344-0B87-E2F9-844B41228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4335886"/>
                <a:ext cx="4827491" cy="40017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8" name="Grupo 117">
            <a:extLst>
              <a:ext uri="{FF2B5EF4-FFF2-40B4-BE49-F238E27FC236}">
                <a16:creationId xmlns:a16="http://schemas.microsoft.com/office/drawing/2014/main" id="{6CC116D5-A8E3-8D3A-FFE3-75A627ED00BA}"/>
              </a:ext>
            </a:extLst>
          </p:cNvPr>
          <p:cNvGrpSpPr/>
          <p:nvPr/>
        </p:nvGrpSpPr>
        <p:grpSpPr>
          <a:xfrm>
            <a:off x="2082828" y="2747797"/>
            <a:ext cx="8026343" cy="461665"/>
            <a:chOff x="1126530" y="6310894"/>
            <a:chExt cx="8026343" cy="461665"/>
          </a:xfrm>
        </p:grpSpPr>
        <p:sp>
          <p:nvSpPr>
            <p:cNvPr id="119" name="CuadroTexto 118">
              <a:extLst>
                <a:ext uri="{FF2B5EF4-FFF2-40B4-BE49-F238E27FC236}">
                  <a16:creationId xmlns:a16="http://schemas.microsoft.com/office/drawing/2014/main" id="{3B5E6712-4521-C946-DAC2-722C2FED2235}"/>
                </a:ext>
              </a:extLst>
            </p:cNvPr>
            <p:cNvSpPr txBox="1"/>
            <p:nvPr/>
          </p:nvSpPr>
          <p:spPr>
            <a:xfrm>
              <a:off x="1126530" y="6310894"/>
              <a:ext cx="80263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PRECIO NUEVO = PRECIO VIEJO + AUMENTO</a:t>
              </a:r>
              <a:endParaRPr lang="es-ES" sz="2400" b="1" dirty="0"/>
            </a:p>
          </p:txBody>
        </p:sp>
        <p:sp>
          <p:nvSpPr>
            <p:cNvPr id="120" name="Rectángulo 119">
              <a:extLst>
                <a:ext uri="{FF2B5EF4-FFF2-40B4-BE49-F238E27FC236}">
                  <a16:creationId xmlns:a16="http://schemas.microsoft.com/office/drawing/2014/main" id="{A3268E8B-2796-070E-F5CE-88E37D5258B6}"/>
                </a:ext>
              </a:extLst>
            </p:cNvPr>
            <p:cNvSpPr/>
            <p:nvPr/>
          </p:nvSpPr>
          <p:spPr>
            <a:xfrm>
              <a:off x="1729752" y="6310894"/>
              <a:ext cx="6810375" cy="452482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</p:grpSp>
      <p:sp>
        <p:nvSpPr>
          <p:cNvPr id="121" name="CuadroTexto 120">
            <a:extLst>
              <a:ext uri="{FF2B5EF4-FFF2-40B4-BE49-F238E27FC236}">
                <a16:creationId xmlns:a16="http://schemas.microsoft.com/office/drawing/2014/main" id="{46A469D8-D07D-981E-D0E7-B138208FD83B}"/>
              </a:ext>
            </a:extLst>
          </p:cNvPr>
          <p:cNvSpPr txBox="1"/>
          <p:nvPr/>
        </p:nvSpPr>
        <p:spPr>
          <a:xfrm>
            <a:off x="3190763" y="4761164"/>
            <a:ext cx="5800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OTRA FORMA:</a:t>
            </a:r>
          </a:p>
        </p:txBody>
      </p:sp>
      <p:grpSp>
        <p:nvGrpSpPr>
          <p:cNvPr id="122" name="Grupo 121">
            <a:extLst>
              <a:ext uri="{FF2B5EF4-FFF2-40B4-BE49-F238E27FC236}">
                <a16:creationId xmlns:a16="http://schemas.microsoft.com/office/drawing/2014/main" id="{2C12EE7F-72E0-993A-772F-3797EF957C03}"/>
              </a:ext>
            </a:extLst>
          </p:cNvPr>
          <p:cNvGrpSpPr/>
          <p:nvPr/>
        </p:nvGrpSpPr>
        <p:grpSpPr>
          <a:xfrm>
            <a:off x="1865960" y="5292666"/>
            <a:ext cx="8450552" cy="523220"/>
            <a:chOff x="914424" y="10231124"/>
            <a:chExt cx="8450552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CuadroTexto 122">
                  <a:extLst>
                    <a:ext uri="{FF2B5EF4-FFF2-40B4-BE49-F238E27FC236}">
                      <a16:creationId xmlns:a16="http://schemas.microsoft.com/office/drawing/2014/main" id="{C3655371-5622-46C8-336C-4826F0F83E2C}"/>
                    </a:ext>
                  </a:extLst>
                </p:cNvPr>
                <p:cNvSpPr txBox="1"/>
                <p:nvPr/>
              </p:nvSpPr>
              <p:spPr>
                <a:xfrm>
                  <a:off x="914424" y="10261901"/>
                  <a:ext cx="845055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24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rPr>
                    <a:t>PRECIO NUEVO = PRECIO VIEJO</a:t>
                  </a:r>
                  <a14:m>
                    <m:oMath xmlns:m="http://schemas.openxmlformats.org/officeDocument/2006/math">
                      <m:r>
                        <a:rPr lang="es-ES" sz="2400" b="1" i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" sz="24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 </m:t>
                      </m:r>
                    </m:oMath>
                  </a14:m>
                  <a:r>
                    <a:rPr lang="es-ES" sz="24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rPr>
                    <a:t>(1 + AUMENTO)</a:t>
                  </a:r>
                  <a:endParaRPr lang="es-ES" sz="2400" b="1" dirty="0"/>
                </a:p>
              </p:txBody>
            </p:sp>
          </mc:Choice>
          <mc:Fallback xmlns="">
            <p:sp>
              <p:nvSpPr>
                <p:cNvPr id="123" name="CuadroTexto 122">
                  <a:extLst>
                    <a:ext uri="{FF2B5EF4-FFF2-40B4-BE49-F238E27FC236}">
                      <a16:creationId xmlns:a16="http://schemas.microsoft.com/office/drawing/2014/main" id="{C3655371-5622-46C8-336C-4826F0F83E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24" y="10261901"/>
                  <a:ext cx="8450552" cy="461665"/>
                </a:xfrm>
                <a:prstGeom prst="rect">
                  <a:avLst/>
                </a:prstGeom>
                <a:blipFill>
                  <a:blip r:embed="rId8"/>
                  <a:stretch>
                    <a:fillRect t="-10526" b="-28947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4" name="Rectángulo 123">
              <a:extLst>
                <a:ext uri="{FF2B5EF4-FFF2-40B4-BE49-F238E27FC236}">
                  <a16:creationId xmlns:a16="http://schemas.microsoft.com/office/drawing/2014/main" id="{F2AA0B28-9B3A-D93F-BE45-5D26638C94C9}"/>
                </a:ext>
              </a:extLst>
            </p:cNvPr>
            <p:cNvSpPr/>
            <p:nvPr/>
          </p:nvSpPr>
          <p:spPr>
            <a:xfrm>
              <a:off x="1560957" y="10231124"/>
              <a:ext cx="7157487" cy="523220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CuadroTexto 124">
                <a:extLst>
                  <a:ext uri="{FF2B5EF4-FFF2-40B4-BE49-F238E27FC236}">
                    <a16:creationId xmlns:a16="http://schemas.microsoft.com/office/drawing/2014/main" id="{15F7E825-5646-CC06-2CC6-5E280D9466E1}"/>
                  </a:ext>
                </a:extLst>
              </p:cNvPr>
              <p:cNvSpPr txBox="1"/>
              <p:nvPr/>
            </p:nvSpPr>
            <p:spPr>
              <a:xfrm>
                <a:off x="535084" y="5952445"/>
                <a:ext cx="5189894" cy="6706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𝑷𝑹𝑬𝑪𝑰𝑶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𝑵𝑼𝑬𝑽𝑶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𝟒𝟔𝟎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ES" sz="20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𝟐𝟎</m:t>
                          </m:r>
                        </m:num>
                        <m:den>
                          <m:r>
                            <a:rPr lang="es-ES" sz="20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𝟓𝟓𝟐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€</m:t>
                      </m:r>
                    </m:oMath>
                  </m:oMathPara>
                </a14:m>
                <a:br>
                  <a:rPr lang="es-ES" sz="2000" b="1" dirty="0">
                    <a:solidFill>
                      <a:schemeClr val="accent5">
                        <a:lumMod val="75000"/>
                      </a:schemeClr>
                    </a:solidFill>
                    <a:latin typeface="Cambia math"/>
                  </a:rPr>
                </a:br>
                <a:endParaRPr lang="es-ES" sz="2000" b="1" dirty="0">
                  <a:solidFill>
                    <a:schemeClr val="accent5">
                      <a:lumMod val="75000"/>
                    </a:schemeClr>
                  </a:solidFill>
                  <a:latin typeface="Cambia math"/>
                </a:endParaRPr>
              </a:p>
            </p:txBody>
          </p:sp>
        </mc:Choice>
        <mc:Fallback xmlns="">
          <p:sp>
            <p:nvSpPr>
              <p:cNvPr id="125" name="CuadroTexto 124">
                <a:extLst>
                  <a:ext uri="{FF2B5EF4-FFF2-40B4-BE49-F238E27FC236}">
                    <a16:creationId xmlns:a16="http://schemas.microsoft.com/office/drawing/2014/main" id="{15F7E825-5646-CC06-2CC6-5E280D946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5952445"/>
                <a:ext cx="5189894" cy="67063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ángulo 8">
            <a:extLst>
              <a:ext uri="{FF2B5EF4-FFF2-40B4-BE49-F238E27FC236}">
                <a16:creationId xmlns:a16="http://schemas.microsoft.com/office/drawing/2014/main" id="{15CBE15B-8562-D720-A75B-B4FD880D05DE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B476F08-2C77-8D3D-7703-670F0396D2FE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Fracciones Y Decimales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7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" grpId="0"/>
      <p:bldP spid="5" grpId="0"/>
      <p:bldP spid="117" grpId="0"/>
      <p:bldP spid="121" grpId="0"/>
      <p:bldP spid="12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803392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96724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calcular una disminución porcentual de un valor </a:t>
            </a:r>
            <a:r>
              <a:rPr lang="es-ES" sz="2000" b="1" dirty="0">
                <a:solidFill>
                  <a:srgbClr val="4E95D9"/>
                </a:solidFill>
              </a:rPr>
              <a:t>se multiplica dicho valor por el porcentaje y se le resta al valor inicial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C12D57B-AB97-C154-7DF1-45AA14044AE8}"/>
              </a:ext>
            </a:extLst>
          </p:cNvPr>
          <p:cNvSpPr txBox="1"/>
          <p:nvPr/>
        </p:nvSpPr>
        <p:spPr>
          <a:xfrm>
            <a:off x="535084" y="1946137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b="1" dirty="0"/>
              <a:t>Una tienda de electrodomésticos saca en oferta, con una rebaja del 15%, un televisor que antes costaba 900 €. ¿Cuánto cuesta, ahora, el televisor?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22A0032F-3B92-ECAA-118B-CD260E949E0F}"/>
                  </a:ext>
                </a:extLst>
              </p:cNvPr>
              <p:cNvSpPr txBox="1"/>
              <p:nvPr/>
            </p:nvSpPr>
            <p:spPr>
              <a:xfrm>
                <a:off x="530320" y="3291545"/>
                <a:ext cx="5377421" cy="10048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𝑷𝑹𝑬𝑪𝑰𝑶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𝑽𝑰𝑬𝑱𝑶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𝟗𝟎𝟎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€</m:t>
                      </m:r>
                    </m:oMath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𝑹𝑬𝑩𝑨𝑱𝑨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% 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𝑫𝑬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𝟗𝟎𝟎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𝟗𝟎𝟎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𝟏𝟓</m:t>
                          </m:r>
                        </m:num>
                        <m:den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𝟏𝟑𝟓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€</m:t>
                      </m:r>
                    </m:oMath>
                  </m:oMathPara>
                </a14:m>
                <a:endParaRPr lang="es-ES" sz="2000" b="1" dirty="0">
                  <a:latin typeface="Cambia math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22A0032F-3B92-ECAA-118B-CD260E949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20" y="3291545"/>
                <a:ext cx="5377421" cy="10048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CuadroTexto 116">
                <a:extLst>
                  <a:ext uri="{FF2B5EF4-FFF2-40B4-BE49-F238E27FC236}">
                    <a16:creationId xmlns:a16="http://schemas.microsoft.com/office/drawing/2014/main" id="{BBC96AEC-C344-0B87-E2F9-844B412286DD}"/>
                  </a:ext>
                </a:extLst>
              </p:cNvPr>
              <p:cNvSpPr txBox="1"/>
              <p:nvPr/>
            </p:nvSpPr>
            <p:spPr>
              <a:xfrm>
                <a:off x="535084" y="4335886"/>
                <a:ext cx="4960281" cy="400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𝑷𝑹𝑬𝑪𝑰𝑶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𝑵𝑼𝑬𝑽𝑶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𝟗𝟎𝟎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€−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𝟏𝟑𝟓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€=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𝟕𝟔𝟓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€</m:t>
                      </m:r>
                    </m:oMath>
                  </m:oMathPara>
                </a14:m>
                <a:br>
                  <a:rPr lang="es-ES" sz="2000" b="1" dirty="0">
                    <a:solidFill>
                      <a:schemeClr val="accent5">
                        <a:lumMod val="75000"/>
                      </a:schemeClr>
                    </a:solidFill>
                    <a:latin typeface="Cambia math"/>
                  </a:rPr>
                </a:br>
                <a:endParaRPr lang="es-ES" sz="2000" b="1" dirty="0">
                  <a:solidFill>
                    <a:schemeClr val="accent5">
                      <a:lumMod val="75000"/>
                    </a:schemeClr>
                  </a:solidFill>
                  <a:latin typeface="Cambia math"/>
                </a:endParaRPr>
              </a:p>
            </p:txBody>
          </p:sp>
        </mc:Choice>
        <mc:Fallback xmlns="">
          <p:sp>
            <p:nvSpPr>
              <p:cNvPr id="117" name="CuadroTexto 116">
                <a:extLst>
                  <a:ext uri="{FF2B5EF4-FFF2-40B4-BE49-F238E27FC236}">
                    <a16:creationId xmlns:a16="http://schemas.microsoft.com/office/drawing/2014/main" id="{BBC96AEC-C344-0B87-E2F9-844B41228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4335886"/>
                <a:ext cx="4960281" cy="40017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8" name="Grupo 117">
            <a:extLst>
              <a:ext uri="{FF2B5EF4-FFF2-40B4-BE49-F238E27FC236}">
                <a16:creationId xmlns:a16="http://schemas.microsoft.com/office/drawing/2014/main" id="{6CC116D5-A8E3-8D3A-FFE3-75A627ED00BA}"/>
              </a:ext>
            </a:extLst>
          </p:cNvPr>
          <p:cNvGrpSpPr/>
          <p:nvPr/>
        </p:nvGrpSpPr>
        <p:grpSpPr>
          <a:xfrm>
            <a:off x="2082828" y="2747797"/>
            <a:ext cx="8026343" cy="461665"/>
            <a:chOff x="1126530" y="6310894"/>
            <a:chExt cx="8026343" cy="461665"/>
          </a:xfrm>
        </p:grpSpPr>
        <p:sp>
          <p:nvSpPr>
            <p:cNvPr id="119" name="CuadroTexto 118">
              <a:extLst>
                <a:ext uri="{FF2B5EF4-FFF2-40B4-BE49-F238E27FC236}">
                  <a16:creationId xmlns:a16="http://schemas.microsoft.com/office/drawing/2014/main" id="{3B5E6712-4521-C946-DAC2-722C2FED2235}"/>
                </a:ext>
              </a:extLst>
            </p:cNvPr>
            <p:cNvSpPr txBox="1"/>
            <p:nvPr/>
          </p:nvSpPr>
          <p:spPr>
            <a:xfrm>
              <a:off x="1126530" y="6310894"/>
              <a:ext cx="80263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PRECIO NUEVO = PRECIO VIEJO - REBAJA</a:t>
              </a:r>
              <a:endParaRPr lang="es-ES" sz="2400" b="1" dirty="0"/>
            </a:p>
          </p:txBody>
        </p:sp>
        <p:sp>
          <p:nvSpPr>
            <p:cNvPr id="120" name="Rectángulo 119">
              <a:extLst>
                <a:ext uri="{FF2B5EF4-FFF2-40B4-BE49-F238E27FC236}">
                  <a16:creationId xmlns:a16="http://schemas.microsoft.com/office/drawing/2014/main" id="{A3268E8B-2796-070E-F5CE-88E37D5258B6}"/>
                </a:ext>
              </a:extLst>
            </p:cNvPr>
            <p:cNvSpPr/>
            <p:nvPr/>
          </p:nvSpPr>
          <p:spPr>
            <a:xfrm>
              <a:off x="1729752" y="6310894"/>
              <a:ext cx="6810375" cy="452482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</p:grpSp>
      <p:sp>
        <p:nvSpPr>
          <p:cNvPr id="121" name="CuadroTexto 120">
            <a:extLst>
              <a:ext uri="{FF2B5EF4-FFF2-40B4-BE49-F238E27FC236}">
                <a16:creationId xmlns:a16="http://schemas.microsoft.com/office/drawing/2014/main" id="{46A469D8-D07D-981E-D0E7-B138208FD83B}"/>
              </a:ext>
            </a:extLst>
          </p:cNvPr>
          <p:cNvSpPr txBox="1"/>
          <p:nvPr/>
        </p:nvSpPr>
        <p:spPr>
          <a:xfrm>
            <a:off x="3190763" y="4761164"/>
            <a:ext cx="5800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OTRA FORMA:</a:t>
            </a:r>
          </a:p>
        </p:txBody>
      </p:sp>
      <p:grpSp>
        <p:nvGrpSpPr>
          <p:cNvPr id="122" name="Grupo 121">
            <a:extLst>
              <a:ext uri="{FF2B5EF4-FFF2-40B4-BE49-F238E27FC236}">
                <a16:creationId xmlns:a16="http://schemas.microsoft.com/office/drawing/2014/main" id="{2C12EE7F-72E0-993A-772F-3797EF957C03}"/>
              </a:ext>
            </a:extLst>
          </p:cNvPr>
          <p:cNvGrpSpPr/>
          <p:nvPr/>
        </p:nvGrpSpPr>
        <p:grpSpPr>
          <a:xfrm>
            <a:off x="1865960" y="5292666"/>
            <a:ext cx="8450552" cy="523220"/>
            <a:chOff x="914424" y="10231124"/>
            <a:chExt cx="8450552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CuadroTexto 122">
                  <a:extLst>
                    <a:ext uri="{FF2B5EF4-FFF2-40B4-BE49-F238E27FC236}">
                      <a16:creationId xmlns:a16="http://schemas.microsoft.com/office/drawing/2014/main" id="{C3655371-5622-46C8-336C-4826F0F83E2C}"/>
                    </a:ext>
                  </a:extLst>
                </p:cNvPr>
                <p:cNvSpPr txBox="1"/>
                <p:nvPr/>
              </p:nvSpPr>
              <p:spPr>
                <a:xfrm>
                  <a:off x="914424" y="10261901"/>
                  <a:ext cx="845055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24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rPr>
                    <a:t>PRECIO NUEVO = PRECIO VIEJO</a:t>
                  </a:r>
                  <a14:m>
                    <m:oMath xmlns:m="http://schemas.openxmlformats.org/officeDocument/2006/math">
                      <m:r>
                        <a:rPr lang="es-ES" sz="2400" b="1" i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" sz="24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 </m:t>
                      </m:r>
                    </m:oMath>
                  </a14:m>
                  <a:r>
                    <a:rPr lang="es-ES" sz="24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rPr>
                    <a:t>(1 - REBAJA)</a:t>
                  </a:r>
                  <a:endParaRPr lang="es-ES" sz="2400" b="1" dirty="0"/>
                </a:p>
              </p:txBody>
            </p:sp>
          </mc:Choice>
          <mc:Fallback xmlns="">
            <p:sp>
              <p:nvSpPr>
                <p:cNvPr id="123" name="CuadroTexto 122">
                  <a:extLst>
                    <a:ext uri="{FF2B5EF4-FFF2-40B4-BE49-F238E27FC236}">
                      <a16:creationId xmlns:a16="http://schemas.microsoft.com/office/drawing/2014/main" id="{C3655371-5622-46C8-336C-4826F0F83E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24" y="10261901"/>
                  <a:ext cx="8450552" cy="461665"/>
                </a:xfrm>
                <a:prstGeom prst="rect">
                  <a:avLst/>
                </a:prstGeom>
                <a:blipFill>
                  <a:blip r:embed="rId8"/>
                  <a:stretch>
                    <a:fillRect t="-10526" b="-28947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4" name="Rectángulo 123">
              <a:extLst>
                <a:ext uri="{FF2B5EF4-FFF2-40B4-BE49-F238E27FC236}">
                  <a16:creationId xmlns:a16="http://schemas.microsoft.com/office/drawing/2014/main" id="{F2AA0B28-9B3A-D93F-BE45-5D26638C94C9}"/>
                </a:ext>
              </a:extLst>
            </p:cNvPr>
            <p:cNvSpPr/>
            <p:nvPr/>
          </p:nvSpPr>
          <p:spPr>
            <a:xfrm>
              <a:off x="1560957" y="10231124"/>
              <a:ext cx="7157487" cy="523220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CuadroTexto 124">
                <a:extLst>
                  <a:ext uri="{FF2B5EF4-FFF2-40B4-BE49-F238E27FC236}">
                    <a16:creationId xmlns:a16="http://schemas.microsoft.com/office/drawing/2014/main" id="{15F7E825-5646-CC06-2CC6-5E280D9466E1}"/>
                  </a:ext>
                </a:extLst>
              </p:cNvPr>
              <p:cNvSpPr txBox="1"/>
              <p:nvPr/>
            </p:nvSpPr>
            <p:spPr>
              <a:xfrm>
                <a:off x="535084" y="5952445"/>
                <a:ext cx="5189894" cy="697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𝑷𝑹𝑬𝑪𝑰𝑶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𝑵𝑼𝑬𝑽𝑶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𝟗𝟎𝟎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ES" sz="20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𝟏𝟓</m:t>
                          </m:r>
                        </m:num>
                        <m:den>
                          <m:r>
                            <a:rPr lang="es-ES" sz="20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𝟕𝟔𝟓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€</m:t>
                      </m:r>
                    </m:oMath>
                  </m:oMathPara>
                </a14:m>
                <a:br>
                  <a:rPr lang="es-ES" sz="2000" b="1" dirty="0">
                    <a:solidFill>
                      <a:schemeClr val="accent5">
                        <a:lumMod val="75000"/>
                      </a:schemeClr>
                    </a:solidFill>
                    <a:latin typeface="Cambia math"/>
                  </a:rPr>
                </a:br>
                <a:endParaRPr lang="es-ES" sz="2000" b="1" dirty="0">
                  <a:solidFill>
                    <a:schemeClr val="accent5">
                      <a:lumMod val="75000"/>
                    </a:schemeClr>
                  </a:solidFill>
                  <a:latin typeface="Cambia math"/>
                </a:endParaRPr>
              </a:p>
            </p:txBody>
          </p:sp>
        </mc:Choice>
        <mc:Fallback xmlns="">
          <p:sp>
            <p:nvSpPr>
              <p:cNvPr id="125" name="CuadroTexto 124">
                <a:extLst>
                  <a:ext uri="{FF2B5EF4-FFF2-40B4-BE49-F238E27FC236}">
                    <a16:creationId xmlns:a16="http://schemas.microsoft.com/office/drawing/2014/main" id="{15F7E825-5646-CC06-2CC6-5E280D946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5952445"/>
                <a:ext cx="5189894" cy="69717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ángulo 8">
            <a:extLst>
              <a:ext uri="{FF2B5EF4-FFF2-40B4-BE49-F238E27FC236}">
                <a16:creationId xmlns:a16="http://schemas.microsoft.com/office/drawing/2014/main" id="{61425976-5F02-89F3-B7DA-F155EF119127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DF037DD-F5C5-C231-A360-A3E04F84F2BF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Fracciones Y Decimales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4824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875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" grpId="0"/>
      <p:bldP spid="5" grpId="0"/>
      <p:bldP spid="117" grpId="0"/>
      <p:bldP spid="121" grpId="0"/>
      <p:bldP spid="12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EE864317-5388-419A-8368-205E69369A02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ULTRA_SCORM_COURCE_TITLE" val="8. Aumentos y disminuciones porcentuales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3 ESO\\1. Fracciones y decimales&quot;]]"/>
  <p:tag name="ISPRING_SCORM_RATE_QUIZZES" val="0"/>
  <p:tag name="ISPRING_PRESENTATION_TITLE" val="8. Aumentos y disminuciones porcentuale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B1D7004-C496-4467-84CD-670F58D6B7F0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F2D13BC-D34E-420C-88B6-1FA0692A2C74}:258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255</Words>
  <Application>Microsoft Office PowerPoint</Application>
  <PresentationFormat>Panorámica</PresentationFormat>
  <Paragraphs>20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0" baseType="lpstr">
      <vt:lpstr>AGaramondPro-Italic</vt:lpstr>
      <vt:lpstr>Aptos</vt:lpstr>
      <vt:lpstr>Arial</vt:lpstr>
      <vt:lpstr>Cambia math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8. Aumentos y disminuciones porcentuales</dc:title>
  <dc:creator>Illán Linos Souto</dc:creator>
  <cp:lastModifiedBy>Illán Linos</cp:lastModifiedBy>
  <cp:revision>55</cp:revision>
  <dcterms:created xsi:type="dcterms:W3CDTF">2024-08-18T18:48:07Z</dcterms:created>
  <dcterms:modified xsi:type="dcterms:W3CDTF">2025-11-20T15:58:15Z</dcterms:modified>
</cp:coreProperties>
</file>