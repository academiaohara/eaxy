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E541E3-E54F-4B68-B511-DE8CF0730A47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65EDC-3F79-4A1B-B59F-F56EA748F25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6640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65EDC-3F79-4A1B-B59F-F56EA748F257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6427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65EDC-3F79-4A1B-B59F-F56EA748F257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7693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65EDC-3F79-4A1B-B59F-F56EA748F257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939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65EDC-3F79-4A1B-B59F-F56EA748F257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938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microsoft.com/office/2017/06/relationships/model3d" Target="../media/model3d2.glb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microsoft.com/office/2017/06/relationships/model3d" Target="../media/model3d4.glb"/><Relationship Id="rId5" Type="http://schemas.openxmlformats.org/officeDocument/2006/relationships/image" Target="../media/image9.png"/><Relationship Id="rId4" Type="http://schemas.microsoft.com/office/2017/06/relationships/model3d" Target="../media/model3d3.glb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15: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Probabilidad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78430" y="2488483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PROBABILIDAD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90897199"/>
                  </p:ext>
                </p:extLst>
              </p:nvPr>
            </p:nvGraphicFramePr>
            <p:xfrm>
              <a:off x="432152" y="2501782"/>
              <a:ext cx="463450" cy="616130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2152" y="2501782"/>
                <a:ext cx="463450" cy="61613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1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" dur="1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1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1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5" grpId="0"/>
      <p:bldP spid="12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Probabilidad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30AB7010-CA22-9CE2-1155-D5B81617F324}"/>
              </a:ext>
            </a:extLst>
          </p:cNvPr>
          <p:cNvSpPr/>
          <p:nvPr/>
        </p:nvSpPr>
        <p:spPr>
          <a:xfrm>
            <a:off x="535084" y="971436"/>
            <a:ext cx="11121832" cy="70788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0A6F1C84-39BA-BF9B-680F-2ADEFB27209B}"/>
              </a:ext>
            </a:extLst>
          </p:cNvPr>
          <p:cNvSpPr txBox="1"/>
          <p:nvPr/>
        </p:nvSpPr>
        <p:spPr>
          <a:xfrm>
            <a:off x="535084" y="97143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experimento determinista es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aquel experimento que una vez estudiado podemos predecir</a:t>
            </a:r>
            <a:r>
              <a:rPr lang="es-ES" sz="2000" b="1" dirty="0"/>
              <a:t>, es decir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, saber lo que sucederá antes de que ocurra.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!Marco 10">
            <a:extLst>
              <a:ext uri="{FF2B5EF4-FFF2-40B4-BE49-F238E27FC236}">
                <a16:creationId xmlns:a16="http://schemas.microsoft.com/office/drawing/2014/main" id="{51C20967-D731-D902-38A2-A4DA84C58184}"/>
              </a:ext>
            </a:extLst>
          </p:cNvPr>
          <p:cNvSpPr/>
          <p:nvPr/>
        </p:nvSpPr>
        <p:spPr>
          <a:xfrm>
            <a:off x="535084" y="1813247"/>
            <a:ext cx="11121832" cy="101566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!CuadroTexto 1">
            <a:extLst>
              <a:ext uri="{FF2B5EF4-FFF2-40B4-BE49-F238E27FC236}">
                <a16:creationId xmlns:a16="http://schemas.microsoft.com/office/drawing/2014/main" id="{4FF9716F-956F-5617-3670-AB17742B1265}"/>
              </a:ext>
            </a:extLst>
          </p:cNvPr>
          <p:cNvSpPr txBox="1"/>
          <p:nvPr/>
        </p:nvSpPr>
        <p:spPr>
          <a:xfrm>
            <a:off x="535084" y="1813247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experimento aleatorio es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aquel cuyo resultado no se puede predecir</a:t>
            </a:r>
            <a:r>
              <a:rPr lang="es-ES" sz="2000" b="1" dirty="0"/>
              <a:t>, es decir, por muchas veces que repitamos el experimento en igualdad de condiciones,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 se conoce el resultado</a:t>
            </a:r>
            <a:r>
              <a:rPr lang="es-ES" sz="2000" b="1" dirty="0"/>
              <a:t>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!Marco 10">
            <a:extLst>
              <a:ext uri="{FF2B5EF4-FFF2-40B4-BE49-F238E27FC236}">
                <a16:creationId xmlns:a16="http://schemas.microsoft.com/office/drawing/2014/main" id="{CB4A49BE-9DBA-B4C5-FB1B-16A261BF9745}"/>
              </a:ext>
            </a:extLst>
          </p:cNvPr>
          <p:cNvSpPr/>
          <p:nvPr/>
        </p:nvSpPr>
        <p:spPr>
          <a:xfrm>
            <a:off x="535084" y="2962834"/>
            <a:ext cx="11121832" cy="70788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!CuadroTexto 1">
            <a:extLst>
              <a:ext uri="{FF2B5EF4-FFF2-40B4-BE49-F238E27FC236}">
                <a16:creationId xmlns:a16="http://schemas.microsoft.com/office/drawing/2014/main" id="{99B4E023-62EF-C819-E347-7DE3C94C9BC6}"/>
              </a:ext>
            </a:extLst>
          </p:cNvPr>
          <p:cNvSpPr txBox="1"/>
          <p:nvPr/>
        </p:nvSpPr>
        <p:spPr>
          <a:xfrm>
            <a:off x="535084" y="296283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espacio muestral es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conjunto formado por todos los resultados posibles de un experimento aleatorio</a:t>
            </a:r>
            <a:r>
              <a:rPr lang="es-ES" sz="2000" b="1" dirty="0"/>
              <a:t>. Se representa por E.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Modelo 3D 22" descr="Dado de seis caras de 16 mm">
                <a:extLst>
                  <a:ext uri="{FF2B5EF4-FFF2-40B4-BE49-F238E27FC236}">
                    <a16:creationId xmlns:a16="http://schemas.microsoft.com/office/drawing/2014/main" id="{9EEF0D06-660C-F713-E07F-1CD75D3312B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82349118"/>
                  </p:ext>
                </p:extLst>
              </p:nvPr>
            </p:nvGraphicFramePr>
            <p:xfrm>
              <a:off x="3024866" y="4046007"/>
              <a:ext cx="744232" cy="744232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744232" cy="744232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65663" d="1000000"/>
                    <am3d:preTrans dx="-34" dy="-17999946" dz="55"/>
                    <am3d:scale>
                      <am3d:sx n="1000000" d="1000000"/>
                      <am3d:sy n="1000000" d="1000000"/>
                      <am3d:sz n="1000000" d="1000000"/>
                    </am3d:scale>
                    <am3d:rot ay="540000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08698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Modelo 3D 22" descr="Dado de seis caras de 16 mm">
                <a:extLst>
                  <a:ext uri="{FF2B5EF4-FFF2-40B4-BE49-F238E27FC236}">
                    <a16:creationId xmlns:a16="http://schemas.microsoft.com/office/drawing/2014/main" id="{9EEF0D06-660C-F713-E07F-1CD75D3312B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24866" y="4046007"/>
                <a:ext cx="744232" cy="744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4" name="Modelo 3D 23" descr="Dado de seis caras de 16 mm">
                <a:extLst>
                  <a:ext uri="{FF2B5EF4-FFF2-40B4-BE49-F238E27FC236}">
                    <a16:creationId xmlns:a16="http://schemas.microsoft.com/office/drawing/2014/main" id="{D488BB1F-5773-7DDB-34BC-250A1D6FF10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33537658"/>
                  </p:ext>
                </p:extLst>
              </p:nvPr>
            </p:nvGraphicFramePr>
            <p:xfrm>
              <a:off x="4086382" y="4046008"/>
              <a:ext cx="744234" cy="744232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744234" cy="744232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65663" d="1000000"/>
                    <am3d:preTrans dx="-34" dy="-17999946" dz="55"/>
                    <am3d:scale>
                      <am3d:sx n="1000000" d="1000000"/>
                      <am3d:sy n="1000000" d="1000000"/>
                      <am3d:sz n="1000000" d="1000000"/>
                    </am3d:scale>
                    <am3d:rot ay="1080000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108698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4" name="Modelo 3D 23" descr="Dado de seis caras de 16 mm">
                <a:extLst>
                  <a:ext uri="{FF2B5EF4-FFF2-40B4-BE49-F238E27FC236}">
                    <a16:creationId xmlns:a16="http://schemas.microsoft.com/office/drawing/2014/main" id="{D488BB1F-5773-7DDB-34BC-250A1D6FF1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86382" y="4046008"/>
                <a:ext cx="744234" cy="744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Modelo 3D 24" descr="Dado de seis caras de 16 mm">
                <a:extLst>
                  <a:ext uri="{FF2B5EF4-FFF2-40B4-BE49-F238E27FC236}">
                    <a16:creationId xmlns:a16="http://schemas.microsoft.com/office/drawing/2014/main" id="{DA7A81ED-F98B-19E5-9FA8-8C71D1480A9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30457593"/>
                  </p:ext>
                </p:extLst>
              </p:nvPr>
            </p:nvGraphicFramePr>
            <p:xfrm>
              <a:off x="5147900" y="4046007"/>
              <a:ext cx="744234" cy="744232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744234" cy="744232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65663" d="1000000"/>
                    <am3d:preTrans dx="-34" dy="-17999946" dz="55"/>
                    <am3d:scale>
                      <am3d:sx n="1000000" d="1000000"/>
                      <am3d:sy n="1000000" d="1000000"/>
                      <am3d:sz n="1000000" d="1000000"/>
                    </am3d:scale>
                    <am3d:rot ax="1620000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10869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Modelo 3D 24" descr="Dado de seis caras de 16 mm">
                <a:extLst>
                  <a:ext uri="{FF2B5EF4-FFF2-40B4-BE49-F238E27FC236}">
                    <a16:creationId xmlns:a16="http://schemas.microsoft.com/office/drawing/2014/main" id="{DA7A81ED-F98B-19E5-9FA8-8C71D1480A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47900" y="4046007"/>
                <a:ext cx="744234" cy="744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6" name="Modelo 3D 25" descr="Dado de seis caras de 16 mm">
                <a:extLst>
                  <a:ext uri="{FF2B5EF4-FFF2-40B4-BE49-F238E27FC236}">
                    <a16:creationId xmlns:a16="http://schemas.microsoft.com/office/drawing/2014/main" id="{65916301-6B38-AAE4-10E7-2DE6702D2ED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60592197"/>
                  </p:ext>
                </p:extLst>
              </p:nvPr>
            </p:nvGraphicFramePr>
            <p:xfrm>
              <a:off x="6209418" y="4046008"/>
              <a:ext cx="744234" cy="744232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744234" cy="744232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65663" d="1000000"/>
                    <am3d:preTrans dx="-34" dy="-17999946" dz="55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0869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6" name="Modelo 3D 25" descr="Dado de seis caras de 16 mm">
                <a:extLst>
                  <a:ext uri="{FF2B5EF4-FFF2-40B4-BE49-F238E27FC236}">
                    <a16:creationId xmlns:a16="http://schemas.microsoft.com/office/drawing/2014/main" id="{65916301-6B38-AAE4-10E7-2DE6702D2ED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09418" y="4046008"/>
                <a:ext cx="744234" cy="744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7" name="Modelo 3D 26" descr="Dado de seis caras de 16 mm">
                <a:extLst>
                  <a:ext uri="{FF2B5EF4-FFF2-40B4-BE49-F238E27FC236}">
                    <a16:creationId xmlns:a16="http://schemas.microsoft.com/office/drawing/2014/main" id="{390FB7F2-1EF6-D5EA-0F94-5063176FF96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56874096"/>
                  </p:ext>
                </p:extLst>
              </p:nvPr>
            </p:nvGraphicFramePr>
            <p:xfrm>
              <a:off x="8332518" y="4046007"/>
              <a:ext cx="744230" cy="744232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744230" cy="744232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65663" d="1000000"/>
                    <am3d:preTrans dx="-34" dy="-17999946" dz="55"/>
                    <am3d:scale>
                      <am3d:sx n="1000000" d="1000000"/>
                      <am3d:sy n="1000000" d="1000000"/>
                      <am3d:sz n="1000000" d="1000000"/>
                    </am3d:scale>
                    <am3d:rot ay="16200000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108698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7" name="Modelo 3D 26" descr="Dado de seis caras de 16 mm">
                <a:extLst>
                  <a:ext uri="{FF2B5EF4-FFF2-40B4-BE49-F238E27FC236}">
                    <a16:creationId xmlns:a16="http://schemas.microsoft.com/office/drawing/2014/main" id="{390FB7F2-1EF6-D5EA-0F94-5063176FF96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32518" y="4046007"/>
                <a:ext cx="744230" cy="744232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upo 27">
            <a:extLst>
              <a:ext uri="{FF2B5EF4-FFF2-40B4-BE49-F238E27FC236}">
                <a16:creationId xmlns:a16="http://schemas.microsoft.com/office/drawing/2014/main" id="{E5B6B52B-6433-59BE-E66D-E49BD609DE7B}"/>
              </a:ext>
            </a:extLst>
          </p:cNvPr>
          <p:cNvGrpSpPr/>
          <p:nvPr/>
        </p:nvGrpSpPr>
        <p:grpSpPr>
          <a:xfrm>
            <a:off x="1470817" y="3830015"/>
            <a:ext cx="7906428" cy="1159250"/>
            <a:chOff x="832642" y="7534005"/>
            <a:chExt cx="7906428" cy="1159250"/>
          </a:xfrm>
        </p:grpSpPr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138A58CF-7377-AE42-77E1-86486E0E84DE}"/>
                </a:ext>
              </a:extLst>
            </p:cNvPr>
            <p:cNvSpPr txBox="1"/>
            <p:nvPr/>
          </p:nvSpPr>
          <p:spPr>
            <a:xfrm>
              <a:off x="832642" y="7749998"/>
              <a:ext cx="1362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E =</a:t>
              </a:r>
            </a:p>
          </p:txBody>
        </p:sp>
        <p:sp>
          <p:nvSpPr>
            <p:cNvPr id="30" name="Abrir llave 29">
              <a:extLst>
                <a:ext uri="{FF2B5EF4-FFF2-40B4-BE49-F238E27FC236}">
                  <a16:creationId xmlns:a16="http://schemas.microsoft.com/office/drawing/2014/main" id="{72C03C31-651E-922A-ACD8-AD64066ABC64}"/>
                </a:ext>
              </a:extLst>
            </p:cNvPr>
            <p:cNvSpPr/>
            <p:nvPr/>
          </p:nvSpPr>
          <p:spPr>
            <a:xfrm>
              <a:off x="2086132" y="7534005"/>
              <a:ext cx="121442" cy="1159250"/>
            </a:xfrm>
            <a:prstGeom prst="leftBrace">
              <a:avLst>
                <a:gd name="adj1" fmla="val 167312"/>
                <a:gd name="adj2" fmla="val 50000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sz="1600" dirty="0"/>
            </a:p>
          </p:txBody>
        </p:sp>
        <p:sp>
          <p:nvSpPr>
            <p:cNvPr id="31" name="Abrir llave 30">
              <a:extLst>
                <a:ext uri="{FF2B5EF4-FFF2-40B4-BE49-F238E27FC236}">
                  <a16:creationId xmlns:a16="http://schemas.microsoft.com/office/drawing/2014/main" id="{A73DD5D6-1EDB-FA91-CA4B-76E6E5F44A8E}"/>
                </a:ext>
              </a:extLst>
            </p:cNvPr>
            <p:cNvSpPr/>
            <p:nvPr/>
          </p:nvSpPr>
          <p:spPr>
            <a:xfrm flipH="1">
              <a:off x="8617628" y="7534005"/>
              <a:ext cx="121442" cy="1159250"/>
            </a:xfrm>
            <a:prstGeom prst="leftBrace">
              <a:avLst>
                <a:gd name="adj1" fmla="val 167312"/>
                <a:gd name="adj2" fmla="val 50000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029CC1D7-A79F-7029-5F2D-1E10947E34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0936" y="4076050"/>
            <a:ext cx="744296" cy="7442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9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4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9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4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900"/>
                            </p:stCondLst>
                            <p:childTnLst>
                              <p:par>
                                <p:cTn id="5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400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9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7" grpId="0" animBg="1"/>
      <p:bldP spid="18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Probabilidad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30AB7010-CA22-9CE2-1155-D5B81617F324}"/>
              </a:ext>
            </a:extLst>
          </p:cNvPr>
          <p:cNvSpPr/>
          <p:nvPr/>
        </p:nvSpPr>
        <p:spPr>
          <a:xfrm>
            <a:off x="535084" y="971436"/>
            <a:ext cx="11121832" cy="70788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0A6F1C84-39BA-BF9B-680F-2ADEFB27209B}"/>
              </a:ext>
            </a:extLst>
          </p:cNvPr>
          <p:cNvSpPr txBox="1"/>
          <p:nvPr/>
        </p:nvSpPr>
        <p:spPr>
          <a:xfrm>
            <a:off x="535084" y="97143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experimento determinista es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aquel experimento que una vez estudiado podemos predecir</a:t>
            </a:r>
            <a:r>
              <a:rPr lang="es-ES" sz="2000" b="1" dirty="0"/>
              <a:t>, es decir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, saber lo que sucederá antes de que ocurra.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!Marco 10">
            <a:extLst>
              <a:ext uri="{FF2B5EF4-FFF2-40B4-BE49-F238E27FC236}">
                <a16:creationId xmlns:a16="http://schemas.microsoft.com/office/drawing/2014/main" id="{51C20967-D731-D902-38A2-A4DA84C58184}"/>
              </a:ext>
            </a:extLst>
          </p:cNvPr>
          <p:cNvSpPr/>
          <p:nvPr/>
        </p:nvSpPr>
        <p:spPr>
          <a:xfrm>
            <a:off x="535084" y="1813247"/>
            <a:ext cx="11121832" cy="101566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!CuadroTexto 1">
            <a:extLst>
              <a:ext uri="{FF2B5EF4-FFF2-40B4-BE49-F238E27FC236}">
                <a16:creationId xmlns:a16="http://schemas.microsoft.com/office/drawing/2014/main" id="{4FF9716F-956F-5617-3670-AB17742B1265}"/>
              </a:ext>
            </a:extLst>
          </p:cNvPr>
          <p:cNvSpPr txBox="1"/>
          <p:nvPr/>
        </p:nvSpPr>
        <p:spPr>
          <a:xfrm>
            <a:off x="535084" y="1813247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experimento aleatorio es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aquel cuyo resultado no se puede predecir</a:t>
            </a:r>
            <a:r>
              <a:rPr lang="es-ES" sz="2000" b="1" dirty="0"/>
              <a:t>, es decir, por muchas veces que repitamos el experimento en igualdad de condiciones,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 se conoce el resultado</a:t>
            </a:r>
            <a:r>
              <a:rPr lang="es-ES" sz="2000" b="1" dirty="0"/>
              <a:t>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!Marco 10">
            <a:extLst>
              <a:ext uri="{FF2B5EF4-FFF2-40B4-BE49-F238E27FC236}">
                <a16:creationId xmlns:a16="http://schemas.microsoft.com/office/drawing/2014/main" id="{CB4A49BE-9DBA-B4C5-FB1B-16A261BF9745}"/>
              </a:ext>
            </a:extLst>
          </p:cNvPr>
          <p:cNvSpPr/>
          <p:nvPr/>
        </p:nvSpPr>
        <p:spPr>
          <a:xfrm>
            <a:off x="535084" y="2962834"/>
            <a:ext cx="11121832" cy="46616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!CuadroTexto 1">
            <a:extLst>
              <a:ext uri="{FF2B5EF4-FFF2-40B4-BE49-F238E27FC236}">
                <a16:creationId xmlns:a16="http://schemas.microsoft.com/office/drawing/2014/main" id="{99B4E023-62EF-C819-E347-7DE3C94C9BC6}"/>
              </a:ext>
            </a:extLst>
          </p:cNvPr>
          <p:cNvSpPr txBox="1"/>
          <p:nvPr/>
        </p:nvSpPr>
        <p:spPr>
          <a:xfrm>
            <a:off x="535084" y="2995862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Cada uno de los resultados </a:t>
            </a:r>
            <a:r>
              <a:rPr lang="es-ES" sz="2000" b="1" dirty="0"/>
              <a:t>posibles se denomina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suceso elemental</a:t>
            </a:r>
            <a:r>
              <a:rPr lang="es-ES" sz="2000" b="1" dirty="0"/>
              <a:t>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Esfera">
                <a:extLst>
                  <a:ext uri="{FF2B5EF4-FFF2-40B4-BE49-F238E27FC236}">
                    <a16:creationId xmlns:a16="http://schemas.microsoft.com/office/drawing/2014/main" id="{B9EBCC70-573E-75DE-C7C8-FB7BBB2B2EF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41776358"/>
                  </p:ext>
                </p:extLst>
              </p:nvPr>
            </p:nvGraphicFramePr>
            <p:xfrm>
              <a:off x="7012946" y="4958846"/>
              <a:ext cx="932758" cy="93652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932758" cy="936520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53248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Esfera">
                <a:extLst>
                  <a:ext uri="{FF2B5EF4-FFF2-40B4-BE49-F238E27FC236}">
                    <a16:creationId xmlns:a16="http://schemas.microsoft.com/office/drawing/2014/main" id="{B9EBCC70-573E-75DE-C7C8-FB7BBB2B2EF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12946" y="4958846"/>
                <a:ext cx="932758" cy="9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Modelo 3D 5" descr="Esfera roja">
                <a:extLst>
                  <a:ext uri="{FF2B5EF4-FFF2-40B4-BE49-F238E27FC236}">
                    <a16:creationId xmlns:a16="http://schemas.microsoft.com/office/drawing/2014/main" id="{048212BD-9583-77C5-164D-7E461BB5422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82138802"/>
                  </p:ext>
                </p:extLst>
              </p:nvPr>
            </p:nvGraphicFramePr>
            <p:xfrm>
              <a:off x="5714243" y="4963184"/>
              <a:ext cx="932758" cy="936520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932758" cy="936520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153248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Modelo 3D 5" descr="Esfera roja">
                <a:extLst>
                  <a:ext uri="{FF2B5EF4-FFF2-40B4-BE49-F238E27FC236}">
                    <a16:creationId xmlns:a16="http://schemas.microsoft.com/office/drawing/2014/main" id="{048212BD-9583-77C5-164D-7E461BB542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4243" y="4963184"/>
                <a:ext cx="932758" cy="936520"/>
              </a:xfrm>
              <a:prstGeom prst="rect">
                <a:avLst/>
              </a:prstGeom>
            </p:spPr>
          </p:pic>
        </mc:Fallback>
      </mc:AlternateContent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8631D5E-3835-E594-F36D-816E0E71D246}"/>
              </a:ext>
            </a:extLst>
          </p:cNvPr>
          <p:cNvCxnSpPr>
            <a:cxnSpLocks/>
          </p:cNvCxnSpPr>
          <p:nvPr/>
        </p:nvCxnSpPr>
        <p:spPr>
          <a:xfrm>
            <a:off x="5594932" y="6056348"/>
            <a:ext cx="2393955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E7BBE426-30CD-CFB6-B94F-44470B66AFF6}"/>
              </a:ext>
            </a:extLst>
          </p:cNvPr>
          <p:cNvSpPr txBox="1"/>
          <p:nvPr/>
        </p:nvSpPr>
        <p:spPr>
          <a:xfrm>
            <a:off x="5212592" y="6105204"/>
            <a:ext cx="324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SUCESO ELEMENTAL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2D84FA7-38C3-891D-2EC6-F5616072B144}"/>
              </a:ext>
            </a:extLst>
          </p:cNvPr>
          <p:cNvGrpSpPr/>
          <p:nvPr/>
        </p:nvGrpSpPr>
        <p:grpSpPr>
          <a:xfrm>
            <a:off x="2325218" y="3743474"/>
            <a:ext cx="7541564" cy="1075096"/>
            <a:chOff x="958934" y="10266710"/>
            <a:chExt cx="8131883" cy="1159250"/>
          </a:xfrm>
        </p:grpSpPr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098B176C-0847-45EF-94B7-875A80C32781}"/>
                </a:ext>
              </a:extLst>
            </p:cNvPr>
            <p:cNvSpPr txBox="1"/>
            <p:nvPr/>
          </p:nvSpPr>
          <p:spPr>
            <a:xfrm>
              <a:off x="958934" y="10504165"/>
              <a:ext cx="11094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E =</a:t>
              </a:r>
            </a:p>
          </p:txBody>
        </p:sp>
        <p:sp>
          <p:nvSpPr>
            <p:cNvPr id="11" name="Abrir llave 10">
              <a:extLst>
                <a:ext uri="{FF2B5EF4-FFF2-40B4-BE49-F238E27FC236}">
                  <a16:creationId xmlns:a16="http://schemas.microsoft.com/office/drawing/2014/main" id="{BF7E7689-1205-CBAC-2F5E-94690E7EB88F}"/>
                </a:ext>
              </a:extLst>
            </p:cNvPr>
            <p:cNvSpPr/>
            <p:nvPr/>
          </p:nvSpPr>
          <p:spPr>
            <a:xfrm>
              <a:off x="2086132" y="10266710"/>
              <a:ext cx="121442" cy="1159250"/>
            </a:xfrm>
            <a:prstGeom prst="leftBrace">
              <a:avLst>
                <a:gd name="adj1" fmla="val 167312"/>
                <a:gd name="adj2" fmla="val 50000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Abrir llave 11">
              <a:extLst>
                <a:ext uri="{FF2B5EF4-FFF2-40B4-BE49-F238E27FC236}">
                  <a16:creationId xmlns:a16="http://schemas.microsoft.com/office/drawing/2014/main" id="{F4E5DEA9-D0A6-DFF3-90E6-37ABE90E82B6}"/>
                </a:ext>
              </a:extLst>
            </p:cNvPr>
            <p:cNvSpPr/>
            <p:nvPr/>
          </p:nvSpPr>
          <p:spPr>
            <a:xfrm flipH="1">
              <a:off x="8969375" y="10266710"/>
              <a:ext cx="121442" cy="1159250"/>
            </a:xfrm>
            <a:prstGeom prst="leftBrace">
              <a:avLst>
                <a:gd name="adj1" fmla="val 167312"/>
                <a:gd name="adj2" fmla="val 50000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elo 3D 12" descr="Esfera">
                <a:extLst>
                  <a:ext uri="{FF2B5EF4-FFF2-40B4-BE49-F238E27FC236}">
                    <a16:creationId xmlns:a16="http://schemas.microsoft.com/office/drawing/2014/main" id="{5D49513A-78DD-4428-AD1F-0F785067E75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43651833"/>
                  </p:ext>
                </p:extLst>
              </p:nvPr>
            </p:nvGraphicFramePr>
            <p:xfrm>
              <a:off x="7390319" y="3814644"/>
              <a:ext cx="932758" cy="93275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932758" cy="93275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5263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elo 3D 12" descr="Esfera">
                <a:extLst>
                  <a:ext uri="{FF2B5EF4-FFF2-40B4-BE49-F238E27FC236}">
                    <a16:creationId xmlns:a16="http://schemas.microsoft.com/office/drawing/2014/main" id="{5D49513A-78DD-4428-AD1F-0F785067E7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90319" y="3814644"/>
                <a:ext cx="932758" cy="9327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Esfera roja">
                <a:extLst>
                  <a:ext uri="{FF2B5EF4-FFF2-40B4-BE49-F238E27FC236}">
                    <a16:creationId xmlns:a16="http://schemas.microsoft.com/office/drawing/2014/main" id="{6CE6B24D-0A08-7FBE-D23B-E3B52C693E6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08147617"/>
                  </p:ext>
                </p:extLst>
              </p:nvPr>
            </p:nvGraphicFramePr>
            <p:xfrm>
              <a:off x="3494210" y="3814644"/>
              <a:ext cx="932758" cy="932756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932758" cy="93275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15263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Esfera roja">
                <a:extLst>
                  <a:ext uri="{FF2B5EF4-FFF2-40B4-BE49-F238E27FC236}">
                    <a16:creationId xmlns:a16="http://schemas.microsoft.com/office/drawing/2014/main" id="{6CE6B24D-0A08-7FBE-D23B-E3B52C693E6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94210" y="3814644"/>
                <a:ext cx="932758" cy="9327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Esfera">
                <a:extLst>
                  <a:ext uri="{FF2B5EF4-FFF2-40B4-BE49-F238E27FC236}">
                    <a16:creationId xmlns:a16="http://schemas.microsoft.com/office/drawing/2014/main" id="{170868ED-0A6B-8801-B7EF-7CB3029B0BE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44383943"/>
                  </p:ext>
                </p:extLst>
              </p:nvPr>
            </p:nvGraphicFramePr>
            <p:xfrm>
              <a:off x="6091616" y="3814644"/>
              <a:ext cx="932758" cy="93275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932758" cy="93275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5263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Esfera">
                <a:extLst>
                  <a:ext uri="{FF2B5EF4-FFF2-40B4-BE49-F238E27FC236}">
                    <a16:creationId xmlns:a16="http://schemas.microsoft.com/office/drawing/2014/main" id="{170868ED-0A6B-8801-B7EF-7CB3029B0BE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91616" y="3814644"/>
                <a:ext cx="932758" cy="9327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Modelo 3D 15" descr="Esfera">
                <a:extLst>
                  <a:ext uri="{FF2B5EF4-FFF2-40B4-BE49-F238E27FC236}">
                    <a16:creationId xmlns:a16="http://schemas.microsoft.com/office/drawing/2014/main" id="{95AB3E5C-7B93-B554-5E70-668A006CDA9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3589069"/>
                  </p:ext>
                </p:extLst>
              </p:nvPr>
            </p:nvGraphicFramePr>
            <p:xfrm>
              <a:off x="8689022" y="3814644"/>
              <a:ext cx="932758" cy="93275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932758" cy="93275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5263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Modelo 3D 15" descr="Esfera">
                <a:extLst>
                  <a:ext uri="{FF2B5EF4-FFF2-40B4-BE49-F238E27FC236}">
                    <a16:creationId xmlns:a16="http://schemas.microsoft.com/office/drawing/2014/main" id="{95AB3E5C-7B93-B554-5E70-668A006CDA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89022" y="3814644"/>
                <a:ext cx="932758" cy="9327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Modelo 3D 18" descr="Esfera roja">
                <a:extLst>
                  <a:ext uri="{FF2B5EF4-FFF2-40B4-BE49-F238E27FC236}">
                    <a16:creationId xmlns:a16="http://schemas.microsoft.com/office/drawing/2014/main" id="{57745E04-C142-A2F8-1DF6-33C40E0A361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41425909"/>
                  </p:ext>
                </p:extLst>
              </p:nvPr>
            </p:nvGraphicFramePr>
            <p:xfrm>
              <a:off x="4792913" y="3814644"/>
              <a:ext cx="932758" cy="932756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932758" cy="93275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15263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Modelo 3D 18" descr="Esfera roja">
                <a:extLst>
                  <a:ext uri="{FF2B5EF4-FFF2-40B4-BE49-F238E27FC236}">
                    <a16:creationId xmlns:a16="http://schemas.microsoft.com/office/drawing/2014/main" id="{57745E04-C142-A2F8-1DF6-33C40E0A36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92913" y="3814644"/>
                <a:ext cx="932758" cy="932756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5002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Probabilidad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30AB7010-CA22-9CE2-1155-D5B81617F324}"/>
              </a:ext>
            </a:extLst>
          </p:cNvPr>
          <p:cNvSpPr/>
          <p:nvPr/>
        </p:nvSpPr>
        <p:spPr>
          <a:xfrm>
            <a:off x="535084" y="971436"/>
            <a:ext cx="11121832" cy="101566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0A6F1C84-39BA-BF9B-680F-2ADEFB27209B}"/>
              </a:ext>
            </a:extLst>
          </p:cNvPr>
          <p:cNvSpPr txBox="1"/>
          <p:nvPr/>
        </p:nvSpPr>
        <p:spPr>
          <a:xfrm>
            <a:off x="535084" y="971436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Cuando todos los sucesos elementales de un experimento aleatorio son equiprobables,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probabilidad de un suceso a es el cociente del número de casos favorables al suceso y el número de casos posibles.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460C67F-0DF8-B771-D862-BB2EB1DAB8F8}"/>
              </a:ext>
            </a:extLst>
          </p:cNvPr>
          <p:cNvSpPr txBox="1"/>
          <p:nvPr/>
        </p:nvSpPr>
        <p:spPr>
          <a:xfrm>
            <a:off x="2319387" y="2312151"/>
            <a:ext cx="3213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REGLA DE LAPLACE: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44582EF9-11EF-CBA0-9EAD-9B4663F9352B}"/>
                  </a:ext>
                </a:extLst>
              </p:cNvPr>
              <p:cNvSpPr txBox="1"/>
              <p:nvPr/>
            </p:nvSpPr>
            <p:spPr>
              <a:xfrm>
                <a:off x="5717540" y="2196061"/>
                <a:ext cx="429072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º 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𝑫𝑬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𝑪𝑨𝑺𝑶𝑺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𝑭𝑨𝑽𝑶𝑹𝑨𝑩𝑳𝑬𝑺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º 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𝑫𝑬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𝑪𝑨𝑺𝑶𝑺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𝑷𝑶𝑺𝑰𝑩𝑳𝑬𝑺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44582EF9-11EF-CBA0-9EAD-9B4663F93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540" y="2196061"/>
                <a:ext cx="4290725" cy="57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uadroTexto 23">
            <a:extLst>
              <a:ext uri="{FF2B5EF4-FFF2-40B4-BE49-F238E27FC236}">
                <a16:creationId xmlns:a16="http://schemas.microsoft.com/office/drawing/2014/main" id="{E8F87184-447D-9FC7-2790-E631FE9AFDE5}"/>
              </a:ext>
            </a:extLst>
          </p:cNvPr>
          <p:cNvSpPr txBox="1"/>
          <p:nvPr/>
        </p:nvSpPr>
        <p:spPr>
          <a:xfrm>
            <a:off x="535084" y="3106936"/>
            <a:ext cx="8772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Que salga un número par al lanzar un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B171EA8B-6423-1339-E1B6-6EED74B230E8}"/>
                  </a:ext>
                </a:extLst>
              </p:cNvPr>
              <p:cNvSpPr txBox="1"/>
              <p:nvPr/>
            </p:nvSpPr>
            <p:spPr>
              <a:xfrm>
                <a:off x="4611275" y="3680197"/>
                <a:ext cx="2212529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𝑷𝑨𝑹</m:t>
                          </m:r>
                        </m:e>
                      </m:d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B171EA8B-6423-1339-E1B6-6EED74B23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275" y="3680197"/>
                <a:ext cx="2212529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uadroTexto 25">
            <a:extLst>
              <a:ext uri="{FF2B5EF4-FFF2-40B4-BE49-F238E27FC236}">
                <a16:creationId xmlns:a16="http://schemas.microsoft.com/office/drawing/2014/main" id="{60295875-9A4B-0FCD-D338-D1D3E6AEF643}"/>
              </a:ext>
            </a:extLst>
          </p:cNvPr>
          <p:cNvSpPr txBox="1"/>
          <p:nvPr/>
        </p:nvSpPr>
        <p:spPr>
          <a:xfrm>
            <a:off x="8251246" y="3734731"/>
            <a:ext cx="1200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50%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BE168BA-9DE8-2EFF-86C9-89A205A09956}"/>
              </a:ext>
            </a:extLst>
          </p:cNvPr>
          <p:cNvSpPr txBox="1"/>
          <p:nvPr/>
        </p:nvSpPr>
        <p:spPr>
          <a:xfrm>
            <a:off x="535084" y="4510253"/>
            <a:ext cx="8772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Que salga un 2 al lanzar un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69EA7B89-5878-B2F4-543D-AE9693C5BDE1}"/>
                  </a:ext>
                </a:extLst>
              </p:cNvPr>
              <p:cNvSpPr txBox="1"/>
              <p:nvPr/>
            </p:nvSpPr>
            <p:spPr>
              <a:xfrm>
                <a:off x="4471575" y="5136322"/>
                <a:ext cx="223176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𝟏𝟔𝟕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69EA7B89-5878-B2F4-543D-AE9693C5B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575" y="5136322"/>
                <a:ext cx="2231765" cy="5782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uadroTexto 28">
            <a:extLst>
              <a:ext uri="{FF2B5EF4-FFF2-40B4-BE49-F238E27FC236}">
                <a16:creationId xmlns:a16="http://schemas.microsoft.com/office/drawing/2014/main" id="{8157D7A2-1D0B-C06C-57EC-05E7339F10F5}"/>
              </a:ext>
            </a:extLst>
          </p:cNvPr>
          <p:cNvSpPr txBox="1"/>
          <p:nvPr/>
        </p:nvSpPr>
        <p:spPr>
          <a:xfrm>
            <a:off x="8051222" y="5165918"/>
            <a:ext cx="1400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/>
              <a:t>16,7%</a:t>
            </a:r>
            <a:endParaRPr lang="es-E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5410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4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9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0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1713C79-4114-4F8B-93D3-0F2A8B7FB907"/>
  <p:tag name="ISPRING_CMI5_LAUNCH_METHOD" val="any window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1 ESO\\TEMA 15- Probabilidad\\Horizontal&quot;]]"/>
  <p:tag name="ISPRING_SCORM_PASSING_SCORE" val="100.000000"/>
  <p:tag name="ISPRING_PRESENTATION_TITLE" val="1. Probabilidad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FB33A3B-E7CF-4154-94C7-00924C9D93EC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871C5E5-76D7-4A2C-9922-DF45A0A929AB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323AAE1-A3C6-4F03-9895-EFAA7A479D46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D3E983E-F18F-475D-B43C-7EB558036D72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260</Words>
  <Application>Microsoft Office PowerPoint</Application>
  <PresentationFormat>Panorámica</PresentationFormat>
  <Paragraphs>28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Probabilidad</dc:title>
  <dc:creator>Illán Linos Souto</dc:creator>
  <cp:lastModifiedBy>Illán Linos</cp:lastModifiedBy>
  <cp:revision>58</cp:revision>
  <dcterms:created xsi:type="dcterms:W3CDTF">2024-08-18T18:48:07Z</dcterms:created>
  <dcterms:modified xsi:type="dcterms:W3CDTF">2025-11-17T11:58:03Z</dcterms:modified>
</cp:coreProperties>
</file>