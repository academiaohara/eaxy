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custDataLst>
    <p:tags r:id="rId8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A96B17-5588-4BA8-8C7A-6661F597187B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B65BF7-1B84-4E23-8836-4FF99DB704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171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B65BF7-1B84-4E23-8836-4FF99DB7040A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1406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B65BF7-1B84-4E23-8836-4FF99DB7040A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61351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B65BF7-1B84-4E23-8836-4FF99DB7040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19110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B65BF7-1B84-4E23-8836-4FF99DB7040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03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B65BF7-1B84-4E23-8836-4FF99DB7040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00634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notesSlide" Target="../notesSlides/notesSlide1.xml"/><Relationship Id="rId7" Type="http://schemas.microsoft.com/office/2017/06/relationships/model3d" Target="../media/model3d2.glb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2.png"/><Relationship Id="rId5" Type="http://schemas.microsoft.com/office/2017/06/relationships/model3d" Target="../media/model3d1.glb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upo 114">
            <a:extLst>
              <a:ext uri="{FF2B5EF4-FFF2-40B4-BE49-F238E27FC236}">
                <a16:creationId xmlns:a16="http://schemas.microsoft.com/office/drawing/2014/main" id="{1875D95A-20E1-D947-93B2-0432119331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3601" y="0"/>
            <a:ext cx="12184798" cy="6858000"/>
            <a:chOff x="3601" y="0"/>
            <a:chExt cx="12184798" cy="6858000"/>
          </a:xfrm>
        </p:grpSpPr>
        <p:pic>
          <p:nvPicPr>
            <p:cNvPr id="113" name="Imagen 112">
              <a:extLst>
                <a:ext uri="{FF2B5EF4-FFF2-40B4-BE49-F238E27FC236}">
                  <a16:creationId xmlns:a16="http://schemas.microsoft.com/office/drawing/2014/main" id="{3A8A379F-D036-778F-3C84-2E90E578B92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01" y="0"/>
              <a:ext cx="7970217" cy="6858000"/>
            </a:xfrm>
            <a:prstGeom prst="rect">
              <a:avLst/>
            </a:prstGeom>
          </p:spPr>
        </p:pic>
        <p:pic>
          <p:nvPicPr>
            <p:cNvPr id="114" name="Imagen 113">
              <a:extLst>
                <a:ext uri="{FF2B5EF4-FFF2-40B4-BE49-F238E27FC236}">
                  <a16:creationId xmlns:a16="http://schemas.microsoft.com/office/drawing/2014/main" id="{1DC43CFD-784F-B694-E8A0-D05C052D07E6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 rotWithShape="1">
            <a:blip r:embed="rId4"/>
            <a:srcRect l="35501" r="5319"/>
            <a:stretch/>
          </p:blipFill>
          <p:spPr>
            <a:xfrm>
              <a:off x="7471606" y="0"/>
              <a:ext cx="4716793" cy="6858000"/>
            </a:xfrm>
            <a:prstGeom prst="rect">
              <a:avLst/>
            </a:prstGeom>
          </p:spPr>
        </p:pic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32063" y="574828"/>
            <a:ext cx="8695965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</a:t>
            </a:r>
          </a:p>
          <a:p>
            <a:r>
              <a:rPr lang="es-ES" sz="4800" dirty="0">
                <a:latin typeface="SF Fedora" panose="00000400000000000000" pitchFamily="2" charset="0"/>
                <a:cs typeface="SF Fedora" panose="00000400000000000000" pitchFamily="2" charset="0"/>
              </a:rPr>
              <a:t>Figuras Geométricas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44063788"/>
                  </p:ext>
                </p:extLst>
              </p:nvPr>
            </p:nvGraphicFramePr>
            <p:xfrm>
              <a:off x="475306" y="2459786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21" name="Modelo 3D 120" descr="Pirámide gris tetragonal">
                <a:extLst>
                  <a:ext uri="{FF2B5EF4-FFF2-40B4-BE49-F238E27FC236}">
                    <a16:creationId xmlns:a16="http://schemas.microsoft.com/office/drawing/2014/main" id="{63F66DDB-7C76-1A34-34EB-FDF14610C96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2459786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23" name="CuadroTexto 122">
            <a:extLst>
              <a:ext uri="{FF2B5EF4-FFF2-40B4-BE49-F238E27FC236}">
                <a16:creationId xmlns:a16="http://schemas.microsoft.com/office/drawing/2014/main" id="{11EB6959-DCB4-183D-2777-3FB76BB9132E}"/>
              </a:ext>
            </a:extLst>
          </p:cNvPr>
          <p:cNvSpPr txBox="1"/>
          <p:nvPr/>
        </p:nvSpPr>
        <p:spPr>
          <a:xfrm>
            <a:off x="996360" y="2416597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575960"/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TRIÁNGULOS</a:t>
            </a: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1B37A2FE-1AD7-51E6-B562-8151DEE82E4C}"/>
              </a:ext>
            </a:extLst>
          </p:cNvPr>
          <p:cNvSpPr txBox="1"/>
          <p:nvPr/>
        </p:nvSpPr>
        <p:spPr>
          <a:xfrm>
            <a:off x="996360" y="3105834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CUADRILÁTEROS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743275492"/>
                  </p:ext>
                </p:extLst>
              </p:nvPr>
            </p:nvGraphicFramePr>
            <p:xfrm>
              <a:off x="465829" y="5125524"/>
              <a:ext cx="463450" cy="616130"/>
            </p:xfrm>
            <a:graphic>
              <a:graphicData uri="http://schemas.microsoft.com/office/drawing/2017/model3d">
                <am3d:model3d r:embed="rId7">
                  <am3d:spPr>
                    <a:xfrm>
                      <a:off x="0" y="0"/>
                      <a:ext cx="463450" cy="616130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600781" ay="-304177" az="-53636"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828680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2" name="Modelo 3D 1" descr="Pirámide roja tetragonal">
                <a:extLst>
                  <a:ext uri="{FF2B5EF4-FFF2-40B4-BE49-F238E27FC236}">
                    <a16:creationId xmlns:a16="http://schemas.microsoft.com/office/drawing/2014/main" id="{BF101A47-8A20-9FF3-3CDB-9A46A366BF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5829" y="5125524"/>
                <a:ext cx="463450" cy="6161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3" name="Modelo 3D 2" descr="Pirámide gris tetragonal">
                <a:extLst>
                  <a:ext uri="{FF2B5EF4-FFF2-40B4-BE49-F238E27FC236}">
                    <a16:creationId xmlns:a16="http://schemas.microsoft.com/office/drawing/2014/main" id="{828D2382-F254-BC78-2FBE-91426E8DD7F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27821881"/>
                  </p:ext>
                </p:extLst>
              </p:nvPr>
            </p:nvGraphicFramePr>
            <p:xfrm>
              <a:off x="475306" y="3149023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3" name="Modelo 3D 2" descr="Pirámide gris tetragonal">
                <a:extLst>
                  <a:ext uri="{FF2B5EF4-FFF2-40B4-BE49-F238E27FC236}">
                    <a16:creationId xmlns:a16="http://schemas.microsoft.com/office/drawing/2014/main" id="{828D2382-F254-BC78-2FBE-91426E8DD7F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3149023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4" name="CuadroTexto 3">
            <a:extLst>
              <a:ext uri="{FF2B5EF4-FFF2-40B4-BE49-F238E27FC236}">
                <a16:creationId xmlns:a16="http://schemas.microsoft.com/office/drawing/2014/main" id="{47762E2A-4553-6E26-EEB5-4C2E81B6A66A}"/>
              </a:ext>
            </a:extLst>
          </p:cNvPr>
          <p:cNvSpPr txBox="1"/>
          <p:nvPr/>
        </p:nvSpPr>
        <p:spPr>
          <a:xfrm>
            <a:off x="996360" y="3778175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POLÍGONOS REGULARES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Modelo 3D 10" descr="Pirámide gris tetragonal">
                <a:extLst>
                  <a:ext uri="{FF2B5EF4-FFF2-40B4-BE49-F238E27FC236}">
                    <a16:creationId xmlns:a16="http://schemas.microsoft.com/office/drawing/2014/main" id="{39463F56-1F9A-6DF2-64ED-DE2C95533D2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79052062"/>
                  </p:ext>
                </p:extLst>
              </p:nvPr>
            </p:nvGraphicFramePr>
            <p:xfrm>
              <a:off x="475306" y="3815768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Modelo 3D 10" descr="Pirámide gris tetragonal">
                <a:extLst>
                  <a:ext uri="{FF2B5EF4-FFF2-40B4-BE49-F238E27FC236}">
                    <a16:creationId xmlns:a16="http://schemas.microsoft.com/office/drawing/2014/main" id="{39463F56-1F9A-6DF2-64ED-DE2C95533D2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3815768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D8214812-FECE-B5B0-54C5-46EB45E66B9A}"/>
              </a:ext>
            </a:extLst>
          </p:cNvPr>
          <p:cNvSpPr txBox="1"/>
          <p:nvPr/>
        </p:nvSpPr>
        <p:spPr>
          <a:xfrm>
            <a:off x="996360" y="4450516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CIRCUNFERENCIA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3" name="Modelo 3D 12" descr="Pirámide gris tetragonal">
                <a:extLst>
                  <a:ext uri="{FF2B5EF4-FFF2-40B4-BE49-F238E27FC236}">
                    <a16:creationId xmlns:a16="http://schemas.microsoft.com/office/drawing/2014/main" id="{6E4DBED9-5DCB-7C1C-81B2-95DCFCC5CBD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8254643"/>
                  </p:ext>
                </p:extLst>
              </p:nvPr>
            </p:nvGraphicFramePr>
            <p:xfrm>
              <a:off x="475306" y="4493705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3" name="Modelo 3D 12" descr="Pirámide gris tetragonal">
                <a:extLst>
                  <a:ext uri="{FF2B5EF4-FFF2-40B4-BE49-F238E27FC236}">
                    <a16:creationId xmlns:a16="http://schemas.microsoft.com/office/drawing/2014/main" id="{6E4DBED9-5DCB-7C1C-81B2-95DCFCC5CBD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4493705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CuadroTexto 13">
            <a:extLst>
              <a:ext uri="{FF2B5EF4-FFF2-40B4-BE49-F238E27FC236}">
                <a16:creationId xmlns:a16="http://schemas.microsoft.com/office/drawing/2014/main" id="{0F7BF696-EE08-C510-172B-20CC117A98A6}"/>
              </a:ext>
            </a:extLst>
          </p:cNvPr>
          <p:cNvSpPr txBox="1"/>
          <p:nvPr/>
        </p:nvSpPr>
        <p:spPr>
          <a:xfrm>
            <a:off x="996360" y="5110424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POLIEDROS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8FACF0EA-0AA5-53CD-6FD1-12210F22C03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56169985"/>
                  </p:ext>
                </p:extLst>
              </p:nvPr>
            </p:nvGraphicFramePr>
            <p:xfrm>
              <a:off x="475306" y="5821600"/>
              <a:ext cx="444496" cy="559952"/>
            </p:xfrm>
            <a:graphic>
              <a:graphicData uri="http://schemas.microsoft.com/office/drawing/2017/model3d">
                <am3d:model3d r:embed="rId5">
                  <am3d:spPr>
                    <a:xfrm>
                      <a:off x="0" y="0"/>
                      <a:ext cx="444496" cy="559952"/>
                    </a:xfrm>
                    <a:prstGeom prst="rect">
                      <a:avLst/>
                    </a:prstGeom>
                  </am3d:spPr>
                  <am3d:camera>
                    <am3d:pos x="0" y="0" z="66519324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01424" d="1000000"/>
                    <am3d:preTrans dx="0" dy="-18000000" dz="0"/>
                    <am3d:scale>
                      <am3d:sx n="1000000" d="1000000"/>
                      <am3d:sy n="1000000" d="1000000"/>
                      <am3d:sz n="1000000" d="1000000"/>
                    </am3d:scale>
                    <am3d:rot ax="751772" ay="-72436" az="-16097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784961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5" name="Modelo 3D 14" descr="Pirámide gris tetragonal">
                <a:extLst>
                  <a:ext uri="{FF2B5EF4-FFF2-40B4-BE49-F238E27FC236}">
                    <a16:creationId xmlns:a16="http://schemas.microsoft.com/office/drawing/2014/main" id="{8FACF0EA-0AA5-53CD-6FD1-12210F22C03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5306" y="5821600"/>
                <a:ext cx="444496" cy="559952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CuadroTexto 15">
            <a:extLst>
              <a:ext uri="{FF2B5EF4-FFF2-40B4-BE49-F238E27FC236}">
                <a16:creationId xmlns:a16="http://schemas.microsoft.com/office/drawing/2014/main" id="{41869C5D-8D95-8C51-B997-D94552238ABD}"/>
              </a:ext>
            </a:extLst>
          </p:cNvPr>
          <p:cNvSpPr txBox="1"/>
          <p:nvPr/>
        </p:nvSpPr>
        <p:spPr>
          <a:xfrm>
            <a:off x="996360" y="5778410"/>
            <a:ext cx="76292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  <a:cs typeface="SF Fedora" panose="00000400000000000000" pitchFamily="2" charset="0"/>
              </a:rPr>
              <a:t>CUERPOS DE REVOLUCIÓN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83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39" presetClass="emph" presetSubtype="5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sum">
                                        <p:cTn id="4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3d.view.rotation.x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.0012"/>
                                          </p:val>
                                        </p:tav>
                                        <p:tav tm="2250">
                                          <p:val>
                                            <p:fltVal val="0.0098"/>
                                          </p:val>
                                        </p:tav>
                                        <p:tav tm="3370">
                                          <p:val>
                                            <p:fltVal val="0.033"/>
                                          </p:val>
                                        </p:tav>
                                        <p:tav tm="4490">
                                          <p:val>
                                            <p:fltVal val="0.0789"/>
                                          </p:val>
                                        </p:tav>
                                        <p:tav tm="5620">
                                          <p:val>
                                            <p:fltVal val="0.1548"/>
                                          </p:val>
                                        </p:tav>
                                        <p:tav tm="6740">
                                          <p:val>
                                            <p:fltVal val="0.267"/>
                                          </p:val>
                                        </p:tav>
                                        <p:tav tm="7870">
                                          <p:val>
                                            <p:fltVal val="0.4235"/>
                                          </p:val>
                                        </p:tav>
                                        <p:tav tm="8990">
                                          <p:val>
                                            <p:fltVal val="0.6337"/>
                                          </p:val>
                                        </p:tav>
                                        <p:tav tm="10110">
                                          <p:val>
                                            <p:fltVal val="0.9013"/>
                                          </p:val>
                                        </p:tav>
                                        <p:tav tm="11240">
                                          <p:val>
                                            <p:fltVal val="1.2353"/>
                                          </p:val>
                                        </p:tav>
                                        <p:tav tm="12360">
                                          <p:val>
                                            <p:fltVal val="1.647"/>
                                          </p:val>
                                        </p:tav>
                                        <p:tav tm="13480">
                                          <p:val>
                                            <p:fltVal val="2.0869"/>
                                          </p:val>
                                        </p:tav>
                                        <p:tav tm="14610">
                                          <p:val>
                                            <p:fltVal val="2.4538"/>
                                          </p:val>
                                        </p:tav>
                                        <p:tav tm="15730">
                                          <p:val>
                                            <p:fltVal val="2.7534"/>
                                          </p:val>
                                        </p:tav>
                                        <p:tav tm="16850">
                                          <p:val>
                                            <p:fltVal val="2.9876"/>
                                          </p:val>
                                        </p:tav>
                                        <p:tav tm="17980">
                                          <p:val>
                                            <p:fltVal val="3.1669"/>
                                          </p:val>
                                        </p:tav>
                                        <p:tav tm="19100">
                                          <p:val>
                                            <p:fltVal val="3.2996"/>
                                          </p:val>
                                        </p:tav>
                                        <p:tav tm="20220">
                                          <p:val>
                                            <p:fltVal val="3.3906"/>
                                          </p:val>
                                        </p:tav>
                                        <p:tav tm="21350">
                                          <p:val>
                                            <p:fltVal val="3.4488"/>
                                          </p:val>
                                        </p:tav>
                                        <p:tav tm="22470">
                                          <p:val>
                                            <p:fltVal val="3.4815"/>
                                          </p:val>
                                        </p:tav>
                                        <p:tav tm="23600">
                                          <p:val>
                                            <p:fltVal val="3.4961"/>
                                          </p:val>
                                        </p:tav>
                                        <p:tav tm="24720">
                                          <p:val>
                                            <p:fltVal val="3.4998"/>
                                          </p:val>
                                        </p:tav>
                                        <p:tav tm="25840">
                                          <p:val>
                                            <p:fltVal val="3.0301"/>
                                          </p:val>
                                        </p:tav>
                                        <p:tav tm="26970">
                                          <p:val>
                                            <p:fltVal val="0.9661"/>
                                          </p:val>
                                        </p:tav>
                                        <p:tav tm="28090">
                                          <p:val>
                                            <p:fltVal val="-2.1525"/>
                                          </p:val>
                                        </p:tav>
                                        <p:tav tm="29210">
                                          <p:val>
                                            <p:fltVal val="-6.1215"/>
                                          </p:val>
                                        </p:tav>
                                        <p:tav tm="30340">
                                          <p:val>
                                            <p:fltVal val="-10.8322"/>
                                          </p:val>
                                        </p:tav>
                                        <p:tav tm="31460">
                                          <p:val>
                                            <p:fltVal val="-16.2132"/>
                                          </p:val>
                                        </p:tav>
                                        <p:tav tm="32580">
                                          <p:val>
                                            <p:fltVal val="-22.2128"/>
                                          </p:val>
                                        </p:tav>
                                        <p:tav tm="33710">
                                          <p:val>
                                            <p:fltVal val="-28.7297"/>
                                          </p:val>
                                        </p:tav>
                                        <p:tav tm="34830">
                                          <p:val>
                                            <p:fltVal val="-35.8493"/>
                                          </p:val>
                                        </p:tav>
                                        <p:tav tm="35960">
                                          <p:val>
                                            <p:fltVal val="-43.4888"/>
                                          </p:val>
                                        </p:tav>
                                        <p:tav tm="37080">
                                          <p:val>
                                            <p:fltVal val="-51.6257"/>
                                          </p:val>
                                        </p:tav>
                                        <p:tav tm="38200">
                                          <p:val>
                                            <p:fltVal val="-60.2402"/>
                                          </p:val>
                                        </p:tav>
                                        <p:tav tm="39330">
                                          <p:val>
                                            <p:fltVal val="-69.3155"/>
                                          </p:val>
                                        </p:tav>
                                        <p:tav tm="40450">
                                          <p:val>
                                            <p:fltVal val="-78.8364"/>
                                          </p:val>
                                        </p:tav>
                                        <p:tav tm="41570">
                                          <p:val>
                                            <p:fltVal val="-88.6987"/>
                                          </p:val>
                                        </p:tav>
                                        <p:tav tm="42700">
                                          <p:val>
                                            <p:fltVal val="-99.0679"/>
                                          </p:val>
                                        </p:tav>
                                        <p:tav tm="43820">
                                          <p:val>
                                            <p:fltVal val="-109.8461"/>
                                          </p:val>
                                        </p:tav>
                                        <p:tav tm="44940">
                                          <p:val>
                                            <p:fltVal val="-121.0232"/>
                                          </p:val>
                                        </p:tav>
                                        <p:tav tm="46070">
                                          <p:val>
                                            <p:fltVal val="-132.5899"/>
                                          </p:val>
                                        </p:tav>
                                        <p:tav tm="47190">
                                          <p:val>
                                            <p:fltVal val="-144.5376"/>
                                          </p:val>
                                        </p:tav>
                                        <p:tav tm="48310">
                                          <p:val>
                                            <p:fltVal val="-156.85851"/>
                                          </p:val>
                                        </p:tav>
                                        <p:tav tm="49440">
                                          <p:val>
                                            <p:fltVal val="-169.43021"/>
                                          </p:val>
                                        </p:tav>
                                        <p:tav tm="50560">
                                          <p:val>
                                            <p:fltVal val="-182.34309"/>
                                          </p:val>
                                        </p:tav>
                                        <p:tav tm="51690">
                                          <p:val>
                                            <p:fltVal val="-195.1411"/>
                                          </p:val>
                                        </p:tav>
                                        <p:tav tm="52810">
                                          <p:val>
                                            <p:fltVal val="-207.6945"/>
                                          </p:val>
                                        </p:tav>
                                        <p:tav tm="53930">
                                          <p:val>
                                            <p:fltVal val="-219.77251"/>
                                          </p:val>
                                        </p:tav>
                                        <p:tav tm="55060">
                                          <p:val>
                                            <p:fltVal val="-231.4814"/>
                                          </p:val>
                                        </p:tav>
                                        <p:tav tm="56180">
                                          <p:val>
                                            <p:fltVal val="-242.91341"/>
                                          </p:val>
                                        </p:tav>
                                        <p:tav tm="57300">
                                          <p:val>
                                            <p:fltVal val="-253.8558"/>
                                          </p:val>
                                        </p:tav>
                                        <p:tav tm="58430">
                                          <p:val>
                                            <p:fltVal val="-264.40329"/>
                                          </p:val>
                                        </p:tav>
                                        <p:tav tm="59550">
                                          <p:val>
                                            <p:fltVal val="-274.63501"/>
                                          </p:val>
                                        </p:tav>
                                        <p:tav tm="60670">
                                          <p:val>
                                            <p:fltVal val="-284.35721"/>
                                          </p:val>
                                        </p:tav>
                                        <p:tav tm="61800">
                                          <p:val>
                                            <p:fltVal val="-293.6507"/>
                                          </p:val>
                                        </p:tav>
                                        <p:tav tm="62920">
                                          <p:val>
                                            <p:fltVal val="-302.57959"/>
                                          </p:val>
                                        </p:tav>
                                        <p:tav tm="64040">
                                          <p:val>
                                            <p:fltVal val="-310.96921"/>
                                          </p:val>
                                        </p:tav>
                                        <p:tav tm="65170">
                                          <p:val>
                                            <p:fltVal val="-318.88379"/>
                                          </p:val>
                                        </p:tav>
                                        <p:tav tm="66290">
                                          <p:val>
                                            <p:fltVal val="-326.36801"/>
                                          </p:val>
                                        </p:tav>
                                        <p:tav tm="67420">
                                          <p:val>
                                            <p:fltVal val="-333.26511"/>
                                          </p:val>
                                        </p:tav>
                                        <p:tav tm="68540">
                                          <p:val>
                                            <p:fltVal val="-339.6712"/>
                                          </p:val>
                                        </p:tav>
                                        <p:tav tm="69660">
                                          <p:val>
                                            <p:fltVal val="-345.43851"/>
                                          </p:val>
                                        </p:tav>
                                        <p:tav tm="70790">
                                          <p:val>
                                            <p:fltVal val="-350.58469"/>
                                          </p:val>
                                        </p:tav>
                                        <p:tav tm="71910">
                                          <p:val>
                                            <p:fltVal val="-355.09189"/>
                                          </p:val>
                                        </p:tav>
                                        <p:tav tm="73030">
                                          <p:val>
                                            <p:fltVal val="-358.80179"/>
                                          </p:val>
                                        </p:tav>
                                        <p:tav tm="74160">
                                          <p:val>
                                            <p:fltVal val="-361.63531"/>
                                          </p:val>
                                        </p:tav>
                                        <p:tav tm="75280">
                                          <p:val>
                                            <p:fltVal val="-363.345"/>
                                          </p:val>
                                        </p:tav>
                                        <p:tav tm="76400">
                                          <p:val>
                                            <p:fltVal val="-363.4978"/>
                                          </p:val>
                                        </p:tav>
                                        <p:tav tm="77530">
                                          <p:val>
                                            <p:fltVal val="-363.47061"/>
                                          </p:val>
                                        </p:tav>
                                        <p:tav tm="78650">
                                          <p:val>
                                            <p:fltVal val="-363.38339"/>
                                          </p:val>
                                        </p:tav>
                                        <p:tav tm="79780">
                                          <p:val>
                                            <p:fltVal val="-363.20349"/>
                                          </p:val>
                                        </p:tav>
                                        <p:tav tm="80900">
                                          <p:val>
                                            <p:fltVal val="-362.8963"/>
                                          </p:val>
                                        </p:tav>
                                        <p:tav tm="82020">
                                          <p:val>
                                            <p:fltVal val="-362.4227"/>
                                          </p:val>
                                        </p:tav>
                                        <p:tav tm="83150">
                                          <p:val>
                                            <p:fltVal val="-361.7569"/>
                                          </p:val>
                                        </p:tav>
                                        <p:tav tm="84270">
                                          <p:val>
                                            <p:fltVal val="-361.0874"/>
                                          </p:val>
                                        </p:tav>
                                        <p:tav tm="85390">
                                          <p:val>
                                            <p:fltVal val="-360.6105"/>
                                          </p:val>
                                        </p:tav>
                                        <p:tav tm="86520">
                                          <p:val>
                                            <p:fltVal val="-360.30069"/>
                                          </p:val>
                                        </p:tav>
                                        <p:tav tm="87640">
                                          <p:val>
                                            <p:fltVal val="-360.1188"/>
                                          </p:val>
                                        </p:tav>
                                        <p:tav tm="88760">
                                          <p:val>
                                            <p:fltVal val="-360.03021"/>
                                          </p:val>
                                        </p:tav>
                                        <p:tav tm="89890">
                                          <p:val>
                                            <p:fltVal val="-360.00229"/>
                                          </p:val>
                                        </p:tav>
                                        <p:tav tm="91010">
                                          <p:val>
                                            <p:fltVal val="-360"/>
                                          </p:val>
                                        </p:tav>
                                        <p:tav tm="92130">
                                          <p:val>
                                            <p:fltVal val="-360"/>
                                          </p:val>
                                        </p:tav>
                                        <p:tav tm="93260">
                                          <p:val>
                                            <p:fltVal val="-360"/>
                                          </p:val>
                                        </p:tav>
                                        <p:tav tm="94380">
                                          <p:val>
                                            <p:fltVal val="-360"/>
                                          </p:val>
                                        </p:tav>
                                        <p:tav tm="95510">
                                          <p:val>
                                            <p:fltVal val="-360"/>
                                          </p:val>
                                        </p:tav>
                                        <p:tav tm="96630">
                                          <p:val>
                                            <p:fltVal val="-360"/>
                                          </p:val>
                                        </p:tav>
                                        <p:tav tm="97750">
                                          <p:val>
                                            <p:fltVal val="-360"/>
                                          </p:val>
                                        </p:tav>
                                        <p:tav tm="98880">
                                          <p:val>
                                            <p:fltVal val="-360"/>
                                          </p:val>
                                        </p:tav>
                                        <p:tav tm="100000">
                                          <p:val>
                                            <p:fltVal val="-36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sum">
                                        <p:cTn id="5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3d.view.translation.y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120">
                                          <p:val>
                                            <p:fltVal val="0"/>
                                          </p:val>
                                        </p:tav>
                                        <p:tav tm="2250">
                                          <p:val>
                                            <p:fltVal val="-10E-5"/>
                                          </p:val>
                                        </p:tav>
                                        <p:tav tm="3370">
                                          <p:val>
                                            <p:fltVal val="-0.0004"/>
                                          </p:val>
                                        </p:tav>
                                        <p:tav tm="4490">
                                          <p:val>
                                            <p:fltVal val="-0.0011"/>
                                          </p:val>
                                        </p:tav>
                                        <p:tav tm="5620">
                                          <p:val>
                                            <p:fltVal val="-0.0021"/>
                                          </p:val>
                                        </p:tav>
                                        <p:tav tm="6740">
                                          <p:val>
                                            <p:fltVal val="-0.0037"/>
                                          </p:val>
                                        </p:tav>
                                        <p:tav tm="7870">
                                          <p:val>
                                            <p:fltVal val="-0.0059"/>
                                          </p:val>
                                        </p:tav>
                                        <p:tav tm="8990">
                                          <p:val>
                                            <p:fltVal val="-0.0088"/>
                                          </p:val>
                                        </p:tav>
                                        <p:tav tm="10110">
                                          <p:val>
                                            <p:fltVal val="-0.0125"/>
                                          </p:val>
                                        </p:tav>
                                        <p:tav tm="11240">
                                          <p:val>
                                            <p:fltVal val="-0.0162"/>
                                          </p:val>
                                        </p:tav>
                                        <p:tav tm="12360">
                                          <p:val>
                                            <p:fltVal val="-0.0191"/>
                                          </p:val>
                                        </p:tav>
                                        <p:tav tm="13480">
                                          <p:val>
                                            <p:fltVal val="-0.0213"/>
                                          </p:val>
                                        </p:tav>
                                        <p:tav tm="14610">
                                          <p:val>
                                            <p:fltVal val="-0.0228"/>
                                          </p:val>
                                        </p:tav>
                                        <p:tav tm="15730">
                                          <p:val>
                                            <p:fltVal val="-0.0239"/>
                                          </p:val>
                                        </p:tav>
                                        <p:tav tm="16850">
                                          <p:val>
                                            <p:fltVal val="-0.0245"/>
                                          </p:val>
                                        </p:tav>
                                        <p:tav tm="17980">
                                          <p:val>
                                            <p:fltVal val="-0.0248"/>
                                          </p:val>
                                        </p:tav>
                                        <p:tav tm="19100">
                                          <p:val>
                                            <p:fltVal val="-0.0249"/>
                                          </p:val>
                                        </p:tav>
                                        <p:tav tm="20220">
                                          <p:val>
                                            <p:fltVal val="-0.0249"/>
                                          </p:val>
                                        </p:tav>
                                        <p:tav tm="21350">
                                          <p:val>
                                            <p:fltVal val="-0.0248"/>
                                          </p:val>
                                        </p:tav>
                                        <p:tav tm="22470">
                                          <p:val>
                                            <p:fltVal val="-0.0241"/>
                                          </p:val>
                                        </p:tav>
                                        <p:tav tm="23600">
                                          <p:val>
                                            <p:fltVal val="-0.022"/>
                                          </p:val>
                                        </p:tav>
                                        <p:tav tm="24720">
                                          <p:val>
                                            <p:fltVal val="-0.0179"/>
                                          </p:val>
                                        </p:tav>
                                        <p:tav tm="25840">
                                          <p:val>
                                            <p:fltVal val="-0.0113"/>
                                          </p:val>
                                        </p:tav>
                                        <p:tav tm="26970">
                                          <p:val>
                                            <p:fltVal val="-0.0013"/>
                                          </p:val>
                                        </p:tav>
                                        <p:tav tm="28090">
                                          <p:val>
                                            <p:fltVal val="0.0124"/>
                                          </p:val>
                                        </p:tav>
                                        <p:tav tm="29210">
                                          <p:val>
                                            <p:fltVal val="0.0309"/>
                                          </p:val>
                                        </p:tav>
                                        <p:tav tm="30340">
                                          <p:val>
                                            <p:fltVal val="0.0546"/>
                                          </p:val>
                                        </p:tav>
                                        <p:tav tm="31460">
                                          <p:val>
                                            <p:fltVal val="0.0842"/>
                                          </p:val>
                                        </p:tav>
                                        <p:tav tm="32580">
                                          <p:val>
                                            <p:fltVal val="0.1204"/>
                                          </p:val>
                                        </p:tav>
                                        <p:tav tm="33710">
                                          <p:val>
                                            <p:fltVal val="0.1634"/>
                                          </p:val>
                                        </p:tav>
                                        <p:tav tm="34830">
                                          <p:val>
                                            <p:fltVal val="0.2145"/>
                                          </p:val>
                                        </p:tav>
                                        <p:tav tm="35960">
                                          <p:val>
                                            <p:fltVal val="0.2711"/>
                                          </p:val>
                                        </p:tav>
                                        <p:tav tm="37080">
                                          <p:val>
                                            <p:fltVal val="0.3207"/>
                                          </p:val>
                                        </p:tav>
                                        <p:tav tm="38200">
                                          <p:val>
                                            <p:fltVal val="0.3625"/>
                                          </p:val>
                                        </p:tav>
                                        <p:tav tm="39330">
                                          <p:val>
                                            <p:fltVal val="0.3973"/>
                                          </p:val>
                                        </p:tav>
                                        <p:tav tm="40450">
                                          <p:val>
                                            <p:fltVal val="0.4256"/>
                                          </p:val>
                                        </p:tav>
                                        <p:tav tm="41570">
                                          <p:val>
                                            <p:fltVal val="0.448"/>
                                          </p:val>
                                        </p:tav>
                                        <p:tav tm="42700">
                                          <p:val>
                                            <p:fltVal val="0.4655"/>
                                          </p:val>
                                        </p:tav>
                                        <p:tav tm="43820">
                                          <p:val>
                                            <p:fltVal val="0.4786"/>
                                          </p:val>
                                        </p:tav>
                                        <p:tav tm="44940">
                                          <p:val>
                                            <p:fltVal val="0.4878"/>
                                          </p:val>
                                        </p:tav>
                                        <p:tav tm="46070">
                                          <p:val>
                                            <p:fltVal val="0.4939"/>
                                          </p:val>
                                        </p:tav>
                                        <p:tav tm="47190">
                                          <p:val>
                                            <p:fltVal val="0.4975"/>
                                          </p:val>
                                        </p:tav>
                                        <p:tav tm="48310">
                                          <p:val>
                                            <p:fltVal val="0.4993"/>
                                          </p:val>
                                        </p:tav>
                                        <p:tav tm="49440">
                                          <p:val>
                                            <p:fltVal val="0.4999"/>
                                          </p:val>
                                        </p:tav>
                                        <p:tav tm="50560">
                                          <p:val>
                                            <p:fltVal val="0.4999"/>
                                          </p:val>
                                        </p:tav>
                                        <p:tav tm="51690">
                                          <p:val>
                                            <p:fltVal val="0.4998"/>
                                          </p:val>
                                        </p:tav>
                                        <p:tav tm="52810">
                                          <p:val>
                                            <p:fltVal val="0.4988"/>
                                          </p:val>
                                        </p:tav>
                                        <p:tav tm="53930">
                                          <p:val>
                                            <p:fltVal val="0.4965"/>
                                          </p:val>
                                        </p:tav>
                                        <p:tav tm="55060">
                                          <p:val>
                                            <p:fltVal val="0.4921"/>
                                          </p:val>
                                        </p:tav>
                                        <p:tav tm="56180">
                                          <p:val>
                                            <p:fltVal val="0.485"/>
                                          </p:val>
                                        </p:tav>
                                        <p:tav tm="57300">
                                          <p:val>
                                            <p:fltVal val="0.4746"/>
                                          </p:val>
                                        </p:tav>
                                        <p:tav tm="58430">
                                          <p:val>
                                            <p:fltVal val="0.4603"/>
                                          </p:val>
                                        </p:tav>
                                        <p:tav tm="59550">
                                          <p:val>
                                            <p:fltVal val="0.4411"/>
                                          </p:val>
                                        </p:tav>
                                        <p:tav tm="60670">
                                          <p:val>
                                            <p:fltVal val="0.4169"/>
                                          </p:val>
                                        </p:tav>
                                        <p:tav tm="61800">
                                          <p:val>
                                            <p:fltVal val="0.3868"/>
                                          </p:val>
                                        </p:tav>
                                        <p:tav tm="62920">
                                          <p:val>
                                            <p:fltVal val="0.3499"/>
                                          </p:val>
                                        </p:tav>
                                        <p:tav tm="64040">
                                          <p:val>
                                            <p:fltVal val="0.306"/>
                                          </p:val>
                                        </p:tav>
                                        <p:tav tm="65170">
                                          <p:val>
                                            <p:fltVal val="0.2544"/>
                                          </p:val>
                                        </p:tav>
                                        <p:tav tm="66290">
                                          <p:val>
                                            <p:fltVal val="0.1981"/>
                                          </p:val>
                                        </p:tav>
                                        <p:tav tm="67420">
                                          <p:val>
                                            <p:fltVal val="0.1498"/>
                                          </p:val>
                                        </p:tav>
                                        <p:tav tm="68540">
                                          <p:val>
                                            <p:fltVal val="0.1087"/>
                                          </p:val>
                                        </p:tav>
                                        <p:tav tm="69660">
                                          <p:val>
                                            <p:fltVal val="0.0748"/>
                                          </p:val>
                                        </p:tav>
                                        <p:tav tm="70790">
                                          <p:val>
                                            <p:fltVal val="0.0473"/>
                                          </p:val>
                                        </p:tav>
                                        <p:tav tm="71910">
                                          <p:val>
                                            <p:fltVal val="0.0251"/>
                                          </p:val>
                                        </p:tav>
                                        <p:tav tm="73030">
                                          <p:val>
                                            <p:fltVal val="0.0082"/>
                                          </p:val>
                                        </p:tav>
                                        <p:tav tm="74160">
                                          <p:val>
                                            <p:fltVal val="-0.0044"/>
                                          </p:val>
                                        </p:tav>
                                        <p:tav tm="75280">
                                          <p:val>
                                            <p:fltVal val="-0.0134"/>
                                          </p:val>
                                        </p:tav>
                                        <p:tav tm="76400">
                                          <p:val>
                                            <p:fltVal val="-0.0192"/>
                                          </p:val>
                                        </p:tav>
                                        <p:tav tm="77530">
                                          <p:val>
                                            <p:fltVal val="-0.0227"/>
                                          </p:val>
                                        </p:tav>
                                        <p:tav tm="78650">
                                          <p:val>
                                            <p:fltVal val="-0.0244"/>
                                          </p:val>
                                        </p:tav>
                                        <p:tav tm="79780">
                                          <p:val>
                                            <p:fltVal val="-0.0249"/>
                                          </p:val>
                                        </p:tav>
                                        <p:tav tm="80900">
                                          <p:val>
                                            <p:fltVal val="-0.0249"/>
                                          </p:val>
                                        </p:tav>
                                        <p:tav tm="82020">
                                          <p:val>
                                            <p:fltVal val="-0.0244"/>
                                          </p:val>
                                        </p:tav>
                                        <p:tav tm="83150">
                                          <p:val>
                                            <p:fltVal val="-0.0219"/>
                                          </p:val>
                                        </p:tav>
                                        <p:tav tm="84270">
                                          <p:val>
                                            <p:fltVal val="-0.0156"/>
                                          </p:val>
                                        </p:tav>
                                        <p:tav tm="85390">
                                          <p:val>
                                            <p:fltVal val="-0.0039"/>
                                          </p:val>
                                        </p:tav>
                                        <p:tav tm="86520">
                                          <p:val>
                                            <p:fltVal val="0.0104"/>
                                          </p:val>
                                        </p:tav>
                                        <p:tav tm="87640">
                                          <p:val>
                                            <p:fltVal val="0.0192"/>
                                          </p:val>
                                        </p:tav>
                                        <p:tav tm="88760">
                                          <p:val>
                                            <p:fltVal val="0.0235"/>
                                          </p:val>
                                        </p:tav>
                                        <p:tav tm="89890">
                                          <p:val>
                                            <p:fltVal val="0.0248"/>
                                          </p:val>
                                        </p:tav>
                                        <p:tav tm="91010">
                                          <p:val>
                                            <p:fltVal val="0.0249"/>
                                          </p:val>
                                        </p:tav>
                                        <p:tav tm="92130">
                                          <p:val>
                                            <p:fltVal val="0.0247"/>
                                          </p:val>
                                        </p:tav>
                                        <p:tav tm="93260">
                                          <p:val>
                                            <p:fltVal val="0.0234"/>
                                          </p:val>
                                        </p:tav>
                                        <p:tav tm="94380">
                                          <p:val>
                                            <p:fltVal val="0.0202"/>
                                          </p:val>
                                        </p:tav>
                                        <p:tav tm="95510">
                                          <p:val>
                                            <p:fltVal val="0.0143"/>
                                          </p:val>
                                        </p:tav>
                                        <p:tav tm="96630">
                                          <p:val>
                                            <p:fltVal val="0.0071"/>
                                          </p:val>
                                        </p:tav>
                                        <p:tav tm="97750">
                                          <p:val>
                                            <p:fltVal val="0.0027"/>
                                          </p:val>
                                        </p:tav>
                                        <p:tav tm="98880">
                                          <p:val>
                                            <p:fltVal val="0.0007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1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2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0.9999"/>
                                          </p:val>
                                        </p:tav>
                                        <p:tav tm="2250">
                                          <p:val>
                                            <p:fltVal val="0.9994"/>
                                          </p:val>
                                        </p:tav>
                                        <p:tav tm="3370">
                                          <p:val>
                                            <p:fltVal val="0.9981"/>
                                          </p:val>
                                        </p:tav>
                                        <p:tav tm="4490">
                                          <p:val>
                                            <p:fltVal val="0.9955"/>
                                          </p:val>
                                        </p:tav>
                                        <p:tav tm="5620">
                                          <p:val>
                                            <p:fltVal val="0.9913"/>
                                          </p:val>
                                        </p:tav>
                                        <p:tav tm="6740">
                                          <p:val>
                                            <p:fltVal val="0.985"/>
                                          </p:val>
                                        </p:tav>
                                        <p:tav tm="7870">
                                          <p:val>
                                            <p:fltVal val="0.9763"/>
                                          </p:val>
                                        </p:tav>
                                        <p:tav tm="8990">
                                          <p:val>
                                            <p:fltVal val="0.9646"/>
                                          </p:val>
                                        </p:tav>
                                        <p:tav tm="10110">
                                          <p:val>
                                            <p:fltVal val="0.9497"/>
                                          </p:val>
                                        </p:tav>
                                        <p:tav tm="11240">
                                          <p:val>
                                            <p:fltVal val="0.9348"/>
                                          </p:val>
                                        </p:tav>
                                        <p:tav tm="12360">
                                          <p:val>
                                            <p:fltVal val="0.9232"/>
                                          </p:val>
                                        </p:tav>
                                        <p:tav tm="13480">
                                          <p:val>
                                            <p:fltVal val="0.9146"/>
                                          </p:val>
                                        </p:tav>
                                        <p:tav tm="14610">
                                          <p:val>
                                            <p:fltVal val="0.9084"/>
                                          </p:val>
                                        </p:tav>
                                        <p:tav tm="15730">
                                          <p:val>
                                            <p:fltVal val="0.9042"/>
                                          </p:val>
                                        </p:tav>
                                        <p:tav tm="16850">
                                          <p:val>
                                            <p:fltVal val="0.9017"/>
                                          </p:val>
                                        </p:tav>
                                        <p:tav tm="17980">
                                          <p:val>
                                            <p:fltVal val="0.9005"/>
                                          </p:val>
                                        </p:tav>
                                        <p:tav tm="19100">
                                          <p:val>
                                            <p:fltVal val="0.9"/>
                                          </p:val>
                                        </p:tav>
                                        <p:tav tm="20220">
                                          <p:val>
                                            <p:fltVal val="0.8999"/>
                                          </p:val>
                                        </p:tav>
                                        <p:tav tm="21350">
                                          <p:val>
                                            <p:fltVal val="0.9006"/>
                                          </p:val>
                                        </p:tav>
                                        <p:tav tm="22470">
                                          <p:val>
                                            <p:fltVal val="0.9046"/>
                                          </p:val>
                                        </p:tav>
                                        <p:tav tm="23600">
                                          <p:val>
                                            <p:fltVal val="0.9153"/>
                                          </p:val>
                                        </p:tav>
                                        <p:tav tm="24720">
                                          <p:val>
                                            <p:fltVal val="0.9362"/>
                                          </p:val>
                                        </p:tav>
                                        <p:tav tm="25840">
                                          <p:val>
                                            <p:fltVal val="0.9659"/>
                                          </p:val>
                                        </p:tav>
                                        <p:tav tm="26970">
                                          <p:val>
                                            <p:fltVal val="0.9858"/>
                                          </p:val>
                                        </p:tav>
                                        <p:tav tm="28090">
                                          <p:val>
                                            <p:fltVal val="0.9959"/>
                                          </p:val>
                                        </p:tav>
                                        <p:tav tm="29210">
                                          <p:val>
                                            <p:fltVal val="0.9995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0.9998"/>
                                          </p:val>
                                        </p:tav>
                                        <p:tav tm="68540">
                                          <p:val>
                                            <p:fltVal val="0.9987"/>
                                          </p:val>
                                        </p:tav>
                                        <p:tav tm="69660">
                                          <p:val>
                                            <p:fltVal val="0.9955"/>
                                          </p:val>
                                        </p:tav>
                                        <p:tav tm="70790">
                                          <p:val>
                                            <p:fltVal val="0.9888"/>
                                          </p:val>
                                        </p:tav>
                                        <p:tav tm="71910">
                                          <p:val>
                                            <p:fltVal val="0.9775"/>
                                          </p:val>
                                        </p:tav>
                                        <p:tav tm="73030">
                                          <p:val>
                                            <p:fltVal val="0.9605"/>
                                          </p:val>
                                        </p:tav>
                                        <p:tav tm="74160">
                                          <p:val>
                                            <p:fltVal val="0.9385"/>
                                          </p:val>
                                        </p:tav>
                                        <p:tav tm="75280">
                                          <p:val>
                                            <p:fltVal val="0.9217"/>
                                          </p:val>
                                        </p:tav>
                                        <p:tav tm="76400">
                                          <p:val>
                                            <p:fltVal val="0.9107"/>
                                          </p:val>
                                        </p:tav>
                                        <p:tav tm="77530">
                                          <p:val>
                                            <p:fltVal val="0.9042"/>
                                          </p:val>
                                        </p:tav>
                                        <p:tav tm="78650">
                                          <p:val>
                                            <p:fltVal val="0.901"/>
                                          </p:val>
                                        </p:tav>
                                        <p:tav tm="79780">
                                          <p:val>
                                            <p:fltVal val="0.9"/>
                                          </p:val>
                                        </p:tav>
                                        <p:tav tm="80900">
                                          <p:val>
                                            <p:fltVal val="0.9"/>
                                          </p:val>
                                        </p:tav>
                                        <p:tav tm="82020">
                                          <p:val>
                                            <p:fltVal val="0.901"/>
                                          </p:val>
                                        </p:tav>
                                        <p:tav tm="83150">
                                          <p:val>
                                            <p:fltVal val="0.9061"/>
                                          </p:val>
                                        </p:tav>
                                        <p:tav tm="84270">
                                          <p:val>
                                            <p:fltVal val="0.9186"/>
                                          </p:val>
                                        </p:tav>
                                        <p:tav tm="85390">
                                          <p:val>
                                            <p:fltVal val="0.942"/>
                                          </p:val>
                                        </p:tav>
                                        <p:tav tm="86520">
                                          <p:val>
                                            <p:fltVal val="0.9709"/>
                                          </p:val>
                                        </p:tav>
                                        <p:tav tm="87640">
                                          <p:val>
                                            <p:fltVal val="0.9885"/>
                                          </p:val>
                                        </p:tav>
                                        <p:tav tm="88760">
                                          <p:val>
                                            <p:fltVal val="0.997"/>
                                          </p:val>
                                        </p:tav>
                                        <p:tav tm="89890">
                                          <p:val>
                                            <p:fltVal val="0.9997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5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3d.view.scale.z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1"/>
                                          </p:val>
                                        </p:tav>
                                        <p:tav tm="1120">
                                          <p:val>
                                            <p:fltVal val="1"/>
                                          </p:val>
                                        </p:tav>
                                        <p:tav tm="2250">
                                          <p:val>
                                            <p:fltVal val="1.0002"/>
                                          </p:val>
                                        </p:tav>
                                        <p:tav tm="3370">
                                          <p:val>
                                            <p:fltVal val="1.0009"/>
                                          </p:val>
                                        </p:tav>
                                        <p:tav tm="4490">
                                          <p:val>
                                            <p:fltVal val="1.0023"/>
                                          </p:val>
                                        </p:tav>
                                        <p:tav tm="5620">
                                          <p:val>
                                            <p:fltVal val="1.0046"/>
                                          </p:val>
                                        </p:tav>
                                        <p:tav tm="6740">
                                          <p:val>
                                            <p:fltVal val="1.008"/>
                                          </p:val>
                                        </p:tav>
                                        <p:tav tm="7870">
                                          <p:val>
                                            <p:fltVal val="1.0127"/>
                                          </p:val>
                                        </p:tav>
                                        <p:tav tm="8990">
                                          <p:val>
                                            <p:fltVal val="1.019"/>
                                          </p:val>
                                        </p:tav>
                                        <p:tav tm="10110">
                                          <p:val>
                                            <p:fltVal val="1.0271"/>
                                          </p:val>
                                        </p:tav>
                                        <p:tav tm="11240">
                                          <p:val>
                                            <p:fltVal val="1.0351"/>
                                          </p:val>
                                        </p:tav>
                                        <p:tav tm="12360">
                                          <p:val>
                                            <p:fltVal val="1.0414"/>
                                          </p:val>
                                        </p:tav>
                                        <p:tav tm="13480">
                                          <p:val>
                                            <p:fltVal val="1.046"/>
                                          </p:val>
                                        </p:tav>
                                        <p:tav tm="14610">
                                          <p:val>
                                            <p:fltVal val="1.0494"/>
                                          </p:val>
                                        </p:tav>
                                        <p:tav tm="15730">
                                          <p:val>
                                            <p:fltVal val="1.0516"/>
                                          </p:val>
                                        </p:tav>
                                        <p:tav tm="16850">
                                          <p:val>
                                            <p:fltVal val="1.053"/>
                                          </p:val>
                                        </p:tav>
                                        <p:tav tm="17980">
                                          <p:val>
                                            <p:fltVal val="1.0537"/>
                                          </p:val>
                                        </p:tav>
                                        <p:tav tm="19100">
                                          <p:val>
                                            <p:fltVal val="1.0539"/>
                                          </p:val>
                                        </p:tav>
                                        <p:tav tm="20220">
                                          <p:val>
                                            <p:fltVal val="1.054"/>
                                          </p:val>
                                        </p:tav>
                                        <p:tav tm="21350">
                                          <p:val>
                                            <p:fltVal val="1.0536"/>
                                          </p:val>
                                        </p:tav>
                                        <p:tav tm="22470">
                                          <p:val>
                                            <p:fltVal val="1.0515"/>
                                          </p:val>
                                        </p:tav>
                                        <p:tav tm="23600">
                                          <p:val>
                                            <p:fltVal val="1.0457"/>
                                          </p:val>
                                        </p:tav>
                                        <p:tav tm="24720">
                                          <p:val>
                                            <p:fltVal val="1.0344"/>
                                          </p:val>
                                        </p:tav>
                                        <p:tav tm="25840">
                                          <p:val>
                                            <p:fltVal val="1.0183"/>
                                          </p:val>
                                        </p:tav>
                                        <p:tav tm="26970">
                                          <p:val>
                                            <p:fltVal val="1.0076"/>
                                          </p:val>
                                        </p:tav>
                                        <p:tav tm="28090">
                                          <p:val>
                                            <p:fltVal val="1.0021"/>
                                          </p:val>
                                        </p:tav>
                                        <p:tav tm="29210">
                                          <p:val>
                                            <p:fltVal val="1.0002"/>
                                          </p:val>
                                        </p:tav>
                                        <p:tav tm="30340">
                                          <p:val>
                                            <p:fltVal val="1"/>
                                          </p:val>
                                        </p:tav>
                                        <p:tav tm="31460">
                                          <p:val>
                                            <p:fltVal val="1"/>
                                          </p:val>
                                        </p:tav>
                                        <p:tav tm="32580">
                                          <p:val>
                                            <p:fltVal val="1"/>
                                          </p:val>
                                        </p:tav>
                                        <p:tav tm="33710">
                                          <p:val>
                                            <p:fltVal val="1"/>
                                          </p:val>
                                        </p:tav>
                                        <p:tav tm="34830">
                                          <p:val>
                                            <p:fltVal val="1"/>
                                          </p:val>
                                        </p:tav>
                                        <p:tav tm="35960">
                                          <p:val>
                                            <p:fltVal val="1"/>
                                          </p:val>
                                        </p:tav>
                                        <p:tav tm="37080">
                                          <p:val>
                                            <p:fltVal val="1"/>
                                          </p:val>
                                        </p:tav>
                                        <p:tav tm="38200">
                                          <p:val>
                                            <p:fltVal val="1"/>
                                          </p:val>
                                        </p:tav>
                                        <p:tav tm="39330">
                                          <p:val>
                                            <p:fltVal val="1"/>
                                          </p:val>
                                        </p:tav>
                                        <p:tav tm="40450">
                                          <p:val>
                                            <p:fltVal val="1"/>
                                          </p:val>
                                        </p:tav>
                                        <p:tav tm="41570">
                                          <p:val>
                                            <p:fltVal val="1"/>
                                          </p:val>
                                        </p:tav>
                                        <p:tav tm="42700">
                                          <p:val>
                                            <p:fltVal val="1"/>
                                          </p:val>
                                        </p:tav>
                                        <p:tav tm="43820">
                                          <p:val>
                                            <p:fltVal val="1"/>
                                          </p:val>
                                        </p:tav>
                                        <p:tav tm="44940">
                                          <p:val>
                                            <p:fltVal val="1"/>
                                          </p:val>
                                        </p:tav>
                                        <p:tav tm="46070">
                                          <p:val>
                                            <p:fltVal val="1"/>
                                          </p:val>
                                        </p:tav>
                                        <p:tav tm="47190">
                                          <p:val>
                                            <p:fltVal val="1"/>
                                          </p:val>
                                        </p:tav>
                                        <p:tav tm="48310">
                                          <p:val>
                                            <p:fltVal val="1"/>
                                          </p:val>
                                        </p:tav>
                                        <p:tav tm="49440">
                                          <p:val>
                                            <p:fltVal val="1"/>
                                          </p:val>
                                        </p:tav>
                                        <p:tav tm="50560">
                                          <p:val>
                                            <p:fltVal val="1"/>
                                          </p:val>
                                        </p:tav>
                                        <p:tav tm="51690">
                                          <p:val>
                                            <p:fltVal val="1"/>
                                          </p:val>
                                        </p:tav>
                                        <p:tav tm="52810">
                                          <p:val>
                                            <p:fltVal val="1"/>
                                          </p:val>
                                        </p:tav>
                                        <p:tav tm="53930">
                                          <p:val>
                                            <p:fltVal val="1"/>
                                          </p:val>
                                        </p:tav>
                                        <p:tav tm="55060">
                                          <p:val>
                                            <p:fltVal val="1"/>
                                          </p:val>
                                        </p:tav>
                                        <p:tav tm="56180">
                                          <p:val>
                                            <p:fltVal val="1"/>
                                          </p:val>
                                        </p:tav>
                                        <p:tav tm="57300">
                                          <p:val>
                                            <p:fltVal val="1"/>
                                          </p:val>
                                        </p:tav>
                                        <p:tav tm="58430">
                                          <p:val>
                                            <p:fltVal val="1"/>
                                          </p:val>
                                        </p:tav>
                                        <p:tav tm="59550">
                                          <p:val>
                                            <p:fltVal val="1"/>
                                          </p:val>
                                        </p:tav>
                                        <p:tav tm="60670">
                                          <p:val>
                                            <p:fltVal val="1"/>
                                          </p:val>
                                        </p:tav>
                                        <p:tav tm="61800">
                                          <p:val>
                                            <p:fltVal val="1"/>
                                          </p:val>
                                        </p:tav>
                                        <p:tav tm="62920">
                                          <p:val>
                                            <p:fltVal val="1"/>
                                          </p:val>
                                        </p:tav>
                                        <p:tav tm="64040">
                                          <p:val>
                                            <p:fltVal val="1"/>
                                          </p:val>
                                        </p:tav>
                                        <p:tav tm="65170">
                                          <p:val>
                                            <p:fltVal val="1"/>
                                          </p:val>
                                        </p:tav>
                                        <p:tav tm="66290">
                                          <p:val>
                                            <p:fltVal val="1"/>
                                          </p:val>
                                        </p:tav>
                                        <p:tav tm="67420">
                                          <p:val>
                                            <p:fltVal val="1"/>
                                          </p:val>
                                        </p:tav>
                                        <p:tav tm="68540">
                                          <p:val>
                                            <p:fltVal val="1.0006"/>
                                          </p:val>
                                        </p:tav>
                                        <p:tav tm="69660">
                                          <p:val>
                                            <p:fltVal val="1.0024"/>
                                          </p:val>
                                        </p:tav>
                                        <p:tav tm="70790">
                                          <p:val>
                                            <p:fltVal val="1.006"/>
                                          </p:val>
                                        </p:tav>
                                        <p:tav tm="71910">
                                          <p:val>
                                            <p:fltVal val="1.0121"/>
                                          </p:val>
                                        </p:tav>
                                        <p:tav tm="73030">
                                          <p:val>
                                            <p:fltVal val="1.0213"/>
                                          </p:val>
                                        </p:tav>
                                        <p:tav tm="74160">
                                          <p:val>
                                            <p:fltVal val="1.0331"/>
                                          </p:val>
                                        </p:tav>
                                        <p:tav tm="75280">
                                          <p:val>
                                            <p:fltVal val="1.0422"/>
                                          </p:val>
                                        </p:tav>
                                        <p:tav tm="76400">
                                          <p:val>
                                            <p:fltVal val="1.0482"/>
                                          </p:val>
                                        </p:tav>
                                        <p:tav tm="77530">
                                          <p:val>
                                            <p:fltVal val="1.0516"/>
                                          </p:val>
                                        </p:tav>
                                        <p:tav tm="78650">
                                          <p:val>
                                            <p:fltVal val="1.0534"/>
                                          </p:val>
                                        </p:tav>
                                        <p:tav tm="79780">
                                          <p:val>
                                            <p:fltVal val="1.0539"/>
                                          </p:val>
                                        </p:tav>
                                        <p:tav tm="80900">
                                          <p:val>
                                            <p:fltVal val="1.0539"/>
                                          </p:val>
                                        </p:tav>
                                        <p:tav tm="82020">
                                          <p:val>
                                            <p:fltVal val="1.0534"/>
                                          </p:val>
                                        </p:tav>
                                        <p:tav tm="83150">
                                          <p:val>
                                            <p:fltVal val="1.0506"/>
                                          </p:val>
                                        </p:tav>
                                        <p:tav tm="84270">
                                          <p:val>
                                            <p:fltVal val="1.0439"/>
                                          </p:val>
                                        </p:tav>
                                        <p:tav tm="85390">
                                          <p:val>
                                            <p:fltVal val="1.0312"/>
                                          </p:val>
                                        </p:tav>
                                        <p:tav tm="86520">
                                          <p:val>
                                            <p:fltVal val="1.0156"/>
                                          </p:val>
                                        </p:tav>
                                        <p:tav tm="87640">
                                          <p:val>
                                            <p:fltVal val="1.0061"/>
                                          </p:val>
                                        </p:tav>
                                        <p:tav tm="88760">
                                          <p:val>
                                            <p:fltVal val="1.0015"/>
                                          </p:val>
                                        </p:tav>
                                        <p:tav tm="89890">
                                          <p:val>
                                            <p:fltVal val="1.0001"/>
                                          </p:val>
                                        </p:tav>
                                        <p:tav tm="91010">
                                          <p:val>
                                            <p:fltVal val="1"/>
                                          </p:val>
                                        </p:tav>
                                        <p:tav tm="92130">
                                          <p:val>
                                            <p:fltVal val="1"/>
                                          </p:val>
                                        </p:tav>
                                        <p:tav tm="93260">
                                          <p:val>
                                            <p:fltVal val="1"/>
                                          </p:val>
                                        </p:tav>
                                        <p:tav tm="94380">
                                          <p:val>
                                            <p:fltVal val="1"/>
                                          </p:val>
                                        </p:tav>
                                        <p:tav tm="95510">
                                          <p:val>
                                            <p:fltVal val="1"/>
                                          </p:val>
                                        </p:tav>
                                        <p:tav tm="96630">
                                          <p:val>
                                            <p:fltVal val="1"/>
                                          </p:val>
                                        </p:tav>
                                        <p:tav tm="97750">
                                          <p:val>
                                            <p:fltVal val="1"/>
                                          </p:val>
                                        </p:tav>
                                        <p:tav tm="98880">
                                          <p:val>
                                            <p:fltVal val="1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55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6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EF4246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123" grpId="0"/>
      <p:bldP spid="125" grpId="0"/>
      <p:bldP spid="4" grpId="0"/>
      <p:bldP spid="12" grpId="0"/>
      <p:bldP spid="14" grpId="0"/>
      <p:bldP spid="14" grpId="1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Figuras Geométricas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2"/>
            <a:ext cx="11121832" cy="441574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cuerpos geométricos limitados por polígonos </a:t>
            </a:r>
            <a:r>
              <a:rPr lang="es-ES" sz="2000" b="1" dirty="0"/>
              <a:t>se llaman poliedros.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1ABDE47-6C7B-1F39-6479-928D04341721}"/>
              </a:ext>
            </a:extLst>
          </p:cNvPr>
          <p:cNvGrpSpPr/>
          <p:nvPr/>
        </p:nvGrpSpPr>
        <p:grpSpPr>
          <a:xfrm>
            <a:off x="5002435" y="1782897"/>
            <a:ext cx="1848436" cy="1776412"/>
            <a:chOff x="1772543" y="3662363"/>
            <a:chExt cx="2299395" cy="2209800"/>
          </a:xfrm>
        </p:grpSpPr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0AE750ED-19A0-892E-7588-FFD03FCA8DC9}"/>
                </a:ext>
              </a:extLst>
            </p:cNvPr>
            <p:cNvCxnSpPr/>
            <p:nvPr/>
          </p:nvCxnSpPr>
          <p:spPr>
            <a:xfrm>
              <a:off x="2665161" y="3677171"/>
              <a:ext cx="0" cy="1193279"/>
            </a:xfrm>
            <a:prstGeom prst="line">
              <a:avLst/>
            </a:prstGeom>
            <a:ln w="28575" cap="rnd">
              <a:solidFill>
                <a:schemeClr val="accent1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5AC12D2F-AAA5-940F-54FB-DB0EE21381BB}"/>
                </a:ext>
              </a:extLst>
            </p:cNvPr>
            <p:cNvCxnSpPr/>
            <p:nvPr/>
          </p:nvCxnSpPr>
          <p:spPr>
            <a:xfrm flipH="1">
              <a:off x="2665161" y="4808732"/>
              <a:ext cx="1406777" cy="61718"/>
            </a:xfrm>
            <a:prstGeom prst="line">
              <a:avLst/>
            </a:prstGeom>
            <a:ln w="28575" cap="rnd">
              <a:solidFill>
                <a:schemeClr val="accent1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D2C3F6A5-07D4-9450-7EB5-B879F61381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2543" y="4866753"/>
              <a:ext cx="892618" cy="572022"/>
            </a:xfrm>
            <a:prstGeom prst="line">
              <a:avLst/>
            </a:prstGeom>
            <a:ln w="28575" cap="rnd">
              <a:solidFill>
                <a:schemeClr val="accent1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906EA4EE-BCFA-D212-F018-6C63400F611E}"/>
                </a:ext>
              </a:extLst>
            </p:cNvPr>
            <p:cNvGrpSpPr/>
            <p:nvPr/>
          </p:nvGrpSpPr>
          <p:grpSpPr>
            <a:xfrm>
              <a:off x="1772543" y="3662363"/>
              <a:ext cx="2299395" cy="2209800"/>
              <a:chOff x="1963043" y="3700463"/>
              <a:chExt cx="2299395" cy="2209800"/>
            </a:xfrm>
          </p:grpSpPr>
          <p:cxnSp>
            <p:nvCxnSpPr>
              <p:cNvPr id="11" name="Conector recto 10">
                <a:extLst>
                  <a:ext uri="{FF2B5EF4-FFF2-40B4-BE49-F238E27FC236}">
                    <a16:creationId xmlns:a16="http://schemas.microsoft.com/office/drawing/2014/main" id="{27C81A97-B3AF-D006-F0D0-A88271E646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963043" y="4026289"/>
                <a:ext cx="448415" cy="1450586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Conector recto 11">
                <a:extLst>
                  <a:ext uri="{FF2B5EF4-FFF2-40B4-BE49-F238E27FC236}">
                    <a16:creationId xmlns:a16="http://schemas.microsoft.com/office/drawing/2014/main" id="{0E13F806-C8E5-6241-E366-10F570BCA3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52763" y="4271963"/>
                <a:ext cx="90487" cy="1638300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Conector recto 12">
                <a:extLst>
                  <a:ext uri="{FF2B5EF4-FFF2-40B4-BE49-F238E27FC236}">
                    <a16:creationId xmlns:a16="http://schemas.microsoft.com/office/drawing/2014/main" id="{47F46285-41BF-0D18-819E-71EEA0F832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39834" y="4107251"/>
                <a:ext cx="587071" cy="1479162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ector recto 13">
                <a:extLst>
                  <a:ext uri="{FF2B5EF4-FFF2-40B4-BE49-F238E27FC236}">
                    <a16:creationId xmlns:a16="http://schemas.microsoft.com/office/drawing/2014/main" id="{E84DCF2D-F43F-67EE-3CD4-42628EE2FD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05239" y="4043363"/>
                <a:ext cx="647524" cy="219075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ector recto 14">
                <a:extLst>
                  <a:ext uri="{FF2B5EF4-FFF2-40B4-BE49-F238E27FC236}">
                    <a16:creationId xmlns:a16="http://schemas.microsoft.com/office/drawing/2014/main" id="{8B5962FF-F105-D940-8714-DC3E5FB9C9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57676" y="3700463"/>
                <a:ext cx="782158" cy="0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ector recto 15">
                <a:extLst>
                  <a:ext uri="{FF2B5EF4-FFF2-40B4-BE49-F238E27FC236}">
                    <a16:creationId xmlns:a16="http://schemas.microsoft.com/office/drawing/2014/main" id="{C1718AA3-2325-AF8F-3A6E-87F561730D6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52763" y="4107251"/>
                <a:ext cx="587071" cy="155187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Conector recto 16">
                <a:extLst>
                  <a:ext uri="{FF2B5EF4-FFF2-40B4-BE49-F238E27FC236}">
                    <a16:creationId xmlns:a16="http://schemas.microsoft.com/office/drawing/2014/main" id="{3C34D96F-1700-E22B-0905-48B8B7D31A0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39834" y="3715271"/>
                <a:ext cx="0" cy="391980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Conector recto 17">
                <a:extLst>
                  <a:ext uri="{FF2B5EF4-FFF2-40B4-BE49-F238E27FC236}">
                    <a16:creationId xmlns:a16="http://schemas.microsoft.com/office/drawing/2014/main" id="{1E9AD896-5CED-587C-C275-3A77105328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639834" y="3700463"/>
                <a:ext cx="622604" cy="1146369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ector recto 18">
                <a:extLst>
                  <a:ext uri="{FF2B5EF4-FFF2-40B4-BE49-F238E27FC236}">
                    <a16:creationId xmlns:a16="http://schemas.microsoft.com/office/drawing/2014/main" id="{98F44FD7-6C43-D696-6DC9-0113F6EE3CA0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V="1">
                <a:off x="2415691" y="3700463"/>
                <a:ext cx="439970" cy="317289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Conector recto 19">
                <a:extLst>
                  <a:ext uri="{FF2B5EF4-FFF2-40B4-BE49-F238E27FC236}">
                    <a16:creationId xmlns:a16="http://schemas.microsoft.com/office/drawing/2014/main" id="{6A59C25A-0581-3F5C-E14A-439B9ED1AE4D}"/>
                  </a:ext>
                </a:extLst>
              </p:cNvPr>
              <p:cNvCxnSpPr/>
              <p:nvPr/>
            </p:nvCxnSpPr>
            <p:spPr>
              <a:xfrm>
                <a:off x="1963043" y="5476875"/>
                <a:ext cx="1180207" cy="433388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Conector recto 20">
                <a:extLst>
                  <a:ext uri="{FF2B5EF4-FFF2-40B4-BE49-F238E27FC236}">
                    <a16:creationId xmlns:a16="http://schemas.microsoft.com/office/drawing/2014/main" id="{D5AFE0AA-3C5D-4DDB-4C67-90B5ABB72C69}"/>
                  </a:ext>
                </a:extLst>
              </p:cNvPr>
              <p:cNvCxnSpPr/>
              <p:nvPr/>
            </p:nvCxnSpPr>
            <p:spPr>
              <a:xfrm flipV="1">
                <a:off x="3143250" y="5586413"/>
                <a:ext cx="1083655" cy="323850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ector recto 21">
                <a:extLst>
                  <a:ext uri="{FF2B5EF4-FFF2-40B4-BE49-F238E27FC236}">
                    <a16:creationId xmlns:a16="http://schemas.microsoft.com/office/drawing/2014/main" id="{B05F47D7-02DE-E37A-A7C2-4A0725237AC5}"/>
                  </a:ext>
                </a:extLst>
              </p:cNvPr>
              <p:cNvCxnSpPr/>
              <p:nvPr/>
            </p:nvCxnSpPr>
            <p:spPr>
              <a:xfrm flipV="1">
                <a:off x="4226905" y="4846832"/>
                <a:ext cx="35533" cy="739581"/>
              </a:xfrm>
              <a:prstGeom prst="line">
                <a:avLst/>
              </a:prstGeom>
              <a:ln w="28575" cap="rnd">
                <a:solidFill>
                  <a:schemeClr val="tx2">
                    <a:lumMod val="75000"/>
                    <a:lumOff val="25000"/>
                  </a:schemeClr>
                </a:solidFill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E8C0D1B7-4D06-29D6-0017-4312796A8993}"/>
              </a:ext>
            </a:extLst>
          </p:cNvPr>
          <p:cNvGrpSpPr/>
          <p:nvPr/>
        </p:nvGrpSpPr>
        <p:grpSpPr>
          <a:xfrm>
            <a:off x="3137085" y="1815679"/>
            <a:ext cx="5600430" cy="1813376"/>
            <a:chOff x="3137085" y="1815679"/>
            <a:chExt cx="5600430" cy="1813376"/>
          </a:xfrm>
        </p:grpSpPr>
        <p:cxnSp>
          <p:nvCxnSpPr>
            <p:cNvPr id="23" name="Conector recto de flecha 22">
              <a:extLst>
                <a:ext uri="{FF2B5EF4-FFF2-40B4-BE49-F238E27FC236}">
                  <a16:creationId xmlns:a16="http://schemas.microsoft.com/office/drawing/2014/main" id="{1B3D112E-B59C-1BA4-82D9-2B8B066CC6F4}"/>
                </a:ext>
              </a:extLst>
            </p:cNvPr>
            <p:cNvCxnSpPr>
              <a:cxnSpLocks/>
            </p:cNvCxnSpPr>
            <p:nvPr/>
          </p:nvCxnSpPr>
          <p:spPr>
            <a:xfrm>
              <a:off x="4434302" y="2727378"/>
              <a:ext cx="959166" cy="2370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de flecha 24">
              <a:extLst>
                <a:ext uri="{FF2B5EF4-FFF2-40B4-BE49-F238E27FC236}">
                  <a16:creationId xmlns:a16="http://schemas.microsoft.com/office/drawing/2014/main" id="{A87D020C-0BA5-1886-55AC-A7F2D9EE8D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96717" y="2057795"/>
              <a:ext cx="807886" cy="30003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de flecha 25">
              <a:extLst>
                <a:ext uri="{FF2B5EF4-FFF2-40B4-BE49-F238E27FC236}">
                  <a16:creationId xmlns:a16="http://schemas.microsoft.com/office/drawing/2014/main" id="{69236A95-5372-9796-3B56-D8B88745F0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22307" y="3313067"/>
              <a:ext cx="514351" cy="96257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6C4D41AD-D60B-A01F-4F20-BD8E3070F09F}"/>
                </a:ext>
              </a:extLst>
            </p:cNvPr>
            <p:cNvSpPr txBox="1"/>
            <p:nvPr/>
          </p:nvSpPr>
          <p:spPr>
            <a:xfrm>
              <a:off x="3137085" y="2504383"/>
              <a:ext cx="13852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CARAS</a:t>
              </a: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9E07D5C5-B807-841E-D5F7-613A5AF31CAC}"/>
                </a:ext>
              </a:extLst>
            </p:cNvPr>
            <p:cNvSpPr txBox="1"/>
            <p:nvPr/>
          </p:nvSpPr>
          <p:spPr>
            <a:xfrm>
              <a:off x="7294242" y="1815679"/>
              <a:ext cx="13823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LADOS</a:t>
              </a: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7D979DF3-D035-599A-081F-4F94F844BDB3}"/>
                </a:ext>
              </a:extLst>
            </p:cNvPr>
            <p:cNvSpPr txBox="1"/>
            <p:nvPr/>
          </p:nvSpPr>
          <p:spPr>
            <a:xfrm>
              <a:off x="7147838" y="3228945"/>
              <a:ext cx="15896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000" b="1" dirty="0"/>
                <a:t>VÉRTICES</a:t>
              </a:r>
            </a:p>
          </p:txBody>
        </p:sp>
      </p:grpSp>
      <p:sp>
        <p:nvSpPr>
          <p:cNvPr id="33" name="!Marco 10">
            <a:extLst>
              <a:ext uri="{FF2B5EF4-FFF2-40B4-BE49-F238E27FC236}">
                <a16:creationId xmlns:a16="http://schemas.microsoft.com/office/drawing/2014/main" id="{8F9EDFDA-37DE-1C34-B1AD-064390057839}"/>
              </a:ext>
            </a:extLst>
          </p:cNvPr>
          <p:cNvSpPr/>
          <p:nvPr/>
        </p:nvSpPr>
        <p:spPr>
          <a:xfrm>
            <a:off x="535084" y="3828587"/>
            <a:ext cx="11121832" cy="755701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4" name="!CuadroTexto 1">
            <a:extLst>
              <a:ext uri="{FF2B5EF4-FFF2-40B4-BE49-F238E27FC236}">
                <a16:creationId xmlns:a16="http://schemas.microsoft.com/office/drawing/2014/main" id="{E44AC9C0-CAB6-C336-438B-7EFD5CE5460A}"/>
              </a:ext>
            </a:extLst>
          </p:cNvPr>
          <p:cNvSpPr txBox="1"/>
          <p:nvPr/>
        </p:nvSpPr>
        <p:spPr>
          <a:xfrm>
            <a:off x="535084" y="3852494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prisma es un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poliedro limitado por dos polígonos iguales y paralelos</a:t>
            </a:r>
            <a:r>
              <a:rPr lang="es-ES" sz="2000" b="1" dirty="0"/>
              <a:t>, llamados bases,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y varios paralelogramos </a:t>
            </a:r>
            <a:r>
              <a:rPr lang="es-ES" sz="2000" b="1" dirty="0"/>
              <a:t>llamados caras laterales.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3" grpId="0" animBg="1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Figuras Geométricas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2"/>
            <a:ext cx="11121832" cy="441574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Los prismas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cuyas caras son todas rectángulos se llaman ortoedros.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9950C2CF-0058-57F7-ECCF-3311FAE49303}"/>
              </a:ext>
            </a:extLst>
          </p:cNvPr>
          <p:cNvSpPr/>
          <p:nvPr/>
        </p:nvSpPr>
        <p:spPr>
          <a:xfrm>
            <a:off x="535084" y="1678367"/>
            <a:ext cx="11121832" cy="715172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8E8B65EE-889A-5957-1905-DA977833AFA8}"/>
              </a:ext>
            </a:extLst>
          </p:cNvPr>
          <p:cNvSpPr txBox="1"/>
          <p:nvPr/>
        </p:nvSpPr>
        <p:spPr>
          <a:xfrm>
            <a:off x="535084" y="1685653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Si las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bases</a:t>
            </a:r>
            <a:r>
              <a:rPr lang="es-ES" sz="2000" b="1" dirty="0"/>
              <a:t> son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polígonos regulares</a:t>
            </a:r>
            <a:r>
              <a:rPr lang="es-ES" sz="2000" b="1" dirty="0"/>
              <a:t> y las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caras laterales </a:t>
            </a:r>
            <a:r>
              <a:rPr lang="es-ES" sz="2000" b="1" dirty="0"/>
              <a:t>son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rectángulos</a:t>
            </a:r>
            <a:r>
              <a:rPr lang="es-ES" sz="2000" b="1" dirty="0"/>
              <a:t>, el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prisma</a:t>
            </a:r>
            <a:r>
              <a:rPr lang="es-ES" sz="2000" b="1" dirty="0"/>
              <a:t> se llama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regular.</a:t>
            </a: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4151E195-0004-7264-C4EC-0A98F925EA95}"/>
              </a:ext>
            </a:extLst>
          </p:cNvPr>
          <p:cNvGrpSpPr/>
          <p:nvPr/>
        </p:nvGrpSpPr>
        <p:grpSpPr>
          <a:xfrm>
            <a:off x="3979907" y="2803076"/>
            <a:ext cx="1614679" cy="2421250"/>
            <a:chOff x="3126786" y="8726888"/>
            <a:chExt cx="1614679" cy="2421250"/>
          </a:xfrm>
        </p:grpSpPr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46F83863-3AB7-0401-283E-F814C89A9CBE}"/>
                </a:ext>
              </a:extLst>
            </p:cNvPr>
            <p:cNvCxnSpPr>
              <a:cxnSpLocks/>
            </p:cNvCxnSpPr>
            <p:nvPr/>
          </p:nvCxnSpPr>
          <p:spPr>
            <a:xfrm>
              <a:off x="3130549" y="9083118"/>
              <a:ext cx="0" cy="2065020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EB86C3C1-A999-0AA7-3259-0A5678292A1D}"/>
                </a:ext>
              </a:extLst>
            </p:cNvPr>
            <p:cNvCxnSpPr>
              <a:cxnSpLocks/>
            </p:cNvCxnSpPr>
            <p:nvPr/>
          </p:nvCxnSpPr>
          <p:spPr>
            <a:xfrm>
              <a:off x="3130549" y="11148138"/>
              <a:ext cx="1073945" cy="0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22E4AA0E-CAF2-16F2-856B-0282F179169E}"/>
                </a:ext>
              </a:extLst>
            </p:cNvPr>
            <p:cNvCxnSpPr>
              <a:cxnSpLocks/>
            </p:cNvCxnSpPr>
            <p:nvPr/>
          </p:nvCxnSpPr>
          <p:spPr>
            <a:xfrm>
              <a:off x="4204494" y="9083118"/>
              <a:ext cx="0" cy="2065020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2A633D59-0B3B-06F8-6B39-D47D124BD101}"/>
                </a:ext>
              </a:extLst>
            </p:cNvPr>
            <p:cNvCxnSpPr>
              <a:cxnSpLocks/>
            </p:cNvCxnSpPr>
            <p:nvPr/>
          </p:nvCxnSpPr>
          <p:spPr>
            <a:xfrm>
              <a:off x="3130549" y="9083118"/>
              <a:ext cx="1073945" cy="0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DE671F81-FA99-1799-404E-2ADCABD146B3}"/>
                </a:ext>
              </a:extLst>
            </p:cNvPr>
            <p:cNvCxnSpPr/>
            <p:nvPr/>
          </p:nvCxnSpPr>
          <p:spPr>
            <a:xfrm flipV="1">
              <a:off x="3126786" y="8726889"/>
              <a:ext cx="540735" cy="356229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7B35177C-59BB-7828-DABC-36AF744AC1D6}"/>
                </a:ext>
              </a:extLst>
            </p:cNvPr>
            <p:cNvCxnSpPr/>
            <p:nvPr/>
          </p:nvCxnSpPr>
          <p:spPr>
            <a:xfrm flipV="1">
              <a:off x="4200730" y="8726888"/>
              <a:ext cx="540735" cy="356229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FA22355C-2E48-3B63-AB8E-431917CCF6BE}"/>
                </a:ext>
              </a:extLst>
            </p:cNvPr>
            <p:cNvCxnSpPr/>
            <p:nvPr/>
          </p:nvCxnSpPr>
          <p:spPr>
            <a:xfrm flipV="1">
              <a:off x="4200729" y="10791907"/>
              <a:ext cx="540735" cy="356229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547321DD-7BA6-CD3F-9ED0-2B6D6E77D45D}"/>
                </a:ext>
              </a:extLst>
            </p:cNvPr>
            <p:cNvCxnSpPr/>
            <p:nvPr/>
          </p:nvCxnSpPr>
          <p:spPr>
            <a:xfrm flipV="1">
              <a:off x="3126786" y="10791906"/>
              <a:ext cx="540735" cy="356229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67896983-763F-E874-CB59-26E6C5916FFD}"/>
                </a:ext>
              </a:extLst>
            </p:cNvPr>
            <p:cNvCxnSpPr>
              <a:cxnSpLocks/>
            </p:cNvCxnSpPr>
            <p:nvPr/>
          </p:nvCxnSpPr>
          <p:spPr>
            <a:xfrm>
              <a:off x="3663756" y="8726888"/>
              <a:ext cx="1073945" cy="0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74344FA8-B35A-3158-6ABB-11CA86C762E3}"/>
                </a:ext>
              </a:extLst>
            </p:cNvPr>
            <p:cNvCxnSpPr>
              <a:cxnSpLocks/>
            </p:cNvCxnSpPr>
            <p:nvPr/>
          </p:nvCxnSpPr>
          <p:spPr>
            <a:xfrm>
              <a:off x="3663756" y="10791906"/>
              <a:ext cx="1073945" cy="0"/>
            </a:xfrm>
            <a:prstGeom prst="line">
              <a:avLst/>
            </a:prstGeom>
            <a:ln w="28575" cap="rnd">
              <a:solidFill>
                <a:schemeClr val="accent5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6BE946BA-E6C4-EE5C-ED27-DAB4820D0645}"/>
                </a:ext>
              </a:extLst>
            </p:cNvPr>
            <p:cNvCxnSpPr>
              <a:cxnSpLocks/>
            </p:cNvCxnSpPr>
            <p:nvPr/>
          </p:nvCxnSpPr>
          <p:spPr>
            <a:xfrm>
              <a:off x="4737701" y="8726888"/>
              <a:ext cx="0" cy="2065020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7BF42C41-7AEB-EF87-54F9-3E6B57CA07F4}"/>
                </a:ext>
              </a:extLst>
            </p:cNvPr>
            <p:cNvCxnSpPr>
              <a:cxnSpLocks/>
            </p:cNvCxnSpPr>
            <p:nvPr/>
          </p:nvCxnSpPr>
          <p:spPr>
            <a:xfrm>
              <a:off x="3663756" y="8726888"/>
              <a:ext cx="0" cy="2065020"/>
            </a:xfrm>
            <a:prstGeom prst="line">
              <a:avLst/>
            </a:prstGeom>
            <a:ln w="28575" cap="rnd">
              <a:solidFill>
                <a:schemeClr val="accent5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B22D97E1-5528-4BFC-1901-37391CA0DC26}"/>
              </a:ext>
            </a:extLst>
          </p:cNvPr>
          <p:cNvGrpSpPr/>
          <p:nvPr/>
        </p:nvGrpSpPr>
        <p:grpSpPr>
          <a:xfrm>
            <a:off x="6660938" y="2814833"/>
            <a:ext cx="1356753" cy="2357514"/>
            <a:chOff x="5807817" y="8738645"/>
            <a:chExt cx="1356753" cy="2357514"/>
          </a:xfrm>
        </p:grpSpPr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52C076B8-57FB-FB3F-46D9-8AFE8566F826}"/>
                </a:ext>
              </a:extLst>
            </p:cNvPr>
            <p:cNvCxnSpPr>
              <a:cxnSpLocks/>
            </p:cNvCxnSpPr>
            <p:nvPr/>
          </p:nvCxnSpPr>
          <p:spPr>
            <a:xfrm>
              <a:off x="6897341" y="8738645"/>
              <a:ext cx="7591" cy="1744245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CA9496F3-22B6-3855-6B48-18C232A9E218}"/>
                </a:ext>
              </a:extLst>
            </p:cNvPr>
            <p:cNvCxnSpPr>
              <a:cxnSpLocks/>
            </p:cNvCxnSpPr>
            <p:nvPr/>
          </p:nvCxnSpPr>
          <p:spPr>
            <a:xfrm>
              <a:off x="6110245" y="8745855"/>
              <a:ext cx="7591" cy="1744245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BCC75AC4-ACC9-2D3D-0F38-53F660B011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0173" y="9119424"/>
              <a:ext cx="747254" cy="230109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A3FB2A91-4BB9-7A84-A31C-A2AC3C9CFE39}"/>
                </a:ext>
              </a:extLst>
            </p:cNvPr>
            <p:cNvCxnSpPr>
              <a:cxnSpLocks/>
            </p:cNvCxnSpPr>
            <p:nvPr/>
          </p:nvCxnSpPr>
          <p:spPr>
            <a:xfrm>
              <a:off x="5807882" y="9059633"/>
              <a:ext cx="602291" cy="289900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0DA56539-46FC-76CD-C2A0-1315188353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7882" y="8741026"/>
              <a:ext cx="301145" cy="318607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4EE91C9A-337F-A44A-4C5B-D6A3BD8D8B7C}"/>
                </a:ext>
              </a:extLst>
            </p:cNvPr>
            <p:cNvCxnSpPr>
              <a:cxnSpLocks/>
            </p:cNvCxnSpPr>
            <p:nvPr/>
          </p:nvCxnSpPr>
          <p:spPr>
            <a:xfrm>
              <a:off x="6109027" y="8741026"/>
              <a:ext cx="788538" cy="0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BE1252E0-4F31-F9EA-2D08-E86F4003C95E}"/>
                </a:ext>
              </a:extLst>
            </p:cNvPr>
            <p:cNvCxnSpPr>
              <a:cxnSpLocks/>
            </p:cNvCxnSpPr>
            <p:nvPr/>
          </p:nvCxnSpPr>
          <p:spPr>
            <a:xfrm>
              <a:off x="6897565" y="8741026"/>
              <a:ext cx="259862" cy="378398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AED29F3B-A25B-16D9-706D-022B36BC95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6154" y="10866050"/>
              <a:ext cx="747254" cy="230109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15CDD969-91CC-60D4-4AF5-85C980640370}"/>
                </a:ext>
              </a:extLst>
            </p:cNvPr>
            <p:cNvCxnSpPr>
              <a:cxnSpLocks/>
            </p:cNvCxnSpPr>
            <p:nvPr/>
          </p:nvCxnSpPr>
          <p:spPr>
            <a:xfrm>
              <a:off x="5813863" y="10806259"/>
              <a:ext cx="602291" cy="289900"/>
            </a:xfrm>
            <a:prstGeom prst="line">
              <a:avLst/>
            </a:prstGeom>
            <a:ln w="28575" cap="rnd">
              <a:solidFill>
                <a:schemeClr val="accent5">
                  <a:lumMod val="75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C6FE9DE1-FB53-1685-0409-9BFCF683DB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3863" y="10487652"/>
              <a:ext cx="301145" cy="318607"/>
            </a:xfrm>
            <a:prstGeom prst="line">
              <a:avLst/>
            </a:prstGeom>
            <a:ln w="28575" cap="rnd">
              <a:solidFill>
                <a:schemeClr val="accent5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22BF222F-329A-6AAD-808E-D04E7C098698}"/>
                </a:ext>
              </a:extLst>
            </p:cNvPr>
            <p:cNvCxnSpPr>
              <a:cxnSpLocks/>
            </p:cNvCxnSpPr>
            <p:nvPr/>
          </p:nvCxnSpPr>
          <p:spPr>
            <a:xfrm>
              <a:off x="6115008" y="10487652"/>
              <a:ext cx="788538" cy="0"/>
            </a:xfrm>
            <a:prstGeom prst="line">
              <a:avLst/>
            </a:prstGeom>
            <a:ln w="28575" cap="rnd">
              <a:solidFill>
                <a:schemeClr val="accent5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CCC4781D-C588-E9F5-7E11-B6F76F700E65}"/>
                </a:ext>
              </a:extLst>
            </p:cNvPr>
            <p:cNvCxnSpPr/>
            <p:nvPr/>
          </p:nvCxnSpPr>
          <p:spPr>
            <a:xfrm flipH="1" flipV="1">
              <a:off x="6904708" y="10485271"/>
              <a:ext cx="259862" cy="378398"/>
            </a:xfrm>
            <a:prstGeom prst="line">
              <a:avLst/>
            </a:prstGeom>
            <a:ln w="28575">
              <a:solidFill>
                <a:schemeClr val="accent5">
                  <a:lumMod val="60000"/>
                  <a:lumOff val="4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3264E0D0-3268-E76C-D135-0741F8D25C50}"/>
                </a:ext>
              </a:extLst>
            </p:cNvPr>
            <p:cNvCxnSpPr>
              <a:cxnSpLocks/>
            </p:cNvCxnSpPr>
            <p:nvPr/>
          </p:nvCxnSpPr>
          <p:spPr>
            <a:xfrm>
              <a:off x="7156979" y="9119424"/>
              <a:ext cx="7591" cy="1744245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6DE10A9F-32D1-A689-88D9-F6AB8B6B99DE}"/>
                </a:ext>
              </a:extLst>
            </p:cNvPr>
            <p:cNvCxnSpPr>
              <a:cxnSpLocks/>
            </p:cNvCxnSpPr>
            <p:nvPr/>
          </p:nvCxnSpPr>
          <p:spPr>
            <a:xfrm>
              <a:off x="5807817" y="9057186"/>
              <a:ext cx="7591" cy="1744245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4343183C-0EE8-9D5C-7E52-14EC33FCB27E}"/>
                </a:ext>
              </a:extLst>
            </p:cNvPr>
            <p:cNvCxnSpPr>
              <a:cxnSpLocks/>
            </p:cNvCxnSpPr>
            <p:nvPr/>
          </p:nvCxnSpPr>
          <p:spPr>
            <a:xfrm>
              <a:off x="6413226" y="9349533"/>
              <a:ext cx="7591" cy="1744245"/>
            </a:xfrm>
            <a:prstGeom prst="line">
              <a:avLst/>
            </a:prstGeom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CuadroTexto 65">
            <a:extLst>
              <a:ext uri="{FF2B5EF4-FFF2-40B4-BE49-F238E27FC236}">
                <a16:creationId xmlns:a16="http://schemas.microsoft.com/office/drawing/2014/main" id="{04EA9194-2AE8-67B2-B78C-12AA4358063B}"/>
              </a:ext>
            </a:extLst>
          </p:cNvPr>
          <p:cNvSpPr txBox="1"/>
          <p:nvPr/>
        </p:nvSpPr>
        <p:spPr>
          <a:xfrm>
            <a:off x="3802230" y="5438120"/>
            <a:ext cx="18106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ORTOEDRO</a:t>
            </a: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45BA0D58-5C30-D780-EFA8-460C34DA690D}"/>
              </a:ext>
            </a:extLst>
          </p:cNvPr>
          <p:cNvSpPr txBox="1"/>
          <p:nvPr/>
        </p:nvSpPr>
        <p:spPr>
          <a:xfrm>
            <a:off x="6160980" y="5299826"/>
            <a:ext cx="23908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/>
              <a:t>PRISMA PENTAGONAL</a:t>
            </a:r>
          </a:p>
          <a:p>
            <a:pPr algn="ctr"/>
            <a:r>
              <a:rPr lang="es-ES" sz="2000" b="1" dirty="0"/>
              <a:t>REGULAR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64117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4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4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9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64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 animBg="1"/>
      <p:bldP spid="5" grpId="0"/>
      <p:bldP spid="66" grpId="0"/>
      <p:bldP spid="6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Figuras Geométricas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2"/>
            <a:ext cx="11121832" cy="715172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Una pirámide es un poliedro que tiene por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base un polígono regular </a:t>
            </a:r>
            <a:r>
              <a:rPr lang="es-ES" sz="2000" b="1" dirty="0"/>
              <a:t>cualquiera y sus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caras laterales son triángulos.</a:t>
            </a:r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6C905073-E24D-2CB2-AB2C-EACEC0842C9F}"/>
              </a:ext>
            </a:extLst>
          </p:cNvPr>
          <p:cNvCxnSpPr>
            <a:cxnSpLocks/>
          </p:cNvCxnSpPr>
          <p:nvPr/>
        </p:nvCxnSpPr>
        <p:spPr>
          <a:xfrm flipH="1">
            <a:off x="5913083" y="2721420"/>
            <a:ext cx="182918" cy="1532158"/>
          </a:xfrm>
          <a:prstGeom prst="line">
            <a:avLst/>
          </a:prstGeom>
          <a:ln w="38100" cap="rnd">
            <a:solidFill>
              <a:schemeClr val="accent1">
                <a:lumMod val="60000"/>
                <a:lumOff val="40000"/>
              </a:schemeClr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BE8901E3-9167-6EF8-0CA2-CC04DBDB6E7B}"/>
              </a:ext>
            </a:extLst>
          </p:cNvPr>
          <p:cNvCxnSpPr>
            <a:cxnSpLocks/>
          </p:cNvCxnSpPr>
          <p:nvPr/>
        </p:nvCxnSpPr>
        <p:spPr>
          <a:xfrm>
            <a:off x="6096000" y="2694382"/>
            <a:ext cx="885709" cy="1829511"/>
          </a:xfrm>
          <a:prstGeom prst="line">
            <a:avLst/>
          </a:prstGeom>
          <a:ln w="38100" cap="rnd">
            <a:solidFill>
              <a:schemeClr val="tx2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F7EFD30E-E7EF-2280-3DBD-7C6E48BD0D0C}"/>
              </a:ext>
            </a:extLst>
          </p:cNvPr>
          <p:cNvCxnSpPr>
            <a:cxnSpLocks/>
          </p:cNvCxnSpPr>
          <p:nvPr/>
        </p:nvCxnSpPr>
        <p:spPr>
          <a:xfrm>
            <a:off x="6096000" y="2694382"/>
            <a:ext cx="138633" cy="2492833"/>
          </a:xfrm>
          <a:prstGeom prst="line">
            <a:avLst/>
          </a:prstGeom>
          <a:ln w="38100" cap="rnd">
            <a:solidFill>
              <a:schemeClr val="tx2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entro">
            <a:extLst>
              <a:ext uri="{FF2B5EF4-FFF2-40B4-BE49-F238E27FC236}">
                <a16:creationId xmlns:a16="http://schemas.microsoft.com/office/drawing/2014/main" id="{01467223-97DE-C9F7-7778-8CCED7BE5073}"/>
              </a:ext>
            </a:extLst>
          </p:cNvPr>
          <p:cNvCxnSpPr>
            <a:cxnSpLocks/>
          </p:cNvCxnSpPr>
          <p:nvPr/>
        </p:nvCxnSpPr>
        <p:spPr>
          <a:xfrm>
            <a:off x="6069610" y="2749685"/>
            <a:ext cx="0" cy="1975795"/>
          </a:xfrm>
          <a:prstGeom prst="line">
            <a:avLst/>
          </a:prstGeom>
          <a:ln w="28575" cap="rnd">
            <a:solidFill>
              <a:schemeClr val="tx1"/>
            </a:solidFill>
            <a:prstDash val="dash"/>
            <a:round/>
            <a:headEnd type="none"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cto 67">
            <a:extLst>
              <a:ext uri="{FF2B5EF4-FFF2-40B4-BE49-F238E27FC236}">
                <a16:creationId xmlns:a16="http://schemas.microsoft.com/office/drawing/2014/main" id="{942823BB-1192-9F88-47B2-232AEC4FE1AF}"/>
              </a:ext>
            </a:extLst>
          </p:cNvPr>
          <p:cNvCxnSpPr>
            <a:cxnSpLocks/>
          </p:cNvCxnSpPr>
          <p:nvPr/>
        </p:nvCxnSpPr>
        <p:spPr>
          <a:xfrm flipH="1">
            <a:off x="5183335" y="2694382"/>
            <a:ext cx="912665" cy="2203452"/>
          </a:xfrm>
          <a:prstGeom prst="line">
            <a:avLst/>
          </a:prstGeom>
          <a:ln w="38100" cap="rnd">
            <a:solidFill>
              <a:schemeClr val="tx2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cto 68">
            <a:extLst>
              <a:ext uri="{FF2B5EF4-FFF2-40B4-BE49-F238E27FC236}">
                <a16:creationId xmlns:a16="http://schemas.microsoft.com/office/drawing/2014/main" id="{13BF012F-4D10-AAF0-DB9F-8D107B9B8407}"/>
              </a:ext>
            </a:extLst>
          </p:cNvPr>
          <p:cNvCxnSpPr>
            <a:cxnSpLocks/>
          </p:cNvCxnSpPr>
          <p:nvPr/>
        </p:nvCxnSpPr>
        <p:spPr>
          <a:xfrm flipH="1" flipV="1">
            <a:off x="5183335" y="4897834"/>
            <a:ext cx="1051298" cy="289382"/>
          </a:xfrm>
          <a:prstGeom prst="line">
            <a:avLst/>
          </a:prstGeom>
          <a:ln w="38100" cap="rnd">
            <a:solidFill>
              <a:schemeClr val="tx2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cto 69">
            <a:extLst>
              <a:ext uri="{FF2B5EF4-FFF2-40B4-BE49-F238E27FC236}">
                <a16:creationId xmlns:a16="http://schemas.microsoft.com/office/drawing/2014/main" id="{B19DC016-98C2-4D7F-67DC-0A1C7B917C7E}"/>
              </a:ext>
            </a:extLst>
          </p:cNvPr>
          <p:cNvCxnSpPr>
            <a:cxnSpLocks/>
          </p:cNvCxnSpPr>
          <p:nvPr/>
        </p:nvCxnSpPr>
        <p:spPr>
          <a:xfrm flipH="1">
            <a:off x="6234633" y="4544326"/>
            <a:ext cx="747076" cy="642890"/>
          </a:xfrm>
          <a:prstGeom prst="line">
            <a:avLst/>
          </a:prstGeom>
          <a:ln w="38100" cap="rnd">
            <a:solidFill>
              <a:schemeClr val="tx2">
                <a:lumMod val="75000"/>
                <a:lumOff val="2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cto 70">
            <a:extLst>
              <a:ext uri="{FF2B5EF4-FFF2-40B4-BE49-F238E27FC236}">
                <a16:creationId xmlns:a16="http://schemas.microsoft.com/office/drawing/2014/main" id="{BFD014A0-65A9-57E9-F505-E54AB936730F}"/>
              </a:ext>
            </a:extLst>
          </p:cNvPr>
          <p:cNvCxnSpPr>
            <a:cxnSpLocks/>
          </p:cNvCxnSpPr>
          <p:nvPr/>
        </p:nvCxnSpPr>
        <p:spPr>
          <a:xfrm flipH="1">
            <a:off x="5217572" y="4281688"/>
            <a:ext cx="687015" cy="591205"/>
          </a:xfrm>
          <a:prstGeom prst="line">
            <a:avLst/>
          </a:prstGeom>
          <a:ln w="38100" cap="rnd">
            <a:solidFill>
              <a:schemeClr val="accent1">
                <a:lumMod val="60000"/>
                <a:lumOff val="40000"/>
              </a:schemeClr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cto 71">
            <a:extLst>
              <a:ext uri="{FF2B5EF4-FFF2-40B4-BE49-F238E27FC236}">
                <a16:creationId xmlns:a16="http://schemas.microsoft.com/office/drawing/2014/main" id="{18EEF494-9672-2EDF-E047-1E9E5F6744F5}"/>
              </a:ext>
            </a:extLst>
          </p:cNvPr>
          <p:cNvCxnSpPr>
            <a:cxnSpLocks/>
          </p:cNvCxnSpPr>
          <p:nvPr/>
        </p:nvCxnSpPr>
        <p:spPr>
          <a:xfrm>
            <a:off x="5913083" y="4269092"/>
            <a:ext cx="1068626" cy="262638"/>
          </a:xfrm>
          <a:prstGeom prst="line">
            <a:avLst/>
          </a:prstGeom>
          <a:ln w="38100" cap="rnd">
            <a:solidFill>
              <a:schemeClr val="accent1">
                <a:lumMod val="60000"/>
                <a:lumOff val="40000"/>
              </a:schemeClr>
            </a:solidFill>
            <a:prstDash val="sysDash"/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CuadroTexto 72">
            <a:extLst>
              <a:ext uri="{FF2B5EF4-FFF2-40B4-BE49-F238E27FC236}">
                <a16:creationId xmlns:a16="http://schemas.microsoft.com/office/drawing/2014/main" id="{E1ACEDF5-EF43-6A76-0D72-ADA156A7F581}"/>
              </a:ext>
            </a:extLst>
          </p:cNvPr>
          <p:cNvSpPr txBox="1"/>
          <p:nvPr/>
        </p:nvSpPr>
        <p:spPr>
          <a:xfrm>
            <a:off x="535084" y="1986496"/>
            <a:ext cx="1112183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ES" sz="2000" b="1" i="0" u="none" strike="noStrike" baseline="0" dirty="0"/>
              <a:t>Una pirámide es regular cuando la base es un polígono regular y el vértice se proyecta</a:t>
            </a:r>
          </a:p>
          <a:p>
            <a:pPr algn="l"/>
            <a:r>
              <a:rPr lang="es-ES" sz="2000" b="1" i="0" u="none" strike="noStrike" baseline="0" dirty="0"/>
              <a:t>sobre el centro de ese polígono</a:t>
            </a:r>
            <a:endParaRPr lang="es-ES" sz="2000" b="1" dirty="0"/>
          </a:p>
        </p:txBody>
      </p:sp>
      <p:sp>
        <p:nvSpPr>
          <p:cNvPr id="74" name="CuadroTexto 73">
            <a:extLst>
              <a:ext uri="{FF2B5EF4-FFF2-40B4-BE49-F238E27FC236}">
                <a16:creationId xmlns:a16="http://schemas.microsoft.com/office/drawing/2014/main" id="{51A26B52-9960-7B6D-2D37-C7D497382D4C}"/>
              </a:ext>
            </a:extLst>
          </p:cNvPr>
          <p:cNvSpPr txBox="1"/>
          <p:nvPr/>
        </p:nvSpPr>
        <p:spPr>
          <a:xfrm>
            <a:off x="4756150" y="5333052"/>
            <a:ext cx="2679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PIRÁMIDE CUADRÁNGULAR REGULAR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6495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6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15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65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15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150"/>
                            </p:stCondLst>
                            <p:childTnLst>
                              <p:par>
                                <p:cTn id="6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73" grpId="0" uiExpand="1" build="p"/>
      <p:bldP spid="7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E28880-25E0-B55F-DB99-05BD582898D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F4BEB3B-F1CC-7D48-FED8-2C27C1E2EBE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12: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Figuras Geométricas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2"/>
            <a:ext cx="11121832" cy="715172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Un poliedro es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regular si todas sus caras son polígonos regulares idénticos </a:t>
            </a:r>
            <a:r>
              <a:rPr lang="es-ES" sz="2000" b="1" dirty="0"/>
              <a:t>y en cada vértice concurren el mismo número de caras. También se les llama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“sólidos platónicos”.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CD047AC-B31F-0FAB-C230-4AE77D5A69FD}"/>
              </a:ext>
            </a:extLst>
          </p:cNvPr>
          <p:cNvGrpSpPr/>
          <p:nvPr/>
        </p:nvGrpSpPr>
        <p:grpSpPr>
          <a:xfrm>
            <a:off x="2936875" y="2022521"/>
            <a:ext cx="1889919" cy="1622941"/>
            <a:chOff x="2073275" y="10119955"/>
            <a:chExt cx="1889919" cy="1622941"/>
          </a:xfrm>
        </p:grpSpPr>
        <p:cxnSp>
          <p:nvCxnSpPr>
            <p:cNvPr id="4" name="Conector recto 3">
              <a:extLst>
                <a:ext uri="{FF2B5EF4-FFF2-40B4-BE49-F238E27FC236}">
                  <a16:creationId xmlns:a16="http://schemas.microsoft.com/office/drawing/2014/main" id="{73A88810-AE23-FAE8-052E-35DF8548DC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0200" y="11126271"/>
              <a:ext cx="1092994" cy="616625"/>
            </a:xfrm>
            <a:prstGeom prst="line">
              <a:avLst/>
            </a:prstGeom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ector recto 4">
              <a:extLst>
                <a:ext uri="{FF2B5EF4-FFF2-40B4-BE49-F238E27FC236}">
                  <a16:creationId xmlns:a16="http://schemas.microsoft.com/office/drawing/2014/main" id="{1E65AEA7-B295-EA50-415E-23FD21E8D1FA}"/>
                </a:ext>
              </a:extLst>
            </p:cNvPr>
            <p:cNvCxnSpPr>
              <a:cxnSpLocks/>
            </p:cNvCxnSpPr>
            <p:nvPr/>
          </p:nvCxnSpPr>
          <p:spPr>
            <a:xfrm>
              <a:off x="2073275" y="11126270"/>
              <a:ext cx="796925" cy="616625"/>
            </a:xfrm>
            <a:prstGeom prst="line">
              <a:avLst/>
            </a:prstGeom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B2332A73-B98C-70F6-3F9D-61A9B7EA51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73275" y="10119955"/>
              <a:ext cx="941705" cy="1006315"/>
            </a:xfrm>
            <a:prstGeom prst="line">
              <a:avLst/>
            </a:prstGeom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6217B364-68D3-E5DD-85D3-7BF01090CB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14980" y="10119955"/>
              <a:ext cx="948214" cy="1006314"/>
            </a:xfrm>
            <a:prstGeom prst="line">
              <a:avLst/>
            </a:prstGeom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E9BADCD2-83A1-6BF3-9A08-BC40A7CA6642}"/>
                </a:ext>
              </a:extLst>
            </p:cNvPr>
            <p:cNvCxnSpPr>
              <a:cxnSpLocks/>
            </p:cNvCxnSpPr>
            <p:nvPr/>
          </p:nvCxnSpPr>
          <p:spPr>
            <a:xfrm>
              <a:off x="2073275" y="11126269"/>
              <a:ext cx="1889919" cy="0"/>
            </a:xfrm>
            <a:prstGeom prst="line">
              <a:avLst/>
            </a:prstGeom>
            <a:ln cap="rnd">
              <a:solidFill>
                <a:schemeClr val="accent1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C2090685-5252-39F9-869B-E6F9D69948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0200" y="10119955"/>
              <a:ext cx="144780" cy="1622941"/>
            </a:xfrm>
            <a:prstGeom prst="line">
              <a:avLst/>
            </a:prstGeom>
            <a:ln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D4E49E68-AB64-9EED-93B3-00E9A5E18B6D}"/>
              </a:ext>
            </a:extLst>
          </p:cNvPr>
          <p:cNvGrpSpPr/>
          <p:nvPr/>
        </p:nvGrpSpPr>
        <p:grpSpPr>
          <a:xfrm>
            <a:off x="5196679" y="2064634"/>
            <a:ext cx="1639095" cy="1555160"/>
            <a:chOff x="4333079" y="10162068"/>
            <a:chExt cx="1639095" cy="1555160"/>
          </a:xfrm>
        </p:grpSpPr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C6149BF7-BDD6-7D62-4172-749E8D312340}"/>
                </a:ext>
              </a:extLst>
            </p:cNvPr>
            <p:cNvCxnSpPr>
              <a:cxnSpLocks/>
            </p:cNvCxnSpPr>
            <p:nvPr/>
          </p:nvCxnSpPr>
          <p:spPr>
            <a:xfrm>
              <a:off x="4333079" y="11717228"/>
              <a:ext cx="1172369" cy="0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7DBDAA3D-4C75-6467-F94B-90867048F4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3080" y="10552390"/>
              <a:ext cx="0" cy="1159872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E520CDB4-4CAF-D0CA-10AB-5B03B0C574D7}"/>
                </a:ext>
              </a:extLst>
            </p:cNvPr>
            <p:cNvCxnSpPr>
              <a:cxnSpLocks/>
            </p:cNvCxnSpPr>
            <p:nvPr/>
          </p:nvCxnSpPr>
          <p:spPr>
            <a:xfrm>
              <a:off x="4333080" y="10547830"/>
              <a:ext cx="1172369" cy="0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EE486FDA-54BE-8C4D-36CC-0CFFA438F8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5449" y="10552390"/>
              <a:ext cx="0" cy="1159872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2568C251-DE54-0945-EBF1-06D1A15FBE07}"/>
                </a:ext>
              </a:extLst>
            </p:cNvPr>
            <p:cNvCxnSpPr>
              <a:cxnSpLocks/>
            </p:cNvCxnSpPr>
            <p:nvPr/>
          </p:nvCxnSpPr>
          <p:spPr>
            <a:xfrm>
              <a:off x="4799805" y="11326500"/>
              <a:ext cx="1172369" cy="0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7B7D096A-4D55-7CD7-1C01-69D0C29391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99805" y="10166628"/>
              <a:ext cx="0" cy="1159872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B57DFAB5-56C9-8B12-F5F6-D337FAACE4E9}"/>
                </a:ext>
              </a:extLst>
            </p:cNvPr>
            <p:cNvCxnSpPr>
              <a:cxnSpLocks/>
            </p:cNvCxnSpPr>
            <p:nvPr/>
          </p:nvCxnSpPr>
          <p:spPr>
            <a:xfrm>
              <a:off x="4799805" y="10162068"/>
              <a:ext cx="1172369" cy="0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6DEF0CEA-13E9-7745-4DF1-D4C7C00DF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72174" y="10166628"/>
              <a:ext cx="0" cy="1159872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50F936C1-7091-4E03-C851-F3E323D379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3080" y="10162068"/>
              <a:ext cx="466724" cy="385762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DA287425-34E6-E663-37E2-14615373FE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5448" y="10163957"/>
              <a:ext cx="466724" cy="385762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E7988709-3164-B882-8BE8-3DA93B3228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02474" y="11328388"/>
              <a:ext cx="466722" cy="388840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BAE2E46B-77DA-A4C5-A042-63394B55C2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6057" y="11328389"/>
              <a:ext cx="466724" cy="385762"/>
            </a:xfrm>
            <a:prstGeom prst="line">
              <a:avLst/>
            </a:prstGeom>
            <a:ln cap="rnd">
              <a:solidFill>
                <a:schemeClr val="accent5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E3564A31-99F0-B6E2-4CF9-25BE03E085C0}"/>
              </a:ext>
            </a:extLst>
          </p:cNvPr>
          <p:cNvGrpSpPr/>
          <p:nvPr/>
        </p:nvGrpSpPr>
        <p:grpSpPr>
          <a:xfrm>
            <a:off x="7140572" y="1925547"/>
            <a:ext cx="1824041" cy="1806058"/>
            <a:chOff x="6276972" y="10022981"/>
            <a:chExt cx="1824041" cy="1806058"/>
          </a:xfrm>
        </p:grpSpPr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1544AD08-97F4-3C45-9E48-2FD6C56D68B2}"/>
                </a:ext>
              </a:extLst>
            </p:cNvPr>
            <p:cNvCxnSpPr>
              <a:cxnSpLocks/>
            </p:cNvCxnSpPr>
            <p:nvPr/>
          </p:nvCxnSpPr>
          <p:spPr>
            <a:xfrm>
              <a:off x="6276975" y="11158018"/>
              <a:ext cx="1285875" cy="1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F260A1E7-6579-1403-024F-0C78659140FB}"/>
                </a:ext>
              </a:extLst>
            </p:cNvPr>
            <p:cNvCxnSpPr>
              <a:cxnSpLocks/>
            </p:cNvCxnSpPr>
            <p:nvPr/>
          </p:nvCxnSpPr>
          <p:spPr>
            <a:xfrm>
              <a:off x="6276975" y="11158019"/>
              <a:ext cx="911225" cy="671020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4C3AC95B-7BDE-F935-9318-981DCFD4EE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79945" y="10036175"/>
              <a:ext cx="908255" cy="1115203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ector recto 30">
              <a:extLst>
                <a:ext uri="{FF2B5EF4-FFF2-40B4-BE49-F238E27FC236}">
                  <a16:creationId xmlns:a16="http://schemas.microsoft.com/office/drawing/2014/main" id="{ECC21D52-351A-EB17-50E8-8813CD0A11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62850" y="10718006"/>
              <a:ext cx="538163" cy="440012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B45B8B8C-BD85-30D4-3380-F41CF8306E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88200" y="11158018"/>
              <a:ext cx="374650" cy="671021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0A4A7D11-4A45-0EAB-A018-490C59531B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88200" y="10718006"/>
              <a:ext cx="912813" cy="1111033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ector recto 35">
              <a:extLst>
                <a:ext uri="{FF2B5EF4-FFF2-40B4-BE49-F238E27FC236}">
                  <a16:creationId xmlns:a16="http://schemas.microsoft.com/office/drawing/2014/main" id="{D6A9C257-AEFC-CBF6-8797-4129934ABF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88200" y="10041580"/>
              <a:ext cx="374650" cy="1116437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ector recto 36">
              <a:extLst>
                <a:ext uri="{FF2B5EF4-FFF2-40B4-BE49-F238E27FC236}">
                  <a16:creationId xmlns:a16="http://schemas.microsoft.com/office/drawing/2014/main" id="{CBF9BC53-CCB1-AAA5-5CDD-7AB554EAF2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88200" y="10022981"/>
              <a:ext cx="908249" cy="695024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ector recto 37">
              <a:extLst>
                <a:ext uri="{FF2B5EF4-FFF2-40B4-BE49-F238E27FC236}">
                  <a16:creationId xmlns:a16="http://schemas.microsoft.com/office/drawing/2014/main" id="{B846B51B-0A3D-6D32-8E9D-79595CCFA1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02715" y="10718003"/>
              <a:ext cx="380720" cy="1091201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ector recto 38">
              <a:extLst>
                <a:ext uri="{FF2B5EF4-FFF2-40B4-BE49-F238E27FC236}">
                  <a16:creationId xmlns:a16="http://schemas.microsoft.com/office/drawing/2014/main" id="{6CF6DD54-3C10-7CFE-48B7-4D56E4B516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76972" y="10718003"/>
              <a:ext cx="514908" cy="440014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 recto 39">
              <a:extLst>
                <a:ext uri="{FF2B5EF4-FFF2-40B4-BE49-F238E27FC236}">
                  <a16:creationId xmlns:a16="http://schemas.microsoft.com/office/drawing/2014/main" id="{7AD28521-C191-F63A-DD68-11679A21102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2715" y="10708622"/>
              <a:ext cx="1293734" cy="0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D6574AFF-CE15-1CB0-77D6-C46AA4A8FE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02712" y="10036175"/>
              <a:ext cx="380723" cy="674218"/>
            </a:xfrm>
            <a:prstGeom prst="line">
              <a:avLst/>
            </a:prstGeom>
            <a:ln cap="rnd">
              <a:solidFill>
                <a:schemeClr val="accent6">
                  <a:lumMod val="60000"/>
                  <a:lumOff val="40000"/>
                </a:schemeClr>
              </a:solidFill>
              <a:prstDash val="dash"/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9CCF3566-C5D5-96E5-322F-F9D3BC5BB9FD}"/>
              </a:ext>
            </a:extLst>
          </p:cNvPr>
          <p:cNvGrpSpPr/>
          <p:nvPr/>
        </p:nvGrpSpPr>
        <p:grpSpPr>
          <a:xfrm>
            <a:off x="6472232" y="4355544"/>
            <a:ext cx="1609730" cy="1833728"/>
            <a:chOff x="5405433" y="12656178"/>
            <a:chExt cx="1609730" cy="1833728"/>
          </a:xfrm>
        </p:grpSpPr>
        <p:cxnSp>
          <p:nvCxnSpPr>
            <p:cNvPr id="43" name="Conector recto 42">
              <a:extLst>
                <a:ext uri="{FF2B5EF4-FFF2-40B4-BE49-F238E27FC236}">
                  <a16:creationId xmlns:a16="http://schemas.microsoft.com/office/drawing/2014/main" id="{D9F6D53B-027C-FA41-74BB-5463B39ADD54}"/>
                </a:ext>
              </a:extLst>
            </p:cNvPr>
            <p:cNvCxnSpPr>
              <a:cxnSpLocks/>
            </p:cNvCxnSpPr>
            <p:nvPr/>
          </p:nvCxnSpPr>
          <p:spPr>
            <a:xfrm>
              <a:off x="6203155" y="12656178"/>
              <a:ext cx="812007" cy="476416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ector recto 43">
              <a:extLst>
                <a:ext uri="{FF2B5EF4-FFF2-40B4-BE49-F238E27FC236}">
                  <a16:creationId xmlns:a16="http://schemas.microsoft.com/office/drawing/2014/main" id="{61628CFA-49F6-C7B0-446D-54A137433FF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7819" y="12656178"/>
              <a:ext cx="795336" cy="476416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ector recto 44">
              <a:extLst>
                <a:ext uri="{FF2B5EF4-FFF2-40B4-BE49-F238E27FC236}">
                  <a16:creationId xmlns:a16="http://schemas.microsoft.com/office/drawing/2014/main" id="{D97008D3-01C2-A63A-8D93-9B6C8B67A4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53100" y="13046869"/>
              <a:ext cx="450056" cy="779960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ector recto 45">
              <a:extLst>
                <a:ext uri="{FF2B5EF4-FFF2-40B4-BE49-F238E27FC236}">
                  <a16:creationId xmlns:a16="http://schemas.microsoft.com/office/drawing/2014/main" id="{1763F561-34DB-AA63-6918-FDD5BE0199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03156" y="13046869"/>
              <a:ext cx="466724" cy="776781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ector recto 46">
              <a:extLst>
                <a:ext uri="{FF2B5EF4-FFF2-40B4-BE49-F238E27FC236}">
                  <a16:creationId xmlns:a16="http://schemas.microsoft.com/office/drawing/2014/main" id="{AE766F46-C9A9-BF42-E129-0F7F616AD7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3156" y="12656178"/>
              <a:ext cx="0" cy="390691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ector recto 47">
              <a:extLst>
                <a:ext uri="{FF2B5EF4-FFF2-40B4-BE49-F238E27FC236}">
                  <a16:creationId xmlns:a16="http://schemas.microsoft.com/office/drawing/2014/main" id="{821E9F2F-20C1-F164-2BF0-1EC0C6E0D5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7819" y="13132594"/>
              <a:ext cx="0" cy="888591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ector recto 48">
              <a:extLst>
                <a:ext uri="{FF2B5EF4-FFF2-40B4-BE49-F238E27FC236}">
                  <a16:creationId xmlns:a16="http://schemas.microsoft.com/office/drawing/2014/main" id="{51FC18A3-011A-3BE8-6719-B4A69CA3BA33}"/>
                </a:ext>
              </a:extLst>
            </p:cNvPr>
            <p:cNvCxnSpPr>
              <a:cxnSpLocks/>
            </p:cNvCxnSpPr>
            <p:nvPr/>
          </p:nvCxnSpPr>
          <p:spPr>
            <a:xfrm>
              <a:off x="6203154" y="13046869"/>
              <a:ext cx="812009" cy="85725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ector recto 49">
              <a:extLst>
                <a:ext uri="{FF2B5EF4-FFF2-40B4-BE49-F238E27FC236}">
                  <a16:creationId xmlns:a16="http://schemas.microsoft.com/office/drawing/2014/main" id="{E66AA939-EA3F-975C-DAB9-C12B50C7D5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9878" y="13132594"/>
              <a:ext cx="345284" cy="688672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ector recto 50">
              <a:extLst>
                <a:ext uri="{FF2B5EF4-FFF2-40B4-BE49-F238E27FC236}">
                  <a16:creationId xmlns:a16="http://schemas.microsoft.com/office/drawing/2014/main" id="{7465A474-7D10-7A58-BFE2-EF0F9D249B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69879" y="13822061"/>
              <a:ext cx="345284" cy="199124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ector recto 51">
              <a:extLst>
                <a:ext uri="{FF2B5EF4-FFF2-40B4-BE49-F238E27FC236}">
                  <a16:creationId xmlns:a16="http://schemas.microsoft.com/office/drawing/2014/main" id="{6B17F5A4-8D7E-C37A-28D2-7FC484C35B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15162" y="13132594"/>
              <a:ext cx="0" cy="888591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ector recto 52">
              <a:extLst>
                <a:ext uri="{FF2B5EF4-FFF2-40B4-BE49-F238E27FC236}">
                  <a16:creationId xmlns:a16="http://schemas.microsoft.com/office/drawing/2014/main" id="{5E648D6F-D119-6428-E559-DAE63D7E9A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9825" y="13821266"/>
              <a:ext cx="450053" cy="666259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Conector recto 53">
              <a:extLst>
                <a:ext uri="{FF2B5EF4-FFF2-40B4-BE49-F238E27FC236}">
                  <a16:creationId xmlns:a16="http://schemas.microsoft.com/office/drawing/2014/main" id="{3E5CCA0A-73D0-40C7-730E-6DD2C36158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19823" y="14028310"/>
              <a:ext cx="795339" cy="459215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ector recto 54">
              <a:extLst>
                <a:ext uri="{FF2B5EF4-FFF2-40B4-BE49-F238E27FC236}">
                  <a16:creationId xmlns:a16="http://schemas.microsoft.com/office/drawing/2014/main" id="{9FBC0CF1-7E9D-62AF-0BEC-6308A9DBDD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44764" y="13827624"/>
              <a:ext cx="475056" cy="659901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ector recto 59">
              <a:extLst>
                <a:ext uri="{FF2B5EF4-FFF2-40B4-BE49-F238E27FC236}">
                  <a16:creationId xmlns:a16="http://schemas.microsoft.com/office/drawing/2014/main" id="{E400E06C-1E6E-DA71-9298-B4395B5168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53093" y="13822061"/>
              <a:ext cx="916785" cy="5563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ector recto 61">
              <a:extLst>
                <a:ext uri="{FF2B5EF4-FFF2-40B4-BE49-F238E27FC236}">
                  <a16:creationId xmlns:a16="http://schemas.microsoft.com/office/drawing/2014/main" id="{20699F98-3E2C-D241-9B2F-B211010750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07819" y="13821266"/>
              <a:ext cx="345273" cy="196128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5DABC9F1-7EE8-8AA5-427D-07759E1CBB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05433" y="14023566"/>
              <a:ext cx="803671" cy="466340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Conector recto 63">
              <a:extLst>
                <a:ext uri="{FF2B5EF4-FFF2-40B4-BE49-F238E27FC236}">
                  <a16:creationId xmlns:a16="http://schemas.microsoft.com/office/drawing/2014/main" id="{2B6B5234-1396-FE9D-3254-2073125179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15759" y="13138157"/>
              <a:ext cx="329005" cy="683295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7114AABA-0E9C-1DE2-A0BB-994A6699DC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7423" y="13046074"/>
              <a:ext cx="795730" cy="88109"/>
            </a:xfrm>
            <a:prstGeom prst="line">
              <a:avLst/>
            </a:prstGeom>
            <a:ln cap="rnd">
              <a:solidFill>
                <a:schemeClr val="accent2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upo 65">
            <a:extLst>
              <a:ext uri="{FF2B5EF4-FFF2-40B4-BE49-F238E27FC236}">
                <a16:creationId xmlns:a16="http://schemas.microsoft.com/office/drawing/2014/main" id="{AD87A7D9-F41A-3B0C-2E78-2797417053D3}"/>
              </a:ext>
            </a:extLst>
          </p:cNvPr>
          <p:cNvGrpSpPr/>
          <p:nvPr/>
        </p:nvGrpSpPr>
        <p:grpSpPr>
          <a:xfrm>
            <a:off x="3762564" y="4400765"/>
            <a:ext cx="1781600" cy="1698405"/>
            <a:chOff x="3174736" y="12701399"/>
            <a:chExt cx="1781600" cy="1698405"/>
          </a:xfrm>
        </p:grpSpPr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858450C0-8864-1D1C-6ECC-0A9E3E2FCE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48710" y="13576889"/>
              <a:ext cx="415741" cy="577506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ector recto 74">
              <a:extLst>
                <a:ext uri="{FF2B5EF4-FFF2-40B4-BE49-F238E27FC236}">
                  <a16:creationId xmlns:a16="http://schemas.microsoft.com/office/drawing/2014/main" id="{F8437711-FA97-9EDE-6B87-E9A7398081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74736" y="13576889"/>
              <a:ext cx="170920" cy="517801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Conector recto 75">
              <a:extLst>
                <a:ext uri="{FF2B5EF4-FFF2-40B4-BE49-F238E27FC236}">
                  <a16:creationId xmlns:a16="http://schemas.microsoft.com/office/drawing/2014/main" id="{0680E0D0-A177-ABAA-9CDB-95FABC9653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50940" y="14094690"/>
              <a:ext cx="461448" cy="295204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8F40C322-0CCC-187A-6299-3C87D4CEEB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2209" y="13563101"/>
              <a:ext cx="258562" cy="13269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Conector recto 77">
              <a:extLst>
                <a:ext uri="{FF2B5EF4-FFF2-40B4-BE49-F238E27FC236}">
                  <a16:creationId xmlns:a16="http://schemas.microsoft.com/office/drawing/2014/main" id="{4308EBE6-E82D-CF43-9856-CCC5C8F41D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0327" y="14154395"/>
              <a:ext cx="44124" cy="235499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Conector recto 78">
              <a:extLst>
                <a:ext uri="{FF2B5EF4-FFF2-40B4-BE49-F238E27FC236}">
                  <a16:creationId xmlns:a16="http://schemas.microsoft.com/office/drawing/2014/main" id="{36D358F1-98A3-43B2-344C-ED536F0933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72390" y="13937456"/>
              <a:ext cx="716279" cy="216939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Conector recto 79">
              <a:extLst>
                <a:ext uri="{FF2B5EF4-FFF2-40B4-BE49-F238E27FC236}">
                  <a16:creationId xmlns:a16="http://schemas.microsoft.com/office/drawing/2014/main" id="{3C1BCDDA-636D-B5DD-AB6A-401B4E88E3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87567" y="13193701"/>
              <a:ext cx="0" cy="743755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Conector recto 80">
              <a:extLst>
                <a:ext uri="{FF2B5EF4-FFF2-40B4-BE49-F238E27FC236}">
                  <a16:creationId xmlns:a16="http://schemas.microsoft.com/office/drawing/2014/main" id="{E9AEBAC9-890F-15A9-80E1-701C77436F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40771" y="12957958"/>
              <a:ext cx="431619" cy="605143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ector recto 81">
              <a:extLst>
                <a:ext uri="{FF2B5EF4-FFF2-40B4-BE49-F238E27FC236}">
                  <a16:creationId xmlns:a16="http://schemas.microsoft.com/office/drawing/2014/main" id="{30F90AD6-DA4C-A531-C451-7730E1B90A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72390" y="12957958"/>
              <a:ext cx="715177" cy="233155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82">
              <a:extLst>
                <a:ext uri="{FF2B5EF4-FFF2-40B4-BE49-F238E27FC236}">
                  <a16:creationId xmlns:a16="http://schemas.microsoft.com/office/drawing/2014/main" id="{9FDE51D7-1CE5-00BC-0A48-C4B1B049AF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8838" y="13046074"/>
              <a:ext cx="147204" cy="523921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cto 83">
              <a:extLst>
                <a:ext uri="{FF2B5EF4-FFF2-40B4-BE49-F238E27FC236}">
                  <a16:creationId xmlns:a16="http://schemas.microsoft.com/office/drawing/2014/main" id="{8153F87F-B3F5-0415-B507-1A58AEB6DA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26042" y="12734925"/>
              <a:ext cx="461184" cy="310375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84">
              <a:extLst>
                <a:ext uri="{FF2B5EF4-FFF2-40B4-BE49-F238E27FC236}">
                  <a16:creationId xmlns:a16="http://schemas.microsoft.com/office/drawing/2014/main" id="{38FEDF6B-62B5-ED91-F617-692855093BB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89995" y="12734151"/>
              <a:ext cx="90334" cy="223807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ector recto 85">
              <a:extLst>
                <a:ext uri="{FF2B5EF4-FFF2-40B4-BE49-F238E27FC236}">
                  <a16:creationId xmlns:a16="http://schemas.microsoft.com/office/drawing/2014/main" id="{3D138DA1-C729-436A-CC0F-FBC4A22B83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84641" y="12701399"/>
              <a:ext cx="542090" cy="27576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Conector recto 86">
              <a:extLst>
                <a:ext uri="{FF2B5EF4-FFF2-40B4-BE49-F238E27FC236}">
                  <a16:creationId xmlns:a16="http://schemas.microsoft.com/office/drawing/2014/main" id="{2A4C3198-DF2F-988D-CA44-9C14F375F0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6731" y="12701399"/>
              <a:ext cx="446402" cy="342614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ector recto 87">
              <a:extLst>
                <a:ext uri="{FF2B5EF4-FFF2-40B4-BE49-F238E27FC236}">
                  <a16:creationId xmlns:a16="http://schemas.microsoft.com/office/drawing/2014/main" id="{B55AF832-20A7-C801-E81B-C490378A44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6756" y="13044013"/>
              <a:ext cx="196377" cy="147100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ector recto 88">
              <a:extLst>
                <a:ext uri="{FF2B5EF4-FFF2-40B4-BE49-F238E27FC236}">
                  <a16:creationId xmlns:a16="http://schemas.microsoft.com/office/drawing/2014/main" id="{4EAAFFFB-FC29-53DA-C30B-D0CC63CC4D86}"/>
                </a:ext>
              </a:extLst>
            </p:cNvPr>
            <p:cNvCxnSpPr>
              <a:cxnSpLocks/>
            </p:cNvCxnSpPr>
            <p:nvPr/>
          </p:nvCxnSpPr>
          <p:spPr>
            <a:xfrm>
              <a:off x="4782653" y="13050504"/>
              <a:ext cx="173683" cy="460709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ector recto 89">
              <a:extLst>
                <a:ext uri="{FF2B5EF4-FFF2-40B4-BE49-F238E27FC236}">
                  <a16:creationId xmlns:a16="http://schemas.microsoft.com/office/drawing/2014/main" id="{CF802933-B65C-D70A-E05F-C65B9947C4A9}"/>
                </a:ext>
              </a:extLst>
            </p:cNvPr>
            <p:cNvCxnSpPr>
              <a:cxnSpLocks/>
            </p:cNvCxnSpPr>
            <p:nvPr/>
          </p:nvCxnSpPr>
          <p:spPr>
            <a:xfrm>
              <a:off x="4587567" y="13937456"/>
              <a:ext cx="195086" cy="108469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ector recto 90">
              <a:extLst>
                <a:ext uri="{FF2B5EF4-FFF2-40B4-BE49-F238E27FC236}">
                  <a16:creationId xmlns:a16="http://schemas.microsoft.com/office/drawing/2014/main" id="{B4E09EB7-BCE7-66C1-B61C-A3A4A2A9FE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80955" y="13515500"/>
              <a:ext cx="173683" cy="530425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ector recto 91">
              <a:extLst>
                <a:ext uri="{FF2B5EF4-FFF2-40B4-BE49-F238E27FC236}">
                  <a16:creationId xmlns:a16="http://schemas.microsoft.com/office/drawing/2014/main" id="{FC9935EE-CC12-3AE9-37AB-6828EE05B1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89596" y="14054037"/>
              <a:ext cx="391359" cy="345767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ector recto 92">
              <a:extLst>
                <a:ext uri="{FF2B5EF4-FFF2-40B4-BE49-F238E27FC236}">
                  <a16:creationId xmlns:a16="http://schemas.microsoft.com/office/drawing/2014/main" id="{B0A65C00-3475-EFEA-FDC6-9291290D2B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19565" y="14393074"/>
              <a:ext cx="570026" cy="6730"/>
            </a:xfrm>
            <a:prstGeom prst="line">
              <a:avLst/>
            </a:prstGeom>
            <a:ln cap="rnd">
              <a:solidFill>
                <a:srgbClr val="A7ABFB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CuadroTexto 93">
            <a:extLst>
              <a:ext uri="{FF2B5EF4-FFF2-40B4-BE49-F238E27FC236}">
                <a16:creationId xmlns:a16="http://schemas.microsoft.com/office/drawing/2014/main" id="{6B4C19CE-EE3E-8CCD-FC52-1FF669D14B13}"/>
              </a:ext>
            </a:extLst>
          </p:cNvPr>
          <p:cNvSpPr txBox="1"/>
          <p:nvPr/>
        </p:nvSpPr>
        <p:spPr>
          <a:xfrm>
            <a:off x="2393950" y="3805860"/>
            <a:ext cx="2679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TETRAEDRO</a:t>
            </a:r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16035C7E-1B22-D5B8-C7F5-0C55B417F5CD}"/>
              </a:ext>
            </a:extLst>
          </p:cNvPr>
          <p:cNvSpPr txBox="1"/>
          <p:nvPr/>
        </p:nvSpPr>
        <p:spPr>
          <a:xfrm>
            <a:off x="4666905" y="3805192"/>
            <a:ext cx="2679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D86ECC"/>
                </a:solidFill>
              </a:rPr>
              <a:t>CUBO</a:t>
            </a: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A556FAD5-DB6D-8D5E-EB3D-7EFEA49BB63E}"/>
              </a:ext>
            </a:extLst>
          </p:cNvPr>
          <p:cNvSpPr txBox="1"/>
          <p:nvPr/>
        </p:nvSpPr>
        <p:spPr>
          <a:xfrm>
            <a:off x="6707185" y="3805192"/>
            <a:ext cx="2679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OCTAEDRO</a:t>
            </a:r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C88801E4-3C02-250F-4702-32894D2072E0}"/>
              </a:ext>
            </a:extLst>
          </p:cNvPr>
          <p:cNvSpPr txBox="1"/>
          <p:nvPr/>
        </p:nvSpPr>
        <p:spPr>
          <a:xfrm>
            <a:off x="3352556" y="6220739"/>
            <a:ext cx="2679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A7ABFB"/>
                </a:solidFill>
              </a:rPr>
              <a:t>DODECAEDRO</a:t>
            </a:r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9A147E77-33AA-ADC1-CB56-BE493169475A}"/>
              </a:ext>
            </a:extLst>
          </p:cNvPr>
          <p:cNvSpPr txBox="1"/>
          <p:nvPr/>
        </p:nvSpPr>
        <p:spPr>
          <a:xfrm>
            <a:off x="6003921" y="6220739"/>
            <a:ext cx="2679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ICOSAEDRO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46711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000">
        <p:fade/>
      </p:transition>
    </mc:Choice>
    <mc:Fallback xmlns="">
      <p:transition spd="med" advTm="10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94" grpId="0"/>
      <p:bldP spid="95" grpId="0"/>
      <p:bldP spid="96" grpId="0"/>
      <p:bldP spid="97" grpId="0"/>
      <p:bldP spid="9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AB5AED4E-81F2-4CAD-B01A-19EADDA8DE95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5. Poliedros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1 ESO\\TEMA 12- Figuras geométrica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RATE_QUIZZES" val="0"/>
  <p:tag name="ISPRING_FIRST_PUBLI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A69E7055-EE33-421A-BBFF-49BB874C1B22}:25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1B7924F-8FDD-49D1-9080-691E6884D336}:25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6C4CCD4F-78BB-4309-9FE4-0973AA627180}:25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E27215C2-8631-48CD-9A0C-62A6F1B8FC1F}:25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4DD0610A-E2F2-4078-B4EE-07484CA4D635}:26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</TotalTime>
  <Words>190</Words>
  <Application>Microsoft Office PowerPoint</Application>
  <PresentationFormat>Panorámica</PresentationFormat>
  <Paragraphs>37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Aptos</vt:lpstr>
      <vt:lpstr>Arial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 Poliedros</dc:title>
  <dc:creator>Illán Linos Souto</dc:creator>
  <cp:lastModifiedBy>Illán Linos</cp:lastModifiedBy>
  <cp:revision>58</cp:revision>
  <dcterms:created xsi:type="dcterms:W3CDTF">2024-08-18T18:48:07Z</dcterms:created>
  <dcterms:modified xsi:type="dcterms:W3CDTF">2025-11-17T11:54:27Z</dcterms:modified>
</cp:coreProperties>
</file>