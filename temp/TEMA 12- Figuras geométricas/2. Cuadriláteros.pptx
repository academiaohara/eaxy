
<file path=[Content_Types].xml><?xml version="1.0" encoding="utf-8"?>
<Types xmlns="http://schemas.openxmlformats.org/package/2006/content-types">
  <Default Extension="glb" ContentType="model/gltf.binary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tags/tag5.xml" ContentType="application/vnd.openxmlformats-officedocument.presentationml.tags+xml"/>
  <Override PartName="/ppt/notesSlides/notesSlide4.xml" ContentType="application/vnd.openxmlformats-officedocument.presentationml.notesSlide+xml"/>
  <Override PartName="/ppt/tags/tag6.xml" ContentType="application/vnd.openxmlformats-officedocument.presentationml.tags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1" r:id="rId6"/>
  </p:sldIdLst>
  <p:sldSz cx="12192000" cy="6858000"/>
  <p:notesSz cx="6858000" cy="9144000"/>
  <p:custDataLst>
    <p:tags r:id="rId8"/>
  </p:custDataLst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6082"/>
    <a:srgbClr val="EF4246"/>
    <a:srgbClr val="5759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74" autoAdjust="0"/>
    <p:restoredTop sz="96238" autoAdjust="0"/>
  </p:normalViewPr>
  <p:slideViewPr>
    <p:cSldViewPr snapToGrid="0">
      <p:cViewPr varScale="1">
        <p:scale>
          <a:sx n="107" d="100"/>
          <a:sy n="107" d="100"/>
        </p:scale>
        <p:origin x="63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029279-59B5-4F2E-A9FD-923218BA7D4F}" type="datetimeFigureOut">
              <a:rPr lang="es-ES" smtClean="0"/>
              <a:t>17/11/2025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B1B47C-501D-4360-8760-5577919CF20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704030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B1B47C-501D-4360-8760-5577919CF201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898484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B1B47C-501D-4360-8760-5577919CF201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715765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B1B47C-501D-4360-8760-5577919CF201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990058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B1B47C-501D-4360-8760-5577919CF201}" type="slidenum">
              <a:rPr lang="es-ES" smtClean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968739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B1B47C-501D-4360-8760-5577919CF201}" type="slidenum">
              <a:rPr lang="es-ES" smtClean="0"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898000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30CC69-0242-EE52-5289-975CBA2714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6F73D9F-B4D1-33D9-1D9E-271DC37A5E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1B39749-7708-B233-4400-98CF8C501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26388BE-A95D-EE17-9576-0B1138379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3D0BC4-CBE6-D467-E4D6-D64D32A57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78896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030BAC-1FB0-491F-B603-3E5454500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2D2B9C2-E0AD-3BBC-D8A3-47A4754CCC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B1FCF2C-2E83-F0B3-7C49-1FAAE1412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A684B2A-CB3A-7102-BDD4-2F18AA9CC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A8DB67A-C1BA-90FE-61D4-ECDD22E4C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72848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BDC9DC-72C3-F198-AFF4-787C9902F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4580639-1DFF-62A6-4B36-1388D36D2A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D1EF8A9-8072-80ED-8C3E-2612BB66F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6F21A17-5845-AA5F-EF08-20FC40F70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ADA33D3-04F5-0B1F-71C9-5784F3658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57462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A352E5-63E6-0BEF-532D-E52C8C5C1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D0E9DDE-BBA1-199E-A343-07F0C4D637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21534CA-3C16-BC29-D85F-2DFF0D4AC4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25BE418-589F-9F63-2F44-25C1FEC28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B9955F2-ABB9-4947-BBFF-5D163FE48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C49642F-2057-D0A7-29F6-105C0BC44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30496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A2EB1B-6FEB-11D6-7747-C644CB42B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E7A958E-B4E1-010E-7195-E2BBB20852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001E33A-EA12-5855-CF73-F53B369C3F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0888ACB-A13F-1F1E-6897-3B8D4972FC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F7CF691-1808-02B7-B038-046B7536E3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7277917-8322-4093-178F-A9DACEF58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4B37C16-BE58-1006-6656-85C156369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0F44860-CAA5-300E-EC8A-678764646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3863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B697BC-44BC-F6A3-3B3A-9061217A6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266EEE2-A47A-6360-2F03-FCB00E03D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C4E4590-3762-5D55-5414-FD37FCCC9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EABE1C9-EE22-D475-B974-B7FD86890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23595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5A1C9C2-287B-BFB5-6360-B6B9BF11D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2A85BED-F9C2-B7AA-F0C1-B4BBE23B3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BA57394-8137-0A52-85CD-7B5C04D76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64524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4E36CD-55FB-DE2E-9C92-ECB6F0128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3189CA2-3ED8-7653-E541-3314D3E7CC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234EC18-037F-C4BA-B572-E9717A54E8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E363633-E074-9B5A-A143-CED74E719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58EB83B-4105-2D5F-9E15-1089C67BC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634990F-A961-2D4E-817B-8363E47BB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69154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DB6008-DB7C-3324-403B-7657B8176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2FD88B2-9A94-BDDB-FAF2-931DA13042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5A41C9A-1AEA-7DDD-D68F-E69F0B3887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E954D82-C7F9-CAFF-7A53-9B8702713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C78EE88-8582-855D-4C7A-80A0B6B1C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C7705F8-A957-7664-DD87-ADB5F3227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53732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58A047-3EF9-CD34-78AF-504143986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C4FC04D-A229-A68C-D470-62CFD3084A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79EF32C-D8D2-51BE-CEBE-3458EDBB7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81F469C-112A-DEC8-A016-1F623F919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690AE46-A55B-56FF-1006-2C0A6D79D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09212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F857533-87A5-755E-31C0-0F39BDFFA8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161402F-BC08-3B7E-9D9B-FB176E46CE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2D70B13-29F6-BFB0-3110-5363018D9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1110C1E-4D6E-44ED-E74C-E8B2893C7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609230-F255-4451-22E1-498837BDB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8114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A11EF0C-DF51-DDFE-8A88-2777D9AAB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42B8EC7-7A82-FD16-3D86-7F6E80B1F3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DCAE80F-9F6E-A95C-C6E1-E800DB8A5A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37CFB18-B5E6-AFA1-A378-83FC7C484D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F426725-340B-BBCA-B44B-A0300BEA83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46405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notesSlide" Target="../notesSlides/notesSlide1.xml"/><Relationship Id="rId7" Type="http://schemas.microsoft.com/office/2017/06/relationships/model3d" Target="../media/model3d2.glb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6" Type="http://schemas.openxmlformats.org/officeDocument/2006/relationships/image" Target="../media/image2.png"/><Relationship Id="rId5" Type="http://schemas.microsoft.com/office/2017/06/relationships/model3d" Target="../media/model3d1.glb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5" name="Grupo 114">
            <a:extLst>
              <a:ext uri="{FF2B5EF4-FFF2-40B4-BE49-F238E27FC236}">
                <a16:creationId xmlns:a16="http://schemas.microsoft.com/office/drawing/2014/main" id="{1875D95A-20E1-D947-93B2-043211933147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601" y="0"/>
            <a:ext cx="12184798" cy="6858000"/>
            <a:chOff x="3601" y="0"/>
            <a:chExt cx="12184798" cy="6858000"/>
          </a:xfrm>
        </p:grpSpPr>
        <p:pic>
          <p:nvPicPr>
            <p:cNvPr id="113" name="Imagen 112">
              <a:extLst>
                <a:ext uri="{FF2B5EF4-FFF2-40B4-BE49-F238E27FC236}">
                  <a16:creationId xmlns:a16="http://schemas.microsoft.com/office/drawing/2014/main" id="{3A8A379F-D036-778F-3C84-2E90E578B926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601" y="0"/>
              <a:ext cx="7970217" cy="6858000"/>
            </a:xfrm>
            <a:prstGeom prst="rect">
              <a:avLst/>
            </a:prstGeom>
          </p:spPr>
        </p:pic>
        <p:pic>
          <p:nvPicPr>
            <p:cNvPr id="114" name="Imagen 113">
              <a:extLst>
                <a:ext uri="{FF2B5EF4-FFF2-40B4-BE49-F238E27FC236}">
                  <a16:creationId xmlns:a16="http://schemas.microsoft.com/office/drawing/2014/main" id="{1DC43CFD-784F-B694-E8A0-D05C052D07E6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 rotWithShape="1">
            <a:blip r:embed="rId4"/>
            <a:srcRect l="35501" r="5319"/>
            <a:stretch/>
          </p:blipFill>
          <p:spPr>
            <a:xfrm>
              <a:off x="7471606" y="0"/>
              <a:ext cx="4716793" cy="6858000"/>
            </a:xfrm>
            <a:prstGeom prst="rect">
              <a:avLst/>
            </a:prstGeom>
          </p:spPr>
        </p:pic>
      </p:grp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32063" y="574828"/>
            <a:ext cx="8695965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5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12:</a:t>
            </a:r>
          </a:p>
          <a:p>
            <a:r>
              <a:rPr lang="es-ES" sz="4800" dirty="0">
                <a:latin typeface="SF Fedora" panose="00000400000000000000" pitchFamily="2" charset="0"/>
                <a:cs typeface="SF Fedora" panose="00000400000000000000" pitchFamily="2" charset="0"/>
              </a:rPr>
              <a:t>Figuras Geométricas</a:t>
            </a: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21" name="Modelo 3D 120" descr="Pirámide gris tetragonal">
                <a:extLst>
                  <a:ext uri="{FF2B5EF4-FFF2-40B4-BE49-F238E27FC236}">
                    <a16:creationId xmlns:a16="http://schemas.microsoft.com/office/drawing/2014/main" id="{63F66DDB-7C76-1A34-34EB-FDF14610C963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844063788"/>
                  </p:ext>
                </p:extLst>
              </p:nvPr>
            </p:nvGraphicFramePr>
            <p:xfrm>
              <a:off x="475306" y="2459786"/>
              <a:ext cx="444496" cy="559952"/>
            </p:xfrm>
            <a:graphic>
              <a:graphicData uri="http://schemas.microsoft.com/office/drawing/2017/model3d">
                <am3d:model3d r:embed="rId5">
                  <am3d:spPr>
                    <a:xfrm>
                      <a:off x="0" y="0"/>
                      <a:ext cx="444496" cy="559952"/>
                    </a:xfrm>
                    <a:prstGeom prst="rect">
                      <a:avLst/>
                    </a:prstGeom>
                  </am3d:spPr>
                  <am3d:camera>
                    <am3d:pos x="0" y="0" z="6651932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1424" d="1000000"/>
                    <am3d:preTrans dx="0" dy="-18000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751772" ay="-72436" az="-16097"/>
                    <am3d:postTrans dx="0" dy="0" dz="0"/>
                  </am3d:trans>
                  <am3d:raster rName="Office3DRenderer" rVer="16.0.8326">
                    <am3d:blip r:embed="rId6"/>
                  </am3d:raster>
                  <am3d:objViewport viewportSz="784961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21" name="Modelo 3D 120" descr="Pirámide gris tetragonal">
                <a:extLst>
                  <a:ext uri="{FF2B5EF4-FFF2-40B4-BE49-F238E27FC236}">
                    <a16:creationId xmlns:a16="http://schemas.microsoft.com/office/drawing/2014/main" id="{63F66DDB-7C76-1A34-34EB-FDF14610C96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75306" y="2459786"/>
                <a:ext cx="444496" cy="559952"/>
              </a:xfrm>
              <a:prstGeom prst="rect">
                <a:avLst/>
              </a:prstGeom>
            </p:spPr>
          </p:pic>
        </mc:Fallback>
      </mc:AlternateContent>
      <p:sp>
        <p:nvSpPr>
          <p:cNvPr id="123" name="CuadroTexto 122">
            <a:extLst>
              <a:ext uri="{FF2B5EF4-FFF2-40B4-BE49-F238E27FC236}">
                <a16:creationId xmlns:a16="http://schemas.microsoft.com/office/drawing/2014/main" id="{11EB6959-DCB4-183D-2777-3FB76BB9132E}"/>
              </a:ext>
            </a:extLst>
          </p:cNvPr>
          <p:cNvSpPr txBox="1"/>
          <p:nvPr/>
        </p:nvSpPr>
        <p:spPr>
          <a:xfrm>
            <a:off x="996360" y="2416597"/>
            <a:ext cx="76292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600" b="1" dirty="0">
                <a:solidFill>
                  <a:srgbClr val="575960"/>
                </a:solidFill>
                <a:latin typeface="Century Gothic" panose="020B0502020202020204" pitchFamily="34" charset="0"/>
                <a:cs typeface="SF Fedora" panose="00000400000000000000" pitchFamily="2" charset="0"/>
              </a:rPr>
              <a:t>TRIÁNGULOS</a:t>
            </a:r>
          </a:p>
        </p:txBody>
      </p:sp>
      <p:sp>
        <p:nvSpPr>
          <p:cNvPr id="125" name="CuadroTexto 124">
            <a:extLst>
              <a:ext uri="{FF2B5EF4-FFF2-40B4-BE49-F238E27FC236}">
                <a16:creationId xmlns:a16="http://schemas.microsoft.com/office/drawing/2014/main" id="{1B37A2FE-1AD7-51E6-B562-8151DEE82E4C}"/>
              </a:ext>
            </a:extLst>
          </p:cNvPr>
          <p:cNvSpPr txBox="1"/>
          <p:nvPr/>
        </p:nvSpPr>
        <p:spPr>
          <a:xfrm>
            <a:off x="996360" y="3105834"/>
            <a:ext cx="76292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anose="020B0502020202020204" pitchFamily="34" charset="0"/>
                <a:cs typeface="SF Fedora" panose="00000400000000000000" pitchFamily="2" charset="0"/>
              </a:rPr>
              <a:t>CUADRILÁTEROS</a:t>
            </a: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2" name="Modelo 3D 1" descr="Pirámide roja tetragonal">
                <a:extLst>
                  <a:ext uri="{FF2B5EF4-FFF2-40B4-BE49-F238E27FC236}">
                    <a16:creationId xmlns:a16="http://schemas.microsoft.com/office/drawing/2014/main" id="{BF101A47-8A20-9FF3-3CDB-9A46A366BF04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327399192"/>
                  </p:ext>
                </p:extLst>
              </p:nvPr>
            </p:nvGraphicFramePr>
            <p:xfrm>
              <a:off x="465829" y="3126531"/>
              <a:ext cx="463450" cy="616130"/>
            </p:xfrm>
            <a:graphic>
              <a:graphicData uri="http://schemas.microsoft.com/office/drawing/2017/model3d">
                <am3d:model3d r:embed="rId7">
                  <am3d:spPr>
                    <a:xfrm>
                      <a:off x="0" y="0"/>
                      <a:ext cx="463450" cy="616130"/>
                    </a:xfrm>
                    <a:prstGeom prst="rect">
                      <a:avLst/>
                    </a:prstGeom>
                  </am3d:spPr>
                  <am3d:camera>
                    <am3d:pos x="0" y="0" z="6651932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1424" d="1000000"/>
                    <am3d:preTrans dx="0" dy="-18000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600781" ay="-304177" az="-53636"/>
                    <am3d:postTrans dx="0" dy="0" dz="0"/>
                  </am3d:trans>
                  <am3d:raster rName="Office3DRenderer" rVer="16.0.8326">
                    <am3d:blip r:embed="rId8"/>
                  </am3d:raster>
                  <am3d:objViewport viewportSz="82868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2" name="Modelo 3D 1" descr="Pirámide roja tetragonal">
                <a:extLst>
                  <a:ext uri="{FF2B5EF4-FFF2-40B4-BE49-F238E27FC236}">
                    <a16:creationId xmlns:a16="http://schemas.microsoft.com/office/drawing/2014/main" id="{BF101A47-8A20-9FF3-3CDB-9A46A366BF0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65829" y="3126531"/>
                <a:ext cx="463450" cy="61613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3" name="Modelo 3D 2" descr="Pirámide gris tetragonal">
                <a:extLst>
                  <a:ext uri="{FF2B5EF4-FFF2-40B4-BE49-F238E27FC236}">
                    <a16:creationId xmlns:a16="http://schemas.microsoft.com/office/drawing/2014/main" id="{828D2382-F254-BC78-2FBE-91426E8DD7F8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708493479"/>
                  </p:ext>
                </p:extLst>
              </p:nvPr>
            </p:nvGraphicFramePr>
            <p:xfrm>
              <a:off x="475306" y="3821365"/>
              <a:ext cx="444496" cy="559952"/>
            </p:xfrm>
            <a:graphic>
              <a:graphicData uri="http://schemas.microsoft.com/office/drawing/2017/model3d">
                <am3d:model3d r:embed="rId5">
                  <am3d:spPr>
                    <a:xfrm>
                      <a:off x="0" y="0"/>
                      <a:ext cx="444496" cy="559952"/>
                    </a:xfrm>
                    <a:prstGeom prst="rect">
                      <a:avLst/>
                    </a:prstGeom>
                  </am3d:spPr>
                  <am3d:camera>
                    <am3d:pos x="0" y="0" z="6651932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1424" d="1000000"/>
                    <am3d:preTrans dx="0" dy="-18000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751772" ay="-72436" az="-16097"/>
                    <am3d:postTrans dx="0" dy="0" dz="0"/>
                  </am3d:trans>
                  <am3d:raster rName="Office3DRenderer" rVer="16.0.8326">
                    <am3d:blip r:embed="rId6"/>
                  </am3d:raster>
                  <am3d:objViewport viewportSz="784961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3" name="Modelo 3D 2" descr="Pirámide gris tetragonal">
                <a:extLst>
                  <a:ext uri="{FF2B5EF4-FFF2-40B4-BE49-F238E27FC236}">
                    <a16:creationId xmlns:a16="http://schemas.microsoft.com/office/drawing/2014/main" id="{828D2382-F254-BC78-2FBE-91426E8DD7F8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75306" y="3821365"/>
                <a:ext cx="444496" cy="559952"/>
              </a:xfrm>
              <a:prstGeom prst="rect">
                <a:avLst/>
              </a:prstGeom>
            </p:spPr>
          </p:pic>
        </mc:Fallback>
      </mc:AlternateContent>
      <p:sp>
        <p:nvSpPr>
          <p:cNvPr id="4" name="CuadroTexto 3">
            <a:extLst>
              <a:ext uri="{FF2B5EF4-FFF2-40B4-BE49-F238E27FC236}">
                <a16:creationId xmlns:a16="http://schemas.microsoft.com/office/drawing/2014/main" id="{47762E2A-4553-6E26-EEB5-4C2E81B6A66A}"/>
              </a:ext>
            </a:extLst>
          </p:cNvPr>
          <p:cNvSpPr txBox="1"/>
          <p:nvPr/>
        </p:nvSpPr>
        <p:spPr>
          <a:xfrm>
            <a:off x="996360" y="3778175"/>
            <a:ext cx="76292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anose="020B0502020202020204" pitchFamily="34" charset="0"/>
                <a:cs typeface="SF Fedora" panose="00000400000000000000" pitchFamily="2" charset="0"/>
              </a:rPr>
              <a:t>POLÍGONOS REGULARES</a:t>
            </a: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1" name="Modelo 3D 10" descr="Pirámide gris tetragonal">
                <a:extLst>
                  <a:ext uri="{FF2B5EF4-FFF2-40B4-BE49-F238E27FC236}">
                    <a16:creationId xmlns:a16="http://schemas.microsoft.com/office/drawing/2014/main" id="{39463F56-1F9A-6DF2-64ED-DE2C95533D2C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527912090"/>
                  </p:ext>
                </p:extLst>
              </p:nvPr>
            </p:nvGraphicFramePr>
            <p:xfrm>
              <a:off x="475306" y="4488110"/>
              <a:ext cx="444496" cy="559952"/>
            </p:xfrm>
            <a:graphic>
              <a:graphicData uri="http://schemas.microsoft.com/office/drawing/2017/model3d">
                <am3d:model3d r:embed="rId5">
                  <am3d:spPr>
                    <a:xfrm>
                      <a:off x="0" y="0"/>
                      <a:ext cx="444496" cy="559952"/>
                    </a:xfrm>
                    <a:prstGeom prst="rect">
                      <a:avLst/>
                    </a:prstGeom>
                  </am3d:spPr>
                  <am3d:camera>
                    <am3d:pos x="0" y="0" z="6651932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1424" d="1000000"/>
                    <am3d:preTrans dx="0" dy="-18000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751772" ay="-72436" az="-16097"/>
                    <am3d:postTrans dx="0" dy="0" dz="0"/>
                  </am3d:trans>
                  <am3d:raster rName="Office3DRenderer" rVer="16.0.8326">
                    <am3d:blip r:embed="rId6"/>
                  </am3d:raster>
                  <am3d:objViewport viewportSz="784961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1" name="Modelo 3D 10" descr="Pirámide gris tetragonal">
                <a:extLst>
                  <a:ext uri="{FF2B5EF4-FFF2-40B4-BE49-F238E27FC236}">
                    <a16:creationId xmlns:a16="http://schemas.microsoft.com/office/drawing/2014/main" id="{39463F56-1F9A-6DF2-64ED-DE2C95533D2C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75306" y="4488110"/>
                <a:ext cx="444496" cy="559952"/>
              </a:xfrm>
              <a:prstGeom prst="rect">
                <a:avLst/>
              </a:prstGeom>
            </p:spPr>
          </p:pic>
        </mc:Fallback>
      </mc:AlternateContent>
      <p:sp>
        <p:nvSpPr>
          <p:cNvPr id="12" name="CuadroTexto 11">
            <a:extLst>
              <a:ext uri="{FF2B5EF4-FFF2-40B4-BE49-F238E27FC236}">
                <a16:creationId xmlns:a16="http://schemas.microsoft.com/office/drawing/2014/main" id="{D8214812-FECE-B5B0-54C5-46EB45E66B9A}"/>
              </a:ext>
            </a:extLst>
          </p:cNvPr>
          <p:cNvSpPr txBox="1"/>
          <p:nvPr/>
        </p:nvSpPr>
        <p:spPr>
          <a:xfrm>
            <a:off x="996360" y="4450516"/>
            <a:ext cx="76292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anose="020B0502020202020204" pitchFamily="34" charset="0"/>
                <a:cs typeface="SF Fedora" panose="00000400000000000000" pitchFamily="2" charset="0"/>
              </a:rPr>
              <a:t>CIRCUNFERENCIA</a:t>
            </a: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3" name="Modelo 3D 12" descr="Pirámide gris tetragonal">
                <a:extLst>
                  <a:ext uri="{FF2B5EF4-FFF2-40B4-BE49-F238E27FC236}">
                    <a16:creationId xmlns:a16="http://schemas.microsoft.com/office/drawing/2014/main" id="{6E4DBED9-5DCB-7C1C-81B2-95DCFCC5CBD5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007706876"/>
                  </p:ext>
                </p:extLst>
              </p:nvPr>
            </p:nvGraphicFramePr>
            <p:xfrm>
              <a:off x="475306" y="5154855"/>
              <a:ext cx="444496" cy="559952"/>
            </p:xfrm>
            <a:graphic>
              <a:graphicData uri="http://schemas.microsoft.com/office/drawing/2017/model3d">
                <am3d:model3d r:embed="rId5">
                  <am3d:spPr>
                    <a:xfrm>
                      <a:off x="0" y="0"/>
                      <a:ext cx="444496" cy="559952"/>
                    </a:xfrm>
                    <a:prstGeom prst="rect">
                      <a:avLst/>
                    </a:prstGeom>
                  </am3d:spPr>
                  <am3d:camera>
                    <am3d:pos x="0" y="0" z="6651932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1424" d="1000000"/>
                    <am3d:preTrans dx="0" dy="-18000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751772" ay="-72436" az="-16097"/>
                    <am3d:postTrans dx="0" dy="0" dz="0"/>
                  </am3d:trans>
                  <am3d:raster rName="Office3DRenderer" rVer="16.0.8326">
                    <am3d:blip r:embed="rId6"/>
                  </am3d:raster>
                  <am3d:objViewport viewportSz="784961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3" name="Modelo 3D 12" descr="Pirámide gris tetragonal">
                <a:extLst>
                  <a:ext uri="{FF2B5EF4-FFF2-40B4-BE49-F238E27FC236}">
                    <a16:creationId xmlns:a16="http://schemas.microsoft.com/office/drawing/2014/main" id="{6E4DBED9-5DCB-7C1C-81B2-95DCFCC5CBD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75306" y="5154855"/>
                <a:ext cx="444496" cy="559952"/>
              </a:xfrm>
              <a:prstGeom prst="rect">
                <a:avLst/>
              </a:prstGeom>
            </p:spPr>
          </p:pic>
        </mc:Fallback>
      </mc:AlternateContent>
      <p:sp>
        <p:nvSpPr>
          <p:cNvPr id="14" name="CuadroTexto 13">
            <a:extLst>
              <a:ext uri="{FF2B5EF4-FFF2-40B4-BE49-F238E27FC236}">
                <a16:creationId xmlns:a16="http://schemas.microsoft.com/office/drawing/2014/main" id="{0F7BF696-EE08-C510-172B-20CC117A98A6}"/>
              </a:ext>
            </a:extLst>
          </p:cNvPr>
          <p:cNvSpPr txBox="1"/>
          <p:nvPr/>
        </p:nvSpPr>
        <p:spPr>
          <a:xfrm>
            <a:off x="996360" y="5110424"/>
            <a:ext cx="76292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anose="020B0502020202020204" pitchFamily="34" charset="0"/>
                <a:cs typeface="SF Fedora" panose="00000400000000000000" pitchFamily="2" charset="0"/>
              </a:rPr>
              <a:t>POLIEDROS</a:t>
            </a: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5" name="Modelo 3D 14" descr="Pirámide gris tetragonal">
                <a:extLst>
                  <a:ext uri="{FF2B5EF4-FFF2-40B4-BE49-F238E27FC236}">
                    <a16:creationId xmlns:a16="http://schemas.microsoft.com/office/drawing/2014/main" id="{8FACF0EA-0AA5-53CD-6FD1-12210F22C038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856169985"/>
                  </p:ext>
                </p:extLst>
              </p:nvPr>
            </p:nvGraphicFramePr>
            <p:xfrm>
              <a:off x="475306" y="5821600"/>
              <a:ext cx="444496" cy="559952"/>
            </p:xfrm>
            <a:graphic>
              <a:graphicData uri="http://schemas.microsoft.com/office/drawing/2017/model3d">
                <am3d:model3d r:embed="rId5">
                  <am3d:spPr>
                    <a:xfrm>
                      <a:off x="0" y="0"/>
                      <a:ext cx="444496" cy="559952"/>
                    </a:xfrm>
                    <a:prstGeom prst="rect">
                      <a:avLst/>
                    </a:prstGeom>
                  </am3d:spPr>
                  <am3d:camera>
                    <am3d:pos x="0" y="0" z="6651932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1424" d="1000000"/>
                    <am3d:preTrans dx="0" dy="-18000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751772" ay="-72436" az="-16097"/>
                    <am3d:postTrans dx="0" dy="0" dz="0"/>
                  </am3d:trans>
                  <am3d:raster rName="Office3DRenderer" rVer="16.0.8326">
                    <am3d:blip r:embed="rId6"/>
                  </am3d:raster>
                  <am3d:objViewport viewportSz="784961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5" name="Modelo 3D 14" descr="Pirámide gris tetragonal">
                <a:extLst>
                  <a:ext uri="{FF2B5EF4-FFF2-40B4-BE49-F238E27FC236}">
                    <a16:creationId xmlns:a16="http://schemas.microsoft.com/office/drawing/2014/main" id="{8FACF0EA-0AA5-53CD-6FD1-12210F22C038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75306" y="5821600"/>
                <a:ext cx="444496" cy="559952"/>
              </a:xfrm>
              <a:prstGeom prst="rect">
                <a:avLst/>
              </a:prstGeom>
            </p:spPr>
          </p:pic>
        </mc:Fallback>
      </mc:AlternateContent>
      <p:sp>
        <p:nvSpPr>
          <p:cNvPr id="16" name="CuadroTexto 15">
            <a:extLst>
              <a:ext uri="{FF2B5EF4-FFF2-40B4-BE49-F238E27FC236}">
                <a16:creationId xmlns:a16="http://schemas.microsoft.com/office/drawing/2014/main" id="{41869C5D-8D95-8C51-B997-D94552238ABD}"/>
              </a:ext>
            </a:extLst>
          </p:cNvPr>
          <p:cNvSpPr txBox="1"/>
          <p:nvPr/>
        </p:nvSpPr>
        <p:spPr>
          <a:xfrm>
            <a:off x="996360" y="5778410"/>
            <a:ext cx="76292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anose="020B0502020202020204" pitchFamily="34" charset="0"/>
                <a:cs typeface="SF Fedora" panose="00000400000000000000" pitchFamily="2" charset="0"/>
              </a:rPr>
              <a:t>CUERPOS DE REVOLUCIÓN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6835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500"/>
                            </p:stCondLst>
                            <p:childTnLst>
                              <p:par>
                                <p:cTn id="48" presetID="39" presetClass="emph" presetSubtype="5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sum">
                                        <p:cTn id="49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3d.view.rotation.x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120">
                                          <p:val>
                                            <p:fltVal val="0.0012"/>
                                          </p:val>
                                        </p:tav>
                                        <p:tav tm="2250">
                                          <p:val>
                                            <p:fltVal val="0.0098"/>
                                          </p:val>
                                        </p:tav>
                                        <p:tav tm="3370">
                                          <p:val>
                                            <p:fltVal val="0.033"/>
                                          </p:val>
                                        </p:tav>
                                        <p:tav tm="4490">
                                          <p:val>
                                            <p:fltVal val="0.0789"/>
                                          </p:val>
                                        </p:tav>
                                        <p:tav tm="5620">
                                          <p:val>
                                            <p:fltVal val="0.1548"/>
                                          </p:val>
                                        </p:tav>
                                        <p:tav tm="6740">
                                          <p:val>
                                            <p:fltVal val="0.267"/>
                                          </p:val>
                                        </p:tav>
                                        <p:tav tm="7870">
                                          <p:val>
                                            <p:fltVal val="0.4235"/>
                                          </p:val>
                                        </p:tav>
                                        <p:tav tm="8990">
                                          <p:val>
                                            <p:fltVal val="0.6337"/>
                                          </p:val>
                                        </p:tav>
                                        <p:tav tm="10110">
                                          <p:val>
                                            <p:fltVal val="0.9013"/>
                                          </p:val>
                                        </p:tav>
                                        <p:tav tm="11240">
                                          <p:val>
                                            <p:fltVal val="1.2353"/>
                                          </p:val>
                                        </p:tav>
                                        <p:tav tm="12360">
                                          <p:val>
                                            <p:fltVal val="1.647"/>
                                          </p:val>
                                        </p:tav>
                                        <p:tav tm="13480">
                                          <p:val>
                                            <p:fltVal val="2.0869"/>
                                          </p:val>
                                        </p:tav>
                                        <p:tav tm="14610">
                                          <p:val>
                                            <p:fltVal val="2.4538"/>
                                          </p:val>
                                        </p:tav>
                                        <p:tav tm="15730">
                                          <p:val>
                                            <p:fltVal val="2.7534"/>
                                          </p:val>
                                        </p:tav>
                                        <p:tav tm="16850">
                                          <p:val>
                                            <p:fltVal val="2.9876"/>
                                          </p:val>
                                        </p:tav>
                                        <p:tav tm="17980">
                                          <p:val>
                                            <p:fltVal val="3.1669"/>
                                          </p:val>
                                        </p:tav>
                                        <p:tav tm="19100">
                                          <p:val>
                                            <p:fltVal val="3.2996"/>
                                          </p:val>
                                        </p:tav>
                                        <p:tav tm="20220">
                                          <p:val>
                                            <p:fltVal val="3.3906"/>
                                          </p:val>
                                        </p:tav>
                                        <p:tav tm="21350">
                                          <p:val>
                                            <p:fltVal val="3.4488"/>
                                          </p:val>
                                        </p:tav>
                                        <p:tav tm="22470">
                                          <p:val>
                                            <p:fltVal val="3.4815"/>
                                          </p:val>
                                        </p:tav>
                                        <p:tav tm="23600">
                                          <p:val>
                                            <p:fltVal val="3.4961"/>
                                          </p:val>
                                        </p:tav>
                                        <p:tav tm="24720">
                                          <p:val>
                                            <p:fltVal val="3.4998"/>
                                          </p:val>
                                        </p:tav>
                                        <p:tav tm="25840">
                                          <p:val>
                                            <p:fltVal val="3.0301"/>
                                          </p:val>
                                        </p:tav>
                                        <p:tav tm="26970">
                                          <p:val>
                                            <p:fltVal val="0.9661"/>
                                          </p:val>
                                        </p:tav>
                                        <p:tav tm="28090">
                                          <p:val>
                                            <p:fltVal val="-2.1525"/>
                                          </p:val>
                                        </p:tav>
                                        <p:tav tm="29210">
                                          <p:val>
                                            <p:fltVal val="-6.1215"/>
                                          </p:val>
                                        </p:tav>
                                        <p:tav tm="30340">
                                          <p:val>
                                            <p:fltVal val="-10.8322"/>
                                          </p:val>
                                        </p:tav>
                                        <p:tav tm="31460">
                                          <p:val>
                                            <p:fltVal val="-16.2132"/>
                                          </p:val>
                                        </p:tav>
                                        <p:tav tm="32580">
                                          <p:val>
                                            <p:fltVal val="-22.2128"/>
                                          </p:val>
                                        </p:tav>
                                        <p:tav tm="33710">
                                          <p:val>
                                            <p:fltVal val="-28.7297"/>
                                          </p:val>
                                        </p:tav>
                                        <p:tav tm="34830">
                                          <p:val>
                                            <p:fltVal val="-35.8493"/>
                                          </p:val>
                                        </p:tav>
                                        <p:tav tm="35960">
                                          <p:val>
                                            <p:fltVal val="-43.4888"/>
                                          </p:val>
                                        </p:tav>
                                        <p:tav tm="37080">
                                          <p:val>
                                            <p:fltVal val="-51.6257"/>
                                          </p:val>
                                        </p:tav>
                                        <p:tav tm="38200">
                                          <p:val>
                                            <p:fltVal val="-60.2402"/>
                                          </p:val>
                                        </p:tav>
                                        <p:tav tm="39330">
                                          <p:val>
                                            <p:fltVal val="-69.3155"/>
                                          </p:val>
                                        </p:tav>
                                        <p:tav tm="40450">
                                          <p:val>
                                            <p:fltVal val="-78.8364"/>
                                          </p:val>
                                        </p:tav>
                                        <p:tav tm="41570">
                                          <p:val>
                                            <p:fltVal val="-88.6987"/>
                                          </p:val>
                                        </p:tav>
                                        <p:tav tm="42700">
                                          <p:val>
                                            <p:fltVal val="-99.0679"/>
                                          </p:val>
                                        </p:tav>
                                        <p:tav tm="43820">
                                          <p:val>
                                            <p:fltVal val="-109.8461"/>
                                          </p:val>
                                        </p:tav>
                                        <p:tav tm="44940">
                                          <p:val>
                                            <p:fltVal val="-121.0232"/>
                                          </p:val>
                                        </p:tav>
                                        <p:tav tm="46070">
                                          <p:val>
                                            <p:fltVal val="-132.5899"/>
                                          </p:val>
                                        </p:tav>
                                        <p:tav tm="47190">
                                          <p:val>
                                            <p:fltVal val="-144.5376"/>
                                          </p:val>
                                        </p:tav>
                                        <p:tav tm="48310">
                                          <p:val>
                                            <p:fltVal val="-156.85851"/>
                                          </p:val>
                                        </p:tav>
                                        <p:tav tm="49440">
                                          <p:val>
                                            <p:fltVal val="-169.43021"/>
                                          </p:val>
                                        </p:tav>
                                        <p:tav tm="50560">
                                          <p:val>
                                            <p:fltVal val="-182.34309"/>
                                          </p:val>
                                        </p:tav>
                                        <p:tav tm="51690">
                                          <p:val>
                                            <p:fltVal val="-195.1411"/>
                                          </p:val>
                                        </p:tav>
                                        <p:tav tm="52810">
                                          <p:val>
                                            <p:fltVal val="-207.6945"/>
                                          </p:val>
                                        </p:tav>
                                        <p:tav tm="53930">
                                          <p:val>
                                            <p:fltVal val="-219.77251"/>
                                          </p:val>
                                        </p:tav>
                                        <p:tav tm="55060">
                                          <p:val>
                                            <p:fltVal val="-231.4814"/>
                                          </p:val>
                                        </p:tav>
                                        <p:tav tm="56180">
                                          <p:val>
                                            <p:fltVal val="-242.91341"/>
                                          </p:val>
                                        </p:tav>
                                        <p:tav tm="57300">
                                          <p:val>
                                            <p:fltVal val="-253.8558"/>
                                          </p:val>
                                        </p:tav>
                                        <p:tav tm="58430">
                                          <p:val>
                                            <p:fltVal val="-264.40329"/>
                                          </p:val>
                                        </p:tav>
                                        <p:tav tm="59550">
                                          <p:val>
                                            <p:fltVal val="-274.63501"/>
                                          </p:val>
                                        </p:tav>
                                        <p:tav tm="60670">
                                          <p:val>
                                            <p:fltVal val="-284.35721"/>
                                          </p:val>
                                        </p:tav>
                                        <p:tav tm="61800">
                                          <p:val>
                                            <p:fltVal val="-293.6507"/>
                                          </p:val>
                                        </p:tav>
                                        <p:tav tm="62920">
                                          <p:val>
                                            <p:fltVal val="-302.57959"/>
                                          </p:val>
                                        </p:tav>
                                        <p:tav tm="64040">
                                          <p:val>
                                            <p:fltVal val="-310.96921"/>
                                          </p:val>
                                        </p:tav>
                                        <p:tav tm="65170">
                                          <p:val>
                                            <p:fltVal val="-318.88379"/>
                                          </p:val>
                                        </p:tav>
                                        <p:tav tm="66290">
                                          <p:val>
                                            <p:fltVal val="-326.36801"/>
                                          </p:val>
                                        </p:tav>
                                        <p:tav tm="67420">
                                          <p:val>
                                            <p:fltVal val="-333.26511"/>
                                          </p:val>
                                        </p:tav>
                                        <p:tav tm="68540">
                                          <p:val>
                                            <p:fltVal val="-339.6712"/>
                                          </p:val>
                                        </p:tav>
                                        <p:tav tm="69660">
                                          <p:val>
                                            <p:fltVal val="-345.43851"/>
                                          </p:val>
                                        </p:tav>
                                        <p:tav tm="70790">
                                          <p:val>
                                            <p:fltVal val="-350.58469"/>
                                          </p:val>
                                        </p:tav>
                                        <p:tav tm="71910">
                                          <p:val>
                                            <p:fltVal val="-355.09189"/>
                                          </p:val>
                                        </p:tav>
                                        <p:tav tm="73030">
                                          <p:val>
                                            <p:fltVal val="-358.80179"/>
                                          </p:val>
                                        </p:tav>
                                        <p:tav tm="74160">
                                          <p:val>
                                            <p:fltVal val="-361.63531"/>
                                          </p:val>
                                        </p:tav>
                                        <p:tav tm="75280">
                                          <p:val>
                                            <p:fltVal val="-363.345"/>
                                          </p:val>
                                        </p:tav>
                                        <p:tav tm="76400">
                                          <p:val>
                                            <p:fltVal val="-363.4978"/>
                                          </p:val>
                                        </p:tav>
                                        <p:tav tm="77530">
                                          <p:val>
                                            <p:fltVal val="-363.47061"/>
                                          </p:val>
                                        </p:tav>
                                        <p:tav tm="78650">
                                          <p:val>
                                            <p:fltVal val="-363.38339"/>
                                          </p:val>
                                        </p:tav>
                                        <p:tav tm="79780">
                                          <p:val>
                                            <p:fltVal val="-363.20349"/>
                                          </p:val>
                                        </p:tav>
                                        <p:tav tm="80900">
                                          <p:val>
                                            <p:fltVal val="-362.8963"/>
                                          </p:val>
                                        </p:tav>
                                        <p:tav tm="82020">
                                          <p:val>
                                            <p:fltVal val="-362.4227"/>
                                          </p:val>
                                        </p:tav>
                                        <p:tav tm="83150">
                                          <p:val>
                                            <p:fltVal val="-361.7569"/>
                                          </p:val>
                                        </p:tav>
                                        <p:tav tm="84270">
                                          <p:val>
                                            <p:fltVal val="-361.0874"/>
                                          </p:val>
                                        </p:tav>
                                        <p:tav tm="85390">
                                          <p:val>
                                            <p:fltVal val="-360.6105"/>
                                          </p:val>
                                        </p:tav>
                                        <p:tav tm="86520">
                                          <p:val>
                                            <p:fltVal val="-360.30069"/>
                                          </p:val>
                                        </p:tav>
                                        <p:tav tm="87640">
                                          <p:val>
                                            <p:fltVal val="-360.1188"/>
                                          </p:val>
                                        </p:tav>
                                        <p:tav tm="88760">
                                          <p:val>
                                            <p:fltVal val="-360.03021"/>
                                          </p:val>
                                        </p:tav>
                                        <p:tav tm="89890">
                                          <p:val>
                                            <p:fltVal val="-360.00229"/>
                                          </p:val>
                                        </p:tav>
                                        <p:tav tm="91010">
                                          <p:val>
                                            <p:fltVal val="-360"/>
                                          </p:val>
                                        </p:tav>
                                        <p:tav tm="92130">
                                          <p:val>
                                            <p:fltVal val="-360"/>
                                          </p:val>
                                        </p:tav>
                                        <p:tav tm="93260">
                                          <p:val>
                                            <p:fltVal val="-360"/>
                                          </p:val>
                                        </p:tav>
                                        <p:tav tm="94380">
                                          <p:val>
                                            <p:fltVal val="-360"/>
                                          </p:val>
                                        </p:tav>
                                        <p:tav tm="95510">
                                          <p:val>
                                            <p:fltVal val="-360"/>
                                          </p:val>
                                        </p:tav>
                                        <p:tav tm="96630">
                                          <p:val>
                                            <p:fltVal val="-360"/>
                                          </p:val>
                                        </p:tav>
                                        <p:tav tm="97750">
                                          <p:val>
                                            <p:fltVal val="-360"/>
                                          </p:val>
                                        </p:tav>
                                        <p:tav tm="98880">
                                          <p:val>
                                            <p:fltVal val="-360"/>
                                          </p:val>
                                        </p:tav>
                                        <p:tav tm="100000">
                                          <p:val>
                                            <p:fltVal val="-36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sum">
                                        <p:cTn id="50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3d.view.translation.y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120">
                                          <p:val>
                                            <p:fltVal val="0"/>
                                          </p:val>
                                        </p:tav>
                                        <p:tav tm="2250">
                                          <p:val>
                                            <p:fltVal val="-10E-5"/>
                                          </p:val>
                                        </p:tav>
                                        <p:tav tm="3370">
                                          <p:val>
                                            <p:fltVal val="-0.0004"/>
                                          </p:val>
                                        </p:tav>
                                        <p:tav tm="4490">
                                          <p:val>
                                            <p:fltVal val="-0.0011"/>
                                          </p:val>
                                        </p:tav>
                                        <p:tav tm="5620">
                                          <p:val>
                                            <p:fltVal val="-0.0021"/>
                                          </p:val>
                                        </p:tav>
                                        <p:tav tm="6740">
                                          <p:val>
                                            <p:fltVal val="-0.0037"/>
                                          </p:val>
                                        </p:tav>
                                        <p:tav tm="7870">
                                          <p:val>
                                            <p:fltVal val="-0.0059"/>
                                          </p:val>
                                        </p:tav>
                                        <p:tav tm="8990">
                                          <p:val>
                                            <p:fltVal val="-0.0088"/>
                                          </p:val>
                                        </p:tav>
                                        <p:tav tm="10110">
                                          <p:val>
                                            <p:fltVal val="-0.0125"/>
                                          </p:val>
                                        </p:tav>
                                        <p:tav tm="11240">
                                          <p:val>
                                            <p:fltVal val="-0.0162"/>
                                          </p:val>
                                        </p:tav>
                                        <p:tav tm="12360">
                                          <p:val>
                                            <p:fltVal val="-0.0191"/>
                                          </p:val>
                                        </p:tav>
                                        <p:tav tm="13480">
                                          <p:val>
                                            <p:fltVal val="-0.0213"/>
                                          </p:val>
                                        </p:tav>
                                        <p:tav tm="14610">
                                          <p:val>
                                            <p:fltVal val="-0.0228"/>
                                          </p:val>
                                        </p:tav>
                                        <p:tav tm="15730">
                                          <p:val>
                                            <p:fltVal val="-0.0239"/>
                                          </p:val>
                                        </p:tav>
                                        <p:tav tm="16850">
                                          <p:val>
                                            <p:fltVal val="-0.0245"/>
                                          </p:val>
                                        </p:tav>
                                        <p:tav tm="17980">
                                          <p:val>
                                            <p:fltVal val="-0.0248"/>
                                          </p:val>
                                        </p:tav>
                                        <p:tav tm="19100">
                                          <p:val>
                                            <p:fltVal val="-0.0249"/>
                                          </p:val>
                                        </p:tav>
                                        <p:tav tm="20220">
                                          <p:val>
                                            <p:fltVal val="-0.0249"/>
                                          </p:val>
                                        </p:tav>
                                        <p:tav tm="21350">
                                          <p:val>
                                            <p:fltVal val="-0.0248"/>
                                          </p:val>
                                        </p:tav>
                                        <p:tav tm="22470">
                                          <p:val>
                                            <p:fltVal val="-0.0241"/>
                                          </p:val>
                                        </p:tav>
                                        <p:tav tm="23600">
                                          <p:val>
                                            <p:fltVal val="-0.022"/>
                                          </p:val>
                                        </p:tav>
                                        <p:tav tm="24720">
                                          <p:val>
                                            <p:fltVal val="-0.0179"/>
                                          </p:val>
                                        </p:tav>
                                        <p:tav tm="25840">
                                          <p:val>
                                            <p:fltVal val="-0.0113"/>
                                          </p:val>
                                        </p:tav>
                                        <p:tav tm="26970">
                                          <p:val>
                                            <p:fltVal val="-0.0013"/>
                                          </p:val>
                                        </p:tav>
                                        <p:tav tm="28090">
                                          <p:val>
                                            <p:fltVal val="0.0124"/>
                                          </p:val>
                                        </p:tav>
                                        <p:tav tm="29210">
                                          <p:val>
                                            <p:fltVal val="0.0309"/>
                                          </p:val>
                                        </p:tav>
                                        <p:tav tm="30340">
                                          <p:val>
                                            <p:fltVal val="0.0546"/>
                                          </p:val>
                                        </p:tav>
                                        <p:tav tm="31460">
                                          <p:val>
                                            <p:fltVal val="0.0842"/>
                                          </p:val>
                                        </p:tav>
                                        <p:tav tm="32580">
                                          <p:val>
                                            <p:fltVal val="0.1204"/>
                                          </p:val>
                                        </p:tav>
                                        <p:tav tm="33710">
                                          <p:val>
                                            <p:fltVal val="0.1634"/>
                                          </p:val>
                                        </p:tav>
                                        <p:tav tm="34830">
                                          <p:val>
                                            <p:fltVal val="0.2145"/>
                                          </p:val>
                                        </p:tav>
                                        <p:tav tm="35960">
                                          <p:val>
                                            <p:fltVal val="0.2711"/>
                                          </p:val>
                                        </p:tav>
                                        <p:tav tm="37080">
                                          <p:val>
                                            <p:fltVal val="0.3207"/>
                                          </p:val>
                                        </p:tav>
                                        <p:tav tm="38200">
                                          <p:val>
                                            <p:fltVal val="0.3625"/>
                                          </p:val>
                                        </p:tav>
                                        <p:tav tm="39330">
                                          <p:val>
                                            <p:fltVal val="0.3973"/>
                                          </p:val>
                                        </p:tav>
                                        <p:tav tm="40450">
                                          <p:val>
                                            <p:fltVal val="0.4256"/>
                                          </p:val>
                                        </p:tav>
                                        <p:tav tm="41570">
                                          <p:val>
                                            <p:fltVal val="0.448"/>
                                          </p:val>
                                        </p:tav>
                                        <p:tav tm="42700">
                                          <p:val>
                                            <p:fltVal val="0.4655"/>
                                          </p:val>
                                        </p:tav>
                                        <p:tav tm="43820">
                                          <p:val>
                                            <p:fltVal val="0.4786"/>
                                          </p:val>
                                        </p:tav>
                                        <p:tav tm="44940">
                                          <p:val>
                                            <p:fltVal val="0.4878"/>
                                          </p:val>
                                        </p:tav>
                                        <p:tav tm="46070">
                                          <p:val>
                                            <p:fltVal val="0.4939"/>
                                          </p:val>
                                        </p:tav>
                                        <p:tav tm="47190">
                                          <p:val>
                                            <p:fltVal val="0.4975"/>
                                          </p:val>
                                        </p:tav>
                                        <p:tav tm="48310">
                                          <p:val>
                                            <p:fltVal val="0.4993"/>
                                          </p:val>
                                        </p:tav>
                                        <p:tav tm="49440">
                                          <p:val>
                                            <p:fltVal val="0.4999"/>
                                          </p:val>
                                        </p:tav>
                                        <p:tav tm="50560">
                                          <p:val>
                                            <p:fltVal val="0.4999"/>
                                          </p:val>
                                        </p:tav>
                                        <p:tav tm="51690">
                                          <p:val>
                                            <p:fltVal val="0.4998"/>
                                          </p:val>
                                        </p:tav>
                                        <p:tav tm="52810">
                                          <p:val>
                                            <p:fltVal val="0.4988"/>
                                          </p:val>
                                        </p:tav>
                                        <p:tav tm="53930">
                                          <p:val>
                                            <p:fltVal val="0.4965"/>
                                          </p:val>
                                        </p:tav>
                                        <p:tav tm="55060">
                                          <p:val>
                                            <p:fltVal val="0.4921"/>
                                          </p:val>
                                        </p:tav>
                                        <p:tav tm="56180">
                                          <p:val>
                                            <p:fltVal val="0.485"/>
                                          </p:val>
                                        </p:tav>
                                        <p:tav tm="57300">
                                          <p:val>
                                            <p:fltVal val="0.4746"/>
                                          </p:val>
                                        </p:tav>
                                        <p:tav tm="58430">
                                          <p:val>
                                            <p:fltVal val="0.4603"/>
                                          </p:val>
                                        </p:tav>
                                        <p:tav tm="59550">
                                          <p:val>
                                            <p:fltVal val="0.4411"/>
                                          </p:val>
                                        </p:tav>
                                        <p:tav tm="60670">
                                          <p:val>
                                            <p:fltVal val="0.4169"/>
                                          </p:val>
                                        </p:tav>
                                        <p:tav tm="61800">
                                          <p:val>
                                            <p:fltVal val="0.3868"/>
                                          </p:val>
                                        </p:tav>
                                        <p:tav tm="62920">
                                          <p:val>
                                            <p:fltVal val="0.3499"/>
                                          </p:val>
                                        </p:tav>
                                        <p:tav tm="64040">
                                          <p:val>
                                            <p:fltVal val="0.306"/>
                                          </p:val>
                                        </p:tav>
                                        <p:tav tm="65170">
                                          <p:val>
                                            <p:fltVal val="0.2544"/>
                                          </p:val>
                                        </p:tav>
                                        <p:tav tm="66290">
                                          <p:val>
                                            <p:fltVal val="0.1981"/>
                                          </p:val>
                                        </p:tav>
                                        <p:tav tm="67420">
                                          <p:val>
                                            <p:fltVal val="0.1498"/>
                                          </p:val>
                                        </p:tav>
                                        <p:tav tm="68540">
                                          <p:val>
                                            <p:fltVal val="0.1087"/>
                                          </p:val>
                                        </p:tav>
                                        <p:tav tm="69660">
                                          <p:val>
                                            <p:fltVal val="0.0748"/>
                                          </p:val>
                                        </p:tav>
                                        <p:tav tm="70790">
                                          <p:val>
                                            <p:fltVal val="0.0473"/>
                                          </p:val>
                                        </p:tav>
                                        <p:tav tm="71910">
                                          <p:val>
                                            <p:fltVal val="0.0251"/>
                                          </p:val>
                                        </p:tav>
                                        <p:tav tm="73030">
                                          <p:val>
                                            <p:fltVal val="0.0082"/>
                                          </p:val>
                                        </p:tav>
                                        <p:tav tm="74160">
                                          <p:val>
                                            <p:fltVal val="-0.0044"/>
                                          </p:val>
                                        </p:tav>
                                        <p:tav tm="75280">
                                          <p:val>
                                            <p:fltVal val="-0.0134"/>
                                          </p:val>
                                        </p:tav>
                                        <p:tav tm="76400">
                                          <p:val>
                                            <p:fltVal val="-0.0192"/>
                                          </p:val>
                                        </p:tav>
                                        <p:tav tm="77530">
                                          <p:val>
                                            <p:fltVal val="-0.0227"/>
                                          </p:val>
                                        </p:tav>
                                        <p:tav tm="78650">
                                          <p:val>
                                            <p:fltVal val="-0.0244"/>
                                          </p:val>
                                        </p:tav>
                                        <p:tav tm="79780">
                                          <p:val>
                                            <p:fltVal val="-0.0249"/>
                                          </p:val>
                                        </p:tav>
                                        <p:tav tm="80900">
                                          <p:val>
                                            <p:fltVal val="-0.0249"/>
                                          </p:val>
                                        </p:tav>
                                        <p:tav tm="82020">
                                          <p:val>
                                            <p:fltVal val="-0.0244"/>
                                          </p:val>
                                        </p:tav>
                                        <p:tav tm="83150">
                                          <p:val>
                                            <p:fltVal val="-0.0219"/>
                                          </p:val>
                                        </p:tav>
                                        <p:tav tm="84270">
                                          <p:val>
                                            <p:fltVal val="-0.0156"/>
                                          </p:val>
                                        </p:tav>
                                        <p:tav tm="85390">
                                          <p:val>
                                            <p:fltVal val="-0.0039"/>
                                          </p:val>
                                        </p:tav>
                                        <p:tav tm="86520">
                                          <p:val>
                                            <p:fltVal val="0.0104"/>
                                          </p:val>
                                        </p:tav>
                                        <p:tav tm="87640">
                                          <p:val>
                                            <p:fltVal val="0.0192"/>
                                          </p:val>
                                        </p:tav>
                                        <p:tav tm="88760">
                                          <p:val>
                                            <p:fltVal val="0.0235"/>
                                          </p:val>
                                        </p:tav>
                                        <p:tav tm="89890">
                                          <p:val>
                                            <p:fltVal val="0.0248"/>
                                          </p:val>
                                        </p:tav>
                                        <p:tav tm="91010">
                                          <p:val>
                                            <p:fltVal val="0.0249"/>
                                          </p:val>
                                        </p:tav>
                                        <p:tav tm="92130">
                                          <p:val>
                                            <p:fltVal val="0.0247"/>
                                          </p:val>
                                        </p:tav>
                                        <p:tav tm="93260">
                                          <p:val>
                                            <p:fltVal val="0.0234"/>
                                          </p:val>
                                        </p:tav>
                                        <p:tav tm="94380">
                                          <p:val>
                                            <p:fltVal val="0.0202"/>
                                          </p:val>
                                        </p:tav>
                                        <p:tav tm="95510">
                                          <p:val>
                                            <p:fltVal val="0.0143"/>
                                          </p:val>
                                        </p:tav>
                                        <p:tav tm="96630">
                                          <p:val>
                                            <p:fltVal val="0.0071"/>
                                          </p:val>
                                        </p:tav>
                                        <p:tav tm="97750">
                                          <p:val>
                                            <p:fltVal val="0.0027"/>
                                          </p:val>
                                        </p:tav>
                                        <p:tav tm="98880">
                                          <p:val>
                                            <p:fltVal val="0.0007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51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3d.view.scale.x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1"/>
                                          </p:val>
                                        </p:tav>
                                        <p:tav tm="1120">
                                          <p:val>
                                            <p:fltVal val="1"/>
                                          </p:val>
                                        </p:tav>
                                        <p:tav tm="2250">
                                          <p:val>
                                            <p:fltVal val="1.0002"/>
                                          </p:val>
                                        </p:tav>
                                        <p:tav tm="3370">
                                          <p:val>
                                            <p:fltVal val="1.0009"/>
                                          </p:val>
                                        </p:tav>
                                        <p:tav tm="4490">
                                          <p:val>
                                            <p:fltVal val="1.0023"/>
                                          </p:val>
                                        </p:tav>
                                        <p:tav tm="5620">
                                          <p:val>
                                            <p:fltVal val="1.0046"/>
                                          </p:val>
                                        </p:tav>
                                        <p:tav tm="6740">
                                          <p:val>
                                            <p:fltVal val="1.008"/>
                                          </p:val>
                                        </p:tav>
                                        <p:tav tm="7870">
                                          <p:val>
                                            <p:fltVal val="1.0127"/>
                                          </p:val>
                                        </p:tav>
                                        <p:tav tm="8990">
                                          <p:val>
                                            <p:fltVal val="1.019"/>
                                          </p:val>
                                        </p:tav>
                                        <p:tav tm="10110">
                                          <p:val>
                                            <p:fltVal val="1.0271"/>
                                          </p:val>
                                        </p:tav>
                                        <p:tav tm="11240">
                                          <p:val>
                                            <p:fltVal val="1.0351"/>
                                          </p:val>
                                        </p:tav>
                                        <p:tav tm="12360">
                                          <p:val>
                                            <p:fltVal val="1.0414"/>
                                          </p:val>
                                        </p:tav>
                                        <p:tav tm="13480">
                                          <p:val>
                                            <p:fltVal val="1.046"/>
                                          </p:val>
                                        </p:tav>
                                        <p:tav tm="14610">
                                          <p:val>
                                            <p:fltVal val="1.0494"/>
                                          </p:val>
                                        </p:tav>
                                        <p:tav tm="15730">
                                          <p:val>
                                            <p:fltVal val="1.0516"/>
                                          </p:val>
                                        </p:tav>
                                        <p:tav tm="16850">
                                          <p:val>
                                            <p:fltVal val="1.053"/>
                                          </p:val>
                                        </p:tav>
                                        <p:tav tm="17980">
                                          <p:val>
                                            <p:fltVal val="1.0537"/>
                                          </p:val>
                                        </p:tav>
                                        <p:tav tm="19100">
                                          <p:val>
                                            <p:fltVal val="1.0539"/>
                                          </p:val>
                                        </p:tav>
                                        <p:tav tm="20220">
                                          <p:val>
                                            <p:fltVal val="1.054"/>
                                          </p:val>
                                        </p:tav>
                                        <p:tav tm="21350">
                                          <p:val>
                                            <p:fltVal val="1.0536"/>
                                          </p:val>
                                        </p:tav>
                                        <p:tav tm="22470">
                                          <p:val>
                                            <p:fltVal val="1.0515"/>
                                          </p:val>
                                        </p:tav>
                                        <p:tav tm="23600">
                                          <p:val>
                                            <p:fltVal val="1.0457"/>
                                          </p:val>
                                        </p:tav>
                                        <p:tav tm="24720">
                                          <p:val>
                                            <p:fltVal val="1.0344"/>
                                          </p:val>
                                        </p:tav>
                                        <p:tav tm="25840">
                                          <p:val>
                                            <p:fltVal val="1.0183"/>
                                          </p:val>
                                        </p:tav>
                                        <p:tav tm="26970">
                                          <p:val>
                                            <p:fltVal val="1.0076"/>
                                          </p:val>
                                        </p:tav>
                                        <p:tav tm="28090">
                                          <p:val>
                                            <p:fltVal val="1.0021"/>
                                          </p:val>
                                        </p:tav>
                                        <p:tav tm="29210">
                                          <p:val>
                                            <p:fltVal val="1.0002"/>
                                          </p:val>
                                        </p:tav>
                                        <p:tav tm="30340">
                                          <p:val>
                                            <p:fltVal val="1"/>
                                          </p:val>
                                        </p:tav>
                                        <p:tav tm="31460">
                                          <p:val>
                                            <p:fltVal val="1"/>
                                          </p:val>
                                        </p:tav>
                                        <p:tav tm="32580">
                                          <p:val>
                                            <p:fltVal val="1"/>
                                          </p:val>
                                        </p:tav>
                                        <p:tav tm="33710">
                                          <p:val>
                                            <p:fltVal val="1"/>
                                          </p:val>
                                        </p:tav>
                                        <p:tav tm="34830">
                                          <p:val>
                                            <p:fltVal val="1"/>
                                          </p:val>
                                        </p:tav>
                                        <p:tav tm="35960">
                                          <p:val>
                                            <p:fltVal val="1"/>
                                          </p:val>
                                        </p:tav>
                                        <p:tav tm="37080">
                                          <p:val>
                                            <p:fltVal val="1"/>
                                          </p:val>
                                        </p:tav>
                                        <p:tav tm="38200">
                                          <p:val>
                                            <p:fltVal val="1"/>
                                          </p:val>
                                        </p:tav>
                                        <p:tav tm="39330">
                                          <p:val>
                                            <p:fltVal val="1"/>
                                          </p:val>
                                        </p:tav>
                                        <p:tav tm="40450">
                                          <p:val>
                                            <p:fltVal val="1"/>
                                          </p:val>
                                        </p:tav>
                                        <p:tav tm="41570">
                                          <p:val>
                                            <p:fltVal val="1"/>
                                          </p:val>
                                        </p:tav>
                                        <p:tav tm="42700">
                                          <p:val>
                                            <p:fltVal val="1"/>
                                          </p:val>
                                        </p:tav>
                                        <p:tav tm="43820">
                                          <p:val>
                                            <p:fltVal val="1"/>
                                          </p:val>
                                        </p:tav>
                                        <p:tav tm="44940">
                                          <p:val>
                                            <p:fltVal val="1"/>
                                          </p:val>
                                        </p:tav>
                                        <p:tav tm="46070">
                                          <p:val>
                                            <p:fltVal val="1"/>
                                          </p:val>
                                        </p:tav>
                                        <p:tav tm="47190">
                                          <p:val>
                                            <p:fltVal val="1"/>
                                          </p:val>
                                        </p:tav>
                                        <p:tav tm="48310">
                                          <p:val>
                                            <p:fltVal val="1"/>
                                          </p:val>
                                        </p:tav>
                                        <p:tav tm="49440">
                                          <p:val>
                                            <p:fltVal val="1"/>
                                          </p:val>
                                        </p:tav>
                                        <p:tav tm="50560">
                                          <p:val>
                                            <p:fltVal val="1"/>
                                          </p:val>
                                        </p:tav>
                                        <p:tav tm="51690">
                                          <p:val>
                                            <p:fltVal val="1"/>
                                          </p:val>
                                        </p:tav>
                                        <p:tav tm="52810">
                                          <p:val>
                                            <p:fltVal val="1"/>
                                          </p:val>
                                        </p:tav>
                                        <p:tav tm="53930">
                                          <p:val>
                                            <p:fltVal val="1"/>
                                          </p:val>
                                        </p:tav>
                                        <p:tav tm="55060">
                                          <p:val>
                                            <p:fltVal val="1"/>
                                          </p:val>
                                        </p:tav>
                                        <p:tav tm="56180">
                                          <p:val>
                                            <p:fltVal val="1"/>
                                          </p:val>
                                        </p:tav>
                                        <p:tav tm="57300">
                                          <p:val>
                                            <p:fltVal val="1"/>
                                          </p:val>
                                        </p:tav>
                                        <p:tav tm="58430">
                                          <p:val>
                                            <p:fltVal val="1"/>
                                          </p:val>
                                        </p:tav>
                                        <p:tav tm="59550">
                                          <p:val>
                                            <p:fltVal val="1"/>
                                          </p:val>
                                        </p:tav>
                                        <p:tav tm="60670">
                                          <p:val>
                                            <p:fltVal val="1"/>
                                          </p:val>
                                        </p:tav>
                                        <p:tav tm="61800">
                                          <p:val>
                                            <p:fltVal val="1"/>
                                          </p:val>
                                        </p:tav>
                                        <p:tav tm="62920">
                                          <p:val>
                                            <p:fltVal val="1"/>
                                          </p:val>
                                        </p:tav>
                                        <p:tav tm="64040">
                                          <p:val>
                                            <p:fltVal val="1"/>
                                          </p:val>
                                        </p:tav>
                                        <p:tav tm="65170">
                                          <p:val>
                                            <p:fltVal val="1"/>
                                          </p:val>
                                        </p:tav>
                                        <p:tav tm="66290">
                                          <p:val>
                                            <p:fltVal val="1"/>
                                          </p:val>
                                        </p:tav>
                                        <p:tav tm="67420">
                                          <p:val>
                                            <p:fltVal val="1"/>
                                          </p:val>
                                        </p:tav>
                                        <p:tav tm="68540">
                                          <p:val>
                                            <p:fltVal val="1.0006"/>
                                          </p:val>
                                        </p:tav>
                                        <p:tav tm="69660">
                                          <p:val>
                                            <p:fltVal val="1.0024"/>
                                          </p:val>
                                        </p:tav>
                                        <p:tav tm="70790">
                                          <p:val>
                                            <p:fltVal val="1.006"/>
                                          </p:val>
                                        </p:tav>
                                        <p:tav tm="71910">
                                          <p:val>
                                            <p:fltVal val="1.0121"/>
                                          </p:val>
                                        </p:tav>
                                        <p:tav tm="73030">
                                          <p:val>
                                            <p:fltVal val="1.0213"/>
                                          </p:val>
                                        </p:tav>
                                        <p:tav tm="74160">
                                          <p:val>
                                            <p:fltVal val="1.0331"/>
                                          </p:val>
                                        </p:tav>
                                        <p:tav tm="75280">
                                          <p:val>
                                            <p:fltVal val="1.0422"/>
                                          </p:val>
                                        </p:tav>
                                        <p:tav tm="76400">
                                          <p:val>
                                            <p:fltVal val="1.0482"/>
                                          </p:val>
                                        </p:tav>
                                        <p:tav tm="77530">
                                          <p:val>
                                            <p:fltVal val="1.0516"/>
                                          </p:val>
                                        </p:tav>
                                        <p:tav tm="78650">
                                          <p:val>
                                            <p:fltVal val="1.0534"/>
                                          </p:val>
                                        </p:tav>
                                        <p:tav tm="79780">
                                          <p:val>
                                            <p:fltVal val="1.0539"/>
                                          </p:val>
                                        </p:tav>
                                        <p:tav tm="80900">
                                          <p:val>
                                            <p:fltVal val="1.0539"/>
                                          </p:val>
                                        </p:tav>
                                        <p:tav tm="82020">
                                          <p:val>
                                            <p:fltVal val="1.0534"/>
                                          </p:val>
                                        </p:tav>
                                        <p:tav tm="83150">
                                          <p:val>
                                            <p:fltVal val="1.0506"/>
                                          </p:val>
                                        </p:tav>
                                        <p:tav tm="84270">
                                          <p:val>
                                            <p:fltVal val="1.0439"/>
                                          </p:val>
                                        </p:tav>
                                        <p:tav tm="85390">
                                          <p:val>
                                            <p:fltVal val="1.0312"/>
                                          </p:val>
                                        </p:tav>
                                        <p:tav tm="86520">
                                          <p:val>
                                            <p:fltVal val="1.0156"/>
                                          </p:val>
                                        </p:tav>
                                        <p:tav tm="87640">
                                          <p:val>
                                            <p:fltVal val="1.0061"/>
                                          </p:val>
                                        </p:tav>
                                        <p:tav tm="88760">
                                          <p:val>
                                            <p:fltVal val="1.0015"/>
                                          </p:val>
                                        </p:tav>
                                        <p:tav tm="89890">
                                          <p:val>
                                            <p:fltVal val="1.0001"/>
                                          </p:val>
                                        </p:tav>
                                        <p:tav tm="91010">
                                          <p:val>
                                            <p:fltVal val="1"/>
                                          </p:val>
                                        </p:tav>
                                        <p:tav tm="92130">
                                          <p:val>
                                            <p:fltVal val="1"/>
                                          </p:val>
                                        </p:tav>
                                        <p:tav tm="93260">
                                          <p:val>
                                            <p:fltVal val="1"/>
                                          </p:val>
                                        </p:tav>
                                        <p:tav tm="94380">
                                          <p:val>
                                            <p:fltVal val="1"/>
                                          </p:val>
                                        </p:tav>
                                        <p:tav tm="95510">
                                          <p:val>
                                            <p:fltVal val="1"/>
                                          </p:val>
                                        </p:tav>
                                        <p:tav tm="96630">
                                          <p:val>
                                            <p:fltVal val="1"/>
                                          </p:val>
                                        </p:tav>
                                        <p:tav tm="97750">
                                          <p:val>
                                            <p:fltVal val="1"/>
                                          </p:val>
                                        </p:tav>
                                        <p:tav tm="9888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52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3d.view.scale.y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1"/>
                                          </p:val>
                                        </p:tav>
                                        <p:tav tm="1120">
                                          <p:val>
                                            <p:fltVal val="0.9999"/>
                                          </p:val>
                                        </p:tav>
                                        <p:tav tm="2250">
                                          <p:val>
                                            <p:fltVal val="0.9994"/>
                                          </p:val>
                                        </p:tav>
                                        <p:tav tm="3370">
                                          <p:val>
                                            <p:fltVal val="0.9981"/>
                                          </p:val>
                                        </p:tav>
                                        <p:tav tm="4490">
                                          <p:val>
                                            <p:fltVal val="0.9955"/>
                                          </p:val>
                                        </p:tav>
                                        <p:tav tm="5620">
                                          <p:val>
                                            <p:fltVal val="0.9913"/>
                                          </p:val>
                                        </p:tav>
                                        <p:tav tm="6740">
                                          <p:val>
                                            <p:fltVal val="0.985"/>
                                          </p:val>
                                        </p:tav>
                                        <p:tav tm="7870">
                                          <p:val>
                                            <p:fltVal val="0.9763"/>
                                          </p:val>
                                        </p:tav>
                                        <p:tav tm="8990">
                                          <p:val>
                                            <p:fltVal val="0.9646"/>
                                          </p:val>
                                        </p:tav>
                                        <p:tav tm="10110">
                                          <p:val>
                                            <p:fltVal val="0.9497"/>
                                          </p:val>
                                        </p:tav>
                                        <p:tav tm="11240">
                                          <p:val>
                                            <p:fltVal val="0.9348"/>
                                          </p:val>
                                        </p:tav>
                                        <p:tav tm="12360">
                                          <p:val>
                                            <p:fltVal val="0.9232"/>
                                          </p:val>
                                        </p:tav>
                                        <p:tav tm="13480">
                                          <p:val>
                                            <p:fltVal val="0.9146"/>
                                          </p:val>
                                        </p:tav>
                                        <p:tav tm="14610">
                                          <p:val>
                                            <p:fltVal val="0.9084"/>
                                          </p:val>
                                        </p:tav>
                                        <p:tav tm="15730">
                                          <p:val>
                                            <p:fltVal val="0.9042"/>
                                          </p:val>
                                        </p:tav>
                                        <p:tav tm="16850">
                                          <p:val>
                                            <p:fltVal val="0.9017"/>
                                          </p:val>
                                        </p:tav>
                                        <p:tav tm="17980">
                                          <p:val>
                                            <p:fltVal val="0.9005"/>
                                          </p:val>
                                        </p:tav>
                                        <p:tav tm="19100">
                                          <p:val>
                                            <p:fltVal val="0.9"/>
                                          </p:val>
                                        </p:tav>
                                        <p:tav tm="20220">
                                          <p:val>
                                            <p:fltVal val="0.8999"/>
                                          </p:val>
                                        </p:tav>
                                        <p:tav tm="21350">
                                          <p:val>
                                            <p:fltVal val="0.9006"/>
                                          </p:val>
                                        </p:tav>
                                        <p:tav tm="22470">
                                          <p:val>
                                            <p:fltVal val="0.9046"/>
                                          </p:val>
                                        </p:tav>
                                        <p:tav tm="23600">
                                          <p:val>
                                            <p:fltVal val="0.9153"/>
                                          </p:val>
                                        </p:tav>
                                        <p:tav tm="24720">
                                          <p:val>
                                            <p:fltVal val="0.9362"/>
                                          </p:val>
                                        </p:tav>
                                        <p:tav tm="25840">
                                          <p:val>
                                            <p:fltVal val="0.9659"/>
                                          </p:val>
                                        </p:tav>
                                        <p:tav tm="26970">
                                          <p:val>
                                            <p:fltVal val="0.9858"/>
                                          </p:val>
                                        </p:tav>
                                        <p:tav tm="28090">
                                          <p:val>
                                            <p:fltVal val="0.9959"/>
                                          </p:val>
                                        </p:tav>
                                        <p:tav tm="29210">
                                          <p:val>
                                            <p:fltVal val="0.9995"/>
                                          </p:val>
                                        </p:tav>
                                        <p:tav tm="30340">
                                          <p:val>
                                            <p:fltVal val="1"/>
                                          </p:val>
                                        </p:tav>
                                        <p:tav tm="31460">
                                          <p:val>
                                            <p:fltVal val="1"/>
                                          </p:val>
                                        </p:tav>
                                        <p:tav tm="32580">
                                          <p:val>
                                            <p:fltVal val="1"/>
                                          </p:val>
                                        </p:tav>
                                        <p:tav tm="33710">
                                          <p:val>
                                            <p:fltVal val="1"/>
                                          </p:val>
                                        </p:tav>
                                        <p:tav tm="34830">
                                          <p:val>
                                            <p:fltVal val="1"/>
                                          </p:val>
                                        </p:tav>
                                        <p:tav tm="35960">
                                          <p:val>
                                            <p:fltVal val="1"/>
                                          </p:val>
                                        </p:tav>
                                        <p:tav tm="37080">
                                          <p:val>
                                            <p:fltVal val="1"/>
                                          </p:val>
                                        </p:tav>
                                        <p:tav tm="38200">
                                          <p:val>
                                            <p:fltVal val="1"/>
                                          </p:val>
                                        </p:tav>
                                        <p:tav tm="39330">
                                          <p:val>
                                            <p:fltVal val="1"/>
                                          </p:val>
                                        </p:tav>
                                        <p:tav tm="40450">
                                          <p:val>
                                            <p:fltVal val="1"/>
                                          </p:val>
                                        </p:tav>
                                        <p:tav tm="41570">
                                          <p:val>
                                            <p:fltVal val="1"/>
                                          </p:val>
                                        </p:tav>
                                        <p:tav tm="42700">
                                          <p:val>
                                            <p:fltVal val="1"/>
                                          </p:val>
                                        </p:tav>
                                        <p:tav tm="43820">
                                          <p:val>
                                            <p:fltVal val="1"/>
                                          </p:val>
                                        </p:tav>
                                        <p:tav tm="44940">
                                          <p:val>
                                            <p:fltVal val="1"/>
                                          </p:val>
                                        </p:tav>
                                        <p:tav tm="46070">
                                          <p:val>
                                            <p:fltVal val="1"/>
                                          </p:val>
                                        </p:tav>
                                        <p:tav tm="47190">
                                          <p:val>
                                            <p:fltVal val="1"/>
                                          </p:val>
                                        </p:tav>
                                        <p:tav tm="48310">
                                          <p:val>
                                            <p:fltVal val="1"/>
                                          </p:val>
                                        </p:tav>
                                        <p:tav tm="49440">
                                          <p:val>
                                            <p:fltVal val="1"/>
                                          </p:val>
                                        </p:tav>
                                        <p:tav tm="50560">
                                          <p:val>
                                            <p:fltVal val="1"/>
                                          </p:val>
                                        </p:tav>
                                        <p:tav tm="51690">
                                          <p:val>
                                            <p:fltVal val="1"/>
                                          </p:val>
                                        </p:tav>
                                        <p:tav tm="52810">
                                          <p:val>
                                            <p:fltVal val="1"/>
                                          </p:val>
                                        </p:tav>
                                        <p:tav tm="53930">
                                          <p:val>
                                            <p:fltVal val="1"/>
                                          </p:val>
                                        </p:tav>
                                        <p:tav tm="55060">
                                          <p:val>
                                            <p:fltVal val="1"/>
                                          </p:val>
                                        </p:tav>
                                        <p:tav tm="56180">
                                          <p:val>
                                            <p:fltVal val="1"/>
                                          </p:val>
                                        </p:tav>
                                        <p:tav tm="57300">
                                          <p:val>
                                            <p:fltVal val="1"/>
                                          </p:val>
                                        </p:tav>
                                        <p:tav tm="58430">
                                          <p:val>
                                            <p:fltVal val="1"/>
                                          </p:val>
                                        </p:tav>
                                        <p:tav tm="59550">
                                          <p:val>
                                            <p:fltVal val="1"/>
                                          </p:val>
                                        </p:tav>
                                        <p:tav tm="60670">
                                          <p:val>
                                            <p:fltVal val="1"/>
                                          </p:val>
                                        </p:tav>
                                        <p:tav tm="61800">
                                          <p:val>
                                            <p:fltVal val="1"/>
                                          </p:val>
                                        </p:tav>
                                        <p:tav tm="62920">
                                          <p:val>
                                            <p:fltVal val="1"/>
                                          </p:val>
                                        </p:tav>
                                        <p:tav tm="64040">
                                          <p:val>
                                            <p:fltVal val="1"/>
                                          </p:val>
                                        </p:tav>
                                        <p:tav tm="65170">
                                          <p:val>
                                            <p:fltVal val="1"/>
                                          </p:val>
                                        </p:tav>
                                        <p:tav tm="66290">
                                          <p:val>
                                            <p:fltVal val="1"/>
                                          </p:val>
                                        </p:tav>
                                        <p:tav tm="67420">
                                          <p:val>
                                            <p:fltVal val="0.9998"/>
                                          </p:val>
                                        </p:tav>
                                        <p:tav tm="68540">
                                          <p:val>
                                            <p:fltVal val="0.9987"/>
                                          </p:val>
                                        </p:tav>
                                        <p:tav tm="69660">
                                          <p:val>
                                            <p:fltVal val="0.9955"/>
                                          </p:val>
                                        </p:tav>
                                        <p:tav tm="70790">
                                          <p:val>
                                            <p:fltVal val="0.9888"/>
                                          </p:val>
                                        </p:tav>
                                        <p:tav tm="71910">
                                          <p:val>
                                            <p:fltVal val="0.9775"/>
                                          </p:val>
                                        </p:tav>
                                        <p:tav tm="73030">
                                          <p:val>
                                            <p:fltVal val="0.9605"/>
                                          </p:val>
                                        </p:tav>
                                        <p:tav tm="74160">
                                          <p:val>
                                            <p:fltVal val="0.9385"/>
                                          </p:val>
                                        </p:tav>
                                        <p:tav tm="75280">
                                          <p:val>
                                            <p:fltVal val="0.9217"/>
                                          </p:val>
                                        </p:tav>
                                        <p:tav tm="76400">
                                          <p:val>
                                            <p:fltVal val="0.9107"/>
                                          </p:val>
                                        </p:tav>
                                        <p:tav tm="77530">
                                          <p:val>
                                            <p:fltVal val="0.9042"/>
                                          </p:val>
                                        </p:tav>
                                        <p:tav tm="78650">
                                          <p:val>
                                            <p:fltVal val="0.901"/>
                                          </p:val>
                                        </p:tav>
                                        <p:tav tm="79780">
                                          <p:val>
                                            <p:fltVal val="0.9"/>
                                          </p:val>
                                        </p:tav>
                                        <p:tav tm="80900">
                                          <p:val>
                                            <p:fltVal val="0.9"/>
                                          </p:val>
                                        </p:tav>
                                        <p:tav tm="82020">
                                          <p:val>
                                            <p:fltVal val="0.901"/>
                                          </p:val>
                                        </p:tav>
                                        <p:tav tm="83150">
                                          <p:val>
                                            <p:fltVal val="0.9061"/>
                                          </p:val>
                                        </p:tav>
                                        <p:tav tm="84270">
                                          <p:val>
                                            <p:fltVal val="0.9186"/>
                                          </p:val>
                                        </p:tav>
                                        <p:tav tm="85390">
                                          <p:val>
                                            <p:fltVal val="0.942"/>
                                          </p:val>
                                        </p:tav>
                                        <p:tav tm="86520">
                                          <p:val>
                                            <p:fltVal val="0.9709"/>
                                          </p:val>
                                        </p:tav>
                                        <p:tav tm="87640">
                                          <p:val>
                                            <p:fltVal val="0.9885"/>
                                          </p:val>
                                        </p:tav>
                                        <p:tav tm="88760">
                                          <p:val>
                                            <p:fltVal val="0.997"/>
                                          </p:val>
                                        </p:tav>
                                        <p:tav tm="89890">
                                          <p:val>
                                            <p:fltVal val="0.9997"/>
                                          </p:val>
                                        </p:tav>
                                        <p:tav tm="91010">
                                          <p:val>
                                            <p:fltVal val="1"/>
                                          </p:val>
                                        </p:tav>
                                        <p:tav tm="92130">
                                          <p:val>
                                            <p:fltVal val="1"/>
                                          </p:val>
                                        </p:tav>
                                        <p:tav tm="93260">
                                          <p:val>
                                            <p:fltVal val="1"/>
                                          </p:val>
                                        </p:tav>
                                        <p:tav tm="94380">
                                          <p:val>
                                            <p:fltVal val="1"/>
                                          </p:val>
                                        </p:tav>
                                        <p:tav tm="95510">
                                          <p:val>
                                            <p:fltVal val="1"/>
                                          </p:val>
                                        </p:tav>
                                        <p:tav tm="96630">
                                          <p:val>
                                            <p:fltVal val="1"/>
                                          </p:val>
                                        </p:tav>
                                        <p:tav tm="97750">
                                          <p:val>
                                            <p:fltVal val="1"/>
                                          </p:val>
                                        </p:tav>
                                        <p:tav tm="9888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53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3d.view.scale.z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1"/>
                                          </p:val>
                                        </p:tav>
                                        <p:tav tm="1120">
                                          <p:val>
                                            <p:fltVal val="1"/>
                                          </p:val>
                                        </p:tav>
                                        <p:tav tm="2250">
                                          <p:val>
                                            <p:fltVal val="1.0002"/>
                                          </p:val>
                                        </p:tav>
                                        <p:tav tm="3370">
                                          <p:val>
                                            <p:fltVal val="1.0009"/>
                                          </p:val>
                                        </p:tav>
                                        <p:tav tm="4490">
                                          <p:val>
                                            <p:fltVal val="1.0023"/>
                                          </p:val>
                                        </p:tav>
                                        <p:tav tm="5620">
                                          <p:val>
                                            <p:fltVal val="1.0046"/>
                                          </p:val>
                                        </p:tav>
                                        <p:tav tm="6740">
                                          <p:val>
                                            <p:fltVal val="1.008"/>
                                          </p:val>
                                        </p:tav>
                                        <p:tav tm="7870">
                                          <p:val>
                                            <p:fltVal val="1.0127"/>
                                          </p:val>
                                        </p:tav>
                                        <p:tav tm="8990">
                                          <p:val>
                                            <p:fltVal val="1.019"/>
                                          </p:val>
                                        </p:tav>
                                        <p:tav tm="10110">
                                          <p:val>
                                            <p:fltVal val="1.0271"/>
                                          </p:val>
                                        </p:tav>
                                        <p:tav tm="11240">
                                          <p:val>
                                            <p:fltVal val="1.0351"/>
                                          </p:val>
                                        </p:tav>
                                        <p:tav tm="12360">
                                          <p:val>
                                            <p:fltVal val="1.0414"/>
                                          </p:val>
                                        </p:tav>
                                        <p:tav tm="13480">
                                          <p:val>
                                            <p:fltVal val="1.046"/>
                                          </p:val>
                                        </p:tav>
                                        <p:tav tm="14610">
                                          <p:val>
                                            <p:fltVal val="1.0494"/>
                                          </p:val>
                                        </p:tav>
                                        <p:tav tm="15730">
                                          <p:val>
                                            <p:fltVal val="1.0516"/>
                                          </p:val>
                                        </p:tav>
                                        <p:tav tm="16850">
                                          <p:val>
                                            <p:fltVal val="1.053"/>
                                          </p:val>
                                        </p:tav>
                                        <p:tav tm="17980">
                                          <p:val>
                                            <p:fltVal val="1.0537"/>
                                          </p:val>
                                        </p:tav>
                                        <p:tav tm="19100">
                                          <p:val>
                                            <p:fltVal val="1.0539"/>
                                          </p:val>
                                        </p:tav>
                                        <p:tav tm="20220">
                                          <p:val>
                                            <p:fltVal val="1.054"/>
                                          </p:val>
                                        </p:tav>
                                        <p:tav tm="21350">
                                          <p:val>
                                            <p:fltVal val="1.0536"/>
                                          </p:val>
                                        </p:tav>
                                        <p:tav tm="22470">
                                          <p:val>
                                            <p:fltVal val="1.0515"/>
                                          </p:val>
                                        </p:tav>
                                        <p:tav tm="23600">
                                          <p:val>
                                            <p:fltVal val="1.0457"/>
                                          </p:val>
                                        </p:tav>
                                        <p:tav tm="24720">
                                          <p:val>
                                            <p:fltVal val="1.0344"/>
                                          </p:val>
                                        </p:tav>
                                        <p:tav tm="25840">
                                          <p:val>
                                            <p:fltVal val="1.0183"/>
                                          </p:val>
                                        </p:tav>
                                        <p:tav tm="26970">
                                          <p:val>
                                            <p:fltVal val="1.0076"/>
                                          </p:val>
                                        </p:tav>
                                        <p:tav tm="28090">
                                          <p:val>
                                            <p:fltVal val="1.0021"/>
                                          </p:val>
                                        </p:tav>
                                        <p:tav tm="29210">
                                          <p:val>
                                            <p:fltVal val="1.0002"/>
                                          </p:val>
                                        </p:tav>
                                        <p:tav tm="30340">
                                          <p:val>
                                            <p:fltVal val="1"/>
                                          </p:val>
                                        </p:tav>
                                        <p:tav tm="31460">
                                          <p:val>
                                            <p:fltVal val="1"/>
                                          </p:val>
                                        </p:tav>
                                        <p:tav tm="32580">
                                          <p:val>
                                            <p:fltVal val="1"/>
                                          </p:val>
                                        </p:tav>
                                        <p:tav tm="33710">
                                          <p:val>
                                            <p:fltVal val="1"/>
                                          </p:val>
                                        </p:tav>
                                        <p:tav tm="34830">
                                          <p:val>
                                            <p:fltVal val="1"/>
                                          </p:val>
                                        </p:tav>
                                        <p:tav tm="35960">
                                          <p:val>
                                            <p:fltVal val="1"/>
                                          </p:val>
                                        </p:tav>
                                        <p:tav tm="37080">
                                          <p:val>
                                            <p:fltVal val="1"/>
                                          </p:val>
                                        </p:tav>
                                        <p:tav tm="38200">
                                          <p:val>
                                            <p:fltVal val="1"/>
                                          </p:val>
                                        </p:tav>
                                        <p:tav tm="39330">
                                          <p:val>
                                            <p:fltVal val="1"/>
                                          </p:val>
                                        </p:tav>
                                        <p:tav tm="40450">
                                          <p:val>
                                            <p:fltVal val="1"/>
                                          </p:val>
                                        </p:tav>
                                        <p:tav tm="41570">
                                          <p:val>
                                            <p:fltVal val="1"/>
                                          </p:val>
                                        </p:tav>
                                        <p:tav tm="42700">
                                          <p:val>
                                            <p:fltVal val="1"/>
                                          </p:val>
                                        </p:tav>
                                        <p:tav tm="43820">
                                          <p:val>
                                            <p:fltVal val="1"/>
                                          </p:val>
                                        </p:tav>
                                        <p:tav tm="44940">
                                          <p:val>
                                            <p:fltVal val="1"/>
                                          </p:val>
                                        </p:tav>
                                        <p:tav tm="46070">
                                          <p:val>
                                            <p:fltVal val="1"/>
                                          </p:val>
                                        </p:tav>
                                        <p:tav tm="47190">
                                          <p:val>
                                            <p:fltVal val="1"/>
                                          </p:val>
                                        </p:tav>
                                        <p:tav tm="48310">
                                          <p:val>
                                            <p:fltVal val="1"/>
                                          </p:val>
                                        </p:tav>
                                        <p:tav tm="49440">
                                          <p:val>
                                            <p:fltVal val="1"/>
                                          </p:val>
                                        </p:tav>
                                        <p:tav tm="50560">
                                          <p:val>
                                            <p:fltVal val="1"/>
                                          </p:val>
                                        </p:tav>
                                        <p:tav tm="51690">
                                          <p:val>
                                            <p:fltVal val="1"/>
                                          </p:val>
                                        </p:tav>
                                        <p:tav tm="52810">
                                          <p:val>
                                            <p:fltVal val="1"/>
                                          </p:val>
                                        </p:tav>
                                        <p:tav tm="53930">
                                          <p:val>
                                            <p:fltVal val="1"/>
                                          </p:val>
                                        </p:tav>
                                        <p:tav tm="55060">
                                          <p:val>
                                            <p:fltVal val="1"/>
                                          </p:val>
                                        </p:tav>
                                        <p:tav tm="56180">
                                          <p:val>
                                            <p:fltVal val="1"/>
                                          </p:val>
                                        </p:tav>
                                        <p:tav tm="57300">
                                          <p:val>
                                            <p:fltVal val="1"/>
                                          </p:val>
                                        </p:tav>
                                        <p:tav tm="58430">
                                          <p:val>
                                            <p:fltVal val="1"/>
                                          </p:val>
                                        </p:tav>
                                        <p:tav tm="59550">
                                          <p:val>
                                            <p:fltVal val="1"/>
                                          </p:val>
                                        </p:tav>
                                        <p:tav tm="60670">
                                          <p:val>
                                            <p:fltVal val="1"/>
                                          </p:val>
                                        </p:tav>
                                        <p:tav tm="61800">
                                          <p:val>
                                            <p:fltVal val="1"/>
                                          </p:val>
                                        </p:tav>
                                        <p:tav tm="62920">
                                          <p:val>
                                            <p:fltVal val="1"/>
                                          </p:val>
                                        </p:tav>
                                        <p:tav tm="64040">
                                          <p:val>
                                            <p:fltVal val="1"/>
                                          </p:val>
                                        </p:tav>
                                        <p:tav tm="65170">
                                          <p:val>
                                            <p:fltVal val="1"/>
                                          </p:val>
                                        </p:tav>
                                        <p:tav tm="66290">
                                          <p:val>
                                            <p:fltVal val="1"/>
                                          </p:val>
                                        </p:tav>
                                        <p:tav tm="67420">
                                          <p:val>
                                            <p:fltVal val="1"/>
                                          </p:val>
                                        </p:tav>
                                        <p:tav tm="68540">
                                          <p:val>
                                            <p:fltVal val="1.0006"/>
                                          </p:val>
                                        </p:tav>
                                        <p:tav tm="69660">
                                          <p:val>
                                            <p:fltVal val="1.0024"/>
                                          </p:val>
                                        </p:tav>
                                        <p:tav tm="70790">
                                          <p:val>
                                            <p:fltVal val="1.006"/>
                                          </p:val>
                                        </p:tav>
                                        <p:tav tm="71910">
                                          <p:val>
                                            <p:fltVal val="1.0121"/>
                                          </p:val>
                                        </p:tav>
                                        <p:tav tm="73030">
                                          <p:val>
                                            <p:fltVal val="1.0213"/>
                                          </p:val>
                                        </p:tav>
                                        <p:tav tm="74160">
                                          <p:val>
                                            <p:fltVal val="1.0331"/>
                                          </p:val>
                                        </p:tav>
                                        <p:tav tm="75280">
                                          <p:val>
                                            <p:fltVal val="1.0422"/>
                                          </p:val>
                                        </p:tav>
                                        <p:tav tm="76400">
                                          <p:val>
                                            <p:fltVal val="1.0482"/>
                                          </p:val>
                                        </p:tav>
                                        <p:tav tm="77530">
                                          <p:val>
                                            <p:fltVal val="1.0516"/>
                                          </p:val>
                                        </p:tav>
                                        <p:tav tm="78650">
                                          <p:val>
                                            <p:fltVal val="1.0534"/>
                                          </p:val>
                                        </p:tav>
                                        <p:tav tm="79780">
                                          <p:val>
                                            <p:fltVal val="1.0539"/>
                                          </p:val>
                                        </p:tav>
                                        <p:tav tm="80900">
                                          <p:val>
                                            <p:fltVal val="1.0539"/>
                                          </p:val>
                                        </p:tav>
                                        <p:tav tm="82020">
                                          <p:val>
                                            <p:fltVal val="1.0534"/>
                                          </p:val>
                                        </p:tav>
                                        <p:tav tm="83150">
                                          <p:val>
                                            <p:fltVal val="1.0506"/>
                                          </p:val>
                                        </p:tav>
                                        <p:tav tm="84270">
                                          <p:val>
                                            <p:fltVal val="1.0439"/>
                                          </p:val>
                                        </p:tav>
                                        <p:tav tm="85390">
                                          <p:val>
                                            <p:fltVal val="1.0312"/>
                                          </p:val>
                                        </p:tav>
                                        <p:tav tm="86520">
                                          <p:val>
                                            <p:fltVal val="1.0156"/>
                                          </p:val>
                                        </p:tav>
                                        <p:tav tm="87640">
                                          <p:val>
                                            <p:fltVal val="1.0061"/>
                                          </p:val>
                                        </p:tav>
                                        <p:tav tm="88760">
                                          <p:val>
                                            <p:fltVal val="1.0015"/>
                                          </p:val>
                                        </p:tav>
                                        <p:tav tm="89890">
                                          <p:val>
                                            <p:fltVal val="1.0001"/>
                                          </p:val>
                                        </p:tav>
                                        <p:tav tm="91010">
                                          <p:val>
                                            <p:fltVal val="1"/>
                                          </p:val>
                                        </p:tav>
                                        <p:tav tm="92130">
                                          <p:val>
                                            <p:fltVal val="1"/>
                                          </p:val>
                                        </p:tav>
                                        <p:tav tm="93260">
                                          <p:val>
                                            <p:fltVal val="1"/>
                                          </p:val>
                                        </p:tav>
                                        <p:tav tm="94380">
                                          <p:val>
                                            <p:fltVal val="1"/>
                                          </p:val>
                                        </p:tav>
                                        <p:tav tm="95510">
                                          <p:val>
                                            <p:fltVal val="1"/>
                                          </p:val>
                                        </p:tav>
                                        <p:tav tm="96630">
                                          <p:val>
                                            <p:fltVal val="1"/>
                                          </p:val>
                                        </p:tav>
                                        <p:tav tm="97750">
                                          <p:val>
                                            <p:fltVal val="1"/>
                                          </p:val>
                                        </p:tav>
                                        <p:tav tm="9888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16" presetClass="emph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55" dur="15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EF4246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6" dur="15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EF4246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7" dur="15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/>
      <p:bldP spid="123" grpId="0"/>
      <p:bldP spid="125" grpId="0"/>
      <p:bldP spid="125" grpId="1"/>
      <p:bldP spid="4" grpId="0"/>
      <p:bldP spid="12" grpId="0"/>
      <p:bldP spid="14" grpId="0"/>
      <p:bldP spid="1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CE28880-25E0-B55F-DB99-05BD582898D5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12: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Figuras Geométricas</a:t>
            </a:r>
          </a:p>
        </p:txBody>
      </p:sp>
      <p:sp>
        <p:nvSpPr>
          <p:cNvPr id="6" name="!Marco 10">
            <a:extLst>
              <a:ext uri="{FF2B5EF4-FFF2-40B4-BE49-F238E27FC236}">
                <a16:creationId xmlns:a16="http://schemas.microsoft.com/office/drawing/2014/main" id="{206EB99F-C40E-6A47-D4FD-E991EA7BB2EF}"/>
              </a:ext>
            </a:extLst>
          </p:cNvPr>
          <p:cNvSpPr/>
          <p:nvPr/>
        </p:nvSpPr>
        <p:spPr>
          <a:xfrm>
            <a:off x="535084" y="1048971"/>
            <a:ext cx="11121832" cy="429261"/>
          </a:xfrm>
          <a:prstGeom prst="rect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1C6B913A-99FD-1A1D-B485-29712A9AD0B2}"/>
              </a:ext>
            </a:extLst>
          </p:cNvPr>
          <p:cNvSpPr txBox="1"/>
          <p:nvPr/>
        </p:nvSpPr>
        <p:spPr>
          <a:xfrm>
            <a:off x="535084" y="1063546"/>
            <a:ext cx="111218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Son polígonos que tienen 4 lados, sus ángulos suman 360º y tienen 2 diagonales.</a:t>
            </a:r>
            <a:endParaRPr lang="es-ES" sz="20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F0DD87C-837C-D894-0B30-A4D8D87A5844}"/>
              </a:ext>
            </a:extLst>
          </p:cNvPr>
          <p:cNvSpPr txBox="1"/>
          <p:nvPr/>
        </p:nvSpPr>
        <p:spPr>
          <a:xfrm>
            <a:off x="4325622" y="1715644"/>
            <a:ext cx="36931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/>
              <a:t>PARALELOGRAMOS</a:t>
            </a:r>
          </a:p>
          <a:p>
            <a:pPr algn="ctr"/>
            <a:r>
              <a:rPr lang="es-ES" b="1" dirty="0"/>
              <a:t>(Lados opuestos paralelos)</a:t>
            </a: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947AE4AF-0FAF-3499-2AC8-07CB741E8431}"/>
              </a:ext>
            </a:extLst>
          </p:cNvPr>
          <p:cNvCxnSpPr/>
          <p:nvPr/>
        </p:nvCxnSpPr>
        <p:spPr>
          <a:xfrm>
            <a:off x="2228850" y="2377551"/>
            <a:ext cx="77343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ángulo 4">
            <a:extLst>
              <a:ext uri="{FF2B5EF4-FFF2-40B4-BE49-F238E27FC236}">
                <a16:creationId xmlns:a16="http://schemas.microsoft.com/office/drawing/2014/main" id="{125C1600-538F-FA7B-5405-5D6A85CAE157}"/>
              </a:ext>
            </a:extLst>
          </p:cNvPr>
          <p:cNvSpPr/>
          <p:nvPr/>
        </p:nvSpPr>
        <p:spPr>
          <a:xfrm>
            <a:off x="2756389" y="2720426"/>
            <a:ext cx="1534792" cy="70066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600"/>
          </a:p>
        </p:txBody>
      </p:sp>
      <p:sp>
        <p:nvSpPr>
          <p:cNvPr id="7" name="Rombo 6">
            <a:extLst>
              <a:ext uri="{FF2B5EF4-FFF2-40B4-BE49-F238E27FC236}">
                <a16:creationId xmlns:a16="http://schemas.microsoft.com/office/drawing/2014/main" id="{9C5592E9-0E3B-31BD-34FA-41F100AB91A0}"/>
              </a:ext>
            </a:extLst>
          </p:cNvPr>
          <p:cNvSpPr/>
          <p:nvPr/>
        </p:nvSpPr>
        <p:spPr>
          <a:xfrm>
            <a:off x="5740152" y="2581849"/>
            <a:ext cx="819646" cy="1050994"/>
          </a:xfrm>
          <a:prstGeom prst="diamond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600"/>
          </a:p>
        </p:txBody>
      </p:sp>
      <p:sp>
        <p:nvSpPr>
          <p:cNvPr id="8" name="Paralelogramo 7">
            <a:extLst>
              <a:ext uri="{FF2B5EF4-FFF2-40B4-BE49-F238E27FC236}">
                <a16:creationId xmlns:a16="http://schemas.microsoft.com/office/drawing/2014/main" id="{358BFB74-A5BE-9713-E10C-5F641225591D}"/>
              </a:ext>
            </a:extLst>
          </p:cNvPr>
          <p:cNvSpPr/>
          <p:nvPr/>
        </p:nvSpPr>
        <p:spPr>
          <a:xfrm>
            <a:off x="7864763" y="2637248"/>
            <a:ext cx="1126068" cy="959242"/>
          </a:xfrm>
          <a:prstGeom prst="parallelogram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60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4B57E82C-858B-DCC0-1C59-212A6CA65DF6}"/>
              </a:ext>
            </a:extLst>
          </p:cNvPr>
          <p:cNvSpPr txBox="1"/>
          <p:nvPr/>
        </p:nvSpPr>
        <p:spPr>
          <a:xfrm>
            <a:off x="1677207" y="3802662"/>
            <a:ext cx="36931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>
                <a:solidFill>
                  <a:schemeClr val="accent5">
                    <a:lumMod val="75000"/>
                  </a:schemeClr>
                </a:solidFill>
              </a:rPr>
              <a:t>RECTÁNGULO</a:t>
            </a:r>
          </a:p>
          <a:p>
            <a:pPr algn="ctr"/>
            <a:r>
              <a:rPr lang="es-ES" b="1" dirty="0">
                <a:solidFill>
                  <a:schemeClr val="accent5">
                    <a:lumMod val="75000"/>
                  </a:schemeClr>
                </a:solidFill>
              </a:rPr>
              <a:t>(ángulos rectos)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6F4BBCD5-F508-51FA-5A1C-3087F123B980}"/>
              </a:ext>
            </a:extLst>
          </p:cNvPr>
          <p:cNvSpPr txBox="1"/>
          <p:nvPr/>
        </p:nvSpPr>
        <p:spPr>
          <a:xfrm>
            <a:off x="4303397" y="3763049"/>
            <a:ext cx="36931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>
                <a:solidFill>
                  <a:schemeClr val="accent6">
                    <a:lumMod val="75000"/>
                  </a:schemeClr>
                </a:solidFill>
              </a:rPr>
              <a:t>ROMBO</a:t>
            </a:r>
          </a:p>
          <a:p>
            <a:pPr algn="ctr"/>
            <a:r>
              <a:rPr lang="es-ES" b="1" dirty="0">
                <a:solidFill>
                  <a:schemeClr val="accent6">
                    <a:lumMod val="75000"/>
                  </a:schemeClr>
                </a:solidFill>
              </a:rPr>
              <a:t>(lados iguales)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F7385756-6BC8-7B8A-B6DD-58AD10D2E0FC}"/>
              </a:ext>
            </a:extLst>
          </p:cNvPr>
          <p:cNvSpPr txBox="1"/>
          <p:nvPr/>
        </p:nvSpPr>
        <p:spPr>
          <a:xfrm>
            <a:off x="6479367" y="3763049"/>
            <a:ext cx="36931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>
                <a:solidFill>
                  <a:schemeClr val="accent1">
                    <a:lumMod val="75000"/>
                  </a:schemeClr>
                </a:solidFill>
              </a:rPr>
              <a:t>ROMBOIDE</a:t>
            </a:r>
          </a:p>
          <a:p>
            <a:pPr algn="ctr"/>
            <a:endParaRPr lang="es-ES" b="1" dirty="0"/>
          </a:p>
        </p:txBody>
      </p: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B8F926C2-B511-A876-7A6F-02A770A95340}"/>
              </a:ext>
            </a:extLst>
          </p:cNvPr>
          <p:cNvCxnSpPr>
            <a:cxnSpLocks/>
          </p:cNvCxnSpPr>
          <p:nvPr/>
        </p:nvCxnSpPr>
        <p:spPr>
          <a:xfrm>
            <a:off x="2360297" y="4493916"/>
            <a:ext cx="478980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ángulo 12">
            <a:extLst>
              <a:ext uri="{FF2B5EF4-FFF2-40B4-BE49-F238E27FC236}">
                <a16:creationId xmlns:a16="http://schemas.microsoft.com/office/drawing/2014/main" id="{22FD03C4-07A9-79E4-B79E-CFEFC7C8D798}"/>
              </a:ext>
            </a:extLst>
          </p:cNvPr>
          <p:cNvSpPr/>
          <p:nvPr/>
        </p:nvSpPr>
        <p:spPr>
          <a:xfrm>
            <a:off x="4291181" y="4747546"/>
            <a:ext cx="867490" cy="867490"/>
          </a:xfrm>
          <a:prstGeom prst="rect">
            <a:avLst/>
          </a:prstGeom>
          <a:solidFill>
            <a:srgbClr val="A7ABFB">
              <a:alpha val="78824"/>
            </a:srgbClr>
          </a:solidFill>
          <a:ln>
            <a:solidFill>
              <a:srgbClr val="050A6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60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9470133E-9E79-B8E3-4700-3B55327C1450}"/>
              </a:ext>
            </a:extLst>
          </p:cNvPr>
          <p:cNvSpPr txBox="1"/>
          <p:nvPr/>
        </p:nvSpPr>
        <p:spPr>
          <a:xfrm>
            <a:off x="2686734" y="5697944"/>
            <a:ext cx="41284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>
                <a:solidFill>
                  <a:srgbClr val="050A6F"/>
                </a:solidFill>
              </a:rPr>
              <a:t>CUADRADO</a:t>
            </a:r>
          </a:p>
          <a:p>
            <a:pPr algn="ctr"/>
            <a:r>
              <a:rPr lang="es-ES" b="1" dirty="0">
                <a:solidFill>
                  <a:srgbClr val="050A6F"/>
                </a:solidFill>
              </a:rPr>
              <a:t>(lados iguales y ángulos rectos)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948256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0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300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500"/>
                            </p:stCondLst>
                            <p:childTnLst>
                              <p:par>
                                <p:cTn id="5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4" grpId="0"/>
      <p:bldP spid="3" grpId="0"/>
      <p:bldP spid="5" grpId="0" animBg="1"/>
      <p:bldP spid="7" grpId="0" animBg="1"/>
      <p:bldP spid="8" grpId="0" animBg="1"/>
      <p:bldP spid="9" grpId="0"/>
      <p:bldP spid="10" grpId="0"/>
      <p:bldP spid="11" grpId="0"/>
      <p:bldP spid="13" grpId="0" animBg="1"/>
      <p:bldP spid="1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CE28880-25E0-B55F-DB99-05BD582898D5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12: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Figuras Geométricas</a:t>
            </a:r>
          </a:p>
        </p:txBody>
      </p:sp>
      <p:sp>
        <p:nvSpPr>
          <p:cNvPr id="6" name="!Marco 10">
            <a:extLst>
              <a:ext uri="{FF2B5EF4-FFF2-40B4-BE49-F238E27FC236}">
                <a16:creationId xmlns:a16="http://schemas.microsoft.com/office/drawing/2014/main" id="{206EB99F-C40E-6A47-D4FD-E991EA7BB2EF}"/>
              </a:ext>
            </a:extLst>
          </p:cNvPr>
          <p:cNvSpPr/>
          <p:nvPr/>
        </p:nvSpPr>
        <p:spPr>
          <a:xfrm>
            <a:off x="535084" y="1048971"/>
            <a:ext cx="11121832" cy="429261"/>
          </a:xfrm>
          <a:prstGeom prst="rect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1C6B913A-99FD-1A1D-B485-29712A9AD0B2}"/>
              </a:ext>
            </a:extLst>
          </p:cNvPr>
          <p:cNvSpPr txBox="1"/>
          <p:nvPr/>
        </p:nvSpPr>
        <p:spPr>
          <a:xfrm>
            <a:off x="535084" y="1063546"/>
            <a:ext cx="111218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Son polígonos que tienen 4 lados, sus ángulos suman 360º y tienen 2 diagonales.</a:t>
            </a:r>
            <a:endParaRPr lang="es-ES" sz="20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5" name="Trapecio 14">
            <a:extLst>
              <a:ext uri="{FF2B5EF4-FFF2-40B4-BE49-F238E27FC236}">
                <a16:creationId xmlns:a16="http://schemas.microsoft.com/office/drawing/2014/main" id="{5978593E-64F8-B9F6-C048-2CB1648CE3AE}"/>
              </a:ext>
            </a:extLst>
          </p:cNvPr>
          <p:cNvSpPr/>
          <p:nvPr/>
        </p:nvSpPr>
        <p:spPr>
          <a:xfrm>
            <a:off x="3020552" y="2516285"/>
            <a:ext cx="1011230" cy="758420"/>
          </a:xfrm>
          <a:prstGeom prst="trapezoid">
            <a:avLst>
              <a:gd name="adj" fmla="val 30714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600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1C9A14E6-BFD3-F4B8-F639-A50E3F8C2063}"/>
              </a:ext>
            </a:extLst>
          </p:cNvPr>
          <p:cNvSpPr txBox="1"/>
          <p:nvPr/>
        </p:nvSpPr>
        <p:spPr>
          <a:xfrm>
            <a:off x="1679590" y="3627399"/>
            <a:ext cx="36931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>
                <a:solidFill>
                  <a:schemeClr val="accent2">
                    <a:lumMod val="75000"/>
                  </a:schemeClr>
                </a:solidFill>
              </a:rPr>
              <a:t>TRAPECIO</a:t>
            </a:r>
          </a:p>
          <a:p>
            <a:pPr algn="ctr"/>
            <a:r>
              <a:rPr lang="es-ES" b="1" dirty="0">
                <a:solidFill>
                  <a:schemeClr val="accent2">
                    <a:lumMod val="75000"/>
                  </a:schemeClr>
                </a:solidFill>
              </a:rPr>
              <a:t>(solo dos lados paralelos)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4945F6DA-9D15-A891-9B9F-8AF4BE8ECF30}"/>
              </a:ext>
            </a:extLst>
          </p:cNvPr>
          <p:cNvSpPr txBox="1"/>
          <p:nvPr/>
        </p:nvSpPr>
        <p:spPr>
          <a:xfrm>
            <a:off x="4208147" y="1723810"/>
            <a:ext cx="3693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/>
              <a:t>NO PARALELOGRAMOS</a:t>
            </a:r>
          </a:p>
        </p:txBody>
      </p: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D1DE027D-03E8-F503-5295-7F06F96D4281}"/>
              </a:ext>
            </a:extLst>
          </p:cNvPr>
          <p:cNvCxnSpPr>
            <a:cxnSpLocks/>
          </p:cNvCxnSpPr>
          <p:nvPr/>
        </p:nvCxnSpPr>
        <p:spPr>
          <a:xfrm>
            <a:off x="2080575" y="2210960"/>
            <a:ext cx="77343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ángulo 39">
            <a:extLst>
              <a:ext uri="{FF2B5EF4-FFF2-40B4-BE49-F238E27FC236}">
                <a16:creationId xmlns:a16="http://schemas.microsoft.com/office/drawing/2014/main" id="{F4099C9E-48ED-B988-D4C2-E37990B442E9}"/>
              </a:ext>
            </a:extLst>
          </p:cNvPr>
          <p:cNvSpPr/>
          <p:nvPr/>
        </p:nvSpPr>
        <p:spPr>
          <a:xfrm rot="1996285">
            <a:off x="5960208" y="2367635"/>
            <a:ext cx="970994" cy="757192"/>
          </a:xfrm>
          <a:custGeom>
            <a:avLst/>
            <a:gdLst>
              <a:gd name="connsiteX0" fmla="*/ 0 w 937542"/>
              <a:gd name="connsiteY0" fmla="*/ 0 h 937542"/>
              <a:gd name="connsiteX1" fmla="*/ 937542 w 937542"/>
              <a:gd name="connsiteY1" fmla="*/ 0 h 937542"/>
              <a:gd name="connsiteX2" fmla="*/ 937542 w 937542"/>
              <a:gd name="connsiteY2" fmla="*/ 937542 h 937542"/>
              <a:gd name="connsiteX3" fmla="*/ 0 w 937542"/>
              <a:gd name="connsiteY3" fmla="*/ 937542 h 937542"/>
              <a:gd name="connsiteX4" fmla="*/ 0 w 937542"/>
              <a:gd name="connsiteY4" fmla="*/ 0 h 937542"/>
              <a:gd name="connsiteX0" fmla="*/ 0 w 937542"/>
              <a:gd name="connsiteY0" fmla="*/ 0 h 937542"/>
              <a:gd name="connsiteX1" fmla="*/ 602262 w 937542"/>
              <a:gd name="connsiteY1" fmla="*/ 502920 h 937542"/>
              <a:gd name="connsiteX2" fmla="*/ 937542 w 937542"/>
              <a:gd name="connsiteY2" fmla="*/ 937542 h 937542"/>
              <a:gd name="connsiteX3" fmla="*/ 0 w 937542"/>
              <a:gd name="connsiteY3" fmla="*/ 937542 h 937542"/>
              <a:gd name="connsiteX4" fmla="*/ 0 w 937542"/>
              <a:gd name="connsiteY4" fmla="*/ 0 h 937542"/>
              <a:gd name="connsiteX0" fmla="*/ 784860 w 937542"/>
              <a:gd name="connsiteY0" fmla="*/ 0 h 998502"/>
              <a:gd name="connsiteX1" fmla="*/ 602262 w 937542"/>
              <a:gd name="connsiteY1" fmla="*/ 563880 h 998502"/>
              <a:gd name="connsiteX2" fmla="*/ 937542 w 937542"/>
              <a:gd name="connsiteY2" fmla="*/ 998502 h 998502"/>
              <a:gd name="connsiteX3" fmla="*/ 0 w 937542"/>
              <a:gd name="connsiteY3" fmla="*/ 998502 h 998502"/>
              <a:gd name="connsiteX4" fmla="*/ 784860 w 937542"/>
              <a:gd name="connsiteY4" fmla="*/ 0 h 998502"/>
              <a:gd name="connsiteX0" fmla="*/ 784860 w 937542"/>
              <a:gd name="connsiteY0" fmla="*/ 0 h 998502"/>
              <a:gd name="connsiteX1" fmla="*/ 617502 w 937542"/>
              <a:gd name="connsiteY1" fmla="*/ 716280 h 998502"/>
              <a:gd name="connsiteX2" fmla="*/ 937542 w 937542"/>
              <a:gd name="connsiteY2" fmla="*/ 998502 h 998502"/>
              <a:gd name="connsiteX3" fmla="*/ 0 w 937542"/>
              <a:gd name="connsiteY3" fmla="*/ 998502 h 998502"/>
              <a:gd name="connsiteX4" fmla="*/ 784860 w 937542"/>
              <a:gd name="connsiteY4" fmla="*/ 0 h 998502"/>
              <a:gd name="connsiteX0" fmla="*/ 784860 w 1280442"/>
              <a:gd name="connsiteY0" fmla="*/ 0 h 998502"/>
              <a:gd name="connsiteX1" fmla="*/ 617502 w 1280442"/>
              <a:gd name="connsiteY1" fmla="*/ 716280 h 998502"/>
              <a:gd name="connsiteX2" fmla="*/ 1280442 w 1280442"/>
              <a:gd name="connsiteY2" fmla="*/ 998502 h 998502"/>
              <a:gd name="connsiteX3" fmla="*/ 0 w 1280442"/>
              <a:gd name="connsiteY3" fmla="*/ 998502 h 998502"/>
              <a:gd name="connsiteX4" fmla="*/ 784860 w 1280442"/>
              <a:gd name="connsiteY4" fmla="*/ 0 h 998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80442" h="998502">
                <a:moveTo>
                  <a:pt x="784860" y="0"/>
                </a:moveTo>
                <a:lnTo>
                  <a:pt x="617502" y="716280"/>
                </a:lnTo>
                <a:lnTo>
                  <a:pt x="1280442" y="998502"/>
                </a:lnTo>
                <a:lnTo>
                  <a:pt x="0" y="998502"/>
                </a:lnTo>
                <a:lnTo>
                  <a:pt x="784860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600"/>
          </a:p>
        </p:txBody>
      </p:sp>
      <p:sp>
        <p:nvSpPr>
          <p:cNvPr id="20" name="Trapecio 40">
            <a:extLst>
              <a:ext uri="{FF2B5EF4-FFF2-40B4-BE49-F238E27FC236}">
                <a16:creationId xmlns:a16="http://schemas.microsoft.com/office/drawing/2014/main" id="{CF6DEF24-9A8C-DC2A-8593-9F9D3EF89041}"/>
              </a:ext>
            </a:extLst>
          </p:cNvPr>
          <p:cNvSpPr/>
          <p:nvPr/>
        </p:nvSpPr>
        <p:spPr>
          <a:xfrm>
            <a:off x="7159439" y="2654019"/>
            <a:ext cx="941888" cy="758420"/>
          </a:xfrm>
          <a:custGeom>
            <a:avLst/>
            <a:gdLst>
              <a:gd name="connsiteX0" fmla="*/ 0 w 1333500"/>
              <a:gd name="connsiteY0" fmla="*/ 1000123 h 1000123"/>
              <a:gd name="connsiteX1" fmla="*/ 307178 w 1333500"/>
              <a:gd name="connsiteY1" fmla="*/ 0 h 1000123"/>
              <a:gd name="connsiteX2" fmla="*/ 1026322 w 1333500"/>
              <a:gd name="connsiteY2" fmla="*/ 0 h 1000123"/>
              <a:gd name="connsiteX3" fmla="*/ 1333500 w 1333500"/>
              <a:gd name="connsiteY3" fmla="*/ 1000123 h 1000123"/>
              <a:gd name="connsiteX4" fmla="*/ 0 w 1333500"/>
              <a:gd name="connsiteY4" fmla="*/ 1000123 h 1000123"/>
              <a:gd name="connsiteX0" fmla="*/ 0 w 1242060"/>
              <a:gd name="connsiteY0" fmla="*/ 1000123 h 1000123"/>
              <a:gd name="connsiteX1" fmla="*/ 307178 w 1242060"/>
              <a:gd name="connsiteY1" fmla="*/ 0 h 1000123"/>
              <a:gd name="connsiteX2" fmla="*/ 1026322 w 1242060"/>
              <a:gd name="connsiteY2" fmla="*/ 0 h 1000123"/>
              <a:gd name="connsiteX3" fmla="*/ 1242060 w 1242060"/>
              <a:gd name="connsiteY3" fmla="*/ 641983 h 1000123"/>
              <a:gd name="connsiteX4" fmla="*/ 0 w 1242060"/>
              <a:gd name="connsiteY4" fmla="*/ 1000123 h 10001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2060" h="1000123">
                <a:moveTo>
                  <a:pt x="0" y="1000123"/>
                </a:moveTo>
                <a:lnTo>
                  <a:pt x="307178" y="0"/>
                </a:lnTo>
                <a:lnTo>
                  <a:pt x="1026322" y="0"/>
                </a:lnTo>
                <a:lnTo>
                  <a:pt x="1242060" y="641983"/>
                </a:lnTo>
                <a:lnTo>
                  <a:pt x="0" y="100012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600"/>
          </a:p>
        </p:txBody>
      </p:sp>
      <p:sp>
        <p:nvSpPr>
          <p:cNvPr id="21" name="Trapecio 40">
            <a:extLst>
              <a:ext uri="{FF2B5EF4-FFF2-40B4-BE49-F238E27FC236}">
                <a16:creationId xmlns:a16="http://schemas.microsoft.com/office/drawing/2014/main" id="{614B0378-09AE-CE3F-81C1-C203C8A6687B}"/>
              </a:ext>
            </a:extLst>
          </p:cNvPr>
          <p:cNvSpPr/>
          <p:nvPr/>
        </p:nvSpPr>
        <p:spPr>
          <a:xfrm>
            <a:off x="8444480" y="2654019"/>
            <a:ext cx="830296" cy="873990"/>
          </a:xfrm>
          <a:custGeom>
            <a:avLst/>
            <a:gdLst>
              <a:gd name="connsiteX0" fmla="*/ 0 w 1333500"/>
              <a:gd name="connsiteY0" fmla="*/ 1000123 h 1000123"/>
              <a:gd name="connsiteX1" fmla="*/ 307178 w 1333500"/>
              <a:gd name="connsiteY1" fmla="*/ 0 h 1000123"/>
              <a:gd name="connsiteX2" fmla="*/ 1026322 w 1333500"/>
              <a:gd name="connsiteY2" fmla="*/ 0 h 1000123"/>
              <a:gd name="connsiteX3" fmla="*/ 1333500 w 1333500"/>
              <a:gd name="connsiteY3" fmla="*/ 1000123 h 1000123"/>
              <a:gd name="connsiteX4" fmla="*/ 0 w 1333500"/>
              <a:gd name="connsiteY4" fmla="*/ 1000123 h 1000123"/>
              <a:gd name="connsiteX0" fmla="*/ 0 w 1242060"/>
              <a:gd name="connsiteY0" fmla="*/ 1000123 h 1000123"/>
              <a:gd name="connsiteX1" fmla="*/ 307178 w 1242060"/>
              <a:gd name="connsiteY1" fmla="*/ 0 h 1000123"/>
              <a:gd name="connsiteX2" fmla="*/ 1026322 w 1242060"/>
              <a:gd name="connsiteY2" fmla="*/ 0 h 1000123"/>
              <a:gd name="connsiteX3" fmla="*/ 1242060 w 1242060"/>
              <a:gd name="connsiteY3" fmla="*/ 641983 h 1000123"/>
              <a:gd name="connsiteX4" fmla="*/ 0 w 1242060"/>
              <a:gd name="connsiteY4" fmla="*/ 1000123 h 1000123"/>
              <a:gd name="connsiteX0" fmla="*/ 0 w 1310640"/>
              <a:gd name="connsiteY0" fmla="*/ 619123 h 641983"/>
              <a:gd name="connsiteX1" fmla="*/ 375758 w 1310640"/>
              <a:gd name="connsiteY1" fmla="*/ 0 h 641983"/>
              <a:gd name="connsiteX2" fmla="*/ 1094902 w 1310640"/>
              <a:gd name="connsiteY2" fmla="*/ 0 h 641983"/>
              <a:gd name="connsiteX3" fmla="*/ 1310640 w 1310640"/>
              <a:gd name="connsiteY3" fmla="*/ 641983 h 641983"/>
              <a:gd name="connsiteX4" fmla="*/ 0 w 1310640"/>
              <a:gd name="connsiteY4" fmla="*/ 619123 h 641983"/>
              <a:gd name="connsiteX0" fmla="*/ 0 w 1094902"/>
              <a:gd name="connsiteY0" fmla="*/ 619123 h 1152523"/>
              <a:gd name="connsiteX1" fmla="*/ 375758 w 1094902"/>
              <a:gd name="connsiteY1" fmla="*/ 0 h 1152523"/>
              <a:gd name="connsiteX2" fmla="*/ 1094902 w 1094902"/>
              <a:gd name="connsiteY2" fmla="*/ 0 h 1152523"/>
              <a:gd name="connsiteX3" fmla="*/ 868680 w 1094902"/>
              <a:gd name="connsiteY3" fmla="*/ 1152523 h 1152523"/>
              <a:gd name="connsiteX4" fmla="*/ 0 w 1094902"/>
              <a:gd name="connsiteY4" fmla="*/ 619123 h 11525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94902" h="1152523">
                <a:moveTo>
                  <a:pt x="0" y="619123"/>
                </a:moveTo>
                <a:lnTo>
                  <a:pt x="375758" y="0"/>
                </a:lnTo>
                <a:lnTo>
                  <a:pt x="1094902" y="0"/>
                </a:lnTo>
                <a:lnTo>
                  <a:pt x="868680" y="1152523"/>
                </a:lnTo>
                <a:lnTo>
                  <a:pt x="0" y="61912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600"/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1846825F-BA6E-BB39-AB2C-3A053A60BF93}"/>
              </a:ext>
            </a:extLst>
          </p:cNvPr>
          <p:cNvSpPr txBox="1"/>
          <p:nvPr/>
        </p:nvSpPr>
        <p:spPr>
          <a:xfrm>
            <a:off x="5938281" y="3627399"/>
            <a:ext cx="36931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>
                <a:solidFill>
                  <a:schemeClr val="bg1">
                    <a:lumMod val="50000"/>
                  </a:schemeClr>
                </a:solidFill>
              </a:rPr>
              <a:t>TRAPEZOIDES</a:t>
            </a:r>
          </a:p>
          <a:p>
            <a:pPr algn="ctr"/>
            <a:r>
              <a:rPr lang="es-ES" b="1" dirty="0">
                <a:solidFill>
                  <a:schemeClr val="bg1">
                    <a:lumMod val="50000"/>
                  </a:schemeClr>
                </a:solidFill>
              </a:rPr>
              <a:t>(otros cuadriláteros)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82576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/>
      <p:bldP spid="17" grpId="0"/>
      <p:bldP spid="19" grpId="0" animBg="1"/>
      <p:bldP spid="20" grpId="0" animBg="1"/>
      <p:bldP spid="21" grpId="0" animBg="1"/>
      <p:bldP spid="2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CE28880-25E0-B55F-DB99-05BD582898D5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12: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Figuras Geométricas</a:t>
            </a:r>
          </a:p>
        </p:txBody>
      </p:sp>
      <p:sp>
        <p:nvSpPr>
          <p:cNvPr id="3" name="!Marco 10">
            <a:extLst>
              <a:ext uri="{FF2B5EF4-FFF2-40B4-BE49-F238E27FC236}">
                <a16:creationId xmlns:a16="http://schemas.microsoft.com/office/drawing/2014/main" id="{C63F2D28-56EE-8165-0B13-DF0D357B583D}"/>
              </a:ext>
            </a:extLst>
          </p:cNvPr>
          <p:cNvSpPr/>
          <p:nvPr/>
        </p:nvSpPr>
        <p:spPr>
          <a:xfrm>
            <a:off x="535084" y="1048971"/>
            <a:ext cx="11121832" cy="722461"/>
          </a:xfrm>
          <a:prstGeom prst="rect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4" name="!CuadroTexto 1">
            <a:extLst>
              <a:ext uri="{FF2B5EF4-FFF2-40B4-BE49-F238E27FC236}">
                <a16:creationId xmlns:a16="http://schemas.microsoft.com/office/drawing/2014/main" id="{CEE9A90F-8CF2-DD6F-8496-63293940C9C1}"/>
              </a:ext>
            </a:extLst>
          </p:cNvPr>
          <p:cNvSpPr txBox="1"/>
          <p:nvPr/>
        </p:nvSpPr>
        <p:spPr>
          <a:xfrm>
            <a:off x="535084" y="1056258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Un trapecio es un cuadrilátero con dos lados paralelos y otros dos no paralelos.</a:t>
            </a:r>
          </a:p>
          <a:p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Los lados paralelos se llaman base y la distancia entre ellos altura.</a:t>
            </a:r>
          </a:p>
        </p:txBody>
      </p:sp>
      <p:sp>
        <p:nvSpPr>
          <p:cNvPr id="5" name="Trapecio 1">
            <a:extLst>
              <a:ext uri="{FF2B5EF4-FFF2-40B4-BE49-F238E27FC236}">
                <a16:creationId xmlns:a16="http://schemas.microsoft.com/office/drawing/2014/main" id="{786F10E4-4C94-6226-EF07-3FC24F411485}"/>
              </a:ext>
            </a:extLst>
          </p:cNvPr>
          <p:cNvSpPr/>
          <p:nvPr/>
        </p:nvSpPr>
        <p:spPr>
          <a:xfrm>
            <a:off x="1871351" y="3652908"/>
            <a:ext cx="2686771" cy="1152200"/>
          </a:xfrm>
          <a:custGeom>
            <a:avLst/>
            <a:gdLst>
              <a:gd name="connsiteX0" fmla="*/ 0 w 2448646"/>
              <a:gd name="connsiteY0" fmla="*/ 1152200 h 1152200"/>
              <a:gd name="connsiteX1" fmla="*/ 476250 w 2448646"/>
              <a:gd name="connsiteY1" fmla="*/ 0 h 1152200"/>
              <a:gd name="connsiteX2" fmla="*/ 1972396 w 2448646"/>
              <a:gd name="connsiteY2" fmla="*/ 0 h 1152200"/>
              <a:gd name="connsiteX3" fmla="*/ 2448646 w 2448646"/>
              <a:gd name="connsiteY3" fmla="*/ 1152200 h 1152200"/>
              <a:gd name="connsiteX4" fmla="*/ 0 w 2448646"/>
              <a:gd name="connsiteY4" fmla="*/ 1152200 h 1152200"/>
              <a:gd name="connsiteX0" fmla="*/ 0 w 2686771"/>
              <a:gd name="connsiteY0" fmla="*/ 1152200 h 1152200"/>
              <a:gd name="connsiteX1" fmla="*/ 476250 w 2686771"/>
              <a:gd name="connsiteY1" fmla="*/ 0 h 1152200"/>
              <a:gd name="connsiteX2" fmla="*/ 1972396 w 2686771"/>
              <a:gd name="connsiteY2" fmla="*/ 0 h 1152200"/>
              <a:gd name="connsiteX3" fmla="*/ 2686771 w 2686771"/>
              <a:gd name="connsiteY3" fmla="*/ 1152200 h 1152200"/>
              <a:gd name="connsiteX4" fmla="*/ 0 w 2686771"/>
              <a:gd name="connsiteY4" fmla="*/ 1152200 h 115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86771" h="1152200">
                <a:moveTo>
                  <a:pt x="0" y="1152200"/>
                </a:moveTo>
                <a:lnTo>
                  <a:pt x="476250" y="0"/>
                </a:lnTo>
                <a:lnTo>
                  <a:pt x="1972396" y="0"/>
                </a:lnTo>
                <a:lnTo>
                  <a:pt x="2686771" y="1152200"/>
                </a:lnTo>
                <a:lnTo>
                  <a:pt x="0" y="1152200"/>
                </a:ln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60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D0676CD9-AA00-405C-F3B7-42ACE0573D52}"/>
              </a:ext>
            </a:extLst>
          </p:cNvPr>
          <p:cNvSpPr txBox="1"/>
          <p:nvPr/>
        </p:nvSpPr>
        <p:spPr>
          <a:xfrm>
            <a:off x="2060015" y="4860472"/>
            <a:ext cx="1996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>
                <a:solidFill>
                  <a:schemeClr val="accent2">
                    <a:lumMod val="75000"/>
                  </a:schemeClr>
                </a:solidFill>
              </a:rPr>
              <a:t>BASE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F57B03F9-5922-118F-E8B3-EF0E5E0BD117}"/>
              </a:ext>
            </a:extLst>
          </p:cNvPr>
          <p:cNvSpPr txBox="1"/>
          <p:nvPr/>
        </p:nvSpPr>
        <p:spPr>
          <a:xfrm>
            <a:off x="2097454" y="3258688"/>
            <a:ext cx="1996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>
                <a:solidFill>
                  <a:schemeClr val="accent2">
                    <a:lumMod val="75000"/>
                  </a:schemeClr>
                </a:solidFill>
              </a:rPr>
              <a:t>BASE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B48291DB-C6C1-65F1-7D04-0889A5B0319B}"/>
              </a:ext>
            </a:extLst>
          </p:cNvPr>
          <p:cNvCxnSpPr>
            <a:cxnSpLocks/>
          </p:cNvCxnSpPr>
          <p:nvPr/>
        </p:nvCxnSpPr>
        <p:spPr>
          <a:xfrm flipH="1">
            <a:off x="623934" y="4805108"/>
            <a:ext cx="1223602" cy="0"/>
          </a:xfrm>
          <a:prstGeom prst="line">
            <a:avLst/>
          </a:prstGeom>
          <a:ln>
            <a:solidFill>
              <a:schemeClr val="accent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C9F75A41-CD0C-24D7-9E52-43E936941A26}"/>
              </a:ext>
            </a:extLst>
          </p:cNvPr>
          <p:cNvCxnSpPr>
            <a:cxnSpLocks/>
          </p:cNvCxnSpPr>
          <p:nvPr/>
        </p:nvCxnSpPr>
        <p:spPr>
          <a:xfrm flipH="1">
            <a:off x="623934" y="3652908"/>
            <a:ext cx="1695092" cy="0"/>
          </a:xfrm>
          <a:prstGeom prst="line">
            <a:avLst/>
          </a:prstGeom>
          <a:ln>
            <a:solidFill>
              <a:schemeClr val="accent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5CE04C27-959B-07E1-1153-DAEBA619F25A}"/>
              </a:ext>
            </a:extLst>
          </p:cNvPr>
          <p:cNvCxnSpPr>
            <a:cxnSpLocks/>
          </p:cNvCxnSpPr>
          <p:nvPr/>
        </p:nvCxnSpPr>
        <p:spPr>
          <a:xfrm>
            <a:off x="1347837" y="3652908"/>
            <a:ext cx="0" cy="1152200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uadroTexto 11">
            <a:extLst>
              <a:ext uri="{FF2B5EF4-FFF2-40B4-BE49-F238E27FC236}">
                <a16:creationId xmlns:a16="http://schemas.microsoft.com/office/drawing/2014/main" id="{73357C77-43F7-48D8-8FD4-CAC5BC3952F1}"/>
              </a:ext>
            </a:extLst>
          </p:cNvPr>
          <p:cNvSpPr txBox="1"/>
          <p:nvPr/>
        </p:nvSpPr>
        <p:spPr>
          <a:xfrm>
            <a:off x="-148904" y="3996569"/>
            <a:ext cx="1996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>
                <a:solidFill>
                  <a:schemeClr val="accent2">
                    <a:lumMod val="75000"/>
                  </a:schemeClr>
                </a:solidFill>
              </a:rPr>
              <a:t>ALTURA</a:t>
            </a:r>
          </a:p>
        </p:txBody>
      </p:sp>
      <p:grpSp>
        <p:nvGrpSpPr>
          <p:cNvPr id="13" name="Grupo 12">
            <a:extLst>
              <a:ext uri="{FF2B5EF4-FFF2-40B4-BE49-F238E27FC236}">
                <a16:creationId xmlns:a16="http://schemas.microsoft.com/office/drawing/2014/main" id="{77FE9F30-CB87-2731-5154-91353986BA9C}"/>
              </a:ext>
            </a:extLst>
          </p:cNvPr>
          <p:cNvGrpSpPr/>
          <p:nvPr/>
        </p:nvGrpSpPr>
        <p:grpSpPr>
          <a:xfrm>
            <a:off x="5081635" y="3739866"/>
            <a:ext cx="2491314" cy="1065242"/>
            <a:chOff x="3790589" y="8415698"/>
            <a:chExt cx="2705821" cy="1156963"/>
          </a:xfrm>
          <a:solidFill>
            <a:schemeClr val="accent4">
              <a:lumMod val="20000"/>
              <a:lumOff val="80000"/>
            </a:schemeClr>
          </a:solidFill>
        </p:grpSpPr>
        <p:sp>
          <p:nvSpPr>
            <p:cNvPr id="14" name="Trapecio 1">
              <a:extLst>
                <a:ext uri="{FF2B5EF4-FFF2-40B4-BE49-F238E27FC236}">
                  <a16:creationId xmlns:a16="http://schemas.microsoft.com/office/drawing/2014/main" id="{96C08E3D-8545-4780-0632-A862CD48ACC8}"/>
                </a:ext>
              </a:extLst>
            </p:cNvPr>
            <p:cNvSpPr/>
            <p:nvPr/>
          </p:nvSpPr>
          <p:spPr>
            <a:xfrm>
              <a:off x="3790589" y="8415698"/>
              <a:ext cx="2705821" cy="1156963"/>
            </a:xfrm>
            <a:custGeom>
              <a:avLst/>
              <a:gdLst>
                <a:gd name="connsiteX0" fmla="*/ 0 w 2448646"/>
                <a:gd name="connsiteY0" fmla="*/ 1152200 h 1152200"/>
                <a:gd name="connsiteX1" fmla="*/ 476250 w 2448646"/>
                <a:gd name="connsiteY1" fmla="*/ 0 h 1152200"/>
                <a:gd name="connsiteX2" fmla="*/ 1972396 w 2448646"/>
                <a:gd name="connsiteY2" fmla="*/ 0 h 1152200"/>
                <a:gd name="connsiteX3" fmla="*/ 2448646 w 2448646"/>
                <a:gd name="connsiteY3" fmla="*/ 1152200 h 1152200"/>
                <a:gd name="connsiteX4" fmla="*/ 0 w 2448646"/>
                <a:gd name="connsiteY4" fmla="*/ 1152200 h 1152200"/>
                <a:gd name="connsiteX0" fmla="*/ 0 w 2686771"/>
                <a:gd name="connsiteY0" fmla="*/ 1152200 h 1152200"/>
                <a:gd name="connsiteX1" fmla="*/ 476250 w 2686771"/>
                <a:gd name="connsiteY1" fmla="*/ 0 h 1152200"/>
                <a:gd name="connsiteX2" fmla="*/ 1972396 w 2686771"/>
                <a:gd name="connsiteY2" fmla="*/ 0 h 1152200"/>
                <a:gd name="connsiteX3" fmla="*/ 2686771 w 2686771"/>
                <a:gd name="connsiteY3" fmla="*/ 1152200 h 1152200"/>
                <a:gd name="connsiteX4" fmla="*/ 0 w 2686771"/>
                <a:gd name="connsiteY4" fmla="*/ 1152200 h 1152200"/>
                <a:gd name="connsiteX0" fmla="*/ 19050 w 2705821"/>
                <a:gd name="connsiteY0" fmla="*/ 1156963 h 1156963"/>
                <a:gd name="connsiteX1" fmla="*/ 0 w 2705821"/>
                <a:gd name="connsiteY1" fmla="*/ 0 h 1156963"/>
                <a:gd name="connsiteX2" fmla="*/ 1991446 w 2705821"/>
                <a:gd name="connsiteY2" fmla="*/ 4763 h 1156963"/>
                <a:gd name="connsiteX3" fmla="*/ 2705821 w 2705821"/>
                <a:gd name="connsiteY3" fmla="*/ 1156963 h 1156963"/>
                <a:gd name="connsiteX4" fmla="*/ 19050 w 2705821"/>
                <a:gd name="connsiteY4" fmla="*/ 1156963 h 1156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05821" h="1156963">
                  <a:moveTo>
                    <a:pt x="19050" y="1156963"/>
                  </a:moveTo>
                  <a:lnTo>
                    <a:pt x="0" y="0"/>
                  </a:lnTo>
                  <a:lnTo>
                    <a:pt x="1991446" y="4763"/>
                  </a:lnTo>
                  <a:lnTo>
                    <a:pt x="2705821" y="1156963"/>
                  </a:lnTo>
                  <a:lnTo>
                    <a:pt x="19050" y="1156963"/>
                  </a:lnTo>
                  <a:close/>
                </a:path>
              </a:pathLst>
            </a:custGeom>
            <a:grpFill/>
            <a:ln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grpSp>
          <p:nvGrpSpPr>
            <p:cNvPr id="23" name="Grupo 22">
              <a:extLst>
                <a:ext uri="{FF2B5EF4-FFF2-40B4-BE49-F238E27FC236}">
                  <a16:creationId xmlns:a16="http://schemas.microsoft.com/office/drawing/2014/main" id="{12FA97FC-A54E-91BF-83AB-06584BDB263A}"/>
                </a:ext>
              </a:extLst>
            </p:cNvPr>
            <p:cNvGrpSpPr/>
            <p:nvPr/>
          </p:nvGrpSpPr>
          <p:grpSpPr>
            <a:xfrm>
              <a:off x="3809383" y="9454776"/>
              <a:ext cx="109794" cy="117885"/>
              <a:chOff x="5033699" y="7141369"/>
              <a:chExt cx="109794" cy="117885"/>
            </a:xfrm>
            <a:grpFill/>
          </p:grpSpPr>
          <p:sp>
            <p:nvSpPr>
              <p:cNvPr id="28" name="Rectángulo 27">
                <a:extLst>
                  <a:ext uri="{FF2B5EF4-FFF2-40B4-BE49-F238E27FC236}">
                    <a16:creationId xmlns:a16="http://schemas.microsoft.com/office/drawing/2014/main" id="{A315C0EF-9BA5-7C8A-E0EB-2C7F0561AF77}"/>
                  </a:ext>
                </a:extLst>
              </p:cNvPr>
              <p:cNvSpPr/>
              <p:nvPr/>
            </p:nvSpPr>
            <p:spPr>
              <a:xfrm>
                <a:off x="5033699" y="7141369"/>
                <a:ext cx="109794" cy="117885"/>
              </a:xfrm>
              <a:prstGeom prst="rect">
                <a:avLst/>
              </a:prstGeom>
              <a:grpFill/>
              <a:ln>
                <a:solidFill>
                  <a:schemeClr val="accent4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29" name="Elipse 28">
                <a:extLst>
                  <a:ext uri="{FF2B5EF4-FFF2-40B4-BE49-F238E27FC236}">
                    <a16:creationId xmlns:a16="http://schemas.microsoft.com/office/drawing/2014/main" id="{8164CC26-582A-9200-EE2E-D18BF888F557}"/>
                  </a:ext>
                </a:extLst>
              </p:cNvPr>
              <p:cNvSpPr/>
              <p:nvPr/>
            </p:nvSpPr>
            <p:spPr>
              <a:xfrm>
                <a:off x="5065737" y="7177452"/>
                <a:ext cx="45719" cy="45719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</p:grpSp>
        <p:grpSp>
          <p:nvGrpSpPr>
            <p:cNvPr id="25" name="Grupo 24">
              <a:extLst>
                <a:ext uri="{FF2B5EF4-FFF2-40B4-BE49-F238E27FC236}">
                  <a16:creationId xmlns:a16="http://schemas.microsoft.com/office/drawing/2014/main" id="{9ADD8C49-9033-5D1F-66DA-5443EDCCBE1A}"/>
                </a:ext>
              </a:extLst>
            </p:cNvPr>
            <p:cNvGrpSpPr/>
            <p:nvPr/>
          </p:nvGrpSpPr>
          <p:grpSpPr>
            <a:xfrm>
              <a:off x="3792970" y="8415698"/>
              <a:ext cx="109794" cy="117885"/>
              <a:chOff x="5036080" y="7141369"/>
              <a:chExt cx="109794" cy="117885"/>
            </a:xfrm>
            <a:grpFill/>
          </p:grpSpPr>
          <p:sp>
            <p:nvSpPr>
              <p:cNvPr id="26" name="Rectángulo 25">
                <a:extLst>
                  <a:ext uri="{FF2B5EF4-FFF2-40B4-BE49-F238E27FC236}">
                    <a16:creationId xmlns:a16="http://schemas.microsoft.com/office/drawing/2014/main" id="{C457C614-EB41-446A-8F43-1FDF10AF6222}"/>
                  </a:ext>
                </a:extLst>
              </p:cNvPr>
              <p:cNvSpPr/>
              <p:nvPr/>
            </p:nvSpPr>
            <p:spPr>
              <a:xfrm>
                <a:off x="5036080" y="7141369"/>
                <a:ext cx="109794" cy="117885"/>
              </a:xfrm>
              <a:prstGeom prst="rect">
                <a:avLst/>
              </a:prstGeom>
              <a:grpFill/>
              <a:ln>
                <a:solidFill>
                  <a:schemeClr val="accent4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  <p:sp>
            <p:nvSpPr>
              <p:cNvPr id="27" name="Elipse 26">
                <a:extLst>
                  <a:ext uri="{FF2B5EF4-FFF2-40B4-BE49-F238E27FC236}">
                    <a16:creationId xmlns:a16="http://schemas.microsoft.com/office/drawing/2014/main" id="{4B181D5A-8CD5-B305-0DC7-C617E7557810}"/>
                  </a:ext>
                </a:extLst>
              </p:cNvPr>
              <p:cNvSpPr/>
              <p:nvPr/>
            </p:nvSpPr>
            <p:spPr>
              <a:xfrm>
                <a:off x="5065737" y="7177452"/>
                <a:ext cx="45719" cy="45719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</p:grpSp>
      </p:grpSp>
      <p:sp>
        <p:nvSpPr>
          <p:cNvPr id="33" name="Trapecio 32">
            <a:extLst>
              <a:ext uri="{FF2B5EF4-FFF2-40B4-BE49-F238E27FC236}">
                <a16:creationId xmlns:a16="http://schemas.microsoft.com/office/drawing/2014/main" id="{2100EDED-5D84-3096-E5E5-41978F8F56AB}"/>
              </a:ext>
            </a:extLst>
          </p:cNvPr>
          <p:cNvSpPr/>
          <p:nvPr/>
        </p:nvSpPr>
        <p:spPr>
          <a:xfrm>
            <a:off x="8874209" y="3429000"/>
            <a:ext cx="1878848" cy="1409132"/>
          </a:xfrm>
          <a:prstGeom prst="trapezoid">
            <a:avLst>
              <a:gd name="adj" fmla="val 30714"/>
            </a:avLst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34" name="Conector recto 33">
            <a:extLst>
              <a:ext uri="{FF2B5EF4-FFF2-40B4-BE49-F238E27FC236}">
                <a16:creationId xmlns:a16="http://schemas.microsoft.com/office/drawing/2014/main" id="{91291119-4086-852D-BEDB-37D5FDD41632}"/>
              </a:ext>
            </a:extLst>
          </p:cNvPr>
          <p:cNvCxnSpPr>
            <a:cxnSpLocks/>
          </p:cNvCxnSpPr>
          <p:nvPr/>
        </p:nvCxnSpPr>
        <p:spPr>
          <a:xfrm>
            <a:off x="9814871" y="3137647"/>
            <a:ext cx="0" cy="1920268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Arco 34">
            <a:extLst>
              <a:ext uri="{FF2B5EF4-FFF2-40B4-BE49-F238E27FC236}">
                <a16:creationId xmlns:a16="http://schemas.microsoft.com/office/drawing/2014/main" id="{F4B44AFD-B658-EC92-45DE-3A40B8439D89}"/>
              </a:ext>
            </a:extLst>
          </p:cNvPr>
          <p:cNvSpPr/>
          <p:nvPr/>
        </p:nvSpPr>
        <p:spPr>
          <a:xfrm>
            <a:off x="9342490" y="4428453"/>
            <a:ext cx="2131094" cy="645850"/>
          </a:xfrm>
          <a:prstGeom prst="arc">
            <a:avLst>
              <a:gd name="adj1" fmla="val 19623307"/>
              <a:gd name="adj2" fmla="val 4922897"/>
            </a:avLst>
          </a:prstGeom>
          <a:ln w="28575">
            <a:solidFill>
              <a:schemeClr val="accent5">
                <a:lumMod val="75000"/>
              </a:schemeClr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6" name="Arco 35">
            <a:extLst>
              <a:ext uri="{FF2B5EF4-FFF2-40B4-BE49-F238E27FC236}">
                <a16:creationId xmlns:a16="http://schemas.microsoft.com/office/drawing/2014/main" id="{4B453DC6-E6AD-2DDD-52AD-DEC9E36F0D94}"/>
              </a:ext>
            </a:extLst>
          </p:cNvPr>
          <p:cNvSpPr/>
          <p:nvPr/>
        </p:nvSpPr>
        <p:spPr>
          <a:xfrm flipH="1">
            <a:off x="8156158" y="4428452"/>
            <a:ext cx="2131094" cy="645850"/>
          </a:xfrm>
          <a:prstGeom prst="arc">
            <a:avLst>
              <a:gd name="adj1" fmla="val 19623307"/>
              <a:gd name="adj2" fmla="val 4922897"/>
            </a:avLst>
          </a:prstGeom>
          <a:ln w="28575">
            <a:solidFill>
              <a:schemeClr val="accent5">
                <a:lumMod val="75000"/>
              </a:schemeClr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218785C0-E447-EFF4-E810-846CBA1F7886}"/>
              </a:ext>
            </a:extLst>
          </p:cNvPr>
          <p:cNvSpPr txBox="1"/>
          <p:nvPr/>
        </p:nvSpPr>
        <p:spPr>
          <a:xfrm>
            <a:off x="9221705" y="5057915"/>
            <a:ext cx="11867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>
                <a:solidFill>
                  <a:schemeClr val="accent5">
                    <a:lumMod val="75000"/>
                  </a:schemeClr>
                </a:solidFill>
              </a:rPr>
              <a:t>IGUALES</a:t>
            </a:r>
          </a:p>
        </p:txBody>
      </p:sp>
      <p:sp>
        <p:nvSpPr>
          <p:cNvPr id="40" name="!Marco 10">
            <a:extLst>
              <a:ext uri="{FF2B5EF4-FFF2-40B4-BE49-F238E27FC236}">
                <a16:creationId xmlns:a16="http://schemas.microsoft.com/office/drawing/2014/main" id="{4CC0F86B-A965-5DA6-5784-0EB1BF58122D}"/>
              </a:ext>
            </a:extLst>
          </p:cNvPr>
          <p:cNvSpPr/>
          <p:nvPr/>
        </p:nvSpPr>
        <p:spPr>
          <a:xfrm>
            <a:off x="535084" y="1886672"/>
            <a:ext cx="11121832" cy="475028"/>
          </a:xfrm>
          <a:prstGeom prst="rect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41" name="!CuadroTexto 1">
            <a:extLst>
              <a:ext uri="{FF2B5EF4-FFF2-40B4-BE49-F238E27FC236}">
                <a16:creationId xmlns:a16="http://schemas.microsoft.com/office/drawing/2014/main" id="{262DFA99-1490-FD94-888B-74A5621BF05E}"/>
              </a:ext>
            </a:extLst>
          </p:cNvPr>
          <p:cNvSpPr txBox="1"/>
          <p:nvPr/>
        </p:nvSpPr>
        <p:spPr>
          <a:xfrm>
            <a:off x="535084" y="1924131"/>
            <a:ext cx="111218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Un trapecio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con dos ángulos rectos se llama trapecio rectángulo.</a:t>
            </a:r>
            <a:endParaRPr lang="es-ES" sz="32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2" name="!Marco 10">
            <a:extLst>
              <a:ext uri="{FF2B5EF4-FFF2-40B4-BE49-F238E27FC236}">
                <a16:creationId xmlns:a16="http://schemas.microsoft.com/office/drawing/2014/main" id="{21D4466A-68D4-1757-D67F-C289F25C597B}"/>
              </a:ext>
            </a:extLst>
          </p:cNvPr>
          <p:cNvSpPr/>
          <p:nvPr/>
        </p:nvSpPr>
        <p:spPr>
          <a:xfrm>
            <a:off x="535084" y="2495215"/>
            <a:ext cx="11121832" cy="475028"/>
          </a:xfrm>
          <a:prstGeom prst="rect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43" name="!CuadroTexto 1">
            <a:extLst>
              <a:ext uri="{FF2B5EF4-FFF2-40B4-BE49-F238E27FC236}">
                <a16:creationId xmlns:a16="http://schemas.microsoft.com/office/drawing/2014/main" id="{35EEFCBF-7ED9-FD37-7E91-4C5768482FFF}"/>
              </a:ext>
            </a:extLst>
          </p:cNvPr>
          <p:cNvSpPr txBox="1"/>
          <p:nvPr/>
        </p:nvSpPr>
        <p:spPr>
          <a:xfrm>
            <a:off x="535084" y="2532674"/>
            <a:ext cx="111218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Un trapecio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con los 2 lados no paralelos iguales se llama trapecio isósceles.</a:t>
            </a:r>
            <a:endParaRPr lang="es-ES" sz="32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241894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3350"/>
                            </p:stCondLst>
                            <p:childTnLst>
                              <p:par>
                                <p:cTn id="1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3850"/>
                            </p:stCondLst>
                            <p:childTnLst>
                              <p:par>
                                <p:cTn id="1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350"/>
                            </p:stCondLst>
                            <p:childTnLst>
                              <p:par>
                                <p:cTn id="2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4850"/>
                            </p:stCondLst>
                            <p:childTnLst>
                              <p:par>
                                <p:cTn id="3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350"/>
                            </p:stCondLst>
                            <p:childTnLst>
                              <p:par>
                                <p:cTn id="4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2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2" dur="2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2000"/>
                            </p:stCondLst>
                            <p:childTnLst>
                              <p:par>
                                <p:cTn id="54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2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6" dur="2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500"/>
                            </p:stCondLst>
                            <p:childTnLst>
                              <p:par>
                                <p:cTn id="7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1000"/>
                            </p:stCondLst>
                            <p:childTnLst>
                              <p:par>
                                <p:cTn id="7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1500"/>
                            </p:stCondLst>
                            <p:childTnLst>
                              <p:par>
                                <p:cTn id="8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  <p:bldP spid="5" grpId="0" animBg="1"/>
      <p:bldP spid="7" grpId="0"/>
      <p:bldP spid="8" grpId="0"/>
      <p:bldP spid="12" grpId="0"/>
      <p:bldP spid="33" grpId="0" animBg="1"/>
      <p:bldP spid="35" grpId="0" animBg="1"/>
      <p:bldP spid="36" grpId="0" animBg="1"/>
      <p:bldP spid="37" grpId="0"/>
      <p:bldP spid="40" grpId="0" animBg="1"/>
      <p:bldP spid="41" grpId="0"/>
      <p:bldP spid="42" grpId="0" animBg="1"/>
      <p:bldP spid="4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CE28880-25E0-B55F-DB99-05BD582898D5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12: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Figuras Geométricas</a:t>
            </a:r>
          </a:p>
        </p:txBody>
      </p:sp>
      <p:sp>
        <p:nvSpPr>
          <p:cNvPr id="3" name="!Marco 10">
            <a:extLst>
              <a:ext uri="{FF2B5EF4-FFF2-40B4-BE49-F238E27FC236}">
                <a16:creationId xmlns:a16="http://schemas.microsoft.com/office/drawing/2014/main" id="{C63F2D28-56EE-8165-0B13-DF0D357B583D}"/>
              </a:ext>
            </a:extLst>
          </p:cNvPr>
          <p:cNvSpPr/>
          <p:nvPr/>
        </p:nvSpPr>
        <p:spPr>
          <a:xfrm>
            <a:off x="535084" y="1048972"/>
            <a:ext cx="11121832" cy="475028"/>
          </a:xfrm>
          <a:prstGeom prst="rect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4" name="!CuadroTexto 1">
            <a:extLst>
              <a:ext uri="{FF2B5EF4-FFF2-40B4-BE49-F238E27FC236}">
                <a16:creationId xmlns:a16="http://schemas.microsoft.com/office/drawing/2014/main" id="{CEE9A90F-8CF2-DD6F-8496-63293940C9C1}"/>
              </a:ext>
            </a:extLst>
          </p:cNvPr>
          <p:cNvSpPr txBox="1"/>
          <p:nvPr/>
        </p:nvSpPr>
        <p:spPr>
          <a:xfrm>
            <a:off x="535084" y="1086431"/>
            <a:ext cx="111218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Los cuadriláteros que no tienen ningún par de lados paralelos se llaman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trapezoides.</a:t>
            </a:r>
          </a:p>
        </p:txBody>
      </p:sp>
      <p:sp>
        <p:nvSpPr>
          <p:cNvPr id="12" name="Rectángulo 39">
            <a:extLst>
              <a:ext uri="{FF2B5EF4-FFF2-40B4-BE49-F238E27FC236}">
                <a16:creationId xmlns:a16="http://schemas.microsoft.com/office/drawing/2014/main" id="{D5DD95DA-712B-1A34-18A7-BFBD5C89B4B1}"/>
              </a:ext>
            </a:extLst>
          </p:cNvPr>
          <p:cNvSpPr/>
          <p:nvPr/>
        </p:nvSpPr>
        <p:spPr>
          <a:xfrm rot="1996285">
            <a:off x="7384341" y="1689429"/>
            <a:ext cx="2132274" cy="1662770"/>
          </a:xfrm>
          <a:custGeom>
            <a:avLst/>
            <a:gdLst>
              <a:gd name="connsiteX0" fmla="*/ 0 w 937542"/>
              <a:gd name="connsiteY0" fmla="*/ 0 h 937542"/>
              <a:gd name="connsiteX1" fmla="*/ 937542 w 937542"/>
              <a:gd name="connsiteY1" fmla="*/ 0 h 937542"/>
              <a:gd name="connsiteX2" fmla="*/ 937542 w 937542"/>
              <a:gd name="connsiteY2" fmla="*/ 937542 h 937542"/>
              <a:gd name="connsiteX3" fmla="*/ 0 w 937542"/>
              <a:gd name="connsiteY3" fmla="*/ 937542 h 937542"/>
              <a:gd name="connsiteX4" fmla="*/ 0 w 937542"/>
              <a:gd name="connsiteY4" fmla="*/ 0 h 937542"/>
              <a:gd name="connsiteX0" fmla="*/ 0 w 937542"/>
              <a:gd name="connsiteY0" fmla="*/ 0 h 937542"/>
              <a:gd name="connsiteX1" fmla="*/ 602262 w 937542"/>
              <a:gd name="connsiteY1" fmla="*/ 502920 h 937542"/>
              <a:gd name="connsiteX2" fmla="*/ 937542 w 937542"/>
              <a:gd name="connsiteY2" fmla="*/ 937542 h 937542"/>
              <a:gd name="connsiteX3" fmla="*/ 0 w 937542"/>
              <a:gd name="connsiteY3" fmla="*/ 937542 h 937542"/>
              <a:gd name="connsiteX4" fmla="*/ 0 w 937542"/>
              <a:gd name="connsiteY4" fmla="*/ 0 h 937542"/>
              <a:gd name="connsiteX0" fmla="*/ 784860 w 937542"/>
              <a:gd name="connsiteY0" fmla="*/ 0 h 998502"/>
              <a:gd name="connsiteX1" fmla="*/ 602262 w 937542"/>
              <a:gd name="connsiteY1" fmla="*/ 563880 h 998502"/>
              <a:gd name="connsiteX2" fmla="*/ 937542 w 937542"/>
              <a:gd name="connsiteY2" fmla="*/ 998502 h 998502"/>
              <a:gd name="connsiteX3" fmla="*/ 0 w 937542"/>
              <a:gd name="connsiteY3" fmla="*/ 998502 h 998502"/>
              <a:gd name="connsiteX4" fmla="*/ 784860 w 937542"/>
              <a:gd name="connsiteY4" fmla="*/ 0 h 998502"/>
              <a:gd name="connsiteX0" fmla="*/ 784860 w 937542"/>
              <a:gd name="connsiteY0" fmla="*/ 0 h 998502"/>
              <a:gd name="connsiteX1" fmla="*/ 617502 w 937542"/>
              <a:gd name="connsiteY1" fmla="*/ 716280 h 998502"/>
              <a:gd name="connsiteX2" fmla="*/ 937542 w 937542"/>
              <a:gd name="connsiteY2" fmla="*/ 998502 h 998502"/>
              <a:gd name="connsiteX3" fmla="*/ 0 w 937542"/>
              <a:gd name="connsiteY3" fmla="*/ 998502 h 998502"/>
              <a:gd name="connsiteX4" fmla="*/ 784860 w 937542"/>
              <a:gd name="connsiteY4" fmla="*/ 0 h 998502"/>
              <a:gd name="connsiteX0" fmla="*/ 784860 w 1280442"/>
              <a:gd name="connsiteY0" fmla="*/ 0 h 998502"/>
              <a:gd name="connsiteX1" fmla="*/ 617502 w 1280442"/>
              <a:gd name="connsiteY1" fmla="*/ 716280 h 998502"/>
              <a:gd name="connsiteX2" fmla="*/ 1280442 w 1280442"/>
              <a:gd name="connsiteY2" fmla="*/ 998502 h 998502"/>
              <a:gd name="connsiteX3" fmla="*/ 0 w 1280442"/>
              <a:gd name="connsiteY3" fmla="*/ 998502 h 998502"/>
              <a:gd name="connsiteX4" fmla="*/ 784860 w 1280442"/>
              <a:gd name="connsiteY4" fmla="*/ 0 h 998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80442" h="998502">
                <a:moveTo>
                  <a:pt x="784860" y="0"/>
                </a:moveTo>
                <a:lnTo>
                  <a:pt x="617502" y="716280"/>
                </a:lnTo>
                <a:lnTo>
                  <a:pt x="1280442" y="998502"/>
                </a:lnTo>
                <a:lnTo>
                  <a:pt x="0" y="998502"/>
                </a:lnTo>
                <a:lnTo>
                  <a:pt x="784860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0" name="Rombo 7">
            <a:extLst>
              <a:ext uri="{FF2B5EF4-FFF2-40B4-BE49-F238E27FC236}">
                <a16:creationId xmlns:a16="http://schemas.microsoft.com/office/drawing/2014/main" id="{E1A6A7FD-A030-460E-C0DA-9CBAA80EBDD0}"/>
              </a:ext>
            </a:extLst>
          </p:cNvPr>
          <p:cNvSpPr/>
          <p:nvPr/>
        </p:nvSpPr>
        <p:spPr>
          <a:xfrm>
            <a:off x="2770296" y="1905821"/>
            <a:ext cx="3434756" cy="1380082"/>
          </a:xfrm>
          <a:custGeom>
            <a:avLst/>
            <a:gdLst>
              <a:gd name="connsiteX0" fmla="*/ 0 w 1944914"/>
              <a:gd name="connsiteY0" fmla="*/ 972457 h 1944914"/>
              <a:gd name="connsiteX1" fmla="*/ 972457 w 1944914"/>
              <a:gd name="connsiteY1" fmla="*/ 0 h 1944914"/>
              <a:gd name="connsiteX2" fmla="*/ 1944914 w 1944914"/>
              <a:gd name="connsiteY2" fmla="*/ 972457 h 1944914"/>
              <a:gd name="connsiteX3" fmla="*/ 972457 w 1944914"/>
              <a:gd name="connsiteY3" fmla="*/ 1944914 h 1944914"/>
              <a:gd name="connsiteX4" fmla="*/ 0 w 1944914"/>
              <a:gd name="connsiteY4" fmla="*/ 972457 h 1944914"/>
              <a:gd name="connsiteX0" fmla="*/ 0 w 4840514"/>
              <a:gd name="connsiteY0" fmla="*/ 972457 h 1944914"/>
              <a:gd name="connsiteX1" fmla="*/ 972457 w 4840514"/>
              <a:gd name="connsiteY1" fmla="*/ 0 h 1944914"/>
              <a:gd name="connsiteX2" fmla="*/ 4840514 w 4840514"/>
              <a:gd name="connsiteY2" fmla="*/ 987697 h 1944914"/>
              <a:gd name="connsiteX3" fmla="*/ 972457 w 4840514"/>
              <a:gd name="connsiteY3" fmla="*/ 1944914 h 1944914"/>
              <a:gd name="connsiteX4" fmla="*/ 0 w 4840514"/>
              <a:gd name="connsiteY4" fmla="*/ 972457 h 19449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40514" h="1944914">
                <a:moveTo>
                  <a:pt x="0" y="972457"/>
                </a:moveTo>
                <a:lnTo>
                  <a:pt x="972457" y="0"/>
                </a:lnTo>
                <a:lnTo>
                  <a:pt x="4840514" y="987697"/>
                </a:lnTo>
                <a:lnTo>
                  <a:pt x="972457" y="1944914"/>
                </a:lnTo>
                <a:lnTo>
                  <a:pt x="0" y="97245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21" name="Conector recto 20">
            <a:extLst>
              <a:ext uri="{FF2B5EF4-FFF2-40B4-BE49-F238E27FC236}">
                <a16:creationId xmlns:a16="http://schemas.microsoft.com/office/drawing/2014/main" id="{A610FD56-96FB-FD98-DF0E-B95A6C134AC8}"/>
              </a:ext>
            </a:extLst>
          </p:cNvPr>
          <p:cNvCxnSpPr>
            <a:cxnSpLocks/>
            <a:stCxn id="20" idx="0"/>
            <a:endCxn id="20" idx="2"/>
          </p:cNvCxnSpPr>
          <p:nvPr/>
        </p:nvCxnSpPr>
        <p:spPr>
          <a:xfrm>
            <a:off x="2770296" y="2595862"/>
            <a:ext cx="3434756" cy="10814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cto 21">
            <a:extLst>
              <a:ext uri="{FF2B5EF4-FFF2-40B4-BE49-F238E27FC236}">
                <a16:creationId xmlns:a16="http://schemas.microsoft.com/office/drawing/2014/main" id="{E5092B8B-7542-F810-3934-35D506849714}"/>
              </a:ext>
            </a:extLst>
          </p:cNvPr>
          <p:cNvCxnSpPr>
            <a:stCxn id="20" idx="1"/>
            <a:endCxn id="20" idx="3"/>
          </p:cNvCxnSpPr>
          <p:nvPr/>
        </p:nvCxnSpPr>
        <p:spPr>
          <a:xfrm>
            <a:off x="3460337" y="1905821"/>
            <a:ext cx="0" cy="1380082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B42C1251-5135-561E-FF4B-04D57943E25C}"/>
              </a:ext>
            </a:extLst>
          </p:cNvPr>
          <p:cNvCxnSpPr>
            <a:cxnSpLocks/>
            <a:stCxn id="12" idx="3"/>
            <a:endCxn id="12" idx="1"/>
          </p:cNvCxnSpPr>
          <p:nvPr/>
        </p:nvCxnSpPr>
        <p:spPr>
          <a:xfrm>
            <a:off x="7102998" y="2631030"/>
            <a:ext cx="1117576" cy="171198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3BBD8AEC-0AAA-2F8A-F61C-84E0064B1E89}"/>
              </a:ext>
            </a:extLst>
          </p:cNvPr>
          <p:cNvCxnSpPr>
            <a:stCxn id="12" idx="0"/>
            <a:endCxn id="12" idx="2"/>
          </p:cNvCxnSpPr>
          <p:nvPr/>
        </p:nvCxnSpPr>
        <p:spPr>
          <a:xfrm flipH="1">
            <a:off x="8885752" y="1957847"/>
            <a:ext cx="222209" cy="1842961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CuadroTexto 24">
            <a:extLst>
              <a:ext uri="{FF2B5EF4-FFF2-40B4-BE49-F238E27FC236}">
                <a16:creationId xmlns:a16="http://schemas.microsoft.com/office/drawing/2014/main" id="{225C3C16-7537-8750-2CFB-4789E452C911}"/>
              </a:ext>
            </a:extLst>
          </p:cNvPr>
          <p:cNvSpPr txBox="1"/>
          <p:nvPr/>
        </p:nvSpPr>
        <p:spPr>
          <a:xfrm>
            <a:off x="6812417" y="3955197"/>
            <a:ext cx="29492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chemeClr val="bg1">
                    <a:lumMod val="50000"/>
                  </a:schemeClr>
                </a:solidFill>
              </a:rPr>
              <a:t>TRAPEZOIDE CÓNCAVO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509449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10000">
        <p:fade/>
      </p:transition>
    </mc:Choice>
    <mc:Fallback xmlns="">
      <p:transition spd="med" advTm="1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500"/>
                            </p:stCondLst>
                            <p:childTnLst>
                              <p:par>
                                <p:cTn id="4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  <p:bldP spid="12" grpId="0" animBg="1"/>
      <p:bldP spid="20" grpId="0" animBg="1"/>
      <p:bldP spid="25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LMS_API_VERSION" val="SCORM 2004 (4th edition)"/>
  <p:tag name="ISPRING_ULTRA_SCORM_COURSE_ID" val="E10430F5-9246-4E02-9AAA-C84D432C1045"/>
  <p:tag name="ISPRING_CMI5_LAUNCH_METHOD" val="any window"/>
  <p:tag name="ISPRING_SCORM_RATE_SLIDES" val="1"/>
  <p:tag name="ISPRINGCLOUDFOLDERID" val="1"/>
  <p:tag name="ISPRINGONLINEFOLDERID" val="1"/>
  <p:tag name="ISPRING_SCORM_PASSING_SCORE" val="100.000000"/>
  <p:tag name="ISPRING_PRESENTATION_TITLE" val="2. Cuadriláteros"/>
  <p:tag name="ISPRING_SCORM_ENDPOINT" val="&lt;endpoint&gt;&lt;enable&gt;0&lt;/enable&gt;&lt;lrs&gt;https://&lt;/lrs&gt;&lt;auth&gt;0&lt;/auth&gt;&lt;login&gt;&lt;/login&gt;&lt;password&gt;&lt;/password&gt;&lt;key&gt;&lt;/key&gt;&lt;name&gt;&lt;/name&gt;&lt;email&gt;&lt;/email&gt;&lt;/endpoint&gt;&#10;"/>
  <p:tag name="ISPRING_OUTPUT_FOLDER" val="[[&quot;\uFFFD\/\uFFFD\uFFFD{21D528DD-60A0-4F5B-BB24-A0E5BDBD4B43}&quot;,&quot;C:\\Users\\34717\\Desktop\\Apuntes\\1 ESO\\TEMA 12- Figuras geométricas&quot;]]"/>
  <p:tag name="ISPRING_PUBLISH_SETTINGS" val="{&quot;commonSettings&quot;:{&quot;webSettings&quot;:{&quot;useMobileViewer&quot;:&quot;T_FALSE&quot;},&quot;lmsSettings&quot;:{&quot;useMobileViewer&quot;:&quot;T_FALSE&quot;},&quot;cloudSettings&quot;:{&quot;useMobileViewer&quot;:&quot;T_FALSE&quot;},&quot;ispringLmsSettings&quot;:{&quot;useMobileViewer&quot;:&quot;T_FALSE&quot;},&quot;playerId&quot;:&quot;free&quot;,&quot;studioSettings&quot;:{&quot;useMobileViewer&quot;:&quot;T_FALSE&quot;}},&quot;advancedSettings&quot;:{&quot;enableTextAllocation&quot;:&quot;T_TRUE&quot;,&quot;viewingFromLocalDrive&quot;:&quot;T_TRUE&quot;,&quot;contentScale&quot;:75,&quot;contentScaleMode&quot;:&quot;FIT_TO_WINDOW&quot;},&quot;accessibilitySettings&quot;:{&quot;enabled&quot;:&quot;T_FALSE&quot;},&quot;compressionSettings&quot;:{&quot;imageSettings&quot;:{&quot;jpegQuality&quot;:70,&quot;optimizeImageForResolution&quot;:&quot;T_FALSE&quot;},&quot;audioQuality&quot;:70,&quot;videoQuality&quot;:65},&quot;protectionSettings&quot;:{&quot;watermarkEnabled&quot;:&quot;T_FALSE&quot;,&quot;watermarkPosition&quot;:&quot;MIDDLE_CENTER&quot;,&quot;openWatermarkUrl&quot;:&quot;T_FALSE&quot;,&quot;openWatermarkWebPageInNewWindow&quot;:&quot;T_FALSE&quot;,&quot;displayAfterEnabled&quot;:&quot;T_FALSE&quot;,&quot;displayUntilEnabled&quot;:&quot;T_FALSE&quot;,&quot;domainRestrictionEnabled&quot;:&quot;T_FALSE&quot;,&quot;enablePassword&quot;:&quot;T_FALSE&quot;},&quot;videoSettings&quot;:{&quot;videoCompressionSettings&quot;:{&quot;audioQuality&quot;:70,&quot;videoQuality&quot;:75},&quot;secondsOnEachSlide&quot;:5,&quot;hostingSettings&quot;:{}},&quot;ispringOnlineSettings&quot;:{&quot;onlineDestinationFolderId&quot;:&quot;1&quot;},&quot;cloudSettings&quot;:{&quot;onlineDestinationFolderId&quot;:&quot;1&quot;},&quot;wordSettings&quot;:{&quot;printCopies&quot;:1},&quot;studioSettings&quot;:{&quot;onlineDestinationFolderId&quot;:&quot;1&quot;,&quot;uploadSources&quot;:true}}"/>
  <p:tag name="ISPRING_SCORM_RATE_QUIZZES" val="0"/>
  <p:tag name="ISPRING_FIRST_PUBLISH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68E8F6B9-07B7-4030-A5BE-08CA47AB654F}:256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4861C1EA-9506-4C15-99ED-7A6CFA1FD8C9}:257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ABF5819A-CD00-4CDE-9BF5-3952424161AB}:258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AF0EE6FA-3D4B-4C60-9B17-03D7B6CFC70E}:259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2C843FED-9636-4ED7-8514-542B4B27A7D0}:261"/>
</p:tagLst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ersonalizado 1">
      <a:majorFont>
        <a:latin typeface="SF Fedora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495</TotalTime>
  <Words>183</Words>
  <Application>Microsoft Office PowerPoint</Application>
  <PresentationFormat>Panorámica</PresentationFormat>
  <Paragraphs>43</Paragraphs>
  <Slides>5</Slides>
  <Notes>5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10" baseType="lpstr">
      <vt:lpstr>Aptos</vt:lpstr>
      <vt:lpstr>Arial</vt:lpstr>
      <vt:lpstr>Century Gothic</vt:lpstr>
      <vt:lpstr>SF Fedora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 Cuadriláteros</dc:title>
  <dc:creator>Illán Linos Souto</dc:creator>
  <cp:lastModifiedBy>Illán Linos</cp:lastModifiedBy>
  <cp:revision>56</cp:revision>
  <dcterms:created xsi:type="dcterms:W3CDTF">2024-08-18T18:48:07Z</dcterms:created>
  <dcterms:modified xsi:type="dcterms:W3CDTF">2025-11-17T11:54:43Z</dcterms:modified>
</cp:coreProperties>
</file>