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1" r:id="rId5"/>
  </p:sldIdLst>
  <p:sldSz cx="12192000" cy="6858000"/>
  <p:notesSz cx="6858000" cy="9144000"/>
  <p:custDataLst>
    <p:tags r:id="rId7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029279-59B5-4F2E-A9FD-923218BA7D4F}" type="datetimeFigureOut">
              <a:rPr lang="es-ES" smtClean="0"/>
              <a:t>18/11/2025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1B47C-501D-4360-8760-5577919CF20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0403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1B47C-501D-4360-8760-5577919CF201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15765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1B47C-501D-4360-8760-5577919CF20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9005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1B47C-501D-4360-8760-5577919CF20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6873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B1B47C-501D-4360-8760-5577919CF20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9800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18/11/2025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Son polígonos que tienen 4 lados, sus ángulos suman 360º y tienen 2 diagonales.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0DD87C-837C-D894-0B30-A4D8D87A5844}"/>
              </a:ext>
            </a:extLst>
          </p:cNvPr>
          <p:cNvSpPr txBox="1"/>
          <p:nvPr/>
        </p:nvSpPr>
        <p:spPr>
          <a:xfrm>
            <a:off x="4325622" y="1715644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PARALELOGRAMOS</a:t>
            </a:r>
          </a:p>
          <a:p>
            <a:pPr algn="ctr"/>
            <a:r>
              <a:rPr lang="es-ES" b="1" dirty="0"/>
              <a:t>(Lados opuestos paralelos)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47AE4AF-0FAF-3499-2AC8-07CB741E8431}"/>
              </a:ext>
            </a:extLst>
          </p:cNvPr>
          <p:cNvCxnSpPr/>
          <p:nvPr/>
        </p:nvCxnSpPr>
        <p:spPr>
          <a:xfrm>
            <a:off x="2228850" y="2377551"/>
            <a:ext cx="77343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 4">
            <a:extLst>
              <a:ext uri="{FF2B5EF4-FFF2-40B4-BE49-F238E27FC236}">
                <a16:creationId xmlns:a16="http://schemas.microsoft.com/office/drawing/2014/main" id="{125C1600-538F-FA7B-5405-5D6A85CAE157}"/>
              </a:ext>
            </a:extLst>
          </p:cNvPr>
          <p:cNvSpPr/>
          <p:nvPr/>
        </p:nvSpPr>
        <p:spPr>
          <a:xfrm>
            <a:off x="2756389" y="2720426"/>
            <a:ext cx="1534792" cy="700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7" name="Rombo 6">
            <a:extLst>
              <a:ext uri="{FF2B5EF4-FFF2-40B4-BE49-F238E27FC236}">
                <a16:creationId xmlns:a16="http://schemas.microsoft.com/office/drawing/2014/main" id="{9C5592E9-0E3B-31BD-34FA-41F100AB91A0}"/>
              </a:ext>
            </a:extLst>
          </p:cNvPr>
          <p:cNvSpPr/>
          <p:nvPr/>
        </p:nvSpPr>
        <p:spPr>
          <a:xfrm>
            <a:off x="5740152" y="2581849"/>
            <a:ext cx="819646" cy="1050994"/>
          </a:xfrm>
          <a:prstGeom prst="diamond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8" name="Paralelogramo 7">
            <a:extLst>
              <a:ext uri="{FF2B5EF4-FFF2-40B4-BE49-F238E27FC236}">
                <a16:creationId xmlns:a16="http://schemas.microsoft.com/office/drawing/2014/main" id="{358BFB74-A5BE-9713-E10C-5F641225591D}"/>
              </a:ext>
            </a:extLst>
          </p:cNvPr>
          <p:cNvSpPr/>
          <p:nvPr/>
        </p:nvSpPr>
        <p:spPr>
          <a:xfrm>
            <a:off x="7864763" y="2637248"/>
            <a:ext cx="1126068" cy="959242"/>
          </a:xfrm>
          <a:prstGeom prst="parallelogram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B57E82C-858B-DCC0-1C59-212A6CA65DF6}"/>
              </a:ext>
            </a:extLst>
          </p:cNvPr>
          <p:cNvSpPr txBox="1"/>
          <p:nvPr/>
        </p:nvSpPr>
        <p:spPr>
          <a:xfrm>
            <a:off x="1677207" y="3802662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RECTÁNGULO</a:t>
            </a:r>
          </a:p>
          <a:p>
            <a:pPr algn="ctr"/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(ángulos rectos)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F4BBCD5-F508-51FA-5A1C-3087F123B980}"/>
              </a:ext>
            </a:extLst>
          </p:cNvPr>
          <p:cNvSpPr txBox="1"/>
          <p:nvPr/>
        </p:nvSpPr>
        <p:spPr>
          <a:xfrm>
            <a:off x="4303397" y="3763049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ROMBO</a:t>
            </a:r>
          </a:p>
          <a:p>
            <a:pPr algn="ctr"/>
            <a:r>
              <a:rPr lang="es-ES" b="1" dirty="0">
                <a:solidFill>
                  <a:schemeClr val="accent6">
                    <a:lumMod val="75000"/>
                  </a:schemeClr>
                </a:solidFill>
              </a:rPr>
              <a:t>(lados iguales)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385756-6BC8-7B8A-B6DD-58AD10D2E0FC}"/>
              </a:ext>
            </a:extLst>
          </p:cNvPr>
          <p:cNvSpPr txBox="1"/>
          <p:nvPr/>
        </p:nvSpPr>
        <p:spPr>
          <a:xfrm>
            <a:off x="6479367" y="3763049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1">
                    <a:lumMod val="75000"/>
                  </a:schemeClr>
                </a:solidFill>
              </a:rPr>
              <a:t>ROMBOIDE</a:t>
            </a:r>
          </a:p>
          <a:p>
            <a:pPr algn="ctr"/>
            <a:endParaRPr lang="es-ES" b="1" dirty="0"/>
          </a:p>
        </p:txBody>
      </p: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8F926C2-B511-A876-7A6F-02A770A95340}"/>
              </a:ext>
            </a:extLst>
          </p:cNvPr>
          <p:cNvCxnSpPr>
            <a:cxnSpLocks/>
          </p:cNvCxnSpPr>
          <p:nvPr/>
        </p:nvCxnSpPr>
        <p:spPr>
          <a:xfrm>
            <a:off x="2360297" y="4493916"/>
            <a:ext cx="478980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2FD03C4-07A9-79E4-B79E-CFEFC7C8D798}"/>
              </a:ext>
            </a:extLst>
          </p:cNvPr>
          <p:cNvSpPr/>
          <p:nvPr/>
        </p:nvSpPr>
        <p:spPr>
          <a:xfrm>
            <a:off x="4291181" y="4747546"/>
            <a:ext cx="867490" cy="867490"/>
          </a:xfrm>
          <a:prstGeom prst="rect">
            <a:avLst/>
          </a:prstGeom>
          <a:solidFill>
            <a:srgbClr val="A7ABFB">
              <a:alpha val="78824"/>
            </a:srgbClr>
          </a:solidFill>
          <a:ln>
            <a:solidFill>
              <a:srgbClr val="050A6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470133E-9E79-B8E3-4700-3B55327C1450}"/>
              </a:ext>
            </a:extLst>
          </p:cNvPr>
          <p:cNvSpPr txBox="1"/>
          <p:nvPr/>
        </p:nvSpPr>
        <p:spPr>
          <a:xfrm>
            <a:off x="2686734" y="5697944"/>
            <a:ext cx="4128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rgbClr val="050A6F"/>
                </a:solidFill>
              </a:rPr>
              <a:t>CUADRADO</a:t>
            </a:r>
          </a:p>
          <a:p>
            <a:pPr algn="ctr"/>
            <a:r>
              <a:rPr lang="es-ES" b="1" dirty="0">
                <a:solidFill>
                  <a:srgbClr val="050A6F"/>
                </a:solidFill>
              </a:rPr>
              <a:t>(lados iguales y ángulos rectos)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54189-254E-89B5-5B1B-A8F32967011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07A4AD4-2BD7-558B-9B57-9679F97F4EF2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5" grpId="0" animBg="1"/>
      <p:bldP spid="7" grpId="0" animBg="1"/>
      <p:bldP spid="8" grpId="0" animBg="1"/>
      <p:bldP spid="9" grpId="0"/>
      <p:bldP spid="10" grpId="0"/>
      <p:bldP spid="11" grpId="0"/>
      <p:bldP spid="13" grpId="0" animBg="1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4292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3546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Son polígonos que tienen 4 lados, sus ángulos suman 360º y tienen 2 diagonales.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rapecio 14">
            <a:extLst>
              <a:ext uri="{FF2B5EF4-FFF2-40B4-BE49-F238E27FC236}">
                <a16:creationId xmlns:a16="http://schemas.microsoft.com/office/drawing/2014/main" id="{5978593E-64F8-B9F6-C048-2CB1648CE3AE}"/>
              </a:ext>
            </a:extLst>
          </p:cNvPr>
          <p:cNvSpPr/>
          <p:nvPr/>
        </p:nvSpPr>
        <p:spPr>
          <a:xfrm>
            <a:off x="3020552" y="2516285"/>
            <a:ext cx="1011230" cy="758420"/>
          </a:xfrm>
          <a:prstGeom prst="trapezoid">
            <a:avLst>
              <a:gd name="adj" fmla="val 307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C9A14E6-BFD3-F4B8-F639-A50E3F8C2063}"/>
              </a:ext>
            </a:extLst>
          </p:cNvPr>
          <p:cNvSpPr txBox="1"/>
          <p:nvPr/>
        </p:nvSpPr>
        <p:spPr>
          <a:xfrm>
            <a:off x="1679590" y="3627399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TRAPECIO</a:t>
            </a:r>
          </a:p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(solo dos lados paralelos)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945F6DA-9D15-A891-9B9F-8AF4BE8ECF30}"/>
              </a:ext>
            </a:extLst>
          </p:cNvPr>
          <p:cNvSpPr txBox="1"/>
          <p:nvPr/>
        </p:nvSpPr>
        <p:spPr>
          <a:xfrm>
            <a:off x="4208147" y="1723810"/>
            <a:ext cx="3693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NO PARALELOGRAMOS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1DE027D-03E8-F503-5295-7F06F96D4281}"/>
              </a:ext>
            </a:extLst>
          </p:cNvPr>
          <p:cNvCxnSpPr>
            <a:cxnSpLocks/>
          </p:cNvCxnSpPr>
          <p:nvPr/>
        </p:nvCxnSpPr>
        <p:spPr>
          <a:xfrm>
            <a:off x="2080575" y="2210960"/>
            <a:ext cx="77343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 39">
            <a:extLst>
              <a:ext uri="{FF2B5EF4-FFF2-40B4-BE49-F238E27FC236}">
                <a16:creationId xmlns:a16="http://schemas.microsoft.com/office/drawing/2014/main" id="{F4099C9E-48ED-B988-D4C2-E37990B442E9}"/>
              </a:ext>
            </a:extLst>
          </p:cNvPr>
          <p:cNvSpPr/>
          <p:nvPr/>
        </p:nvSpPr>
        <p:spPr>
          <a:xfrm rot="1996285">
            <a:off x="5960208" y="2367635"/>
            <a:ext cx="970994" cy="757192"/>
          </a:xfrm>
          <a:custGeom>
            <a:avLst/>
            <a:gdLst>
              <a:gd name="connsiteX0" fmla="*/ 0 w 937542"/>
              <a:gd name="connsiteY0" fmla="*/ 0 h 937542"/>
              <a:gd name="connsiteX1" fmla="*/ 937542 w 937542"/>
              <a:gd name="connsiteY1" fmla="*/ 0 h 937542"/>
              <a:gd name="connsiteX2" fmla="*/ 937542 w 937542"/>
              <a:gd name="connsiteY2" fmla="*/ 937542 h 937542"/>
              <a:gd name="connsiteX3" fmla="*/ 0 w 937542"/>
              <a:gd name="connsiteY3" fmla="*/ 937542 h 937542"/>
              <a:gd name="connsiteX4" fmla="*/ 0 w 937542"/>
              <a:gd name="connsiteY4" fmla="*/ 0 h 937542"/>
              <a:gd name="connsiteX0" fmla="*/ 0 w 937542"/>
              <a:gd name="connsiteY0" fmla="*/ 0 h 937542"/>
              <a:gd name="connsiteX1" fmla="*/ 602262 w 937542"/>
              <a:gd name="connsiteY1" fmla="*/ 502920 h 937542"/>
              <a:gd name="connsiteX2" fmla="*/ 937542 w 937542"/>
              <a:gd name="connsiteY2" fmla="*/ 937542 h 937542"/>
              <a:gd name="connsiteX3" fmla="*/ 0 w 937542"/>
              <a:gd name="connsiteY3" fmla="*/ 937542 h 937542"/>
              <a:gd name="connsiteX4" fmla="*/ 0 w 937542"/>
              <a:gd name="connsiteY4" fmla="*/ 0 h 937542"/>
              <a:gd name="connsiteX0" fmla="*/ 784860 w 937542"/>
              <a:gd name="connsiteY0" fmla="*/ 0 h 998502"/>
              <a:gd name="connsiteX1" fmla="*/ 602262 w 937542"/>
              <a:gd name="connsiteY1" fmla="*/ 563880 h 998502"/>
              <a:gd name="connsiteX2" fmla="*/ 937542 w 937542"/>
              <a:gd name="connsiteY2" fmla="*/ 998502 h 998502"/>
              <a:gd name="connsiteX3" fmla="*/ 0 w 937542"/>
              <a:gd name="connsiteY3" fmla="*/ 998502 h 998502"/>
              <a:gd name="connsiteX4" fmla="*/ 784860 w 937542"/>
              <a:gd name="connsiteY4" fmla="*/ 0 h 998502"/>
              <a:gd name="connsiteX0" fmla="*/ 784860 w 937542"/>
              <a:gd name="connsiteY0" fmla="*/ 0 h 998502"/>
              <a:gd name="connsiteX1" fmla="*/ 617502 w 937542"/>
              <a:gd name="connsiteY1" fmla="*/ 716280 h 998502"/>
              <a:gd name="connsiteX2" fmla="*/ 937542 w 937542"/>
              <a:gd name="connsiteY2" fmla="*/ 998502 h 998502"/>
              <a:gd name="connsiteX3" fmla="*/ 0 w 937542"/>
              <a:gd name="connsiteY3" fmla="*/ 998502 h 998502"/>
              <a:gd name="connsiteX4" fmla="*/ 784860 w 937542"/>
              <a:gd name="connsiteY4" fmla="*/ 0 h 998502"/>
              <a:gd name="connsiteX0" fmla="*/ 784860 w 1280442"/>
              <a:gd name="connsiteY0" fmla="*/ 0 h 998502"/>
              <a:gd name="connsiteX1" fmla="*/ 617502 w 1280442"/>
              <a:gd name="connsiteY1" fmla="*/ 716280 h 998502"/>
              <a:gd name="connsiteX2" fmla="*/ 1280442 w 1280442"/>
              <a:gd name="connsiteY2" fmla="*/ 998502 h 998502"/>
              <a:gd name="connsiteX3" fmla="*/ 0 w 1280442"/>
              <a:gd name="connsiteY3" fmla="*/ 998502 h 998502"/>
              <a:gd name="connsiteX4" fmla="*/ 784860 w 1280442"/>
              <a:gd name="connsiteY4" fmla="*/ 0 h 998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0442" h="998502">
                <a:moveTo>
                  <a:pt x="784860" y="0"/>
                </a:moveTo>
                <a:lnTo>
                  <a:pt x="617502" y="716280"/>
                </a:lnTo>
                <a:lnTo>
                  <a:pt x="1280442" y="998502"/>
                </a:lnTo>
                <a:lnTo>
                  <a:pt x="0" y="998502"/>
                </a:lnTo>
                <a:lnTo>
                  <a:pt x="78486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20" name="Trapecio 40">
            <a:extLst>
              <a:ext uri="{FF2B5EF4-FFF2-40B4-BE49-F238E27FC236}">
                <a16:creationId xmlns:a16="http://schemas.microsoft.com/office/drawing/2014/main" id="{CF6DEF24-9A8C-DC2A-8593-9F9D3EF89041}"/>
              </a:ext>
            </a:extLst>
          </p:cNvPr>
          <p:cNvSpPr/>
          <p:nvPr/>
        </p:nvSpPr>
        <p:spPr>
          <a:xfrm>
            <a:off x="7159439" y="2654019"/>
            <a:ext cx="941888" cy="758420"/>
          </a:xfrm>
          <a:custGeom>
            <a:avLst/>
            <a:gdLst>
              <a:gd name="connsiteX0" fmla="*/ 0 w 1333500"/>
              <a:gd name="connsiteY0" fmla="*/ 1000123 h 1000123"/>
              <a:gd name="connsiteX1" fmla="*/ 307178 w 1333500"/>
              <a:gd name="connsiteY1" fmla="*/ 0 h 1000123"/>
              <a:gd name="connsiteX2" fmla="*/ 1026322 w 1333500"/>
              <a:gd name="connsiteY2" fmla="*/ 0 h 1000123"/>
              <a:gd name="connsiteX3" fmla="*/ 1333500 w 1333500"/>
              <a:gd name="connsiteY3" fmla="*/ 1000123 h 1000123"/>
              <a:gd name="connsiteX4" fmla="*/ 0 w 1333500"/>
              <a:gd name="connsiteY4" fmla="*/ 1000123 h 1000123"/>
              <a:gd name="connsiteX0" fmla="*/ 0 w 1242060"/>
              <a:gd name="connsiteY0" fmla="*/ 1000123 h 1000123"/>
              <a:gd name="connsiteX1" fmla="*/ 307178 w 1242060"/>
              <a:gd name="connsiteY1" fmla="*/ 0 h 1000123"/>
              <a:gd name="connsiteX2" fmla="*/ 1026322 w 1242060"/>
              <a:gd name="connsiteY2" fmla="*/ 0 h 1000123"/>
              <a:gd name="connsiteX3" fmla="*/ 1242060 w 1242060"/>
              <a:gd name="connsiteY3" fmla="*/ 641983 h 1000123"/>
              <a:gd name="connsiteX4" fmla="*/ 0 w 1242060"/>
              <a:gd name="connsiteY4" fmla="*/ 1000123 h 1000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2060" h="1000123">
                <a:moveTo>
                  <a:pt x="0" y="1000123"/>
                </a:moveTo>
                <a:lnTo>
                  <a:pt x="307178" y="0"/>
                </a:lnTo>
                <a:lnTo>
                  <a:pt x="1026322" y="0"/>
                </a:lnTo>
                <a:lnTo>
                  <a:pt x="1242060" y="641983"/>
                </a:lnTo>
                <a:lnTo>
                  <a:pt x="0" y="10001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21" name="Trapecio 40">
            <a:extLst>
              <a:ext uri="{FF2B5EF4-FFF2-40B4-BE49-F238E27FC236}">
                <a16:creationId xmlns:a16="http://schemas.microsoft.com/office/drawing/2014/main" id="{614B0378-09AE-CE3F-81C1-C203C8A6687B}"/>
              </a:ext>
            </a:extLst>
          </p:cNvPr>
          <p:cNvSpPr/>
          <p:nvPr/>
        </p:nvSpPr>
        <p:spPr>
          <a:xfrm>
            <a:off x="8444480" y="2654019"/>
            <a:ext cx="830296" cy="873990"/>
          </a:xfrm>
          <a:custGeom>
            <a:avLst/>
            <a:gdLst>
              <a:gd name="connsiteX0" fmla="*/ 0 w 1333500"/>
              <a:gd name="connsiteY0" fmla="*/ 1000123 h 1000123"/>
              <a:gd name="connsiteX1" fmla="*/ 307178 w 1333500"/>
              <a:gd name="connsiteY1" fmla="*/ 0 h 1000123"/>
              <a:gd name="connsiteX2" fmla="*/ 1026322 w 1333500"/>
              <a:gd name="connsiteY2" fmla="*/ 0 h 1000123"/>
              <a:gd name="connsiteX3" fmla="*/ 1333500 w 1333500"/>
              <a:gd name="connsiteY3" fmla="*/ 1000123 h 1000123"/>
              <a:gd name="connsiteX4" fmla="*/ 0 w 1333500"/>
              <a:gd name="connsiteY4" fmla="*/ 1000123 h 1000123"/>
              <a:gd name="connsiteX0" fmla="*/ 0 w 1242060"/>
              <a:gd name="connsiteY0" fmla="*/ 1000123 h 1000123"/>
              <a:gd name="connsiteX1" fmla="*/ 307178 w 1242060"/>
              <a:gd name="connsiteY1" fmla="*/ 0 h 1000123"/>
              <a:gd name="connsiteX2" fmla="*/ 1026322 w 1242060"/>
              <a:gd name="connsiteY2" fmla="*/ 0 h 1000123"/>
              <a:gd name="connsiteX3" fmla="*/ 1242060 w 1242060"/>
              <a:gd name="connsiteY3" fmla="*/ 641983 h 1000123"/>
              <a:gd name="connsiteX4" fmla="*/ 0 w 1242060"/>
              <a:gd name="connsiteY4" fmla="*/ 1000123 h 1000123"/>
              <a:gd name="connsiteX0" fmla="*/ 0 w 1310640"/>
              <a:gd name="connsiteY0" fmla="*/ 619123 h 641983"/>
              <a:gd name="connsiteX1" fmla="*/ 375758 w 1310640"/>
              <a:gd name="connsiteY1" fmla="*/ 0 h 641983"/>
              <a:gd name="connsiteX2" fmla="*/ 1094902 w 1310640"/>
              <a:gd name="connsiteY2" fmla="*/ 0 h 641983"/>
              <a:gd name="connsiteX3" fmla="*/ 1310640 w 1310640"/>
              <a:gd name="connsiteY3" fmla="*/ 641983 h 641983"/>
              <a:gd name="connsiteX4" fmla="*/ 0 w 1310640"/>
              <a:gd name="connsiteY4" fmla="*/ 619123 h 641983"/>
              <a:gd name="connsiteX0" fmla="*/ 0 w 1094902"/>
              <a:gd name="connsiteY0" fmla="*/ 619123 h 1152523"/>
              <a:gd name="connsiteX1" fmla="*/ 375758 w 1094902"/>
              <a:gd name="connsiteY1" fmla="*/ 0 h 1152523"/>
              <a:gd name="connsiteX2" fmla="*/ 1094902 w 1094902"/>
              <a:gd name="connsiteY2" fmla="*/ 0 h 1152523"/>
              <a:gd name="connsiteX3" fmla="*/ 868680 w 1094902"/>
              <a:gd name="connsiteY3" fmla="*/ 1152523 h 1152523"/>
              <a:gd name="connsiteX4" fmla="*/ 0 w 1094902"/>
              <a:gd name="connsiteY4" fmla="*/ 619123 h 1152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4902" h="1152523">
                <a:moveTo>
                  <a:pt x="0" y="619123"/>
                </a:moveTo>
                <a:lnTo>
                  <a:pt x="375758" y="0"/>
                </a:lnTo>
                <a:lnTo>
                  <a:pt x="1094902" y="0"/>
                </a:lnTo>
                <a:lnTo>
                  <a:pt x="868680" y="1152523"/>
                </a:lnTo>
                <a:lnTo>
                  <a:pt x="0" y="61912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846825F-BA6E-BB39-AB2C-3A053A60BF93}"/>
              </a:ext>
            </a:extLst>
          </p:cNvPr>
          <p:cNvSpPr txBox="1"/>
          <p:nvPr/>
        </p:nvSpPr>
        <p:spPr>
          <a:xfrm>
            <a:off x="5938281" y="3627399"/>
            <a:ext cx="3693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TRAPEZOIDES</a:t>
            </a:r>
          </a:p>
          <a:p>
            <a:pPr algn="ctr"/>
            <a:r>
              <a:rPr lang="es-ES" b="1" dirty="0">
                <a:solidFill>
                  <a:schemeClr val="bg1">
                    <a:lumMod val="50000"/>
                  </a:schemeClr>
                </a:solidFill>
              </a:rPr>
              <a:t>(otros cuadriláteros)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EADB8C7-61D6-2921-178E-2678623EFEFB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8B98B2B-A4B9-15E5-4E78-36F09195ADF1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257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7" grpId="0"/>
      <p:bldP spid="19" grpId="0" animBg="1"/>
      <p:bldP spid="20" grpId="0" animBg="1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Marco 10">
            <a:extLst>
              <a:ext uri="{FF2B5EF4-FFF2-40B4-BE49-F238E27FC236}">
                <a16:creationId xmlns:a16="http://schemas.microsoft.com/office/drawing/2014/main" id="{C63F2D28-56EE-8165-0B13-DF0D357B583D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CEE9A90F-8CF2-DD6F-8496-63293940C9C1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trapecio es un cuadrilátero con dos lados paralelos y otros dos no paralelos.</a:t>
            </a:r>
          </a:p>
          <a:p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Los lados paralelos se llaman base y la distancia entre ellos altura.</a:t>
            </a:r>
          </a:p>
        </p:txBody>
      </p:sp>
      <p:sp>
        <p:nvSpPr>
          <p:cNvPr id="5" name="Trapecio 1">
            <a:extLst>
              <a:ext uri="{FF2B5EF4-FFF2-40B4-BE49-F238E27FC236}">
                <a16:creationId xmlns:a16="http://schemas.microsoft.com/office/drawing/2014/main" id="{786F10E4-4C94-6226-EF07-3FC24F411485}"/>
              </a:ext>
            </a:extLst>
          </p:cNvPr>
          <p:cNvSpPr/>
          <p:nvPr/>
        </p:nvSpPr>
        <p:spPr>
          <a:xfrm>
            <a:off x="1871351" y="3652908"/>
            <a:ext cx="2686771" cy="1152200"/>
          </a:xfrm>
          <a:custGeom>
            <a:avLst/>
            <a:gdLst>
              <a:gd name="connsiteX0" fmla="*/ 0 w 2448646"/>
              <a:gd name="connsiteY0" fmla="*/ 1152200 h 1152200"/>
              <a:gd name="connsiteX1" fmla="*/ 476250 w 2448646"/>
              <a:gd name="connsiteY1" fmla="*/ 0 h 1152200"/>
              <a:gd name="connsiteX2" fmla="*/ 1972396 w 2448646"/>
              <a:gd name="connsiteY2" fmla="*/ 0 h 1152200"/>
              <a:gd name="connsiteX3" fmla="*/ 2448646 w 2448646"/>
              <a:gd name="connsiteY3" fmla="*/ 1152200 h 1152200"/>
              <a:gd name="connsiteX4" fmla="*/ 0 w 2448646"/>
              <a:gd name="connsiteY4" fmla="*/ 1152200 h 1152200"/>
              <a:gd name="connsiteX0" fmla="*/ 0 w 2686771"/>
              <a:gd name="connsiteY0" fmla="*/ 1152200 h 1152200"/>
              <a:gd name="connsiteX1" fmla="*/ 476250 w 2686771"/>
              <a:gd name="connsiteY1" fmla="*/ 0 h 1152200"/>
              <a:gd name="connsiteX2" fmla="*/ 1972396 w 2686771"/>
              <a:gd name="connsiteY2" fmla="*/ 0 h 1152200"/>
              <a:gd name="connsiteX3" fmla="*/ 2686771 w 2686771"/>
              <a:gd name="connsiteY3" fmla="*/ 1152200 h 1152200"/>
              <a:gd name="connsiteX4" fmla="*/ 0 w 2686771"/>
              <a:gd name="connsiteY4" fmla="*/ 1152200 h 115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86771" h="1152200">
                <a:moveTo>
                  <a:pt x="0" y="1152200"/>
                </a:moveTo>
                <a:lnTo>
                  <a:pt x="476250" y="0"/>
                </a:lnTo>
                <a:lnTo>
                  <a:pt x="1972396" y="0"/>
                </a:lnTo>
                <a:lnTo>
                  <a:pt x="2686771" y="1152200"/>
                </a:lnTo>
                <a:lnTo>
                  <a:pt x="0" y="11522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60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676CD9-AA00-405C-F3B7-42ACE0573D52}"/>
              </a:ext>
            </a:extLst>
          </p:cNvPr>
          <p:cNvSpPr txBox="1"/>
          <p:nvPr/>
        </p:nvSpPr>
        <p:spPr>
          <a:xfrm>
            <a:off x="2060015" y="4860472"/>
            <a:ext cx="199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BASE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57B03F9-5922-118F-E8B3-EF0E5E0BD117}"/>
              </a:ext>
            </a:extLst>
          </p:cNvPr>
          <p:cNvSpPr txBox="1"/>
          <p:nvPr/>
        </p:nvSpPr>
        <p:spPr>
          <a:xfrm>
            <a:off x="2097454" y="3258688"/>
            <a:ext cx="199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BASE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48291DB-C6C1-65F1-7D04-0889A5B0319B}"/>
              </a:ext>
            </a:extLst>
          </p:cNvPr>
          <p:cNvCxnSpPr>
            <a:cxnSpLocks/>
          </p:cNvCxnSpPr>
          <p:nvPr/>
        </p:nvCxnSpPr>
        <p:spPr>
          <a:xfrm flipH="1">
            <a:off x="623934" y="4805108"/>
            <a:ext cx="1223602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9F75A41-CD0C-24D7-9E52-43E936941A26}"/>
              </a:ext>
            </a:extLst>
          </p:cNvPr>
          <p:cNvCxnSpPr>
            <a:cxnSpLocks/>
          </p:cNvCxnSpPr>
          <p:nvPr/>
        </p:nvCxnSpPr>
        <p:spPr>
          <a:xfrm flipH="1">
            <a:off x="623934" y="3652908"/>
            <a:ext cx="1695092" cy="0"/>
          </a:xfrm>
          <a:prstGeom prst="line">
            <a:avLst/>
          </a:prstGeom>
          <a:ln>
            <a:solidFill>
              <a:schemeClr val="accent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CE04C27-959B-07E1-1153-DAEBA619F25A}"/>
              </a:ext>
            </a:extLst>
          </p:cNvPr>
          <p:cNvCxnSpPr>
            <a:cxnSpLocks/>
          </p:cNvCxnSpPr>
          <p:nvPr/>
        </p:nvCxnSpPr>
        <p:spPr>
          <a:xfrm>
            <a:off x="1347837" y="3652908"/>
            <a:ext cx="0" cy="115220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3357C77-43F7-48D8-8FD4-CAC5BC3952F1}"/>
              </a:ext>
            </a:extLst>
          </p:cNvPr>
          <p:cNvSpPr txBox="1"/>
          <p:nvPr/>
        </p:nvSpPr>
        <p:spPr>
          <a:xfrm>
            <a:off x="-148904" y="3996569"/>
            <a:ext cx="1996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2">
                    <a:lumMod val="75000"/>
                  </a:schemeClr>
                </a:solidFill>
              </a:rPr>
              <a:t>ALTURA</a:t>
            </a: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7FE9F30-CB87-2731-5154-91353986BA9C}"/>
              </a:ext>
            </a:extLst>
          </p:cNvPr>
          <p:cNvGrpSpPr/>
          <p:nvPr/>
        </p:nvGrpSpPr>
        <p:grpSpPr>
          <a:xfrm>
            <a:off x="5081635" y="3739866"/>
            <a:ext cx="2491314" cy="1065242"/>
            <a:chOff x="3790589" y="8415698"/>
            <a:chExt cx="2705821" cy="1156963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14" name="Trapecio 1">
              <a:extLst>
                <a:ext uri="{FF2B5EF4-FFF2-40B4-BE49-F238E27FC236}">
                  <a16:creationId xmlns:a16="http://schemas.microsoft.com/office/drawing/2014/main" id="{96C08E3D-8545-4780-0632-A862CD48ACC8}"/>
                </a:ext>
              </a:extLst>
            </p:cNvPr>
            <p:cNvSpPr/>
            <p:nvPr/>
          </p:nvSpPr>
          <p:spPr>
            <a:xfrm>
              <a:off x="3790589" y="8415698"/>
              <a:ext cx="2705821" cy="1156963"/>
            </a:xfrm>
            <a:custGeom>
              <a:avLst/>
              <a:gdLst>
                <a:gd name="connsiteX0" fmla="*/ 0 w 2448646"/>
                <a:gd name="connsiteY0" fmla="*/ 1152200 h 1152200"/>
                <a:gd name="connsiteX1" fmla="*/ 476250 w 2448646"/>
                <a:gd name="connsiteY1" fmla="*/ 0 h 1152200"/>
                <a:gd name="connsiteX2" fmla="*/ 1972396 w 2448646"/>
                <a:gd name="connsiteY2" fmla="*/ 0 h 1152200"/>
                <a:gd name="connsiteX3" fmla="*/ 2448646 w 2448646"/>
                <a:gd name="connsiteY3" fmla="*/ 1152200 h 1152200"/>
                <a:gd name="connsiteX4" fmla="*/ 0 w 2448646"/>
                <a:gd name="connsiteY4" fmla="*/ 1152200 h 1152200"/>
                <a:gd name="connsiteX0" fmla="*/ 0 w 2686771"/>
                <a:gd name="connsiteY0" fmla="*/ 1152200 h 1152200"/>
                <a:gd name="connsiteX1" fmla="*/ 476250 w 2686771"/>
                <a:gd name="connsiteY1" fmla="*/ 0 h 1152200"/>
                <a:gd name="connsiteX2" fmla="*/ 1972396 w 2686771"/>
                <a:gd name="connsiteY2" fmla="*/ 0 h 1152200"/>
                <a:gd name="connsiteX3" fmla="*/ 2686771 w 2686771"/>
                <a:gd name="connsiteY3" fmla="*/ 1152200 h 1152200"/>
                <a:gd name="connsiteX4" fmla="*/ 0 w 2686771"/>
                <a:gd name="connsiteY4" fmla="*/ 1152200 h 1152200"/>
                <a:gd name="connsiteX0" fmla="*/ 19050 w 2705821"/>
                <a:gd name="connsiteY0" fmla="*/ 1156963 h 1156963"/>
                <a:gd name="connsiteX1" fmla="*/ 0 w 2705821"/>
                <a:gd name="connsiteY1" fmla="*/ 0 h 1156963"/>
                <a:gd name="connsiteX2" fmla="*/ 1991446 w 2705821"/>
                <a:gd name="connsiteY2" fmla="*/ 4763 h 1156963"/>
                <a:gd name="connsiteX3" fmla="*/ 2705821 w 2705821"/>
                <a:gd name="connsiteY3" fmla="*/ 1156963 h 1156963"/>
                <a:gd name="connsiteX4" fmla="*/ 19050 w 2705821"/>
                <a:gd name="connsiteY4" fmla="*/ 1156963 h 1156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5821" h="1156963">
                  <a:moveTo>
                    <a:pt x="19050" y="1156963"/>
                  </a:moveTo>
                  <a:lnTo>
                    <a:pt x="0" y="0"/>
                  </a:lnTo>
                  <a:lnTo>
                    <a:pt x="1991446" y="4763"/>
                  </a:lnTo>
                  <a:lnTo>
                    <a:pt x="2705821" y="1156963"/>
                  </a:lnTo>
                  <a:lnTo>
                    <a:pt x="19050" y="1156963"/>
                  </a:lnTo>
                  <a:close/>
                </a:path>
              </a:pathLst>
            </a:custGeom>
            <a:grpFill/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12FA97FC-A54E-91BF-83AB-06584BDB263A}"/>
                </a:ext>
              </a:extLst>
            </p:cNvPr>
            <p:cNvGrpSpPr/>
            <p:nvPr/>
          </p:nvGrpSpPr>
          <p:grpSpPr>
            <a:xfrm>
              <a:off x="3809383" y="9454776"/>
              <a:ext cx="109794" cy="117885"/>
              <a:chOff x="5033699" y="7141369"/>
              <a:chExt cx="109794" cy="117885"/>
            </a:xfrm>
            <a:grpFill/>
          </p:grpSpPr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A315C0EF-9BA5-7C8A-E0EB-2C7F0561AF77}"/>
                  </a:ext>
                </a:extLst>
              </p:cNvPr>
              <p:cNvSpPr/>
              <p:nvPr/>
            </p:nvSpPr>
            <p:spPr>
              <a:xfrm>
                <a:off x="5033699" y="7141369"/>
                <a:ext cx="109794" cy="117885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29" name="Elipse 28">
                <a:extLst>
                  <a:ext uri="{FF2B5EF4-FFF2-40B4-BE49-F238E27FC236}">
                    <a16:creationId xmlns:a16="http://schemas.microsoft.com/office/drawing/2014/main" id="{8164CC26-582A-9200-EE2E-D18BF888F557}"/>
                  </a:ext>
                </a:extLst>
              </p:cNvPr>
              <p:cNvSpPr/>
              <p:nvPr/>
            </p:nvSpPr>
            <p:spPr>
              <a:xfrm>
                <a:off x="5065737" y="7177452"/>
                <a:ext cx="45719" cy="4571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9ADD8C49-9033-5D1F-66DA-5443EDCCBE1A}"/>
                </a:ext>
              </a:extLst>
            </p:cNvPr>
            <p:cNvGrpSpPr/>
            <p:nvPr/>
          </p:nvGrpSpPr>
          <p:grpSpPr>
            <a:xfrm>
              <a:off x="3792970" y="8415698"/>
              <a:ext cx="109794" cy="117885"/>
              <a:chOff x="5036080" y="7141369"/>
              <a:chExt cx="109794" cy="117885"/>
            </a:xfrm>
            <a:grpFill/>
          </p:grpSpPr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C457C614-EB41-446A-8F43-1FDF10AF6222}"/>
                  </a:ext>
                </a:extLst>
              </p:cNvPr>
              <p:cNvSpPr/>
              <p:nvPr/>
            </p:nvSpPr>
            <p:spPr>
              <a:xfrm>
                <a:off x="5036080" y="7141369"/>
                <a:ext cx="109794" cy="117885"/>
              </a:xfrm>
              <a:prstGeom prst="rect">
                <a:avLst/>
              </a:prstGeom>
              <a:grpFill/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4B181D5A-8CD5-B305-0DC7-C617E7557810}"/>
                  </a:ext>
                </a:extLst>
              </p:cNvPr>
              <p:cNvSpPr/>
              <p:nvPr/>
            </p:nvSpPr>
            <p:spPr>
              <a:xfrm>
                <a:off x="5065737" y="7177452"/>
                <a:ext cx="45719" cy="45719"/>
              </a:xfrm>
              <a:prstGeom prst="ellipse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</p:grpSp>
      <p:sp>
        <p:nvSpPr>
          <p:cNvPr id="33" name="Trapecio 32">
            <a:extLst>
              <a:ext uri="{FF2B5EF4-FFF2-40B4-BE49-F238E27FC236}">
                <a16:creationId xmlns:a16="http://schemas.microsoft.com/office/drawing/2014/main" id="{2100EDED-5D84-3096-E5E5-41978F8F56AB}"/>
              </a:ext>
            </a:extLst>
          </p:cNvPr>
          <p:cNvSpPr/>
          <p:nvPr/>
        </p:nvSpPr>
        <p:spPr>
          <a:xfrm>
            <a:off x="8874209" y="3429000"/>
            <a:ext cx="1878848" cy="1409132"/>
          </a:xfrm>
          <a:prstGeom prst="trapezoid">
            <a:avLst>
              <a:gd name="adj" fmla="val 30714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34" name="Conector recto 33">
            <a:extLst>
              <a:ext uri="{FF2B5EF4-FFF2-40B4-BE49-F238E27FC236}">
                <a16:creationId xmlns:a16="http://schemas.microsoft.com/office/drawing/2014/main" id="{91291119-4086-852D-BEDB-37D5FDD41632}"/>
              </a:ext>
            </a:extLst>
          </p:cNvPr>
          <p:cNvCxnSpPr>
            <a:cxnSpLocks/>
          </p:cNvCxnSpPr>
          <p:nvPr/>
        </p:nvCxnSpPr>
        <p:spPr>
          <a:xfrm>
            <a:off x="9814871" y="3137647"/>
            <a:ext cx="0" cy="1920268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Arco 34">
            <a:extLst>
              <a:ext uri="{FF2B5EF4-FFF2-40B4-BE49-F238E27FC236}">
                <a16:creationId xmlns:a16="http://schemas.microsoft.com/office/drawing/2014/main" id="{F4B44AFD-B658-EC92-45DE-3A40B8439D89}"/>
              </a:ext>
            </a:extLst>
          </p:cNvPr>
          <p:cNvSpPr/>
          <p:nvPr/>
        </p:nvSpPr>
        <p:spPr>
          <a:xfrm>
            <a:off x="9342490" y="4428453"/>
            <a:ext cx="2131094" cy="645850"/>
          </a:xfrm>
          <a:prstGeom prst="arc">
            <a:avLst>
              <a:gd name="adj1" fmla="val 19623307"/>
              <a:gd name="adj2" fmla="val 4922897"/>
            </a:avLst>
          </a:prstGeom>
          <a:ln w="28575">
            <a:solidFill>
              <a:schemeClr val="accent5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Arco 35">
            <a:extLst>
              <a:ext uri="{FF2B5EF4-FFF2-40B4-BE49-F238E27FC236}">
                <a16:creationId xmlns:a16="http://schemas.microsoft.com/office/drawing/2014/main" id="{4B453DC6-E6AD-2DDD-52AD-DEC9E36F0D94}"/>
              </a:ext>
            </a:extLst>
          </p:cNvPr>
          <p:cNvSpPr/>
          <p:nvPr/>
        </p:nvSpPr>
        <p:spPr>
          <a:xfrm flipH="1">
            <a:off x="8156158" y="4428452"/>
            <a:ext cx="2131094" cy="645850"/>
          </a:xfrm>
          <a:prstGeom prst="arc">
            <a:avLst>
              <a:gd name="adj1" fmla="val 19623307"/>
              <a:gd name="adj2" fmla="val 4922897"/>
            </a:avLst>
          </a:prstGeom>
          <a:ln w="28575">
            <a:solidFill>
              <a:schemeClr val="accent5">
                <a:lumMod val="75000"/>
              </a:schemeClr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218785C0-E447-EFF4-E810-846CBA1F7886}"/>
              </a:ext>
            </a:extLst>
          </p:cNvPr>
          <p:cNvSpPr txBox="1"/>
          <p:nvPr/>
        </p:nvSpPr>
        <p:spPr>
          <a:xfrm>
            <a:off x="9221705" y="5057915"/>
            <a:ext cx="1186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>
                <a:solidFill>
                  <a:schemeClr val="accent5">
                    <a:lumMod val="75000"/>
                  </a:schemeClr>
                </a:solidFill>
              </a:rPr>
              <a:t>IGUALES</a:t>
            </a:r>
          </a:p>
        </p:txBody>
      </p:sp>
      <p:sp>
        <p:nvSpPr>
          <p:cNvPr id="40" name="!Marco 10">
            <a:extLst>
              <a:ext uri="{FF2B5EF4-FFF2-40B4-BE49-F238E27FC236}">
                <a16:creationId xmlns:a16="http://schemas.microsoft.com/office/drawing/2014/main" id="{4CC0F86B-A965-5DA6-5784-0EB1BF58122D}"/>
              </a:ext>
            </a:extLst>
          </p:cNvPr>
          <p:cNvSpPr/>
          <p:nvPr/>
        </p:nvSpPr>
        <p:spPr>
          <a:xfrm>
            <a:off x="535084" y="1886672"/>
            <a:ext cx="11121832" cy="47502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1" name="!CuadroTexto 1">
            <a:extLst>
              <a:ext uri="{FF2B5EF4-FFF2-40B4-BE49-F238E27FC236}">
                <a16:creationId xmlns:a16="http://schemas.microsoft.com/office/drawing/2014/main" id="{262DFA99-1490-FD94-888B-74A5621BF05E}"/>
              </a:ext>
            </a:extLst>
          </p:cNvPr>
          <p:cNvSpPr txBox="1"/>
          <p:nvPr/>
        </p:nvSpPr>
        <p:spPr>
          <a:xfrm>
            <a:off x="535084" y="192413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trapecio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 dos ángulos rectos se llama trapecio rectángulo.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2" name="!Marco 10">
            <a:extLst>
              <a:ext uri="{FF2B5EF4-FFF2-40B4-BE49-F238E27FC236}">
                <a16:creationId xmlns:a16="http://schemas.microsoft.com/office/drawing/2014/main" id="{21D4466A-68D4-1757-D67F-C289F25C597B}"/>
              </a:ext>
            </a:extLst>
          </p:cNvPr>
          <p:cNvSpPr/>
          <p:nvPr/>
        </p:nvSpPr>
        <p:spPr>
          <a:xfrm>
            <a:off x="535084" y="2495215"/>
            <a:ext cx="11121832" cy="47502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" name="!CuadroTexto 1">
            <a:extLst>
              <a:ext uri="{FF2B5EF4-FFF2-40B4-BE49-F238E27FC236}">
                <a16:creationId xmlns:a16="http://schemas.microsoft.com/office/drawing/2014/main" id="{35EEFCBF-7ED9-FD37-7E91-4C5768482FFF}"/>
              </a:ext>
            </a:extLst>
          </p:cNvPr>
          <p:cNvSpPr txBox="1"/>
          <p:nvPr/>
        </p:nvSpPr>
        <p:spPr>
          <a:xfrm>
            <a:off x="535084" y="2532674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trapecio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con los 2 lados no paralelos iguales se llama trapecio isósceles.</a:t>
            </a:r>
            <a:endParaRPr lang="es-ES" sz="3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60C8F6FA-2F3C-A929-0C60-1A8BFF74E7A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3A5B069-B50C-65EC-FF88-E477A673ADA6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4189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35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8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35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85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35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6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500"/>
                            </p:stCondLst>
                            <p:childTnLst>
                              <p:par>
                                <p:cTn id="8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7" grpId="0"/>
      <p:bldP spid="8" grpId="0"/>
      <p:bldP spid="12" grpId="0"/>
      <p:bldP spid="33" grpId="0" animBg="1"/>
      <p:bldP spid="35" grpId="0" animBg="1"/>
      <p:bldP spid="36" grpId="0" animBg="1"/>
      <p:bldP spid="37" grpId="0"/>
      <p:bldP spid="40" grpId="0" animBg="1"/>
      <p:bldP spid="41" grpId="0"/>
      <p:bldP spid="42" grpId="0" animBg="1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Marco 10">
            <a:extLst>
              <a:ext uri="{FF2B5EF4-FFF2-40B4-BE49-F238E27FC236}">
                <a16:creationId xmlns:a16="http://schemas.microsoft.com/office/drawing/2014/main" id="{C63F2D28-56EE-8165-0B13-DF0D357B583D}"/>
              </a:ext>
            </a:extLst>
          </p:cNvPr>
          <p:cNvSpPr/>
          <p:nvPr/>
        </p:nvSpPr>
        <p:spPr>
          <a:xfrm>
            <a:off x="535084" y="1048972"/>
            <a:ext cx="11121832" cy="475028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!CuadroTexto 1">
            <a:extLst>
              <a:ext uri="{FF2B5EF4-FFF2-40B4-BE49-F238E27FC236}">
                <a16:creationId xmlns:a16="http://schemas.microsoft.com/office/drawing/2014/main" id="{CEE9A90F-8CF2-DD6F-8496-63293940C9C1}"/>
              </a:ext>
            </a:extLst>
          </p:cNvPr>
          <p:cNvSpPr txBox="1"/>
          <p:nvPr/>
        </p:nvSpPr>
        <p:spPr>
          <a:xfrm>
            <a:off x="535084" y="1086431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cuadriláteros que no tienen ningún par de lados paralelos se llaman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trapezoides.</a:t>
            </a:r>
          </a:p>
        </p:txBody>
      </p:sp>
      <p:sp>
        <p:nvSpPr>
          <p:cNvPr id="12" name="Rectángulo 39">
            <a:extLst>
              <a:ext uri="{FF2B5EF4-FFF2-40B4-BE49-F238E27FC236}">
                <a16:creationId xmlns:a16="http://schemas.microsoft.com/office/drawing/2014/main" id="{D5DD95DA-712B-1A34-18A7-BFBD5C89B4B1}"/>
              </a:ext>
            </a:extLst>
          </p:cNvPr>
          <p:cNvSpPr/>
          <p:nvPr/>
        </p:nvSpPr>
        <p:spPr>
          <a:xfrm rot="1996285">
            <a:off x="7384341" y="1689429"/>
            <a:ext cx="2132274" cy="1662770"/>
          </a:xfrm>
          <a:custGeom>
            <a:avLst/>
            <a:gdLst>
              <a:gd name="connsiteX0" fmla="*/ 0 w 937542"/>
              <a:gd name="connsiteY0" fmla="*/ 0 h 937542"/>
              <a:gd name="connsiteX1" fmla="*/ 937542 w 937542"/>
              <a:gd name="connsiteY1" fmla="*/ 0 h 937542"/>
              <a:gd name="connsiteX2" fmla="*/ 937542 w 937542"/>
              <a:gd name="connsiteY2" fmla="*/ 937542 h 937542"/>
              <a:gd name="connsiteX3" fmla="*/ 0 w 937542"/>
              <a:gd name="connsiteY3" fmla="*/ 937542 h 937542"/>
              <a:gd name="connsiteX4" fmla="*/ 0 w 937542"/>
              <a:gd name="connsiteY4" fmla="*/ 0 h 937542"/>
              <a:gd name="connsiteX0" fmla="*/ 0 w 937542"/>
              <a:gd name="connsiteY0" fmla="*/ 0 h 937542"/>
              <a:gd name="connsiteX1" fmla="*/ 602262 w 937542"/>
              <a:gd name="connsiteY1" fmla="*/ 502920 h 937542"/>
              <a:gd name="connsiteX2" fmla="*/ 937542 w 937542"/>
              <a:gd name="connsiteY2" fmla="*/ 937542 h 937542"/>
              <a:gd name="connsiteX3" fmla="*/ 0 w 937542"/>
              <a:gd name="connsiteY3" fmla="*/ 937542 h 937542"/>
              <a:gd name="connsiteX4" fmla="*/ 0 w 937542"/>
              <a:gd name="connsiteY4" fmla="*/ 0 h 937542"/>
              <a:gd name="connsiteX0" fmla="*/ 784860 w 937542"/>
              <a:gd name="connsiteY0" fmla="*/ 0 h 998502"/>
              <a:gd name="connsiteX1" fmla="*/ 602262 w 937542"/>
              <a:gd name="connsiteY1" fmla="*/ 563880 h 998502"/>
              <a:gd name="connsiteX2" fmla="*/ 937542 w 937542"/>
              <a:gd name="connsiteY2" fmla="*/ 998502 h 998502"/>
              <a:gd name="connsiteX3" fmla="*/ 0 w 937542"/>
              <a:gd name="connsiteY3" fmla="*/ 998502 h 998502"/>
              <a:gd name="connsiteX4" fmla="*/ 784860 w 937542"/>
              <a:gd name="connsiteY4" fmla="*/ 0 h 998502"/>
              <a:gd name="connsiteX0" fmla="*/ 784860 w 937542"/>
              <a:gd name="connsiteY0" fmla="*/ 0 h 998502"/>
              <a:gd name="connsiteX1" fmla="*/ 617502 w 937542"/>
              <a:gd name="connsiteY1" fmla="*/ 716280 h 998502"/>
              <a:gd name="connsiteX2" fmla="*/ 937542 w 937542"/>
              <a:gd name="connsiteY2" fmla="*/ 998502 h 998502"/>
              <a:gd name="connsiteX3" fmla="*/ 0 w 937542"/>
              <a:gd name="connsiteY3" fmla="*/ 998502 h 998502"/>
              <a:gd name="connsiteX4" fmla="*/ 784860 w 937542"/>
              <a:gd name="connsiteY4" fmla="*/ 0 h 998502"/>
              <a:gd name="connsiteX0" fmla="*/ 784860 w 1280442"/>
              <a:gd name="connsiteY0" fmla="*/ 0 h 998502"/>
              <a:gd name="connsiteX1" fmla="*/ 617502 w 1280442"/>
              <a:gd name="connsiteY1" fmla="*/ 716280 h 998502"/>
              <a:gd name="connsiteX2" fmla="*/ 1280442 w 1280442"/>
              <a:gd name="connsiteY2" fmla="*/ 998502 h 998502"/>
              <a:gd name="connsiteX3" fmla="*/ 0 w 1280442"/>
              <a:gd name="connsiteY3" fmla="*/ 998502 h 998502"/>
              <a:gd name="connsiteX4" fmla="*/ 784860 w 1280442"/>
              <a:gd name="connsiteY4" fmla="*/ 0 h 998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0442" h="998502">
                <a:moveTo>
                  <a:pt x="784860" y="0"/>
                </a:moveTo>
                <a:lnTo>
                  <a:pt x="617502" y="716280"/>
                </a:lnTo>
                <a:lnTo>
                  <a:pt x="1280442" y="998502"/>
                </a:lnTo>
                <a:lnTo>
                  <a:pt x="0" y="998502"/>
                </a:lnTo>
                <a:lnTo>
                  <a:pt x="78486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ombo 7">
            <a:extLst>
              <a:ext uri="{FF2B5EF4-FFF2-40B4-BE49-F238E27FC236}">
                <a16:creationId xmlns:a16="http://schemas.microsoft.com/office/drawing/2014/main" id="{E1A6A7FD-A030-460E-C0DA-9CBAA80EBDD0}"/>
              </a:ext>
            </a:extLst>
          </p:cNvPr>
          <p:cNvSpPr/>
          <p:nvPr/>
        </p:nvSpPr>
        <p:spPr>
          <a:xfrm>
            <a:off x="2770296" y="1905821"/>
            <a:ext cx="3434756" cy="1380082"/>
          </a:xfrm>
          <a:custGeom>
            <a:avLst/>
            <a:gdLst>
              <a:gd name="connsiteX0" fmla="*/ 0 w 1944914"/>
              <a:gd name="connsiteY0" fmla="*/ 972457 h 1944914"/>
              <a:gd name="connsiteX1" fmla="*/ 972457 w 1944914"/>
              <a:gd name="connsiteY1" fmla="*/ 0 h 1944914"/>
              <a:gd name="connsiteX2" fmla="*/ 1944914 w 1944914"/>
              <a:gd name="connsiteY2" fmla="*/ 972457 h 1944914"/>
              <a:gd name="connsiteX3" fmla="*/ 972457 w 1944914"/>
              <a:gd name="connsiteY3" fmla="*/ 1944914 h 1944914"/>
              <a:gd name="connsiteX4" fmla="*/ 0 w 1944914"/>
              <a:gd name="connsiteY4" fmla="*/ 972457 h 1944914"/>
              <a:gd name="connsiteX0" fmla="*/ 0 w 4840514"/>
              <a:gd name="connsiteY0" fmla="*/ 972457 h 1944914"/>
              <a:gd name="connsiteX1" fmla="*/ 972457 w 4840514"/>
              <a:gd name="connsiteY1" fmla="*/ 0 h 1944914"/>
              <a:gd name="connsiteX2" fmla="*/ 4840514 w 4840514"/>
              <a:gd name="connsiteY2" fmla="*/ 987697 h 1944914"/>
              <a:gd name="connsiteX3" fmla="*/ 972457 w 4840514"/>
              <a:gd name="connsiteY3" fmla="*/ 1944914 h 1944914"/>
              <a:gd name="connsiteX4" fmla="*/ 0 w 4840514"/>
              <a:gd name="connsiteY4" fmla="*/ 972457 h 1944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0514" h="1944914">
                <a:moveTo>
                  <a:pt x="0" y="972457"/>
                </a:moveTo>
                <a:lnTo>
                  <a:pt x="972457" y="0"/>
                </a:lnTo>
                <a:lnTo>
                  <a:pt x="4840514" y="987697"/>
                </a:lnTo>
                <a:lnTo>
                  <a:pt x="972457" y="1944914"/>
                </a:lnTo>
                <a:lnTo>
                  <a:pt x="0" y="97245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A610FD56-96FB-FD98-DF0E-B95A6C134AC8}"/>
              </a:ext>
            </a:extLst>
          </p:cNvPr>
          <p:cNvCxnSpPr>
            <a:cxnSpLocks/>
            <a:stCxn id="20" idx="0"/>
            <a:endCxn id="20" idx="2"/>
          </p:cNvCxnSpPr>
          <p:nvPr/>
        </p:nvCxnSpPr>
        <p:spPr>
          <a:xfrm>
            <a:off x="2770296" y="2595862"/>
            <a:ext cx="3434756" cy="10814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E5092B8B-7542-F810-3934-35D506849714}"/>
              </a:ext>
            </a:extLst>
          </p:cNvPr>
          <p:cNvCxnSpPr>
            <a:stCxn id="20" idx="1"/>
            <a:endCxn id="20" idx="3"/>
          </p:cNvCxnSpPr>
          <p:nvPr/>
        </p:nvCxnSpPr>
        <p:spPr>
          <a:xfrm>
            <a:off x="3460337" y="1905821"/>
            <a:ext cx="0" cy="1380082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B42C1251-5135-561E-FF4B-04D57943E25C}"/>
              </a:ext>
            </a:extLst>
          </p:cNvPr>
          <p:cNvCxnSpPr>
            <a:cxnSpLocks/>
            <a:stCxn id="12" idx="3"/>
            <a:endCxn id="12" idx="1"/>
          </p:cNvCxnSpPr>
          <p:nvPr/>
        </p:nvCxnSpPr>
        <p:spPr>
          <a:xfrm>
            <a:off x="7102998" y="2631030"/>
            <a:ext cx="1117576" cy="171198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3BBD8AEC-0AAA-2F8A-F61C-84E0064B1E89}"/>
              </a:ext>
            </a:extLst>
          </p:cNvPr>
          <p:cNvCxnSpPr>
            <a:stCxn id="12" idx="0"/>
            <a:endCxn id="12" idx="2"/>
          </p:cNvCxnSpPr>
          <p:nvPr/>
        </p:nvCxnSpPr>
        <p:spPr>
          <a:xfrm flipH="1">
            <a:off x="8885752" y="1957847"/>
            <a:ext cx="222209" cy="184296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25C3C16-7537-8750-2CFB-4789E452C911}"/>
              </a:ext>
            </a:extLst>
          </p:cNvPr>
          <p:cNvSpPr txBox="1"/>
          <p:nvPr/>
        </p:nvSpPr>
        <p:spPr>
          <a:xfrm>
            <a:off x="6812417" y="3955197"/>
            <a:ext cx="2949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bg1">
                    <a:lumMod val="50000"/>
                  </a:schemeClr>
                </a:solidFill>
              </a:rPr>
              <a:t>TRAPEZOIDE CÓNCAVO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DC206B3-45BC-9BA4-11C6-1C19821FD14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EB70502-148A-F38A-7EB2-A2ED7A69F68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Cuerpos Geométricos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0944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12" grpId="0" animBg="1"/>
      <p:bldP spid="20" grpId="0" animBg="1"/>
      <p:bldP spid="2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E10430F5-9246-4E02-9AAA-C84D432C1045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2. Cuadriláteros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2 ESO\\TEMA 9 - Cuerpos geométricos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861C1EA-9506-4C15-99ED-7A6CFA1FD8C9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BF5819A-CD00-4CDE-9BF5-3952424161AB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F0EE6FA-3D4B-4C60-9B17-03D7B6CFC70E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C843FED-9636-4ED7-8514-542B4B27A7D0}:261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168</Words>
  <Application>Microsoft Office PowerPoint</Application>
  <PresentationFormat>Panorámica</PresentationFormat>
  <Paragraphs>34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Cuadriláteros</dc:title>
  <dc:creator>Illán Linos Souto</dc:creator>
  <cp:lastModifiedBy>Illán Linos</cp:lastModifiedBy>
  <cp:revision>58</cp:revision>
  <dcterms:created xsi:type="dcterms:W3CDTF">2024-08-18T18:48:07Z</dcterms:created>
  <dcterms:modified xsi:type="dcterms:W3CDTF">2025-11-18T13:14:21Z</dcterms:modified>
</cp:coreProperties>
</file>