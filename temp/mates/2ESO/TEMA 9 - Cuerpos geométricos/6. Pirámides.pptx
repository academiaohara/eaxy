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7" r:id="rId2"/>
    <p:sldId id="258" r:id="rId3"/>
    <p:sldId id="259" r:id="rId4"/>
  </p:sldIdLst>
  <p:sldSz cx="12192000" cy="6858000"/>
  <p:notesSz cx="6858000" cy="9144000"/>
  <p:custDataLst>
    <p:tags r:id="rId6"/>
  </p:custData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4246"/>
    <a:srgbClr val="BCC6E2"/>
    <a:srgbClr val="A5AED5"/>
    <a:srgbClr val="636EAD"/>
    <a:srgbClr val="383F6C"/>
    <a:srgbClr val="4F5997"/>
    <a:srgbClr val="7780B8"/>
    <a:srgbClr val="284191"/>
    <a:srgbClr val="B1BADB"/>
    <a:srgbClr val="156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6238" autoAdjust="0"/>
  </p:normalViewPr>
  <p:slideViewPr>
    <p:cSldViewPr snapToGrid="0">
      <p:cViewPr varScale="1">
        <p:scale>
          <a:sx n="107" d="100"/>
          <a:sy n="107" d="100"/>
        </p:scale>
        <p:origin x="672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gs" Target="tags/tag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256E73-255D-4AFF-AF71-B27D2D8D2B75}" type="datetimeFigureOut">
              <a:rPr lang="es-ES" smtClean="0"/>
              <a:t>18/11/2025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92D5B8-194E-4A0D-905E-0596160186A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990291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92D5B8-194E-4A0D-905E-0596160186A3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120494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92D5B8-194E-4A0D-905E-0596160186A3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692429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92D5B8-194E-4A0D-905E-0596160186A3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29798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30CC69-0242-EE52-5289-975CBA271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F73D9F-B4D1-33D9-1D9E-271DC37A5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B39749-7708-B233-4400-98CF8C501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6388BE-A95D-EE17-9576-0B1138379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3D0BC4-CBE6-D467-E4D6-D64D32A57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78896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030BAC-1FB0-491F-B603-3E545450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D2B9C2-E0AD-3BBC-D8A3-47A4754CC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1FCF2C-2E83-F0B3-7C49-1FAAE1412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684B2A-CB3A-7102-BDD4-2F18AA9CC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8DB67A-C1BA-90FE-61D4-ECDD22E4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72848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DC9DC-72C3-F198-AFF4-787C9902F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4580639-1DFF-62A6-4B36-1388D36D2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1EF8A9-8072-80ED-8C3E-2612BB66F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F21A17-5845-AA5F-EF08-20FC40F70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DA33D3-04F5-0B1F-71C9-5784F3658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57462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A352E5-63E6-0BEF-532D-E52C8C5C1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0E9DDE-BBA1-199E-A343-07F0C4D637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1534CA-3C16-BC29-D85F-2DFF0D4AC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5BE418-589F-9F63-2F44-25C1FEC28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9955F2-ABB9-4947-BBFF-5D163FE48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49642F-2057-D0A7-29F6-105C0BC44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30496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A2EB1B-6FEB-11D6-7747-C644CB42B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7A958E-B4E1-010E-7195-E2BBB2085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01E33A-EA12-5855-CF73-F53B369C3F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0888ACB-A13F-1F1E-6897-3B8D4972FC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F7CF691-1808-02B7-B038-046B7536E3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7277917-8322-4093-178F-A9DACEF58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4B37C16-BE58-1006-6656-85C15636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0F44860-CAA5-300E-EC8A-678764646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3863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B697BC-44BC-F6A3-3B3A-9061217A6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266EEE2-A47A-6360-2F03-FCB00E03D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C4E4590-3762-5D55-5414-FD37FCCC9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ABE1C9-EE22-D475-B974-B7FD86890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23595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5A1C9C2-287B-BFB5-6360-B6B9BF11D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2A85BED-F9C2-B7AA-F0C1-B4BBE23B3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A57394-8137-0A52-85CD-7B5C04D76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64524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4E36CD-55FB-DE2E-9C92-ECB6F0128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189CA2-3ED8-7653-E541-3314D3E7C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34EC18-037F-C4BA-B572-E9717A54E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363633-E074-9B5A-A143-CED74E719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8EB83B-4105-2D5F-9E15-1089C67BC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634990F-A961-2D4E-817B-8363E47B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69154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DB6008-DB7C-3324-403B-7657B8176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2FD88B2-9A94-BDDB-FAF2-931DA13042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5A41C9A-1AEA-7DDD-D68F-E69F0B388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954D82-C7F9-CAFF-7A53-9B8702713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78EE88-8582-855D-4C7A-80A0B6B1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7705F8-A957-7664-DD87-ADB5F322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53732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58A047-3EF9-CD34-78AF-504143986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C4FC04D-A229-A68C-D470-62CFD3084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F32C-D8D2-51BE-CEBE-3458EDBB7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1F469C-112A-DEC8-A016-1F623F919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90AE46-A55B-56FF-1006-2C0A6D79D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09212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F857533-87A5-755E-31C0-0F39BDFFA8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161402F-BC08-3B7E-9D9B-FB176E46CE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D70B13-29F6-BFB0-3110-5363018D9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110C1E-4D6E-44ED-E74C-E8B2893C7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609230-F255-4451-22E1-498837BDB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8114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A11EF0C-DF51-DDFE-8A88-2777D9AAB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2B8EC7-7A82-FD16-3D86-7F6E80B1F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CAE80F-9F6E-A95C-C6E1-E800DB8A5A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7CFB18-B5E6-AFA1-A378-83FC7C484D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426725-340B-BBCA-B44B-A0300BEA8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46405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6" Type="http://schemas.openxmlformats.org/officeDocument/2006/relationships/image" Target="../media/image9.png"/><Relationship Id="rId9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9: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Cuerpos Geométricos</a:t>
            </a:r>
          </a:p>
        </p:txBody>
      </p:sp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1"/>
            <a:ext cx="11121832" cy="722461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56258"/>
            <a:ext cx="11121832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ES" sz="2000" b="1" dirty="0"/>
              <a:t>Una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pirámide</a:t>
            </a:r>
            <a:r>
              <a:rPr lang="es-ES" sz="2000" b="1" dirty="0"/>
              <a:t> es un poliedro que tiene por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base</a:t>
            </a:r>
            <a:r>
              <a:rPr lang="es-ES" sz="2000" b="1" dirty="0"/>
              <a:t> un polígono cualquiera, y por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caras laterales</a:t>
            </a:r>
            <a:r>
              <a:rPr lang="es-ES" sz="2000" b="1" dirty="0"/>
              <a:t>, triángulos con un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vértice</a:t>
            </a:r>
            <a:r>
              <a:rPr lang="es-ES" sz="2000" b="1" dirty="0"/>
              <a:t> común, que se llama vértice de la pirámide.</a:t>
            </a:r>
            <a:endParaRPr lang="es-ES" sz="28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55" name="Grupo 54">
            <a:extLst>
              <a:ext uri="{FF2B5EF4-FFF2-40B4-BE49-F238E27FC236}">
                <a16:creationId xmlns:a16="http://schemas.microsoft.com/office/drawing/2014/main" id="{F41D7F43-9349-F1CD-EDC3-E8B8884E08EA}"/>
              </a:ext>
            </a:extLst>
          </p:cNvPr>
          <p:cNvGrpSpPr/>
          <p:nvPr/>
        </p:nvGrpSpPr>
        <p:grpSpPr>
          <a:xfrm>
            <a:off x="2548118" y="2300609"/>
            <a:ext cx="2461972" cy="3325815"/>
            <a:chOff x="2594443" y="2508249"/>
            <a:chExt cx="2461972" cy="3325815"/>
          </a:xfrm>
        </p:grpSpPr>
        <p:sp>
          <p:nvSpPr>
            <p:cNvPr id="54" name="Triángulo isósceles 49">
              <a:extLst>
                <a:ext uri="{FF2B5EF4-FFF2-40B4-BE49-F238E27FC236}">
                  <a16:creationId xmlns:a16="http://schemas.microsoft.com/office/drawing/2014/main" id="{54FBCF7E-9307-0D20-377E-E9610EE20B9C}"/>
                </a:ext>
              </a:extLst>
            </p:cNvPr>
            <p:cNvSpPr/>
            <p:nvPr/>
          </p:nvSpPr>
          <p:spPr>
            <a:xfrm rot="18928796" flipH="1">
              <a:off x="3087010" y="2892050"/>
              <a:ext cx="1969405" cy="2619798"/>
            </a:xfrm>
            <a:custGeom>
              <a:avLst/>
              <a:gdLst>
                <a:gd name="connsiteX0" fmla="*/ 0 w 604837"/>
                <a:gd name="connsiteY0" fmla="*/ 2495549 h 2495549"/>
                <a:gd name="connsiteX1" fmla="*/ 0 w 604837"/>
                <a:gd name="connsiteY1" fmla="*/ 0 h 2495549"/>
                <a:gd name="connsiteX2" fmla="*/ 604837 w 604837"/>
                <a:gd name="connsiteY2" fmla="*/ 2495549 h 2495549"/>
                <a:gd name="connsiteX3" fmla="*/ 0 w 604837"/>
                <a:gd name="connsiteY3" fmla="*/ 2495549 h 2495549"/>
                <a:gd name="connsiteX0" fmla="*/ 1265382 w 1870219"/>
                <a:gd name="connsiteY0" fmla="*/ 2600444 h 2600444"/>
                <a:gd name="connsiteX1" fmla="*/ 0 w 1870219"/>
                <a:gd name="connsiteY1" fmla="*/ 0 h 2600444"/>
                <a:gd name="connsiteX2" fmla="*/ 1870219 w 1870219"/>
                <a:gd name="connsiteY2" fmla="*/ 2600444 h 2600444"/>
                <a:gd name="connsiteX3" fmla="*/ 1265382 w 1870219"/>
                <a:gd name="connsiteY3" fmla="*/ 2600444 h 2600444"/>
                <a:gd name="connsiteX0" fmla="*/ 1265382 w 1892636"/>
                <a:gd name="connsiteY0" fmla="*/ 2600444 h 2738708"/>
                <a:gd name="connsiteX1" fmla="*/ 0 w 1892636"/>
                <a:gd name="connsiteY1" fmla="*/ 0 h 2738708"/>
                <a:gd name="connsiteX2" fmla="*/ 1892636 w 1892636"/>
                <a:gd name="connsiteY2" fmla="*/ 2738708 h 2738708"/>
                <a:gd name="connsiteX3" fmla="*/ 1265382 w 1892636"/>
                <a:gd name="connsiteY3" fmla="*/ 2600444 h 2738708"/>
                <a:gd name="connsiteX0" fmla="*/ 1277154 w 1904408"/>
                <a:gd name="connsiteY0" fmla="*/ 2602227 h 2740491"/>
                <a:gd name="connsiteX1" fmla="*/ 0 w 1904408"/>
                <a:gd name="connsiteY1" fmla="*/ 0 h 2740491"/>
                <a:gd name="connsiteX2" fmla="*/ 1904408 w 1904408"/>
                <a:gd name="connsiteY2" fmla="*/ 2740491 h 2740491"/>
                <a:gd name="connsiteX3" fmla="*/ 1277154 w 1904408"/>
                <a:gd name="connsiteY3" fmla="*/ 2602227 h 2740491"/>
                <a:gd name="connsiteX0" fmla="*/ 1342236 w 1969490"/>
                <a:gd name="connsiteY0" fmla="*/ 2471431 h 2609695"/>
                <a:gd name="connsiteX1" fmla="*/ 0 w 1969490"/>
                <a:gd name="connsiteY1" fmla="*/ 0 h 2609695"/>
                <a:gd name="connsiteX2" fmla="*/ 1969490 w 1969490"/>
                <a:gd name="connsiteY2" fmla="*/ 2609695 h 2609695"/>
                <a:gd name="connsiteX3" fmla="*/ 1342236 w 1969490"/>
                <a:gd name="connsiteY3" fmla="*/ 2471431 h 2609695"/>
                <a:gd name="connsiteX0" fmla="*/ 1338924 w 1969490"/>
                <a:gd name="connsiteY0" fmla="*/ 2464668 h 2609695"/>
                <a:gd name="connsiteX1" fmla="*/ 0 w 1969490"/>
                <a:gd name="connsiteY1" fmla="*/ 0 h 2609695"/>
                <a:gd name="connsiteX2" fmla="*/ 1969490 w 1969490"/>
                <a:gd name="connsiteY2" fmla="*/ 2609695 h 2609695"/>
                <a:gd name="connsiteX3" fmla="*/ 1338924 w 1969490"/>
                <a:gd name="connsiteY3" fmla="*/ 2464668 h 2609695"/>
                <a:gd name="connsiteX0" fmla="*/ 1338924 w 1969405"/>
                <a:gd name="connsiteY0" fmla="*/ 2464668 h 2619798"/>
                <a:gd name="connsiteX1" fmla="*/ 0 w 1969405"/>
                <a:gd name="connsiteY1" fmla="*/ 0 h 2619798"/>
                <a:gd name="connsiteX2" fmla="*/ 1969405 w 1969405"/>
                <a:gd name="connsiteY2" fmla="*/ 2619798 h 2619798"/>
                <a:gd name="connsiteX3" fmla="*/ 1338924 w 1969405"/>
                <a:gd name="connsiteY3" fmla="*/ 2464668 h 2619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69405" h="2619798">
                  <a:moveTo>
                    <a:pt x="1338924" y="2464668"/>
                  </a:moveTo>
                  <a:lnTo>
                    <a:pt x="0" y="0"/>
                  </a:lnTo>
                  <a:lnTo>
                    <a:pt x="1969405" y="2619798"/>
                  </a:lnTo>
                  <a:lnTo>
                    <a:pt x="1338924" y="2464668"/>
                  </a:lnTo>
                  <a:close/>
                </a:path>
              </a:pathLst>
            </a:custGeom>
            <a:solidFill>
              <a:srgbClr val="A5AED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53" name="Triángulo isósceles 52">
              <a:extLst>
                <a:ext uri="{FF2B5EF4-FFF2-40B4-BE49-F238E27FC236}">
                  <a16:creationId xmlns:a16="http://schemas.microsoft.com/office/drawing/2014/main" id="{ED91FA6B-D3B2-7D38-F775-F0DB06E7D3A4}"/>
                </a:ext>
              </a:extLst>
            </p:cNvPr>
            <p:cNvSpPr/>
            <p:nvPr/>
          </p:nvSpPr>
          <p:spPr>
            <a:xfrm>
              <a:off x="3273105" y="2544787"/>
              <a:ext cx="1000071" cy="3289277"/>
            </a:xfrm>
            <a:prstGeom prst="triangle">
              <a:avLst>
                <a:gd name="adj" fmla="val 56191"/>
              </a:avLst>
            </a:prstGeom>
            <a:solidFill>
              <a:srgbClr val="B1BAD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50" name="Triángulo isósceles 49">
              <a:extLst>
                <a:ext uri="{FF2B5EF4-FFF2-40B4-BE49-F238E27FC236}">
                  <a16:creationId xmlns:a16="http://schemas.microsoft.com/office/drawing/2014/main" id="{24844775-BD78-E0E4-F3E8-E669B14E5724}"/>
                </a:ext>
              </a:extLst>
            </p:cNvPr>
            <p:cNvSpPr/>
            <p:nvPr/>
          </p:nvSpPr>
          <p:spPr>
            <a:xfrm rot="2671204">
              <a:off x="2594443" y="2811749"/>
              <a:ext cx="1904408" cy="2740491"/>
            </a:xfrm>
            <a:custGeom>
              <a:avLst/>
              <a:gdLst>
                <a:gd name="connsiteX0" fmla="*/ 0 w 604837"/>
                <a:gd name="connsiteY0" fmla="*/ 2495549 h 2495549"/>
                <a:gd name="connsiteX1" fmla="*/ 0 w 604837"/>
                <a:gd name="connsiteY1" fmla="*/ 0 h 2495549"/>
                <a:gd name="connsiteX2" fmla="*/ 604837 w 604837"/>
                <a:gd name="connsiteY2" fmla="*/ 2495549 h 2495549"/>
                <a:gd name="connsiteX3" fmla="*/ 0 w 604837"/>
                <a:gd name="connsiteY3" fmla="*/ 2495549 h 2495549"/>
                <a:gd name="connsiteX0" fmla="*/ 1265382 w 1870219"/>
                <a:gd name="connsiteY0" fmla="*/ 2600444 h 2600444"/>
                <a:gd name="connsiteX1" fmla="*/ 0 w 1870219"/>
                <a:gd name="connsiteY1" fmla="*/ 0 h 2600444"/>
                <a:gd name="connsiteX2" fmla="*/ 1870219 w 1870219"/>
                <a:gd name="connsiteY2" fmla="*/ 2600444 h 2600444"/>
                <a:gd name="connsiteX3" fmla="*/ 1265382 w 1870219"/>
                <a:gd name="connsiteY3" fmla="*/ 2600444 h 2600444"/>
                <a:gd name="connsiteX0" fmla="*/ 1265382 w 1892636"/>
                <a:gd name="connsiteY0" fmla="*/ 2600444 h 2738708"/>
                <a:gd name="connsiteX1" fmla="*/ 0 w 1892636"/>
                <a:gd name="connsiteY1" fmla="*/ 0 h 2738708"/>
                <a:gd name="connsiteX2" fmla="*/ 1892636 w 1892636"/>
                <a:gd name="connsiteY2" fmla="*/ 2738708 h 2738708"/>
                <a:gd name="connsiteX3" fmla="*/ 1265382 w 1892636"/>
                <a:gd name="connsiteY3" fmla="*/ 2600444 h 2738708"/>
                <a:gd name="connsiteX0" fmla="*/ 1277154 w 1904408"/>
                <a:gd name="connsiteY0" fmla="*/ 2602227 h 2740491"/>
                <a:gd name="connsiteX1" fmla="*/ 0 w 1904408"/>
                <a:gd name="connsiteY1" fmla="*/ 0 h 2740491"/>
                <a:gd name="connsiteX2" fmla="*/ 1904408 w 1904408"/>
                <a:gd name="connsiteY2" fmla="*/ 2740491 h 2740491"/>
                <a:gd name="connsiteX3" fmla="*/ 1277154 w 1904408"/>
                <a:gd name="connsiteY3" fmla="*/ 2602227 h 2740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4408" h="2740491">
                  <a:moveTo>
                    <a:pt x="1277154" y="2602227"/>
                  </a:moveTo>
                  <a:lnTo>
                    <a:pt x="0" y="0"/>
                  </a:lnTo>
                  <a:lnTo>
                    <a:pt x="1904408" y="2740491"/>
                  </a:lnTo>
                  <a:lnTo>
                    <a:pt x="1277154" y="2602227"/>
                  </a:lnTo>
                  <a:close/>
                </a:path>
              </a:pathLst>
            </a:custGeom>
            <a:solidFill>
              <a:srgbClr val="BCC6E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03F200E2-107B-DEE0-D28E-C4E28BC30F40}"/>
                </a:ext>
              </a:extLst>
            </p:cNvPr>
            <p:cNvCxnSpPr>
              <a:cxnSpLocks/>
            </p:cNvCxnSpPr>
            <p:nvPr/>
          </p:nvCxnSpPr>
          <p:spPr>
            <a:xfrm>
              <a:off x="3835400" y="2508250"/>
              <a:ext cx="450850" cy="3325813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recto 14">
              <a:extLst>
                <a:ext uri="{FF2B5EF4-FFF2-40B4-BE49-F238E27FC236}">
                  <a16:creationId xmlns:a16="http://schemas.microsoft.com/office/drawing/2014/main" id="{56D53372-91AE-6038-DA67-C478A0322CD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65487" y="2508250"/>
              <a:ext cx="569913" cy="3325813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recto 17">
              <a:extLst>
                <a:ext uri="{FF2B5EF4-FFF2-40B4-BE49-F238E27FC236}">
                  <a16:creationId xmlns:a16="http://schemas.microsoft.com/office/drawing/2014/main" id="{ED7C2301-3350-E332-22B0-2B71070FC11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14650" y="2508250"/>
              <a:ext cx="920750" cy="278526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ector recto 21">
              <a:extLst>
                <a:ext uri="{FF2B5EF4-FFF2-40B4-BE49-F238E27FC236}">
                  <a16:creationId xmlns:a16="http://schemas.microsoft.com/office/drawing/2014/main" id="{C4375430-A737-2DB3-4D26-06B2C462583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35273" y="2508249"/>
              <a:ext cx="793877" cy="2768601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ector recto 25">
              <a:extLst>
                <a:ext uri="{FF2B5EF4-FFF2-40B4-BE49-F238E27FC236}">
                  <a16:creationId xmlns:a16="http://schemas.microsoft.com/office/drawing/2014/main" id="{A25EC0C1-65F1-1B49-3C8F-0F09D3D125F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86250" y="5276850"/>
              <a:ext cx="342900" cy="557213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ector recto 31">
              <a:extLst>
                <a:ext uri="{FF2B5EF4-FFF2-40B4-BE49-F238E27FC236}">
                  <a16:creationId xmlns:a16="http://schemas.microsoft.com/office/drawing/2014/main" id="{D6F011B2-9F56-64C1-12C6-C840F4D053A7}"/>
                </a:ext>
              </a:extLst>
            </p:cNvPr>
            <p:cNvCxnSpPr>
              <a:cxnSpLocks/>
            </p:cNvCxnSpPr>
            <p:nvPr/>
          </p:nvCxnSpPr>
          <p:spPr>
            <a:xfrm>
              <a:off x="2914650" y="5293519"/>
              <a:ext cx="350837" cy="540544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ector recto 34">
              <a:extLst>
                <a:ext uri="{FF2B5EF4-FFF2-40B4-BE49-F238E27FC236}">
                  <a16:creationId xmlns:a16="http://schemas.microsoft.com/office/drawing/2014/main" id="{251B300D-C9FE-4DDA-D78A-03F80E883F73}"/>
                </a:ext>
              </a:extLst>
            </p:cNvPr>
            <p:cNvCxnSpPr>
              <a:cxnSpLocks/>
            </p:cNvCxnSpPr>
            <p:nvPr/>
          </p:nvCxnSpPr>
          <p:spPr>
            <a:xfrm>
              <a:off x="3261519" y="5834063"/>
              <a:ext cx="1024731" cy="0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ector recto 37">
              <a:extLst>
                <a:ext uri="{FF2B5EF4-FFF2-40B4-BE49-F238E27FC236}">
                  <a16:creationId xmlns:a16="http://schemas.microsoft.com/office/drawing/2014/main" id="{75D4AEF5-CBE3-1A81-74F7-A5E83A75513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14650" y="4952409"/>
              <a:ext cx="920623" cy="341110"/>
            </a:xfrm>
            <a:prstGeom prst="line">
              <a:avLst/>
            </a:prstGeom>
            <a:ln cap="rnd">
              <a:solidFill>
                <a:schemeClr val="tx1"/>
              </a:solidFill>
              <a:prstDash val="dash"/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ector recto 40">
              <a:extLst>
                <a:ext uri="{FF2B5EF4-FFF2-40B4-BE49-F238E27FC236}">
                  <a16:creationId xmlns:a16="http://schemas.microsoft.com/office/drawing/2014/main" id="{5A958FCF-C477-6E28-3E1B-A745A09CE2C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35273" y="4952409"/>
              <a:ext cx="793877" cy="327016"/>
            </a:xfrm>
            <a:prstGeom prst="line">
              <a:avLst/>
            </a:prstGeom>
            <a:ln cap="rnd">
              <a:solidFill>
                <a:schemeClr val="tx1"/>
              </a:solidFill>
              <a:prstDash val="dash"/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ector recto 45">
              <a:extLst>
                <a:ext uri="{FF2B5EF4-FFF2-40B4-BE49-F238E27FC236}">
                  <a16:creationId xmlns:a16="http://schemas.microsoft.com/office/drawing/2014/main" id="{A07BF5EE-4023-2ECE-021E-3CBBA9508137}"/>
                </a:ext>
              </a:extLst>
            </p:cNvPr>
            <p:cNvCxnSpPr>
              <a:cxnSpLocks/>
            </p:cNvCxnSpPr>
            <p:nvPr/>
          </p:nvCxnSpPr>
          <p:spPr>
            <a:xfrm>
              <a:off x="3835273" y="2559844"/>
              <a:ext cx="0" cy="2399002"/>
            </a:xfrm>
            <a:prstGeom prst="line">
              <a:avLst/>
            </a:prstGeom>
            <a:ln cap="rnd">
              <a:solidFill>
                <a:schemeClr val="tx1"/>
              </a:solidFill>
              <a:prstDash val="dash"/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6" name="Grupo 95">
            <a:extLst>
              <a:ext uri="{FF2B5EF4-FFF2-40B4-BE49-F238E27FC236}">
                <a16:creationId xmlns:a16="http://schemas.microsoft.com/office/drawing/2014/main" id="{A0103F71-DEA2-1D84-6EB0-2FA65D1FBB29}"/>
              </a:ext>
            </a:extLst>
          </p:cNvPr>
          <p:cNvGrpSpPr/>
          <p:nvPr/>
        </p:nvGrpSpPr>
        <p:grpSpPr>
          <a:xfrm>
            <a:off x="6836042" y="2308326"/>
            <a:ext cx="2461972" cy="3325815"/>
            <a:chOff x="5031058" y="2403576"/>
            <a:chExt cx="2461972" cy="3325815"/>
          </a:xfrm>
        </p:grpSpPr>
        <p:sp>
          <p:nvSpPr>
            <p:cNvPr id="64" name="Triángulo isósceles 49">
              <a:extLst>
                <a:ext uri="{FF2B5EF4-FFF2-40B4-BE49-F238E27FC236}">
                  <a16:creationId xmlns:a16="http://schemas.microsoft.com/office/drawing/2014/main" id="{6355495B-CE92-5483-2C44-3DF356DD4251}"/>
                </a:ext>
              </a:extLst>
            </p:cNvPr>
            <p:cNvSpPr/>
            <p:nvPr/>
          </p:nvSpPr>
          <p:spPr>
            <a:xfrm rot="18928796" flipH="1">
              <a:off x="5523625" y="2787377"/>
              <a:ext cx="1969405" cy="2619798"/>
            </a:xfrm>
            <a:custGeom>
              <a:avLst/>
              <a:gdLst>
                <a:gd name="connsiteX0" fmla="*/ 0 w 604837"/>
                <a:gd name="connsiteY0" fmla="*/ 2495549 h 2495549"/>
                <a:gd name="connsiteX1" fmla="*/ 0 w 604837"/>
                <a:gd name="connsiteY1" fmla="*/ 0 h 2495549"/>
                <a:gd name="connsiteX2" fmla="*/ 604837 w 604837"/>
                <a:gd name="connsiteY2" fmla="*/ 2495549 h 2495549"/>
                <a:gd name="connsiteX3" fmla="*/ 0 w 604837"/>
                <a:gd name="connsiteY3" fmla="*/ 2495549 h 2495549"/>
                <a:gd name="connsiteX0" fmla="*/ 1265382 w 1870219"/>
                <a:gd name="connsiteY0" fmla="*/ 2600444 h 2600444"/>
                <a:gd name="connsiteX1" fmla="*/ 0 w 1870219"/>
                <a:gd name="connsiteY1" fmla="*/ 0 h 2600444"/>
                <a:gd name="connsiteX2" fmla="*/ 1870219 w 1870219"/>
                <a:gd name="connsiteY2" fmla="*/ 2600444 h 2600444"/>
                <a:gd name="connsiteX3" fmla="*/ 1265382 w 1870219"/>
                <a:gd name="connsiteY3" fmla="*/ 2600444 h 2600444"/>
                <a:gd name="connsiteX0" fmla="*/ 1265382 w 1892636"/>
                <a:gd name="connsiteY0" fmla="*/ 2600444 h 2738708"/>
                <a:gd name="connsiteX1" fmla="*/ 0 w 1892636"/>
                <a:gd name="connsiteY1" fmla="*/ 0 h 2738708"/>
                <a:gd name="connsiteX2" fmla="*/ 1892636 w 1892636"/>
                <a:gd name="connsiteY2" fmla="*/ 2738708 h 2738708"/>
                <a:gd name="connsiteX3" fmla="*/ 1265382 w 1892636"/>
                <a:gd name="connsiteY3" fmla="*/ 2600444 h 2738708"/>
                <a:gd name="connsiteX0" fmla="*/ 1277154 w 1904408"/>
                <a:gd name="connsiteY0" fmla="*/ 2602227 h 2740491"/>
                <a:gd name="connsiteX1" fmla="*/ 0 w 1904408"/>
                <a:gd name="connsiteY1" fmla="*/ 0 h 2740491"/>
                <a:gd name="connsiteX2" fmla="*/ 1904408 w 1904408"/>
                <a:gd name="connsiteY2" fmla="*/ 2740491 h 2740491"/>
                <a:gd name="connsiteX3" fmla="*/ 1277154 w 1904408"/>
                <a:gd name="connsiteY3" fmla="*/ 2602227 h 2740491"/>
                <a:gd name="connsiteX0" fmla="*/ 1342236 w 1969490"/>
                <a:gd name="connsiteY0" fmla="*/ 2471431 h 2609695"/>
                <a:gd name="connsiteX1" fmla="*/ 0 w 1969490"/>
                <a:gd name="connsiteY1" fmla="*/ 0 h 2609695"/>
                <a:gd name="connsiteX2" fmla="*/ 1969490 w 1969490"/>
                <a:gd name="connsiteY2" fmla="*/ 2609695 h 2609695"/>
                <a:gd name="connsiteX3" fmla="*/ 1342236 w 1969490"/>
                <a:gd name="connsiteY3" fmla="*/ 2471431 h 2609695"/>
                <a:gd name="connsiteX0" fmla="*/ 1338924 w 1969490"/>
                <a:gd name="connsiteY0" fmla="*/ 2464668 h 2609695"/>
                <a:gd name="connsiteX1" fmla="*/ 0 w 1969490"/>
                <a:gd name="connsiteY1" fmla="*/ 0 h 2609695"/>
                <a:gd name="connsiteX2" fmla="*/ 1969490 w 1969490"/>
                <a:gd name="connsiteY2" fmla="*/ 2609695 h 2609695"/>
                <a:gd name="connsiteX3" fmla="*/ 1338924 w 1969490"/>
                <a:gd name="connsiteY3" fmla="*/ 2464668 h 2609695"/>
                <a:gd name="connsiteX0" fmla="*/ 1338924 w 1969405"/>
                <a:gd name="connsiteY0" fmla="*/ 2464668 h 2619798"/>
                <a:gd name="connsiteX1" fmla="*/ 0 w 1969405"/>
                <a:gd name="connsiteY1" fmla="*/ 0 h 2619798"/>
                <a:gd name="connsiteX2" fmla="*/ 1969405 w 1969405"/>
                <a:gd name="connsiteY2" fmla="*/ 2619798 h 2619798"/>
                <a:gd name="connsiteX3" fmla="*/ 1338924 w 1969405"/>
                <a:gd name="connsiteY3" fmla="*/ 2464668 h 2619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69405" h="2619798">
                  <a:moveTo>
                    <a:pt x="1338924" y="2464668"/>
                  </a:moveTo>
                  <a:lnTo>
                    <a:pt x="0" y="0"/>
                  </a:lnTo>
                  <a:lnTo>
                    <a:pt x="1969405" y="2619798"/>
                  </a:lnTo>
                  <a:lnTo>
                    <a:pt x="1338924" y="2464668"/>
                  </a:lnTo>
                  <a:close/>
                </a:path>
              </a:pathLst>
            </a:custGeom>
            <a:solidFill>
              <a:srgbClr val="A5AED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65" name="Triángulo isósceles 64">
              <a:extLst>
                <a:ext uri="{FF2B5EF4-FFF2-40B4-BE49-F238E27FC236}">
                  <a16:creationId xmlns:a16="http://schemas.microsoft.com/office/drawing/2014/main" id="{84A465CC-FE98-8159-3C3F-F0E0DA165D93}"/>
                </a:ext>
              </a:extLst>
            </p:cNvPr>
            <p:cNvSpPr/>
            <p:nvPr/>
          </p:nvSpPr>
          <p:spPr>
            <a:xfrm>
              <a:off x="5709720" y="2440114"/>
              <a:ext cx="1000071" cy="3289277"/>
            </a:xfrm>
            <a:prstGeom prst="triangle">
              <a:avLst>
                <a:gd name="adj" fmla="val 56191"/>
              </a:avLst>
            </a:prstGeom>
            <a:solidFill>
              <a:srgbClr val="B1BAD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66" name="Triángulo isósceles 49">
              <a:extLst>
                <a:ext uri="{FF2B5EF4-FFF2-40B4-BE49-F238E27FC236}">
                  <a16:creationId xmlns:a16="http://schemas.microsoft.com/office/drawing/2014/main" id="{DEF7A6B4-24EF-E012-B043-DADD6EA98A99}"/>
                </a:ext>
              </a:extLst>
            </p:cNvPr>
            <p:cNvSpPr/>
            <p:nvPr/>
          </p:nvSpPr>
          <p:spPr>
            <a:xfrm rot="2671204">
              <a:off x="5031058" y="2707076"/>
              <a:ext cx="1904408" cy="2740491"/>
            </a:xfrm>
            <a:custGeom>
              <a:avLst/>
              <a:gdLst>
                <a:gd name="connsiteX0" fmla="*/ 0 w 604837"/>
                <a:gd name="connsiteY0" fmla="*/ 2495549 h 2495549"/>
                <a:gd name="connsiteX1" fmla="*/ 0 w 604837"/>
                <a:gd name="connsiteY1" fmla="*/ 0 h 2495549"/>
                <a:gd name="connsiteX2" fmla="*/ 604837 w 604837"/>
                <a:gd name="connsiteY2" fmla="*/ 2495549 h 2495549"/>
                <a:gd name="connsiteX3" fmla="*/ 0 w 604837"/>
                <a:gd name="connsiteY3" fmla="*/ 2495549 h 2495549"/>
                <a:gd name="connsiteX0" fmla="*/ 1265382 w 1870219"/>
                <a:gd name="connsiteY0" fmla="*/ 2600444 h 2600444"/>
                <a:gd name="connsiteX1" fmla="*/ 0 w 1870219"/>
                <a:gd name="connsiteY1" fmla="*/ 0 h 2600444"/>
                <a:gd name="connsiteX2" fmla="*/ 1870219 w 1870219"/>
                <a:gd name="connsiteY2" fmla="*/ 2600444 h 2600444"/>
                <a:gd name="connsiteX3" fmla="*/ 1265382 w 1870219"/>
                <a:gd name="connsiteY3" fmla="*/ 2600444 h 2600444"/>
                <a:gd name="connsiteX0" fmla="*/ 1265382 w 1892636"/>
                <a:gd name="connsiteY0" fmla="*/ 2600444 h 2738708"/>
                <a:gd name="connsiteX1" fmla="*/ 0 w 1892636"/>
                <a:gd name="connsiteY1" fmla="*/ 0 h 2738708"/>
                <a:gd name="connsiteX2" fmla="*/ 1892636 w 1892636"/>
                <a:gd name="connsiteY2" fmla="*/ 2738708 h 2738708"/>
                <a:gd name="connsiteX3" fmla="*/ 1265382 w 1892636"/>
                <a:gd name="connsiteY3" fmla="*/ 2600444 h 2738708"/>
                <a:gd name="connsiteX0" fmla="*/ 1277154 w 1904408"/>
                <a:gd name="connsiteY0" fmla="*/ 2602227 h 2740491"/>
                <a:gd name="connsiteX1" fmla="*/ 0 w 1904408"/>
                <a:gd name="connsiteY1" fmla="*/ 0 h 2740491"/>
                <a:gd name="connsiteX2" fmla="*/ 1904408 w 1904408"/>
                <a:gd name="connsiteY2" fmla="*/ 2740491 h 2740491"/>
                <a:gd name="connsiteX3" fmla="*/ 1277154 w 1904408"/>
                <a:gd name="connsiteY3" fmla="*/ 2602227 h 2740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4408" h="2740491">
                  <a:moveTo>
                    <a:pt x="1277154" y="2602227"/>
                  </a:moveTo>
                  <a:lnTo>
                    <a:pt x="0" y="0"/>
                  </a:lnTo>
                  <a:lnTo>
                    <a:pt x="1904408" y="2740491"/>
                  </a:lnTo>
                  <a:lnTo>
                    <a:pt x="1277154" y="2602227"/>
                  </a:lnTo>
                  <a:close/>
                </a:path>
              </a:pathLst>
            </a:custGeom>
            <a:solidFill>
              <a:srgbClr val="BCC6E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95" name="Triángulo isósceles 94">
              <a:extLst>
                <a:ext uri="{FF2B5EF4-FFF2-40B4-BE49-F238E27FC236}">
                  <a16:creationId xmlns:a16="http://schemas.microsoft.com/office/drawing/2014/main" id="{000BF7A9-A182-F1F2-7835-2FB9E4E7CE51}"/>
                </a:ext>
              </a:extLst>
            </p:cNvPr>
            <p:cNvSpPr/>
            <p:nvPr/>
          </p:nvSpPr>
          <p:spPr>
            <a:xfrm rot="21079202">
              <a:off x="5319658" y="2543052"/>
              <a:ext cx="1174235" cy="2825065"/>
            </a:xfrm>
            <a:custGeom>
              <a:avLst/>
              <a:gdLst>
                <a:gd name="connsiteX0" fmla="*/ 0 w 766423"/>
                <a:gd name="connsiteY0" fmla="*/ 2757246 h 2757246"/>
                <a:gd name="connsiteX1" fmla="*/ 766423 w 766423"/>
                <a:gd name="connsiteY1" fmla="*/ 0 h 2757246"/>
                <a:gd name="connsiteX2" fmla="*/ 766423 w 766423"/>
                <a:gd name="connsiteY2" fmla="*/ 2757246 h 2757246"/>
                <a:gd name="connsiteX3" fmla="*/ 0 w 766423"/>
                <a:gd name="connsiteY3" fmla="*/ 2757246 h 2757246"/>
                <a:gd name="connsiteX0" fmla="*/ 0 w 766423"/>
                <a:gd name="connsiteY0" fmla="*/ 2757246 h 2757246"/>
                <a:gd name="connsiteX1" fmla="*/ 766423 w 766423"/>
                <a:gd name="connsiteY1" fmla="*/ 0 h 2757246"/>
                <a:gd name="connsiteX2" fmla="*/ 733359 w 766423"/>
                <a:gd name="connsiteY2" fmla="*/ 2658255 h 2757246"/>
                <a:gd name="connsiteX3" fmla="*/ 0 w 766423"/>
                <a:gd name="connsiteY3" fmla="*/ 2757246 h 2757246"/>
                <a:gd name="connsiteX0" fmla="*/ 0 w 766423"/>
                <a:gd name="connsiteY0" fmla="*/ 2757246 h 2757246"/>
                <a:gd name="connsiteX1" fmla="*/ 766423 w 766423"/>
                <a:gd name="connsiteY1" fmla="*/ 0 h 2757246"/>
                <a:gd name="connsiteX2" fmla="*/ 739936 w 766423"/>
                <a:gd name="connsiteY2" fmla="*/ 2709844 h 2757246"/>
                <a:gd name="connsiteX3" fmla="*/ 0 w 766423"/>
                <a:gd name="connsiteY3" fmla="*/ 2757246 h 2757246"/>
                <a:gd name="connsiteX0" fmla="*/ 0 w 1152367"/>
                <a:gd name="connsiteY0" fmla="*/ 2792271 h 2792271"/>
                <a:gd name="connsiteX1" fmla="*/ 1152367 w 1152367"/>
                <a:gd name="connsiteY1" fmla="*/ 0 h 2792271"/>
                <a:gd name="connsiteX2" fmla="*/ 739936 w 1152367"/>
                <a:gd name="connsiteY2" fmla="*/ 2744869 h 2792271"/>
                <a:gd name="connsiteX3" fmla="*/ 0 w 1152367"/>
                <a:gd name="connsiteY3" fmla="*/ 2792271 h 2792271"/>
                <a:gd name="connsiteX0" fmla="*/ 0 w 1146186"/>
                <a:gd name="connsiteY0" fmla="*/ 2814894 h 2814894"/>
                <a:gd name="connsiteX1" fmla="*/ 1146186 w 1146186"/>
                <a:gd name="connsiteY1" fmla="*/ 0 h 2814894"/>
                <a:gd name="connsiteX2" fmla="*/ 739936 w 1146186"/>
                <a:gd name="connsiteY2" fmla="*/ 2767492 h 2814894"/>
                <a:gd name="connsiteX3" fmla="*/ 0 w 1146186"/>
                <a:gd name="connsiteY3" fmla="*/ 2814894 h 2814894"/>
                <a:gd name="connsiteX0" fmla="*/ 0 w 1156680"/>
                <a:gd name="connsiteY0" fmla="*/ 2820518 h 2820518"/>
                <a:gd name="connsiteX1" fmla="*/ 1156680 w 1156680"/>
                <a:gd name="connsiteY1" fmla="*/ 0 h 2820518"/>
                <a:gd name="connsiteX2" fmla="*/ 739936 w 1156680"/>
                <a:gd name="connsiteY2" fmla="*/ 2773116 h 2820518"/>
                <a:gd name="connsiteX3" fmla="*/ 0 w 1156680"/>
                <a:gd name="connsiteY3" fmla="*/ 2820518 h 2820518"/>
                <a:gd name="connsiteX0" fmla="*/ 0 w 1181297"/>
                <a:gd name="connsiteY0" fmla="*/ 2823987 h 2823987"/>
                <a:gd name="connsiteX1" fmla="*/ 1181297 w 1181297"/>
                <a:gd name="connsiteY1" fmla="*/ 0 h 2823987"/>
                <a:gd name="connsiteX2" fmla="*/ 764553 w 1181297"/>
                <a:gd name="connsiteY2" fmla="*/ 2773116 h 2823987"/>
                <a:gd name="connsiteX3" fmla="*/ 0 w 1181297"/>
                <a:gd name="connsiteY3" fmla="*/ 2823987 h 2823987"/>
                <a:gd name="connsiteX0" fmla="*/ 0 w 1174235"/>
                <a:gd name="connsiteY0" fmla="*/ 2825065 h 2825065"/>
                <a:gd name="connsiteX1" fmla="*/ 1174235 w 1174235"/>
                <a:gd name="connsiteY1" fmla="*/ 0 h 2825065"/>
                <a:gd name="connsiteX2" fmla="*/ 757491 w 1174235"/>
                <a:gd name="connsiteY2" fmla="*/ 2773116 h 2825065"/>
                <a:gd name="connsiteX3" fmla="*/ 0 w 1174235"/>
                <a:gd name="connsiteY3" fmla="*/ 2825065 h 2825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4235" h="2825065">
                  <a:moveTo>
                    <a:pt x="0" y="2825065"/>
                  </a:moveTo>
                  <a:lnTo>
                    <a:pt x="1174235" y="0"/>
                  </a:lnTo>
                  <a:lnTo>
                    <a:pt x="757491" y="2773116"/>
                  </a:lnTo>
                  <a:lnTo>
                    <a:pt x="0" y="2825065"/>
                  </a:lnTo>
                  <a:close/>
                </a:path>
              </a:pathLst>
            </a:custGeom>
            <a:solidFill>
              <a:srgbClr val="636EAD">
                <a:alpha val="68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cxnSp>
          <p:nvCxnSpPr>
            <p:cNvPr id="74" name="Conector recto 73">
              <a:extLst>
                <a:ext uri="{FF2B5EF4-FFF2-40B4-BE49-F238E27FC236}">
                  <a16:creationId xmlns:a16="http://schemas.microsoft.com/office/drawing/2014/main" id="{DD860345-76EE-777B-C073-4F53696563A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51265" y="4847736"/>
              <a:ext cx="920623" cy="341110"/>
            </a:xfrm>
            <a:prstGeom prst="line">
              <a:avLst/>
            </a:prstGeom>
            <a:ln cap="rnd">
              <a:solidFill>
                <a:schemeClr val="tx1"/>
              </a:solidFill>
              <a:prstDash val="dash"/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Conector recto 68">
              <a:extLst>
                <a:ext uri="{FF2B5EF4-FFF2-40B4-BE49-F238E27FC236}">
                  <a16:creationId xmlns:a16="http://schemas.microsoft.com/office/drawing/2014/main" id="{AA02FD70-EBA6-4B7D-3FD8-ED13C8FDB7D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51265" y="2403577"/>
              <a:ext cx="920750" cy="278526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Conector recto 69">
              <a:extLst>
                <a:ext uri="{FF2B5EF4-FFF2-40B4-BE49-F238E27FC236}">
                  <a16:creationId xmlns:a16="http://schemas.microsoft.com/office/drawing/2014/main" id="{5C9A4BD8-F69D-20E9-117F-047E02F1C09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271888" y="2403576"/>
              <a:ext cx="793877" cy="2768601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Conector recto 70">
              <a:extLst>
                <a:ext uri="{FF2B5EF4-FFF2-40B4-BE49-F238E27FC236}">
                  <a16:creationId xmlns:a16="http://schemas.microsoft.com/office/drawing/2014/main" id="{3F6AAF22-4F36-AC28-5057-9B62436A976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22865" y="5172177"/>
              <a:ext cx="342900" cy="557213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Conector recto 71">
              <a:extLst>
                <a:ext uri="{FF2B5EF4-FFF2-40B4-BE49-F238E27FC236}">
                  <a16:creationId xmlns:a16="http://schemas.microsoft.com/office/drawing/2014/main" id="{4E7D02EE-2174-A16B-0D9D-1F4DC4B380F8}"/>
                </a:ext>
              </a:extLst>
            </p:cNvPr>
            <p:cNvCxnSpPr>
              <a:cxnSpLocks/>
            </p:cNvCxnSpPr>
            <p:nvPr/>
          </p:nvCxnSpPr>
          <p:spPr>
            <a:xfrm>
              <a:off x="5351265" y="5188846"/>
              <a:ext cx="350837" cy="540544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Conector recto 72">
              <a:extLst>
                <a:ext uri="{FF2B5EF4-FFF2-40B4-BE49-F238E27FC236}">
                  <a16:creationId xmlns:a16="http://schemas.microsoft.com/office/drawing/2014/main" id="{80DEC6B6-AA89-0E33-B4F5-280D77DA3E09}"/>
                </a:ext>
              </a:extLst>
            </p:cNvPr>
            <p:cNvCxnSpPr>
              <a:cxnSpLocks/>
            </p:cNvCxnSpPr>
            <p:nvPr/>
          </p:nvCxnSpPr>
          <p:spPr>
            <a:xfrm>
              <a:off x="5698134" y="5729390"/>
              <a:ext cx="1024731" cy="0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Conector recto 74">
              <a:extLst>
                <a:ext uri="{FF2B5EF4-FFF2-40B4-BE49-F238E27FC236}">
                  <a16:creationId xmlns:a16="http://schemas.microsoft.com/office/drawing/2014/main" id="{1C68BF2C-B237-BDB2-9469-1838A875233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271888" y="4847736"/>
              <a:ext cx="793877" cy="327016"/>
            </a:xfrm>
            <a:prstGeom prst="line">
              <a:avLst/>
            </a:prstGeom>
            <a:ln cap="rnd">
              <a:solidFill>
                <a:schemeClr val="tx1"/>
              </a:solidFill>
              <a:prstDash val="dash"/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ector recto 76">
              <a:extLst>
                <a:ext uri="{FF2B5EF4-FFF2-40B4-BE49-F238E27FC236}">
                  <a16:creationId xmlns:a16="http://schemas.microsoft.com/office/drawing/2014/main" id="{E3B6C7BC-E333-0B1C-C052-59C4E6210B1F}"/>
                </a:ext>
              </a:extLst>
            </p:cNvPr>
            <p:cNvCxnSpPr>
              <a:cxnSpLocks/>
            </p:cNvCxnSpPr>
            <p:nvPr/>
          </p:nvCxnSpPr>
          <p:spPr>
            <a:xfrm>
              <a:off x="6271887" y="2474671"/>
              <a:ext cx="5280" cy="2790321"/>
            </a:xfrm>
            <a:prstGeom prst="line">
              <a:avLst/>
            </a:prstGeom>
            <a:ln cap="rnd">
              <a:solidFill>
                <a:srgbClr val="284191"/>
              </a:solidFill>
              <a:prstDash val="dash"/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Conector recto 79">
              <a:extLst>
                <a:ext uri="{FF2B5EF4-FFF2-40B4-BE49-F238E27FC236}">
                  <a16:creationId xmlns:a16="http://schemas.microsoft.com/office/drawing/2014/main" id="{DBD14DA6-BC84-24F0-4FEA-662AE0A6D30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69857" y="5269890"/>
              <a:ext cx="707310" cy="163508"/>
            </a:xfrm>
            <a:prstGeom prst="line">
              <a:avLst/>
            </a:prstGeom>
            <a:ln cap="rnd">
              <a:solidFill>
                <a:srgbClr val="284191"/>
              </a:solidFill>
              <a:prstDash val="dash"/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Conector recto 83">
              <a:extLst>
                <a:ext uri="{FF2B5EF4-FFF2-40B4-BE49-F238E27FC236}">
                  <a16:creationId xmlns:a16="http://schemas.microsoft.com/office/drawing/2014/main" id="{79524C33-CBC3-5A05-EEE9-5A92E08289F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37171" y="2474671"/>
              <a:ext cx="734716" cy="2958727"/>
            </a:xfrm>
            <a:prstGeom prst="line">
              <a:avLst/>
            </a:prstGeom>
            <a:ln cap="rnd">
              <a:solidFill>
                <a:srgbClr val="28419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Conector recto 66">
              <a:extLst>
                <a:ext uri="{FF2B5EF4-FFF2-40B4-BE49-F238E27FC236}">
                  <a16:creationId xmlns:a16="http://schemas.microsoft.com/office/drawing/2014/main" id="{2050B016-8D61-F6D1-712C-B4CD7620B286}"/>
                </a:ext>
              </a:extLst>
            </p:cNvPr>
            <p:cNvCxnSpPr>
              <a:cxnSpLocks/>
            </p:cNvCxnSpPr>
            <p:nvPr/>
          </p:nvCxnSpPr>
          <p:spPr>
            <a:xfrm>
              <a:off x="6272015" y="2403577"/>
              <a:ext cx="450850" cy="3325813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Conector recto 67">
              <a:extLst>
                <a:ext uri="{FF2B5EF4-FFF2-40B4-BE49-F238E27FC236}">
                  <a16:creationId xmlns:a16="http://schemas.microsoft.com/office/drawing/2014/main" id="{5C59C757-BDC5-9E65-794D-5FA1836CAE3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02102" y="2403577"/>
              <a:ext cx="569913" cy="3325813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7" name="CuadroTexto 96">
            <a:extLst>
              <a:ext uri="{FF2B5EF4-FFF2-40B4-BE49-F238E27FC236}">
                <a16:creationId xmlns:a16="http://schemas.microsoft.com/office/drawing/2014/main" id="{E64619F2-014C-042D-8FB2-4B7C22F37E63}"/>
              </a:ext>
            </a:extLst>
          </p:cNvPr>
          <p:cNvSpPr txBox="1"/>
          <p:nvPr/>
        </p:nvSpPr>
        <p:spPr>
          <a:xfrm>
            <a:off x="1202724" y="3110770"/>
            <a:ext cx="19098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Caras laterales</a:t>
            </a: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F254015E-7B8C-8BC9-826B-35A252672A2F}"/>
              </a:ext>
            </a:extLst>
          </p:cNvPr>
          <p:cNvGrpSpPr/>
          <p:nvPr/>
        </p:nvGrpSpPr>
        <p:grpSpPr>
          <a:xfrm>
            <a:off x="2343359" y="3465991"/>
            <a:ext cx="1366436" cy="973484"/>
            <a:chOff x="2343359" y="3465991"/>
            <a:chExt cx="1366436" cy="973484"/>
          </a:xfrm>
        </p:grpSpPr>
        <p:cxnSp>
          <p:nvCxnSpPr>
            <p:cNvPr id="99" name="Conector recto 98">
              <a:extLst>
                <a:ext uri="{FF2B5EF4-FFF2-40B4-BE49-F238E27FC236}">
                  <a16:creationId xmlns:a16="http://schemas.microsoft.com/office/drawing/2014/main" id="{66B16342-84E7-6DA0-61C8-7C971F2CAE3C}"/>
                </a:ext>
              </a:extLst>
            </p:cNvPr>
            <p:cNvCxnSpPr>
              <a:cxnSpLocks/>
            </p:cNvCxnSpPr>
            <p:nvPr/>
          </p:nvCxnSpPr>
          <p:spPr>
            <a:xfrm>
              <a:off x="2343359" y="3466277"/>
              <a:ext cx="902953" cy="97319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Conector recto 101">
              <a:extLst>
                <a:ext uri="{FF2B5EF4-FFF2-40B4-BE49-F238E27FC236}">
                  <a16:creationId xmlns:a16="http://schemas.microsoft.com/office/drawing/2014/main" id="{455C1637-8940-44BA-245B-E1AC92728F81}"/>
                </a:ext>
              </a:extLst>
            </p:cNvPr>
            <p:cNvCxnSpPr>
              <a:cxnSpLocks/>
            </p:cNvCxnSpPr>
            <p:nvPr/>
          </p:nvCxnSpPr>
          <p:spPr>
            <a:xfrm>
              <a:off x="2343359" y="3465991"/>
              <a:ext cx="1366436" cy="85414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06" name="Conector recto 105">
            <a:extLst>
              <a:ext uri="{FF2B5EF4-FFF2-40B4-BE49-F238E27FC236}">
                <a16:creationId xmlns:a16="http://schemas.microsoft.com/office/drawing/2014/main" id="{DB2454AA-024D-626F-3329-B583B258C2C0}"/>
              </a:ext>
            </a:extLst>
          </p:cNvPr>
          <p:cNvCxnSpPr>
            <a:cxnSpLocks/>
          </p:cNvCxnSpPr>
          <p:nvPr/>
        </p:nvCxnSpPr>
        <p:spPr>
          <a:xfrm flipV="1">
            <a:off x="3848561" y="2257895"/>
            <a:ext cx="674650" cy="2847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CuadroTexto 109">
            <a:extLst>
              <a:ext uri="{FF2B5EF4-FFF2-40B4-BE49-F238E27FC236}">
                <a16:creationId xmlns:a16="http://schemas.microsoft.com/office/drawing/2014/main" id="{6E95D6D0-58B6-8990-E867-A1BAC35E0A87}"/>
              </a:ext>
            </a:extLst>
          </p:cNvPr>
          <p:cNvSpPr txBox="1"/>
          <p:nvPr/>
        </p:nvSpPr>
        <p:spPr>
          <a:xfrm>
            <a:off x="4503974" y="2059223"/>
            <a:ext cx="19098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Vértice</a:t>
            </a: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71915EBD-D811-3F2F-4B17-55F71A483F71}"/>
              </a:ext>
            </a:extLst>
          </p:cNvPr>
          <p:cNvGrpSpPr/>
          <p:nvPr/>
        </p:nvGrpSpPr>
        <p:grpSpPr>
          <a:xfrm>
            <a:off x="3756516" y="5345294"/>
            <a:ext cx="766695" cy="621953"/>
            <a:chOff x="3756516" y="5345294"/>
            <a:chExt cx="766695" cy="621953"/>
          </a:xfrm>
        </p:grpSpPr>
        <p:cxnSp>
          <p:nvCxnSpPr>
            <p:cNvPr id="112" name="Conector recto 111">
              <a:extLst>
                <a:ext uri="{FF2B5EF4-FFF2-40B4-BE49-F238E27FC236}">
                  <a16:creationId xmlns:a16="http://schemas.microsoft.com/office/drawing/2014/main" id="{F4A141FA-FEAD-8CB8-C529-68335FFEA5BB}"/>
                </a:ext>
              </a:extLst>
            </p:cNvPr>
            <p:cNvCxnSpPr/>
            <p:nvPr/>
          </p:nvCxnSpPr>
          <p:spPr>
            <a:xfrm>
              <a:off x="3756516" y="5345294"/>
              <a:ext cx="0" cy="618778"/>
            </a:xfrm>
            <a:prstGeom prst="line">
              <a:avLst/>
            </a:prstGeom>
            <a:ln cap="rnd">
              <a:solidFill>
                <a:schemeClr val="tx1"/>
              </a:solidFill>
              <a:round/>
              <a:headEnd type="triangl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Conector recto 113">
              <a:extLst>
                <a:ext uri="{FF2B5EF4-FFF2-40B4-BE49-F238E27FC236}">
                  <a16:creationId xmlns:a16="http://schemas.microsoft.com/office/drawing/2014/main" id="{AD77B824-A342-2C82-5674-1AF8D96D7199}"/>
                </a:ext>
              </a:extLst>
            </p:cNvPr>
            <p:cNvCxnSpPr>
              <a:cxnSpLocks/>
            </p:cNvCxnSpPr>
            <p:nvPr/>
          </p:nvCxnSpPr>
          <p:spPr>
            <a:xfrm>
              <a:off x="3756516" y="5967247"/>
              <a:ext cx="766695" cy="0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6" name="CuadroTexto 115">
            <a:extLst>
              <a:ext uri="{FF2B5EF4-FFF2-40B4-BE49-F238E27FC236}">
                <a16:creationId xmlns:a16="http://schemas.microsoft.com/office/drawing/2014/main" id="{1019772D-EA36-F790-E149-9F1F935DB097}"/>
              </a:ext>
            </a:extLst>
          </p:cNvPr>
          <p:cNvSpPr txBox="1"/>
          <p:nvPr/>
        </p:nvSpPr>
        <p:spPr>
          <a:xfrm>
            <a:off x="4523211" y="5758482"/>
            <a:ext cx="8761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Base</a:t>
            </a:r>
          </a:p>
        </p:txBody>
      </p:sp>
      <p:cxnSp>
        <p:nvCxnSpPr>
          <p:cNvPr id="117" name="Conector recto 116">
            <a:extLst>
              <a:ext uri="{FF2B5EF4-FFF2-40B4-BE49-F238E27FC236}">
                <a16:creationId xmlns:a16="http://schemas.microsoft.com/office/drawing/2014/main" id="{29125A81-4162-DD3A-6F93-9A043697A54F}"/>
              </a:ext>
            </a:extLst>
          </p:cNvPr>
          <p:cNvCxnSpPr>
            <a:cxnSpLocks/>
          </p:cNvCxnSpPr>
          <p:nvPr/>
        </p:nvCxnSpPr>
        <p:spPr>
          <a:xfrm flipV="1">
            <a:off x="8087969" y="3966549"/>
            <a:ext cx="674650" cy="2847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CuadroTexto 117">
            <a:extLst>
              <a:ext uri="{FF2B5EF4-FFF2-40B4-BE49-F238E27FC236}">
                <a16:creationId xmlns:a16="http://schemas.microsoft.com/office/drawing/2014/main" id="{47E79A1E-26A3-27C9-D529-54B13BA045D5}"/>
              </a:ext>
            </a:extLst>
          </p:cNvPr>
          <p:cNvSpPr txBox="1"/>
          <p:nvPr/>
        </p:nvSpPr>
        <p:spPr>
          <a:xfrm>
            <a:off x="8743382" y="3767877"/>
            <a:ext cx="19098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Altura</a:t>
            </a:r>
          </a:p>
        </p:txBody>
      </p:sp>
      <p:sp>
        <p:nvSpPr>
          <p:cNvPr id="119" name="CuadroTexto 118">
            <a:extLst>
              <a:ext uri="{FF2B5EF4-FFF2-40B4-BE49-F238E27FC236}">
                <a16:creationId xmlns:a16="http://schemas.microsoft.com/office/drawing/2014/main" id="{66DE797E-F5A0-CDA1-BB16-FC7B47726BE3}"/>
              </a:ext>
            </a:extLst>
          </p:cNvPr>
          <p:cNvSpPr txBox="1"/>
          <p:nvPr/>
        </p:nvSpPr>
        <p:spPr>
          <a:xfrm>
            <a:off x="5485798" y="2940330"/>
            <a:ext cx="19098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Apotema de la pirámide</a:t>
            </a:r>
          </a:p>
        </p:txBody>
      </p:sp>
      <p:cxnSp>
        <p:nvCxnSpPr>
          <p:cNvPr id="120" name="Conector recto 119">
            <a:extLst>
              <a:ext uri="{FF2B5EF4-FFF2-40B4-BE49-F238E27FC236}">
                <a16:creationId xmlns:a16="http://schemas.microsoft.com/office/drawing/2014/main" id="{9DC7E491-170C-ECB5-2782-DF1099BD6442}"/>
              </a:ext>
            </a:extLst>
          </p:cNvPr>
          <p:cNvCxnSpPr>
            <a:cxnSpLocks/>
          </p:cNvCxnSpPr>
          <p:nvPr/>
        </p:nvCxnSpPr>
        <p:spPr>
          <a:xfrm>
            <a:off x="6751222" y="3429000"/>
            <a:ext cx="852763" cy="8651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Arco 120">
            <a:extLst>
              <a:ext uri="{FF2B5EF4-FFF2-40B4-BE49-F238E27FC236}">
                <a16:creationId xmlns:a16="http://schemas.microsoft.com/office/drawing/2014/main" id="{D34BBA88-76E4-1EF1-B709-A942DF76019B}"/>
              </a:ext>
            </a:extLst>
          </p:cNvPr>
          <p:cNvSpPr/>
          <p:nvPr/>
        </p:nvSpPr>
        <p:spPr>
          <a:xfrm>
            <a:off x="7841428" y="4452197"/>
            <a:ext cx="1997271" cy="1373297"/>
          </a:xfrm>
          <a:prstGeom prst="arc">
            <a:avLst>
              <a:gd name="adj1" fmla="val 2248515"/>
              <a:gd name="adj2" fmla="val 10386641"/>
            </a:avLst>
          </a:prstGeom>
          <a:noFill/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2" name="CuadroTexto 121">
            <a:extLst>
              <a:ext uri="{FF2B5EF4-FFF2-40B4-BE49-F238E27FC236}">
                <a16:creationId xmlns:a16="http://schemas.microsoft.com/office/drawing/2014/main" id="{5088F779-65EA-626E-C881-7A1D8FAEF79E}"/>
              </a:ext>
            </a:extLst>
          </p:cNvPr>
          <p:cNvSpPr txBox="1"/>
          <p:nvPr/>
        </p:nvSpPr>
        <p:spPr>
          <a:xfrm>
            <a:off x="8832050" y="5251466"/>
            <a:ext cx="17630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dirty="0"/>
              <a:t>Apotema de la base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948256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3625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4125"/>
                            </p:stCondLst>
                            <p:childTnLst>
                              <p:par>
                                <p:cTn id="1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4625"/>
                            </p:stCondLst>
                            <p:childTnLst>
                              <p:par>
                                <p:cTn id="22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625"/>
                            </p:stCondLst>
                            <p:childTnLst>
                              <p:par>
                                <p:cTn id="2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6125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6625"/>
                            </p:stCondLst>
                            <p:childTnLst>
                              <p:par>
                                <p:cTn id="3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7125"/>
                            </p:stCondLst>
                            <p:childTnLst>
                              <p:par>
                                <p:cTn id="4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000"/>
                            </p:stCondLst>
                            <p:childTnLst>
                              <p:par>
                                <p:cTn id="5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9" dur="10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2000"/>
                            </p:stCondLst>
                            <p:childTnLst>
                              <p:par>
                                <p:cTn id="6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2500"/>
                            </p:stCondLst>
                            <p:childTnLst>
                              <p:par>
                                <p:cTn id="6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9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3000"/>
                            </p:stCondLst>
                            <p:childTnLst>
                              <p:par>
                                <p:cTn id="7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3500"/>
                            </p:stCondLst>
                            <p:childTnLst>
                              <p:par>
                                <p:cTn id="7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4" grpId="0"/>
      <p:bldP spid="97" grpId="0"/>
      <p:bldP spid="110" grpId="0"/>
      <p:bldP spid="116" grpId="0"/>
      <p:bldP spid="118" grpId="0"/>
      <p:bldP spid="119" grpId="0"/>
      <p:bldP spid="121" grpId="0" animBg="1"/>
      <p:bldP spid="12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9: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Cuerpos Geométricos</a:t>
            </a:r>
          </a:p>
        </p:txBody>
      </p:sp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1"/>
            <a:ext cx="11121832" cy="722461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56258"/>
            <a:ext cx="11121832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ES" sz="2000" b="1" dirty="0"/>
              <a:t>Una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pirámide</a:t>
            </a:r>
            <a:r>
              <a:rPr lang="es-ES" sz="2000" b="1" dirty="0"/>
              <a:t> es un poliedro que tiene por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base</a:t>
            </a:r>
            <a:r>
              <a:rPr lang="es-ES" sz="2000" b="1" dirty="0"/>
              <a:t> un polígono cualquiera, y por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caras laterales</a:t>
            </a:r>
            <a:r>
              <a:rPr lang="es-ES" sz="2000" b="1" dirty="0"/>
              <a:t>, triángulos con un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vértice</a:t>
            </a:r>
            <a:r>
              <a:rPr lang="es-ES" sz="2000" b="1" dirty="0"/>
              <a:t> común, que se llama vértice de la pirámide.</a:t>
            </a:r>
            <a:endParaRPr lang="es-ES" sz="28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55" name="Grupo 54">
            <a:extLst>
              <a:ext uri="{FF2B5EF4-FFF2-40B4-BE49-F238E27FC236}">
                <a16:creationId xmlns:a16="http://schemas.microsoft.com/office/drawing/2014/main" id="{F41D7F43-9349-F1CD-EDC3-E8B8884E08EA}"/>
              </a:ext>
            </a:extLst>
          </p:cNvPr>
          <p:cNvGrpSpPr/>
          <p:nvPr/>
        </p:nvGrpSpPr>
        <p:grpSpPr>
          <a:xfrm>
            <a:off x="2548118" y="2300609"/>
            <a:ext cx="2461972" cy="3325815"/>
            <a:chOff x="2594443" y="2508249"/>
            <a:chExt cx="2461972" cy="3325815"/>
          </a:xfrm>
        </p:grpSpPr>
        <p:sp>
          <p:nvSpPr>
            <p:cNvPr id="54" name="Triángulo isósceles 49">
              <a:extLst>
                <a:ext uri="{FF2B5EF4-FFF2-40B4-BE49-F238E27FC236}">
                  <a16:creationId xmlns:a16="http://schemas.microsoft.com/office/drawing/2014/main" id="{54FBCF7E-9307-0D20-377E-E9610EE20B9C}"/>
                </a:ext>
              </a:extLst>
            </p:cNvPr>
            <p:cNvSpPr/>
            <p:nvPr/>
          </p:nvSpPr>
          <p:spPr>
            <a:xfrm rot="18928796" flipH="1">
              <a:off x="3087010" y="2892050"/>
              <a:ext cx="1969405" cy="2619798"/>
            </a:xfrm>
            <a:custGeom>
              <a:avLst/>
              <a:gdLst>
                <a:gd name="connsiteX0" fmla="*/ 0 w 604837"/>
                <a:gd name="connsiteY0" fmla="*/ 2495549 h 2495549"/>
                <a:gd name="connsiteX1" fmla="*/ 0 w 604837"/>
                <a:gd name="connsiteY1" fmla="*/ 0 h 2495549"/>
                <a:gd name="connsiteX2" fmla="*/ 604837 w 604837"/>
                <a:gd name="connsiteY2" fmla="*/ 2495549 h 2495549"/>
                <a:gd name="connsiteX3" fmla="*/ 0 w 604837"/>
                <a:gd name="connsiteY3" fmla="*/ 2495549 h 2495549"/>
                <a:gd name="connsiteX0" fmla="*/ 1265382 w 1870219"/>
                <a:gd name="connsiteY0" fmla="*/ 2600444 h 2600444"/>
                <a:gd name="connsiteX1" fmla="*/ 0 w 1870219"/>
                <a:gd name="connsiteY1" fmla="*/ 0 h 2600444"/>
                <a:gd name="connsiteX2" fmla="*/ 1870219 w 1870219"/>
                <a:gd name="connsiteY2" fmla="*/ 2600444 h 2600444"/>
                <a:gd name="connsiteX3" fmla="*/ 1265382 w 1870219"/>
                <a:gd name="connsiteY3" fmla="*/ 2600444 h 2600444"/>
                <a:gd name="connsiteX0" fmla="*/ 1265382 w 1892636"/>
                <a:gd name="connsiteY0" fmla="*/ 2600444 h 2738708"/>
                <a:gd name="connsiteX1" fmla="*/ 0 w 1892636"/>
                <a:gd name="connsiteY1" fmla="*/ 0 h 2738708"/>
                <a:gd name="connsiteX2" fmla="*/ 1892636 w 1892636"/>
                <a:gd name="connsiteY2" fmla="*/ 2738708 h 2738708"/>
                <a:gd name="connsiteX3" fmla="*/ 1265382 w 1892636"/>
                <a:gd name="connsiteY3" fmla="*/ 2600444 h 2738708"/>
                <a:gd name="connsiteX0" fmla="*/ 1277154 w 1904408"/>
                <a:gd name="connsiteY0" fmla="*/ 2602227 h 2740491"/>
                <a:gd name="connsiteX1" fmla="*/ 0 w 1904408"/>
                <a:gd name="connsiteY1" fmla="*/ 0 h 2740491"/>
                <a:gd name="connsiteX2" fmla="*/ 1904408 w 1904408"/>
                <a:gd name="connsiteY2" fmla="*/ 2740491 h 2740491"/>
                <a:gd name="connsiteX3" fmla="*/ 1277154 w 1904408"/>
                <a:gd name="connsiteY3" fmla="*/ 2602227 h 2740491"/>
                <a:gd name="connsiteX0" fmla="*/ 1342236 w 1969490"/>
                <a:gd name="connsiteY0" fmla="*/ 2471431 h 2609695"/>
                <a:gd name="connsiteX1" fmla="*/ 0 w 1969490"/>
                <a:gd name="connsiteY1" fmla="*/ 0 h 2609695"/>
                <a:gd name="connsiteX2" fmla="*/ 1969490 w 1969490"/>
                <a:gd name="connsiteY2" fmla="*/ 2609695 h 2609695"/>
                <a:gd name="connsiteX3" fmla="*/ 1342236 w 1969490"/>
                <a:gd name="connsiteY3" fmla="*/ 2471431 h 2609695"/>
                <a:gd name="connsiteX0" fmla="*/ 1338924 w 1969490"/>
                <a:gd name="connsiteY0" fmla="*/ 2464668 h 2609695"/>
                <a:gd name="connsiteX1" fmla="*/ 0 w 1969490"/>
                <a:gd name="connsiteY1" fmla="*/ 0 h 2609695"/>
                <a:gd name="connsiteX2" fmla="*/ 1969490 w 1969490"/>
                <a:gd name="connsiteY2" fmla="*/ 2609695 h 2609695"/>
                <a:gd name="connsiteX3" fmla="*/ 1338924 w 1969490"/>
                <a:gd name="connsiteY3" fmla="*/ 2464668 h 2609695"/>
                <a:gd name="connsiteX0" fmla="*/ 1338924 w 1969405"/>
                <a:gd name="connsiteY0" fmla="*/ 2464668 h 2619798"/>
                <a:gd name="connsiteX1" fmla="*/ 0 w 1969405"/>
                <a:gd name="connsiteY1" fmla="*/ 0 h 2619798"/>
                <a:gd name="connsiteX2" fmla="*/ 1969405 w 1969405"/>
                <a:gd name="connsiteY2" fmla="*/ 2619798 h 2619798"/>
                <a:gd name="connsiteX3" fmla="*/ 1338924 w 1969405"/>
                <a:gd name="connsiteY3" fmla="*/ 2464668 h 2619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69405" h="2619798">
                  <a:moveTo>
                    <a:pt x="1338924" y="2464668"/>
                  </a:moveTo>
                  <a:lnTo>
                    <a:pt x="0" y="0"/>
                  </a:lnTo>
                  <a:lnTo>
                    <a:pt x="1969405" y="2619798"/>
                  </a:lnTo>
                  <a:lnTo>
                    <a:pt x="1338924" y="2464668"/>
                  </a:lnTo>
                  <a:close/>
                </a:path>
              </a:pathLst>
            </a:custGeom>
            <a:solidFill>
              <a:srgbClr val="A5AED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53" name="Triángulo isósceles 52">
              <a:extLst>
                <a:ext uri="{FF2B5EF4-FFF2-40B4-BE49-F238E27FC236}">
                  <a16:creationId xmlns:a16="http://schemas.microsoft.com/office/drawing/2014/main" id="{ED91FA6B-D3B2-7D38-F775-F0DB06E7D3A4}"/>
                </a:ext>
              </a:extLst>
            </p:cNvPr>
            <p:cNvSpPr/>
            <p:nvPr/>
          </p:nvSpPr>
          <p:spPr>
            <a:xfrm>
              <a:off x="3273105" y="2544787"/>
              <a:ext cx="1000071" cy="3289277"/>
            </a:xfrm>
            <a:prstGeom prst="triangle">
              <a:avLst>
                <a:gd name="adj" fmla="val 56191"/>
              </a:avLst>
            </a:prstGeom>
            <a:solidFill>
              <a:srgbClr val="B1BAD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50" name="Triángulo isósceles 49">
              <a:extLst>
                <a:ext uri="{FF2B5EF4-FFF2-40B4-BE49-F238E27FC236}">
                  <a16:creationId xmlns:a16="http://schemas.microsoft.com/office/drawing/2014/main" id="{24844775-BD78-E0E4-F3E8-E669B14E5724}"/>
                </a:ext>
              </a:extLst>
            </p:cNvPr>
            <p:cNvSpPr/>
            <p:nvPr/>
          </p:nvSpPr>
          <p:spPr>
            <a:xfrm rot="2671204">
              <a:off x="2594443" y="2811749"/>
              <a:ext cx="1904408" cy="2740491"/>
            </a:xfrm>
            <a:custGeom>
              <a:avLst/>
              <a:gdLst>
                <a:gd name="connsiteX0" fmla="*/ 0 w 604837"/>
                <a:gd name="connsiteY0" fmla="*/ 2495549 h 2495549"/>
                <a:gd name="connsiteX1" fmla="*/ 0 w 604837"/>
                <a:gd name="connsiteY1" fmla="*/ 0 h 2495549"/>
                <a:gd name="connsiteX2" fmla="*/ 604837 w 604837"/>
                <a:gd name="connsiteY2" fmla="*/ 2495549 h 2495549"/>
                <a:gd name="connsiteX3" fmla="*/ 0 w 604837"/>
                <a:gd name="connsiteY3" fmla="*/ 2495549 h 2495549"/>
                <a:gd name="connsiteX0" fmla="*/ 1265382 w 1870219"/>
                <a:gd name="connsiteY0" fmla="*/ 2600444 h 2600444"/>
                <a:gd name="connsiteX1" fmla="*/ 0 w 1870219"/>
                <a:gd name="connsiteY1" fmla="*/ 0 h 2600444"/>
                <a:gd name="connsiteX2" fmla="*/ 1870219 w 1870219"/>
                <a:gd name="connsiteY2" fmla="*/ 2600444 h 2600444"/>
                <a:gd name="connsiteX3" fmla="*/ 1265382 w 1870219"/>
                <a:gd name="connsiteY3" fmla="*/ 2600444 h 2600444"/>
                <a:gd name="connsiteX0" fmla="*/ 1265382 w 1892636"/>
                <a:gd name="connsiteY0" fmla="*/ 2600444 h 2738708"/>
                <a:gd name="connsiteX1" fmla="*/ 0 w 1892636"/>
                <a:gd name="connsiteY1" fmla="*/ 0 h 2738708"/>
                <a:gd name="connsiteX2" fmla="*/ 1892636 w 1892636"/>
                <a:gd name="connsiteY2" fmla="*/ 2738708 h 2738708"/>
                <a:gd name="connsiteX3" fmla="*/ 1265382 w 1892636"/>
                <a:gd name="connsiteY3" fmla="*/ 2600444 h 2738708"/>
                <a:gd name="connsiteX0" fmla="*/ 1277154 w 1904408"/>
                <a:gd name="connsiteY0" fmla="*/ 2602227 h 2740491"/>
                <a:gd name="connsiteX1" fmla="*/ 0 w 1904408"/>
                <a:gd name="connsiteY1" fmla="*/ 0 h 2740491"/>
                <a:gd name="connsiteX2" fmla="*/ 1904408 w 1904408"/>
                <a:gd name="connsiteY2" fmla="*/ 2740491 h 2740491"/>
                <a:gd name="connsiteX3" fmla="*/ 1277154 w 1904408"/>
                <a:gd name="connsiteY3" fmla="*/ 2602227 h 2740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4408" h="2740491">
                  <a:moveTo>
                    <a:pt x="1277154" y="2602227"/>
                  </a:moveTo>
                  <a:lnTo>
                    <a:pt x="0" y="0"/>
                  </a:lnTo>
                  <a:lnTo>
                    <a:pt x="1904408" y="2740491"/>
                  </a:lnTo>
                  <a:lnTo>
                    <a:pt x="1277154" y="2602227"/>
                  </a:lnTo>
                  <a:close/>
                </a:path>
              </a:pathLst>
            </a:custGeom>
            <a:solidFill>
              <a:srgbClr val="BCC6E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03F200E2-107B-DEE0-D28E-C4E28BC30F40}"/>
                </a:ext>
              </a:extLst>
            </p:cNvPr>
            <p:cNvCxnSpPr>
              <a:cxnSpLocks/>
            </p:cNvCxnSpPr>
            <p:nvPr/>
          </p:nvCxnSpPr>
          <p:spPr>
            <a:xfrm>
              <a:off x="3835400" y="2508250"/>
              <a:ext cx="450850" cy="3325813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recto 14">
              <a:extLst>
                <a:ext uri="{FF2B5EF4-FFF2-40B4-BE49-F238E27FC236}">
                  <a16:creationId xmlns:a16="http://schemas.microsoft.com/office/drawing/2014/main" id="{56D53372-91AE-6038-DA67-C478A0322CD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65487" y="2508250"/>
              <a:ext cx="569913" cy="3325813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recto 17">
              <a:extLst>
                <a:ext uri="{FF2B5EF4-FFF2-40B4-BE49-F238E27FC236}">
                  <a16:creationId xmlns:a16="http://schemas.microsoft.com/office/drawing/2014/main" id="{ED7C2301-3350-E332-22B0-2B71070FC11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14650" y="2508250"/>
              <a:ext cx="920750" cy="278526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ector recto 21">
              <a:extLst>
                <a:ext uri="{FF2B5EF4-FFF2-40B4-BE49-F238E27FC236}">
                  <a16:creationId xmlns:a16="http://schemas.microsoft.com/office/drawing/2014/main" id="{C4375430-A737-2DB3-4D26-06B2C462583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35273" y="2508249"/>
              <a:ext cx="793877" cy="2768601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ector recto 25">
              <a:extLst>
                <a:ext uri="{FF2B5EF4-FFF2-40B4-BE49-F238E27FC236}">
                  <a16:creationId xmlns:a16="http://schemas.microsoft.com/office/drawing/2014/main" id="{A25EC0C1-65F1-1B49-3C8F-0F09D3D125F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86250" y="5276850"/>
              <a:ext cx="342900" cy="557213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ector recto 31">
              <a:extLst>
                <a:ext uri="{FF2B5EF4-FFF2-40B4-BE49-F238E27FC236}">
                  <a16:creationId xmlns:a16="http://schemas.microsoft.com/office/drawing/2014/main" id="{D6F011B2-9F56-64C1-12C6-C840F4D053A7}"/>
                </a:ext>
              </a:extLst>
            </p:cNvPr>
            <p:cNvCxnSpPr>
              <a:cxnSpLocks/>
            </p:cNvCxnSpPr>
            <p:nvPr/>
          </p:nvCxnSpPr>
          <p:spPr>
            <a:xfrm>
              <a:off x="2914650" y="5293519"/>
              <a:ext cx="350837" cy="540544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ector recto 34">
              <a:extLst>
                <a:ext uri="{FF2B5EF4-FFF2-40B4-BE49-F238E27FC236}">
                  <a16:creationId xmlns:a16="http://schemas.microsoft.com/office/drawing/2014/main" id="{251B300D-C9FE-4DDA-D78A-03F80E883F73}"/>
                </a:ext>
              </a:extLst>
            </p:cNvPr>
            <p:cNvCxnSpPr>
              <a:cxnSpLocks/>
            </p:cNvCxnSpPr>
            <p:nvPr/>
          </p:nvCxnSpPr>
          <p:spPr>
            <a:xfrm>
              <a:off x="3261519" y="5834063"/>
              <a:ext cx="1024731" cy="0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ector recto 37">
              <a:extLst>
                <a:ext uri="{FF2B5EF4-FFF2-40B4-BE49-F238E27FC236}">
                  <a16:creationId xmlns:a16="http://schemas.microsoft.com/office/drawing/2014/main" id="{75D4AEF5-CBE3-1A81-74F7-A5E83A75513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14650" y="4952409"/>
              <a:ext cx="920623" cy="341110"/>
            </a:xfrm>
            <a:prstGeom prst="line">
              <a:avLst/>
            </a:prstGeom>
            <a:ln cap="rnd">
              <a:solidFill>
                <a:schemeClr val="tx1"/>
              </a:solidFill>
              <a:prstDash val="dash"/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ector recto 40">
              <a:extLst>
                <a:ext uri="{FF2B5EF4-FFF2-40B4-BE49-F238E27FC236}">
                  <a16:creationId xmlns:a16="http://schemas.microsoft.com/office/drawing/2014/main" id="{5A958FCF-C477-6E28-3E1B-A745A09CE2C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35273" y="4952409"/>
              <a:ext cx="793877" cy="327016"/>
            </a:xfrm>
            <a:prstGeom prst="line">
              <a:avLst/>
            </a:prstGeom>
            <a:ln cap="rnd">
              <a:solidFill>
                <a:schemeClr val="tx1"/>
              </a:solidFill>
              <a:prstDash val="dash"/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ector recto 45">
              <a:extLst>
                <a:ext uri="{FF2B5EF4-FFF2-40B4-BE49-F238E27FC236}">
                  <a16:creationId xmlns:a16="http://schemas.microsoft.com/office/drawing/2014/main" id="{A07BF5EE-4023-2ECE-021E-3CBBA9508137}"/>
                </a:ext>
              </a:extLst>
            </p:cNvPr>
            <p:cNvCxnSpPr>
              <a:cxnSpLocks/>
            </p:cNvCxnSpPr>
            <p:nvPr/>
          </p:nvCxnSpPr>
          <p:spPr>
            <a:xfrm>
              <a:off x="3835273" y="2559844"/>
              <a:ext cx="0" cy="2399002"/>
            </a:xfrm>
            <a:prstGeom prst="line">
              <a:avLst/>
            </a:prstGeom>
            <a:ln cap="rnd">
              <a:solidFill>
                <a:schemeClr val="tx1"/>
              </a:solidFill>
              <a:prstDash val="dash"/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Triángulo isósceles 4">
            <a:extLst>
              <a:ext uri="{FF2B5EF4-FFF2-40B4-BE49-F238E27FC236}">
                <a16:creationId xmlns:a16="http://schemas.microsoft.com/office/drawing/2014/main" id="{F5CBB75F-6EA1-81E0-2491-6DFE918EDC3B}"/>
              </a:ext>
            </a:extLst>
          </p:cNvPr>
          <p:cNvSpPr/>
          <p:nvPr/>
        </p:nvSpPr>
        <p:spPr>
          <a:xfrm rot="4229969">
            <a:off x="7036323" y="1307986"/>
            <a:ext cx="890159" cy="2866047"/>
          </a:xfrm>
          <a:prstGeom prst="triangle">
            <a:avLst>
              <a:gd name="adj" fmla="val 50953"/>
            </a:avLst>
          </a:prstGeom>
          <a:solidFill>
            <a:srgbClr val="BCC6E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Triángulo isósceles 8">
            <a:extLst>
              <a:ext uri="{FF2B5EF4-FFF2-40B4-BE49-F238E27FC236}">
                <a16:creationId xmlns:a16="http://schemas.microsoft.com/office/drawing/2014/main" id="{654FF3D3-D58E-843C-1304-4853786942C3}"/>
              </a:ext>
            </a:extLst>
          </p:cNvPr>
          <p:cNvSpPr/>
          <p:nvPr/>
        </p:nvSpPr>
        <p:spPr>
          <a:xfrm rot="4229969">
            <a:off x="7054054" y="1925396"/>
            <a:ext cx="1279820" cy="2864616"/>
          </a:xfrm>
          <a:custGeom>
            <a:avLst/>
            <a:gdLst>
              <a:gd name="connsiteX0" fmla="*/ 0 w 890159"/>
              <a:gd name="connsiteY0" fmla="*/ 2832237 h 2832237"/>
              <a:gd name="connsiteX1" fmla="*/ 453563 w 890159"/>
              <a:gd name="connsiteY1" fmla="*/ 0 h 2832237"/>
              <a:gd name="connsiteX2" fmla="*/ 890159 w 890159"/>
              <a:gd name="connsiteY2" fmla="*/ 2832237 h 2832237"/>
              <a:gd name="connsiteX3" fmla="*/ 0 w 890159"/>
              <a:gd name="connsiteY3" fmla="*/ 2832237 h 2832237"/>
              <a:gd name="connsiteX0" fmla="*/ 0 w 843013"/>
              <a:gd name="connsiteY0" fmla="*/ 3091444 h 3091444"/>
              <a:gd name="connsiteX1" fmla="*/ 406417 w 843013"/>
              <a:gd name="connsiteY1" fmla="*/ 0 h 3091444"/>
              <a:gd name="connsiteX2" fmla="*/ 843013 w 843013"/>
              <a:gd name="connsiteY2" fmla="*/ 2832237 h 3091444"/>
              <a:gd name="connsiteX3" fmla="*/ 0 w 843013"/>
              <a:gd name="connsiteY3" fmla="*/ 3091444 h 3091444"/>
              <a:gd name="connsiteX0" fmla="*/ 435778 w 1278791"/>
              <a:gd name="connsiteY0" fmla="*/ 2838989 h 2838989"/>
              <a:gd name="connsiteX1" fmla="*/ 0 w 1278791"/>
              <a:gd name="connsiteY1" fmla="*/ 0 h 2838989"/>
              <a:gd name="connsiteX2" fmla="*/ 1278791 w 1278791"/>
              <a:gd name="connsiteY2" fmla="*/ 2579782 h 2838989"/>
              <a:gd name="connsiteX3" fmla="*/ 435778 w 1278791"/>
              <a:gd name="connsiteY3" fmla="*/ 2838989 h 2838989"/>
              <a:gd name="connsiteX0" fmla="*/ 436807 w 1279820"/>
              <a:gd name="connsiteY0" fmla="*/ 2864616 h 2864616"/>
              <a:gd name="connsiteX1" fmla="*/ 0 w 1279820"/>
              <a:gd name="connsiteY1" fmla="*/ 0 h 2864616"/>
              <a:gd name="connsiteX2" fmla="*/ 1279820 w 1279820"/>
              <a:gd name="connsiteY2" fmla="*/ 2605409 h 2864616"/>
              <a:gd name="connsiteX3" fmla="*/ 436807 w 1279820"/>
              <a:gd name="connsiteY3" fmla="*/ 2864616 h 28646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9820" h="2864616">
                <a:moveTo>
                  <a:pt x="436807" y="2864616"/>
                </a:moveTo>
                <a:lnTo>
                  <a:pt x="0" y="0"/>
                </a:lnTo>
                <a:lnTo>
                  <a:pt x="1279820" y="2605409"/>
                </a:lnTo>
                <a:lnTo>
                  <a:pt x="436807" y="2864616"/>
                </a:lnTo>
                <a:close/>
              </a:path>
            </a:pathLst>
          </a:custGeom>
          <a:solidFill>
            <a:srgbClr val="BCC6E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Triángulo isósceles 8">
            <a:extLst>
              <a:ext uri="{FF2B5EF4-FFF2-40B4-BE49-F238E27FC236}">
                <a16:creationId xmlns:a16="http://schemas.microsoft.com/office/drawing/2014/main" id="{4B17AAD9-D3A7-9FE0-7FA9-3CDDE08F4570}"/>
              </a:ext>
            </a:extLst>
          </p:cNvPr>
          <p:cNvSpPr/>
          <p:nvPr/>
        </p:nvSpPr>
        <p:spPr>
          <a:xfrm rot="2903011">
            <a:off x="7570389" y="2190461"/>
            <a:ext cx="1086050" cy="2903444"/>
          </a:xfrm>
          <a:custGeom>
            <a:avLst/>
            <a:gdLst>
              <a:gd name="connsiteX0" fmla="*/ 0 w 890159"/>
              <a:gd name="connsiteY0" fmla="*/ 2832237 h 2832237"/>
              <a:gd name="connsiteX1" fmla="*/ 453563 w 890159"/>
              <a:gd name="connsiteY1" fmla="*/ 0 h 2832237"/>
              <a:gd name="connsiteX2" fmla="*/ 890159 w 890159"/>
              <a:gd name="connsiteY2" fmla="*/ 2832237 h 2832237"/>
              <a:gd name="connsiteX3" fmla="*/ 0 w 890159"/>
              <a:gd name="connsiteY3" fmla="*/ 2832237 h 2832237"/>
              <a:gd name="connsiteX0" fmla="*/ 0 w 843013"/>
              <a:gd name="connsiteY0" fmla="*/ 3091444 h 3091444"/>
              <a:gd name="connsiteX1" fmla="*/ 406417 w 843013"/>
              <a:gd name="connsiteY1" fmla="*/ 0 h 3091444"/>
              <a:gd name="connsiteX2" fmla="*/ 843013 w 843013"/>
              <a:gd name="connsiteY2" fmla="*/ 2832237 h 3091444"/>
              <a:gd name="connsiteX3" fmla="*/ 0 w 843013"/>
              <a:gd name="connsiteY3" fmla="*/ 3091444 h 3091444"/>
              <a:gd name="connsiteX0" fmla="*/ 435778 w 1278791"/>
              <a:gd name="connsiteY0" fmla="*/ 2838989 h 2838989"/>
              <a:gd name="connsiteX1" fmla="*/ 0 w 1278791"/>
              <a:gd name="connsiteY1" fmla="*/ 0 h 2838989"/>
              <a:gd name="connsiteX2" fmla="*/ 1278791 w 1278791"/>
              <a:gd name="connsiteY2" fmla="*/ 2579782 h 2838989"/>
              <a:gd name="connsiteX3" fmla="*/ 435778 w 1278791"/>
              <a:gd name="connsiteY3" fmla="*/ 2838989 h 2838989"/>
              <a:gd name="connsiteX0" fmla="*/ 436807 w 1279820"/>
              <a:gd name="connsiteY0" fmla="*/ 2864616 h 2864616"/>
              <a:gd name="connsiteX1" fmla="*/ 0 w 1279820"/>
              <a:gd name="connsiteY1" fmla="*/ 0 h 2864616"/>
              <a:gd name="connsiteX2" fmla="*/ 1279820 w 1279820"/>
              <a:gd name="connsiteY2" fmla="*/ 2605409 h 2864616"/>
              <a:gd name="connsiteX3" fmla="*/ 436807 w 1279820"/>
              <a:gd name="connsiteY3" fmla="*/ 2864616 h 2864616"/>
              <a:gd name="connsiteX0" fmla="*/ 436807 w 1314837"/>
              <a:gd name="connsiteY0" fmla="*/ 2864616 h 2864616"/>
              <a:gd name="connsiteX1" fmla="*/ 0 w 1314837"/>
              <a:gd name="connsiteY1" fmla="*/ 0 h 2864616"/>
              <a:gd name="connsiteX2" fmla="*/ 1314837 w 1314837"/>
              <a:gd name="connsiteY2" fmla="*/ 2655627 h 2864616"/>
              <a:gd name="connsiteX3" fmla="*/ 436807 w 1314837"/>
              <a:gd name="connsiteY3" fmla="*/ 2864616 h 2864616"/>
              <a:gd name="connsiteX0" fmla="*/ 208020 w 1086050"/>
              <a:gd name="connsiteY0" fmla="*/ 2903444 h 2903444"/>
              <a:gd name="connsiteX1" fmla="*/ 0 w 1086050"/>
              <a:gd name="connsiteY1" fmla="*/ 0 h 2903444"/>
              <a:gd name="connsiteX2" fmla="*/ 1086050 w 1086050"/>
              <a:gd name="connsiteY2" fmla="*/ 2694455 h 2903444"/>
              <a:gd name="connsiteX3" fmla="*/ 208020 w 1086050"/>
              <a:gd name="connsiteY3" fmla="*/ 2903444 h 29034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86050" h="2903444">
                <a:moveTo>
                  <a:pt x="208020" y="2903444"/>
                </a:moveTo>
                <a:lnTo>
                  <a:pt x="0" y="0"/>
                </a:lnTo>
                <a:lnTo>
                  <a:pt x="1086050" y="2694455"/>
                </a:lnTo>
                <a:lnTo>
                  <a:pt x="208020" y="2903444"/>
                </a:lnTo>
                <a:close/>
              </a:path>
            </a:pathLst>
          </a:custGeom>
          <a:solidFill>
            <a:srgbClr val="BCC6E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Triángulo isósceles 8">
            <a:extLst>
              <a:ext uri="{FF2B5EF4-FFF2-40B4-BE49-F238E27FC236}">
                <a16:creationId xmlns:a16="http://schemas.microsoft.com/office/drawing/2014/main" id="{4823BFAD-E55A-6824-E71F-64A727436C12}"/>
              </a:ext>
            </a:extLst>
          </p:cNvPr>
          <p:cNvSpPr/>
          <p:nvPr/>
        </p:nvSpPr>
        <p:spPr>
          <a:xfrm rot="1314262">
            <a:off x="8057724" y="2246445"/>
            <a:ext cx="895093" cy="2901130"/>
          </a:xfrm>
          <a:custGeom>
            <a:avLst/>
            <a:gdLst>
              <a:gd name="connsiteX0" fmla="*/ 0 w 890159"/>
              <a:gd name="connsiteY0" fmla="*/ 2832237 h 2832237"/>
              <a:gd name="connsiteX1" fmla="*/ 453563 w 890159"/>
              <a:gd name="connsiteY1" fmla="*/ 0 h 2832237"/>
              <a:gd name="connsiteX2" fmla="*/ 890159 w 890159"/>
              <a:gd name="connsiteY2" fmla="*/ 2832237 h 2832237"/>
              <a:gd name="connsiteX3" fmla="*/ 0 w 890159"/>
              <a:gd name="connsiteY3" fmla="*/ 2832237 h 2832237"/>
              <a:gd name="connsiteX0" fmla="*/ 0 w 843013"/>
              <a:gd name="connsiteY0" fmla="*/ 3091444 h 3091444"/>
              <a:gd name="connsiteX1" fmla="*/ 406417 w 843013"/>
              <a:gd name="connsiteY1" fmla="*/ 0 h 3091444"/>
              <a:gd name="connsiteX2" fmla="*/ 843013 w 843013"/>
              <a:gd name="connsiteY2" fmla="*/ 2832237 h 3091444"/>
              <a:gd name="connsiteX3" fmla="*/ 0 w 843013"/>
              <a:gd name="connsiteY3" fmla="*/ 3091444 h 3091444"/>
              <a:gd name="connsiteX0" fmla="*/ 435778 w 1278791"/>
              <a:gd name="connsiteY0" fmla="*/ 2838989 h 2838989"/>
              <a:gd name="connsiteX1" fmla="*/ 0 w 1278791"/>
              <a:gd name="connsiteY1" fmla="*/ 0 h 2838989"/>
              <a:gd name="connsiteX2" fmla="*/ 1278791 w 1278791"/>
              <a:gd name="connsiteY2" fmla="*/ 2579782 h 2838989"/>
              <a:gd name="connsiteX3" fmla="*/ 435778 w 1278791"/>
              <a:gd name="connsiteY3" fmla="*/ 2838989 h 2838989"/>
              <a:gd name="connsiteX0" fmla="*/ 436807 w 1279820"/>
              <a:gd name="connsiteY0" fmla="*/ 2864616 h 2864616"/>
              <a:gd name="connsiteX1" fmla="*/ 0 w 1279820"/>
              <a:gd name="connsiteY1" fmla="*/ 0 h 2864616"/>
              <a:gd name="connsiteX2" fmla="*/ 1279820 w 1279820"/>
              <a:gd name="connsiteY2" fmla="*/ 2605409 h 2864616"/>
              <a:gd name="connsiteX3" fmla="*/ 436807 w 1279820"/>
              <a:gd name="connsiteY3" fmla="*/ 2864616 h 2864616"/>
              <a:gd name="connsiteX0" fmla="*/ 436807 w 1314837"/>
              <a:gd name="connsiteY0" fmla="*/ 2864616 h 2864616"/>
              <a:gd name="connsiteX1" fmla="*/ 0 w 1314837"/>
              <a:gd name="connsiteY1" fmla="*/ 0 h 2864616"/>
              <a:gd name="connsiteX2" fmla="*/ 1314837 w 1314837"/>
              <a:gd name="connsiteY2" fmla="*/ 2655627 h 2864616"/>
              <a:gd name="connsiteX3" fmla="*/ 436807 w 1314837"/>
              <a:gd name="connsiteY3" fmla="*/ 2864616 h 2864616"/>
              <a:gd name="connsiteX0" fmla="*/ 208020 w 1086050"/>
              <a:gd name="connsiteY0" fmla="*/ 2903444 h 2903444"/>
              <a:gd name="connsiteX1" fmla="*/ 0 w 1086050"/>
              <a:gd name="connsiteY1" fmla="*/ 0 h 2903444"/>
              <a:gd name="connsiteX2" fmla="*/ 1086050 w 1086050"/>
              <a:gd name="connsiteY2" fmla="*/ 2694455 h 2903444"/>
              <a:gd name="connsiteX3" fmla="*/ 208020 w 1086050"/>
              <a:gd name="connsiteY3" fmla="*/ 2903444 h 2903444"/>
              <a:gd name="connsiteX0" fmla="*/ 208020 w 1103113"/>
              <a:gd name="connsiteY0" fmla="*/ 2903444 h 2903444"/>
              <a:gd name="connsiteX1" fmla="*/ 0 w 1103113"/>
              <a:gd name="connsiteY1" fmla="*/ 0 h 2903444"/>
              <a:gd name="connsiteX2" fmla="*/ 1103113 w 1103113"/>
              <a:gd name="connsiteY2" fmla="*/ 2839020 h 2903444"/>
              <a:gd name="connsiteX3" fmla="*/ 208020 w 1103113"/>
              <a:gd name="connsiteY3" fmla="*/ 2903444 h 2903444"/>
              <a:gd name="connsiteX0" fmla="*/ 0 w 895093"/>
              <a:gd name="connsiteY0" fmla="*/ 2901130 h 2901130"/>
              <a:gd name="connsiteX1" fmla="*/ 226655 w 895093"/>
              <a:gd name="connsiteY1" fmla="*/ 0 h 2901130"/>
              <a:gd name="connsiteX2" fmla="*/ 895093 w 895093"/>
              <a:gd name="connsiteY2" fmla="*/ 2836706 h 2901130"/>
              <a:gd name="connsiteX3" fmla="*/ 0 w 895093"/>
              <a:gd name="connsiteY3" fmla="*/ 2901130 h 2901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95093" h="2901130">
                <a:moveTo>
                  <a:pt x="0" y="2901130"/>
                </a:moveTo>
                <a:lnTo>
                  <a:pt x="226655" y="0"/>
                </a:lnTo>
                <a:lnTo>
                  <a:pt x="895093" y="2836706"/>
                </a:lnTo>
                <a:lnTo>
                  <a:pt x="0" y="2901130"/>
                </a:lnTo>
                <a:close/>
              </a:path>
            </a:pathLst>
          </a:custGeom>
          <a:solidFill>
            <a:srgbClr val="BCC6E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Triángulo isósceles 11">
            <a:extLst>
              <a:ext uri="{FF2B5EF4-FFF2-40B4-BE49-F238E27FC236}">
                <a16:creationId xmlns:a16="http://schemas.microsoft.com/office/drawing/2014/main" id="{E996CAE1-0ED3-D88D-0A23-E0C9809E49A5}"/>
              </a:ext>
            </a:extLst>
          </p:cNvPr>
          <p:cNvSpPr/>
          <p:nvPr/>
        </p:nvSpPr>
        <p:spPr>
          <a:xfrm>
            <a:off x="8404297" y="2272065"/>
            <a:ext cx="890159" cy="2878579"/>
          </a:xfrm>
          <a:prstGeom prst="triangle">
            <a:avLst>
              <a:gd name="adj" fmla="val 49081"/>
            </a:avLst>
          </a:prstGeom>
          <a:solidFill>
            <a:srgbClr val="BCC6E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3" name="Pentágono 12">
            <a:extLst>
              <a:ext uri="{FF2B5EF4-FFF2-40B4-BE49-F238E27FC236}">
                <a16:creationId xmlns:a16="http://schemas.microsoft.com/office/drawing/2014/main" id="{3D042C40-858E-D828-DC38-02A9BC42F4C6}"/>
              </a:ext>
            </a:extLst>
          </p:cNvPr>
          <p:cNvSpPr/>
          <p:nvPr/>
        </p:nvSpPr>
        <p:spPr>
          <a:xfrm rot="10800000">
            <a:off x="8133719" y="5153023"/>
            <a:ext cx="1432800" cy="1354629"/>
          </a:xfrm>
          <a:prstGeom prst="pentagon">
            <a:avLst/>
          </a:prstGeom>
          <a:solidFill>
            <a:srgbClr val="BCC6E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54129B2A-8F03-056E-9C0A-9B8AEB9D029F}"/>
              </a:ext>
            </a:extLst>
          </p:cNvPr>
          <p:cNvSpPr/>
          <p:nvPr/>
        </p:nvSpPr>
        <p:spPr>
          <a:xfrm rot="20742914">
            <a:off x="8848770" y="2197509"/>
            <a:ext cx="45719" cy="805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42BF0105-98A4-1C81-1401-7042BCE51A6A}"/>
              </a:ext>
            </a:extLst>
          </p:cNvPr>
          <p:cNvSpPr/>
          <p:nvPr/>
        </p:nvSpPr>
        <p:spPr>
          <a:xfrm rot="16200000">
            <a:off x="8808483" y="2191823"/>
            <a:ext cx="45719" cy="805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Flecha: a la derecha 6">
            <a:extLst>
              <a:ext uri="{FF2B5EF4-FFF2-40B4-BE49-F238E27FC236}">
                <a16:creationId xmlns:a16="http://schemas.microsoft.com/office/drawing/2014/main" id="{29F4D026-1CB8-6138-EF66-E3AA0FA31CE6}"/>
              </a:ext>
            </a:extLst>
          </p:cNvPr>
          <p:cNvSpPr/>
          <p:nvPr/>
        </p:nvSpPr>
        <p:spPr>
          <a:xfrm>
            <a:off x="4930900" y="3847314"/>
            <a:ext cx="968668" cy="268941"/>
          </a:xfrm>
          <a:prstGeom prst="rightArrow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AE6D6F8A-DE75-876B-9669-CB00833D3DD6}"/>
              </a:ext>
            </a:extLst>
          </p:cNvPr>
          <p:cNvSpPr txBox="1"/>
          <p:nvPr/>
        </p:nvSpPr>
        <p:spPr>
          <a:xfrm>
            <a:off x="5810420" y="3110014"/>
            <a:ext cx="365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l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4E09C092-75AA-BE69-3E03-AE7D253863D3}"/>
              </a:ext>
            </a:extLst>
          </p:cNvPr>
          <p:cNvSpPr txBox="1"/>
          <p:nvPr/>
        </p:nvSpPr>
        <p:spPr>
          <a:xfrm>
            <a:off x="6238936" y="3931589"/>
            <a:ext cx="365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l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D836EA70-2BD2-E458-5B56-26A97740BDA6}"/>
              </a:ext>
            </a:extLst>
          </p:cNvPr>
          <p:cNvSpPr txBox="1"/>
          <p:nvPr/>
        </p:nvSpPr>
        <p:spPr>
          <a:xfrm>
            <a:off x="6914720" y="4571732"/>
            <a:ext cx="365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l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0B830990-B3B0-915E-DE9D-C8D9FB7A34D8}"/>
              </a:ext>
            </a:extLst>
          </p:cNvPr>
          <p:cNvSpPr txBox="1"/>
          <p:nvPr/>
        </p:nvSpPr>
        <p:spPr>
          <a:xfrm>
            <a:off x="7720694" y="4975689"/>
            <a:ext cx="365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l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192AD020-B0AE-2EFF-C471-36DDECB55645}"/>
              </a:ext>
            </a:extLst>
          </p:cNvPr>
          <p:cNvSpPr txBox="1"/>
          <p:nvPr/>
        </p:nvSpPr>
        <p:spPr>
          <a:xfrm>
            <a:off x="7964021" y="5289750"/>
            <a:ext cx="365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l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D3CB0BFC-F9E5-C2BE-2A52-1CE66B287C2A}"/>
              </a:ext>
            </a:extLst>
          </p:cNvPr>
          <p:cNvSpPr txBox="1"/>
          <p:nvPr/>
        </p:nvSpPr>
        <p:spPr>
          <a:xfrm>
            <a:off x="8221525" y="6218254"/>
            <a:ext cx="365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l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57E0C102-47B3-6262-65ED-194AC439D17F}"/>
              </a:ext>
            </a:extLst>
          </p:cNvPr>
          <p:cNvSpPr txBox="1"/>
          <p:nvPr/>
        </p:nvSpPr>
        <p:spPr>
          <a:xfrm>
            <a:off x="9096111" y="6218254"/>
            <a:ext cx="365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l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0A984305-AB1B-1C50-2E37-A9AF671749D1}"/>
              </a:ext>
            </a:extLst>
          </p:cNvPr>
          <p:cNvSpPr txBox="1"/>
          <p:nvPr/>
        </p:nvSpPr>
        <p:spPr>
          <a:xfrm>
            <a:off x="9354650" y="5257091"/>
            <a:ext cx="365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l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7EE8887C-FC92-B2BE-2CC5-C1B1086B17EF}"/>
              </a:ext>
            </a:extLst>
          </p:cNvPr>
          <p:cNvSpPr txBox="1"/>
          <p:nvPr/>
        </p:nvSpPr>
        <p:spPr>
          <a:xfrm>
            <a:off x="8672024" y="5145735"/>
            <a:ext cx="365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l</a:t>
            </a:r>
          </a:p>
        </p:txBody>
      </p:sp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0231B602-5C0A-E429-BEDC-0C6195544726}"/>
              </a:ext>
            </a:extLst>
          </p:cNvPr>
          <p:cNvCxnSpPr>
            <a:cxnSpLocks/>
            <a:stCxn id="12" idx="0"/>
            <a:endCxn id="12" idx="3"/>
          </p:cNvCxnSpPr>
          <p:nvPr/>
        </p:nvCxnSpPr>
        <p:spPr>
          <a:xfrm>
            <a:off x="8841196" y="2272065"/>
            <a:ext cx="0" cy="2878579"/>
          </a:xfrm>
          <a:prstGeom prst="line">
            <a:avLst/>
          </a:prstGeom>
          <a:ln cap="rnd">
            <a:solidFill>
              <a:srgbClr val="FF0000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CuadroTexto 33">
            <a:extLst>
              <a:ext uri="{FF2B5EF4-FFF2-40B4-BE49-F238E27FC236}">
                <a16:creationId xmlns:a16="http://schemas.microsoft.com/office/drawing/2014/main" id="{B8B73B65-861B-8444-B1C2-887991CA9288}"/>
              </a:ext>
            </a:extLst>
          </p:cNvPr>
          <p:cNvSpPr txBox="1"/>
          <p:nvPr/>
        </p:nvSpPr>
        <p:spPr>
          <a:xfrm>
            <a:off x="8777058" y="3763149"/>
            <a:ext cx="365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a</a:t>
            </a:r>
          </a:p>
        </p:txBody>
      </p:sp>
      <p:cxnSp>
        <p:nvCxnSpPr>
          <p:cNvPr id="49" name="Conector recto 48">
            <a:extLst>
              <a:ext uri="{FF2B5EF4-FFF2-40B4-BE49-F238E27FC236}">
                <a16:creationId xmlns:a16="http://schemas.microsoft.com/office/drawing/2014/main" id="{CA64F8E9-0533-4100-15A6-2FD1230A64B2}"/>
              </a:ext>
            </a:extLst>
          </p:cNvPr>
          <p:cNvCxnSpPr>
            <a:cxnSpLocks/>
          </p:cNvCxnSpPr>
          <p:nvPr/>
        </p:nvCxnSpPr>
        <p:spPr>
          <a:xfrm flipV="1">
            <a:off x="8849376" y="5572001"/>
            <a:ext cx="583984" cy="18974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Elipse 64">
            <a:extLst>
              <a:ext uri="{FF2B5EF4-FFF2-40B4-BE49-F238E27FC236}">
                <a16:creationId xmlns:a16="http://schemas.microsoft.com/office/drawing/2014/main" id="{5086D831-438F-ED68-DA40-2C05F5866EE9}"/>
              </a:ext>
            </a:extLst>
          </p:cNvPr>
          <p:cNvSpPr/>
          <p:nvPr/>
        </p:nvSpPr>
        <p:spPr>
          <a:xfrm>
            <a:off x="8838485" y="5738889"/>
            <a:ext cx="45719" cy="45719"/>
          </a:xfrm>
          <a:prstGeom prst="ellipse">
            <a:avLst/>
          </a:prstGeom>
          <a:solidFill>
            <a:srgbClr val="EF42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6" name="CuadroTexto 65">
            <a:extLst>
              <a:ext uri="{FF2B5EF4-FFF2-40B4-BE49-F238E27FC236}">
                <a16:creationId xmlns:a16="http://schemas.microsoft.com/office/drawing/2014/main" id="{EDCE4728-152A-6E49-CAC2-6ED35E4F0238}"/>
              </a:ext>
            </a:extLst>
          </p:cNvPr>
          <p:cNvSpPr txBox="1"/>
          <p:nvPr/>
        </p:nvSpPr>
        <p:spPr>
          <a:xfrm>
            <a:off x="8915351" y="5355514"/>
            <a:ext cx="457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a’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19699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"/>
                            </p:stCondLst>
                            <p:childTnLst>
                              <p:par>
                                <p:cTn id="8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  <p:bldP spid="10" grpId="0" animBg="1"/>
      <p:bldP spid="11" grpId="0" animBg="1"/>
      <p:bldP spid="12" grpId="0" animBg="1"/>
      <p:bldP spid="13" grpId="0" animBg="1"/>
      <p:bldP spid="3" grpId="0" animBg="1"/>
      <p:bldP spid="4" grpId="0" animBg="1"/>
      <p:bldP spid="7" grpId="0" animBg="1"/>
      <p:bldP spid="14" grpId="0"/>
      <p:bldP spid="17" grpId="0"/>
      <p:bldP spid="19" grpId="0"/>
      <p:bldP spid="20" grpId="0"/>
      <p:bldP spid="21" grpId="0"/>
      <p:bldP spid="23" grpId="0"/>
      <p:bldP spid="25" grpId="0"/>
      <p:bldP spid="27" grpId="0"/>
      <p:bldP spid="28" grpId="0"/>
      <p:bldP spid="34" grpId="0"/>
      <p:bldP spid="65" grpId="0" animBg="1"/>
      <p:bldP spid="6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9: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Cuerpos Geométricos</a:t>
            </a:r>
          </a:p>
        </p:txBody>
      </p:sp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1"/>
            <a:ext cx="11121832" cy="722461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56258"/>
            <a:ext cx="11121832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ES" sz="2000" b="1" dirty="0"/>
              <a:t>Una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pirámide</a:t>
            </a:r>
            <a:r>
              <a:rPr lang="es-ES" sz="2000" b="1" dirty="0"/>
              <a:t> es un poliedro que tiene por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base</a:t>
            </a:r>
            <a:r>
              <a:rPr lang="es-ES" sz="2000" b="1" dirty="0"/>
              <a:t> un polígono cualquiera, y por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caras laterales</a:t>
            </a:r>
            <a:r>
              <a:rPr lang="es-ES" sz="2000" b="1" dirty="0"/>
              <a:t>, triángulos con un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vértice</a:t>
            </a:r>
            <a:r>
              <a:rPr lang="es-ES" sz="2000" b="1" dirty="0"/>
              <a:t> común, que se llama vértice de la pirámide.</a:t>
            </a:r>
            <a:endParaRPr lang="es-ES" sz="28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Triángulo isósceles 4">
            <a:extLst>
              <a:ext uri="{FF2B5EF4-FFF2-40B4-BE49-F238E27FC236}">
                <a16:creationId xmlns:a16="http://schemas.microsoft.com/office/drawing/2014/main" id="{F5CBB75F-6EA1-81E0-2491-6DFE918EDC3B}"/>
              </a:ext>
            </a:extLst>
          </p:cNvPr>
          <p:cNvSpPr/>
          <p:nvPr/>
        </p:nvSpPr>
        <p:spPr>
          <a:xfrm rot="4229969">
            <a:off x="1168923" y="1098062"/>
            <a:ext cx="890159" cy="2866047"/>
          </a:xfrm>
          <a:prstGeom prst="triangle">
            <a:avLst>
              <a:gd name="adj" fmla="val 50953"/>
            </a:avLst>
          </a:prstGeom>
          <a:solidFill>
            <a:srgbClr val="BCC6E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Triángulo isósceles 8">
            <a:extLst>
              <a:ext uri="{FF2B5EF4-FFF2-40B4-BE49-F238E27FC236}">
                <a16:creationId xmlns:a16="http://schemas.microsoft.com/office/drawing/2014/main" id="{654FF3D3-D58E-843C-1304-4853786942C3}"/>
              </a:ext>
            </a:extLst>
          </p:cNvPr>
          <p:cNvSpPr/>
          <p:nvPr/>
        </p:nvSpPr>
        <p:spPr>
          <a:xfrm rot="4229969">
            <a:off x="1186654" y="1715472"/>
            <a:ext cx="1279820" cy="2864616"/>
          </a:xfrm>
          <a:custGeom>
            <a:avLst/>
            <a:gdLst>
              <a:gd name="connsiteX0" fmla="*/ 0 w 890159"/>
              <a:gd name="connsiteY0" fmla="*/ 2832237 h 2832237"/>
              <a:gd name="connsiteX1" fmla="*/ 453563 w 890159"/>
              <a:gd name="connsiteY1" fmla="*/ 0 h 2832237"/>
              <a:gd name="connsiteX2" fmla="*/ 890159 w 890159"/>
              <a:gd name="connsiteY2" fmla="*/ 2832237 h 2832237"/>
              <a:gd name="connsiteX3" fmla="*/ 0 w 890159"/>
              <a:gd name="connsiteY3" fmla="*/ 2832237 h 2832237"/>
              <a:gd name="connsiteX0" fmla="*/ 0 w 843013"/>
              <a:gd name="connsiteY0" fmla="*/ 3091444 h 3091444"/>
              <a:gd name="connsiteX1" fmla="*/ 406417 w 843013"/>
              <a:gd name="connsiteY1" fmla="*/ 0 h 3091444"/>
              <a:gd name="connsiteX2" fmla="*/ 843013 w 843013"/>
              <a:gd name="connsiteY2" fmla="*/ 2832237 h 3091444"/>
              <a:gd name="connsiteX3" fmla="*/ 0 w 843013"/>
              <a:gd name="connsiteY3" fmla="*/ 3091444 h 3091444"/>
              <a:gd name="connsiteX0" fmla="*/ 435778 w 1278791"/>
              <a:gd name="connsiteY0" fmla="*/ 2838989 h 2838989"/>
              <a:gd name="connsiteX1" fmla="*/ 0 w 1278791"/>
              <a:gd name="connsiteY1" fmla="*/ 0 h 2838989"/>
              <a:gd name="connsiteX2" fmla="*/ 1278791 w 1278791"/>
              <a:gd name="connsiteY2" fmla="*/ 2579782 h 2838989"/>
              <a:gd name="connsiteX3" fmla="*/ 435778 w 1278791"/>
              <a:gd name="connsiteY3" fmla="*/ 2838989 h 2838989"/>
              <a:gd name="connsiteX0" fmla="*/ 436807 w 1279820"/>
              <a:gd name="connsiteY0" fmla="*/ 2864616 h 2864616"/>
              <a:gd name="connsiteX1" fmla="*/ 0 w 1279820"/>
              <a:gd name="connsiteY1" fmla="*/ 0 h 2864616"/>
              <a:gd name="connsiteX2" fmla="*/ 1279820 w 1279820"/>
              <a:gd name="connsiteY2" fmla="*/ 2605409 h 2864616"/>
              <a:gd name="connsiteX3" fmla="*/ 436807 w 1279820"/>
              <a:gd name="connsiteY3" fmla="*/ 2864616 h 28646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9820" h="2864616">
                <a:moveTo>
                  <a:pt x="436807" y="2864616"/>
                </a:moveTo>
                <a:lnTo>
                  <a:pt x="0" y="0"/>
                </a:lnTo>
                <a:lnTo>
                  <a:pt x="1279820" y="2605409"/>
                </a:lnTo>
                <a:lnTo>
                  <a:pt x="436807" y="2864616"/>
                </a:lnTo>
                <a:close/>
              </a:path>
            </a:pathLst>
          </a:custGeom>
          <a:solidFill>
            <a:srgbClr val="BCC6E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Triángulo isósceles 8">
            <a:extLst>
              <a:ext uri="{FF2B5EF4-FFF2-40B4-BE49-F238E27FC236}">
                <a16:creationId xmlns:a16="http://schemas.microsoft.com/office/drawing/2014/main" id="{4B17AAD9-D3A7-9FE0-7FA9-3CDDE08F4570}"/>
              </a:ext>
            </a:extLst>
          </p:cNvPr>
          <p:cNvSpPr/>
          <p:nvPr/>
        </p:nvSpPr>
        <p:spPr>
          <a:xfrm rot="2903011">
            <a:off x="1702989" y="1980537"/>
            <a:ext cx="1086050" cy="2903444"/>
          </a:xfrm>
          <a:custGeom>
            <a:avLst/>
            <a:gdLst>
              <a:gd name="connsiteX0" fmla="*/ 0 w 890159"/>
              <a:gd name="connsiteY0" fmla="*/ 2832237 h 2832237"/>
              <a:gd name="connsiteX1" fmla="*/ 453563 w 890159"/>
              <a:gd name="connsiteY1" fmla="*/ 0 h 2832237"/>
              <a:gd name="connsiteX2" fmla="*/ 890159 w 890159"/>
              <a:gd name="connsiteY2" fmla="*/ 2832237 h 2832237"/>
              <a:gd name="connsiteX3" fmla="*/ 0 w 890159"/>
              <a:gd name="connsiteY3" fmla="*/ 2832237 h 2832237"/>
              <a:gd name="connsiteX0" fmla="*/ 0 w 843013"/>
              <a:gd name="connsiteY0" fmla="*/ 3091444 h 3091444"/>
              <a:gd name="connsiteX1" fmla="*/ 406417 w 843013"/>
              <a:gd name="connsiteY1" fmla="*/ 0 h 3091444"/>
              <a:gd name="connsiteX2" fmla="*/ 843013 w 843013"/>
              <a:gd name="connsiteY2" fmla="*/ 2832237 h 3091444"/>
              <a:gd name="connsiteX3" fmla="*/ 0 w 843013"/>
              <a:gd name="connsiteY3" fmla="*/ 3091444 h 3091444"/>
              <a:gd name="connsiteX0" fmla="*/ 435778 w 1278791"/>
              <a:gd name="connsiteY0" fmla="*/ 2838989 h 2838989"/>
              <a:gd name="connsiteX1" fmla="*/ 0 w 1278791"/>
              <a:gd name="connsiteY1" fmla="*/ 0 h 2838989"/>
              <a:gd name="connsiteX2" fmla="*/ 1278791 w 1278791"/>
              <a:gd name="connsiteY2" fmla="*/ 2579782 h 2838989"/>
              <a:gd name="connsiteX3" fmla="*/ 435778 w 1278791"/>
              <a:gd name="connsiteY3" fmla="*/ 2838989 h 2838989"/>
              <a:gd name="connsiteX0" fmla="*/ 436807 w 1279820"/>
              <a:gd name="connsiteY0" fmla="*/ 2864616 h 2864616"/>
              <a:gd name="connsiteX1" fmla="*/ 0 w 1279820"/>
              <a:gd name="connsiteY1" fmla="*/ 0 h 2864616"/>
              <a:gd name="connsiteX2" fmla="*/ 1279820 w 1279820"/>
              <a:gd name="connsiteY2" fmla="*/ 2605409 h 2864616"/>
              <a:gd name="connsiteX3" fmla="*/ 436807 w 1279820"/>
              <a:gd name="connsiteY3" fmla="*/ 2864616 h 2864616"/>
              <a:gd name="connsiteX0" fmla="*/ 436807 w 1314837"/>
              <a:gd name="connsiteY0" fmla="*/ 2864616 h 2864616"/>
              <a:gd name="connsiteX1" fmla="*/ 0 w 1314837"/>
              <a:gd name="connsiteY1" fmla="*/ 0 h 2864616"/>
              <a:gd name="connsiteX2" fmla="*/ 1314837 w 1314837"/>
              <a:gd name="connsiteY2" fmla="*/ 2655627 h 2864616"/>
              <a:gd name="connsiteX3" fmla="*/ 436807 w 1314837"/>
              <a:gd name="connsiteY3" fmla="*/ 2864616 h 2864616"/>
              <a:gd name="connsiteX0" fmla="*/ 208020 w 1086050"/>
              <a:gd name="connsiteY0" fmla="*/ 2903444 h 2903444"/>
              <a:gd name="connsiteX1" fmla="*/ 0 w 1086050"/>
              <a:gd name="connsiteY1" fmla="*/ 0 h 2903444"/>
              <a:gd name="connsiteX2" fmla="*/ 1086050 w 1086050"/>
              <a:gd name="connsiteY2" fmla="*/ 2694455 h 2903444"/>
              <a:gd name="connsiteX3" fmla="*/ 208020 w 1086050"/>
              <a:gd name="connsiteY3" fmla="*/ 2903444 h 29034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86050" h="2903444">
                <a:moveTo>
                  <a:pt x="208020" y="2903444"/>
                </a:moveTo>
                <a:lnTo>
                  <a:pt x="0" y="0"/>
                </a:lnTo>
                <a:lnTo>
                  <a:pt x="1086050" y="2694455"/>
                </a:lnTo>
                <a:lnTo>
                  <a:pt x="208020" y="2903444"/>
                </a:lnTo>
                <a:close/>
              </a:path>
            </a:pathLst>
          </a:custGeom>
          <a:solidFill>
            <a:srgbClr val="BCC6E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Triángulo isósceles 8">
            <a:extLst>
              <a:ext uri="{FF2B5EF4-FFF2-40B4-BE49-F238E27FC236}">
                <a16:creationId xmlns:a16="http://schemas.microsoft.com/office/drawing/2014/main" id="{4823BFAD-E55A-6824-E71F-64A727436C12}"/>
              </a:ext>
            </a:extLst>
          </p:cNvPr>
          <p:cNvSpPr/>
          <p:nvPr/>
        </p:nvSpPr>
        <p:spPr>
          <a:xfrm rot="1314262">
            <a:off x="2190324" y="2036521"/>
            <a:ext cx="895093" cy="2901130"/>
          </a:xfrm>
          <a:custGeom>
            <a:avLst/>
            <a:gdLst>
              <a:gd name="connsiteX0" fmla="*/ 0 w 890159"/>
              <a:gd name="connsiteY0" fmla="*/ 2832237 h 2832237"/>
              <a:gd name="connsiteX1" fmla="*/ 453563 w 890159"/>
              <a:gd name="connsiteY1" fmla="*/ 0 h 2832237"/>
              <a:gd name="connsiteX2" fmla="*/ 890159 w 890159"/>
              <a:gd name="connsiteY2" fmla="*/ 2832237 h 2832237"/>
              <a:gd name="connsiteX3" fmla="*/ 0 w 890159"/>
              <a:gd name="connsiteY3" fmla="*/ 2832237 h 2832237"/>
              <a:gd name="connsiteX0" fmla="*/ 0 w 843013"/>
              <a:gd name="connsiteY0" fmla="*/ 3091444 h 3091444"/>
              <a:gd name="connsiteX1" fmla="*/ 406417 w 843013"/>
              <a:gd name="connsiteY1" fmla="*/ 0 h 3091444"/>
              <a:gd name="connsiteX2" fmla="*/ 843013 w 843013"/>
              <a:gd name="connsiteY2" fmla="*/ 2832237 h 3091444"/>
              <a:gd name="connsiteX3" fmla="*/ 0 w 843013"/>
              <a:gd name="connsiteY3" fmla="*/ 3091444 h 3091444"/>
              <a:gd name="connsiteX0" fmla="*/ 435778 w 1278791"/>
              <a:gd name="connsiteY0" fmla="*/ 2838989 h 2838989"/>
              <a:gd name="connsiteX1" fmla="*/ 0 w 1278791"/>
              <a:gd name="connsiteY1" fmla="*/ 0 h 2838989"/>
              <a:gd name="connsiteX2" fmla="*/ 1278791 w 1278791"/>
              <a:gd name="connsiteY2" fmla="*/ 2579782 h 2838989"/>
              <a:gd name="connsiteX3" fmla="*/ 435778 w 1278791"/>
              <a:gd name="connsiteY3" fmla="*/ 2838989 h 2838989"/>
              <a:gd name="connsiteX0" fmla="*/ 436807 w 1279820"/>
              <a:gd name="connsiteY0" fmla="*/ 2864616 h 2864616"/>
              <a:gd name="connsiteX1" fmla="*/ 0 w 1279820"/>
              <a:gd name="connsiteY1" fmla="*/ 0 h 2864616"/>
              <a:gd name="connsiteX2" fmla="*/ 1279820 w 1279820"/>
              <a:gd name="connsiteY2" fmla="*/ 2605409 h 2864616"/>
              <a:gd name="connsiteX3" fmla="*/ 436807 w 1279820"/>
              <a:gd name="connsiteY3" fmla="*/ 2864616 h 2864616"/>
              <a:gd name="connsiteX0" fmla="*/ 436807 w 1314837"/>
              <a:gd name="connsiteY0" fmla="*/ 2864616 h 2864616"/>
              <a:gd name="connsiteX1" fmla="*/ 0 w 1314837"/>
              <a:gd name="connsiteY1" fmla="*/ 0 h 2864616"/>
              <a:gd name="connsiteX2" fmla="*/ 1314837 w 1314837"/>
              <a:gd name="connsiteY2" fmla="*/ 2655627 h 2864616"/>
              <a:gd name="connsiteX3" fmla="*/ 436807 w 1314837"/>
              <a:gd name="connsiteY3" fmla="*/ 2864616 h 2864616"/>
              <a:gd name="connsiteX0" fmla="*/ 208020 w 1086050"/>
              <a:gd name="connsiteY0" fmla="*/ 2903444 h 2903444"/>
              <a:gd name="connsiteX1" fmla="*/ 0 w 1086050"/>
              <a:gd name="connsiteY1" fmla="*/ 0 h 2903444"/>
              <a:gd name="connsiteX2" fmla="*/ 1086050 w 1086050"/>
              <a:gd name="connsiteY2" fmla="*/ 2694455 h 2903444"/>
              <a:gd name="connsiteX3" fmla="*/ 208020 w 1086050"/>
              <a:gd name="connsiteY3" fmla="*/ 2903444 h 2903444"/>
              <a:gd name="connsiteX0" fmla="*/ 208020 w 1103113"/>
              <a:gd name="connsiteY0" fmla="*/ 2903444 h 2903444"/>
              <a:gd name="connsiteX1" fmla="*/ 0 w 1103113"/>
              <a:gd name="connsiteY1" fmla="*/ 0 h 2903444"/>
              <a:gd name="connsiteX2" fmla="*/ 1103113 w 1103113"/>
              <a:gd name="connsiteY2" fmla="*/ 2839020 h 2903444"/>
              <a:gd name="connsiteX3" fmla="*/ 208020 w 1103113"/>
              <a:gd name="connsiteY3" fmla="*/ 2903444 h 2903444"/>
              <a:gd name="connsiteX0" fmla="*/ 0 w 895093"/>
              <a:gd name="connsiteY0" fmla="*/ 2901130 h 2901130"/>
              <a:gd name="connsiteX1" fmla="*/ 226655 w 895093"/>
              <a:gd name="connsiteY1" fmla="*/ 0 h 2901130"/>
              <a:gd name="connsiteX2" fmla="*/ 895093 w 895093"/>
              <a:gd name="connsiteY2" fmla="*/ 2836706 h 2901130"/>
              <a:gd name="connsiteX3" fmla="*/ 0 w 895093"/>
              <a:gd name="connsiteY3" fmla="*/ 2901130 h 2901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95093" h="2901130">
                <a:moveTo>
                  <a:pt x="0" y="2901130"/>
                </a:moveTo>
                <a:lnTo>
                  <a:pt x="226655" y="0"/>
                </a:lnTo>
                <a:lnTo>
                  <a:pt x="895093" y="2836706"/>
                </a:lnTo>
                <a:lnTo>
                  <a:pt x="0" y="2901130"/>
                </a:lnTo>
                <a:close/>
              </a:path>
            </a:pathLst>
          </a:custGeom>
          <a:solidFill>
            <a:srgbClr val="BCC6E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Triángulo isósceles 11">
            <a:extLst>
              <a:ext uri="{FF2B5EF4-FFF2-40B4-BE49-F238E27FC236}">
                <a16:creationId xmlns:a16="http://schemas.microsoft.com/office/drawing/2014/main" id="{E996CAE1-0ED3-D88D-0A23-E0C9809E49A5}"/>
              </a:ext>
            </a:extLst>
          </p:cNvPr>
          <p:cNvSpPr/>
          <p:nvPr/>
        </p:nvSpPr>
        <p:spPr>
          <a:xfrm>
            <a:off x="2536897" y="2062141"/>
            <a:ext cx="890159" cy="2878579"/>
          </a:xfrm>
          <a:prstGeom prst="triangle">
            <a:avLst>
              <a:gd name="adj" fmla="val 49081"/>
            </a:avLst>
          </a:prstGeom>
          <a:solidFill>
            <a:srgbClr val="BCC6E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3" name="Pentágono 12">
            <a:extLst>
              <a:ext uri="{FF2B5EF4-FFF2-40B4-BE49-F238E27FC236}">
                <a16:creationId xmlns:a16="http://schemas.microsoft.com/office/drawing/2014/main" id="{3D042C40-858E-D828-DC38-02A9BC42F4C6}"/>
              </a:ext>
            </a:extLst>
          </p:cNvPr>
          <p:cNvSpPr/>
          <p:nvPr/>
        </p:nvSpPr>
        <p:spPr>
          <a:xfrm rot="10800000">
            <a:off x="2266319" y="4943099"/>
            <a:ext cx="1432800" cy="1354629"/>
          </a:xfrm>
          <a:prstGeom prst="pentagon">
            <a:avLst/>
          </a:prstGeom>
          <a:solidFill>
            <a:srgbClr val="BCC6E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54129B2A-8F03-056E-9C0A-9B8AEB9D029F}"/>
              </a:ext>
            </a:extLst>
          </p:cNvPr>
          <p:cNvSpPr/>
          <p:nvPr/>
        </p:nvSpPr>
        <p:spPr>
          <a:xfrm rot="20742914">
            <a:off x="2981370" y="1987585"/>
            <a:ext cx="45719" cy="805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42BF0105-98A4-1C81-1401-7042BCE51A6A}"/>
              </a:ext>
            </a:extLst>
          </p:cNvPr>
          <p:cNvSpPr/>
          <p:nvPr/>
        </p:nvSpPr>
        <p:spPr>
          <a:xfrm rot="16200000">
            <a:off x="2941083" y="1981899"/>
            <a:ext cx="45719" cy="805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AE6D6F8A-DE75-876B-9669-CB00833D3DD6}"/>
              </a:ext>
            </a:extLst>
          </p:cNvPr>
          <p:cNvSpPr txBox="1"/>
          <p:nvPr/>
        </p:nvSpPr>
        <p:spPr>
          <a:xfrm>
            <a:off x="-56980" y="2900090"/>
            <a:ext cx="365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l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4E09C092-75AA-BE69-3E03-AE7D253863D3}"/>
              </a:ext>
            </a:extLst>
          </p:cNvPr>
          <p:cNvSpPr txBox="1"/>
          <p:nvPr/>
        </p:nvSpPr>
        <p:spPr>
          <a:xfrm>
            <a:off x="371536" y="3721665"/>
            <a:ext cx="365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l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D836EA70-2BD2-E458-5B56-26A97740BDA6}"/>
              </a:ext>
            </a:extLst>
          </p:cNvPr>
          <p:cNvSpPr txBox="1"/>
          <p:nvPr/>
        </p:nvSpPr>
        <p:spPr>
          <a:xfrm>
            <a:off x="1047320" y="4361808"/>
            <a:ext cx="365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l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0B830990-B3B0-915E-DE9D-C8D9FB7A34D8}"/>
              </a:ext>
            </a:extLst>
          </p:cNvPr>
          <p:cNvSpPr txBox="1"/>
          <p:nvPr/>
        </p:nvSpPr>
        <p:spPr>
          <a:xfrm>
            <a:off x="1853294" y="4765765"/>
            <a:ext cx="365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l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192AD020-B0AE-2EFF-C471-36DDECB55645}"/>
              </a:ext>
            </a:extLst>
          </p:cNvPr>
          <p:cNvSpPr txBox="1"/>
          <p:nvPr/>
        </p:nvSpPr>
        <p:spPr>
          <a:xfrm>
            <a:off x="2096621" y="5079826"/>
            <a:ext cx="365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l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D3CB0BFC-F9E5-C2BE-2A52-1CE66B287C2A}"/>
              </a:ext>
            </a:extLst>
          </p:cNvPr>
          <p:cNvSpPr txBox="1"/>
          <p:nvPr/>
        </p:nvSpPr>
        <p:spPr>
          <a:xfrm>
            <a:off x="2354125" y="6008330"/>
            <a:ext cx="365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l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57E0C102-47B3-6262-65ED-194AC439D17F}"/>
              </a:ext>
            </a:extLst>
          </p:cNvPr>
          <p:cNvSpPr txBox="1"/>
          <p:nvPr/>
        </p:nvSpPr>
        <p:spPr>
          <a:xfrm>
            <a:off x="3228711" y="6008330"/>
            <a:ext cx="365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l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0A984305-AB1B-1C50-2E37-A9AF671749D1}"/>
              </a:ext>
            </a:extLst>
          </p:cNvPr>
          <p:cNvSpPr txBox="1"/>
          <p:nvPr/>
        </p:nvSpPr>
        <p:spPr>
          <a:xfrm>
            <a:off x="3487250" y="5047167"/>
            <a:ext cx="365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l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7EE8887C-FC92-B2BE-2CC5-C1B1086B17EF}"/>
              </a:ext>
            </a:extLst>
          </p:cNvPr>
          <p:cNvSpPr txBox="1"/>
          <p:nvPr/>
        </p:nvSpPr>
        <p:spPr>
          <a:xfrm>
            <a:off x="2804624" y="4935811"/>
            <a:ext cx="365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l</a:t>
            </a:r>
          </a:p>
        </p:txBody>
      </p:sp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0231B602-5C0A-E429-BEDC-0C6195544726}"/>
              </a:ext>
            </a:extLst>
          </p:cNvPr>
          <p:cNvCxnSpPr>
            <a:cxnSpLocks/>
            <a:stCxn id="12" idx="0"/>
            <a:endCxn id="12" idx="3"/>
          </p:cNvCxnSpPr>
          <p:nvPr/>
        </p:nvCxnSpPr>
        <p:spPr>
          <a:xfrm>
            <a:off x="2973796" y="2062141"/>
            <a:ext cx="0" cy="2878579"/>
          </a:xfrm>
          <a:prstGeom prst="line">
            <a:avLst/>
          </a:prstGeom>
          <a:ln cap="rnd">
            <a:solidFill>
              <a:srgbClr val="FF0000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CuadroTexto 33">
            <a:extLst>
              <a:ext uri="{FF2B5EF4-FFF2-40B4-BE49-F238E27FC236}">
                <a16:creationId xmlns:a16="http://schemas.microsoft.com/office/drawing/2014/main" id="{B8B73B65-861B-8444-B1C2-887991CA9288}"/>
              </a:ext>
            </a:extLst>
          </p:cNvPr>
          <p:cNvSpPr txBox="1"/>
          <p:nvPr/>
        </p:nvSpPr>
        <p:spPr>
          <a:xfrm>
            <a:off x="2909658" y="3553225"/>
            <a:ext cx="365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a</a:t>
            </a:r>
          </a:p>
        </p:txBody>
      </p:sp>
      <p:cxnSp>
        <p:nvCxnSpPr>
          <p:cNvPr id="49" name="Conector recto 48">
            <a:extLst>
              <a:ext uri="{FF2B5EF4-FFF2-40B4-BE49-F238E27FC236}">
                <a16:creationId xmlns:a16="http://schemas.microsoft.com/office/drawing/2014/main" id="{CA64F8E9-0533-4100-15A6-2FD1230A64B2}"/>
              </a:ext>
            </a:extLst>
          </p:cNvPr>
          <p:cNvCxnSpPr>
            <a:cxnSpLocks/>
          </p:cNvCxnSpPr>
          <p:nvPr/>
        </p:nvCxnSpPr>
        <p:spPr>
          <a:xfrm flipV="1">
            <a:off x="2981976" y="5362077"/>
            <a:ext cx="583984" cy="18974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Elipse 64">
            <a:extLst>
              <a:ext uri="{FF2B5EF4-FFF2-40B4-BE49-F238E27FC236}">
                <a16:creationId xmlns:a16="http://schemas.microsoft.com/office/drawing/2014/main" id="{5086D831-438F-ED68-DA40-2C05F5866EE9}"/>
              </a:ext>
            </a:extLst>
          </p:cNvPr>
          <p:cNvSpPr/>
          <p:nvPr/>
        </p:nvSpPr>
        <p:spPr>
          <a:xfrm>
            <a:off x="2971085" y="5528965"/>
            <a:ext cx="45719" cy="45719"/>
          </a:xfrm>
          <a:prstGeom prst="ellipse">
            <a:avLst/>
          </a:prstGeom>
          <a:solidFill>
            <a:srgbClr val="EF42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6" name="CuadroTexto 65">
            <a:extLst>
              <a:ext uri="{FF2B5EF4-FFF2-40B4-BE49-F238E27FC236}">
                <a16:creationId xmlns:a16="http://schemas.microsoft.com/office/drawing/2014/main" id="{EDCE4728-152A-6E49-CAC2-6ED35E4F0238}"/>
              </a:ext>
            </a:extLst>
          </p:cNvPr>
          <p:cNvSpPr txBox="1"/>
          <p:nvPr/>
        </p:nvSpPr>
        <p:spPr>
          <a:xfrm>
            <a:off x="3113400" y="5140099"/>
            <a:ext cx="457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a’</a:t>
            </a:r>
          </a:p>
        </p:txBody>
      </p:sp>
      <p:sp>
        <p:nvSpPr>
          <p:cNvPr id="31" name="!Marco 10">
            <a:extLst>
              <a:ext uri="{FF2B5EF4-FFF2-40B4-BE49-F238E27FC236}">
                <a16:creationId xmlns:a16="http://schemas.microsoft.com/office/drawing/2014/main" id="{D82B1B32-BDC7-2BAE-51F7-AD2876F699BB}"/>
              </a:ext>
            </a:extLst>
          </p:cNvPr>
          <p:cNvSpPr/>
          <p:nvPr/>
        </p:nvSpPr>
        <p:spPr>
          <a:xfrm>
            <a:off x="3539814" y="2002513"/>
            <a:ext cx="8117102" cy="722461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3" name="!CuadroTexto 1">
            <a:extLst>
              <a:ext uri="{FF2B5EF4-FFF2-40B4-BE49-F238E27FC236}">
                <a16:creationId xmlns:a16="http://schemas.microsoft.com/office/drawing/2014/main" id="{08E90FA9-C1B2-041F-C67C-569EDD870512}"/>
              </a:ext>
            </a:extLst>
          </p:cNvPr>
          <p:cNvSpPr txBox="1"/>
          <p:nvPr/>
        </p:nvSpPr>
        <p:spPr>
          <a:xfrm>
            <a:off x="3539815" y="2009800"/>
            <a:ext cx="8117102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ES" sz="2000" b="1" dirty="0"/>
              <a:t>El área lateral de una pirámide regular es la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suma de las áreas de los </a:t>
            </a:r>
            <a:r>
              <a:rPr lang="es-ES" sz="2000" b="1" i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n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triángulos iguales</a:t>
            </a:r>
            <a:r>
              <a:rPr lang="es-ES" sz="2000" b="1" dirty="0"/>
              <a:t> (</a:t>
            </a:r>
            <a:r>
              <a:rPr lang="es-ES" sz="2000" b="1" i="1" dirty="0"/>
              <a:t>n </a:t>
            </a:r>
            <a:r>
              <a:rPr lang="es-ES" sz="2000" b="1" dirty="0"/>
              <a:t>es el número de lados de la base):</a:t>
            </a:r>
            <a:endParaRPr lang="es-ES" sz="32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CuadroTexto 35">
                <a:extLst>
                  <a:ext uri="{FF2B5EF4-FFF2-40B4-BE49-F238E27FC236}">
                    <a16:creationId xmlns:a16="http://schemas.microsoft.com/office/drawing/2014/main" id="{CAF552A6-4888-3AE5-E039-96C889EDD06E}"/>
                  </a:ext>
                </a:extLst>
              </p:cNvPr>
              <p:cNvSpPr txBox="1"/>
              <p:nvPr/>
            </p:nvSpPr>
            <p:spPr>
              <a:xfrm>
                <a:off x="6735340" y="2904491"/>
                <a:ext cx="1726050" cy="5825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000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s-ES" sz="2000" b="1" i="1" smtClean="0">
                              <a:latin typeface="Cambria Math" panose="02040503050406030204" pitchFamily="18" charset="0"/>
                            </a:rPr>
                            <m:t>𝑳𝑨𝑻</m:t>
                          </m:r>
                        </m:sub>
                      </m:sSub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s-ES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1" i="1" smtClean="0">
                              <a:latin typeface="Cambria Math" panose="02040503050406030204" pitchFamily="18" charset="0"/>
                            </a:rPr>
                            <m:t>𝒍</m:t>
                          </m:r>
                          <m:r>
                            <a:rPr lang="es-E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s-E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𝒂</m:t>
                          </m:r>
                        </m:num>
                        <m:den>
                          <m:r>
                            <a:rPr lang="es-ES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36" name="CuadroTexto 35">
                <a:extLst>
                  <a:ext uri="{FF2B5EF4-FFF2-40B4-BE49-F238E27FC236}">
                    <a16:creationId xmlns:a16="http://schemas.microsoft.com/office/drawing/2014/main" id="{CAF552A6-4888-3AE5-E039-96C889EDD0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5340" y="2904491"/>
                <a:ext cx="1726050" cy="58259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CuadroTexto 36">
            <a:extLst>
              <a:ext uri="{FF2B5EF4-FFF2-40B4-BE49-F238E27FC236}">
                <a16:creationId xmlns:a16="http://schemas.microsoft.com/office/drawing/2014/main" id="{83B80829-DFD4-CA45-6958-D5733CBDB60B}"/>
              </a:ext>
            </a:extLst>
          </p:cNvPr>
          <p:cNvSpPr txBox="1"/>
          <p:nvPr/>
        </p:nvSpPr>
        <p:spPr>
          <a:xfrm>
            <a:off x="4075771" y="3644474"/>
            <a:ext cx="6261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El área de la base es el área de un polígono regular: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CuadroTexto 38">
                <a:extLst>
                  <a:ext uri="{FF2B5EF4-FFF2-40B4-BE49-F238E27FC236}">
                    <a16:creationId xmlns:a16="http://schemas.microsoft.com/office/drawing/2014/main" id="{B03EA5F2-DAB0-4ADC-8B83-755BE8F824B9}"/>
                  </a:ext>
                </a:extLst>
              </p:cNvPr>
              <p:cNvSpPr txBox="1"/>
              <p:nvPr/>
            </p:nvSpPr>
            <p:spPr>
              <a:xfrm>
                <a:off x="6625823" y="4093346"/>
                <a:ext cx="1945084" cy="5940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000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s-ES" sz="2000" b="1" i="1" smtClean="0">
                              <a:latin typeface="Cambria Math" panose="02040503050406030204" pitchFamily="18" charset="0"/>
                            </a:rPr>
                            <m:t>𝑩𝑨𝑺𝑬</m:t>
                          </m:r>
                        </m:sub>
                      </m:sSub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s-ES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1" i="1" smtClean="0">
                              <a:latin typeface="Cambria Math" panose="02040503050406030204" pitchFamily="18" charset="0"/>
                            </a:rPr>
                            <m:t>𝒍</m:t>
                          </m:r>
                          <m:r>
                            <a:rPr lang="es-E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p>
                            <m:sSupPr>
                              <m:ctrlPr>
                                <a:rPr lang="es-ES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p>
                              <m:r>
                                <a:rPr lang="es-ES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num>
                        <m:den>
                          <m:r>
                            <a:rPr lang="es-ES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39" name="CuadroTexto 38">
                <a:extLst>
                  <a:ext uri="{FF2B5EF4-FFF2-40B4-BE49-F238E27FC236}">
                    <a16:creationId xmlns:a16="http://schemas.microsoft.com/office/drawing/2014/main" id="{B03EA5F2-DAB0-4ADC-8B83-755BE8F824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5823" y="4093346"/>
                <a:ext cx="1945084" cy="59407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CuadroTexto 39">
            <a:extLst>
              <a:ext uri="{FF2B5EF4-FFF2-40B4-BE49-F238E27FC236}">
                <a16:creationId xmlns:a16="http://schemas.microsoft.com/office/drawing/2014/main" id="{769512AC-0A0D-6CCF-3703-4D33FD356793}"/>
              </a:ext>
            </a:extLst>
          </p:cNvPr>
          <p:cNvSpPr txBox="1"/>
          <p:nvPr/>
        </p:nvSpPr>
        <p:spPr>
          <a:xfrm>
            <a:off x="4077052" y="4658844"/>
            <a:ext cx="6261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Por tanto: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CuadroTexto 41">
                <a:extLst>
                  <a:ext uri="{FF2B5EF4-FFF2-40B4-BE49-F238E27FC236}">
                    <a16:creationId xmlns:a16="http://schemas.microsoft.com/office/drawing/2014/main" id="{B2A548D3-E800-B785-A9CA-03146D47A287}"/>
                  </a:ext>
                </a:extLst>
              </p:cNvPr>
              <p:cNvSpPr txBox="1"/>
              <p:nvPr/>
            </p:nvSpPr>
            <p:spPr>
              <a:xfrm>
                <a:off x="5101656" y="4915358"/>
                <a:ext cx="4993418" cy="5940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000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s-ES" sz="2000" b="1" i="1" smtClean="0">
                              <a:latin typeface="Cambria Math" panose="02040503050406030204" pitchFamily="18" charset="0"/>
                            </a:rPr>
                            <m:t>𝑻𝑶𝑻𝑨𝑳</m:t>
                          </m:r>
                        </m:sub>
                      </m:sSub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S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000" b="1" i="1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s-ES" sz="2000" b="1" i="1">
                              <a:latin typeface="Cambria Math" panose="02040503050406030204" pitchFamily="18" charset="0"/>
                            </a:rPr>
                            <m:t>𝑳𝑨𝑻</m:t>
                          </m:r>
                        </m:sub>
                      </m:sSub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ES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000" b="1" i="1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s-ES" sz="2000" b="1" i="1" smtClean="0">
                              <a:latin typeface="Cambria Math" panose="02040503050406030204" pitchFamily="18" charset="0"/>
                            </a:rPr>
                            <m:t>𝑩𝑨𝑺𝑬</m:t>
                          </m:r>
                        </m:sub>
                      </m:sSub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s-ES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1" i="1" smtClean="0">
                              <a:latin typeface="Cambria Math" panose="02040503050406030204" pitchFamily="18" charset="0"/>
                            </a:rPr>
                            <m:t>𝒍</m:t>
                          </m:r>
                          <m:r>
                            <a:rPr lang="es-E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s-E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𝒂</m:t>
                          </m:r>
                        </m:num>
                        <m:den>
                          <m:r>
                            <a:rPr lang="es-ES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es-ES" sz="2000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ES" sz="2000" b="1" i="1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s-ES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s-ES" sz="20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1" i="1">
                              <a:latin typeface="Cambria Math" panose="02040503050406030204" pitchFamily="18" charset="0"/>
                            </a:rPr>
                            <m:t>𝒍</m:t>
                          </m:r>
                          <m:r>
                            <a:rPr lang="es-E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p>
                            <m:sSupPr>
                              <m:ctrlPr>
                                <a:rPr lang="es-ES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p>
                              <m:r>
                                <a:rPr lang="es-ES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num>
                        <m:den>
                          <m:r>
                            <a:rPr lang="es-ES" sz="20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42" name="CuadroTexto 41">
                <a:extLst>
                  <a:ext uri="{FF2B5EF4-FFF2-40B4-BE49-F238E27FC236}">
                    <a16:creationId xmlns:a16="http://schemas.microsoft.com/office/drawing/2014/main" id="{B2A548D3-E800-B785-A9CA-03146D47A2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1656" y="4915358"/>
                <a:ext cx="4993418" cy="59407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93C8950B-5B3B-7B6D-AAC1-BAC7871E477D}"/>
                  </a:ext>
                </a:extLst>
              </p:cNvPr>
              <p:cNvSpPr txBox="1"/>
              <p:nvPr/>
            </p:nvSpPr>
            <p:spPr>
              <a:xfrm>
                <a:off x="6200931" y="5634214"/>
                <a:ext cx="2794868" cy="5825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000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s-ES" sz="2000" b="1" i="1" smtClean="0">
                              <a:latin typeface="Cambria Math" panose="02040503050406030204" pitchFamily="18" charset="0"/>
                            </a:rPr>
                            <m:t>𝑻𝑶𝑻𝑨𝑳</m:t>
                          </m:r>
                        </m:sub>
                      </m:sSub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s-ES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1" i="1" smtClean="0">
                              <a:latin typeface="Cambria Math" panose="02040503050406030204" pitchFamily="18" charset="0"/>
                            </a:rPr>
                            <m:t>𝒍</m:t>
                          </m:r>
                        </m:num>
                        <m:den>
                          <m:r>
                            <a:rPr lang="es-ES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es-ES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𝒂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s-E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s-E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s-E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93C8950B-5B3B-7B6D-AAC1-BAC7871E47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0931" y="5634214"/>
                <a:ext cx="2794868" cy="58259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F3280820-C6B1-C662-3087-A2B233313062}"/>
              </a:ext>
            </a:extLst>
          </p:cNvPr>
          <p:cNvCxnSpPr>
            <a:stCxn id="12" idx="4"/>
            <a:endCxn id="65" idx="1"/>
          </p:cNvCxnSpPr>
          <p:nvPr/>
        </p:nvCxnSpPr>
        <p:spPr>
          <a:xfrm flipH="1">
            <a:off x="3010109" y="4940720"/>
            <a:ext cx="416947" cy="594940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FC910CBF-79F6-896B-A8DD-9D2FF4F94FD8}"/>
              </a:ext>
            </a:extLst>
          </p:cNvPr>
          <p:cNvCxnSpPr>
            <a:cxnSpLocks/>
            <a:stCxn id="65" idx="1"/>
            <a:endCxn id="13" idx="4"/>
          </p:cNvCxnSpPr>
          <p:nvPr/>
        </p:nvCxnSpPr>
        <p:spPr>
          <a:xfrm flipH="1" flipV="1">
            <a:off x="2539960" y="4943102"/>
            <a:ext cx="437820" cy="592558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63DE4D6A-93E3-2A47-79CA-BD7DA521E4E5}"/>
              </a:ext>
            </a:extLst>
          </p:cNvPr>
          <p:cNvCxnSpPr>
            <a:cxnSpLocks/>
            <a:stCxn id="13" idx="1"/>
            <a:endCxn id="65" idx="5"/>
          </p:cNvCxnSpPr>
          <p:nvPr/>
        </p:nvCxnSpPr>
        <p:spPr>
          <a:xfrm flipH="1" flipV="1">
            <a:off x="3010109" y="5567989"/>
            <a:ext cx="689008" cy="212318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34">
            <a:extLst>
              <a:ext uri="{FF2B5EF4-FFF2-40B4-BE49-F238E27FC236}">
                <a16:creationId xmlns:a16="http://schemas.microsoft.com/office/drawing/2014/main" id="{0A98BF46-9A18-89E7-ACF8-F6A8D3A0306A}"/>
              </a:ext>
            </a:extLst>
          </p:cNvPr>
          <p:cNvCxnSpPr>
            <a:cxnSpLocks/>
            <a:stCxn id="13" idx="0"/>
            <a:endCxn id="65" idx="4"/>
          </p:cNvCxnSpPr>
          <p:nvPr/>
        </p:nvCxnSpPr>
        <p:spPr>
          <a:xfrm flipV="1">
            <a:off x="2982719" y="5574684"/>
            <a:ext cx="11226" cy="723044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cto 42">
            <a:extLst>
              <a:ext uri="{FF2B5EF4-FFF2-40B4-BE49-F238E27FC236}">
                <a16:creationId xmlns:a16="http://schemas.microsoft.com/office/drawing/2014/main" id="{FA04B51B-4E5E-043E-48CE-B1360AFFDC0E}"/>
              </a:ext>
            </a:extLst>
          </p:cNvPr>
          <p:cNvCxnSpPr>
            <a:cxnSpLocks/>
            <a:stCxn id="13" idx="5"/>
            <a:endCxn id="65" idx="3"/>
          </p:cNvCxnSpPr>
          <p:nvPr/>
        </p:nvCxnSpPr>
        <p:spPr>
          <a:xfrm flipV="1">
            <a:off x="2266321" y="5567989"/>
            <a:ext cx="711459" cy="212318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7478896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8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7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000"/>
                            </p:stCondLst>
                            <p:childTnLst>
                              <p:par>
                                <p:cTn id="3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5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7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7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25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3" grpId="0"/>
      <p:bldP spid="36" grpId="0"/>
      <p:bldP spid="37" grpId="0"/>
      <p:bldP spid="39" grpId="0"/>
      <p:bldP spid="40" grpId="0"/>
      <p:bldP spid="42" grpId="0"/>
      <p:bldP spid="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LMS_API_VERSION" val="SCORM 2004 (4th edition)"/>
  <p:tag name="ISPRING_ULTRA_SCORM_COURSE_ID" val="BBF096FA-B98C-4522-90C9-B8311E71FB73"/>
  <p:tag name="ISPRING_CMI5_LAUNCH_METHOD" val="any window"/>
  <p:tag name="ISPRING_SCORM_ENDPOINT" val="&lt;endpoint&gt;&lt;enable&gt;0&lt;/enable&gt;&lt;lrs&gt;https://&lt;/lrs&gt;&lt;auth&gt;0&lt;/auth&gt;&lt;login&gt;&lt;/login&gt;&lt;password&gt;&lt;/password&gt;&lt;key&gt;&lt;/key&gt;&lt;name&gt;&lt;/name&gt;&lt;email&gt;&lt;/email&gt;&lt;/endpoint&gt;&#10;"/>
  <p:tag name="ISPRING_SCORM_RATE_SLIDES" val="1"/>
  <p:tag name="ISPRINGCLOUDFOLDERID" val="1"/>
  <p:tag name="ISPRINGONLINEFOLDERID" val="1"/>
  <p:tag name="ISPRING_OUTPUT_FOLDER" val="[[&quot;\uFFFD\/\uFFFD\uFFFD{21D528DD-60A0-4F5B-BB24-A0E5BDBD4B43}&quot;,&quot;C:\\Users\\34717\\Desktop\\Apuntes\\2 ESO\\TEMA 9 - Cuerpos geométricos&quot;]]"/>
  <p:tag name="ISPRING_PUBLISH_SETTINGS" val="{&quot;commonSettings&quot;:{&quot;webSettings&quot;:{&quot;useMobileViewer&quot;:&quot;T_FALSE&quot;},&quot;lmsSettings&quot;:{&quot;useMobileViewer&quot;:&quot;T_FALSE&quot;},&quot;cloudSettings&quot;:{&quot;useMobileViewer&quot;:&quot;T_FALSE&quot;},&quot;ispringLmsSettings&quot;:{&quot;useMobileViewer&quot;:&quot;T_FALSE&quot;},&quot;playerId&quot;:&quot;free&quot;,&quot;studioSettings&quot;:{&quot;useMobileViewer&quot;:&quot;T_FALSE&quot;}},&quot;advancedSettings&quot;:{&quot;enableTextAllocation&quot;:&quot;T_TRUE&quot;,&quot;viewingFromLocalDrive&quot;:&quot;T_TRUE&quot;,&quot;contentScale&quot;:75,&quot;contentScaleMode&quot;:&quot;FIT_TO_WINDOW&quot;},&quot;accessibilitySettings&quot;:{&quot;enabled&quot;:&quot;T_FALSE&quot;},&quot;compressionSettings&quot;:{&quot;imageSettings&quot;:{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FolderId&quot;:&quot;1&quot;},&quot;cloudSettings&quot;:{&quot;onlineDestinationFolderId&quot;:&quot;1&quot;},&quot;wordSettings&quot;:{&quot;printCopies&quot;:1},&quot;studioSettings&quot;:{&quot;onlineDestinationFolderId&quot;:&quot;1&quot;,&quot;uploadSources&quot;:true}}"/>
  <p:tag name="ISPRING_SCORM_PASSING_SCORE" val="100.000000"/>
  <p:tag name="ISPRING_PRESENTATION_TITLE" val="6. Pirámides"/>
  <p:tag name="ISPRING_FIRST_PUBLI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4F5C74FE-A7E3-4922-9C54-1C97FFAFE3C3}:25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2DE9FA4B-A305-40C3-B551-D5830207F04E}:258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DD96352B-3B06-4219-ACC2-656CF9E5CB07}:259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ersonalizado 1">
      <a:majorFont>
        <a:latin typeface="SF Fedora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590</TotalTime>
  <Words>230</Words>
  <Application>Microsoft Office PowerPoint</Application>
  <PresentationFormat>Panorámica</PresentationFormat>
  <Paragraphs>44</Paragraphs>
  <Slides>3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9" baseType="lpstr">
      <vt:lpstr>Aptos</vt:lpstr>
      <vt:lpstr>Arial</vt:lpstr>
      <vt:lpstr>Cambria Math</vt:lpstr>
      <vt:lpstr>Century Gothic</vt:lpstr>
      <vt:lpstr>SF Fedora</vt:lpstr>
      <vt:lpstr>Tema de Office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6. Pirámides</dc:title>
  <dc:creator>Illán Linos Souto</dc:creator>
  <cp:lastModifiedBy>Illán Linos</cp:lastModifiedBy>
  <cp:revision>62</cp:revision>
  <dcterms:created xsi:type="dcterms:W3CDTF">2024-08-18T18:48:07Z</dcterms:created>
  <dcterms:modified xsi:type="dcterms:W3CDTF">2025-11-18T13:12:25Z</dcterms:modified>
</cp:coreProperties>
</file>