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60" r:id="rId3"/>
    <p:sldId id="261" r:id="rId4"/>
    <p:sldId id="259" r:id="rId5"/>
    <p:sldId id="264" r:id="rId6"/>
    <p:sldId id="262" r:id="rId7"/>
    <p:sldId id="263" r:id="rId8"/>
    <p:sldId id="265" r:id="rId9"/>
    <p:sldId id="266" r:id="rId10"/>
    <p:sldId id="267" r:id="rId11"/>
  </p:sldIdLst>
  <p:sldSz cx="12192000" cy="6858000"/>
  <p:notesSz cx="6858000" cy="9144000"/>
  <p:custDataLst>
    <p:tags r:id="rId13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4246"/>
    <a:srgbClr val="FF3300"/>
    <a:srgbClr val="D0B0E7"/>
    <a:srgbClr val="FFFFDB"/>
    <a:srgbClr val="ECF7FC"/>
    <a:srgbClr val="0A0A0A"/>
    <a:srgbClr val="EEFBEF"/>
    <a:srgbClr val="84E291"/>
    <a:srgbClr val="EDF8FC"/>
    <a:srgbClr val="FCF6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503982-9F4D-438D-A88F-52DBE7D6A2C4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695FC5-33F2-446E-9487-06039519E15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2880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95FC5-33F2-446E-9487-06039519E15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21690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95FC5-33F2-446E-9487-06039519E155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5947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95FC5-33F2-446E-9487-06039519E155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49829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95FC5-33F2-446E-9487-06039519E155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83474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95FC5-33F2-446E-9487-06039519E155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86794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95FC5-33F2-446E-9487-06039519E155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58593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95FC5-33F2-446E-9487-06039519E155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73212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95FC5-33F2-446E-9487-06039519E155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46373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95FC5-33F2-446E-9487-06039519E155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1750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95FC5-33F2-446E-9487-06039519E155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3206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6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6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11218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8: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Teorema de Pitágoras. Semejanza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En un triángulo rectángulo, los lados menores son los que forman el ángulo recto.</a:t>
            </a:r>
          </a:p>
          <a:p>
            <a:r>
              <a:rPr lang="es-ES" sz="2000" b="1" dirty="0"/>
              <a:t>Se llaman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catetos</a:t>
            </a:r>
            <a:r>
              <a:rPr lang="es-ES" sz="2000" b="1" dirty="0"/>
              <a:t>. El lado mayor se llama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hipotenusa</a:t>
            </a:r>
            <a:r>
              <a:rPr lang="es-ES" sz="2000" b="1" dirty="0"/>
              <a:t>.</a:t>
            </a:r>
            <a:endParaRPr lang="es-ES" sz="28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!Marco 10">
            <a:extLst>
              <a:ext uri="{FF2B5EF4-FFF2-40B4-BE49-F238E27FC236}">
                <a16:creationId xmlns:a16="http://schemas.microsoft.com/office/drawing/2014/main" id="{3282BCA9-A943-87F0-3208-87B55592578F}"/>
              </a:ext>
            </a:extLst>
          </p:cNvPr>
          <p:cNvSpPr/>
          <p:nvPr/>
        </p:nvSpPr>
        <p:spPr>
          <a:xfrm>
            <a:off x="3863151" y="2439953"/>
            <a:ext cx="7793765" cy="2268035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!CuadroTexto 1">
                <a:extLst>
                  <a:ext uri="{FF2B5EF4-FFF2-40B4-BE49-F238E27FC236}">
                    <a16:creationId xmlns:a16="http://schemas.microsoft.com/office/drawing/2014/main" id="{58E4BEAB-8C3A-5832-87A1-CD2F22E2A88C}"/>
                  </a:ext>
                </a:extLst>
              </p:cNvPr>
              <p:cNvSpPr txBox="1"/>
              <p:nvPr/>
            </p:nvSpPr>
            <p:spPr>
              <a:xfrm>
                <a:off x="3863151" y="2447241"/>
                <a:ext cx="7793765" cy="22607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/>
                  <a:t>El </a:t>
                </a:r>
                <a:r>
                  <a:rPr lang="es-ES" sz="2000" b="1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teorema de Pitágoras </a:t>
                </a:r>
                <a:r>
                  <a:rPr lang="es-ES" sz="2000" b="1" dirty="0"/>
                  <a:t>dice que:</a:t>
                </a:r>
              </a:p>
              <a:p>
                <a:pPr algn="ctr">
                  <a:lnSpc>
                    <a:spcPct val="20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sz="20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s-ES" sz="20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pt-BR" sz="2000" b="1" i="1" dirty="0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pt-BR" sz="20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dirty="0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s-ES" sz="20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2000" b="1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pt-BR" sz="20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dirty="0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s-ES" sz="20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pt-BR" sz="2000" b="1" dirty="0"/>
                  <a:t> </a:t>
                </a:r>
              </a:p>
              <a:p>
                <a:r>
                  <a:rPr lang="es-ES" sz="2000" b="1" dirty="0"/>
                  <a:t>Es decir, el área del cuadrado construido sobre la hipotenusa es igual a la suma de las áreas de los cuadrados construidos sobre los catetos.</a:t>
                </a:r>
              </a:p>
              <a:p>
                <a:r>
                  <a:rPr lang="es-ES" sz="2000" b="1" dirty="0"/>
                  <a:t>Y esto es verdad solamente si el </a:t>
                </a:r>
                <a:r>
                  <a:rPr lang="es-ES" sz="2000" b="1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triángulo</a:t>
                </a:r>
                <a:r>
                  <a:rPr lang="es-ES" sz="2000" b="1" dirty="0"/>
                  <a:t> es </a:t>
                </a:r>
                <a:r>
                  <a:rPr lang="es-ES" sz="2000" b="1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rectángulo</a:t>
                </a:r>
                <a:r>
                  <a:rPr lang="es-ES" sz="2000" b="1" dirty="0"/>
                  <a:t>.</a:t>
                </a:r>
                <a:endParaRPr lang="es-ES" sz="32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" name="!CuadroTexto 1">
                <a:extLst>
                  <a:ext uri="{FF2B5EF4-FFF2-40B4-BE49-F238E27FC236}">
                    <a16:creationId xmlns:a16="http://schemas.microsoft.com/office/drawing/2014/main" id="{58E4BEAB-8C3A-5832-87A1-CD2F22E2A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3151" y="2447241"/>
                <a:ext cx="7793765" cy="2260747"/>
              </a:xfrm>
              <a:prstGeom prst="rect">
                <a:avLst/>
              </a:prstGeom>
              <a:blipFill>
                <a:blip r:embed="rId6"/>
                <a:stretch>
                  <a:fillRect l="-861" t="-1348" r="-1330" b="-377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upo 2">
            <a:extLst>
              <a:ext uri="{FF2B5EF4-FFF2-40B4-BE49-F238E27FC236}">
                <a16:creationId xmlns:a16="http://schemas.microsoft.com/office/drawing/2014/main" id="{CFB27B38-9282-15D8-1199-59ED3ACB5E57}"/>
              </a:ext>
            </a:extLst>
          </p:cNvPr>
          <p:cNvGrpSpPr/>
          <p:nvPr/>
        </p:nvGrpSpPr>
        <p:grpSpPr>
          <a:xfrm>
            <a:off x="1052693" y="2350092"/>
            <a:ext cx="2184002" cy="2636464"/>
            <a:chOff x="290956" y="1450889"/>
            <a:chExt cx="4048771" cy="4887562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0F68E4E1-71B9-EDEB-283B-66031286EE4A}"/>
                </a:ext>
              </a:extLst>
            </p:cNvPr>
            <p:cNvSpPr/>
            <p:nvPr/>
          </p:nvSpPr>
          <p:spPr>
            <a:xfrm rot="19599153">
              <a:off x="2989727" y="2276930"/>
              <a:ext cx="1350000" cy="1350000"/>
            </a:xfrm>
            <a:prstGeom prst="rect">
              <a:avLst/>
            </a:prstGeom>
            <a:solidFill>
              <a:srgbClr val="FFFFDB"/>
            </a:solidFill>
            <a:ln w="9525" cap="rnd">
              <a:solidFill>
                <a:srgbClr val="FCF67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E4E3F2D2-92D3-9788-DF48-970E9EC1E558}"/>
                </a:ext>
              </a:extLst>
            </p:cNvPr>
            <p:cNvSpPr/>
            <p:nvPr/>
          </p:nvSpPr>
          <p:spPr>
            <a:xfrm>
              <a:off x="1021189" y="3886851"/>
              <a:ext cx="2452103" cy="2451600"/>
            </a:xfrm>
            <a:prstGeom prst="rect">
              <a:avLst/>
            </a:prstGeom>
            <a:solidFill>
              <a:srgbClr val="EEFBEF"/>
            </a:solidFill>
            <a:ln w="9525" cap="rnd">
              <a:solidFill>
                <a:schemeClr val="accent3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8AFEDF07-173A-988A-51FD-4F31011859FC}"/>
                </a:ext>
              </a:extLst>
            </p:cNvPr>
            <p:cNvSpPr/>
            <p:nvPr/>
          </p:nvSpPr>
          <p:spPr>
            <a:xfrm rot="19599153">
              <a:off x="290956" y="1450889"/>
              <a:ext cx="2044253" cy="2044800"/>
            </a:xfrm>
            <a:prstGeom prst="rect">
              <a:avLst/>
            </a:prstGeom>
            <a:solidFill>
              <a:srgbClr val="ECF7FC"/>
            </a:solidFill>
            <a:ln w="9525" cap="rnd">
              <a:solidFill>
                <a:schemeClr val="accent1">
                  <a:lumMod val="40000"/>
                  <a:lumOff val="6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1" name="Triángulo isósceles 10">
              <a:extLst>
                <a:ext uri="{FF2B5EF4-FFF2-40B4-BE49-F238E27FC236}">
                  <a16:creationId xmlns:a16="http://schemas.microsoft.com/office/drawing/2014/main" id="{FF4243CA-E548-8BCF-8333-8A53AC85A209}"/>
                </a:ext>
              </a:extLst>
            </p:cNvPr>
            <p:cNvSpPr/>
            <p:nvPr/>
          </p:nvSpPr>
          <p:spPr>
            <a:xfrm rot="8793340">
              <a:off x="1223115" y="3215162"/>
              <a:ext cx="2048256" cy="1348138"/>
            </a:xfrm>
            <a:prstGeom prst="triangle">
              <a:avLst>
                <a:gd name="adj" fmla="val 0"/>
              </a:avLst>
            </a:prstGeom>
            <a:solidFill>
              <a:srgbClr val="B07BD7">
                <a:alpha val="60000"/>
              </a:srgbClr>
            </a:solidFill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87026C7-62D3-13BE-9D4D-6ED36E060A4D}"/>
              </a:ext>
            </a:extLst>
          </p:cNvPr>
          <p:cNvSpPr/>
          <p:nvPr/>
        </p:nvSpPr>
        <p:spPr>
          <a:xfrm rot="3418691">
            <a:off x="2332315" y="3069668"/>
            <a:ext cx="57150" cy="57150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762905F-BA8D-287A-A0F1-B842AC8A8F72}"/>
              </a:ext>
            </a:extLst>
          </p:cNvPr>
          <p:cNvSpPr txBox="1"/>
          <p:nvPr/>
        </p:nvSpPr>
        <p:spPr>
          <a:xfrm>
            <a:off x="2335649" y="2885971"/>
            <a:ext cx="45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solidFill>
                  <a:srgbClr val="C00000"/>
                </a:solidFill>
              </a:rPr>
              <a:t>.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3952CBB2-236F-C777-4A08-C201894975F7}"/>
              </a:ext>
            </a:extLst>
          </p:cNvPr>
          <p:cNvSpPr txBox="1"/>
          <p:nvPr/>
        </p:nvSpPr>
        <p:spPr>
          <a:xfrm>
            <a:off x="1924168" y="359396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7AFF6C9-4A3F-568C-1FB1-49E83B1C3B58}"/>
              </a:ext>
            </a:extLst>
          </p:cNvPr>
          <p:cNvSpPr txBox="1"/>
          <p:nvPr/>
        </p:nvSpPr>
        <p:spPr>
          <a:xfrm>
            <a:off x="1598195" y="306571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58F41B3-7B7F-9492-1FE5-F7A19A3D9068}"/>
              </a:ext>
            </a:extLst>
          </p:cNvPr>
          <p:cNvSpPr txBox="1"/>
          <p:nvPr/>
        </p:nvSpPr>
        <p:spPr>
          <a:xfrm>
            <a:off x="2433022" y="308178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5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5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21" grpId="0" animBg="1"/>
      <p:bldP spid="22" grpId="0"/>
      <p:bldP spid="12" grpId="0" animBg="1"/>
      <p:bldP spid="16" grpId="0"/>
      <p:bldP spid="23" grpId="0"/>
      <p:bldP spid="25" grpId="0"/>
      <p:bldP spid="2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ángulo isósceles 9">
            <a:extLst>
              <a:ext uri="{FF2B5EF4-FFF2-40B4-BE49-F238E27FC236}">
                <a16:creationId xmlns:a16="http://schemas.microsoft.com/office/drawing/2014/main" id="{BF3469AF-C7F7-B146-BE04-B23A0242EA32}"/>
              </a:ext>
            </a:extLst>
          </p:cNvPr>
          <p:cNvSpPr/>
          <p:nvPr/>
        </p:nvSpPr>
        <p:spPr>
          <a:xfrm rot="8820000">
            <a:off x="1555533" y="3301254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5" name="Triángulo isósceles 24">
            <a:extLst>
              <a:ext uri="{FF2B5EF4-FFF2-40B4-BE49-F238E27FC236}">
                <a16:creationId xmlns:a16="http://schemas.microsoft.com/office/drawing/2014/main" id="{4A1D5A12-F05D-3F1C-1737-1A0EC729BBCD}"/>
              </a:ext>
            </a:extLst>
          </p:cNvPr>
          <p:cNvSpPr/>
          <p:nvPr/>
        </p:nvSpPr>
        <p:spPr>
          <a:xfrm rot="8820000">
            <a:off x="1555533" y="3301254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0" name="Triángulo isósceles 29">
            <a:extLst>
              <a:ext uri="{FF2B5EF4-FFF2-40B4-BE49-F238E27FC236}">
                <a16:creationId xmlns:a16="http://schemas.microsoft.com/office/drawing/2014/main" id="{04D9D264-AE22-0735-69F8-1BE68B3AA1F1}"/>
              </a:ext>
            </a:extLst>
          </p:cNvPr>
          <p:cNvSpPr/>
          <p:nvPr/>
        </p:nvSpPr>
        <p:spPr>
          <a:xfrm rot="8820000">
            <a:off x="1555533" y="3301254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5" name="Triángulo isósceles 34">
            <a:extLst>
              <a:ext uri="{FF2B5EF4-FFF2-40B4-BE49-F238E27FC236}">
                <a16:creationId xmlns:a16="http://schemas.microsoft.com/office/drawing/2014/main" id="{8BF072E7-5D07-92A7-3BC4-5AE480EA6C7A}"/>
              </a:ext>
            </a:extLst>
          </p:cNvPr>
          <p:cNvSpPr/>
          <p:nvPr/>
        </p:nvSpPr>
        <p:spPr>
          <a:xfrm rot="8820000">
            <a:off x="1555533" y="3301254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11218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8: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Teorema de Pitágoras. Semejanza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Vamos a comprobar, visualmente, como el área del cuadrado de lado a, es igual que el área de los cuadrados de lado b y de lado c.</a:t>
            </a:r>
            <a:endParaRPr lang="es-ES" sz="28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C47DB5DA-8BBB-7C42-AFD8-50448E2BA770}"/>
              </a:ext>
            </a:extLst>
          </p:cNvPr>
          <p:cNvGrpSpPr/>
          <p:nvPr/>
        </p:nvGrpSpPr>
        <p:grpSpPr>
          <a:xfrm>
            <a:off x="1052693" y="2350092"/>
            <a:ext cx="2184002" cy="2636464"/>
            <a:chOff x="290956" y="1450889"/>
            <a:chExt cx="4048771" cy="4887562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AA37EF98-4A86-507A-9001-AEEDF9F4B268}"/>
                </a:ext>
              </a:extLst>
            </p:cNvPr>
            <p:cNvSpPr/>
            <p:nvPr/>
          </p:nvSpPr>
          <p:spPr>
            <a:xfrm rot="19599153">
              <a:off x="2989727" y="2276930"/>
              <a:ext cx="1350000" cy="1350000"/>
            </a:xfrm>
            <a:prstGeom prst="rect">
              <a:avLst/>
            </a:prstGeom>
            <a:solidFill>
              <a:srgbClr val="FFFFDB"/>
            </a:solidFill>
            <a:ln w="9525" cap="rnd">
              <a:solidFill>
                <a:srgbClr val="FCF67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EEFCDC3D-BDAA-3F22-051A-A4B995331193}"/>
                </a:ext>
              </a:extLst>
            </p:cNvPr>
            <p:cNvSpPr/>
            <p:nvPr/>
          </p:nvSpPr>
          <p:spPr>
            <a:xfrm>
              <a:off x="1021189" y="3886851"/>
              <a:ext cx="2452103" cy="2451600"/>
            </a:xfrm>
            <a:prstGeom prst="rect">
              <a:avLst/>
            </a:prstGeom>
            <a:solidFill>
              <a:srgbClr val="EEFBEF"/>
            </a:solidFill>
            <a:ln w="9525" cap="rnd">
              <a:solidFill>
                <a:schemeClr val="accent3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AE1270C8-7E01-6281-756D-DD856B0D42D6}"/>
                </a:ext>
              </a:extLst>
            </p:cNvPr>
            <p:cNvSpPr/>
            <p:nvPr/>
          </p:nvSpPr>
          <p:spPr>
            <a:xfrm rot="19599153">
              <a:off x="290956" y="1450889"/>
              <a:ext cx="2044253" cy="2044800"/>
            </a:xfrm>
            <a:prstGeom prst="rect">
              <a:avLst/>
            </a:prstGeom>
            <a:solidFill>
              <a:srgbClr val="ECF7FC"/>
            </a:solidFill>
            <a:ln w="9525" cap="rnd">
              <a:solidFill>
                <a:schemeClr val="accent1">
                  <a:lumMod val="40000"/>
                  <a:lumOff val="6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" name="Triángulo isósceles 3">
              <a:extLst>
                <a:ext uri="{FF2B5EF4-FFF2-40B4-BE49-F238E27FC236}">
                  <a16:creationId xmlns:a16="http://schemas.microsoft.com/office/drawing/2014/main" id="{3E6E098F-6AB8-19BB-8085-B146F7806CBC}"/>
                </a:ext>
              </a:extLst>
            </p:cNvPr>
            <p:cNvSpPr/>
            <p:nvPr/>
          </p:nvSpPr>
          <p:spPr>
            <a:xfrm rot="8793340">
              <a:off x="1223114" y="3215163"/>
              <a:ext cx="2048255" cy="1348138"/>
            </a:xfrm>
            <a:prstGeom prst="triangle">
              <a:avLst>
                <a:gd name="adj" fmla="val 0"/>
              </a:avLst>
            </a:prstGeom>
            <a:solidFill>
              <a:srgbClr val="D0B0E7"/>
            </a:solidFill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87CC0EC-1551-C518-FCBC-81FAFBCEC9F6}"/>
              </a:ext>
            </a:extLst>
          </p:cNvPr>
          <p:cNvSpPr/>
          <p:nvPr/>
        </p:nvSpPr>
        <p:spPr>
          <a:xfrm rot="3418691">
            <a:off x="2332315" y="3069668"/>
            <a:ext cx="57150" cy="57150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9AEA1C6-7B06-CDEA-4B49-B12C3EABFF38}"/>
              </a:ext>
            </a:extLst>
          </p:cNvPr>
          <p:cNvSpPr txBox="1"/>
          <p:nvPr/>
        </p:nvSpPr>
        <p:spPr>
          <a:xfrm>
            <a:off x="2335649" y="2885971"/>
            <a:ext cx="45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solidFill>
                  <a:srgbClr val="C00000"/>
                </a:solidFill>
              </a:rPr>
              <a:t>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85A93C1-0026-7AEC-3008-894029882AFD}"/>
              </a:ext>
            </a:extLst>
          </p:cNvPr>
          <p:cNvSpPr txBox="1"/>
          <p:nvPr/>
        </p:nvSpPr>
        <p:spPr>
          <a:xfrm>
            <a:off x="1924168" y="359396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5903788-2FBE-2428-66B2-D493FBA6CB7C}"/>
              </a:ext>
            </a:extLst>
          </p:cNvPr>
          <p:cNvSpPr txBox="1"/>
          <p:nvPr/>
        </p:nvSpPr>
        <p:spPr>
          <a:xfrm>
            <a:off x="1598195" y="306571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9FFDDB7-75AB-3D1F-BC80-E39C38AAC7DC}"/>
              </a:ext>
            </a:extLst>
          </p:cNvPr>
          <p:cNvSpPr txBox="1"/>
          <p:nvPr/>
        </p:nvSpPr>
        <p:spPr>
          <a:xfrm>
            <a:off x="2433022" y="308178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74699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0">
        <p:fade/>
      </p:transition>
    </mc:Choice>
    <mc:Fallback xmlns="">
      <p:transition spd="med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FA915EF8-638B-24C3-53C2-E67762ED0825}"/>
              </a:ext>
            </a:extLst>
          </p:cNvPr>
          <p:cNvSpPr/>
          <p:nvPr/>
        </p:nvSpPr>
        <p:spPr>
          <a:xfrm>
            <a:off x="8528061" y="2572548"/>
            <a:ext cx="1831331" cy="18291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8" name="!!Triángulo isósceles 5">
            <a:extLst>
              <a:ext uri="{FF2B5EF4-FFF2-40B4-BE49-F238E27FC236}">
                <a16:creationId xmlns:a16="http://schemas.microsoft.com/office/drawing/2014/main" id="{95913E0A-5D82-FD1A-0B9F-0B64BC5F9C27}"/>
              </a:ext>
            </a:extLst>
          </p:cNvPr>
          <p:cNvSpPr/>
          <p:nvPr/>
        </p:nvSpPr>
        <p:spPr>
          <a:xfrm rot="8820000">
            <a:off x="1550274" y="3298688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9" name="!!Triángulo isósceles 6">
            <a:extLst>
              <a:ext uri="{FF2B5EF4-FFF2-40B4-BE49-F238E27FC236}">
                <a16:creationId xmlns:a16="http://schemas.microsoft.com/office/drawing/2014/main" id="{33942277-2616-9C31-AB7B-68738FD60661}"/>
              </a:ext>
            </a:extLst>
          </p:cNvPr>
          <p:cNvSpPr/>
          <p:nvPr/>
        </p:nvSpPr>
        <p:spPr>
          <a:xfrm rot="8820000">
            <a:off x="1550274" y="3298688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0" name="!!Triángulo isósceles 7">
            <a:extLst>
              <a:ext uri="{FF2B5EF4-FFF2-40B4-BE49-F238E27FC236}">
                <a16:creationId xmlns:a16="http://schemas.microsoft.com/office/drawing/2014/main" id="{B76A78A8-CCC6-CDDC-F24D-EF681887B7FC}"/>
              </a:ext>
            </a:extLst>
          </p:cNvPr>
          <p:cNvSpPr/>
          <p:nvPr/>
        </p:nvSpPr>
        <p:spPr>
          <a:xfrm rot="8820000">
            <a:off x="1550274" y="3298688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1" name="!!Triángulo isósceles 8">
            <a:extLst>
              <a:ext uri="{FF2B5EF4-FFF2-40B4-BE49-F238E27FC236}">
                <a16:creationId xmlns:a16="http://schemas.microsoft.com/office/drawing/2014/main" id="{0B386928-B98B-4D25-F8C5-54B9F038664F}"/>
              </a:ext>
            </a:extLst>
          </p:cNvPr>
          <p:cNvSpPr/>
          <p:nvPr/>
        </p:nvSpPr>
        <p:spPr>
          <a:xfrm rot="8820000">
            <a:off x="1550274" y="3298688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D92E600-79A0-DCA9-6538-3376B2FEB65C}"/>
              </a:ext>
            </a:extLst>
          </p:cNvPr>
          <p:cNvSpPr/>
          <p:nvPr/>
        </p:nvSpPr>
        <p:spPr>
          <a:xfrm>
            <a:off x="4630483" y="2573296"/>
            <a:ext cx="1831331" cy="18291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!!Triángulo isósceles 1">
            <a:extLst>
              <a:ext uri="{FF2B5EF4-FFF2-40B4-BE49-F238E27FC236}">
                <a16:creationId xmlns:a16="http://schemas.microsoft.com/office/drawing/2014/main" id="{BF3469AF-C7F7-B146-BE04-B23A0242EA32}"/>
              </a:ext>
            </a:extLst>
          </p:cNvPr>
          <p:cNvSpPr/>
          <p:nvPr/>
        </p:nvSpPr>
        <p:spPr>
          <a:xfrm rot="8820000">
            <a:off x="1555533" y="3301254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5" name="!!Triángulo isósceles 2">
            <a:extLst>
              <a:ext uri="{FF2B5EF4-FFF2-40B4-BE49-F238E27FC236}">
                <a16:creationId xmlns:a16="http://schemas.microsoft.com/office/drawing/2014/main" id="{4A1D5A12-F05D-3F1C-1737-1A0EC729BBCD}"/>
              </a:ext>
            </a:extLst>
          </p:cNvPr>
          <p:cNvSpPr/>
          <p:nvPr/>
        </p:nvSpPr>
        <p:spPr>
          <a:xfrm rot="8820000">
            <a:off x="1555533" y="3301254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0" name="!!Triángulo isósceles 3">
            <a:extLst>
              <a:ext uri="{FF2B5EF4-FFF2-40B4-BE49-F238E27FC236}">
                <a16:creationId xmlns:a16="http://schemas.microsoft.com/office/drawing/2014/main" id="{04D9D264-AE22-0735-69F8-1BE68B3AA1F1}"/>
              </a:ext>
            </a:extLst>
          </p:cNvPr>
          <p:cNvSpPr/>
          <p:nvPr/>
        </p:nvSpPr>
        <p:spPr>
          <a:xfrm rot="8820000">
            <a:off x="1555533" y="3301254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5" name="!!Triángulo isósceles 4">
            <a:extLst>
              <a:ext uri="{FF2B5EF4-FFF2-40B4-BE49-F238E27FC236}">
                <a16:creationId xmlns:a16="http://schemas.microsoft.com/office/drawing/2014/main" id="{8BF072E7-5D07-92A7-3BC4-5AE480EA6C7A}"/>
              </a:ext>
            </a:extLst>
          </p:cNvPr>
          <p:cNvSpPr/>
          <p:nvPr/>
        </p:nvSpPr>
        <p:spPr>
          <a:xfrm rot="8820000">
            <a:off x="1555533" y="3301254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11218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8: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Teorema de Pitágoras. Semejanza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Vamos a comprobar, visualmente, como el área del cuadrado de lado a, es igual que el área de los cuadrados de lado b y de lado c.</a:t>
            </a:r>
            <a:endParaRPr lang="es-ES" sz="28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C47DB5DA-8BBB-7C42-AFD8-50448E2BA770}"/>
              </a:ext>
            </a:extLst>
          </p:cNvPr>
          <p:cNvGrpSpPr/>
          <p:nvPr/>
        </p:nvGrpSpPr>
        <p:grpSpPr>
          <a:xfrm>
            <a:off x="1052693" y="2350092"/>
            <a:ext cx="2184002" cy="2636464"/>
            <a:chOff x="290956" y="1450889"/>
            <a:chExt cx="4048771" cy="4887562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AA37EF98-4A86-507A-9001-AEEDF9F4B268}"/>
                </a:ext>
              </a:extLst>
            </p:cNvPr>
            <p:cNvSpPr/>
            <p:nvPr/>
          </p:nvSpPr>
          <p:spPr>
            <a:xfrm rot="19599153">
              <a:off x="2989727" y="2276930"/>
              <a:ext cx="1350000" cy="1350000"/>
            </a:xfrm>
            <a:prstGeom prst="rect">
              <a:avLst/>
            </a:prstGeom>
            <a:solidFill>
              <a:srgbClr val="FFFFDB"/>
            </a:solidFill>
            <a:ln w="9525" cap="rnd">
              <a:solidFill>
                <a:srgbClr val="FCF67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EEFCDC3D-BDAA-3F22-051A-A4B995331193}"/>
                </a:ext>
              </a:extLst>
            </p:cNvPr>
            <p:cNvSpPr/>
            <p:nvPr/>
          </p:nvSpPr>
          <p:spPr>
            <a:xfrm>
              <a:off x="1021189" y="3886851"/>
              <a:ext cx="2452103" cy="2451600"/>
            </a:xfrm>
            <a:prstGeom prst="rect">
              <a:avLst/>
            </a:prstGeom>
            <a:solidFill>
              <a:srgbClr val="EEFBEF"/>
            </a:solidFill>
            <a:ln w="9525" cap="rnd">
              <a:solidFill>
                <a:schemeClr val="accent3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AE1270C8-7E01-6281-756D-DD856B0D42D6}"/>
                </a:ext>
              </a:extLst>
            </p:cNvPr>
            <p:cNvSpPr/>
            <p:nvPr/>
          </p:nvSpPr>
          <p:spPr>
            <a:xfrm rot="19599153">
              <a:off x="290956" y="1450889"/>
              <a:ext cx="2044253" cy="2044800"/>
            </a:xfrm>
            <a:prstGeom prst="rect">
              <a:avLst/>
            </a:prstGeom>
            <a:solidFill>
              <a:srgbClr val="ECF7FC"/>
            </a:solidFill>
            <a:ln w="9525" cap="rnd">
              <a:solidFill>
                <a:schemeClr val="accent1">
                  <a:lumMod val="40000"/>
                  <a:lumOff val="6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" name="Triángulo isósceles 3">
              <a:extLst>
                <a:ext uri="{FF2B5EF4-FFF2-40B4-BE49-F238E27FC236}">
                  <a16:creationId xmlns:a16="http://schemas.microsoft.com/office/drawing/2014/main" id="{3E6E098F-6AB8-19BB-8085-B146F7806CBC}"/>
                </a:ext>
              </a:extLst>
            </p:cNvPr>
            <p:cNvSpPr/>
            <p:nvPr/>
          </p:nvSpPr>
          <p:spPr>
            <a:xfrm rot="8793340">
              <a:off x="1223114" y="3215163"/>
              <a:ext cx="2048256" cy="1348138"/>
            </a:xfrm>
            <a:prstGeom prst="triangle">
              <a:avLst>
                <a:gd name="adj" fmla="val 0"/>
              </a:avLst>
            </a:prstGeom>
            <a:solidFill>
              <a:srgbClr val="D0B0E7"/>
            </a:solidFill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87CC0EC-1551-C518-FCBC-81FAFBCEC9F6}"/>
              </a:ext>
            </a:extLst>
          </p:cNvPr>
          <p:cNvSpPr/>
          <p:nvPr/>
        </p:nvSpPr>
        <p:spPr>
          <a:xfrm rot="3418691">
            <a:off x="2332315" y="3069668"/>
            <a:ext cx="57150" cy="57150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9AEA1C6-7B06-CDEA-4B49-B12C3EABFF38}"/>
              </a:ext>
            </a:extLst>
          </p:cNvPr>
          <p:cNvSpPr txBox="1"/>
          <p:nvPr/>
        </p:nvSpPr>
        <p:spPr>
          <a:xfrm>
            <a:off x="2335649" y="2885971"/>
            <a:ext cx="45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solidFill>
                  <a:srgbClr val="C00000"/>
                </a:solidFill>
              </a:rPr>
              <a:t>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85A93C1-0026-7AEC-3008-894029882AFD}"/>
              </a:ext>
            </a:extLst>
          </p:cNvPr>
          <p:cNvSpPr txBox="1"/>
          <p:nvPr/>
        </p:nvSpPr>
        <p:spPr>
          <a:xfrm>
            <a:off x="1924168" y="359396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5903788-2FBE-2428-66B2-D493FBA6CB7C}"/>
              </a:ext>
            </a:extLst>
          </p:cNvPr>
          <p:cNvSpPr txBox="1"/>
          <p:nvPr/>
        </p:nvSpPr>
        <p:spPr>
          <a:xfrm>
            <a:off x="1598195" y="306571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9FFDDB7-75AB-3D1F-BC80-E39C38AAC7DC}"/>
              </a:ext>
            </a:extLst>
          </p:cNvPr>
          <p:cNvSpPr txBox="1"/>
          <p:nvPr/>
        </p:nvSpPr>
        <p:spPr>
          <a:xfrm>
            <a:off x="2433022" y="308178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26FDC39-1883-11A8-6DFC-9AA08B778069}"/>
              </a:ext>
            </a:extLst>
          </p:cNvPr>
          <p:cNvSpPr txBox="1"/>
          <p:nvPr/>
        </p:nvSpPr>
        <p:spPr>
          <a:xfrm>
            <a:off x="5015877" y="2238154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 + c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48C2166-E8EC-FCCE-D27C-BACEDF1E498E}"/>
              </a:ext>
            </a:extLst>
          </p:cNvPr>
          <p:cNvSpPr txBox="1"/>
          <p:nvPr/>
        </p:nvSpPr>
        <p:spPr>
          <a:xfrm>
            <a:off x="6364617" y="3303215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 + c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7273387-EBA1-7254-AF77-693A59D715D5}"/>
              </a:ext>
            </a:extLst>
          </p:cNvPr>
          <p:cNvSpPr txBox="1"/>
          <p:nvPr/>
        </p:nvSpPr>
        <p:spPr>
          <a:xfrm>
            <a:off x="3587357" y="3303215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 + c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26B7891-3BD5-F1E0-F5B7-9097E9080865}"/>
              </a:ext>
            </a:extLst>
          </p:cNvPr>
          <p:cNvSpPr txBox="1"/>
          <p:nvPr/>
        </p:nvSpPr>
        <p:spPr>
          <a:xfrm>
            <a:off x="5015877" y="4401718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 + c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15334B2-9DC4-A0BE-03CD-2C64876CCAF2}"/>
              </a:ext>
            </a:extLst>
          </p:cNvPr>
          <p:cNvSpPr txBox="1"/>
          <p:nvPr/>
        </p:nvSpPr>
        <p:spPr>
          <a:xfrm>
            <a:off x="8913455" y="2237406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 + c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26289F9-0E2A-830B-8F65-520A7E6D4CDB}"/>
              </a:ext>
            </a:extLst>
          </p:cNvPr>
          <p:cNvSpPr txBox="1"/>
          <p:nvPr/>
        </p:nvSpPr>
        <p:spPr>
          <a:xfrm>
            <a:off x="10262195" y="3302467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 + c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15011624-C5D1-E7E8-EC74-C570062D823C}"/>
              </a:ext>
            </a:extLst>
          </p:cNvPr>
          <p:cNvSpPr txBox="1"/>
          <p:nvPr/>
        </p:nvSpPr>
        <p:spPr>
          <a:xfrm>
            <a:off x="7484935" y="3302467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 + c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0D69710-3F17-E7FF-DDC8-D941BBA59BE7}"/>
              </a:ext>
            </a:extLst>
          </p:cNvPr>
          <p:cNvSpPr txBox="1"/>
          <p:nvPr/>
        </p:nvSpPr>
        <p:spPr>
          <a:xfrm>
            <a:off x="8913455" y="4400970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 + c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58986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3" grpId="0" animBg="1"/>
      <p:bldP spid="8" grpId="0"/>
      <p:bldP spid="9" grpId="0"/>
      <p:bldP spid="11" grpId="0"/>
      <p:bldP spid="12" grpId="0"/>
      <p:bldP spid="21" grpId="0"/>
      <p:bldP spid="22" grpId="0"/>
      <p:bldP spid="23" grpId="0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ángulo 93">
            <a:extLst>
              <a:ext uri="{FF2B5EF4-FFF2-40B4-BE49-F238E27FC236}">
                <a16:creationId xmlns:a16="http://schemas.microsoft.com/office/drawing/2014/main" id="{1B2D4790-6EF9-8D1D-10C2-A48864DACE36}"/>
              </a:ext>
            </a:extLst>
          </p:cNvPr>
          <p:cNvSpPr/>
          <p:nvPr/>
        </p:nvSpPr>
        <p:spPr>
          <a:xfrm>
            <a:off x="8528061" y="2572548"/>
            <a:ext cx="1831331" cy="18291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9" name="!!Triángulo isósceles 5">
            <a:extLst>
              <a:ext uri="{FF2B5EF4-FFF2-40B4-BE49-F238E27FC236}">
                <a16:creationId xmlns:a16="http://schemas.microsoft.com/office/drawing/2014/main" id="{B864F3EB-1B89-E8F0-B8DE-86366FA9C779}"/>
              </a:ext>
            </a:extLst>
          </p:cNvPr>
          <p:cNvSpPr/>
          <p:nvPr/>
        </p:nvSpPr>
        <p:spPr>
          <a:xfrm rot="8820000">
            <a:off x="1550274" y="3298688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0" name="!!Triángulo isósceles 6">
            <a:extLst>
              <a:ext uri="{FF2B5EF4-FFF2-40B4-BE49-F238E27FC236}">
                <a16:creationId xmlns:a16="http://schemas.microsoft.com/office/drawing/2014/main" id="{90509B0C-3F66-E863-DC4F-E9501B71C077}"/>
              </a:ext>
            </a:extLst>
          </p:cNvPr>
          <p:cNvSpPr/>
          <p:nvPr/>
        </p:nvSpPr>
        <p:spPr>
          <a:xfrm rot="8820000">
            <a:off x="1550274" y="3298688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1" name="!!Triángulo isósceles 7">
            <a:extLst>
              <a:ext uri="{FF2B5EF4-FFF2-40B4-BE49-F238E27FC236}">
                <a16:creationId xmlns:a16="http://schemas.microsoft.com/office/drawing/2014/main" id="{BA6BF211-90C4-3EDE-CA9B-EE6CC66B4E1F}"/>
              </a:ext>
            </a:extLst>
          </p:cNvPr>
          <p:cNvSpPr/>
          <p:nvPr/>
        </p:nvSpPr>
        <p:spPr>
          <a:xfrm rot="8820000">
            <a:off x="1550274" y="3298688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2" name="!!Triángulo isósceles 8">
            <a:extLst>
              <a:ext uri="{FF2B5EF4-FFF2-40B4-BE49-F238E27FC236}">
                <a16:creationId xmlns:a16="http://schemas.microsoft.com/office/drawing/2014/main" id="{7C9CD9BF-D603-07E4-4EFB-C4FC25E478FC}"/>
              </a:ext>
            </a:extLst>
          </p:cNvPr>
          <p:cNvSpPr/>
          <p:nvPr/>
        </p:nvSpPr>
        <p:spPr>
          <a:xfrm rot="8820000">
            <a:off x="1550274" y="3298688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3" name="!!Rectángulo a">
            <a:extLst>
              <a:ext uri="{FF2B5EF4-FFF2-40B4-BE49-F238E27FC236}">
                <a16:creationId xmlns:a16="http://schemas.microsoft.com/office/drawing/2014/main" id="{6A63E8E0-F9D0-125F-308E-F1BFAF568653}"/>
              </a:ext>
            </a:extLst>
          </p:cNvPr>
          <p:cNvSpPr/>
          <p:nvPr/>
        </p:nvSpPr>
        <p:spPr>
          <a:xfrm>
            <a:off x="1447199" y="3660030"/>
            <a:ext cx="1322722" cy="1322450"/>
          </a:xfrm>
          <a:prstGeom prst="rect">
            <a:avLst/>
          </a:prstGeom>
          <a:solidFill>
            <a:srgbClr val="EEFBEF"/>
          </a:solidFill>
          <a:ln w="9525" cap="rnd">
            <a:solidFill>
              <a:schemeClr val="accent3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4AF952E-9F8C-CA52-1162-E1EFBAAC7504}"/>
              </a:ext>
            </a:extLst>
          </p:cNvPr>
          <p:cNvSpPr/>
          <p:nvPr/>
        </p:nvSpPr>
        <p:spPr>
          <a:xfrm>
            <a:off x="4630483" y="2573296"/>
            <a:ext cx="1831331" cy="18291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11218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8: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Teorema de Pitágoras. Semejanza</a:t>
            </a:r>
          </a:p>
        </p:txBody>
      </p:sp>
      <p:sp>
        <p:nvSpPr>
          <p:cNvPr id="8" name="!!Triángulo isósceles 1">
            <a:extLst>
              <a:ext uri="{FF2B5EF4-FFF2-40B4-BE49-F238E27FC236}">
                <a16:creationId xmlns:a16="http://schemas.microsoft.com/office/drawing/2014/main" id="{AAC0C739-38B2-E443-DE54-3FC489561761}"/>
              </a:ext>
            </a:extLst>
          </p:cNvPr>
          <p:cNvSpPr/>
          <p:nvPr/>
        </p:nvSpPr>
        <p:spPr>
          <a:xfrm rot="5400000">
            <a:off x="4441653" y="2762126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!!Triángulo isósceles 2">
            <a:extLst>
              <a:ext uri="{FF2B5EF4-FFF2-40B4-BE49-F238E27FC236}">
                <a16:creationId xmlns:a16="http://schemas.microsoft.com/office/drawing/2014/main" id="{BD6DC9B2-8B70-2EE3-0DB4-1F6BFC63CA53}"/>
              </a:ext>
            </a:extLst>
          </p:cNvPr>
          <p:cNvSpPr/>
          <p:nvPr/>
        </p:nvSpPr>
        <p:spPr>
          <a:xfrm rot="10800000">
            <a:off x="5365204" y="2573296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!!Triángulo isósceles 3">
            <a:extLst>
              <a:ext uri="{FF2B5EF4-FFF2-40B4-BE49-F238E27FC236}">
                <a16:creationId xmlns:a16="http://schemas.microsoft.com/office/drawing/2014/main" id="{10D39C61-98C0-CCBB-BE3E-ABCE0E1BC598}"/>
              </a:ext>
            </a:extLst>
          </p:cNvPr>
          <p:cNvSpPr/>
          <p:nvPr/>
        </p:nvSpPr>
        <p:spPr>
          <a:xfrm rot="16200000">
            <a:off x="5554034" y="3488210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!!Triángulo isósceles 4">
            <a:extLst>
              <a:ext uri="{FF2B5EF4-FFF2-40B4-BE49-F238E27FC236}">
                <a16:creationId xmlns:a16="http://schemas.microsoft.com/office/drawing/2014/main" id="{8231E796-5D7C-5744-DCD2-3570D6E3CEAB}"/>
              </a:ext>
            </a:extLst>
          </p:cNvPr>
          <p:cNvSpPr/>
          <p:nvPr/>
        </p:nvSpPr>
        <p:spPr>
          <a:xfrm>
            <a:off x="4630483" y="3675249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662F315-71BC-CDE8-2DA9-03950373AE81}"/>
              </a:ext>
            </a:extLst>
          </p:cNvPr>
          <p:cNvSpPr txBox="1"/>
          <p:nvPr/>
        </p:nvSpPr>
        <p:spPr>
          <a:xfrm>
            <a:off x="4234266" y="292255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A6E6A733-CBDB-76DF-35E0-20E22F47DDAC}"/>
              </a:ext>
            </a:extLst>
          </p:cNvPr>
          <p:cNvSpPr txBox="1"/>
          <p:nvPr/>
        </p:nvSpPr>
        <p:spPr>
          <a:xfrm>
            <a:off x="4765491" y="223067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DC0BDB1C-86CC-BF00-5161-C9D51B4539A3}"/>
              </a:ext>
            </a:extLst>
          </p:cNvPr>
          <p:cNvSpPr txBox="1"/>
          <p:nvPr/>
        </p:nvSpPr>
        <p:spPr>
          <a:xfrm>
            <a:off x="4861210" y="301705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CD26CDC2-EF2F-F568-C2F8-687739175FBD}"/>
              </a:ext>
            </a:extLst>
          </p:cNvPr>
          <p:cNvSpPr txBox="1"/>
          <p:nvPr/>
        </p:nvSpPr>
        <p:spPr>
          <a:xfrm>
            <a:off x="6418805" y="269494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51348006-0D24-ECE8-B3AF-57A7CC9B50A9}"/>
              </a:ext>
            </a:extLst>
          </p:cNvPr>
          <p:cNvSpPr txBox="1"/>
          <p:nvPr/>
        </p:nvSpPr>
        <p:spPr>
          <a:xfrm>
            <a:off x="5734710" y="223067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787A1062-F39F-0B09-92DF-3C85261A956B}"/>
              </a:ext>
            </a:extLst>
          </p:cNvPr>
          <p:cNvSpPr txBox="1"/>
          <p:nvPr/>
        </p:nvSpPr>
        <p:spPr>
          <a:xfrm>
            <a:off x="5649272" y="289466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2537464-4115-FD0C-B4BF-113152DF669A}"/>
              </a:ext>
            </a:extLst>
          </p:cNvPr>
          <p:cNvSpPr txBox="1"/>
          <p:nvPr/>
        </p:nvSpPr>
        <p:spPr>
          <a:xfrm>
            <a:off x="5891924" y="436480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CB7A8041-E29F-65B5-362E-C92C0E5C222D}"/>
              </a:ext>
            </a:extLst>
          </p:cNvPr>
          <p:cNvSpPr txBox="1"/>
          <p:nvPr/>
        </p:nvSpPr>
        <p:spPr>
          <a:xfrm>
            <a:off x="6421834" y="374532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15D0F988-2BF3-8C6F-D80A-8C4561340DCA}"/>
              </a:ext>
            </a:extLst>
          </p:cNvPr>
          <p:cNvSpPr txBox="1"/>
          <p:nvPr/>
        </p:nvSpPr>
        <p:spPr>
          <a:xfrm>
            <a:off x="5776808" y="350929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BD1FAE46-3BA8-93BC-F319-44DC3D9BB9E3}"/>
              </a:ext>
            </a:extLst>
          </p:cNvPr>
          <p:cNvSpPr txBox="1"/>
          <p:nvPr/>
        </p:nvSpPr>
        <p:spPr>
          <a:xfrm>
            <a:off x="4234266" y="387687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DCB7945-F053-546D-C27C-E9AC701B4E3C}"/>
              </a:ext>
            </a:extLst>
          </p:cNvPr>
          <p:cNvSpPr txBox="1"/>
          <p:nvPr/>
        </p:nvSpPr>
        <p:spPr>
          <a:xfrm>
            <a:off x="4880014" y="436480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26F9C278-C859-AE93-F9E8-D3FBBEE3CFFC}"/>
              </a:ext>
            </a:extLst>
          </p:cNvPr>
          <p:cNvSpPr txBox="1"/>
          <p:nvPr/>
        </p:nvSpPr>
        <p:spPr>
          <a:xfrm>
            <a:off x="5009464" y="366439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D85D3CC8-C881-9914-6950-E48C93027546}"/>
              </a:ext>
            </a:extLst>
          </p:cNvPr>
          <p:cNvGrpSpPr/>
          <p:nvPr/>
        </p:nvGrpSpPr>
        <p:grpSpPr>
          <a:xfrm>
            <a:off x="1052693" y="2350092"/>
            <a:ext cx="2184002" cy="2636464"/>
            <a:chOff x="290956" y="1450889"/>
            <a:chExt cx="4048771" cy="4887562"/>
          </a:xfrm>
        </p:grpSpPr>
        <p:sp>
          <p:nvSpPr>
            <p:cNvPr id="63" name="Rectángulo 62">
              <a:extLst>
                <a:ext uri="{FF2B5EF4-FFF2-40B4-BE49-F238E27FC236}">
                  <a16:creationId xmlns:a16="http://schemas.microsoft.com/office/drawing/2014/main" id="{4D50F965-A42C-466F-82E4-E755D47C7632}"/>
                </a:ext>
              </a:extLst>
            </p:cNvPr>
            <p:cNvSpPr/>
            <p:nvPr/>
          </p:nvSpPr>
          <p:spPr>
            <a:xfrm rot="19599153">
              <a:off x="2989727" y="2276930"/>
              <a:ext cx="1350000" cy="1350000"/>
            </a:xfrm>
            <a:prstGeom prst="rect">
              <a:avLst/>
            </a:prstGeom>
            <a:solidFill>
              <a:srgbClr val="FFFFDB"/>
            </a:solidFill>
            <a:ln w="9525" cap="rnd">
              <a:solidFill>
                <a:srgbClr val="FCF67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4" name="Rectángulo 63">
              <a:extLst>
                <a:ext uri="{FF2B5EF4-FFF2-40B4-BE49-F238E27FC236}">
                  <a16:creationId xmlns:a16="http://schemas.microsoft.com/office/drawing/2014/main" id="{3C740D21-8091-77DD-4B44-BAC21D8E59DC}"/>
                </a:ext>
              </a:extLst>
            </p:cNvPr>
            <p:cNvSpPr/>
            <p:nvPr/>
          </p:nvSpPr>
          <p:spPr>
            <a:xfrm>
              <a:off x="1021189" y="3886851"/>
              <a:ext cx="2452103" cy="2451600"/>
            </a:xfrm>
            <a:prstGeom prst="rect">
              <a:avLst/>
            </a:prstGeom>
            <a:solidFill>
              <a:srgbClr val="EEFBEF"/>
            </a:solidFill>
            <a:ln w="9525" cap="rnd">
              <a:solidFill>
                <a:schemeClr val="accent3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5" name="Rectángulo 64">
              <a:extLst>
                <a:ext uri="{FF2B5EF4-FFF2-40B4-BE49-F238E27FC236}">
                  <a16:creationId xmlns:a16="http://schemas.microsoft.com/office/drawing/2014/main" id="{64D967B0-7C88-7251-7B0D-84E8BD8C30DF}"/>
                </a:ext>
              </a:extLst>
            </p:cNvPr>
            <p:cNvSpPr/>
            <p:nvPr/>
          </p:nvSpPr>
          <p:spPr>
            <a:xfrm rot="19599153">
              <a:off x="290956" y="1450889"/>
              <a:ext cx="2044253" cy="2044800"/>
            </a:xfrm>
            <a:prstGeom prst="rect">
              <a:avLst/>
            </a:prstGeom>
            <a:solidFill>
              <a:srgbClr val="ECF7FC"/>
            </a:solidFill>
            <a:ln w="9525" cap="rnd">
              <a:solidFill>
                <a:schemeClr val="accent1">
                  <a:lumMod val="40000"/>
                  <a:lumOff val="6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6" name="Triángulo isósceles 65">
              <a:extLst>
                <a:ext uri="{FF2B5EF4-FFF2-40B4-BE49-F238E27FC236}">
                  <a16:creationId xmlns:a16="http://schemas.microsoft.com/office/drawing/2014/main" id="{600B7A6F-C195-67FC-F67F-1A5EB3FC8F27}"/>
                </a:ext>
              </a:extLst>
            </p:cNvPr>
            <p:cNvSpPr/>
            <p:nvPr/>
          </p:nvSpPr>
          <p:spPr>
            <a:xfrm rot="8793340">
              <a:off x="1223115" y="3215162"/>
              <a:ext cx="2048256" cy="1348138"/>
            </a:xfrm>
            <a:prstGeom prst="triangle">
              <a:avLst>
                <a:gd name="adj" fmla="val 0"/>
              </a:avLst>
            </a:prstGeom>
            <a:solidFill>
              <a:srgbClr val="D0B0E7"/>
            </a:solidFill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67" name="Rectángulo 66">
            <a:extLst>
              <a:ext uri="{FF2B5EF4-FFF2-40B4-BE49-F238E27FC236}">
                <a16:creationId xmlns:a16="http://schemas.microsoft.com/office/drawing/2014/main" id="{329E6B8B-6397-9F3E-8A99-BB8E4BEE7839}"/>
              </a:ext>
            </a:extLst>
          </p:cNvPr>
          <p:cNvSpPr/>
          <p:nvPr/>
        </p:nvSpPr>
        <p:spPr>
          <a:xfrm rot="3418691">
            <a:off x="2332315" y="3069668"/>
            <a:ext cx="57150" cy="57150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358F8908-47CA-B935-D1CA-411546223580}"/>
              </a:ext>
            </a:extLst>
          </p:cNvPr>
          <p:cNvSpPr txBox="1"/>
          <p:nvPr/>
        </p:nvSpPr>
        <p:spPr>
          <a:xfrm>
            <a:off x="2335649" y="2885971"/>
            <a:ext cx="45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solidFill>
                  <a:srgbClr val="C00000"/>
                </a:solidFill>
              </a:rPr>
              <a:t>.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57746073-68AD-7C88-4D04-F31617C122CD}"/>
              </a:ext>
            </a:extLst>
          </p:cNvPr>
          <p:cNvSpPr txBox="1"/>
          <p:nvPr/>
        </p:nvSpPr>
        <p:spPr>
          <a:xfrm>
            <a:off x="1924168" y="359396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EBF1C693-67AB-DF17-8AAE-BCD6E09AF00C}"/>
              </a:ext>
            </a:extLst>
          </p:cNvPr>
          <p:cNvSpPr txBox="1"/>
          <p:nvPr/>
        </p:nvSpPr>
        <p:spPr>
          <a:xfrm>
            <a:off x="1598195" y="306571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69C64AF8-A550-49CD-E5CA-B8D18F1584BB}"/>
              </a:ext>
            </a:extLst>
          </p:cNvPr>
          <p:cNvSpPr txBox="1"/>
          <p:nvPr/>
        </p:nvSpPr>
        <p:spPr>
          <a:xfrm>
            <a:off x="2433022" y="308178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91" name="!Marco 10">
            <a:extLst>
              <a:ext uri="{FF2B5EF4-FFF2-40B4-BE49-F238E27FC236}">
                <a16:creationId xmlns:a16="http://schemas.microsoft.com/office/drawing/2014/main" id="{D5A06BA5-F930-7A24-D76A-CD1C2C25D69E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2" name="!CuadroTexto 1">
            <a:extLst>
              <a:ext uri="{FF2B5EF4-FFF2-40B4-BE49-F238E27FC236}">
                <a16:creationId xmlns:a16="http://schemas.microsoft.com/office/drawing/2014/main" id="{545C84F0-07B4-1DBC-D9BD-B7466EE17A2D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Vamos a comprobar, visualmente, como el área del cuadrado de lado a, es igual que el área de los cuadrados de lado b y de lado c.</a:t>
            </a:r>
            <a:endParaRPr lang="es-ES" sz="28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5" name="CuadroTexto 94">
            <a:extLst>
              <a:ext uri="{FF2B5EF4-FFF2-40B4-BE49-F238E27FC236}">
                <a16:creationId xmlns:a16="http://schemas.microsoft.com/office/drawing/2014/main" id="{2A705A84-BA44-AF8C-BF3C-28030A52436D}"/>
              </a:ext>
            </a:extLst>
          </p:cNvPr>
          <p:cNvSpPr txBox="1"/>
          <p:nvPr/>
        </p:nvSpPr>
        <p:spPr>
          <a:xfrm>
            <a:off x="8913455" y="2237406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 + c</a:t>
            </a:r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996447BD-A08F-4DEE-5C35-72CF097C822A}"/>
              </a:ext>
            </a:extLst>
          </p:cNvPr>
          <p:cNvSpPr txBox="1"/>
          <p:nvPr/>
        </p:nvSpPr>
        <p:spPr>
          <a:xfrm>
            <a:off x="10262195" y="3302467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 + c</a:t>
            </a:r>
          </a:p>
        </p:txBody>
      </p:sp>
      <p:sp>
        <p:nvSpPr>
          <p:cNvPr id="97" name="CuadroTexto 96">
            <a:extLst>
              <a:ext uri="{FF2B5EF4-FFF2-40B4-BE49-F238E27FC236}">
                <a16:creationId xmlns:a16="http://schemas.microsoft.com/office/drawing/2014/main" id="{F78B60E4-0559-1095-7DF7-0FE50ABF0D10}"/>
              </a:ext>
            </a:extLst>
          </p:cNvPr>
          <p:cNvSpPr txBox="1"/>
          <p:nvPr/>
        </p:nvSpPr>
        <p:spPr>
          <a:xfrm>
            <a:off x="7484935" y="3302467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 + c</a:t>
            </a:r>
          </a:p>
        </p:txBody>
      </p:sp>
      <p:sp>
        <p:nvSpPr>
          <p:cNvPr id="98" name="CuadroTexto 97">
            <a:extLst>
              <a:ext uri="{FF2B5EF4-FFF2-40B4-BE49-F238E27FC236}">
                <a16:creationId xmlns:a16="http://schemas.microsoft.com/office/drawing/2014/main" id="{2DFF694A-8E95-CA64-D6B3-5AD21D303FAC}"/>
              </a:ext>
            </a:extLst>
          </p:cNvPr>
          <p:cNvSpPr txBox="1"/>
          <p:nvPr/>
        </p:nvSpPr>
        <p:spPr>
          <a:xfrm>
            <a:off x="8913455" y="4400970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 + c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0183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5" grpId="0"/>
      <p:bldP spid="36" grpId="0"/>
      <p:bldP spid="32" grpId="0"/>
      <p:bldP spid="33" grpId="0"/>
      <p:bldP spid="37" grpId="0"/>
      <p:bldP spid="31" grpId="0"/>
      <p:bldP spid="34" grpId="0"/>
      <p:bldP spid="38" grpId="0"/>
      <p:bldP spid="21" grpId="0"/>
      <p:bldP spid="22" grpId="0"/>
      <p:bldP spid="3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!!Rectángulo a">
            <a:extLst>
              <a:ext uri="{FF2B5EF4-FFF2-40B4-BE49-F238E27FC236}">
                <a16:creationId xmlns:a16="http://schemas.microsoft.com/office/drawing/2014/main" id="{6A63E8E0-F9D0-125F-308E-F1BFAF568653}"/>
              </a:ext>
            </a:extLst>
          </p:cNvPr>
          <p:cNvSpPr/>
          <p:nvPr/>
        </p:nvSpPr>
        <p:spPr>
          <a:xfrm>
            <a:off x="1447199" y="3660030"/>
            <a:ext cx="1322722" cy="1322450"/>
          </a:xfrm>
          <a:prstGeom prst="rect">
            <a:avLst/>
          </a:prstGeom>
          <a:solidFill>
            <a:srgbClr val="EEFBEF"/>
          </a:solidFill>
          <a:ln w="9525" cap="rnd">
            <a:solidFill>
              <a:schemeClr val="accent3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4AF952E-9F8C-CA52-1162-E1EFBAAC7504}"/>
              </a:ext>
            </a:extLst>
          </p:cNvPr>
          <p:cNvSpPr/>
          <p:nvPr/>
        </p:nvSpPr>
        <p:spPr>
          <a:xfrm>
            <a:off x="4630483" y="2573296"/>
            <a:ext cx="1831331" cy="18291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11218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8: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Teorema de Pitágoras. Semejanza</a:t>
            </a:r>
          </a:p>
        </p:txBody>
      </p:sp>
      <p:sp>
        <p:nvSpPr>
          <p:cNvPr id="8" name="!!Triángulo isósceles 1">
            <a:extLst>
              <a:ext uri="{FF2B5EF4-FFF2-40B4-BE49-F238E27FC236}">
                <a16:creationId xmlns:a16="http://schemas.microsoft.com/office/drawing/2014/main" id="{AAC0C739-38B2-E443-DE54-3FC489561761}"/>
              </a:ext>
            </a:extLst>
          </p:cNvPr>
          <p:cNvSpPr/>
          <p:nvPr/>
        </p:nvSpPr>
        <p:spPr>
          <a:xfrm rot="5400000">
            <a:off x="4441653" y="2762126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!!Triángulo isósceles 2">
            <a:extLst>
              <a:ext uri="{FF2B5EF4-FFF2-40B4-BE49-F238E27FC236}">
                <a16:creationId xmlns:a16="http://schemas.microsoft.com/office/drawing/2014/main" id="{BD6DC9B2-8B70-2EE3-0DB4-1F6BFC63CA53}"/>
              </a:ext>
            </a:extLst>
          </p:cNvPr>
          <p:cNvSpPr/>
          <p:nvPr/>
        </p:nvSpPr>
        <p:spPr>
          <a:xfrm rot="10800000">
            <a:off x="5365204" y="2573296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!!Triángulo isósceles 3">
            <a:extLst>
              <a:ext uri="{FF2B5EF4-FFF2-40B4-BE49-F238E27FC236}">
                <a16:creationId xmlns:a16="http://schemas.microsoft.com/office/drawing/2014/main" id="{10D39C61-98C0-CCBB-BE3E-ABCE0E1BC598}"/>
              </a:ext>
            </a:extLst>
          </p:cNvPr>
          <p:cNvSpPr/>
          <p:nvPr/>
        </p:nvSpPr>
        <p:spPr>
          <a:xfrm rot="16200000">
            <a:off x="5554034" y="3488210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!!Triángulo isósceles 4">
            <a:extLst>
              <a:ext uri="{FF2B5EF4-FFF2-40B4-BE49-F238E27FC236}">
                <a16:creationId xmlns:a16="http://schemas.microsoft.com/office/drawing/2014/main" id="{8231E796-5D7C-5744-DCD2-3570D6E3CEAB}"/>
              </a:ext>
            </a:extLst>
          </p:cNvPr>
          <p:cNvSpPr/>
          <p:nvPr/>
        </p:nvSpPr>
        <p:spPr>
          <a:xfrm>
            <a:off x="4630483" y="3675249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4" name="Rectángulo 93">
            <a:extLst>
              <a:ext uri="{FF2B5EF4-FFF2-40B4-BE49-F238E27FC236}">
                <a16:creationId xmlns:a16="http://schemas.microsoft.com/office/drawing/2014/main" id="{1B2D4790-6EF9-8D1D-10C2-A48864DACE36}"/>
              </a:ext>
            </a:extLst>
          </p:cNvPr>
          <p:cNvSpPr/>
          <p:nvPr/>
        </p:nvSpPr>
        <p:spPr>
          <a:xfrm>
            <a:off x="8528061" y="2572548"/>
            <a:ext cx="1831331" cy="18291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!!Triángulo isósceles 5">
            <a:extLst>
              <a:ext uri="{FF2B5EF4-FFF2-40B4-BE49-F238E27FC236}">
                <a16:creationId xmlns:a16="http://schemas.microsoft.com/office/drawing/2014/main" id="{1C3915A3-0E74-7A21-6393-79FC2E9EEC5F}"/>
              </a:ext>
            </a:extLst>
          </p:cNvPr>
          <p:cNvSpPr/>
          <p:nvPr/>
        </p:nvSpPr>
        <p:spPr>
          <a:xfrm rot="16200000">
            <a:off x="9445410" y="2756370"/>
            <a:ext cx="1090938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!Triángulo isósceles 6">
            <a:extLst>
              <a:ext uri="{FF2B5EF4-FFF2-40B4-BE49-F238E27FC236}">
                <a16:creationId xmlns:a16="http://schemas.microsoft.com/office/drawing/2014/main" id="{BCDB8D4B-04E7-47EF-ED51-D79378D970B8}"/>
              </a:ext>
            </a:extLst>
          </p:cNvPr>
          <p:cNvSpPr/>
          <p:nvPr/>
        </p:nvSpPr>
        <p:spPr>
          <a:xfrm>
            <a:off x="8525538" y="3671373"/>
            <a:ext cx="1090938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!!Triángulo isósceles 7">
            <a:extLst>
              <a:ext uri="{FF2B5EF4-FFF2-40B4-BE49-F238E27FC236}">
                <a16:creationId xmlns:a16="http://schemas.microsoft.com/office/drawing/2014/main" id="{BE356CBB-E420-FEE6-A0C3-B80BD06DD463}"/>
              </a:ext>
            </a:extLst>
          </p:cNvPr>
          <p:cNvSpPr/>
          <p:nvPr/>
        </p:nvSpPr>
        <p:spPr>
          <a:xfrm rot="5400000">
            <a:off x="9447791" y="2753990"/>
            <a:ext cx="1090938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!!Triángulo isósceles 8">
            <a:extLst>
              <a:ext uri="{FF2B5EF4-FFF2-40B4-BE49-F238E27FC236}">
                <a16:creationId xmlns:a16="http://schemas.microsoft.com/office/drawing/2014/main" id="{5C50D421-882C-DA75-9296-4C57E26CC03C}"/>
              </a:ext>
            </a:extLst>
          </p:cNvPr>
          <p:cNvSpPr/>
          <p:nvPr/>
        </p:nvSpPr>
        <p:spPr>
          <a:xfrm rot="10800000">
            <a:off x="8528061" y="3673753"/>
            <a:ext cx="1090938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662F315-71BC-CDE8-2DA9-03950373AE81}"/>
              </a:ext>
            </a:extLst>
          </p:cNvPr>
          <p:cNvSpPr txBox="1"/>
          <p:nvPr/>
        </p:nvSpPr>
        <p:spPr>
          <a:xfrm>
            <a:off x="4234266" y="292255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A6E6A733-CBDB-76DF-35E0-20E22F47DDAC}"/>
              </a:ext>
            </a:extLst>
          </p:cNvPr>
          <p:cNvSpPr txBox="1"/>
          <p:nvPr/>
        </p:nvSpPr>
        <p:spPr>
          <a:xfrm>
            <a:off x="4765491" y="223067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DC0BDB1C-86CC-BF00-5161-C9D51B4539A3}"/>
              </a:ext>
            </a:extLst>
          </p:cNvPr>
          <p:cNvSpPr txBox="1"/>
          <p:nvPr/>
        </p:nvSpPr>
        <p:spPr>
          <a:xfrm>
            <a:off x="4861210" y="301705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CD26CDC2-EF2F-F568-C2F8-687739175FBD}"/>
              </a:ext>
            </a:extLst>
          </p:cNvPr>
          <p:cNvSpPr txBox="1"/>
          <p:nvPr/>
        </p:nvSpPr>
        <p:spPr>
          <a:xfrm>
            <a:off x="6418805" y="269494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51348006-0D24-ECE8-B3AF-57A7CC9B50A9}"/>
              </a:ext>
            </a:extLst>
          </p:cNvPr>
          <p:cNvSpPr txBox="1"/>
          <p:nvPr/>
        </p:nvSpPr>
        <p:spPr>
          <a:xfrm>
            <a:off x="5734710" y="223067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787A1062-F39F-0B09-92DF-3C85261A956B}"/>
              </a:ext>
            </a:extLst>
          </p:cNvPr>
          <p:cNvSpPr txBox="1"/>
          <p:nvPr/>
        </p:nvSpPr>
        <p:spPr>
          <a:xfrm>
            <a:off x="5649272" y="289466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2537464-4115-FD0C-B4BF-113152DF669A}"/>
              </a:ext>
            </a:extLst>
          </p:cNvPr>
          <p:cNvSpPr txBox="1"/>
          <p:nvPr/>
        </p:nvSpPr>
        <p:spPr>
          <a:xfrm>
            <a:off x="5891924" y="436480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CB7A8041-E29F-65B5-362E-C92C0E5C222D}"/>
              </a:ext>
            </a:extLst>
          </p:cNvPr>
          <p:cNvSpPr txBox="1"/>
          <p:nvPr/>
        </p:nvSpPr>
        <p:spPr>
          <a:xfrm>
            <a:off x="6421834" y="374532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15D0F988-2BF3-8C6F-D80A-8C4561340DCA}"/>
              </a:ext>
            </a:extLst>
          </p:cNvPr>
          <p:cNvSpPr txBox="1"/>
          <p:nvPr/>
        </p:nvSpPr>
        <p:spPr>
          <a:xfrm>
            <a:off x="5776808" y="350929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BD1FAE46-3BA8-93BC-F319-44DC3D9BB9E3}"/>
              </a:ext>
            </a:extLst>
          </p:cNvPr>
          <p:cNvSpPr txBox="1"/>
          <p:nvPr/>
        </p:nvSpPr>
        <p:spPr>
          <a:xfrm>
            <a:off x="4234266" y="387687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DCB7945-F053-546D-C27C-E9AC701B4E3C}"/>
              </a:ext>
            </a:extLst>
          </p:cNvPr>
          <p:cNvSpPr txBox="1"/>
          <p:nvPr/>
        </p:nvSpPr>
        <p:spPr>
          <a:xfrm>
            <a:off x="4880014" y="436480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26F9C278-C859-AE93-F9E8-D3FBBEE3CFFC}"/>
              </a:ext>
            </a:extLst>
          </p:cNvPr>
          <p:cNvSpPr txBox="1"/>
          <p:nvPr/>
        </p:nvSpPr>
        <p:spPr>
          <a:xfrm>
            <a:off x="5009464" y="366439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D85D3CC8-C881-9914-6950-E48C93027546}"/>
              </a:ext>
            </a:extLst>
          </p:cNvPr>
          <p:cNvGrpSpPr/>
          <p:nvPr/>
        </p:nvGrpSpPr>
        <p:grpSpPr>
          <a:xfrm>
            <a:off x="1052693" y="2350092"/>
            <a:ext cx="2184002" cy="2636464"/>
            <a:chOff x="290956" y="1450889"/>
            <a:chExt cx="4048771" cy="4887562"/>
          </a:xfrm>
        </p:grpSpPr>
        <p:sp>
          <p:nvSpPr>
            <p:cNvPr id="63" name="Rectángulo 62">
              <a:extLst>
                <a:ext uri="{FF2B5EF4-FFF2-40B4-BE49-F238E27FC236}">
                  <a16:creationId xmlns:a16="http://schemas.microsoft.com/office/drawing/2014/main" id="{4D50F965-A42C-466F-82E4-E755D47C7632}"/>
                </a:ext>
              </a:extLst>
            </p:cNvPr>
            <p:cNvSpPr/>
            <p:nvPr/>
          </p:nvSpPr>
          <p:spPr>
            <a:xfrm rot="19599153">
              <a:off x="2989727" y="2276930"/>
              <a:ext cx="1350000" cy="1350000"/>
            </a:xfrm>
            <a:prstGeom prst="rect">
              <a:avLst/>
            </a:prstGeom>
            <a:solidFill>
              <a:srgbClr val="FFFFDB"/>
            </a:solidFill>
            <a:ln w="9525" cap="rnd">
              <a:solidFill>
                <a:srgbClr val="FCF67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4" name="Rectángulo 63">
              <a:extLst>
                <a:ext uri="{FF2B5EF4-FFF2-40B4-BE49-F238E27FC236}">
                  <a16:creationId xmlns:a16="http://schemas.microsoft.com/office/drawing/2014/main" id="{3C740D21-8091-77DD-4B44-BAC21D8E59DC}"/>
                </a:ext>
              </a:extLst>
            </p:cNvPr>
            <p:cNvSpPr/>
            <p:nvPr/>
          </p:nvSpPr>
          <p:spPr>
            <a:xfrm>
              <a:off x="1021189" y="3886851"/>
              <a:ext cx="2452103" cy="2451600"/>
            </a:xfrm>
            <a:prstGeom prst="rect">
              <a:avLst/>
            </a:prstGeom>
            <a:solidFill>
              <a:srgbClr val="EEFBEF"/>
            </a:solidFill>
            <a:ln w="9525" cap="rnd">
              <a:solidFill>
                <a:schemeClr val="accent3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5" name="Rectángulo 64">
              <a:extLst>
                <a:ext uri="{FF2B5EF4-FFF2-40B4-BE49-F238E27FC236}">
                  <a16:creationId xmlns:a16="http://schemas.microsoft.com/office/drawing/2014/main" id="{64D967B0-7C88-7251-7B0D-84E8BD8C30DF}"/>
                </a:ext>
              </a:extLst>
            </p:cNvPr>
            <p:cNvSpPr/>
            <p:nvPr/>
          </p:nvSpPr>
          <p:spPr>
            <a:xfrm rot="19599153">
              <a:off x="290956" y="1450889"/>
              <a:ext cx="2044253" cy="2044800"/>
            </a:xfrm>
            <a:prstGeom prst="rect">
              <a:avLst/>
            </a:prstGeom>
            <a:solidFill>
              <a:srgbClr val="ECF7FC"/>
            </a:solidFill>
            <a:ln w="9525" cap="rnd">
              <a:solidFill>
                <a:schemeClr val="accent1">
                  <a:lumMod val="40000"/>
                  <a:lumOff val="6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6" name="Triángulo isósceles 65">
              <a:extLst>
                <a:ext uri="{FF2B5EF4-FFF2-40B4-BE49-F238E27FC236}">
                  <a16:creationId xmlns:a16="http://schemas.microsoft.com/office/drawing/2014/main" id="{600B7A6F-C195-67FC-F67F-1A5EB3FC8F27}"/>
                </a:ext>
              </a:extLst>
            </p:cNvPr>
            <p:cNvSpPr/>
            <p:nvPr/>
          </p:nvSpPr>
          <p:spPr>
            <a:xfrm rot="8793340">
              <a:off x="1223115" y="3215162"/>
              <a:ext cx="2048256" cy="1348138"/>
            </a:xfrm>
            <a:prstGeom prst="triangle">
              <a:avLst>
                <a:gd name="adj" fmla="val 0"/>
              </a:avLst>
            </a:prstGeom>
            <a:solidFill>
              <a:srgbClr val="D0B0E7"/>
            </a:solidFill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67" name="Rectángulo 66">
            <a:extLst>
              <a:ext uri="{FF2B5EF4-FFF2-40B4-BE49-F238E27FC236}">
                <a16:creationId xmlns:a16="http://schemas.microsoft.com/office/drawing/2014/main" id="{329E6B8B-6397-9F3E-8A99-BB8E4BEE7839}"/>
              </a:ext>
            </a:extLst>
          </p:cNvPr>
          <p:cNvSpPr/>
          <p:nvPr/>
        </p:nvSpPr>
        <p:spPr>
          <a:xfrm rot="3418691">
            <a:off x="2332315" y="3069668"/>
            <a:ext cx="57150" cy="57150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358F8908-47CA-B935-D1CA-411546223580}"/>
              </a:ext>
            </a:extLst>
          </p:cNvPr>
          <p:cNvSpPr txBox="1"/>
          <p:nvPr/>
        </p:nvSpPr>
        <p:spPr>
          <a:xfrm>
            <a:off x="2335649" y="2885971"/>
            <a:ext cx="45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solidFill>
                  <a:srgbClr val="C00000"/>
                </a:solidFill>
              </a:rPr>
              <a:t>.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57746073-68AD-7C88-4D04-F31617C122CD}"/>
              </a:ext>
            </a:extLst>
          </p:cNvPr>
          <p:cNvSpPr txBox="1"/>
          <p:nvPr/>
        </p:nvSpPr>
        <p:spPr>
          <a:xfrm>
            <a:off x="1924168" y="359396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EBF1C693-67AB-DF17-8AAE-BCD6E09AF00C}"/>
              </a:ext>
            </a:extLst>
          </p:cNvPr>
          <p:cNvSpPr txBox="1"/>
          <p:nvPr/>
        </p:nvSpPr>
        <p:spPr>
          <a:xfrm>
            <a:off x="1598195" y="306571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69C64AF8-A550-49CD-E5CA-B8D18F1584BB}"/>
              </a:ext>
            </a:extLst>
          </p:cNvPr>
          <p:cNvSpPr txBox="1"/>
          <p:nvPr/>
        </p:nvSpPr>
        <p:spPr>
          <a:xfrm>
            <a:off x="2433022" y="308178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91" name="!Marco 10">
            <a:extLst>
              <a:ext uri="{FF2B5EF4-FFF2-40B4-BE49-F238E27FC236}">
                <a16:creationId xmlns:a16="http://schemas.microsoft.com/office/drawing/2014/main" id="{D5A06BA5-F930-7A24-D76A-CD1C2C25D69E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2" name="!CuadroTexto 1">
            <a:extLst>
              <a:ext uri="{FF2B5EF4-FFF2-40B4-BE49-F238E27FC236}">
                <a16:creationId xmlns:a16="http://schemas.microsoft.com/office/drawing/2014/main" id="{545C84F0-07B4-1DBC-D9BD-B7466EE17A2D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Vamos a comprobar, visualmente, como el área del cuadrado de lado a, es igual que el área de los cuadrados de lado b y de lado c.</a:t>
            </a:r>
            <a:endParaRPr lang="es-ES" sz="28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410C677-65B3-BFC0-7179-BC1925FC5239}"/>
              </a:ext>
            </a:extLst>
          </p:cNvPr>
          <p:cNvSpPr txBox="1"/>
          <p:nvPr/>
        </p:nvSpPr>
        <p:spPr>
          <a:xfrm>
            <a:off x="8166653" y="385111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399A3B0-20E2-C18A-BA8B-B41385CA9EB4}"/>
              </a:ext>
            </a:extLst>
          </p:cNvPr>
          <p:cNvSpPr txBox="1"/>
          <p:nvPr/>
        </p:nvSpPr>
        <p:spPr>
          <a:xfrm>
            <a:off x="9760198" y="223112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82884F0-B807-8703-1C98-C2B5C9EC1CBF}"/>
              </a:ext>
            </a:extLst>
          </p:cNvPr>
          <p:cNvSpPr txBox="1"/>
          <p:nvPr/>
        </p:nvSpPr>
        <p:spPr>
          <a:xfrm>
            <a:off x="9760198" y="436242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DF0B086-A167-DD9C-A7BF-5D33D497A75D}"/>
              </a:ext>
            </a:extLst>
          </p:cNvPr>
          <p:cNvSpPr txBox="1"/>
          <p:nvPr/>
        </p:nvSpPr>
        <p:spPr>
          <a:xfrm>
            <a:off x="8849065" y="436242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6CBE14B-A6B6-9024-D111-86236A5AB9FF}"/>
              </a:ext>
            </a:extLst>
          </p:cNvPr>
          <p:cNvSpPr txBox="1"/>
          <p:nvPr/>
        </p:nvSpPr>
        <p:spPr>
          <a:xfrm>
            <a:off x="8839614" y="222935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10683D9-74A2-4609-356A-8C845CFDBE23}"/>
              </a:ext>
            </a:extLst>
          </p:cNvPr>
          <p:cNvSpPr txBox="1"/>
          <p:nvPr/>
        </p:nvSpPr>
        <p:spPr>
          <a:xfrm>
            <a:off x="8164753" y="293940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810C8E1-4799-BD0A-9BEE-E9849354FBA2}"/>
              </a:ext>
            </a:extLst>
          </p:cNvPr>
          <p:cNvSpPr txBox="1"/>
          <p:nvPr/>
        </p:nvSpPr>
        <p:spPr>
          <a:xfrm>
            <a:off x="10306400" y="293940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F9F41D1-ED7C-D4EA-916B-CB438DFA81ED}"/>
              </a:ext>
            </a:extLst>
          </p:cNvPr>
          <p:cNvSpPr txBox="1"/>
          <p:nvPr/>
        </p:nvSpPr>
        <p:spPr>
          <a:xfrm>
            <a:off x="10306400" y="384773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CC81B2D-1F2A-1CA1-0BBA-1E736A8C173A}"/>
              </a:ext>
            </a:extLst>
          </p:cNvPr>
          <p:cNvSpPr txBox="1"/>
          <p:nvPr/>
        </p:nvSpPr>
        <p:spPr>
          <a:xfrm>
            <a:off x="8705891" y="389498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8144A72-6861-790E-C9E8-7ED93DEF2E46}"/>
              </a:ext>
            </a:extLst>
          </p:cNvPr>
          <p:cNvSpPr txBox="1"/>
          <p:nvPr/>
        </p:nvSpPr>
        <p:spPr>
          <a:xfrm>
            <a:off x="9813091" y="301573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34262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3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0B0CCAB8-22FA-0DA2-6222-7695243DC635}"/>
              </a:ext>
            </a:extLst>
          </p:cNvPr>
          <p:cNvSpPr/>
          <p:nvPr/>
        </p:nvSpPr>
        <p:spPr>
          <a:xfrm>
            <a:off x="8528061" y="2572548"/>
            <a:ext cx="1831331" cy="18291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B98ECE2-C3C2-87AE-4622-D6691A990F03}"/>
              </a:ext>
            </a:extLst>
          </p:cNvPr>
          <p:cNvSpPr/>
          <p:nvPr/>
        </p:nvSpPr>
        <p:spPr>
          <a:xfrm rot="19599153">
            <a:off x="2507934" y="2795676"/>
            <a:ext cx="728222" cy="728221"/>
          </a:xfrm>
          <a:prstGeom prst="rect">
            <a:avLst/>
          </a:prstGeom>
          <a:solidFill>
            <a:srgbClr val="FFFFDB"/>
          </a:solidFill>
          <a:ln w="9525" cap="rnd">
            <a:solidFill>
              <a:srgbClr val="FCF674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00F3D3E-073C-4538-7086-75F9659898FA}"/>
              </a:ext>
            </a:extLst>
          </p:cNvPr>
          <p:cNvSpPr/>
          <p:nvPr/>
        </p:nvSpPr>
        <p:spPr>
          <a:xfrm rot="19599153">
            <a:off x="1052965" y="2342531"/>
            <a:ext cx="1102718" cy="1103012"/>
          </a:xfrm>
          <a:prstGeom prst="rect">
            <a:avLst/>
          </a:prstGeom>
          <a:solidFill>
            <a:srgbClr val="ECF7FC"/>
          </a:solidFill>
          <a:ln w="9525" cap="rnd">
            <a:solidFill>
              <a:schemeClr val="accent1">
                <a:lumMod val="40000"/>
                <a:lumOff val="6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11218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8: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Teorema de Pitágoras. Semejanza</a:t>
            </a:r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D85D3CC8-C881-9914-6950-E48C93027546}"/>
              </a:ext>
            </a:extLst>
          </p:cNvPr>
          <p:cNvGrpSpPr/>
          <p:nvPr/>
        </p:nvGrpSpPr>
        <p:grpSpPr>
          <a:xfrm>
            <a:off x="1052693" y="2350092"/>
            <a:ext cx="2184002" cy="2636464"/>
            <a:chOff x="290956" y="1450889"/>
            <a:chExt cx="4048771" cy="4887562"/>
          </a:xfrm>
        </p:grpSpPr>
        <p:sp>
          <p:nvSpPr>
            <p:cNvPr id="63" name="Rectángulo 62">
              <a:extLst>
                <a:ext uri="{FF2B5EF4-FFF2-40B4-BE49-F238E27FC236}">
                  <a16:creationId xmlns:a16="http://schemas.microsoft.com/office/drawing/2014/main" id="{4D50F965-A42C-466F-82E4-E755D47C7632}"/>
                </a:ext>
              </a:extLst>
            </p:cNvPr>
            <p:cNvSpPr/>
            <p:nvPr/>
          </p:nvSpPr>
          <p:spPr>
            <a:xfrm rot="19599153">
              <a:off x="2989727" y="2276930"/>
              <a:ext cx="1350000" cy="1350000"/>
            </a:xfrm>
            <a:prstGeom prst="rect">
              <a:avLst/>
            </a:prstGeom>
            <a:solidFill>
              <a:srgbClr val="FFFFDB"/>
            </a:solidFill>
            <a:ln w="9525" cap="rnd">
              <a:solidFill>
                <a:srgbClr val="FCF67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4" name="Rectángulo 63">
              <a:extLst>
                <a:ext uri="{FF2B5EF4-FFF2-40B4-BE49-F238E27FC236}">
                  <a16:creationId xmlns:a16="http://schemas.microsoft.com/office/drawing/2014/main" id="{3C740D21-8091-77DD-4B44-BAC21D8E59DC}"/>
                </a:ext>
              </a:extLst>
            </p:cNvPr>
            <p:cNvSpPr/>
            <p:nvPr/>
          </p:nvSpPr>
          <p:spPr>
            <a:xfrm>
              <a:off x="1021189" y="3886851"/>
              <a:ext cx="2452103" cy="2451600"/>
            </a:xfrm>
            <a:prstGeom prst="rect">
              <a:avLst/>
            </a:prstGeom>
            <a:solidFill>
              <a:srgbClr val="EEFBEF"/>
            </a:solidFill>
            <a:ln w="9525" cap="rnd">
              <a:solidFill>
                <a:schemeClr val="accent3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5" name="Rectángulo 64">
              <a:extLst>
                <a:ext uri="{FF2B5EF4-FFF2-40B4-BE49-F238E27FC236}">
                  <a16:creationId xmlns:a16="http://schemas.microsoft.com/office/drawing/2014/main" id="{64D967B0-7C88-7251-7B0D-84E8BD8C30DF}"/>
                </a:ext>
              </a:extLst>
            </p:cNvPr>
            <p:cNvSpPr/>
            <p:nvPr/>
          </p:nvSpPr>
          <p:spPr>
            <a:xfrm rot="19599153">
              <a:off x="290956" y="1450889"/>
              <a:ext cx="2044253" cy="2044800"/>
            </a:xfrm>
            <a:prstGeom prst="rect">
              <a:avLst/>
            </a:prstGeom>
            <a:solidFill>
              <a:srgbClr val="ECF7FC"/>
            </a:solidFill>
            <a:ln w="9525" cap="rnd">
              <a:solidFill>
                <a:schemeClr val="accent1">
                  <a:lumMod val="40000"/>
                  <a:lumOff val="6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6" name="Triángulo isósceles 65">
              <a:extLst>
                <a:ext uri="{FF2B5EF4-FFF2-40B4-BE49-F238E27FC236}">
                  <a16:creationId xmlns:a16="http://schemas.microsoft.com/office/drawing/2014/main" id="{600B7A6F-C195-67FC-F67F-1A5EB3FC8F27}"/>
                </a:ext>
              </a:extLst>
            </p:cNvPr>
            <p:cNvSpPr/>
            <p:nvPr/>
          </p:nvSpPr>
          <p:spPr>
            <a:xfrm rot="8793340">
              <a:off x="1223115" y="3215162"/>
              <a:ext cx="2048256" cy="1348138"/>
            </a:xfrm>
            <a:prstGeom prst="triangle">
              <a:avLst>
                <a:gd name="adj" fmla="val 0"/>
              </a:avLst>
            </a:prstGeom>
            <a:solidFill>
              <a:srgbClr val="D0B0E7"/>
            </a:solidFill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67" name="Rectángulo 66">
            <a:extLst>
              <a:ext uri="{FF2B5EF4-FFF2-40B4-BE49-F238E27FC236}">
                <a16:creationId xmlns:a16="http://schemas.microsoft.com/office/drawing/2014/main" id="{329E6B8B-6397-9F3E-8A99-BB8E4BEE7839}"/>
              </a:ext>
            </a:extLst>
          </p:cNvPr>
          <p:cNvSpPr/>
          <p:nvPr/>
        </p:nvSpPr>
        <p:spPr>
          <a:xfrm rot="3418691">
            <a:off x="2332315" y="3069668"/>
            <a:ext cx="57150" cy="57150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358F8908-47CA-B935-D1CA-411546223580}"/>
              </a:ext>
            </a:extLst>
          </p:cNvPr>
          <p:cNvSpPr txBox="1"/>
          <p:nvPr/>
        </p:nvSpPr>
        <p:spPr>
          <a:xfrm>
            <a:off x="2335649" y="2885971"/>
            <a:ext cx="45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solidFill>
                  <a:srgbClr val="C00000"/>
                </a:solidFill>
              </a:rPr>
              <a:t>.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57746073-68AD-7C88-4D04-F31617C122CD}"/>
              </a:ext>
            </a:extLst>
          </p:cNvPr>
          <p:cNvSpPr txBox="1"/>
          <p:nvPr/>
        </p:nvSpPr>
        <p:spPr>
          <a:xfrm>
            <a:off x="1924168" y="359396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EBF1C693-67AB-DF17-8AAE-BCD6E09AF00C}"/>
              </a:ext>
            </a:extLst>
          </p:cNvPr>
          <p:cNvSpPr txBox="1"/>
          <p:nvPr/>
        </p:nvSpPr>
        <p:spPr>
          <a:xfrm>
            <a:off x="1598195" y="306571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69C64AF8-A550-49CD-E5CA-B8D18F1584BB}"/>
              </a:ext>
            </a:extLst>
          </p:cNvPr>
          <p:cNvSpPr txBox="1"/>
          <p:nvPr/>
        </p:nvSpPr>
        <p:spPr>
          <a:xfrm>
            <a:off x="2433022" y="308178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91" name="!Marco 10">
            <a:extLst>
              <a:ext uri="{FF2B5EF4-FFF2-40B4-BE49-F238E27FC236}">
                <a16:creationId xmlns:a16="http://schemas.microsoft.com/office/drawing/2014/main" id="{D5A06BA5-F930-7A24-D76A-CD1C2C25D69E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2" name="!CuadroTexto 1">
            <a:extLst>
              <a:ext uri="{FF2B5EF4-FFF2-40B4-BE49-F238E27FC236}">
                <a16:creationId xmlns:a16="http://schemas.microsoft.com/office/drawing/2014/main" id="{545C84F0-07B4-1DBC-D9BD-B7466EE17A2D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Vamos a comprobar, visualmente, como el área del cuadrado de lado a, es igual que el área de los cuadrados de lado b y de lado c.</a:t>
            </a:r>
            <a:endParaRPr lang="es-ES" sz="28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!!Triángulo isósceles 5">
            <a:extLst>
              <a:ext uri="{FF2B5EF4-FFF2-40B4-BE49-F238E27FC236}">
                <a16:creationId xmlns:a16="http://schemas.microsoft.com/office/drawing/2014/main" id="{ADDEB735-C509-83B8-B561-BC84BD5A7F75}"/>
              </a:ext>
            </a:extLst>
          </p:cNvPr>
          <p:cNvSpPr/>
          <p:nvPr/>
        </p:nvSpPr>
        <p:spPr>
          <a:xfrm rot="16200000">
            <a:off x="9445410" y="2756370"/>
            <a:ext cx="1090938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0" name="!!Triángulo isósceles 6">
            <a:extLst>
              <a:ext uri="{FF2B5EF4-FFF2-40B4-BE49-F238E27FC236}">
                <a16:creationId xmlns:a16="http://schemas.microsoft.com/office/drawing/2014/main" id="{1C6122FD-4733-13EC-A8C7-139225681854}"/>
              </a:ext>
            </a:extLst>
          </p:cNvPr>
          <p:cNvSpPr/>
          <p:nvPr/>
        </p:nvSpPr>
        <p:spPr>
          <a:xfrm>
            <a:off x="8525538" y="3671373"/>
            <a:ext cx="1090938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3" name="!!Triángulo isósceles 7">
            <a:extLst>
              <a:ext uri="{FF2B5EF4-FFF2-40B4-BE49-F238E27FC236}">
                <a16:creationId xmlns:a16="http://schemas.microsoft.com/office/drawing/2014/main" id="{A3AE19C1-2941-6902-AC55-235757BE23EC}"/>
              </a:ext>
            </a:extLst>
          </p:cNvPr>
          <p:cNvSpPr/>
          <p:nvPr/>
        </p:nvSpPr>
        <p:spPr>
          <a:xfrm rot="5400000">
            <a:off x="9447791" y="2753990"/>
            <a:ext cx="1090938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!Triángulo isósceles 8">
            <a:extLst>
              <a:ext uri="{FF2B5EF4-FFF2-40B4-BE49-F238E27FC236}">
                <a16:creationId xmlns:a16="http://schemas.microsoft.com/office/drawing/2014/main" id="{69C4964F-FBC4-5625-1DEA-043EBD70AF06}"/>
              </a:ext>
            </a:extLst>
          </p:cNvPr>
          <p:cNvSpPr/>
          <p:nvPr/>
        </p:nvSpPr>
        <p:spPr>
          <a:xfrm rot="10800000">
            <a:off x="8528061" y="3673753"/>
            <a:ext cx="1090938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8AF1678-E3D7-DF69-B270-6302E52D022A}"/>
              </a:ext>
            </a:extLst>
          </p:cNvPr>
          <p:cNvSpPr txBox="1"/>
          <p:nvPr/>
        </p:nvSpPr>
        <p:spPr>
          <a:xfrm>
            <a:off x="8166653" y="385111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DE4ADEC-F068-12AB-B2B8-0CF9D95B1D40}"/>
              </a:ext>
            </a:extLst>
          </p:cNvPr>
          <p:cNvSpPr txBox="1"/>
          <p:nvPr/>
        </p:nvSpPr>
        <p:spPr>
          <a:xfrm>
            <a:off x="9760198" y="223112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D85CE98-8870-9F40-1E6B-D6C3313BE131}"/>
              </a:ext>
            </a:extLst>
          </p:cNvPr>
          <p:cNvSpPr txBox="1"/>
          <p:nvPr/>
        </p:nvSpPr>
        <p:spPr>
          <a:xfrm>
            <a:off x="9760198" y="436242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C2C90EAE-08F3-A533-B27C-D7EA5B232071}"/>
              </a:ext>
            </a:extLst>
          </p:cNvPr>
          <p:cNvSpPr txBox="1"/>
          <p:nvPr/>
        </p:nvSpPr>
        <p:spPr>
          <a:xfrm>
            <a:off x="8849065" y="436242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6451516-22C3-145B-34B3-E7F1B1DDAFCD}"/>
              </a:ext>
            </a:extLst>
          </p:cNvPr>
          <p:cNvSpPr txBox="1"/>
          <p:nvPr/>
        </p:nvSpPr>
        <p:spPr>
          <a:xfrm>
            <a:off x="8839614" y="222935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E495EBC-E040-D020-1894-501649DF92BA}"/>
              </a:ext>
            </a:extLst>
          </p:cNvPr>
          <p:cNvSpPr txBox="1"/>
          <p:nvPr/>
        </p:nvSpPr>
        <p:spPr>
          <a:xfrm>
            <a:off x="8164753" y="293940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9AD7790C-13E3-9208-7B98-4EB055D3ECAC}"/>
              </a:ext>
            </a:extLst>
          </p:cNvPr>
          <p:cNvSpPr txBox="1"/>
          <p:nvPr/>
        </p:nvSpPr>
        <p:spPr>
          <a:xfrm>
            <a:off x="10306400" y="293940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0A8BB075-2B4D-10BA-8964-D69062D2147F}"/>
              </a:ext>
            </a:extLst>
          </p:cNvPr>
          <p:cNvSpPr txBox="1"/>
          <p:nvPr/>
        </p:nvSpPr>
        <p:spPr>
          <a:xfrm>
            <a:off x="10306400" y="384773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9191D135-ACEF-99C1-F0A3-4BAB8F4FEF16}"/>
              </a:ext>
            </a:extLst>
          </p:cNvPr>
          <p:cNvSpPr txBox="1"/>
          <p:nvPr/>
        </p:nvSpPr>
        <p:spPr>
          <a:xfrm>
            <a:off x="8705891" y="389498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0C009F3F-2C5A-A9EB-52FE-C49A2B0D2060}"/>
              </a:ext>
            </a:extLst>
          </p:cNvPr>
          <p:cNvSpPr txBox="1"/>
          <p:nvPr/>
        </p:nvSpPr>
        <p:spPr>
          <a:xfrm>
            <a:off x="9813091" y="301573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4AF952E-9F8C-CA52-1162-E1EFBAAC7504}"/>
              </a:ext>
            </a:extLst>
          </p:cNvPr>
          <p:cNvSpPr/>
          <p:nvPr/>
        </p:nvSpPr>
        <p:spPr>
          <a:xfrm>
            <a:off x="4630483" y="2573296"/>
            <a:ext cx="1831331" cy="18291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!!Rectángulo a">
            <a:extLst>
              <a:ext uri="{FF2B5EF4-FFF2-40B4-BE49-F238E27FC236}">
                <a16:creationId xmlns:a16="http://schemas.microsoft.com/office/drawing/2014/main" id="{7D0B43C8-AA6E-1CAB-4A06-64A7B5B98AE1}"/>
              </a:ext>
            </a:extLst>
          </p:cNvPr>
          <p:cNvSpPr/>
          <p:nvPr/>
        </p:nvSpPr>
        <p:spPr>
          <a:xfrm rot="1980000">
            <a:off x="4885660" y="2829362"/>
            <a:ext cx="1322722" cy="1322450"/>
          </a:xfrm>
          <a:prstGeom prst="rect">
            <a:avLst/>
          </a:prstGeom>
          <a:solidFill>
            <a:srgbClr val="EEFBEF"/>
          </a:solidFill>
          <a:ln w="9525" cap="rnd">
            <a:solidFill>
              <a:schemeClr val="bg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!!Triángulo isósceles 1">
            <a:extLst>
              <a:ext uri="{FF2B5EF4-FFF2-40B4-BE49-F238E27FC236}">
                <a16:creationId xmlns:a16="http://schemas.microsoft.com/office/drawing/2014/main" id="{AAC0C739-38B2-E443-DE54-3FC489561761}"/>
              </a:ext>
            </a:extLst>
          </p:cNvPr>
          <p:cNvSpPr/>
          <p:nvPr/>
        </p:nvSpPr>
        <p:spPr>
          <a:xfrm rot="5400000">
            <a:off x="4441653" y="2762126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662F315-71BC-CDE8-2DA9-03950373AE81}"/>
              </a:ext>
            </a:extLst>
          </p:cNvPr>
          <p:cNvSpPr txBox="1"/>
          <p:nvPr/>
        </p:nvSpPr>
        <p:spPr>
          <a:xfrm>
            <a:off x="4234266" y="292255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A6E6A733-CBDB-76DF-35E0-20E22F47DDAC}"/>
              </a:ext>
            </a:extLst>
          </p:cNvPr>
          <p:cNvSpPr txBox="1"/>
          <p:nvPr/>
        </p:nvSpPr>
        <p:spPr>
          <a:xfrm>
            <a:off x="4765491" y="223067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DC0BDB1C-86CC-BF00-5161-C9D51B4539A3}"/>
              </a:ext>
            </a:extLst>
          </p:cNvPr>
          <p:cNvSpPr txBox="1"/>
          <p:nvPr/>
        </p:nvSpPr>
        <p:spPr>
          <a:xfrm>
            <a:off x="4861210" y="301705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9" name="!!Triángulo isósceles 2">
            <a:extLst>
              <a:ext uri="{FF2B5EF4-FFF2-40B4-BE49-F238E27FC236}">
                <a16:creationId xmlns:a16="http://schemas.microsoft.com/office/drawing/2014/main" id="{BD6DC9B2-8B70-2EE3-0DB4-1F6BFC63CA53}"/>
              </a:ext>
            </a:extLst>
          </p:cNvPr>
          <p:cNvSpPr/>
          <p:nvPr/>
        </p:nvSpPr>
        <p:spPr>
          <a:xfrm rot="10800000">
            <a:off x="5365204" y="2573296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CD26CDC2-EF2F-F568-C2F8-687739175FBD}"/>
              </a:ext>
            </a:extLst>
          </p:cNvPr>
          <p:cNvSpPr txBox="1"/>
          <p:nvPr/>
        </p:nvSpPr>
        <p:spPr>
          <a:xfrm>
            <a:off x="6418805" y="269494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51348006-0D24-ECE8-B3AF-57A7CC9B50A9}"/>
              </a:ext>
            </a:extLst>
          </p:cNvPr>
          <p:cNvSpPr txBox="1"/>
          <p:nvPr/>
        </p:nvSpPr>
        <p:spPr>
          <a:xfrm>
            <a:off x="5734710" y="223067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787A1062-F39F-0B09-92DF-3C85261A956B}"/>
              </a:ext>
            </a:extLst>
          </p:cNvPr>
          <p:cNvSpPr txBox="1"/>
          <p:nvPr/>
        </p:nvSpPr>
        <p:spPr>
          <a:xfrm>
            <a:off x="5649272" y="289466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10" name="!!Triángulo isósceles 3">
            <a:extLst>
              <a:ext uri="{FF2B5EF4-FFF2-40B4-BE49-F238E27FC236}">
                <a16:creationId xmlns:a16="http://schemas.microsoft.com/office/drawing/2014/main" id="{10D39C61-98C0-CCBB-BE3E-ABCE0E1BC598}"/>
              </a:ext>
            </a:extLst>
          </p:cNvPr>
          <p:cNvSpPr/>
          <p:nvPr/>
        </p:nvSpPr>
        <p:spPr>
          <a:xfrm rot="16200000">
            <a:off x="5554034" y="3488210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2537464-4115-FD0C-B4BF-113152DF669A}"/>
              </a:ext>
            </a:extLst>
          </p:cNvPr>
          <p:cNvSpPr txBox="1"/>
          <p:nvPr/>
        </p:nvSpPr>
        <p:spPr>
          <a:xfrm>
            <a:off x="5891924" y="436480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CB7A8041-E29F-65B5-362E-C92C0E5C222D}"/>
              </a:ext>
            </a:extLst>
          </p:cNvPr>
          <p:cNvSpPr txBox="1"/>
          <p:nvPr/>
        </p:nvSpPr>
        <p:spPr>
          <a:xfrm>
            <a:off x="6421834" y="374532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15D0F988-2BF3-8C6F-D80A-8C4561340DCA}"/>
              </a:ext>
            </a:extLst>
          </p:cNvPr>
          <p:cNvSpPr txBox="1"/>
          <p:nvPr/>
        </p:nvSpPr>
        <p:spPr>
          <a:xfrm>
            <a:off x="5776808" y="350929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11" name="!!Triángulo isósceles 4">
            <a:extLst>
              <a:ext uri="{FF2B5EF4-FFF2-40B4-BE49-F238E27FC236}">
                <a16:creationId xmlns:a16="http://schemas.microsoft.com/office/drawing/2014/main" id="{8231E796-5D7C-5744-DCD2-3570D6E3CEAB}"/>
              </a:ext>
            </a:extLst>
          </p:cNvPr>
          <p:cNvSpPr/>
          <p:nvPr/>
        </p:nvSpPr>
        <p:spPr>
          <a:xfrm>
            <a:off x="4630483" y="3675249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BD1FAE46-3BA8-93BC-F319-44DC3D9BB9E3}"/>
              </a:ext>
            </a:extLst>
          </p:cNvPr>
          <p:cNvSpPr txBox="1"/>
          <p:nvPr/>
        </p:nvSpPr>
        <p:spPr>
          <a:xfrm>
            <a:off x="4234266" y="387687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DCB7945-F053-546D-C27C-E9AC701B4E3C}"/>
              </a:ext>
            </a:extLst>
          </p:cNvPr>
          <p:cNvSpPr txBox="1"/>
          <p:nvPr/>
        </p:nvSpPr>
        <p:spPr>
          <a:xfrm>
            <a:off x="4880014" y="436480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26F9C278-C859-AE93-F9E8-D3FBBEE3CFFC}"/>
              </a:ext>
            </a:extLst>
          </p:cNvPr>
          <p:cNvSpPr txBox="1"/>
          <p:nvPr/>
        </p:nvSpPr>
        <p:spPr>
          <a:xfrm>
            <a:off x="5009464" y="366439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6CC85FFB-B91F-CDF9-0E94-C8314827D276}"/>
              </a:ext>
            </a:extLst>
          </p:cNvPr>
          <p:cNvSpPr txBox="1"/>
          <p:nvPr/>
        </p:nvSpPr>
        <p:spPr>
          <a:xfrm>
            <a:off x="5325434" y="3263996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a</a:t>
            </a:r>
            <a:r>
              <a:rPr lang="es-ES" sz="2000" b="1" baseline="300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365623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ángulo 28">
            <a:extLst>
              <a:ext uri="{FF2B5EF4-FFF2-40B4-BE49-F238E27FC236}">
                <a16:creationId xmlns:a16="http://schemas.microsoft.com/office/drawing/2014/main" id="{931FB9CB-A8F3-4530-B3B6-3DE52A7F4A80}"/>
              </a:ext>
            </a:extLst>
          </p:cNvPr>
          <p:cNvSpPr/>
          <p:nvPr/>
        </p:nvSpPr>
        <p:spPr>
          <a:xfrm>
            <a:off x="6470082" y="5630729"/>
            <a:ext cx="1445194" cy="41507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751BD221-F1AC-7F23-7303-8BDED262F2CE}"/>
              </a:ext>
            </a:extLst>
          </p:cNvPr>
          <p:cNvSpPr/>
          <p:nvPr/>
        </p:nvSpPr>
        <p:spPr>
          <a:xfrm>
            <a:off x="8528060" y="2571973"/>
            <a:ext cx="1823854" cy="18291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11218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8: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Teorema de Pitágoras. Semejanza</a:t>
            </a:r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D85D3CC8-C881-9914-6950-E48C93027546}"/>
              </a:ext>
            </a:extLst>
          </p:cNvPr>
          <p:cNvGrpSpPr/>
          <p:nvPr/>
        </p:nvGrpSpPr>
        <p:grpSpPr>
          <a:xfrm>
            <a:off x="1052693" y="2350092"/>
            <a:ext cx="2184002" cy="2636464"/>
            <a:chOff x="290956" y="1450889"/>
            <a:chExt cx="4048771" cy="4887562"/>
          </a:xfrm>
        </p:grpSpPr>
        <p:sp>
          <p:nvSpPr>
            <p:cNvPr id="63" name="Rectángulo 62">
              <a:extLst>
                <a:ext uri="{FF2B5EF4-FFF2-40B4-BE49-F238E27FC236}">
                  <a16:creationId xmlns:a16="http://schemas.microsoft.com/office/drawing/2014/main" id="{4D50F965-A42C-466F-82E4-E755D47C7632}"/>
                </a:ext>
              </a:extLst>
            </p:cNvPr>
            <p:cNvSpPr/>
            <p:nvPr/>
          </p:nvSpPr>
          <p:spPr>
            <a:xfrm rot="19599153">
              <a:off x="2989727" y="2276930"/>
              <a:ext cx="1350000" cy="1350000"/>
            </a:xfrm>
            <a:prstGeom prst="rect">
              <a:avLst/>
            </a:prstGeom>
            <a:solidFill>
              <a:srgbClr val="FFFFDB"/>
            </a:solidFill>
            <a:ln w="9525" cap="rnd">
              <a:solidFill>
                <a:srgbClr val="FCF67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4" name="Rectángulo 63">
              <a:extLst>
                <a:ext uri="{FF2B5EF4-FFF2-40B4-BE49-F238E27FC236}">
                  <a16:creationId xmlns:a16="http://schemas.microsoft.com/office/drawing/2014/main" id="{3C740D21-8091-77DD-4B44-BAC21D8E59DC}"/>
                </a:ext>
              </a:extLst>
            </p:cNvPr>
            <p:cNvSpPr/>
            <p:nvPr/>
          </p:nvSpPr>
          <p:spPr>
            <a:xfrm>
              <a:off x="1021189" y="3886851"/>
              <a:ext cx="2452103" cy="2451600"/>
            </a:xfrm>
            <a:prstGeom prst="rect">
              <a:avLst/>
            </a:prstGeom>
            <a:solidFill>
              <a:srgbClr val="EEFBEF"/>
            </a:solidFill>
            <a:ln w="9525" cap="rnd">
              <a:solidFill>
                <a:schemeClr val="accent3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5" name="Rectángulo 64">
              <a:extLst>
                <a:ext uri="{FF2B5EF4-FFF2-40B4-BE49-F238E27FC236}">
                  <a16:creationId xmlns:a16="http://schemas.microsoft.com/office/drawing/2014/main" id="{64D967B0-7C88-7251-7B0D-84E8BD8C30DF}"/>
                </a:ext>
              </a:extLst>
            </p:cNvPr>
            <p:cNvSpPr/>
            <p:nvPr/>
          </p:nvSpPr>
          <p:spPr>
            <a:xfrm rot="19599153">
              <a:off x="290956" y="1450889"/>
              <a:ext cx="2044253" cy="2044800"/>
            </a:xfrm>
            <a:prstGeom prst="rect">
              <a:avLst/>
            </a:prstGeom>
            <a:solidFill>
              <a:srgbClr val="ECF7FC"/>
            </a:solidFill>
            <a:ln w="9525" cap="rnd">
              <a:solidFill>
                <a:schemeClr val="accent1">
                  <a:lumMod val="40000"/>
                  <a:lumOff val="6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6" name="Triángulo isósceles 65">
              <a:extLst>
                <a:ext uri="{FF2B5EF4-FFF2-40B4-BE49-F238E27FC236}">
                  <a16:creationId xmlns:a16="http://schemas.microsoft.com/office/drawing/2014/main" id="{600B7A6F-C195-67FC-F67F-1A5EB3FC8F27}"/>
                </a:ext>
              </a:extLst>
            </p:cNvPr>
            <p:cNvSpPr/>
            <p:nvPr/>
          </p:nvSpPr>
          <p:spPr>
            <a:xfrm rot="8793340">
              <a:off x="1223115" y="3215162"/>
              <a:ext cx="2048256" cy="1348138"/>
            </a:xfrm>
            <a:prstGeom prst="triangle">
              <a:avLst>
                <a:gd name="adj" fmla="val 0"/>
              </a:avLst>
            </a:prstGeom>
            <a:solidFill>
              <a:srgbClr val="D0B0E7"/>
            </a:solidFill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67" name="Rectángulo 66">
            <a:extLst>
              <a:ext uri="{FF2B5EF4-FFF2-40B4-BE49-F238E27FC236}">
                <a16:creationId xmlns:a16="http://schemas.microsoft.com/office/drawing/2014/main" id="{329E6B8B-6397-9F3E-8A99-BB8E4BEE7839}"/>
              </a:ext>
            </a:extLst>
          </p:cNvPr>
          <p:cNvSpPr/>
          <p:nvPr/>
        </p:nvSpPr>
        <p:spPr>
          <a:xfrm rot="3418691">
            <a:off x="2332315" y="3069668"/>
            <a:ext cx="57150" cy="57150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358F8908-47CA-B935-D1CA-411546223580}"/>
              </a:ext>
            </a:extLst>
          </p:cNvPr>
          <p:cNvSpPr txBox="1"/>
          <p:nvPr/>
        </p:nvSpPr>
        <p:spPr>
          <a:xfrm>
            <a:off x="2335649" y="2885971"/>
            <a:ext cx="45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solidFill>
                  <a:srgbClr val="C00000"/>
                </a:solidFill>
              </a:rPr>
              <a:t>.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57746073-68AD-7C88-4D04-F31617C122CD}"/>
              </a:ext>
            </a:extLst>
          </p:cNvPr>
          <p:cNvSpPr txBox="1"/>
          <p:nvPr/>
        </p:nvSpPr>
        <p:spPr>
          <a:xfrm>
            <a:off x="1924168" y="359396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EBF1C693-67AB-DF17-8AAE-BCD6E09AF00C}"/>
              </a:ext>
            </a:extLst>
          </p:cNvPr>
          <p:cNvSpPr txBox="1"/>
          <p:nvPr/>
        </p:nvSpPr>
        <p:spPr>
          <a:xfrm>
            <a:off x="1598195" y="306571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69C64AF8-A550-49CD-E5CA-B8D18F1584BB}"/>
              </a:ext>
            </a:extLst>
          </p:cNvPr>
          <p:cNvSpPr txBox="1"/>
          <p:nvPr/>
        </p:nvSpPr>
        <p:spPr>
          <a:xfrm>
            <a:off x="2433022" y="308178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4319ECC8-4E6D-4F5F-DB9A-5F71090D8F8B}"/>
              </a:ext>
            </a:extLst>
          </p:cNvPr>
          <p:cNvSpPr/>
          <p:nvPr/>
        </p:nvSpPr>
        <p:spPr>
          <a:xfrm>
            <a:off x="8522964" y="2572622"/>
            <a:ext cx="1102718" cy="1103012"/>
          </a:xfrm>
          <a:prstGeom prst="rect">
            <a:avLst/>
          </a:prstGeom>
          <a:solidFill>
            <a:srgbClr val="EDF8FC"/>
          </a:solidFill>
          <a:ln w="9525" cap="rnd">
            <a:solidFill>
              <a:schemeClr val="accent1">
                <a:lumMod val="40000"/>
                <a:lumOff val="6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DC7B989C-663A-2ADB-DD8B-0D9CEF7F4091}"/>
              </a:ext>
            </a:extLst>
          </p:cNvPr>
          <p:cNvSpPr/>
          <p:nvPr/>
        </p:nvSpPr>
        <p:spPr>
          <a:xfrm>
            <a:off x="9627270" y="3673253"/>
            <a:ext cx="728222" cy="728221"/>
          </a:xfrm>
          <a:prstGeom prst="rect">
            <a:avLst/>
          </a:prstGeom>
          <a:solidFill>
            <a:srgbClr val="FFFFDB"/>
          </a:solidFill>
          <a:ln w="9525" cap="rnd">
            <a:solidFill>
              <a:srgbClr val="FCF674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5" name="!!Triángulo isósceles 5">
            <a:extLst>
              <a:ext uri="{FF2B5EF4-FFF2-40B4-BE49-F238E27FC236}">
                <a16:creationId xmlns:a16="http://schemas.microsoft.com/office/drawing/2014/main" id="{63D44222-8681-118A-2358-3AECD0419330}"/>
              </a:ext>
            </a:extLst>
          </p:cNvPr>
          <p:cNvSpPr/>
          <p:nvPr/>
        </p:nvSpPr>
        <p:spPr>
          <a:xfrm rot="16200000">
            <a:off x="9445410" y="2756370"/>
            <a:ext cx="1090938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6" name="!!Triángulo isósceles 6">
            <a:extLst>
              <a:ext uri="{FF2B5EF4-FFF2-40B4-BE49-F238E27FC236}">
                <a16:creationId xmlns:a16="http://schemas.microsoft.com/office/drawing/2014/main" id="{C87D4300-71D9-D09C-8A31-B15A02568D47}"/>
              </a:ext>
            </a:extLst>
          </p:cNvPr>
          <p:cNvSpPr/>
          <p:nvPr/>
        </p:nvSpPr>
        <p:spPr>
          <a:xfrm>
            <a:off x="8525538" y="3671373"/>
            <a:ext cx="1090938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7" name="!!Triángulo isósceles 7">
            <a:extLst>
              <a:ext uri="{FF2B5EF4-FFF2-40B4-BE49-F238E27FC236}">
                <a16:creationId xmlns:a16="http://schemas.microsoft.com/office/drawing/2014/main" id="{3D5575EA-2F18-7333-A5DC-96A01932C2E4}"/>
              </a:ext>
            </a:extLst>
          </p:cNvPr>
          <p:cNvSpPr/>
          <p:nvPr/>
        </p:nvSpPr>
        <p:spPr>
          <a:xfrm rot="5400000">
            <a:off x="9447791" y="2753990"/>
            <a:ext cx="1090938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8" name="!!Triángulo isósceles 8">
            <a:extLst>
              <a:ext uri="{FF2B5EF4-FFF2-40B4-BE49-F238E27FC236}">
                <a16:creationId xmlns:a16="http://schemas.microsoft.com/office/drawing/2014/main" id="{D21B50C8-7811-AE8E-09BC-800AF43339FC}"/>
              </a:ext>
            </a:extLst>
          </p:cNvPr>
          <p:cNvSpPr/>
          <p:nvPr/>
        </p:nvSpPr>
        <p:spPr>
          <a:xfrm rot="10800000">
            <a:off x="8528061" y="3673753"/>
            <a:ext cx="1090938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005982BE-BE18-B404-06A3-884AF893705B}"/>
              </a:ext>
            </a:extLst>
          </p:cNvPr>
          <p:cNvSpPr txBox="1"/>
          <p:nvPr/>
        </p:nvSpPr>
        <p:spPr>
          <a:xfrm>
            <a:off x="8166653" y="385111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372AAB02-6E3B-D39A-85FF-212FF5BA951F}"/>
              </a:ext>
            </a:extLst>
          </p:cNvPr>
          <p:cNvSpPr txBox="1"/>
          <p:nvPr/>
        </p:nvSpPr>
        <p:spPr>
          <a:xfrm>
            <a:off x="9760198" y="223112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40191066-7744-355A-5AE1-34955851CF15}"/>
              </a:ext>
            </a:extLst>
          </p:cNvPr>
          <p:cNvSpPr txBox="1"/>
          <p:nvPr/>
        </p:nvSpPr>
        <p:spPr>
          <a:xfrm>
            <a:off x="9760198" y="436242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82" name="CuadroTexto 81">
            <a:extLst>
              <a:ext uri="{FF2B5EF4-FFF2-40B4-BE49-F238E27FC236}">
                <a16:creationId xmlns:a16="http://schemas.microsoft.com/office/drawing/2014/main" id="{EA61C4C6-1CE9-4241-5590-24462458E056}"/>
              </a:ext>
            </a:extLst>
          </p:cNvPr>
          <p:cNvSpPr txBox="1"/>
          <p:nvPr/>
        </p:nvSpPr>
        <p:spPr>
          <a:xfrm>
            <a:off x="8849065" y="436242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9E40499D-D9DA-22DE-37A5-7B7275F7B422}"/>
              </a:ext>
            </a:extLst>
          </p:cNvPr>
          <p:cNvSpPr txBox="1"/>
          <p:nvPr/>
        </p:nvSpPr>
        <p:spPr>
          <a:xfrm>
            <a:off x="8839614" y="222935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B7541525-B319-487B-BA5D-84A5F7F646BC}"/>
              </a:ext>
            </a:extLst>
          </p:cNvPr>
          <p:cNvSpPr txBox="1"/>
          <p:nvPr/>
        </p:nvSpPr>
        <p:spPr>
          <a:xfrm>
            <a:off x="8164753" y="293940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A12CB36E-BAEB-7AAC-35CB-077A6D946A63}"/>
              </a:ext>
            </a:extLst>
          </p:cNvPr>
          <p:cNvSpPr txBox="1"/>
          <p:nvPr/>
        </p:nvSpPr>
        <p:spPr>
          <a:xfrm>
            <a:off x="10306400" y="293940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056ECACF-EBFE-F299-CCB7-49D14D974802}"/>
              </a:ext>
            </a:extLst>
          </p:cNvPr>
          <p:cNvSpPr txBox="1"/>
          <p:nvPr/>
        </p:nvSpPr>
        <p:spPr>
          <a:xfrm>
            <a:off x="10306400" y="384773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9B88CFA7-3240-7CBE-249D-9F57F3DD410B}"/>
              </a:ext>
            </a:extLst>
          </p:cNvPr>
          <p:cNvSpPr txBox="1"/>
          <p:nvPr/>
        </p:nvSpPr>
        <p:spPr>
          <a:xfrm>
            <a:off x="8705891" y="389498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74226E63-5122-5677-F7C5-C57844460051}"/>
              </a:ext>
            </a:extLst>
          </p:cNvPr>
          <p:cNvSpPr txBox="1"/>
          <p:nvPr/>
        </p:nvSpPr>
        <p:spPr>
          <a:xfrm>
            <a:off x="9813091" y="301573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0EEA7C27-4D2E-DDB9-9EAD-B3B6FCC4EBF1}"/>
              </a:ext>
            </a:extLst>
          </p:cNvPr>
          <p:cNvSpPr txBox="1"/>
          <p:nvPr/>
        </p:nvSpPr>
        <p:spPr>
          <a:xfrm>
            <a:off x="8849065" y="2917543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</a:t>
            </a:r>
            <a:r>
              <a:rPr lang="es-ES" sz="2000" b="1" baseline="3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1AD19E88-7188-FA92-F118-A7588DC78C24}"/>
              </a:ext>
            </a:extLst>
          </p:cNvPr>
          <p:cNvSpPr txBox="1"/>
          <p:nvPr/>
        </p:nvSpPr>
        <p:spPr>
          <a:xfrm>
            <a:off x="9794307" y="38345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FFC000"/>
                </a:solidFill>
              </a:rPr>
              <a:t>c</a:t>
            </a:r>
            <a:r>
              <a:rPr lang="es-ES" sz="2000" b="1" baseline="30000" dirty="0">
                <a:solidFill>
                  <a:srgbClr val="FFC000"/>
                </a:solidFill>
              </a:rPr>
              <a:t>2</a:t>
            </a:r>
          </a:p>
        </p:txBody>
      </p:sp>
      <p:sp>
        <p:nvSpPr>
          <p:cNvPr id="91" name="!Marco 10">
            <a:extLst>
              <a:ext uri="{FF2B5EF4-FFF2-40B4-BE49-F238E27FC236}">
                <a16:creationId xmlns:a16="http://schemas.microsoft.com/office/drawing/2014/main" id="{D5A06BA5-F930-7A24-D76A-CD1C2C25D69E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2" name="!CuadroTexto 1">
            <a:extLst>
              <a:ext uri="{FF2B5EF4-FFF2-40B4-BE49-F238E27FC236}">
                <a16:creationId xmlns:a16="http://schemas.microsoft.com/office/drawing/2014/main" id="{545C84F0-07B4-1DBC-D9BD-B7466EE17A2D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Vamos a comprobar, visualmente, como el área del cuadrado de lado a, es igual que el área de los cuadrados de lado b y de lado c.</a:t>
            </a:r>
            <a:endParaRPr lang="es-ES" sz="28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4AF952E-9F8C-CA52-1162-E1EFBAAC7504}"/>
              </a:ext>
            </a:extLst>
          </p:cNvPr>
          <p:cNvSpPr/>
          <p:nvPr/>
        </p:nvSpPr>
        <p:spPr>
          <a:xfrm>
            <a:off x="4630483" y="2573296"/>
            <a:ext cx="1831331" cy="18291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!!Rectángulo a">
            <a:extLst>
              <a:ext uri="{FF2B5EF4-FFF2-40B4-BE49-F238E27FC236}">
                <a16:creationId xmlns:a16="http://schemas.microsoft.com/office/drawing/2014/main" id="{7D0B43C8-AA6E-1CAB-4A06-64A7B5B98AE1}"/>
              </a:ext>
            </a:extLst>
          </p:cNvPr>
          <p:cNvSpPr/>
          <p:nvPr/>
        </p:nvSpPr>
        <p:spPr>
          <a:xfrm rot="1980000">
            <a:off x="4885660" y="2829362"/>
            <a:ext cx="1322722" cy="1322450"/>
          </a:xfrm>
          <a:prstGeom prst="rect">
            <a:avLst/>
          </a:prstGeom>
          <a:solidFill>
            <a:srgbClr val="EEFBEF"/>
          </a:solidFill>
          <a:ln w="9525" cap="rnd">
            <a:solidFill>
              <a:schemeClr val="bg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!!Triángulo isósceles 1">
            <a:extLst>
              <a:ext uri="{FF2B5EF4-FFF2-40B4-BE49-F238E27FC236}">
                <a16:creationId xmlns:a16="http://schemas.microsoft.com/office/drawing/2014/main" id="{AAC0C739-38B2-E443-DE54-3FC489561761}"/>
              </a:ext>
            </a:extLst>
          </p:cNvPr>
          <p:cNvSpPr/>
          <p:nvPr/>
        </p:nvSpPr>
        <p:spPr>
          <a:xfrm rot="5400000">
            <a:off x="4441653" y="2762126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662F315-71BC-CDE8-2DA9-03950373AE81}"/>
              </a:ext>
            </a:extLst>
          </p:cNvPr>
          <p:cNvSpPr txBox="1"/>
          <p:nvPr/>
        </p:nvSpPr>
        <p:spPr>
          <a:xfrm>
            <a:off x="4234266" y="292255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A6E6A733-CBDB-76DF-35E0-20E22F47DDAC}"/>
              </a:ext>
            </a:extLst>
          </p:cNvPr>
          <p:cNvSpPr txBox="1"/>
          <p:nvPr/>
        </p:nvSpPr>
        <p:spPr>
          <a:xfrm>
            <a:off x="4765491" y="223067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DC0BDB1C-86CC-BF00-5161-C9D51B4539A3}"/>
              </a:ext>
            </a:extLst>
          </p:cNvPr>
          <p:cNvSpPr txBox="1"/>
          <p:nvPr/>
        </p:nvSpPr>
        <p:spPr>
          <a:xfrm>
            <a:off x="4861210" y="301705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9" name="!!Triángulo isósceles 2">
            <a:extLst>
              <a:ext uri="{FF2B5EF4-FFF2-40B4-BE49-F238E27FC236}">
                <a16:creationId xmlns:a16="http://schemas.microsoft.com/office/drawing/2014/main" id="{BD6DC9B2-8B70-2EE3-0DB4-1F6BFC63CA53}"/>
              </a:ext>
            </a:extLst>
          </p:cNvPr>
          <p:cNvSpPr/>
          <p:nvPr/>
        </p:nvSpPr>
        <p:spPr>
          <a:xfrm rot="10800000">
            <a:off x="5365204" y="2573296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CD26CDC2-EF2F-F568-C2F8-687739175FBD}"/>
              </a:ext>
            </a:extLst>
          </p:cNvPr>
          <p:cNvSpPr txBox="1"/>
          <p:nvPr/>
        </p:nvSpPr>
        <p:spPr>
          <a:xfrm>
            <a:off x="6418805" y="269494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51348006-0D24-ECE8-B3AF-57A7CC9B50A9}"/>
              </a:ext>
            </a:extLst>
          </p:cNvPr>
          <p:cNvSpPr txBox="1"/>
          <p:nvPr/>
        </p:nvSpPr>
        <p:spPr>
          <a:xfrm>
            <a:off x="5734710" y="223067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787A1062-F39F-0B09-92DF-3C85261A956B}"/>
              </a:ext>
            </a:extLst>
          </p:cNvPr>
          <p:cNvSpPr txBox="1"/>
          <p:nvPr/>
        </p:nvSpPr>
        <p:spPr>
          <a:xfrm>
            <a:off x="5649272" y="289466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10" name="!!Triángulo isósceles 3">
            <a:extLst>
              <a:ext uri="{FF2B5EF4-FFF2-40B4-BE49-F238E27FC236}">
                <a16:creationId xmlns:a16="http://schemas.microsoft.com/office/drawing/2014/main" id="{10D39C61-98C0-CCBB-BE3E-ABCE0E1BC598}"/>
              </a:ext>
            </a:extLst>
          </p:cNvPr>
          <p:cNvSpPr/>
          <p:nvPr/>
        </p:nvSpPr>
        <p:spPr>
          <a:xfrm rot="16200000">
            <a:off x="5554034" y="3488210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2537464-4115-FD0C-B4BF-113152DF669A}"/>
              </a:ext>
            </a:extLst>
          </p:cNvPr>
          <p:cNvSpPr txBox="1"/>
          <p:nvPr/>
        </p:nvSpPr>
        <p:spPr>
          <a:xfrm>
            <a:off x="5891924" y="436480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CB7A8041-E29F-65B5-362E-C92C0E5C222D}"/>
              </a:ext>
            </a:extLst>
          </p:cNvPr>
          <p:cNvSpPr txBox="1"/>
          <p:nvPr/>
        </p:nvSpPr>
        <p:spPr>
          <a:xfrm>
            <a:off x="6421834" y="374532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15D0F988-2BF3-8C6F-D80A-8C4561340DCA}"/>
              </a:ext>
            </a:extLst>
          </p:cNvPr>
          <p:cNvSpPr txBox="1"/>
          <p:nvPr/>
        </p:nvSpPr>
        <p:spPr>
          <a:xfrm>
            <a:off x="5776808" y="350929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11" name="!!Triángulo isósceles 4">
            <a:extLst>
              <a:ext uri="{FF2B5EF4-FFF2-40B4-BE49-F238E27FC236}">
                <a16:creationId xmlns:a16="http://schemas.microsoft.com/office/drawing/2014/main" id="{8231E796-5D7C-5744-DCD2-3570D6E3CEAB}"/>
              </a:ext>
            </a:extLst>
          </p:cNvPr>
          <p:cNvSpPr/>
          <p:nvPr/>
        </p:nvSpPr>
        <p:spPr>
          <a:xfrm>
            <a:off x="4630483" y="3675249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BD1FAE46-3BA8-93BC-F319-44DC3D9BB9E3}"/>
              </a:ext>
            </a:extLst>
          </p:cNvPr>
          <p:cNvSpPr txBox="1"/>
          <p:nvPr/>
        </p:nvSpPr>
        <p:spPr>
          <a:xfrm>
            <a:off x="4234266" y="387687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DCB7945-F053-546D-C27C-E9AC701B4E3C}"/>
              </a:ext>
            </a:extLst>
          </p:cNvPr>
          <p:cNvSpPr txBox="1"/>
          <p:nvPr/>
        </p:nvSpPr>
        <p:spPr>
          <a:xfrm>
            <a:off x="4880014" y="436480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26F9C278-C859-AE93-F9E8-D3FBBEE3CFFC}"/>
              </a:ext>
            </a:extLst>
          </p:cNvPr>
          <p:cNvSpPr txBox="1"/>
          <p:nvPr/>
        </p:nvSpPr>
        <p:spPr>
          <a:xfrm>
            <a:off x="5009464" y="366439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6CC85FFB-B91F-CDF9-0E94-C8314827D276}"/>
              </a:ext>
            </a:extLst>
          </p:cNvPr>
          <p:cNvSpPr txBox="1"/>
          <p:nvPr/>
        </p:nvSpPr>
        <p:spPr>
          <a:xfrm>
            <a:off x="5325434" y="3263996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a</a:t>
            </a:r>
            <a:r>
              <a:rPr lang="es-ES" sz="2000" b="1" baseline="300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6026FE35-B4F3-8C3F-AB62-97BE52C5DBDC}"/>
                  </a:ext>
                </a:extLst>
              </p:cNvPr>
              <p:cNvSpPr txBox="1"/>
              <p:nvPr/>
            </p:nvSpPr>
            <p:spPr>
              <a:xfrm>
                <a:off x="3556778" y="4814088"/>
                <a:ext cx="4093041" cy="4081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b="1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b="1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s-ES" b="1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b="1" i="1" smtClean="0">
                              <a:solidFill>
                                <a:srgbClr val="EF424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smtClean="0">
                              <a:solidFill>
                                <a:srgbClr val="EF4246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s-ES" b="1" i="1" smtClean="0">
                              <a:solidFill>
                                <a:srgbClr val="EF4246"/>
                              </a:solidFill>
                              <a:latin typeface="Cambria Math" panose="02040503050406030204" pitchFamily="18" charset="0"/>
                            </a:rPr>
                            <m:t>𝒄𝒖𝒂𝒅𝒓𝒂𝒅𝒐</m:t>
                          </m:r>
                        </m:sub>
                      </m:sSub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b="1" i="1" smtClean="0">
                              <a:solidFill>
                                <a:srgbClr val="D0B0E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smtClean="0">
                              <a:solidFill>
                                <a:srgbClr val="D0B0E7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s-ES" b="1" i="1" smtClean="0">
                              <a:solidFill>
                                <a:srgbClr val="D0B0E7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s-ES" b="1" i="1" smtClean="0">
                              <a:solidFill>
                                <a:srgbClr val="D0B0E7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b="1" i="1" smtClean="0">
                              <a:solidFill>
                                <a:srgbClr val="D0B0E7"/>
                              </a:solidFill>
                              <a:latin typeface="Cambria Math" panose="02040503050406030204" pitchFamily="18" charset="0"/>
                            </a:rPr>
                            <m:t>𝒕𝒓𝒊</m:t>
                          </m:r>
                          <m:r>
                            <a:rPr lang="es-ES" b="1" i="1" smtClean="0">
                              <a:solidFill>
                                <a:srgbClr val="D0B0E7"/>
                              </a:solidFill>
                              <a:latin typeface="Cambria Math" panose="02040503050406030204" pitchFamily="18" charset="0"/>
                            </a:rPr>
                            <m:t>á</m:t>
                          </m:r>
                          <m:r>
                            <a:rPr lang="es-ES" b="1" i="1" smtClean="0">
                              <a:solidFill>
                                <a:srgbClr val="D0B0E7"/>
                              </a:solidFill>
                              <a:latin typeface="Cambria Math" panose="02040503050406030204" pitchFamily="18" charset="0"/>
                            </a:rPr>
                            <m:t>𝒏𝒈𝒖𝒍𝒐𝒔</m:t>
                          </m:r>
                        </m:sub>
                      </m:sSub>
                    </m:oMath>
                  </m:oMathPara>
                </a14:m>
                <a:endParaRPr lang="es-ES" b="1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6026FE35-B4F3-8C3F-AB62-97BE52C5DB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778" y="4814088"/>
                <a:ext cx="4093041" cy="408189"/>
              </a:xfrm>
              <a:prstGeom prst="rect">
                <a:avLst/>
              </a:prstGeom>
              <a:blipFill>
                <a:blip r:embed="rId6"/>
                <a:stretch>
                  <a:fillRect b="-895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8C8D49B0-8C83-012E-34F4-DCE588C54313}"/>
                  </a:ext>
                </a:extLst>
              </p:cNvPr>
              <p:cNvSpPr txBox="1"/>
              <p:nvPr/>
            </p:nvSpPr>
            <p:spPr>
              <a:xfrm>
                <a:off x="7649819" y="4814088"/>
                <a:ext cx="3694690" cy="4081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s-E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b="1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b="1" i="1" smtClean="0">
                            <a:solidFill>
                              <a:srgbClr val="EF42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1" i="1" smtClean="0">
                            <a:solidFill>
                              <a:srgbClr val="EF4246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s-ES" b="1" i="1" smtClean="0">
                            <a:solidFill>
                              <a:srgbClr val="EF4246"/>
                            </a:solidFill>
                            <a:latin typeface="Cambria Math" panose="02040503050406030204" pitchFamily="18" charset="0"/>
                          </a:rPr>
                          <m:t>𝒄𝒖𝒂𝒅𝒓𝒂𝒅𝒐</m:t>
                        </m:r>
                      </m:sub>
                    </m:sSub>
                    <m:r>
                      <a:rPr lang="es-ES" b="1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s-ES" b="1" i="1" smtClean="0">
                            <a:solidFill>
                              <a:srgbClr val="D0B0E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1" i="1" smtClean="0">
                            <a:solidFill>
                              <a:srgbClr val="D0B0E7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s-ES" b="1" i="1" smtClean="0">
                            <a:solidFill>
                              <a:srgbClr val="D0B0E7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s-ES" b="1" i="1" smtClean="0">
                            <a:solidFill>
                              <a:srgbClr val="D0B0E7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1" i="1" smtClean="0">
                            <a:solidFill>
                              <a:srgbClr val="D0B0E7"/>
                            </a:solidFill>
                            <a:latin typeface="Cambria Math" panose="02040503050406030204" pitchFamily="18" charset="0"/>
                          </a:rPr>
                          <m:t>𝒕𝒓𝒊</m:t>
                        </m:r>
                        <m:r>
                          <a:rPr lang="es-ES" b="1" i="1" smtClean="0">
                            <a:solidFill>
                              <a:srgbClr val="D0B0E7"/>
                            </a:solidFill>
                            <a:latin typeface="Cambria Math" panose="02040503050406030204" pitchFamily="18" charset="0"/>
                          </a:rPr>
                          <m:t>á</m:t>
                        </m:r>
                        <m:r>
                          <a:rPr lang="es-ES" b="1" i="1" smtClean="0">
                            <a:solidFill>
                              <a:srgbClr val="D0B0E7"/>
                            </a:solidFill>
                            <a:latin typeface="Cambria Math" panose="02040503050406030204" pitchFamily="18" charset="0"/>
                          </a:rPr>
                          <m:t>𝒏𝒈𝒖𝒍𝒐𝒔</m:t>
                        </m:r>
                      </m:sub>
                    </m:sSub>
                  </m:oMath>
                </a14:m>
                <a:r>
                  <a:rPr lang="es-ES" b="1" dirty="0"/>
                  <a:t> </a:t>
                </a:r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8C8D49B0-8C83-012E-34F4-DCE588C54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9819" y="4814088"/>
                <a:ext cx="3694690" cy="408189"/>
              </a:xfrm>
              <a:prstGeom prst="rect">
                <a:avLst/>
              </a:prstGeom>
              <a:blipFill>
                <a:blip r:embed="rId7"/>
                <a:stretch>
                  <a:fillRect b="-895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4990A895-3457-0827-8220-C53F028D9B39}"/>
                  </a:ext>
                </a:extLst>
              </p:cNvPr>
              <p:cNvSpPr txBox="1"/>
              <p:nvPr/>
            </p:nvSpPr>
            <p:spPr>
              <a:xfrm>
                <a:off x="2152768" y="5637613"/>
                <a:ext cx="4093041" cy="4081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b="1" i="1" smtClean="0">
                              <a:solidFill>
                                <a:srgbClr val="EF424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smtClean="0">
                              <a:solidFill>
                                <a:srgbClr val="EF4246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s-ES" b="1" i="1" smtClean="0">
                              <a:solidFill>
                                <a:srgbClr val="EF4246"/>
                              </a:solidFill>
                              <a:latin typeface="Cambria Math" panose="02040503050406030204" pitchFamily="18" charset="0"/>
                            </a:rPr>
                            <m:t>𝒄𝒖𝒂𝒅𝒓𝒂𝒅𝒐</m:t>
                          </m:r>
                        </m:sub>
                      </m:sSub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b="1" i="1" smtClean="0">
                              <a:solidFill>
                                <a:srgbClr val="D0B0E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smtClean="0">
                              <a:solidFill>
                                <a:srgbClr val="D0B0E7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s-ES" b="1" i="1" smtClean="0">
                              <a:solidFill>
                                <a:srgbClr val="D0B0E7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s-ES" b="1" i="1" smtClean="0">
                              <a:solidFill>
                                <a:srgbClr val="D0B0E7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b="1" i="1" smtClean="0">
                              <a:solidFill>
                                <a:srgbClr val="D0B0E7"/>
                              </a:solidFill>
                              <a:latin typeface="Cambria Math" panose="02040503050406030204" pitchFamily="18" charset="0"/>
                            </a:rPr>
                            <m:t>𝒕𝒓𝒊</m:t>
                          </m:r>
                          <m:r>
                            <a:rPr lang="es-ES" b="1" i="1" smtClean="0">
                              <a:solidFill>
                                <a:srgbClr val="D0B0E7"/>
                              </a:solidFill>
                              <a:latin typeface="Cambria Math" panose="02040503050406030204" pitchFamily="18" charset="0"/>
                            </a:rPr>
                            <m:t>á</m:t>
                          </m:r>
                          <m:r>
                            <a:rPr lang="es-ES" b="1" i="1" smtClean="0">
                              <a:solidFill>
                                <a:srgbClr val="D0B0E7"/>
                              </a:solidFill>
                              <a:latin typeface="Cambria Math" panose="02040503050406030204" pitchFamily="18" charset="0"/>
                            </a:rPr>
                            <m:t>𝒏𝒈𝒖𝒍𝒐𝒔</m:t>
                          </m:r>
                        </m:sub>
                      </m:sSub>
                    </m:oMath>
                  </m:oMathPara>
                </a14:m>
                <a:endParaRPr lang="es-ES" b="1" dirty="0"/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4990A895-3457-0827-8220-C53F028D9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768" y="5637613"/>
                <a:ext cx="4093041" cy="408189"/>
              </a:xfrm>
              <a:prstGeom prst="rect">
                <a:avLst/>
              </a:prstGeom>
              <a:blipFill>
                <a:blip r:embed="rId8"/>
                <a:stretch>
                  <a:fillRect b="-895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Abrir llave 23">
            <a:extLst>
              <a:ext uri="{FF2B5EF4-FFF2-40B4-BE49-F238E27FC236}">
                <a16:creationId xmlns:a16="http://schemas.microsoft.com/office/drawing/2014/main" id="{216883EE-5FE9-48E2-F6AA-0AE86649BB2A}"/>
              </a:ext>
            </a:extLst>
          </p:cNvPr>
          <p:cNvSpPr/>
          <p:nvPr/>
        </p:nvSpPr>
        <p:spPr>
          <a:xfrm rot="5400000">
            <a:off x="4383737" y="4388977"/>
            <a:ext cx="176502" cy="2443163"/>
          </a:xfrm>
          <a:prstGeom prst="leftBrace">
            <a:avLst>
              <a:gd name="adj1" fmla="val 82086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Forma libre: forma 24">
            <a:extLst>
              <a:ext uri="{FF2B5EF4-FFF2-40B4-BE49-F238E27FC236}">
                <a16:creationId xmlns:a16="http://schemas.microsoft.com/office/drawing/2014/main" id="{6AECA331-9933-051A-7A75-D3A0426A8786}"/>
              </a:ext>
            </a:extLst>
          </p:cNvPr>
          <p:cNvSpPr/>
          <p:nvPr/>
        </p:nvSpPr>
        <p:spPr>
          <a:xfrm>
            <a:off x="4540250" y="5226050"/>
            <a:ext cx="3613150" cy="267179"/>
          </a:xfrm>
          <a:custGeom>
            <a:avLst/>
            <a:gdLst>
              <a:gd name="connsiteX0" fmla="*/ 0 w 3613150"/>
              <a:gd name="connsiteY0" fmla="*/ 241300 h 267179"/>
              <a:gd name="connsiteX1" fmla="*/ 1035050 w 3613150"/>
              <a:gd name="connsiteY1" fmla="*/ 69850 h 267179"/>
              <a:gd name="connsiteX2" fmla="*/ 3117850 w 3613150"/>
              <a:gd name="connsiteY2" fmla="*/ 266700 h 267179"/>
              <a:gd name="connsiteX3" fmla="*/ 3613150 w 3613150"/>
              <a:gd name="connsiteY3" fmla="*/ 0 h 267179"/>
              <a:gd name="connsiteX4" fmla="*/ 3613150 w 3613150"/>
              <a:gd name="connsiteY4" fmla="*/ 0 h 267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13150" h="267179">
                <a:moveTo>
                  <a:pt x="0" y="241300"/>
                </a:moveTo>
                <a:cubicBezTo>
                  <a:pt x="257704" y="153458"/>
                  <a:pt x="515408" y="65617"/>
                  <a:pt x="1035050" y="69850"/>
                </a:cubicBezTo>
                <a:cubicBezTo>
                  <a:pt x="1554692" y="74083"/>
                  <a:pt x="2688167" y="278342"/>
                  <a:pt x="3117850" y="266700"/>
                </a:cubicBezTo>
                <a:cubicBezTo>
                  <a:pt x="3547533" y="255058"/>
                  <a:pt x="3613150" y="0"/>
                  <a:pt x="3613150" y="0"/>
                </a:cubicBezTo>
                <a:lnTo>
                  <a:pt x="3613150" y="0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69B85D5A-C737-F9B4-D97F-E4C3711C458E}"/>
              </a:ext>
            </a:extLst>
          </p:cNvPr>
          <p:cNvCxnSpPr/>
          <p:nvPr/>
        </p:nvCxnSpPr>
        <p:spPr>
          <a:xfrm>
            <a:off x="5817393" y="5848351"/>
            <a:ext cx="57815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C2AEBB92-06C9-FBA6-9149-5BA6919838B2}"/>
                  </a:ext>
                </a:extLst>
              </p:cNvPr>
              <p:cNvSpPr txBox="1"/>
              <p:nvPr/>
            </p:nvSpPr>
            <p:spPr>
              <a:xfrm>
                <a:off x="6436178" y="5653931"/>
                <a:ext cx="1669047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E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s-ES" b="1" dirty="0"/>
                  <a:t> </a:t>
                </a:r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C2AEBB92-06C9-FBA6-9149-5BA691983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6178" y="5653931"/>
                <a:ext cx="1669047" cy="3755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id="{570C68EA-9243-12F0-3567-889EC13CA2A1}"/>
              </a:ext>
            </a:extLst>
          </p:cNvPr>
          <p:cNvSpPr/>
          <p:nvPr/>
        </p:nvSpPr>
        <p:spPr>
          <a:xfrm>
            <a:off x="4630482" y="2571973"/>
            <a:ext cx="1838835" cy="1833367"/>
          </a:xfrm>
          <a:prstGeom prst="rect">
            <a:avLst/>
          </a:prstGeom>
          <a:noFill/>
          <a:ln w="28575">
            <a:solidFill>
              <a:srgbClr val="EF42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DAFE538-ED5E-F6EA-7FCC-794B1DD791B9}"/>
              </a:ext>
            </a:extLst>
          </p:cNvPr>
          <p:cNvSpPr/>
          <p:nvPr/>
        </p:nvSpPr>
        <p:spPr>
          <a:xfrm>
            <a:off x="8521185" y="2567860"/>
            <a:ext cx="1838835" cy="1833367"/>
          </a:xfrm>
          <a:prstGeom prst="rect">
            <a:avLst/>
          </a:prstGeom>
          <a:noFill/>
          <a:ln w="28575">
            <a:solidFill>
              <a:srgbClr val="EF42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907245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200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25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89" grpId="0"/>
      <p:bldP spid="90" grpId="0"/>
      <p:bldP spid="17" grpId="0"/>
      <p:bldP spid="18" grpId="0"/>
      <p:bldP spid="23" grpId="0"/>
      <p:bldP spid="24" grpId="0" animBg="1"/>
      <p:bldP spid="25" grpId="0" animBg="1"/>
      <p:bldP spid="28" grpId="0"/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11218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8: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Teorema de Pitágoras. Semejanza</a:t>
            </a:r>
          </a:p>
        </p:txBody>
      </p:sp>
      <p:sp>
        <p:nvSpPr>
          <p:cNvPr id="91" name="!Marco 10">
            <a:extLst>
              <a:ext uri="{FF2B5EF4-FFF2-40B4-BE49-F238E27FC236}">
                <a16:creationId xmlns:a16="http://schemas.microsoft.com/office/drawing/2014/main" id="{D5A06BA5-F930-7A24-D76A-CD1C2C25D69E}"/>
              </a:ext>
            </a:extLst>
          </p:cNvPr>
          <p:cNvSpPr/>
          <p:nvPr/>
        </p:nvSpPr>
        <p:spPr>
          <a:xfrm>
            <a:off x="535084" y="1048971"/>
            <a:ext cx="11121832" cy="494079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2" name="!CuadroTexto 1">
            <a:extLst>
              <a:ext uri="{FF2B5EF4-FFF2-40B4-BE49-F238E27FC236}">
                <a16:creationId xmlns:a16="http://schemas.microsoft.com/office/drawing/2014/main" id="{545C84F0-07B4-1DBC-D9BD-B7466EE17A2D}"/>
              </a:ext>
            </a:extLst>
          </p:cNvPr>
          <p:cNvSpPr txBox="1"/>
          <p:nvPr/>
        </p:nvSpPr>
        <p:spPr>
          <a:xfrm>
            <a:off x="535084" y="1095955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Conociendo el valor de los catetos podremos hallar la hipotenusa de la siguiente forma:</a:t>
            </a:r>
            <a:endParaRPr lang="es-ES" sz="28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D599264D-0E24-CD50-F6A0-C9EC1C71F2A2}"/>
                  </a:ext>
                </a:extLst>
              </p:cNvPr>
              <p:cNvSpPr txBox="1"/>
              <p:nvPr/>
            </p:nvSpPr>
            <p:spPr>
              <a:xfrm>
                <a:off x="4271835" y="1788628"/>
                <a:ext cx="3648330" cy="4775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E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2000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s-ES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s-E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000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s-ES" sz="20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s-E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000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p>
                            <m:r>
                              <a:rPr lang="es-ES" sz="20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r>
                  <a:rPr lang="es-ES" sz="2000" b="1" dirty="0"/>
                  <a:t> </a:t>
                </a: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D599264D-0E24-CD50-F6A0-C9EC1C71F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1835" y="1788628"/>
                <a:ext cx="3648330" cy="4775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riángulo isósceles 4">
            <a:extLst>
              <a:ext uri="{FF2B5EF4-FFF2-40B4-BE49-F238E27FC236}">
                <a16:creationId xmlns:a16="http://schemas.microsoft.com/office/drawing/2014/main" id="{7EAB90C7-10FB-21F8-C8E7-2AABE626C2FC}"/>
              </a:ext>
            </a:extLst>
          </p:cNvPr>
          <p:cNvSpPr/>
          <p:nvPr/>
        </p:nvSpPr>
        <p:spPr>
          <a:xfrm>
            <a:off x="1834184" y="3104341"/>
            <a:ext cx="2046632" cy="1534974"/>
          </a:xfrm>
          <a:prstGeom prst="triangle">
            <a:avLst>
              <a:gd name="adj" fmla="val 0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F131675-A6DD-1F45-784B-293E60992663}"/>
              </a:ext>
            </a:extLst>
          </p:cNvPr>
          <p:cNvSpPr txBox="1"/>
          <p:nvPr/>
        </p:nvSpPr>
        <p:spPr>
          <a:xfrm>
            <a:off x="2516505" y="4639315"/>
            <a:ext cx="514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4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06807E4-7B68-73DC-FAA4-CFA3C42FD83C}"/>
              </a:ext>
            </a:extLst>
          </p:cNvPr>
          <p:cNvSpPr txBox="1"/>
          <p:nvPr/>
        </p:nvSpPr>
        <p:spPr>
          <a:xfrm>
            <a:off x="1342694" y="3763015"/>
            <a:ext cx="514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3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B000CFE-2DF7-FB00-AA6F-E203FA769B86}"/>
              </a:ext>
            </a:extLst>
          </p:cNvPr>
          <p:cNvSpPr txBox="1"/>
          <p:nvPr/>
        </p:nvSpPr>
        <p:spPr>
          <a:xfrm>
            <a:off x="2773680" y="3482947"/>
            <a:ext cx="514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B03027D-419A-EE54-5A46-62AC0BC60791}"/>
              </a:ext>
            </a:extLst>
          </p:cNvPr>
          <p:cNvSpPr txBox="1"/>
          <p:nvPr/>
        </p:nvSpPr>
        <p:spPr>
          <a:xfrm>
            <a:off x="535084" y="2452977"/>
            <a:ext cx="1394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42D934B8-116F-4476-2B89-9F4FCAF1285A}"/>
                  </a:ext>
                </a:extLst>
              </p:cNvPr>
              <p:cNvSpPr txBox="1"/>
              <p:nvPr/>
            </p:nvSpPr>
            <p:spPr>
              <a:xfrm>
                <a:off x="4711726" y="3482947"/>
                <a:ext cx="5289523" cy="554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ES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  <m:sup>
                              <m:r>
                                <a:rPr lang="es-ES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ES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  <m:sup>
                              <m:r>
                                <a:rPr lang="es-ES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𝟗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𝟏𝟔</m:t>
                          </m:r>
                        </m:e>
                      </m:rad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𝟐𝟓</m:t>
                          </m:r>
                        </m:e>
                      </m:rad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42D934B8-116F-4476-2B89-9F4FCAF12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1726" y="3482947"/>
                <a:ext cx="5289523" cy="55451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259358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75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  <p:bldP spid="92" grpId="0"/>
      <p:bldP spid="4" grpId="0"/>
      <p:bldP spid="5" grpId="0" animBg="1"/>
      <p:bldP spid="6" grpId="0"/>
      <p:bldP spid="7" grpId="0"/>
      <p:bldP spid="13" grpId="0"/>
      <p:bldP spid="14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11218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8: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Teorema de Pitágoras. Semejanza</a:t>
            </a:r>
          </a:p>
        </p:txBody>
      </p:sp>
      <p:sp>
        <p:nvSpPr>
          <p:cNvPr id="91" name="!Marco 10">
            <a:extLst>
              <a:ext uri="{FF2B5EF4-FFF2-40B4-BE49-F238E27FC236}">
                <a16:creationId xmlns:a16="http://schemas.microsoft.com/office/drawing/2014/main" id="{D5A06BA5-F930-7A24-D76A-CD1C2C25D69E}"/>
              </a:ext>
            </a:extLst>
          </p:cNvPr>
          <p:cNvSpPr/>
          <p:nvPr/>
        </p:nvSpPr>
        <p:spPr>
          <a:xfrm>
            <a:off x="535084" y="1048971"/>
            <a:ext cx="11121832" cy="494079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2" name="!CuadroTexto 1">
            <a:extLst>
              <a:ext uri="{FF2B5EF4-FFF2-40B4-BE49-F238E27FC236}">
                <a16:creationId xmlns:a16="http://schemas.microsoft.com/office/drawing/2014/main" id="{545C84F0-07B4-1DBC-D9BD-B7466EE17A2D}"/>
              </a:ext>
            </a:extLst>
          </p:cNvPr>
          <p:cNvSpPr txBox="1"/>
          <p:nvPr/>
        </p:nvSpPr>
        <p:spPr>
          <a:xfrm>
            <a:off x="535084" y="1095955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Conociendo el valor de un cateto y de la hipotenusa podremos hallar el otro cateto.</a:t>
            </a:r>
            <a:endParaRPr lang="es-ES" sz="28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D599264D-0E24-CD50-F6A0-C9EC1C71F2A2}"/>
                  </a:ext>
                </a:extLst>
              </p:cNvPr>
              <p:cNvSpPr txBox="1"/>
              <p:nvPr/>
            </p:nvSpPr>
            <p:spPr>
              <a:xfrm>
                <a:off x="4548060" y="2235836"/>
                <a:ext cx="3648330" cy="4442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E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s-ES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𝒄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s-E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s-ES" sz="20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s-E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s-ES" sz="20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r>
                  <a:rPr lang="es-ES" sz="2000" b="1" dirty="0"/>
                  <a:t> </a:t>
                </a: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D599264D-0E24-CD50-F6A0-C9EC1C71F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060" y="2235836"/>
                <a:ext cx="3648330" cy="4442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riángulo isósceles 4">
            <a:extLst>
              <a:ext uri="{FF2B5EF4-FFF2-40B4-BE49-F238E27FC236}">
                <a16:creationId xmlns:a16="http://schemas.microsoft.com/office/drawing/2014/main" id="{7EAB90C7-10FB-21F8-C8E7-2AABE626C2FC}"/>
              </a:ext>
            </a:extLst>
          </p:cNvPr>
          <p:cNvSpPr/>
          <p:nvPr/>
        </p:nvSpPr>
        <p:spPr>
          <a:xfrm>
            <a:off x="1834184" y="3361516"/>
            <a:ext cx="2046632" cy="1534974"/>
          </a:xfrm>
          <a:prstGeom prst="triangle">
            <a:avLst>
              <a:gd name="adj" fmla="val 0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F131675-A6DD-1F45-784B-293E60992663}"/>
              </a:ext>
            </a:extLst>
          </p:cNvPr>
          <p:cNvSpPr txBox="1"/>
          <p:nvPr/>
        </p:nvSpPr>
        <p:spPr>
          <a:xfrm>
            <a:off x="2516505" y="4896490"/>
            <a:ext cx="514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4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06807E4-7B68-73DC-FAA4-CFA3C42FD83C}"/>
              </a:ext>
            </a:extLst>
          </p:cNvPr>
          <p:cNvSpPr txBox="1"/>
          <p:nvPr/>
        </p:nvSpPr>
        <p:spPr>
          <a:xfrm>
            <a:off x="1342694" y="4020190"/>
            <a:ext cx="514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B000CFE-2DF7-FB00-AA6F-E203FA769B86}"/>
              </a:ext>
            </a:extLst>
          </p:cNvPr>
          <p:cNvSpPr txBox="1"/>
          <p:nvPr/>
        </p:nvSpPr>
        <p:spPr>
          <a:xfrm>
            <a:off x="2773680" y="3740122"/>
            <a:ext cx="514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5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B03027D-419A-EE54-5A46-62AC0BC60791}"/>
              </a:ext>
            </a:extLst>
          </p:cNvPr>
          <p:cNvSpPr txBox="1"/>
          <p:nvPr/>
        </p:nvSpPr>
        <p:spPr>
          <a:xfrm>
            <a:off x="535084" y="2710152"/>
            <a:ext cx="1394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42D934B8-116F-4476-2B89-9F4FCAF1285A}"/>
                  </a:ext>
                </a:extLst>
              </p:cNvPr>
              <p:cNvSpPr txBox="1"/>
              <p:nvPr/>
            </p:nvSpPr>
            <p:spPr>
              <a:xfrm>
                <a:off x="4797452" y="3295511"/>
                <a:ext cx="5289523" cy="5575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ES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  <m:sup>
                              <m:r>
                                <a:rPr lang="es-ES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s-ES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  <m:sup>
                              <m:r>
                                <a:rPr lang="es-ES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𝟐𝟓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𝟏𝟔</m:t>
                          </m:r>
                        </m:e>
                      </m:rad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𝟗</m:t>
                          </m:r>
                        </m:e>
                      </m:rad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42D934B8-116F-4476-2B89-9F4FCAF12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7452" y="3295511"/>
                <a:ext cx="5289523" cy="55758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C03CFC3-9F93-671C-7950-3545EC7D20D1}"/>
                  </a:ext>
                </a:extLst>
              </p:cNvPr>
              <p:cNvSpPr txBox="1"/>
              <p:nvPr/>
            </p:nvSpPr>
            <p:spPr>
              <a:xfrm>
                <a:off x="4548060" y="1715111"/>
                <a:ext cx="3648330" cy="4442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E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s-ES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𝒃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s-E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s-ES" sz="20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s-E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p>
                            <m:r>
                              <a:rPr lang="es-ES" sz="20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r>
                  <a:rPr lang="es-ES" sz="2000" b="1" dirty="0"/>
                  <a:t> </a:t>
                </a: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C03CFC3-9F93-671C-7950-3545EC7D2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060" y="1715111"/>
                <a:ext cx="3648330" cy="44428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660267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  <p:bldP spid="92" grpId="0"/>
      <p:bldP spid="4" grpId="0"/>
      <p:bldP spid="5" grpId="0" animBg="1"/>
      <p:bldP spid="6" grpId="0"/>
      <p:bldP spid="7" grpId="0"/>
      <p:bldP spid="13" grpId="0"/>
      <p:bldP spid="14" grpId="0"/>
      <p:bldP spid="15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11218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8: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Teorema de Pitágoras. Semejanza</a:t>
            </a:r>
          </a:p>
        </p:txBody>
      </p:sp>
      <p:sp>
        <p:nvSpPr>
          <p:cNvPr id="91" name="!Marco 10">
            <a:extLst>
              <a:ext uri="{FF2B5EF4-FFF2-40B4-BE49-F238E27FC236}">
                <a16:creationId xmlns:a16="http://schemas.microsoft.com/office/drawing/2014/main" id="{D5A06BA5-F930-7A24-D76A-CD1C2C25D69E}"/>
              </a:ext>
            </a:extLst>
          </p:cNvPr>
          <p:cNvSpPr/>
          <p:nvPr/>
        </p:nvSpPr>
        <p:spPr>
          <a:xfrm>
            <a:off x="535084" y="1048971"/>
            <a:ext cx="11121832" cy="494079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2" name="!CuadroTexto 1">
            <a:extLst>
              <a:ext uri="{FF2B5EF4-FFF2-40B4-BE49-F238E27FC236}">
                <a16:creationId xmlns:a16="http://schemas.microsoft.com/office/drawing/2014/main" id="{545C84F0-07B4-1DBC-D9BD-B7466EE17A2D}"/>
              </a:ext>
            </a:extLst>
          </p:cNvPr>
          <p:cNvSpPr txBox="1"/>
          <p:nvPr/>
        </p:nvSpPr>
        <p:spPr>
          <a:xfrm>
            <a:off x="535084" y="1095955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Conociendo el valor de un cateto y de la hipotenusa podremos hallar el otro cateto.</a:t>
            </a:r>
            <a:endParaRPr lang="es-ES" sz="28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D599264D-0E24-CD50-F6A0-C9EC1C71F2A2}"/>
                  </a:ext>
                </a:extLst>
              </p:cNvPr>
              <p:cNvSpPr txBox="1"/>
              <p:nvPr/>
            </p:nvSpPr>
            <p:spPr>
              <a:xfrm>
                <a:off x="4548060" y="2235836"/>
                <a:ext cx="3648330" cy="4442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E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s-ES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𝒄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s-E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s-ES" sz="20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s-E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s-ES" sz="20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r>
                  <a:rPr lang="es-ES" sz="2000" b="1" dirty="0"/>
                  <a:t> </a:t>
                </a: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D599264D-0E24-CD50-F6A0-C9EC1C71F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060" y="2235836"/>
                <a:ext cx="3648330" cy="4442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riángulo isósceles 4">
            <a:extLst>
              <a:ext uri="{FF2B5EF4-FFF2-40B4-BE49-F238E27FC236}">
                <a16:creationId xmlns:a16="http://schemas.microsoft.com/office/drawing/2014/main" id="{7EAB90C7-10FB-21F8-C8E7-2AABE626C2FC}"/>
              </a:ext>
            </a:extLst>
          </p:cNvPr>
          <p:cNvSpPr/>
          <p:nvPr/>
        </p:nvSpPr>
        <p:spPr>
          <a:xfrm>
            <a:off x="1834184" y="3361516"/>
            <a:ext cx="2046632" cy="1534974"/>
          </a:xfrm>
          <a:prstGeom prst="triangle">
            <a:avLst>
              <a:gd name="adj" fmla="val 0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F131675-A6DD-1F45-784B-293E60992663}"/>
              </a:ext>
            </a:extLst>
          </p:cNvPr>
          <p:cNvSpPr txBox="1"/>
          <p:nvPr/>
        </p:nvSpPr>
        <p:spPr>
          <a:xfrm>
            <a:off x="2516505" y="4896490"/>
            <a:ext cx="514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06807E4-7B68-73DC-FAA4-CFA3C42FD83C}"/>
              </a:ext>
            </a:extLst>
          </p:cNvPr>
          <p:cNvSpPr txBox="1"/>
          <p:nvPr/>
        </p:nvSpPr>
        <p:spPr>
          <a:xfrm>
            <a:off x="1342694" y="4020190"/>
            <a:ext cx="514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3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B000CFE-2DF7-FB00-AA6F-E203FA769B86}"/>
              </a:ext>
            </a:extLst>
          </p:cNvPr>
          <p:cNvSpPr txBox="1"/>
          <p:nvPr/>
        </p:nvSpPr>
        <p:spPr>
          <a:xfrm>
            <a:off x="2773680" y="3740122"/>
            <a:ext cx="514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5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B03027D-419A-EE54-5A46-62AC0BC60791}"/>
              </a:ext>
            </a:extLst>
          </p:cNvPr>
          <p:cNvSpPr txBox="1"/>
          <p:nvPr/>
        </p:nvSpPr>
        <p:spPr>
          <a:xfrm>
            <a:off x="535084" y="2710152"/>
            <a:ext cx="1394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C03CFC3-9F93-671C-7950-3545EC7D20D1}"/>
                  </a:ext>
                </a:extLst>
              </p:cNvPr>
              <p:cNvSpPr txBox="1"/>
              <p:nvPr/>
            </p:nvSpPr>
            <p:spPr>
              <a:xfrm>
                <a:off x="4548060" y="1715111"/>
                <a:ext cx="3648330" cy="4442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E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s-ES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𝒃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s-E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s-ES" sz="20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s-E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p>
                            <m:r>
                              <a:rPr lang="es-ES" sz="20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r>
                  <a:rPr lang="es-ES" sz="2000" b="1" dirty="0"/>
                  <a:t> </a:t>
                </a: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C03CFC3-9F93-671C-7950-3545EC7D2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060" y="1715111"/>
                <a:ext cx="3648330" cy="44428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71A66161-DE9F-88C1-EB7F-690165604245}"/>
                  </a:ext>
                </a:extLst>
              </p:cNvPr>
              <p:cNvSpPr txBox="1"/>
              <p:nvPr/>
            </p:nvSpPr>
            <p:spPr>
              <a:xfrm>
                <a:off x="4797452" y="3289300"/>
                <a:ext cx="5289523" cy="5575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𝒄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ES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  <m:sup>
                              <m:r>
                                <a:rPr lang="es-ES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s-ES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  <m:sup>
                              <m:r>
                                <a:rPr lang="es-ES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𝟐𝟓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𝟗</m:t>
                          </m:r>
                        </m:e>
                      </m:rad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𝟏𝟔</m:t>
                          </m:r>
                        </m:e>
                      </m:rad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71A66161-DE9F-88C1-EB7F-6901656042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7452" y="3289300"/>
                <a:ext cx="5289523" cy="55758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306480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F282B2D7-DFDC-45D5-8D4E-D480B71BBF49"/>
  <p:tag name="ISPRING_CMI5_LAUNCH_METHOD" val="any window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SLIDES" val="1"/>
  <p:tag name="ISPRINGCLOUDFOLDERID" val="1"/>
  <p:tag name="ISPRINGONLINEFOLDERID" val="1"/>
  <p:tag name="ISPRING_OUTPUT_FOLDER" val="[[&quot;\uFFFD\/\uFFFD\uFFFD{21D528DD-60A0-4F5B-BB24-A0E5BDBD4B43}&quot;,&quot;C:\\Users\\34717\\Desktop\\Apuntes\\2 ESO\\TEMA 8 - Teorema de Pitágoras. Semejanza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SCORM_PASSING_SCORE" val="100.000000"/>
  <p:tag name="ISPRING_PRESENTATION_TITLE" val="1. Teorema de Pitágoras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72B82CA8-B35D-4D0A-9E5C-FEF5BE93C820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7D98F29A-7535-4DA3-99AE-52D8F07E9A61}:26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2FFA8DB8-B404-4661-A1A5-D678C212E0CA}:26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58FA1951-9B2D-4505-B168-BA81C3B94321}:25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061EDABC-5C76-4DDC-898B-8960A1C0EC1C}:26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A60DE801-BEF6-4323-9D51-21C8A4E36379}:26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01300A89-A950-4391-A729-FBC7AA45E3CA}:26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D5E96633-DB57-463F-8300-4EA675D39F6A}:26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157F3F08-7DA1-4BA4-A08A-E8D36790EFC4}:26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8778851A-2A9C-4C51-AD49-84A90C098AE1}:267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701</TotalTime>
  <Words>655</Words>
  <Application>Microsoft Office PowerPoint</Application>
  <PresentationFormat>Panorámica</PresentationFormat>
  <Paragraphs>181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Teorema de Pitágoras</dc:title>
  <dc:creator>Illán Linos Souto</dc:creator>
  <cp:lastModifiedBy>Illán Linos</cp:lastModifiedBy>
  <cp:revision>63</cp:revision>
  <dcterms:created xsi:type="dcterms:W3CDTF">2024-08-18T18:48:07Z</dcterms:created>
  <dcterms:modified xsi:type="dcterms:W3CDTF">2025-11-18T13:07:41Z</dcterms:modified>
</cp:coreProperties>
</file>