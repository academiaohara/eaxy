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7" r:id="rId2"/>
    <p:sldId id="258" r:id="rId3"/>
    <p:sldId id="259" r:id="rId4"/>
    <p:sldId id="260" r:id="rId5"/>
  </p:sldIdLst>
  <p:sldSz cx="12192000" cy="6858000"/>
  <p:notesSz cx="6858000" cy="9144000"/>
  <p:custDataLst>
    <p:tags r:id="rId7"/>
  </p:custDataLst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6082"/>
    <a:srgbClr val="EF4246"/>
    <a:srgbClr val="5759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74" autoAdjust="0"/>
    <p:restoredTop sz="96238" autoAdjust="0"/>
  </p:normalViewPr>
  <p:slideViewPr>
    <p:cSldViewPr snapToGrid="0">
      <p:cViewPr varScale="1">
        <p:scale>
          <a:sx n="107" d="100"/>
          <a:sy n="107" d="100"/>
        </p:scale>
        <p:origin x="630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tags" Target="tags/tag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C1099A-C5A1-430F-A8ED-58EF71C20E70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86B1C9-C7BB-467B-91FF-DE334D6E14E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163046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86B1C9-C7BB-467B-91FF-DE334D6E14E5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952669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86B1C9-C7BB-467B-91FF-DE334D6E14E5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802509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86B1C9-C7BB-467B-91FF-DE334D6E14E5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833760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86B1C9-C7BB-467B-91FF-DE334D6E14E5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026411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30CC69-0242-EE52-5289-975CBA2714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6F73D9F-B4D1-33D9-1D9E-271DC37A5E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B39749-7708-B233-4400-98CF8C501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6388BE-A95D-EE17-9576-0B1138379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3D0BC4-CBE6-D467-E4D6-D64D32A57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78896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030BAC-1FB0-491F-B603-3E5454500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D2B9C2-E0AD-3BBC-D8A3-47A4754CC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B1FCF2C-2E83-F0B3-7C49-1FAAE1412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684B2A-CB3A-7102-BDD4-2F18AA9CC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8DB67A-C1BA-90FE-61D4-ECDD22E4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72848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BDC9DC-72C3-F198-AFF4-787C9902F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4580639-1DFF-62A6-4B36-1388D36D2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1EF8A9-8072-80ED-8C3E-2612BB66F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F21A17-5845-AA5F-EF08-20FC40F70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DA33D3-04F5-0B1F-71C9-5784F3658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57462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A352E5-63E6-0BEF-532D-E52C8C5C1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0E9DDE-BBA1-199E-A343-07F0C4D637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21534CA-3C16-BC29-D85F-2DFF0D4AC4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25BE418-589F-9F63-2F44-25C1FEC28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B9955F2-ABB9-4947-BBFF-5D163FE48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C49642F-2057-D0A7-29F6-105C0BC44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30496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A2EB1B-6FEB-11D6-7747-C644CB42B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E7A958E-B4E1-010E-7195-E2BBB2085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001E33A-EA12-5855-CF73-F53B369C3F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0888ACB-A13F-1F1E-6897-3B8D4972FC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F7CF691-1808-02B7-B038-046B7536E3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7277917-8322-4093-178F-A9DACEF58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4B37C16-BE58-1006-6656-85C156369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0F44860-CAA5-300E-EC8A-678764646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3863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B697BC-44BC-F6A3-3B3A-9061217A6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266EEE2-A47A-6360-2F03-FCB00E03D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C4E4590-3762-5D55-5414-FD37FCCC9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EABE1C9-EE22-D475-B974-B7FD86890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23595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5A1C9C2-287B-BFB5-6360-B6B9BF11D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2A85BED-F9C2-B7AA-F0C1-B4BBE23B3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BA57394-8137-0A52-85CD-7B5C04D76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64524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4E36CD-55FB-DE2E-9C92-ECB6F0128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189CA2-3ED8-7653-E541-3314D3E7C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234EC18-037F-C4BA-B572-E9717A54E8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E363633-E074-9B5A-A143-CED74E719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58EB83B-4105-2D5F-9E15-1089C67BC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634990F-A961-2D4E-817B-8363E47B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69154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DB6008-DB7C-3324-403B-7657B8176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2FD88B2-9A94-BDDB-FAF2-931DA13042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5A41C9A-1AEA-7DDD-D68F-E69F0B388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E954D82-C7F9-CAFF-7A53-9B8702713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C78EE88-8582-855D-4C7A-80A0B6B1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C7705F8-A957-7664-DD87-ADB5F3227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53732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58A047-3EF9-CD34-78AF-504143986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C4FC04D-A229-A68C-D470-62CFD3084A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F32C-D8D2-51BE-CEBE-3458EDBB7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1F469C-112A-DEC8-A016-1F623F919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90AE46-A55B-56FF-1006-2C0A6D79D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09212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F857533-87A5-755E-31C0-0F39BDFFA8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161402F-BC08-3B7E-9D9B-FB176E46CE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D70B13-29F6-BFB0-3110-5363018D9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110C1E-4D6E-44ED-E74C-E8B2893C7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609230-F255-4451-22E1-498837BDB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8114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A11EF0C-DF51-DDFE-8A88-2777D9AAB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42B8EC7-7A82-FD16-3D86-7F6E80B1F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CAE80F-9F6E-A95C-C6E1-E800DB8A5A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7CFB18-B5E6-AFA1-A378-83FC7C484D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426725-340B-BBCA-B44B-A0300BEA83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46405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Relationship Id="rId6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48971"/>
            <a:ext cx="11121832" cy="766188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78122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Dos magnitudes son directamente proporcionales cuando al multiplicar o dividir una (doble, triple, mitad, …),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la otra lo hace en la misma proporción.</a:t>
            </a:r>
          </a:p>
        </p:txBody>
      </p:sp>
      <p:pic>
        <p:nvPicPr>
          <p:cNvPr id="3" name="Imagen 2" descr="Logotipo&#10;&#10;Descripción generada automáticamente">
            <a:extLst>
              <a:ext uri="{FF2B5EF4-FFF2-40B4-BE49-F238E27FC236}">
                <a16:creationId xmlns:a16="http://schemas.microsoft.com/office/drawing/2014/main" id="{C4DDE398-7BEE-2778-4323-FAB1ED449B1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0740" y="2302348"/>
            <a:ext cx="1143594" cy="1143594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61000"/>
              </a:prstClr>
            </a:outerShdw>
          </a:effectLst>
        </p:spPr>
      </p:pic>
      <p:grpSp>
        <p:nvGrpSpPr>
          <p:cNvPr id="9" name="Grupo 8">
            <a:extLst>
              <a:ext uri="{FF2B5EF4-FFF2-40B4-BE49-F238E27FC236}">
                <a16:creationId xmlns:a16="http://schemas.microsoft.com/office/drawing/2014/main" id="{93DFCCC6-E96A-6577-0CA4-E5A56E778DE5}"/>
              </a:ext>
            </a:extLst>
          </p:cNvPr>
          <p:cNvGrpSpPr/>
          <p:nvPr/>
        </p:nvGrpSpPr>
        <p:grpSpPr>
          <a:xfrm>
            <a:off x="3605913" y="2302348"/>
            <a:ext cx="1555737" cy="1143594"/>
            <a:chOff x="2891084" y="5345755"/>
            <a:chExt cx="1555737" cy="1143594"/>
          </a:xfrm>
        </p:grpSpPr>
        <p:pic>
          <p:nvPicPr>
            <p:cNvPr id="10" name="Imagen 9" descr="Logotipo&#10;&#10;Descripción generada automáticamente">
              <a:extLst>
                <a:ext uri="{FF2B5EF4-FFF2-40B4-BE49-F238E27FC236}">
                  <a16:creationId xmlns:a16="http://schemas.microsoft.com/office/drawing/2014/main" id="{6F1BF1E7-1546-935F-7FBF-91C2185C3B4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91084" y="5345755"/>
              <a:ext cx="1143594" cy="1143594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61000"/>
                </a:prstClr>
              </a:outerShdw>
            </a:effectLst>
          </p:spPr>
        </p:pic>
        <p:pic>
          <p:nvPicPr>
            <p:cNvPr id="11" name="Imagen 10" descr="Logotipo&#10;&#10;Descripción generada automáticamente">
              <a:extLst>
                <a:ext uri="{FF2B5EF4-FFF2-40B4-BE49-F238E27FC236}">
                  <a16:creationId xmlns:a16="http://schemas.microsoft.com/office/drawing/2014/main" id="{CCBE0AC3-D086-D3A0-6B89-A9B2350D1C9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9198963">
              <a:off x="3303227" y="5345755"/>
              <a:ext cx="1143594" cy="1143594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61000"/>
                </a:prstClr>
              </a:outerShdw>
            </a:effectLst>
          </p:spPr>
        </p:pic>
      </p:grpSp>
      <p:grpSp>
        <p:nvGrpSpPr>
          <p:cNvPr id="13" name="Grupo 12">
            <a:extLst>
              <a:ext uri="{FF2B5EF4-FFF2-40B4-BE49-F238E27FC236}">
                <a16:creationId xmlns:a16="http://schemas.microsoft.com/office/drawing/2014/main" id="{E9957521-1229-5BA1-DD94-944B2ADD9E0C}"/>
              </a:ext>
            </a:extLst>
          </p:cNvPr>
          <p:cNvGrpSpPr/>
          <p:nvPr/>
        </p:nvGrpSpPr>
        <p:grpSpPr>
          <a:xfrm>
            <a:off x="5656483" y="2302347"/>
            <a:ext cx="2261091" cy="1143596"/>
            <a:chOff x="5348054" y="5345755"/>
            <a:chExt cx="2261091" cy="1143596"/>
          </a:xfrm>
        </p:grpSpPr>
        <p:pic>
          <p:nvPicPr>
            <p:cNvPr id="14" name="Imagen 13" descr="Logotipo&#10;&#10;Descripción generada automáticamente">
              <a:extLst>
                <a:ext uri="{FF2B5EF4-FFF2-40B4-BE49-F238E27FC236}">
                  <a16:creationId xmlns:a16="http://schemas.microsoft.com/office/drawing/2014/main" id="{36DEE467-A976-8129-0DA5-5BE0CEFA82A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3957778">
              <a:off x="5348054" y="5345757"/>
              <a:ext cx="1143594" cy="1143594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61000"/>
                </a:prstClr>
              </a:outerShdw>
            </a:effectLst>
          </p:spPr>
        </p:pic>
        <p:pic>
          <p:nvPicPr>
            <p:cNvPr id="16" name="Imagen 15" descr="Logotipo&#10;&#10;Descripción generada automáticamente">
              <a:extLst>
                <a:ext uri="{FF2B5EF4-FFF2-40B4-BE49-F238E27FC236}">
                  <a16:creationId xmlns:a16="http://schemas.microsoft.com/office/drawing/2014/main" id="{24C6ECA3-E396-11AF-92F0-EBC00C4B136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3156741">
              <a:off x="5760197" y="5345757"/>
              <a:ext cx="1143594" cy="1143594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61000"/>
                </a:prstClr>
              </a:outerShdw>
            </a:effectLst>
          </p:spPr>
        </p:pic>
        <p:pic>
          <p:nvPicPr>
            <p:cNvPr id="17" name="Imagen 16" descr="Logotipo&#10;&#10;Descripción generada automáticamente">
              <a:extLst>
                <a:ext uri="{FF2B5EF4-FFF2-40B4-BE49-F238E27FC236}">
                  <a16:creationId xmlns:a16="http://schemas.microsoft.com/office/drawing/2014/main" id="{82D7D067-0ED4-6E9E-09FE-D54BE33BBB6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704919">
              <a:off x="6465551" y="5345755"/>
              <a:ext cx="1143594" cy="1143594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61000"/>
                </a:prstClr>
              </a:outerShdw>
            </a:effectLst>
          </p:spPr>
        </p:pic>
      </p:grpSp>
      <p:sp>
        <p:nvSpPr>
          <p:cNvPr id="18" name="!CuadroTexto 1">
            <a:extLst>
              <a:ext uri="{FF2B5EF4-FFF2-40B4-BE49-F238E27FC236}">
                <a16:creationId xmlns:a16="http://schemas.microsoft.com/office/drawing/2014/main" id="{ACE2DDB8-4225-A518-ECD3-40D6C18281CE}"/>
              </a:ext>
            </a:extLst>
          </p:cNvPr>
          <p:cNvSpPr txBox="1"/>
          <p:nvPr/>
        </p:nvSpPr>
        <p:spPr>
          <a:xfrm>
            <a:off x="1587406" y="3441525"/>
            <a:ext cx="141026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5€</a:t>
            </a:r>
          </a:p>
        </p:txBody>
      </p:sp>
      <p:sp>
        <p:nvSpPr>
          <p:cNvPr id="30" name="!CuadroTexto 1">
            <a:extLst>
              <a:ext uri="{FF2B5EF4-FFF2-40B4-BE49-F238E27FC236}">
                <a16:creationId xmlns:a16="http://schemas.microsoft.com/office/drawing/2014/main" id="{77DC8C6C-A160-ECC8-7648-210C187E2347}"/>
              </a:ext>
            </a:extLst>
          </p:cNvPr>
          <p:cNvSpPr txBox="1"/>
          <p:nvPr/>
        </p:nvSpPr>
        <p:spPr>
          <a:xfrm>
            <a:off x="3724982" y="3441525"/>
            <a:ext cx="141026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10€</a:t>
            </a:r>
          </a:p>
        </p:txBody>
      </p:sp>
      <p:sp>
        <p:nvSpPr>
          <p:cNvPr id="31" name="!CuadroTexto 1">
            <a:extLst>
              <a:ext uri="{FF2B5EF4-FFF2-40B4-BE49-F238E27FC236}">
                <a16:creationId xmlns:a16="http://schemas.microsoft.com/office/drawing/2014/main" id="{3A842C5F-00F4-34F8-FAED-35CFF2EA403A}"/>
              </a:ext>
            </a:extLst>
          </p:cNvPr>
          <p:cNvSpPr txBox="1"/>
          <p:nvPr/>
        </p:nvSpPr>
        <p:spPr>
          <a:xfrm>
            <a:off x="6081898" y="3441525"/>
            <a:ext cx="141026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4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?</a:t>
            </a:r>
          </a:p>
        </p:txBody>
      </p:sp>
      <p:sp>
        <p:nvSpPr>
          <p:cNvPr id="32" name="!CuadroTexto 1">
            <a:extLst>
              <a:ext uri="{FF2B5EF4-FFF2-40B4-BE49-F238E27FC236}">
                <a16:creationId xmlns:a16="http://schemas.microsoft.com/office/drawing/2014/main" id="{4D53CAD1-06D7-45C3-5C09-481F2C292835}"/>
              </a:ext>
            </a:extLst>
          </p:cNvPr>
          <p:cNvSpPr txBox="1"/>
          <p:nvPr/>
        </p:nvSpPr>
        <p:spPr>
          <a:xfrm>
            <a:off x="8952009" y="3441525"/>
            <a:ext cx="141026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25€</a:t>
            </a:r>
          </a:p>
        </p:txBody>
      </p:sp>
      <p:sp>
        <p:nvSpPr>
          <p:cNvPr id="36" name="!CuadroTexto 1">
            <a:extLst>
              <a:ext uri="{FF2B5EF4-FFF2-40B4-BE49-F238E27FC236}">
                <a16:creationId xmlns:a16="http://schemas.microsoft.com/office/drawing/2014/main" id="{3F82BE7A-B952-0094-4C22-B44AE855EF22}"/>
              </a:ext>
            </a:extLst>
          </p:cNvPr>
          <p:cNvSpPr txBox="1"/>
          <p:nvPr/>
        </p:nvSpPr>
        <p:spPr>
          <a:xfrm>
            <a:off x="6081898" y="3435750"/>
            <a:ext cx="141026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15€</a:t>
            </a:r>
          </a:p>
        </p:txBody>
      </p:sp>
      <p:graphicFrame>
        <p:nvGraphicFramePr>
          <p:cNvPr id="37" name="Tabla 7">
            <a:extLst>
              <a:ext uri="{FF2B5EF4-FFF2-40B4-BE49-F238E27FC236}">
                <a16:creationId xmlns:a16="http://schemas.microsoft.com/office/drawing/2014/main" id="{22BF9442-6132-65F2-1D0F-05EEBE027D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9652027"/>
              </p:ext>
            </p:extLst>
          </p:nvPr>
        </p:nvGraphicFramePr>
        <p:xfrm>
          <a:off x="2155325" y="4680916"/>
          <a:ext cx="7881349" cy="914400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1772605">
                  <a:extLst>
                    <a:ext uri="{9D8B030D-6E8A-4147-A177-3AD203B41FA5}">
                      <a16:colId xmlns:a16="http://schemas.microsoft.com/office/drawing/2014/main" val="1894078914"/>
                    </a:ext>
                  </a:extLst>
                </a:gridCol>
                <a:gridCol w="1018124">
                  <a:extLst>
                    <a:ext uri="{9D8B030D-6E8A-4147-A177-3AD203B41FA5}">
                      <a16:colId xmlns:a16="http://schemas.microsoft.com/office/drawing/2014/main" val="1660020379"/>
                    </a:ext>
                  </a:extLst>
                </a:gridCol>
                <a:gridCol w="1018124">
                  <a:extLst>
                    <a:ext uri="{9D8B030D-6E8A-4147-A177-3AD203B41FA5}">
                      <a16:colId xmlns:a16="http://schemas.microsoft.com/office/drawing/2014/main" val="2025602865"/>
                    </a:ext>
                  </a:extLst>
                </a:gridCol>
                <a:gridCol w="1018124">
                  <a:extLst>
                    <a:ext uri="{9D8B030D-6E8A-4147-A177-3AD203B41FA5}">
                      <a16:colId xmlns:a16="http://schemas.microsoft.com/office/drawing/2014/main" val="4053835890"/>
                    </a:ext>
                  </a:extLst>
                </a:gridCol>
                <a:gridCol w="1018124">
                  <a:extLst>
                    <a:ext uri="{9D8B030D-6E8A-4147-A177-3AD203B41FA5}">
                      <a16:colId xmlns:a16="http://schemas.microsoft.com/office/drawing/2014/main" val="2430511409"/>
                    </a:ext>
                  </a:extLst>
                </a:gridCol>
                <a:gridCol w="1018124">
                  <a:extLst>
                    <a:ext uri="{9D8B030D-6E8A-4147-A177-3AD203B41FA5}">
                      <a16:colId xmlns:a16="http://schemas.microsoft.com/office/drawing/2014/main" val="1661500128"/>
                    </a:ext>
                  </a:extLst>
                </a:gridCol>
                <a:gridCol w="1018124">
                  <a:extLst>
                    <a:ext uri="{9D8B030D-6E8A-4147-A177-3AD203B41FA5}">
                      <a16:colId xmlns:a16="http://schemas.microsoft.com/office/drawing/2014/main" val="24213023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sz="2400" b="1" dirty="0"/>
                        <a:t>Nº Balones</a:t>
                      </a: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0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0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0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0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54404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sz="2400" b="1" dirty="0"/>
                        <a:t>Precio</a:t>
                      </a: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0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0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0" dirty="0"/>
                        <a:t>15</a:t>
                      </a: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0" dirty="0"/>
                        <a:t>20</a:t>
                      </a: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0" dirty="0"/>
                        <a:t>40</a:t>
                      </a: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3029610"/>
                  </a:ext>
                </a:extLst>
              </a:tr>
            </a:tbl>
          </a:graphicData>
        </a:graphic>
      </p:graphicFrame>
      <p:sp>
        <p:nvSpPr>
          <p:cNvPr id="38" name="!CuadroTexto 1">
            <a:extLst>
              <a:ext uri="{FF2B5EF4-FFF2-40B4-BE49-F238E27FC236}">
                <a16:creationId xmlns:a16="http://schemas.microsoft.com/office/drawing/2014/main" id="{E17B7DFD-770B-394D-BEDC-AF481F3A89C3}"/>
              </a:ext>
            </a:extLst>
          </p:cNvPr>
          <p:cNvSpPr txBox="1"/>
          <p:nvPr/>
        </p:nvSpPr>
        <p:spPr>
          <a:xfrm>
            <a:off x="9323239" y="2289471"/>
            <a:ext cx="75723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66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?</a:t>
            </a:r>
          </a:p>
        </p:txBody>
      </p:sp>
      <p:pic>
        <p:nvPicPr>
          <p:cNvPr id="39" name="Imagen 38" descr="Logotipo&#10;&#10;Descripción generada automáticamente">
            <a:extLst>
              <a:ext uri="{FF2B5EF4-FFF2-40B4-BE49-F238E27FC236}">
                <a16:creationId xmlns:a16="http://schemas.microsoft.com/office/drawing/2014/main" id="{D915419D-FDB3-444D-252A-6FC89B17F23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957778">
            <a:off x="8242919" y="2271672"/>
            <a:ext cx="1143594" cy="1143594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61000"/>
              </a:prstClr>
            </a:outerShdw>
          </a:effectLst>
        </p:spPr>
      </p:pic>
      <p:pic>
        <p:nvPicPr>
          <p:cNvPr id="40" name="Imagen 39" descr="Logotipo&#10;&#10;Descripción generada automáticamente">
            <a:extLst>
              <a:ext uri="{FF2B5EF4-FFF2-40B4-BE49-F238E27FC236}">
                <a16:creationId xmlns:a16="http://schemas.microsoft.com/office/drawing/2014/main" id="{CF210EDF-6D96-EC32-724C-EF8A65D10D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156741">
            <a:off x="8687170" y="2271672"/>
            <a:ext cx="1143594" cy="1143594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61000"/>
              </a:prstClr>
            </a:outerShdw>
          </a:effectLst>
        </p:spPr>
      </p:pic>
      <p:pic>
        <p:nvPicPr>
          <p:cNvPr id="41" name="Imagen 40" descr="Logotipo&#10;&#10;Descripción generada automáticamente">
            <a:extLst>
              <a:ext uri="{FF2B5EF4-FFF2-40B4-BE49-F238E27FC236}">
                <a16:creationId xmlns:a16="http://schemas.microsoft.com/office/drawing/2014/main" id="{84CFB7C5-8582-A91D-F7E2-D1F78040E8F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704919">
            <a:off x="9131421" y="2271672"/>
            <a:ext cx="1143594" cy="1143594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61000"/>
              </a:prstClr>
            </a:outerShdw>
          </a:effectLst>
        </p:spPr>
      </p:pic>
      <p:pic>
        <p:nvPicPr>
          <p:cNvPr id="42" name="Imagen 41" descr="Logotipo&#10;&#10;Descripción generada automáticamente">
            <a:extLst>
              <a:ext uri="{FF2B5EF4-FFF2-40B4-BE49-F238E27FC236}">
                <a16:creationId xmlns:a16="http://schemas.microsoft.com/office/drawing/2014/main" id="{2B5CBB99-12FA-967A-02DA-058ADA7DF9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123429">
            <a:off x="9575672" y="2271672"/>
            <a:ext cx="1143594" cy="1143594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61000"/>
              </a:prstClr>
            </a:outerShdw>
          </a:effectLst>
        </p:spPr>
      </p:pic>
      <p:pic>
        <p:nvPicPr>
          <p:cNvPr id="43" name="Imagen 42" descr="Logotipo&#10;&#10;Descripción generada automáticamente">
            <a:extLst>
              <a:ext uri="{FF2B5EF4-FFF2-40B4-BE49-F238E27FC236}">
                <a16:creationId xmlns:a16="http://schemas.microsoft.com/office/drawing/2014/main" id="{353D5B93-4F84-1C46-976F-29D0BAC852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5082734">
            <a:off x="10077813" y="2271672"/>
            <a:ext cx="1143594" cy="1143594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61000"/>
              </a:prstClr>
            </a:outerShdw>
          </a:effectLst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92EBE765-BC01-C265-2E65-8D05A2CE98A1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37165C2-C390-6DCB-E2CD-BBCC55A53259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4: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Proporcionalidad y Porcentajes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948256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4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7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2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2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2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750"/>
                            </p:stCondLst>
                            <p:childTnLst>
                              <p:par>
                                <p:cTn id="3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2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2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2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2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2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2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250"/>
                            </p:stCondLst>
                            <p:childTnLst>
                              <p:par>
                                <p:cTn id="5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2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2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2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500"/>
                            </p:stCondLst>
                            <p:childTnLst>
                              <p:par>
                                <p:cTn id="5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2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2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2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750"/>
                            </p:stCondLst>
                            <p:childTnLst>
                              <p:par>
                                <p:cTn id="6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4" grpId="0"/>
      <p:bldP spid="31" grpId="0"/>
      <p:bldP spid="36" grpId="0"/>
      <p:bldP spid="3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48971"/>
            <a:ext cx="11121832" cy="766188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78122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Dos magnitudes son directamente proporcionales cuando al multiplicar o dividir una (doble, triple, mitad, …),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la otra lo hace en la misma proporción.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33F556B4-E235-1E4A-43E5-3ACCC216A739}"/>
              </a:ext>
            </a:extLst>
          </p:cNvPr>
          <p:cNvSpPr/>
          <p:nvPr/>
        </p:nvSpPr>
        <p:spPr>
          <a:xfrm>
            <a:off x="535084" y="2123167"/>
            <a:ext cx="190500" cy="1905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30A54FBA-101C-DDA6-F3E3-5DF6CE56BA94}"/>
              </a:ext>
            </a:extLst>
          </p:cNvPr>
          <p:cNvSpPr txBox="1"/>
          <p:nvPr/>
        </p:nvSpPr>
        <p:spPr>
          <a:xfrm>
            <a:off x="839884" y="1987585"/>
            <a:ext cx="68865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MÉTODO DE REDUCCIÓN A LA UNIDAD</a:t>
            </a:r>
            <a:endParaRPr lang="es-ES" sz="20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!Marco 10">
            <a:extLst>
              <a:ext uri="{FF2B5EF4-FFF2-40B4-BE49-F238E27FC236}">
                <a16:creationId xmlns:a16="http://schemas.microsoft.com/office/drawing/2014/main" id="{D84AC761-79CF-FFCA-400F-7F6A9A623E96}"/>
              </a:ext>
            </a:extLst>
          </p:cNvPr>
          <p:cNvSpPr/>
          <p:nvPr/>
        </p:nvSpPr>
        <p:spPr>
          <a:xfrm>
            <a:off x="535084" y="2482654"/>
            <a:ext cx="11121832" cy="766188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8" name="!CuadroTexto 1">
            <a:extLst>
              <a:ext uri="{FF2B5EF4-FFF2-40B4-BE49-F238E27FC236}">
                <a16:creationId xmlns:a16="http://schemas.microsoft.com/office/drawing/2014/main" id="{86123087-8CAB-62F8-114C-62D7F71D93C5}"/>
              </a:ext>
            </a:extLst>
          </p:cNvPr>
          <p:cNvSpPr txBox="1"/>
          <p:nvPr/>
        </p:nvSpPr>
        <p:spPr>
          <a:xfrm>
            <a:off x="535084" y="2511805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Primero se calcula el valor de la unidad. Conociendo ese valor, es fácil calcular el valor correspondiente.</a:t>
            </a:r>
          </a:p>
        </p:txBody>
      </p:sp>
      <p:sp>
        <p:nvSpPr>
          <p:cNvPr id="12" name="!CuadroTexto 1">
            <a:extLst>
              <a:ext uri="{FF2B5EF4-FFF2-40B4-BE49-F238E27FC236}">
                <a16:creationId xmlns:a16="http://schemas.microsoft.com/office/drawing/2014/main" id="{1DDD3FF0-6D7C-74A1-ED3C-E3B3E73FBF3A}"/>
              </a:ext>
            </a:extLst>
          </p:cNvPr>
          <p:cNvSpPr txBox="1"/>
          <p:nvPr/>
        </p:nvSpPr>
        <p:spPr>
          <a:xfrm>
            <a:off x="491541" y="3354259"/>
            <a:ext cx="111653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EJEMPLOS: </a:t>
            </a:r>
            <a:r>
              <a:rPr lang="es-ES" sz="2000" b="1" u="none" strike="noStrike" baseline="0" dirty="0"/>
              <a:t>Tres chocolatinas pesan 60 gramos. ¿Cuánto pesan cuatro chocolatinas?</a:t>
            </a:r>
            <a:endParaRPr lang="es-ES" sz="2400" b="1" dirty="0"/>
          </a:p>
        </p:txBody>
      </p: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BEA3F4C2-4B63-4E8E-89A7-85754C243F16}"/>
              </a:ext>
            </a:extLst>
          </p:cNvPr>
          <p:cNvCxnSpPr>
            <a:cxnSpLocks/>
          </p:cNvCxnSpPr>
          <p:nvPr/>
        </p:nvCxnSpPr>
        <p:spPr>
          <a:xfrm>
            <a:off x="2333625" y="4371402"/>
            <a:ext cx="3124200" cy="0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!CuadroTexto 1">
            <a:extLst>
              <a:ext uri="{FF2B5EF4-FFF2-40B4-BE49-F238E27FC236}">
                <a16:creationId xmlns:a16="http://schemas.microsoft.com/office/drawing/2014/main" id="{0B2B5F22-3D1B-9798-EE6D-17E653BF7BAD}"/>
              </a:ext>
            </a:extLst>
          </p:cNvPr>
          <p:cNvSpPr txBox="1"/>
          <p:nvPr/>
        </p:nvSpPr>
        <p:spPr>
          <a:xfrm>
            <a:off x="2140518" y="3888937"/>
            <a:ext cx="35104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solidFill>
                  <a:schemeClr val="accent5">
                    <a:lumMod val="75000"/>
                  </a:schemeClr>
                </a:solidFill>
              </a:rPr>
              <a:t>Nº CHOCOLATINAS</a:t>
            </a:r>
          </a:p>
        </p:txBody>
      </p: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D3FBB295-2999-6C54-658D-22B60A5126D4}"/>
              </a:ext>
            </a:extLst>
          </p:cNvPr>
          <p:cNvCxnSpPr>
            <a:cxnSpLocks/>
          </p:cNvCxnSpPr>
          <p:nvPr/>
        </p:nvCxnSpPr>
        <p:spPr>
          <a:xfrm>
            <a:off x="7141147" y="4371402"/>
            <a:ext cx="1920874" cy="0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!CuadroTexto 1">
            <a:extLst>
              <a:ext uri="{FF2B5EF4-FFF2-40B4-BE49-F238E27FC236}">
                <a16:creationId xmlns:a16="http://schemas.microsoft.com/office/drawing/2014/main" id="{B55ECF8A-7AA7-5FBA-2DE7-050060A5EC4B}"/>
              </a:ext>
            </a:extLst>
          </p:cNvPr>
          <p:cNvSpPr txBox="1"/>
          <p:nvPr/>
        </p:nvSpPr>
        <p:spPr>
          <a:xfrm>
            <a:off x="6616253" y="3888937"/>
            <a:ext cx="29706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solidFill>
                  <a:schemeClr val="accent5">
                    <a:lumMod val="75000"/>
                  </a:schemeClr>
                </a:solidFill>
              </a:rPr>
              <a:t>PESO (G)</a:t>
            </a:r>
          </a:p>
        </p:txBody>
      </p:sp>
      <p:sp>
        <p:nvSpPr>
          <p:cNvPr id="22" name="!CuadroTexto 1">
            <a:extLst>
              <a:ext uri="{FF2B5EF4-FFF2-40B4-BE49-F238E27FC236}">
                <a16:creationId xmlns:a16="http://schemas.microsoft.com/office/drawing/2014/main" id="{1459226D-8090-4CAB-37D5-4880C93C684B}"/>
              </a:ext>
            </a:extLst>
          </p:cNvPr>
          <p:cNvSpPr txBox="1"/>
          <p:nvPr/>
        </p:nvSpPr>
        <p:spPr>
          <a:xfrm>
            <a:off x="3570968" y="4569779"/>
            <a:ext cx="6495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b="1" dirty="0"/>
              <a:t>3</a:t>
            </a:r>
          </a:p>
        </p:txBody>
      </p:sp>
      <p:sp>
        <p:nvSpPr>
          <p:cNvPr id="23" name="!CuadroTexto 1">
            <a:extLst>
              <a:ext uri="{FF2B5EF4-FFF2-40B4-BE49-F238E27FC236}">
                <a16:creationId xmlns:a16="http://schemas.microsoft.com/office/drawing/2014/main" id="{86BAB403-AE77-0E31-5295-0CB0C59CD1CA}"/>
              </a:ext>
            </a:extLst>
          </p:cNvPr>
          <p:cNvSpPr txBox="1"/>
          <p:nvPr/>
        </p:nvSpPr>
        <p:spPr>
          <a:xfrm>
            <a:off x="7776827" y="4569779"/>
            <a:ext cx="6495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b="1" dirty="0"/>
              <a:t>60</a:t>
            </a:r>
          </a:p>
        </p:txBody>
      </p:sp>
      <p:sp>
        <p:nvSpPr>
          <p:cNvPr id="25" name="!CuadroTexto 1">
            <a:extLst>
              <a:ext uri="{FF2B5EF4-FFF2-40B4-BE49-F238E27FC236}">
                <a16:creationId xmlns:a16="http://schemas.microsoft.com/office/drawing/2014/main" id="{51989B31-7AFF-6877-630F-0C4B7D2EC0E6}"/>
              </a:ext>
            </a:extLst>
          </p:cNvPr>
          <p:cNvSpPr txBox="1"/>
          <p:nvPr/>
        </p:nvSpPr>
        <p:spPr>
          <a:xfrm>
            <a:off x="3570967" y="5345449"/>
            <a:ext cx="6495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b="1" dirty="0"/>
              <a:t>4</a:t>
            </a:r>
          </a:p>
        </p:txBody>
      </p:sp>
      <p:sp>
        <p:nvSpPr>
          <p:cNvPr id="26" name="!CuadroTexto 1">
            <a:extLst>
              <a:ext uri="{FF2B5EF4-FFF2-40B4-BE49-F238E27FC236}">
                <a16:creationId xmlns:a16="http://schemas.microsoft.com/office/drawing/2014/main" id="{FC164DD5-50BD-102C-8D46-F3095FC8C056}"/>
              </a:ext>
            </a:extLst>
          </p:cNvPr>
          <p:cNvSpPr txBox="1"/>
          <p:nvPr/>
        </p:nvSpPr>
        <p:spPr>
          <a:xfrm>
            <a:off x="7776826" y="5345448"/>
            <a:ext cx="6495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b="1" dirty="0"/>
              <a:t>?</a:t>
            </a:r>
          </a:p>
        </p:txBody>
      </p: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59E7F505-CCA8-C919-C97D-D879F07AB35B}"/>
              </a:ext>
            </a:extLst>
          </p:cNvPr>
          <p:cNvCxnSpPr/>
          <p:nvPr/>
        </p:nvCxnSpPr>
        <p:spPr>
          <a:xfrm>
            <a:off x="4545237" y="4834738"/>
            <a:ext cx="3231587" cy="0"/>
          </a:xfrm>
          <a:prstGeom prst="straightConnector1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de flecha 27">
            <a:extLst>
              <a:ext uri="{FF2B5EF4-FFF2-40B4-BE49-F238E27FC236}">
                <a16:creationId xmlns:a16="http://schemas.microsoft.com/office/drawing/2014/main" id="{17A130CB-C580-A697-271F-A51390E226A7}"/>
              </a:ext>
            </a:extLst>
          </p:cNvPr>
          <p:cNvCxnSpPr/>
          <p:nvPr/>
        </p:nvCxnSpPr>
        <p:spPr>
          <a:xfrm>
            <a:off x="4545237" y="5607058"/>
            <a:ext cx="3231587" cy="0"/>
          </a:xfrm>
          <a:prstGeom prst="straightConnector1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!CuadroTexto 1">
            <a:extLst>
              <a:ext uri="{FF2B5EF4-FFF2-40B4-BE49-F238E27FC236}">
                <a16:creationId xmlns:a16="http://schemas.microsoft.com/office/drawing/2014/main" id="{84547EBA-7D1C-2AC5-956D-C4F47C56A61A}"/>
              </a:ext>
            </a:extLst>
          </p:cNvPr>
          <p:cNvSpPr txBox="1"/>
          <p:nvPr/>
        </p:nvSpPr>
        <p:spPr>
          <a:xfrm>
            <a:off x="3570967" y="6072914"/>
            <a:ext cx="6495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1</a:t>
            </a:r>
          </a:p>
        </p:txBody>
      </p:sp>
      <p:sp>
        <p:nvSpPr>
          <p:cNvPr id="33" name="!CuadroTexto 1">
            <a:extLst>
              <a:ext uri="{FF2B5EF4-FFF2-40B4-BE49-F238E27FC236}">
                <a16:creationId xmlns:a16="http://schemas.microsoft.com/office/drawing/2014/main" id="{18B10857-2AD9-635D-13E8-FCB713197FCE}"/>
              </a:ext>
            </a:extLst>
          </p:cNvPr>
          <p:cNvSpPr txBox="1"/>
          <p:nvPr/>
        </p:nvSpPr>
        <p:spPr>
          <a:xfrm>
            <a:off x="7776826" y="6072913"/>
            <a:ext cx="6495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?</a:t>
            </a:r>
          </a:p>
        </p:txBody>
      </p:sp>
      <p:cxnSp>
        <p:nvCxnSpPr>
          <p:cNvPr id="34" name="Conector recto de flecha 33">
            <a:extLst>
              <a:ext uri="{FF2B5EF4-FFF2-40B4-BE49-F238E27FC236}">
                <a16:creationId xmlns:a16="http://schemas.microsoft.com/office/drawing/2014/main" id="{ABD6314E-5771-9652-F3B2-220EBFB90521}"/>
              </a:ext>
            </a:extLst>
          </p:cNvPr>
          <p:cNvCxnSpPr/>
          <p:nvPr/>
        </p:nvCxnSpPr>
        <p:spPr>
          <a:xfrm>
            <a:off x="4545237" y="6334523"/>
            <a:ext cx="3231587" cy="0"/>
          </a:xfrm>
          <a:prstGeom prst="straightConnector1">
            <a:avLst/>
          </a:prstGeom>
          <a:ln w="28575"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Arco 34">
            <a:extLst>
              <a:ext uri="{FF2B5EF4-FFF2-40B4-BE49-F238E27FC236}">
                <a16:creationId xmlns:a16="http://schemas.microsoft.com/office/drawing/2014/main" id="{784F6F99-EB1B-1854-8B9C-1436CDA21EE1}"/>
              </a:ext>
            </a:extLst>
          </p:cNvPr>
          <p:cNvSpPr/>
          <p:nvPr/>
        </p:nvSpPr>
        <p:spPr>
          <a:xfrm rot="8001813" flipV="1">
            <a:off x="3369965" y="4631677"/>
            <a:ext cx="1950762" cy="1950762"/>
          </a:xfrm>
          <a:prstGeom prst="arc">
            <a:avLst>
              <a:gd name="adj1" fmla="val 15723179"/>
              <a:gd name="adj2" fmla="val 338567"/>
            </a:avLst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4" name="Arco 43">
            <a:extLst>
              <a:ext uri="{FF2B5EF4-FFF2-40B4-BE49-F238E27FC236}">
                <a16:creationId xmlns:a16="http://schemas.microsoft.com/office/drawing/2014/main" id="{A20032C2-918C-856F-3A57-ED269DFFED9E}"/>
              </a:ext>
            </a:extLst>
          </p:cNvPr>
          <p:cNvSpPr/>
          <p:nvPr/>
        </p:nvSpPr>
        <p:spPr>
          <a:xfrm rot="13598187" flipH="1" flipV="1">
            <a:off x="6870537" y="4631677"/>
            <a:ext cx="1950762" cy="1950762"/>
          </a:xfrm>
          <a:prstGeom prst="arc">
            <a:avLst>
              <a:gd name="adj1" fmla="val 15723179"/>
              <a:gd name="adj2" fmla="val 338567"/>
            </a:avLst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45" name="!CuadroTexto 1">
            <a:extLst>
              <a:ext uri="{FF2B5EF4-FFF2-40B4-BE49-F238E27FC236}">
                <a16:creationId xmlns:a16="http://schemas.microsoft.com/office/drawing/2014/main" id="{F9719920-7B09-B134-CDB8-3B771DA90FC8}"/>
              </a:ext>
            </a:extLst>
          </p:cNvPr>
          <p:cNvSpPr txBox="1"/>
          <p:nvPr/>
        </p:nvSpPr>
        <p:spPr>
          <a:xfrm>
            <a:off x="2772553" y="5345448"/>
            <a:ext cx="6495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b="1" dirty="0"/>
              <a:t>:3</a:t>
            </a:r>
          </a:p>
        </p:txBody>
      </p:sp>
      <p:sp>
        <p:nvSpPr>
          <p:cNvPr id="46" name="!CuadroTexto 1">
            <a:extLst>
              <a:ext uri="{FF2B5EF4-FFF2-40B4-BE49-F238E27FC236}">
                <a16:creationId xmlns:a16="http://schemas.microsoft.com/office/drawing/2014/main" id="{D07EB0FC-B48D-CA29-77B1-F0B1592194F1}"/>
              </a:ext>
            </a:extLst>
          </p:cNvPr>
          <p:cNvSpPr txBox="1"/>
          <p:nvPr/>
        </p:nvSpPr>
        <p:spPr>
          <a:xfrm>
            <a:off x="8768443" y="5345448"/>
            <a:ext cx="6495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b="1" dirty="0"/>
              <a:t>:3</a:t>
            </a:r>
          </a:p>
        </p:txBody>
      </p:sp>
      <p:sp>
        <p:nvSpPr>
          <p:cNvPr id="47" name="!CuadroTexto 1">
            <a:extLst>
              <a:ext uri="{FF2B5EF4-FFF2-40B4-BE49-F238E27FC236}">
                <a16:creationId xmlns:a16="http://schemas.microsoft.com/office/drawing/2014/main" id="{453D41FE-AF1B-D09C-E8AA-2366E8C4E337}"/>
              </a:ext>
            </a:extLst>
          </p:cNvPr>
          <p:cNvSpPr txBox="1"/>
          <p:nvPr/>
        </p:nvSpPr>
        <p:spPr>
          <a:xfrm>
            <a:off x="7776826" y="6072913"/>
            <a:ext cx="6495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20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FDE9F1CB-9DCE-E768-165D-61E43C1DC9AF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9D86DD0B-2E05-8406-C083-824DC5A917E5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4: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Proporcionalidad y Porcentajes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34917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500"/>
                            </p:stCondLst>
                            <p:childTnLst>
                              <p:par>
                                <p:cTn id="5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2000"/>
                            </p:stCondLst>
                            <p:childTnLst>
                              <p:par>
                                <p:cTn id="6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4" grpId="0"/>
      <p:bldP spid="4" grpId="0" animBg="1"/>
      <p:bldP spid="5" grpId="0"/>
      <p:bldP spid="7" grpId="0" animBg="1"/>
      <p:bldP spid="8" grpId="0"/>
      <p:bldP spid="12" grpId="0"/>
      <p:bldP spid="29" grpId="0"/>
      <p:bldP spid="33" grpId="0"/>
      <p:bldP spid="33" grpId="1"/>
      <p:bldP spid="35" grpId="0" animBg="1"/>
      <p:bldP spid="44" grpId="0" animBg="1"/>
      <p:bldP spid="45" grpId="0"/>
      <p:bldP spid="46" grpId="0"/>
      <p:bldP spid="4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48971"/>
            <a:ext cx="11121832" cy="766188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78122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Dos magnitudes son directamente proporcionales cuando al multiplicar o dividir una (doble, triple, mitad, …),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la otra lo hace en la misma proporción.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33F556B4-E235-1E4A-43E5-3ACCC216A739}"/>
              </a:ext>
            </a:extLst>
          </p:cNvPr>
          <p:cNvSpPr/>
          <p:nvPr/>
        </p:nvSpPr>
        <p:spPr>
          <a:xfrm>
            <a:off x="535084" y="2123167"/>
            <a:ext cx="190500" cy="1905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30A54FBA-101C-DDA6-F3E3-5DF6CE56BA94}"/>
              </a:ext>
            </a:extLst>
          </p:cNvPr>
          <p:cNvSpPr txBox="1"/>
          <p:nvPr/>
        </p:nvSpPr>
        <p:spPr>
          <a:xfrm>
            <a:off x="839884" y="1987585"/>
            <a:ext cx="68865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MÉTODO DE REDUCCIÓN A LA UNIDAD</a:t>
            </a:r>
            <a:endParaRPr lang="es-ES" sz="20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!Marco 10">
            <a:extLst>
              <a:ext uri="{FF2B5EF4-FFF2-40B4-BE49-F238E27FC236}">
                <a16:creationId xmlns:a16="http://schemas.microsoft.com/office/drawing/2014/main" id="{D84AC761-79CF-FFCA-400F-7F6A9A623E96}"/>
              </a:ext>
            </a:extLst>
          </p:cNvPr>
          <p:cNvSpPr/>
          <p:nvPr/>
        </p:nvSpPr>
        <p:spPr>
          <a:xfrm>
            <a:off x="535084" y="2482654"/>
            <a:ext cx="11121832" cy="766188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8" name="!CuadroTexto 1">
            <a:extLst>
              <a:ext uri="{FF2B5EF4-FFF2-40B4-BE49-F238E27FC236}">
                <a16:creationId xmlns:a16="http://schemas.microsoft.com/office/drawing/2014/main" id="{86123087-8CAB-62F8-114C-62D7F71D93C5}"/>
              </a:ext>
            </a:extLst>
          </p:cNvPr>
          <p:cNvSpPr txBox="1"/>
          <p:nvPr/>
        </p:nvSpPr>
        <p:spPr>
          <a:xfrm>
            <a:off x="535084" y="2511805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Primero se calcula el valor de la unidad. Conociendo ese valor, es fácil calcular el valor correspondiente.</a:t>
            </a:r>
          </a:p>
        </p:txBody>
      </p:sp>
      <p:sp>
        <p:nvSpPr>
          <p:cNvPr id="12" name="!CuadroTexto 1">
            <a:extLst>
              <a:ext uri="{FF2B5EF4-FFF2-40B4-BE49-F238E27FC236}">
                <a16:creationId xmlns:a16="http://schemas.microsoft.com/office/drawing/2014/main" id="{1DDD3FF0-6D7C-74A1-ED3C-E3B3E73FBF3A}"/>
              </a:ext>
            </a:extLst>
          </p:cNvPr>
          <p:cNvSpPr txBox="1"/>
          <p:nvPr/>
        </p:nvSpPr>
        <p:spPr>
          <a:xfrm>
            <a:off x="491541" y="3354259"/>
            <a:ext cx="111653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EJEMPLOS: </a:t>
            </a:r>
            <a:r>
              <a:rPr lang="es-ES" sz="2000" b="1" u="none" strike="noStrike" baseline="0" dirty="0"/>
              <a:t>Tres chocolatinas pesan 60 gramos. ¿Cuánto pesan cuatro chocolatinas?</a:t>
            </a:r>
            <a:endParaRPr lang="es-ES" sz="2400" b="1" dirty="0"/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0CBD2BEF-0FA2-EAFE-4B2A-676F457B507D}"/>
              </a:ext>
            </a:extLst>
          </p:cNvPr>
          <p:cNvCxnSpPr>
            <a:cxnSpLocks/>
          </p:cNvCxnSpPr>
          <p:nvPr/>
        </p:nvCxnSpPr>
        <p:spPr>
          <a:xfrm>
            <a:off x="2333625" y="4371402"/>
            <a:ext cx="3124200" cy="0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!CuadroTexto 1">
            <a:extLst>
              <a:ext uri="{FF2B5EF4-FFF2-40B4-BE49-F238E27FC236}">
                <a16:creationId xmlns:a16="http://schemas.microsoft.com/office/drawing/2014/main" id="{CA596ED7-4643-9C86-925B-7BAE9E7AFEBF}"/>
              </a:ext>
            </a:extLst>
          </p:cNvPr>
          <p:cNvSpPr txBox="1"/>
          <p:nvPr/>
        </p:nvSpPr>
        <p:spPr>
          <a:xfrm>
            <a:off x="2140518" y="3888937"/>
            <a:ext cx="35104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solidFill>
                  <a:schemeClr val="accent5">
                    <a:lumMod val="75000"/>
                  </a:schemeClr>
                </a:solidFill>
              </a:rPr>
              <a:t>Nº CHOCOLATINAS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8DD99B59-BFA7-09E5-5E97-CFD5B105EC9C}"/>
              </a:ext>
            </a:extLst>
          </p:cNvPr>
          <p:cNvCxnSpPr>
            <a:cxnSpLocks/>
          </p:cNvCxnSpPr>
          <p:nvPr/>
        </p:nvCxnSpPr>
        <p:spPr>
          <a:xfrm>
            <a:off x="7141147" y="4371402"/>
            <a:ext cx="1920874" cy="0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!CuadroTexto 1">
            <a:extLst>
              <a:ext uri="{FF2B5EF4-FFF2-40B4-BE49-F238E27FC236}">
                <a16:creationId xmlns:a16="http://schemas.microsoft.com/office/drawing/2014/main" id="{24B51CD1-1912-3089-FB1C-63AA1C964FDA}"/>
              </a:ext>
            </a:extLst>
          </p:cNvPr>
          <p:cNvSpPr txBox="1"/>
          <p:nvPr/>
        </p:nvSpPr>
        <p:spPr>
          <a:xfrm>
            <a:off x="6616253" y="3888937"/>
            <a:ext cx="29706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solidFill>
                  <a:schemeClr val="accent5">
                    <a:lumMod val="75000"/>
                  </a:schemeClr>
                </a:solidFill>
              </a:rPr>
              <a:t>PESO (G)</a:t>
            </a:r>
          </a:p>
        </p:txBody>
      </p:sp>
      <p:sp>
        <p:nvSpPr>
          <p:cNvPr id="13" name="!CuadroTexto 1">
            <a:extLst>
              <a:ext uri="{FF2B5EF4-FFF2-40B4-BE49-F238E27FC236}">
                <a16:creationId xmlns:a16="http://schemas.microsoft.com/office/drawing/2014/main" id="{F9C13877-DD49-3786-0895-AFB0C20E6D0A}"/>
              </a:ext>
            </a:extLst>
          </p:cNvPr>
          <p:cNvSpPr txBox="1"/>
          <p:nvPr/>
        </p:nvSpPr>
        <p:spPr>
          <a:xfrm>
            <a:off x="3570968" y="4569779"/>
            <a:ext cx="6495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b="1" dirty="0"/>
              <a:t>3</a:t>
            </a:r>
          </a:p>
        </p:txBody>
      </p:sp>
      <p:sp>
        <p:nvSpPr>
          <p:cNvPr id="14" name="!CuadroTexto 1">
            <a:extLst>
              <a:ext uri="{FF2B5EF4-FFF2-40B4-BE49-F238E27FC236}">
                <a16:creationId xmlns:a16="http://schemas.microsoft.com/office/drawing/2014/main" id="{9681ED76-E6C1-55B5-78F1-3B77E25C085E}"/>
              </a:ext>
            </a:extLst>
          </p:cNvPr>
          <p:cNvSpPr txBox="1"/>
          <p:nvPr/>
        </p:nvSpPr>
        <p:spPr>
          <a:xfrm>
            <a:off x="7776827" y="4569779"/>
            <a:ext cx="6495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b="1" dirty="0"/>
              <a:t>60</a:t>
            </a:r>
          </a:p>
        </p:txBody>
      </p:sp>
      <p:sp>
        <p:nvSpPr>
          <p:cNvPr id="16" name="!CuadroTexto 1">
            <a:extLst>
              <a:ext uri="{FF2B5EF4-FFF2-40B4-BE49-F238E27FC236}">
                <a16:creationId xmlns:a16="http://schemas.microsoft.com/office/drawing/2014/main" id="{FBC93371-57A4-611C-7E12-407A6B97D7E0}"/>
              </a:ext>
            </a:extLst>
          </p:cNvPr>
          <p:cNvSpPr txBox="1"/>
          <p:nvPr/>
        </p:nvSpPr>
        <p:spPr>
          <a:xfrm>
            <a:off x="3570967" y="5345449"/>
            <a:ext cx="6495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b="1" dirty="0"/>
              <a:t>4</a:t>
            </a:r>
          </a:p>
        </p:txBody>
      </p:sp>
      <p:sp>
        <p:nvSpPr>
          <p:cNvPr id="17" name="!CuadroTexto 1">
            <a:extLst>
              <a:ext uri="{FF2B5EF4-FFF2-40B4-BE49-F238E27FC236}">
                <a16:creationId xmlns:a16="http://schemas.microsoft.com/office/drawing/2014/main" id="{08D13063-7EF9-C6D4-93AB-1921380898A2}"/>
              </a:ext>
            </a:extLst>
          </p:cNvPr>
          <p:cNvSpPr txBox="1"/>
          <p:nvPr/>
        </p:nvSpPr>
        <p:spPr>
          <a:xfrm>
            <a:off x="7776826" y="5345448"/>
            <a:ext cx="6495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b="1" dirty="0"/>
              <a:t>?</a:t>
            </a:r>
          </a:p>
        </p:txBody>
      </p: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614170B6-FDFA-46A6-C153-0C1FC3689FE7}"/>
              </a:ext>
            </a:extLst>
          </p:cNvPr>
          <p:cNvCxnSpPr/>
          <p:nvPr/>
        </p:nvCxnSpPr>
        <p:spPr>
          <a:xfrm>
            <a:off x="4545237" y="4834738"/>
            <a:ext cx="3231587" cy="0"/>
          </a:xfrm>
          <a:prstGeom prst="straightConnector1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cto de flecha 29">
            <a:extLst>
              <a:ext uri="{FF2B5EF4-FFF2-40B4-BE49-F238E27FC236}">
                <a16:creationId xmlns:a16="http://schemas.microsoft.com/office/drawing/2014/main" id="{6E610CAA-D662-54D7-EFD4-A578A09DD164}"/>
              </a:ext>
            </a:extLst>
          </p:cNvPr>
          <p:cNvCxnSpPr/>
          <p:nvPr/>
        </p:nvCxnSpPr>
        <p:spPr>
          <a:xfrm>
            <a:off x="4545237" y="5607058"/>
            <a:ext cx="3231587" cy="0"/>
          </a:xfrm>
          <a:prstGeom prst="straightConnector1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!CuadroTexto 1">
            <a:extLst>
              <a:ext uri="{FF2B5EF4-FFF2-40B4-BE49-F238E27FC236}">
                <a16:creationId xmlns:a16="http://schemas.microsoft.com/office/drawing/2014/main" id="{2DC58042-1B82-CB68-7838-DE716A66BA0E}"/>
              </a:ext>
            </a:extLst>
          </p:cNvPr>
          <p:cNvSpPr txBox="1"/>
          <p:nvPr/>
        </p:nvSpPr>
        <p:spPr>
          <a:xfrm>
            <a:off x="3570967" y="6072914"/>
            <a:ext cx="6495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1</a:t>
            </a:r>
          </a:p>
        </p:txBody>
      </p:sp>
      <p:cxnSp>
        <p:nvCxnSpPr>
          <p:cNvPr id="32" name="Conector recto de flecha 31">
            <a:extLst>
              <a:ext uri="{FF2B5EF4-FFF2-40B4-BE49-F238E27FC236}">
                <a16:creationId xmlns:a16="http://schemas.microsoft.com/office/drawing/2014/main" id="{285579FC-5A54-16B9-F4CD-68DBC0BA1778}"/>
              </a:ext>
            </a:extLst>
          </p:cNvPr>
          <p:cNvCxnSpPr/>
          <p:nvPr/>
        </p:nvCxnSpPr>
        <p:spPr>
          <a:xfrm>
            <a:off x="4545237" y="6334523"/>
            <a:ext cx="3231587" cy="0"/>
          </a:xfrm>
          <a:prstGeom prst="straightConnector1">
            <a:avLst/>
          </a:prstGeom>
          <a:ln w="28575"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!CuadroTexto 1">
            <a:extLst>
              <a:ext uri="{FF2B5EF4-FFF2-40B4-BE49-F238E27FC236}">
                <a16:creationId xmlns:a16="http://schemas.microsoft.com/office/drawing/2014/main" id="{EF88C926-DCF8-5A4A-18D0-F9242F202288}"/>
              </a:ext>
            </a:extLst>
          </p:cNvPr>
          <p:cNvSpPr txBox="1"/>
          <p:nvPr/>
        </p:nvSpPr>
        <p:spPr>
          <a:xfrm>
            <a:off x="7776826" y="6072913"/>
            <a:ext cx="6495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20</a:t>
            </a:r>
          </a:p>
        </p:txBody>
      </p:sp>
      <p:sp>
        <p:nvSpPr>
          <p:cNvPr id="37" name="!CuadroTexto 1">
            <a:extLst>
              <a:ext uri="{FF2B5EF4-FFF2-40B4-BE49-F238E27FC236}">
                <a16:creationId xmlns:a16="http://schemas.microsoft.com/office/drawing/2014/main" id="{E2EF3A1C-D68C-E715-CD33-8E34F2C805F8}"/>
              </a:ext>
            </a:extLst>
          </p:cNvPr>
          <p:cNvSpPr txBox="1"/>
          <p:nvPr/>
        </p:nvSpPr>
        <p:spPr>
          <a:xfrm>
            <a:off x="7780560" y="5345448"/>
            <a:ext cx="6495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80</a:t>
            </a:r>
          </a:p>
        </p:txBody>
      </p:sp>
      <p:sp>
        <p:nvSpPr>
          <p:cNvPr id="38" name="Arco 37">
            <a:extLst>
              <a:ext uri="{FF2B5EF4-FFF2-40B4-BE49-F238E27FC236}">
                <a16:creationId xmlns:a16="http://schemas.microsoft.com/office/drawing/2014/main" id="{16E45222-A3C2-CEA5-1B61-83557AD60ECB}"/>
              </a:ext>
            </a:extLst>
          </p:cNvPr>
          <p:cNvSpPr/>
          <p:nvPr/>
        </p:nvSpPr>
        <p:spPr>
          <a:xfrm rot="8001813" flipH="1">
            <a:off x="7707722" y="5509583"/>
            <a:ext cx="868796" cy="868796"/>
          </a:xfrm>
          <a:prstGeom prst="arc">
            <a:avLst>
              <a:gd name="adj1" fmla="val 15723179"/>
              <a:gd name="adj2" fmla="val 338567"/>
            </a:avLst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9" name="!CuadroTexto 1">
            <a:extLst>
              <a:ext uri="{FF2B5EF4-FFF2-40B4-BE49-F238E27FC236}">
                <a16:creationId xmlns:a16="http://schemas.microsoft.com/office/drawing/2014/main" id="{2FAEB5A1-C628-6A2B-3533-02851CA9A265}"/>
              </a:ext>
            </a:extLst>
          </p:cNvPr>
          <p:cNvSpPr txBox="1"/>
          <p:nvPr/>
        </p:nvSpPr>
        <p:spPr>
          <a:xfrm>
            <a:off x="8538782" y="5642450"/>
            <a:ext cx="6495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b="1" dirty="0"/>
              <a:t>x4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5C904F2E-0303-2C06-962A-10F3D914787C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15DE5D1F-1A3B-A41D-DCD4-309D24049D3D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4: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Proporcionalidad y Porcentajes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016368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37" grpId="0"/>
      <p:bldP spid="38" grpId="0" animBg="1"/>
      <p:bldP spid="3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48971"/>
            <a:ext cx="11121832" cy="766188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78122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Dos magnitudes son directamente proporcionales cuando al multiplicar o dividir una (doble, triple, mitad, …),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la otra lo hace en la misma proporción.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D5762F0B-1F7A-79DF-588B-B4F95FF40839}"/>
              </a:ext>
            </a:extLst>
          </p:cNvPr>
          <p:cNvSpPr/>
          <p:nvPr/>
        </p:nvSpPr>
        <p:spPr>
          <a:xfrm>
            <a:off x="535084" y="2123167"/>
            <a:ext cx="190500" cy="1905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A7620BAB-6247-1B7C-A340-9BB9EBEE0747}"/>
              </a:ext>
            </a:extLst>
          </p:cNvPr>
          <p:cNvSpPr txBox="1"/>
          <p:nvPr/>
        </p:nvSpPr>
        <p:spPr>
          <a:xfrm>
            <a:off x="839884" y="1987585"/>
            <a:ext cx="68865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REGLA DE 3 DIRECTA</a:t>
            </a:r>
            <a:endParaRPr lang="es-ES" sz="20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0" name="!Marco 10">
            <a:extLst>
              <a:ext uri="{FF2B5EF4-FFF2-40B4-BE49-F238E27FC236}">
                <a16:creationId xmlns:a16="http://schemas.microsoft.com/office/drawing/2014/main" id="{B5D2741F-BED1-0CEA-EC32-D5C33D4C8B69}"/>
              </a:ext>
            </a:extLst>
          </p:cNvPr>
          <p:cNvSpPr/>
          <p:nvPr/>
        </p:nvSpPr>
        <p:spPr>
          <a:xfrm>
            <a:off x="535084" y="2533454"/>
            <a:ext cx="11121832" cy="461665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1" name="!CuadroTexto 1">
            <a:extLst>
              <a:ext uri="{FF2B5EF4-FFF2-40B4-BE49-F238E27FC236}">
                <a16:creationId xmlns:a16="http://schemas.microsoft.com/office/drawing/2014/main" id="{A59F01E0-2D79-5974-AD50-C7FFD0066C1C}"/>
              </a:ext>
            </a:extLst>
          </p:cNvPr>
          <p:cNvSpPr txBox="1"/>
          <p:nvPr/>
        </p:nvSpPr>
        <p:spPr>
          <a:xfrm>
            <a:off x="535084" y="2564231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Con dos pares de valores proporcionales se construyen dos fracciones equivalentes.</a:t>
            </a:r>
          </a:p>
        </p:txBody>
      </p:sp>
      <p:sp>
        <p:nvSpPr>
          <p:cNvPr id="22" name="!CuadroTexto 1">
            <a:extLst>
              <a:ext uri="{FF2B5EF4-FFF2-40B4-BE49-F238E27FC236}">
                <a16:creationId xmlns:a16="http://schemas.microsoft.com/office/drawing/2014/main" id="{EC3D5FDD-69AA-F91D-AE29-815DDAD201F0}"/>
              </a:ext>
            </a:extLst>
          </p:cNvPr>
          <p:cNvSpPr txBox="1"/>
          <p:nvPr/>
        </p:nvSpPr>
        <p:spPr>
          <a:xfrm>
            <a:off x="491541" y="3164106"/>
            <a:ext cx="111653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EJEMPLOS: </a:t>
            </a:r>
            <a:r>
              <a:rPr lang="es-ES" sz="2000" b="1" u="none" strike="noStrike" baseline="0" dirty="0"/>
              <a:t>Tres chocolatinas pesan 60 gramos. ¿Cuánto pesan cuatro chocolatinas?</a:t>
            </a:r>
            <a:endParaRPr lang="es-ES" sz="2400" b="1" dirty="0"/>
          </a:p>
        </p:txBody>
      </p:sp>
      <p:grpSp>
        <p:nvGrpSpPr>
          <p:cNvPr id="23" name="Grupo 22">
            <a:extLst>
              <a:ext uri="{FF2B5EF4-FFF2-40B4-BE49-F238E27FC236}">
                <a16:creationId xmlns:a16="http://schemas.microsoft.com/office/drawing/2014/main" id="{DDDFC1CA-322A-0E11-1397-2CC79691A6BA}"/>
              </a:ext>
            </a:extLst>
          </p:cNvPr>
          <p:cNvGrpSpPr/>
          <p:nvPr/>
        </p:nvGrpSpPr>
        <p:grpSpPr>
          <a:xfrm>
            <a:off x="2384993" y="3691216"/>
            <a:ext cx="7446397" cy="1624132"/>
            <a:chOff x="1368993" y="9023075"/>
            <a:chExt cx="7446397" cy="1624132"/>
          </a:xfrm>
        </p:grpSpPr>
        <p:cxnSp>
          <p:nvCxnSpPr>
            <p:cNvPr id="25" name="Conector recto 24">
              <a:extLst>
                <a:ext uri="{FF2B5EF4-FFF2-40B4-BE49-F238E27FC236}">
                  <a16:creationId xmlns:a16="http://schemas.microsoft.com/office/drawing/2014/main" id="{CFFCBC45-0B33-637A-2141-526B628A176B}"/>
                </a:ext>
              </a:extLst>
            </p:cNvPr>
            <p:cNvCxnSpPr>
              <a:cxnSpLocks/>
            </p:cNvCxnSpPr>
            <p:nvPr/>
          </p:nvCxnSpPr>
          <p:spPr>
            <a:xfrm>
              <a:off x="1562100" y="9505540"/>
              <a:ext cx="3124200" cy="0"/>
            </a:xfrm>
            <a:prstGeom prst="line">
              <a:avLst/>
            </a:prstGeom>
            <a:ln w="3810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!CuadroTexto 1">
              <a:extLst>
                <a:ext uri="{FF2B5EF4-FFF2-40B4-BE49-F238E27FC236}">
                  <a16:creationId xmlns:a16="http://schemas.microsoft.com/office/drawing/2014/main" id="{6AEA93DC-5798-6F12-764B-109ED0CC85E3}"/>
                </a:ext>
              </a:extLst>
            </p:cNvPr>
            <p:cNvSpPr txBox="1"/>
            <p:nvPr/>
          </p:nvSpPr>
          <p:spPr>
            <a:xfrm>
              <a:off x="1368993" y="9023075"/>
              <a:ext cx="351041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400" b="1" dirty="0">
                  <a:solidFill>
                    <a:schemeClr val="accent5">
                      <a:lumMod val="75000"/>
                    </a:schemeClr>
                  </a:solidFill>
                </a:rPr>
                <a:t>Nº CHOCOLATINAS</a:t>
              </a:r>
            </a:p>
          </p:txBody>
        </p:sp>
        <p:cxnSp>
          <p:nvCxnSpPr>
            <p:cNvPr id="27" name="Conector recto 26">
              <a:extLst>
                <a:ext uri="{FF2B5EF4-FFF2-40B4-BE49-F238E27FC236}">
                  <a16:creationId xmlns:a16="http://schemas.microsoft.com/office/drawing/2014/main" id="{297AA04F-A8DF-1A29-1ABB-E970907725CF}"/>
                </a:ext>
              </a:extLst>
            </p:cNvPr>
            <p:cNvCxnSpPr>
              <a:cxnSpLocks/>
            </p:cNvCxnSpPr>
            <p:nvPr/>
          </p:nvCxnSpPr>
          <p:spPr>
            <a:xfrm>
              <a:off x="6369622" y="9505540"/>
              <a:ext cx="1920874" cy="0"/>
            </a:xfrm>
            <a:prstGeom prst="line">
              <a:avLst/>
            </a:prstGeom>
            <a:ln w="3810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!CuadroTexto 1">
              <a:extLst>
                <a:ext uri="{FF2B5EF4-FFF2-40B4-BE49-F238E27FC236}">
                  <a16:creationId xmlns:a16="http://schemas.microsoft.com/office/drawing/2014/main" id="{C148A985-C43B-C3F4-6352-AC9FFA962484}"/>
                </a:ext>
              </a:extLst>
            </p:cNvPr>
            <p:cNvSpPr txBox="1"/>
            <p:nvPr/>
          </p:nvSpPr>
          <p:spPr>
            <a:xfrm>
              <a:off x="5844728" y="9023075"/>
              <a:ext cx="297066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400" b="1" dirty="0">
                  <a:solidFill>
                    <a:schemeClr val="accent5">
                      <a:lumMod val="75000"/>
                    </a:schemeClr>
                  </a:solidFill>
                </a:rPr>
                <a:t>PESO (G)</a:t>
              </a:r>
            </a:p>
          </p:txBody>
        </p:sp>
        <p:sp>
          <p:nvSpPr>
            <p:cNvPr id="29" name="!CuadroTexto 1">
              <a:extLst>
                <a:ext uri="{FF2B5EF4-FFF2-40B4-BE49-F238E27FC236}">
                  <a16:creationId xmlns:a16="http://schemas.microsoft.com/office/drawing/2014/main" id="{BB18DB6D-B23B-8682-3598-73D0F62FCBB8}"/>
                </a:ext>
              </a:extLst>
            </p:cNvPr>
            <p:cNvSpPr txBox="1"/>
            <p:nvPr/>
          </p:nvSpPr>
          <p:spPr>
            <a:xfrm>
              <a:off x="2799443" y="9576917"/>
              <a:ext cx="64951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800" b="1" dirty="0"/>
                <a:t>3</a:t>
              </a:r>
            </a:p>
          </p:txBody>
        </p:sp>
        <p:sp>
          <p:nvSpPr>
            <p:cNvPr id="33" name="!CuadroTexto 1">
              <a:extLst>
                <a:ext uri="{FF2B5EF4-FFF2-40B4-BE49-F238E27FC236}">
                  <a16:creationId xmlns:a16="http://schemas.microsoft.com/office/drawing/2014/main" id="{AF3F9514-3348-67F5-7CFB-2A7463B8C07A}"/>
                </a:ext>
              </a:extLst>
            </p:cNvPr>
            <p:cNvSpPr txBox="1"/>
            <p:nvPr/>
          </p:nvSpPr>
          <p:spPr>
            <a:xfrm>
              <a:off x="7005302" y="9576917"/>
              <a:ext cx="64951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800" b="1" dirty="0"/>
                <a:t>60</a:t>
              </a:r>
            </a:p>
          </p:txBody>
        </p:sp>
        <p:sp>
          <p:nvSpPr>
            <p:cNvPr id="34" name="!CuadroTexto 1">
              <a:extLst>
                <a:ext uri="{FF2B5EF4-FFF2-40B4-BE49-F238E27FC236}">
                  <a16:creationId xmlns:a16="http://schemas.microsoft.com/office/drawing/2014/main" id="{7E781899-4596-890D-135F-B17F28B29FB3}"/>
                </a:ext>
              </a:extLst>
            </p:cNvPr>
            <p:cNvSpPr txBox="1"/>
            <p:nvPr/>
          </p:nvSpPr>
          <p:spPr>
            <a:xfrm>
              <a:off x="2799442" y="10123987"/>
              <a:ext cx="64951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800" b="1" dirty="0"/>
                <a:t>4</a:t>
              </a:r>
            </a:p>
          </p:txBody>
        </p:sp>
        <p:sp>
          <p:nvSpPr>
            <p:cNvPr id="35" name="!CuadroTexto 1">
              <a:extLst>
                <a:ext uri="{FF2B5EF4-FFF2-40B4-BE49-F238E27FC236}">
                  <a16:creationId xmlns:a16="http://schemas.microsoft.com/office/drawing/2014/main" id="{95ED703F-AA69-B35F-613F-BCD8EA10053D}"/>
                </a:ext>
              </a:extLst>
            </p:cNvPr>
            <p:cNvSpPr txBox="1"/>
            <p:nvPr/>
          </p:nvSpPr>
          <p:spPr>
            <a:xfrm>
              <a:off x="7005301" y="10123986"/>
              <a:ext cx="64951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800" b="1" dirty="0"/>
                <a:t>x</a:t>
              </a:r>
            </a:p>
          </p:txBody>
        </p:sp>
        <p:cxnSp>
          <p:nvCxnSpPr>
            <p:cNvPr id="40" name="Conector recto de flecha 39">
              <a:extLst>
                <a:ext uri="{FF2B5EF4-FFF2-40B4-BE49-F238E27FC236}">
                  <a16:creationId xmlns:a16="http://schemas.microsoft.com/office/drawing/2014/main" id="{DD9A99F1-9AE8-9980-F3EE-D96A884DFF89}"/>
                </a:ext>
              </a:extLst>
            </p:cNvPr>
            <p:cNvCxnSpPr/>
            <p:nvPr/>
          </p:nvCxnSpPr>
          <p:spPr>
            <a:xfrm>
              <a:off x="3773712" y="9841876"/>
              <a:ext cx="3231587" cy="0"/>
            </a:xfrm>
            <a:prstGeom prst="straightConnector1">
              <a:avLst/>
            </a:prstGeom>
            <a:ln w="28575">
              <a:solidFill>
                <a:schemeClr val="accent5">
                  <a:lumMod val="60000"/>
                  <a:lumOff val="4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ector recto de flecha 40">
              <a:extLst>
                <a:ext uri="{FF2B5EF4-FFF2-40B4-BE49-F238E27FC236}">
                  <a16:creationId xmlns:a16="http://schemas.microsoft.com/office/drawing/2014/main" id="{5E015EE9-94E7-A9DD-066A-C57C71057BBB}"/>
                </a:ext>
              </a:extLst>
            </p:cNvPr>
            <p:cNvCxnSpPr/>
            <p:nvPr/>
          </p:nvCxnSpPr>
          <p:spPr>
            <a:xfrm>
              <a:off x="3773712" y="10385596"/>
              <a:ext cx="3231587" cy="0"/>
            </a:xfrm>
            <a:prstGeom prst="straightConnector1">
              <a:avLst/>
            </a:prstGeom>
            <a:ln w="28575">
              <a:solidFill>
                <a:schemeClr val="accent5">
                  <a:lumMod val="60000"/>
                  <a:lumOff val="4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CuadroTexto 41">
                <a:extLst>
                  <a:ext uri="{FF2B5EF4-FFF2-40B4-BE49-F238E27FC236}">
                    <a16:creationId xmlns:a16="http://schemas.microsoft.com/office/drawing/2014/main" id="{07BF57A2-C1A6-4FB1-AD23-E98E126580AA}"/>
                  </a:ext>
                </a:extLst>
              </p:cNvPr>
              <p:cNvSpPr txBox="1"/>
              <p:nvPr/>
            </p:nvSpPr>
            <p:spPr>
              <a:xfrm>
                <a:off x="2745851" y="5576957"/>
                <a:ext cx="1385379" cy="92198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ES" sz="3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32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num>
                        <m:den>
                          <m:r>
                            <a:rPr lang="es-ES" sz="32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r>
                        <a:rPr lang="es-ES" sz="32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32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3200" b="1" i="0" smtClean="0">
                              <a:latin typeface="Cambria Math" panose="02040503050406030204" pitchFamily="18" charset="0"/>
                            </a:rPr>
                            <m:t>𝟔𝟎</m:t>
                          </m:r>
                        </m:num>
                        <m:den>
                          <m:r>
                            <a:rPr lang="es-ES" sz="3200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</m:den>
                      </m:f>
                    </m:oMath>
                  </m:oMathPara>
                </a14:m>
                <a:endParaRPr lang="es-ES" sz="32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2" name="CuadroTexto 41">
                <a:extLst>
                  <a:ext uri="{FF2B5EF4-FFF2-40B4-BE49-F238E27FC236}">
                    <a16:creationId xmlns:a16="http://schemas.microsoft.com/office/drawing/2014/main" id="{07BF57A2-C1A6-4FB1-AD23-E98E126580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5851" y="5576957"/>
                <a:ext cx="1385379" cy="92198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CuadroTexto 42">
                <a:extLst>
                  <a:ext uri="{FF2B5EF4-FFF2-40B4-BE49-F238E27FC236}">
                    <a16:creationId xmlns:a16="http://schemas.microsoft.com/office/drawing/2014/main" id="{92A3A571-36A4-C43D-BAEA-46834E191307}"/>
                  </a:ext>
                </a:extLst>
              </p:cNvPr>
              <p:cNvSpPr txBox="1"/>
              <p:nvPr/>
            </p:nvSpPr>
            <p:spPr>
              <a:xfrm>
                <a:off x="4198049" y="5817809"/>
                <a:ext cx="2603469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3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s-ES" sz="32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𝟑𝐱</m:t>
                      </m:r>
                      <m:r>
                        <a:rPr lang="es-ES" sz="32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32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𝟔𝟎</m:t>
                      </m:r>
                      <m:r>
                        <a:rPr lang="es-ES" sz="3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3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s-ES" sz="32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3" name="CuadroTexto 42">
                <a:extLst>
                  <a:ext uri="{FF2B5EF4-FFF2-40B4-BE49-F238E27FC236}">
                    <a16:creationId xmlns:a16="http://schemas.microsoft.com/office/drawing/2014/main" id="{92A3A571-36A4-C43D-BAEA-46834E1913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8049" y="5817809"/>
                <a:ext cx="2603469" cy="49244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CuadroTexto 43">
                <a:extLst>
                  <a:ext uri="{FF2B5EF4-FFF2-40B4-BE49-F238E27FC236}">
                    <a16:creationId xmlns:a16="http://schemas.microsoft.com/office/drawing/2014/main" id="{C8B450B3-EA8D-3113-8471-5B38C5F93B54}"/>
                  </a:ext>
                </a:extLst>
              </p:cNvPr>
              <p:cNvSpPr txBox="1"/>
              <p:nvPr/>
            </p:nvSpPr>
            <p:spPr>
              <a:xfrm>
                <a:off x="6886944" y="5589657"/>
                <a:ext cx="3085140" cy="9251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3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s-ES" sz="32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𝐱</m:t>
                      </m:r>
                      <m:r>
                        <a:rPr lang="es-ES" sz="32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3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3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𝟐𝟒𝟎</m:t>
                          </m:r>
                        </m:num>
                        <m:den>
                          <m:r>
                            <a:rPr lang="es-ES" sz="3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den>
                      </m:f>
                      <m:r>
                        <a:rPr lang="es-ES" sz="3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3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𝟖𝟎</m:t>
                      </m:r>
                    </m:oMath>
                  </m:oMathPara>
                </a14:m>
                <a:endParaRPr lang="es-ES" sz="32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4" name="CuadroTexto 43">
                <a:extLst>
                  <a:ext uri="{FF2B5EF4-FFF2-40B4-BE49-F238E27FC236}">
                    <a16:creationId xmlns:a16="http://schemas.microsoft.com/office/drawing/2014/main" id="{C8B450B3-EA8D-3113-8471-5B38C5F93B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6944" y="5589657"/>
                <a:ext cx="3085140" cy="92519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ángulo 2">
            <a:extLst>
              <a:ext uri="{FF2B5EF4-FFF2-40B4-BE49-F238E27FC236}">
                <a16:creationId xmlns:a16="http://schemas.microsoft.com/office/drawing/2014/main" id="{422B7491-B726-83EE-7063-F87D0F84C566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6F0964E-7B4F-8C51-A8AC-F7A2ADA9EE2F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4: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Proporcionalidad y Porcentajes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37109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9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975"/>
                            </p:stCondLst>
                            <p:childTnLst>
                              <p:par>
                                <p:cTn id="2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1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9" grpId="0"/>
      <p:bldP spid="20" grpId="0" animBg="1"/>
      <p:bldP spid="21" grpId="0"/>
      <p:bldP spid="22" grpId="0"/>
      <p:bldP spid="42" grpId="0"/>
      <p:bldP spid="43" grpId="0"/>
      <p:bldP spid="44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LMS_API_VERSION" val="SCORM 2004 (4th edition)"/>
  <p:tag name="ISPRING_ULTRA_SCORM_COURSE_ID" val="A89123DC-6E59-46B4-8DF7-DC0029B25AE3"/>
  <p:tag name="ISPRING_CMI5_LAUNCH_METHOD" val="any window"/>
  <p:tag name="ISPRING_SCORM_RATE_SLIDES" val="1"/>
  <p:tag name="ISPRINGCLOUDFOLDERID" val="1"/>
  <p:tag name="ISPRINGONLINEFOLDERID" val="1"/>
  <p:tag name="ISPRING_SCORM_PASSING_SCORE" val="100.000000"/>
  <p:tag name="ISPRING_PRESENTATION_TITLE" val="1. Proporcionalidad directa"/>
  <p:tag name="ISPRING_PUBLISH_SETTINGS" val="{&quot;commonSettings&quot;:{&quot;webSettings&quot;:{&quot;useMobileViewer&quot;:&quot;T_FALSE&quot;},&quot;lmsSettings&quot;:{&quot;useMobileViewer&quot;:&quot;T_FALSE&quot;},&quot;cloudSettings&quot;:{&quot;useMobileViewer&quot;:&quot;T_FALSE&quot;},&quot;ispringLmsSettings&quot;:{&quot;useMobileViewer&quot;:&quot;T_FALSE&quot;},&quot;playerId&quot;:&quot;free&quot;,&quot;studioSettings&quot;:{&quot;useMobileViewer&quot;:&quot;T_FALSE&quot;}},&quot;advancedSettings&quot;:{&quot;enableTextAllocation&quot;:&quot;T_TRUE&quot;,&quot;viewingFromLocalDrive&quot;:&quot;T_TRUE&quot;,&quot;contentScale&quot;:75,&quot;contentScaleMode&quot;:&quot;FIT_TO_WINDOW&quot;},&quot;accessibilitySettings&quot;:{&quot;enabled&quot;:&quot;T_FALSE&quot;},&quot;compressionSettings&quot;:{&quot;imageSettings&quot;:{&quot;jpegQuality&quot;:70,&quot;optimizeImageForResolution&quot;:&quot;T_FALSE&quot;},&quot;audioQuality&quot;:70,&quot;videoQuality&quot;:65},&quot;protectionSettings&quot;:{&quot;watermarkEnabled&quot;:&quot;T_FALSE&quot;,&quot;watermarkPosition&quot;:&quot;MIDDLE_CENTER&quot;,&quot;openWatermarkUrl&quot;:&quot;T_FALSE&quot;,&quot;openWatermarkWebPageInNewWindow&quot;:&quot;T_FALSE&quot;,&quot;displayAfterEnabled&quot;:&quot;T_FALSE&quot;,&quot;displayUntilEnabled&quot;:&quot;T_FALSE&quot;,&quot;domainRestrictionEnabled&quot;:&quot;T_FALSE&quot;,&quot;enablePassword&quot;:&quot;T_FALSE&quot;},&quot;videoSettings&quot;:{&quot;videoCompressionSettings&quot;:{&quot;audioQuality&quot;:70,&quot;videoQuality&quot;:75},&quot;secondsOnEachSlide&quot;:5,&quot;hostingSettings&quot;:{}},&quot;ispringOnlineSettings&quot;:{&quot;onlineDestinationFolderId&quot;:&quot;1&quot;},&quot;cloudSettings&quot;:{&quot;onlineDestinationFolderId&quot;:&quot;1&quot;},&quot;wordSettings&quot;:{&quot;printCopies&quot;:1},&quot;studioSettings&quot;:{&quot;onlineDestinationFolderId&quot;:&quot;1&quot;,&quot;uploadSources&quot;:true}}"/>
  <p:tag name="ISPRING_FIRST_PUBLISH" val="1"/>
  <p:tag name="ISPRING_SCORM_ENDPOINT" val="&lt;endpoint&gt;&lt;enable&gt;0&lt;/enable&gt;&lt;lrs&gt;https://&lt;/lrs&gt;&lt;auth&gt;0&lt;/auth&gt;&lt;login&gt;&lt;/login&gt;&lt;password&gt;&lt;/password&gt;&lt;key&gt;&lt;/key&gt;&lt;name&gt;&lt;/name&gt;&lt;email&gt;&lt;/email&gt;&lt;/endpoint&gt;&#10;"/>
  <p:tag name="ISPRING_OUTPUT_FOLDER" val="[[&quot;\uFFFD\/\uFFFD\uFFFD{21D528DD-60A0-4F5B-BB24-A0E5BDBD4B43}&quot;,&quot;C:\\Users\\34717\\Desktop\\Apuntes\\2 ESO\\TEMA 4 - Proporcionalidad y porcentajes&quot;]]"/>
  <p:tag name="ISPRING_SCORM_RATE_QUIZZES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22F622D4-A20A-4294-AD93-D5C38433AEC8}:25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C65078D0-C64D-4A6F-877E-793396265C28}:258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7674D954-8004-472D-8A50-77EBD1774E10}:259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598EC544-0A09-4C2D-BC0F-749A99701C8C}:260"/>
</p:tagLst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ersonalizado 1">
      <a:majorFont>
        <a:latin typeface="SF Fedora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392</TotalTime>
  <Words>331</Words>
  <Application>Microsoft Office PowerPoint</Application>
  <PresentationFormat>Panorámica</PresentationFormat>
  <Paragraphs>71</Paragraphs>
  <Slides>4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10" baseType="lpstr">
      <vt:lpstr>Aptos</vt:lpstr>
      <vt:lpstr>Arial</vt:lpstr>
      <vt:lpstr>Cambria Math</vt:lpstr>
      <vt:lpstr>Century Gothic</vt:lpstr>
      <vt:lpstr>SF Fedora</vt:lpstr>
      <vt:lpstr>Tema de Office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 Proporcionalidad directa</dc:title>
  <dc:creator>Illán Linos Souto</dc:creator>
  <cp:lastModifiedBy>Illán Linos</cp:lastModifiedBy>
  <cp:revision>42</cp:revision>
  <dcterms:created xsi:type="dcterms:W3CDTF">2024-08-18T18:48:07Z</dcterms:created>
  <dcterms:modified xsi:type="dcterms:W3CDTF">2025-11-17T18:21:28Z</dcterms:modified>
</cp:coreProperties>
</file>