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custDataLst>
    <p:tags r:id="rId12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A898F-1A72-439C-A601-B9B530F050AA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21114-8A9F-4C12-97FE-0782E09642C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585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0991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939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894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1617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372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4798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4621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388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21114-8A9F-4C12-97FE-0782E09642C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99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graphicFrame>
        <p:nvGraphicFramePr>
          <p:cNvPr id="4" name="Tabla 7">
            <a:extLst>
              <a:ext uri="{FF2B5EF4-FFF2-40B4-BE49-F238E27FC236}">
                <a16:creationId xmlns:a16="http://schemas.microsoft.com/office/drawing/2014/main" id="{6D30F2B6-CA2C-FF2F-D463-982DA1296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403135"/>
              </p:ext>
            </p:extLst>
          </p:nvPr>
        </p:nvGraphicFramePr>
        <p:xfrm>
          <a:off x="2155325" y="3289300"/>
          <a:ext cx="7881349" cy="792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Albañiles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Tiempo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A7A89E2E-FEC3-2828-63C5-CC22158A28A4}"/>
              </a:ext>
            </a:extLst>
          </p:cNvPr>
          <p:cNvSpPr txBox="1"/>
          <p:nvPr/>
        </p:nvSpPr>
        <p:spPr>
          <a:xfrm>
            <a:off x="535084" y="192314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 albañil tarda 60 días en hacer un muro. ¿Cuántos albañiles necesito para hacerlo en 20 días? ¿Cuánto tardarían 4 albañiles?</a:t>
            </a:r>
            <a:endParaRPr lang="es-ES" sz="24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75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A89E2E-FEC3-2828-63C5-CC22158A28A4}"/>
              </a:ext>
            </a:extLst>
          </p:cNvPr>
          <p:cNvSpPr txBox="1"/>
          <p:nvPr/>
        </p:nvSpPr>
        <p:spPr>
          <a:xfrm>
            <a:off x="535084" y="192314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 albañil tarda 60 días en hacer un muro. ¿Cuántos albañiles necesito para hacerlo en 20 días? ¿Cuánto tardarían 4 albañiles?</a:t>
            </a:r>
            <a:endParaRPr lang="es-ES" sz="2400" b="1" dirty="0"/>
          </a:p>
        </p:txBody>
      </p:sp>
      <p:graphicFrame>
        <p:nvGraphicFramePr>
          <p:cNvPr id="3" name="Tabla 7">
            <a:extLst>
              <a:ext uri="{FF2B5EF4-FFF2-40B4-BE49-F238E27FC236}">
                <a16:creationId xmlns:a16="http://schemas.microsoft.com/office/drawing/2014/main" id="{CF099F08-9B52-CA76-92C8-0484B8209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440059"/>
              </p:ext>
            </p:extLst>
          </p:nvPr>
        </p:nvGraphicFramePr>
        <p:xfrm>
          <a:off x="2155325" y="3289300"/>
          <a:ext cx="7881349" cy="792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Albañiles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Tiempo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E395625F-7ECB-0D8C-252C-499D278DEE2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96A255-8E2B-6BCE-4F28-F16528F7B53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6529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A89E2E-FEC3-2828-63C5-CC22158A28A4}"/>
              </a:ext>
            </a:extLst>
          </p:cNvPr>
          <p:cNvSpPr txBox="1"/>
          <p:nvPr/>
        </p:nvSpPr>
        <p:spPr>
          <a:xfrm>
            <a:off x="535084" y="192314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 albañil tarda 60 días en hacer un muro. ¿Cuántos albañiles necesito para hacerlo en 20 días? ¿Cuánto tardarían 4 albañiles?</a:t>
            </a:r>
            <a:endParaRPr lang="es-ES" sz="2400" b="1" dirty="0"/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61B81433-7805-476D-D61C-C0F9697CA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570653"/>
              </p:ext>
            </p:extLst>
          </p:nvPr>
        </p:nvGraphicFramePr>
        <p:xfrm>
          <a:off x="2155325" y="3289300"/>
          <a:ext cx="7881349" cy="792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Albañiles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Tiempo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A39C6A4E-BDF0-91B6-3882-12616A5B1B8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5FCD86-57C9-2F78-42C0-A281293494B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995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A89E2E-FEC3-2828-63C5-CC22158A28A4}"/>
              </a:ext>
            </a:extLst>
          </p:cNvPr>
          <p:cNvSpPr txBox="1"/>
          <p:nvPr/>
        </p:nvSpPr>
        <p:spPr>
          <a:xfrm>
            <a:off x="535084" y="192314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 albañil tarda 60 días en hacer un muro. ¿Cuántos albañiles necesito para hacerlo en 20 días? ¿Cuánto tardarían 4 albañiles?</a:t>
            </a:r>
            <a:endParaRPr lang="es-ES" sz="2400" b="1" dirty="0"/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61B81433-7805-476D-D61C-C0F9697CA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910747"/>
              </p:ext>
            </p:extLst>
          </p:nvPr>
        </p:nvGraphicFramePr>
        <p:xfrm>
          <a:off x="2155325" y="3289300"/>
          <a:ext cx="7881349" cy="792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Albañiles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Tiempo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3" name="Arco 2">
            <a:extLst>
              <a:ext uri="{FF2B5EF4-FFF2-40B4-BE49-F238E27FC236}">
                <a16:creationId xmlns:a16="http://schemas.microsoft.com/office/drawing/2014/main" id="{05855EE5-AB41-8906-4A95-2A3737ABE6F1}"/>
              </a:ext>
            </a:extLst>
          </p:cNvPr>
          <p:cNvSpPr/>
          <p:nvPr/>
        </p:nvSpPr>
        <p:spPr>
          <a:xfrm rot="8001813" flipH="1" flipV="1">
            <a:off x="4217401" y="2896117"/>
            <a:ext cx="1288402" cy="1288402"/>
          </a:xfrm>
          <a:prstGeom prst="arc">
            <a:avLst>
              <a:gd name="adj1" fmla="val 15723179"/>
              <a:gd name="adj2" fmla="val 75714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Arco 3">
            <a:extLst>
              <a:ext uri="{FF2B5EF4-FFF2-40B4-BE49-F238E27FC236}">
                <a16:creationId xmlns:a16="http://schemas.microsoft.com/office/drawing/2014/main" id="{E0633403-2D98-4D82-2473-A395BC228072}"/>
              </a:ext>
            </a:extLst>
          </p:cNvPr>
          <p:cNvSpPr/>
          <p:nvPr/>
        </p:nvSpPr>
        <p:spPr>
          <a:xfrm rot="13598187" flipH="1">
            <a:off x="4217403" y="3185824"/>
            <a:ext cx="1288402" cy="1288402"/>
          </a:xfrm>
          <a:prstGeom prst="arc">
            <a:avLst>
              <a:gd name="adj1" fmla="val 15723179"/>
              <a:gd name="adj2" fmla="val 75714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F5C6A6-A0C5-1A2F-E3D7-FEEB34B0C9BA}"/>
              </a:ext>
            </a:extLst>
          </p:cNvPr>
          <p:cNvSpPr txBox="1"/>
          <p:nvPr/>
        </p:nvSpPr>
        <p:spPr>
          <a:xfrm>
            <a:off x="5333881" y="2701316"/>
            <a:ext cx="85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x2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9B7639-0A1C-FEE9-814C-35FDDC84A88B}"/>
              </a:ext>
            </a:extLst>
          </p:cNvPr>
          <p:cNvSpPr txBox="1"/>
          <p:nvPr/>
        </p:nvSpPr>
        <p:spPr>
          <a:xfrm>
            <a:off x="5333881" y="4207327"/>
            <a:ext cx="85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:2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F7D24E6-EC90-D489-4124-71E8895DF3C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7D11665-10C8-A0B6-3A05-919A02060DA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727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A89E2E-FEC3-2828-63C5-CC22158A28A4}"/>
              </a:ext>
            </a:extLst>
          </p:cNvPr>
          <p:cNvSpPr txBox="1"/>
          <p:nvPr/>
        </p:nvSpPr>
        <p:spPr>
          <a:xfrm>
            <a:off x="535084" y="192314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 albañil tarda 60 días en hacer un muro. ¿Cuántos albañiles necesito para hacerlo en 20 días? ¿Cuánto tardarían 4 albañiles?</a:t>
            </a:r>
            <a:endParaRPr lang="es-ES" sz="2400" b="1" dirty="0"/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61B81433-7805-476D-D61C-C0F9697CA258}"/>
              </a:ext>
            </a:extLst>
          </p:cNvPr>
          <p:cNvGraphicFramePr>
            <a:graphicFrameLocks noGrp="1"/>
          </p:cNvGraphicFramePr>
          <p:nvPr/>
        </p:nvGraphicFramePr>
        <p:xfrm>
          <a:off x="2155325" y="3289300"/>
          <a:ext cx="7881349" cy="792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Albañiles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Tiempo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9" name="Arco 8">
            <a:extLst>
              <a:ext uri="{FF2B5EF4-FFF2-40B4-BE49-F238E27FC236}">
                <a16:creationId xmlns:a16="http://schemas.microsoft.com/office/drawing/2014/main" id="{4247C6DF-6C04-51F7-E9B4-0B69CA91E757}"/>
              </a:ext>
            </a:extLst>
          </p:cNvPr>
          <p:cNvSpPr/>
          <p:nvPr/>
        </p:nvSpPr>
        <p:spPr>
          <a:xfrm rot="8001813" flipH="1" flipV="1">
            <a:off x="4242841" y="2669441"/>
            <a:ext cx="2271457" cy="2398737"/>
          </a:xfrm>
          <a:prstGeom prst="arc">
            <a:avLst>
              <a:gd name="adj1" fmla="val 15723179"/>
              <a:gd name="adj2" fmla="val 619456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367D87-A08F-802E-702B-E7FBD3CCC379}"/>
              </a:ext>
            </a:extLst>
          </p:cNvPr>
          <p:cNvSpPr txBox="1"/>
          <p:nvPr/>
        </p:nvSpPr>
        <p:spPr>
          <a:xfrm>
            <a:off x="6330831" y="2731915"/>
            <a:ext cx="85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x3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09BB76D-F898-B53C-5AB7-EC02D1F71A22}"/>
              </a:ext>
            </a:extLst>
          </p:cNvPr>
          <p:cNvSpPr txBox="1"/>
          <p:nvPr/>
        </p:nvSpPr>
        <p:spPr>
          <a:xfrm>
            <a:off x="6330831" y="4163758"/>
            <a:ext cx="85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:3</a:t>
            </a:r>
          </a:p>
        </p:txBody>
      </p:sp>
      <p:sp>
        <p:nvSpPr>
          <p:cNvPr id="13" name="Arco 12">
            <a:extLst>
              <a:ext uri="{FF2B5EF4-FFF2-40B4-BE49-F238E27FC236}">
                <a16:creationId xmlns:a16="http://schemas.microsoft.com/office/drawing/2014/main" id="{64E54174-BD3D-542F-83E5-51D622392015}"/>
              </a:ext>
            </a:extLst>
          </p:cNvPr>
          <p:cNvSpPr/>
          <p:nvPr/>
        </p:nvSpPr>
        <p:spPr>
          <a:xfrm rot="13598187" flipH="1">
            <a:off x="4242842" y="2320527"/>
            <a:ext cx="2271457" cy="2398737"/>
          </a:xfrm>
          <a:prstGeom prst="arc">
            <a:avLst>
              <a:gd name="adj1" fmla="val 15723179"/>
              <a:gd name="adj2" fmla="val 619456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6F1FE0-D83F-5F9F-3803-D5EF09B23DA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585312-2D01-AFC3-964C-FD568CD667CE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74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2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A89E2E-FEC3-2828-63C5-CC22158A28A4}"/>
              </a:ext>
            </a:extLst>
          </p:cNvPr>
          <p:cNvSpPr txBox="1"/>
          <p:nvPr/>
        </p:nvSpPr>
        <p:spPr>
          <a:xfrm>
            <a:off x="535084" y="192314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Un albañil tarda 60 días en hacer un muro. ¿Cuántos albañiles necesito para hacerlo en 20 días? ¿Cuánto tardarían 4 albañiles?</a:t>
            </a:r>
            <a:endParaRPr lang="es-ES" sz="2400" b="1" dirty="0"/>
          </a:p>
        </p:txBody>
      </p:sp>
      <p:graphicFrame>
        <p:nvGraphicFramePr>
          <p:cNvPr id="10" name="Tabla 7">
            <a:extLst>
              <a:ext uri="{FF2B5EF4-FFF2-40B4-BE49-F238E27FC236}">
                <a16:creationId xmlns:a16="http://schemas.microsoft.com/office/drawing/2014/main" id="{61B81433-7805-476D-D61C-C0F9697CA258}"/>
              </a:ext>
            </a:extLst>
          </p:cNvPr>
          <p:cNvGraphicFramePr>
            <a:graphicFrameLocks noGrp="1"/>
          </p:cNvGraphicFramePr>
          <p:nvPr/>
        </p:nvGraphicFramePr>
        <p:xfrm>
          <a:off x="2155325" y="3289300"/>
          <a:ext cx="7881349" cy="79248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72605">
                  <a:extLst>
                    <a:ext uri="{9D8B030D-6E8A-4147-A177-3AD203B41FA5}">
                      <a16:colId xmlns:a16="http://schemas.microsoft.com/office/drawing/2014/main" val="1894078914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002037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025602865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4053835890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30511409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018124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Albañiles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/>
                        <a:t>Tiempo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14" name="Arco 13">
            <a:extLst>
              <a:ext uri="{FF2B5EF4-FFF2-40B4-BE49-F238E27FC236}">
                <a16:creationId xmlns:a16="http://schemas.microsoft.com/office/drawing/2014/main" id="{F933CCA1-D403-75CE-3233-2DE652F2C418}"/>
              </a:ext>
            </a:extLst>
          </p:cNvPr>
          <p:cNvSpPr/>
          <p:nvPr/>
        </p:nvSpPr>
        <p:spPr>
          <a:xfrm rot="8001813" flipH="1" flipV="1">
            <a:off x="3225105" y="2709476"/>
            <a:ext cx="5726598" cy="6047484"/>
          </a:xfrm>
          <a:prstGeom prst="arc">
            <a:avLst>
              <a:gd name="adj1" fmla="val 16935632"/>
              <a:gd name="adj2" fmla="val 20727926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D5293BC-8CDE-04CE-297A-0071D2014A7E}"/>
              </a:ext>
            </a:extLst>
          </p:cNvPr>
          <p:cNvSpPr txBox="1"/>
          <p:nvPr/>
        </p:nvSpPr>
        <p:spPr>
          <a:xfrm>
            <a:off x="7671364" y="2764031"/>
            <a:ext cx="85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x4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B65C9FE-E29D-A76B-DAF6-E17A00592B50}"/>
              </a:ext>
            </a:extLst>
          </p:cNvPr>
          <p:cNvSpPr txBox="1"/>
          <p:nvPr/>
        </p:nvSpPr>
        <p:spPr>
          <a:xfrm>
            <a:off x="7671364" y="4149392"/>
            <a:ext cx="857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:4</a:t>
            </a:r>
          </a:p>
        </p:txBody>
      </p:sp>
      <p:sp>
        <p:nvSpPr>
          <p:cNvPr id="17" name="Arco 16">
            <a:extLst>
              <a:ext uri="{FF2B5EF4-FFF2-40B4-BE49-F238E27FC236}">
                <a16:creationId xmlns:a16="http://schemas.microsoft.com/office/drawing/2014/main" id="{39CC906D-3668-EEE7-FD1B-A05A86D117B3}"/>
              </a:ext>
            </a:extLst>
          </p:cNvPr>
          <p:cNvSpPr/>
          <p:nvPr/>
        </p:nvSpPr>
        <p:spPr>
          <a:xfrm rot="13598187" flipH="1">
            <a:off x="3232701" y="-1360983"/>
            <a:ext cx="5726598" cy="6047484"/>
          </a:xfrm>
          <a:prstGeom prst="arc">
            <a:avLst>
              <a:gd name="adj1" fmla="val 16935632"/>
              <a:gd name="adj2" fmla="val 20727926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0951E8D-DF59-DD7A-C022-47D9115D251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C801AFE-6F46-B19D-BB9C-BE739E20F6E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8518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ACAF25-9455-CEB3-3B85-E7761388D69F}"/>
              </a:ext>
            </a:extLst>
          </p:cNvPr>
          <p:cNvSpPr/>
          <p:nvPr/>
        </p:nvSpPr>
        <p:spPr>
          <a:xfrm>
            <a:off x="535084" y="2064722"/>
            <a:ext cx="190500" cy="190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610002-9E02-9DF6-9DBC-12CDCE78624C}"/>
              </a:ext>
            </a:extLst>
          </p:cNvPr>
          <p:cNvSpPr txBox="1"/>
          <p:nvPr/>
        </p:nvSpPr>
        <p:spPr>
          <a:xfrm>
            <a:off x="827184" y="1929140"/>
            <a:ext cx="688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MÉTODO DE REDUCCIÓN A LA UNIDAD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53FC154D-AE39-8AB1-487D-C6C840E5BD56}"/>
              </a:ext>
            </a:extLst>
          </p:cNvPr>
          <p:cNvSpPr/>
          <p:nvPr/>
        </p:nvSpPr>
        <p:spPr>
          <a:xfrm>
            <a:off x="535084" y="2440299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D46A9301-B2E1-FA39-C869-A41B18FEE27F}"/>
              </a:ext>
            </a:extLst>
          </p:cNvPr>
          <p:cNvSpPr txBox="1"/>
          <p:nvPr/>
        </p:nvSpPr>
        <p:spPr>
          <a:xfrm>
            <a:off x="535084" y="246945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Primero se calcula el valor de la unidad. Conociendo ese valor, es fácil calcular el valor correspondiente.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E59CAD6-2387-D52D-4B33-B02201C7DA59}"/>
              </a:ext>
            </a:extLst>
          </p:cNvPr>
          <p:cNvCxnSpPr>
            <a:cxnSpLocks/>
          </p:cNvCxnSpPr>
          <p:nvPr/>
        </p:nvCxnSpPr>
        <p:spPr>
          <a:xfrm>
            <a:off x="2201467" y="4525749"/>
            <a:ext cx="31242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CuadroTexto 1">
            <a:extLst>
              <a:ext uri="{FF2B5EF4-FFF2-40B4-BE49-F238E27FC236}">
                <a16:creationId xmlns:a16="http://schemas.microsoft.com/office/drawing/2014/main" id="{39312E0F-6C89-3A44-36D2-54A8E932BC71}"/>
              </a:ext>
            </a:extLst>
          </p:cNvPr>
          <p:cNvSpPr txBox="1"/>
          <p:nvPr/>
        </p:nvSpPr>
        <p:spPr>
          <a:xfrm>
            <a:off x="2008360" y="4043284"/>
            <a:ext cx="3510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Nº ALBAÑILES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CE5AF31-C42C-A492-51FF-BD7F1EDF6536}"/>
              </a:ext>
            </a:extLst>
          </p:cNvPr>
          <p:cNvCxnSpPr>
            <a:cxnSpLocks/>
          </p:cNvCxnSpPr>
          <p:nvPr/>
        </p:nvCxnSpPr>
        <p:spPr>
          <a:xfrm>
            <a:off x="7008989" y="4525749"/>
            <a:ext cx="192087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!CuadroTexto 1">
            <a:extLst>
              <a:ext uri="{FF2B5EF4-FFF2-40B4-BE49-F238E27FC236}">
                <a16:creationId xmlns:a16="http://schemas.microsoft.com/office/drawing/2014/main" id="{F5A5D7E0-3E5D-03A3-3C00-26638A6F4F21}"/>
              </a:ext>
            </a:extLst>
          </p:cNvPr>
          <p:cNvSpPr txBox="1"/>
          <p:nvPr/>
        </p:nvSpPr>
        <p:spPr>
          <a:xfrm>
            <a:off x="6484095" y="4043284"/>
            <a:ext cx="297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DÍAS</a:t>
            </a:r>
          </a:p>
        </p:txBody>
      </p:sp>
      <p:sp>
        <p:nvSpPr>
          <p:cNvPr id="18" name="!CuadroTexto 1">
            <a:extLst>
              <a:ext uri="{FF2B5EF4-FFF2-40B4-BE49-F238E27FC236}">
                <a16:creationId xmlns:a16="http://schemas.microsoft.com/office/drawing/2014/main" id="{7FB6C887-B86A-C16A-39F2-FA52374901D4}"/>
              </a:ext>
            </a:extLst>
          </p:cNvPr>
          <p:cNvSpPr txBox="1"/>
          <p:nvPr/>
        </p:nvSpPr>
        <p:spPr>
          <a:xfrm>
            <a:off x="3438810" y="4600301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2</a:t>
            </a:r>
          </a:p>
        </p:txBody>
      </p:sp>
      <p:sp>
        <p:nvSpPr>
          <p:cNvPr id="19" name="!CuadroTexto 1">
            <a:extLst>
              <a:ext uri="{FF2B5EF4-FFF2-40B4-BE49-F238E27FC236}">
                <a16:creationId xmlns:a16="http://schemas.microsoft.com/office/drawing/2014/main" id="{E0AF2D5E-5E1C-703B-BD62-2246D82F04CB}"/>
              </a:ext>
            </a:extLst>
          </p:cNvPr>
          <p:cNvSpPr txBox="1"/>
          <p:nvPr/>
        </p:nvSpPr>
        <p:spPr>
          <a:xfrm>
            <a:off x="7644669" y="4600301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30</a:t>
            </a:r>
          </a:p>
        </p:txBody>
      </p:sp>
      <p:sp>
        <p:nvSpPr>
          <p:cNvPr id="20" name="!CuadroTexto 1">
            <a:extLst>
              <a:ext uri="{FF2B5EF4-FFF2-40B4-BE49-F238E27FC236}">
                <a16:creationId xmlns:a16="http://schemas.microsoft.com/office/drawing/2014/main" id="{EE5970B3-FEB0-B3F3-AAFC-59E0D0741208}"/>
              </a:ext>
            </a:extLst>
          </p:cNvPr>
          <p:cNvSpPr txBox="1"/>
          <p:nvPr/>
        </p:nvSpPr>
        <p:spPr>
          <a:xfrm>
            <a:off x="3438809" y="5375971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4</a:t>
            </a:r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13208E6D-A7EE-EAB9-85C1-836F54A7288E}"/>
              </a:ext>
            </a:extLst>
          </p:cNvPr>
          <p:cNvSpPr txBox="1"/>
          <p:nvPr/>
        </p:nvSpPr>
        <p:spPr>
          <a:xfrm>
            <a:off x="7644668" y="5375970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?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7B34EEAB-5025-7F87-3348-64C9CCFEFB12}"/>
              </a:ext>
            </a:extLst>
          </p:cNvPr>
          <p:cNvCxnSpPr/>
          <p:nvPr/>
        </p:nvCxnSpPr>
        <p:spPr>
          <a:xfrm>
            <a:off x="4413079" y="4865260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558971C-42EE-CF68-3207-8FC29B00AB6C}"/>
              </a:ext>
            </a:extLst>
          </p:cNvPr>
          <p:cNvCxnSpPr/>
          <p:nvPr/>
        </p:nvCxnSpPr>
        <p:spPr>
          <a:xfrm>
            <a:off x="4413079" y="5637580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!CuadroTexto 1">
            <a:extLst>
              <a:ext uri="{FF2B5EF4-FFF2-40B4-BE49-F238E27FC236}">
                <a16:creationId xmlns:a16="http://schemas.microsoft.com/office/drawing/2014/main" id="{6129D82A-F87A-E1A5-4FC6-10E399638D84}"/>
              </a:ext>
            </a:extLst>
          </p:cNvPr>
          <p:cNvSpPr txBox="1"/>
          <p:nvPr/>
        </p:nvSpPr>
        <p:spPr>
          <a:xfrm>
            <a:off x="3438809" y="6103436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26" name="!CuadroTexto 1">
            <a:extLst>
              <a:ext uri="{FF2B5EF4-FFF2-40B4-BE49-F238E27FC236}">
                <a16:creationId xmlns:a16="http://schemas.microsoft.com/office/drawing/2014/main" id="{847F9EEC-047D-10FE-7207-C278DE182764}"/>
              </a:ext>
            </a:extLst>
          </p:cNvPr>
          <p:cNvSpPr txBox="1"/>
          <p:nvPr/>
        </p:nvSpPr>
        <p:spPr>
          <a:xfrm>
            <a:off x="7644668" y="6103435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AA67537-17BF-8007-EBC5-633AB7E22342}"/>
              </a:ext>
            </a:extLst>
          </p:cNvPr>
          <p:cNvCxnSpPr/>
          <p:nvPr/>
        </p:nvCxnSpPr>
        <p:spPr>
          <a:xfrm>
            <a:off x="4413079" y="6365045"/>
            <a:ext cx="323158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co 27">
            <a:extLst>
              <a:ext uri="{FF2B5EF4-FFF2-40B4-BE49-F238E27FC236}">
                <a16:creationId xmlns:a16="http://schemas.microsoft.com/office/drawing/2014/main" id="{C3A1DEE9-66C1-1FDD-616D-0226BDD83AC3}"/>
              </a:ext>
            </a:extLst>
          </p:cNvPr>
          <p:cNvSpPr/>
          <p:nvPr/>
        </p:nvSpPr>
        <p:spPr>
          <a:xfrm rot="8001813" flipV="1">
            <a:off x="3237807" y="4662199"/>
            <a:ext cx="1950762" cy="1950762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Arco 28">
            <a:extLst>
              <a:ext uri="{FF2B5EF4-FFF2-40B4-BE49-F238E27FC236}">
                <a16:creationId xmlns:a16="http://schemas.microsoft.com/office/drawing/2014/main" id="{AC249491-A9CE-8936-2256-8396C8D3D28B}"/>
              </a:ext>
            </a:extLst>
          </p:cNvPr>
          <p:cNvSpPr/>
          <p:nvPr/>
        </p:nvSpPr>
        <p:spPr>
          <a:xfrm rot="13598187" flipH="1" flipV="1">
            <a:off x="6738379" y="4662199"/>
            <a:ext cx="1950762" cy="1950762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!CuadroTexto 1">
            <a:extLst>
              <a:ext uri="{FF2B5EF4-FFF2-40B4-BE49-F238E27FC236}">
                <a16:creationId xmlns:a16="http://schemas.microsoft.com/office/drawing/2014/main" id="{2556336C-E437-8554-C4C4-DE039DBAABA2}"/>
              </a:ext>
            </a:extLst>
          </p:cNvPr>
          <p:cNvSpPr txBox="1"/>
          <p:nvPr/>
        </p:nvSpPr>
        <p:spPr>
          <a:xfrm>
            <a:off x="2640395" y="5375970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:2</a:t>
            </a:r>
          </a:p>
        </p:txBody>
      </p:sp>
      <p:sp>
        <p:nvSpPr>
          <p:cNvPr id="31" name="!CuadroTexto 1">
            <a:extLst>
              <a:ext uri="{FF2B5EF4-FFF2-40B4-BE49-F238E27FC236}">
                <a16:creationId xmlns:a16="http://schemas.microsoft.com/office/drawing/2014/main" id="{861FB441-EE2B-4F84-6832-B3F40419E026}"/>
              </a:ext>
            </a:extLst>
          </p:cNvPr>
          <p:cNvSpPr txBox="1"/>
          <p:nvPr/>
        </p:nvSpPr>
        <p:spPr>
          <a:xfrm>
            <a:off x="8636285" y="5375970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x2</a:t>
            </a:r>
          </a:p>
        </p:txBody>
      </p:sp>
      <p:sp>
        <p:nvSpPr>
          <p:cNvPr id="32" name="!CuadroTexto 1">
            <a:extLst>
              <a:ext uri="{FF2B5EF4-FFF2-40B4-BE49-F238E27FC236}">
                <a16:creationId xmlns:a16="http://schemas.microsoft.com/office/drawing/2014/main" id="{002B91A4-AF0A-DFB5-EEAE-4A2FEC042FCB}"/>
              </a:ext>
            </a:extLst>
          </p:cNvPr>
          <p:cNvSpPr txBox="1"/>
          <p:nvPr/>
        </p:nvSpPr>
        <p:spPr>
          <a:xfrm>
            <a:off x="7644668" y="6103435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60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236E06B-3D5C-88BC-8143-E31F6795066E}"/>
              </a:ext>
            </a:extLst>
          </p:cNvPr>
          <p:cNvSpPr txBox="1"/>
          <p:nvPr/>
        </p:nvSpPr>
        <p:spPr>
          <a:xfrm>
            <a:off x="535083" y="3260037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Dos albañiles tardan 30 días en hacer un muro. ¿Cuántos albañiles necesito para hacerlo en 20 días? ¿Cuánto tardarían 4 albañiles?</a:t>
            </a:r>
            <a:endParaRPr lang="es-ES" sz="24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95B7F07-FC38-E5A7-63B0-493B26CAA75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1688EEC-46C6-14FC-A65D-4B4CDCFC3FF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868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75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 animBg="1"/>
      <p:bldP spid="8" grpId="0"/>
      <p:bldP spid="25" grpId="0"/>
      <p:bldP spid="26" grpId="0"/>
      <p:bldP spid="26" grpId="1"/>
      <p:bldP spid="28" grpId="0" animBg="1"/>
      <p:bldP spid="29" grpId="0" animBg="1"/>
      <p:bldP spid="30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ACAF25-9455-CEB3-3B85-E7761388D69F}"/>
              </a:ext>
            </a:extLst>
          </p:cNvPr>
          <p:cNvSpPr/>
          <p:nvPr/>
        </p:nvSpPr>
        <p:spPr>
          <a:xfrm>
            <a:off x="535084" y="2064722"/>
            <a:ext cx="190500" cy="190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610002-9E02-9DF6-9DBC-12CDCE78624C}"/>
              </a:ext>
            </a:extLst>
          </p:cNvPr>
          <p:cNvSpPr txBox="1"/>
          <p:nvPr/>
        </p:nvSpPr>
        <p:spPr>
          <a:xfrm>
            <a:off x="827184" y="1929140"/>
            <a:ext cx="688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MÉTODO DE REDUCCIÓN A LA UNIDAD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!Marco 10">
            <a:extLst>
              <a:ext uri="{FF2B5EF4-FFF2-40B4-BE49-F238E27FC236}">
                <a16:creationId xmlns:a16="http://schemas.microsoft.com/office/drawing/2014/main" id="{53FC154D-AE39-8AB1-487D-C6C840E5BD56}"/>
              </a:ext>
            </a:extLst>
          </p:cNvPr>
          <p:cNvSpPr/>
          <p:nvPr/>
        </p:nvSpPr>
        <p:spPr>
          <a:xfrm>
            <a:off x="535084" y="2440299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CuadroTexto 1">
            <a:extLst>
              <a:ext uri="{FF2B5EF4-FFF2-40B4-BE49-F238E27FC236}">
                <a16:creationId xmlns:a16="http://schemas.microsoft.com/office/drawing/2014/main" id="{D46A9301-B2E1-FA39-C869-A41B18FEE27F}"/>
              </a:ext>
            </a:extLst>
          </p:cNvPr>
          <p:cNvSpPr txBox="1"/>
          <p:nvPr/>
        </p:nvSpPr>
        <p:spPr>
          <a:xfrm>
            <a:off x="535084" y="246945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Primero se calcula el valor de la unidad. Conociendo ese valor, es fácil calcular el valor correspondiente.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236E06B-3D5C-88BC-8143-E31F6795066E}"/>
              </a:ext>
            </a:extLst>
          </p:cNvPr>
          <p:cNvSpPr txBox="1"/>
          <p:nvPr/>
        </p:nvSpPr>
        <p:spPr>
          <a:xfrm>
            <a:off x="535083" y="3260037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Dos albañiles tardan 30 días en hacer un muro. ¿Cuántos albañiles necesito para hacerlo en 20 días? ¿Cuánto tardarían 4 albañiles?</a:t>
            </a:r>
            <a:endParaRPr lang="es-ES" sz="2400" b="1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9FA6C2C-4E56-53D4-D045-05F001E7F068}"/>
              </a:ext>
            </a:extLst>
          </p:cNvPr>
          <p:cNvCxnSpPr>
            <a:cxnSpLocks/>
          </p:cNvCxnSpPr>
          <p:nvPr/>
        </p:nvCxnSpPr>
        <p:spPr>
          <a:xfrm>
            <a:off x="2201467" y="4525749"/>
            <a:ext cx="31242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!CuadroTexto 1">
            <a:extLst>
              <a:ext uri="{FF2B5EF4-FFF2-40B4-BE49-F238E27FC236}">
                <a16:creationId xmlns:a16="http://schemas.microsoft.com/office/drawing/2014/main" id="{3E147FC6-B633-26AB-EC67-4655F1A471F2}"/>
              </a:ext>
            </a:extLst>
          </p:cNvPr>
          <p:cNvSpPr txBox="1"/>
          <p:nvPr/>
        </p:nvSpPr>
        <p:spPr>
          <a:xfrm>
            <a:off x="2008360" y="4043284"/>
            <a:ext cx="3510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Nº ALBAÑILES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7D66211-EFAC-A67C-0924-CC7B687D3A2F}"/>
              </a:ext>
            </a:extLst>
          </p:cNvPr>
          <p:cNvCxnSpPr>
            <a:cxnSpLocks/>
          </p:cNvCxnSpPr>
          <p:nvPr/>
        </p:nvCxnSpPr>
        <p:spPr>
          <a:xfrm>
            <a:off x="7008989" y="4525749"/>
            <a:ext cx="1920874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!CuadroTexto 1">
            <a:extLst>
              <a:ext uri="{FF2B5EF4-FFF2-40B4-BE49-F238E27FC236}">
                <a16:creationId xmlns:a16="http://schemas.microsoft.com/office/drawing/2014/main" id="{A0762395-5A77-A405-90D8-AFB73D6FE0E8}"/>
              </a:ext>
            </a:extLst>
          </p:cNvPr>
          <p:cNvSpPr txBox="1"/>
          <p:nvPr/>
        </p:nvSpPr>
        <p:spPr>
          <a:xfrm>
            <a:off x="6484095" y="4043284"/>
            <a:ext cx="297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DÍAS</a:t>
            </a:r>
          </a:p>
        </p:txBody>
      </p:sp>
      <p:sp>
        <p:nvSpPr>
          <p:cNvPr id="16" name="!CuadroTexto 1">
            <a:extLst>
              <a:ext uri="{FF2B5EF4-FFF2-40B4-BE49-F238E27FC236}">
                <a16:creationId xmlns:a16="http://schemas.microsoft.com/office/drawing/2014/main" id="{18672BE4-D3FD-4422-504A-C2AB3C6C009B}"/>
              </a:ext>
            </a:extLst>
          </p:cNvPr>
          <p:cNvSpPr txBox="1"/>
          <p:nvPr/>
        </p:nvSpPr>
        <p:spPr>
          <a:xfrm>
            <a:off x="3438810" y="4584426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2</a:t>
            </a:r>
          </a:p>
        </p:txBody>
      </p:sp>
      <p:sp>
        <p:nvSpPr>
          <p:cNvPr id="17" name="!CuadroTexto 1">
            <a:extLst>
              <a:ext uri="{FF2B5EF4-FFF2-40B4-BE49-F238E27FC236}">
                <a16:creationId xmlns:a16="http://schemas.microsoft.com/office/drawing/2014/main" id="{E129274C-2B4D-009A-6E18-768BBD936578}"/>
              </a:ext>
            </a:extLst>
          </p:cNvPr>
          <p:cNvSpPr txBox="1"/>
          <p:nvPr/>
        </p:nvSpPr>
        <p:spPr>
          <a:xfrm>
            <a:off x="7644669" y="4584426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30</a:t>
            </a:r>
          </a:p>
        </p:txBody>
      </p:sp>
      <p:sp>
        <p:nvSpPr>
          <p:cNvPr id="34" name="!CuadroTexto 1">
            <a:extLst>
              <a:ext uri="{FF2B5EF4-FFF2-40B4-BE49-F238E27FC236}">
                <a16:creationId xmlns:a16="http://schemas.microsoft.com/office/drawing/2014/main" id="{A66F642C-D42B-34E7-6B33-06F3E442232F}"/>
              </a:ext>
            </a:extLst>
          </p:cNvPr>
          <p:cNvSpPr txBox="1"/>
          <p:nvPr/>
        </p:nvSpPr>
        <p:spPr>
          <a:xfrm>
            <a:off x="3438809" y="5360096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4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B05D31B-FD05-436B-596D-FD0937F32BB4}"/>
              </a:ext>
            </a:extLst>
          </p:cNvPr>
          <p:cNvCxnSpPr/>
          <p:nvPr/>
        </p:nvCxnSpPr>
        <p:spPr>
          <a:xfrm>
            <a:off x="4413079" y="4849385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FF02FEA-65D9-F9D1-3585-C1A423E432D2}"/>
              </a:ext>
            </a:extLst>
          </p:cNvPr>
          <p:cNvCxnSpPr/>
          <p:nvPr/>
        </p:nvCxnSpPr>
        <p:spPr>
          <a:xfrm>
            <a:off x="4413079" y="5621705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!CuadroTexto 1">
            <a:extLst>
              <a:ext uri="{FF2B5EF4-FFF2-40B4-BE49-F238E27FC236}">
                <a16:creationId xmlns:a16="http://schemas.microsoft.com/office/drawing/2014/main" id="{0AA9EB0A-F21B-0A4A-2B10-1E788B6DBE64}"/>
              </a:ext>
            </a:extLst>
          </p:cNvPr>
          <p:cNvSpPr txBox="1"/>
          <p:nvPr/>
        </p:nvSpPr>
        <p:spPr>
          <a:xfrm>
            <a:off x="3438809" y="6087561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</a:t>
            </a:r>
          </a:p>
        </p:txBody>
      </p:sp>
      <p:sp>
        <p:nvSpPr>
          <p:cNvPr id="38" name="!CuadroTexto 1">
            <a:extLst>
              <a:ext uri="{FF2B5EF4-FFF2-40B4-BE49-F238E27FC236}">
                <a16:creationId xmlns:a16="http://schemas.microsoft.com/office/drawing/2014/main" id="{0C9F651E-1440-344D-9466-7E149E2074E8}"/>
              </a:ext>
            </a:extLst>
          </p:cNvPr>
          <p:cNvSpPr txBox="1"/>
          <p:nvPr/>
        </p:nvSpPr>
        <p:spPr>
          <a:xfrm>
            <a:off x="7644668" y="6087560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60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6D345D90-9FC4-15AA-E38D-6B4FAE73B898}"/>
              </a:ext>
            </a:extLst>
          </p:cNvPr>
          <p:cNvCxnSpPr/>
          <p:nvPr/>
        </p:nvCxnSpPr>
        <p:spPr>
          <a:xfrm>
            <a:off x="4413079" y="6349170"/>
            <a:ext cx="3231587" cy="0"/>
          </a:xfrm>
          <a:prstGeom prst="straightConnector1">
            <a:avLst/>
          </a:prstGeom>
          <a:ln w="28575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!CuadroTexto 1">
            <a:extLst>
              <a:ext uri="{FF2B5EF4-FFF2-40B4-BE49-F238E27FC236}">
                <a16:creationId xmlns:a16="http://schemas.microsoft.com/office/drawing/2014/main" id="{01172915-1917-40A5-1F62-1E544A5AFD35}"/>
              </a:ext>
            </a:extLst>
          </p:cNvPr>
          <p:cNvSpPr txBox="1"/>
          <p:nvPr/>
        </p:nvSpPr>
        <p:spPr>
          <a:xfrm>
            <a:off x="7644668" y="5351023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?</a:t>
            </a:r>
          </a:p>
        </p:txBody>
      </p:sp>
      <p:sp>
        <p:nvSpPr>
          <p:cNvPr id="41" name="!CuadroTexto 1">
            <a:extLst>
              <a:ext uri="{FF2B5EF4-FFF2-40B4-BE49-F238E27FC236}">
                <a16:creationId xmlns:a16="http://schemas.microsoft.com/office/drawing/2014/main" id="{1207351C-9EE8-8819-B0F6-13FF5E9BA8FD}"/>
              </a:ext>
            </a:extLst>
          </p:cNvPr>
          <p:cNvSpPr txBox="1"/>
          <p:nvPr/>
        </p:nvSpPr>
        <p:spPr>
          <a:xfrm>
            <a:off x="7648402" y="5351023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15</a:t>
            </a:r>
          </a:p>
        </p:txBody>
      </p:sp>
      <p:sp>
        <p:nvSpPr>
          <p:cNvPr id="42" name="Arco 41">
            <a:extLst>
              <a:ext uri="{FF2B5EF4-FFF2-40B4-BE49-F238E27FC236}">
                <a16:creationId xmlns:a16="http://schemas.microsoft.com/office/drawing/2014/main" id="{FD117E0E-C2A4-F6DB-9A25-BCA63652F937}"/>
              </a:ext>
            </a:extLst>
          </p:cNvPr>
          <p:cNvSpPr/>
          <p:nvPr/>
        </p:nvSpPr>
        <p:spPr>
          <a:xfrm rot="8001813" flipH="1">
            <a:off x="7575564" y="5515158"/>
            <a:ext cx="868796" cy="868796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!CuadroTexto 1">
            <a:extLst>
              <a:ext uri="{FF2B5EF4-FFF2-40B4-BE49-F238E27FC236}">
                <a16:creationId xmlns:a16="http://schemas.microsoft.com/office/drawing/2014/main" id="{8D3CC942-469D-156C-8E57-36A1993B0082}"/>
              </a:ext>
            </a:extLst>
          </p:cNvPr>
          <p:cNvSpPr txBox="1"/>
          <p:nvPr/>
        </p:nvSpPr>
        <p:spPr>
          <a:xfrm>
            <a:off x="8406624" y="5648025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:4</a:t>
            </a:r>
          </a:p>
        </p:txBody>
      </p:sp>
      <p:sp>
        <p:nvSpPr>
          <p:cNvPr id="44" name="Arco 43">
            <a:extLst>
              <a:ext uri="{FF2B5EF4-FFF2-40B4-BE49-F238E27FC236}">
                <a16:creationId xmlns:a16="http://schemas.microsoft.com/office/drawing/2014/main" id="{C9AC40AB-7217-B7FE-D97B-8570D7A95F81}"/>
              </a:ext>
            </a:extLst>
          </p:cNvPr>
          <p:cNvSpPr/>
          <p:nvPr/>
        </p:nvSpPr>
        <p:spPr>
          <a:xfrm rot="13598187">
            <a:off x="3308378" y="5551624"/>
            <a:ext cx="868796" cy="868796"/>
          </a:xfrm>
          <a:prstGeom prst="arc">
            <a:avLst>
              <a:gd name="adj1" fmla="val 15723179"/>
              <a:gd name="adj2" fmla="val 33856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5" name="!CuadroTexto 1">
            <a:extLst>
              <a:ext uri="{FF2B5EF4-FFF2-40B4-BE49-F238E27FC236}">
                <a16:creationId xmlns:a16="http://schemas.microsoft.com/office/drawing/2014/main" id="{F7B76B86-5D2C-B152-D12E-B6D3E28A3EAB}"/>
              </a:ext>
            </a:extLst>
          </p:cNvPr>
          <p:cNvSpPr txBox="1"/>
          <p:nvPr/>
        </p:nvSpPr>
        <p:spPr>
          <a:xfrm flipH="1">
            <a:off x="2616934" y="5648025"/>
            <a:ext cx="649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x4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EA93B30-81CF-2757-FDDE-85C0B9B2E13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FCAE230-B50D-BAF5-5FCF-F95884038C0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461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 animBg="1"/>
      <p:bldP spid="43" grpId="0"/>
      <p:bldP spid="44" grpId="0" animBg="1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Dos magnitudes son inversamente proporcionales cuando al multiplicar o dividir una (doble, triple, mitad, …),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la otra lo hace al contrario.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ACAF25-9455-CEB3-3B85-E7761388D69F}"/>
              </a:ext>
            </a:extLst>
          </p:cNvPr>
          <p:cNvSpPr/>
          <p:nvPr/>
        </p:nvSpPr>
        <p:spPr>
          <a:xfrm>
            <a:off x="535084" y="2064722"/>
            <a:ext cx="190500" cy="1905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610002-9E02-9DF6-9DBC-12CDCE78624C}"/>
              </a:ext>
            </a:extLst>
          </p:cNvPr>
          <p:cNvSpPr txBox="1"/>
          <p:nvPr/>
        </p:nvSpPr>
        <p:spPr>
          <a:xfrm>
            <a:off x="827184" y="1929140"/>
            <a:ext cx="6886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REGLA DE 3 INVERSA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!Marco 10">
            <a:extLst>
              <a:ext uri="{FF2B5EF4-FFF2-40B4-BE49-F238E27FC236}">
                <a16:creationId xmlns:a16="http://schemas.microsoft.com/office/drawing/2014/main" id="{75844E61-CF28-C793-326D-3EAC63CD912A}"/>
              </a:ext>
            </a:extLst>
          </p:cNvPr>
          <p:cNvSpPr/>
          <p:nvPr/>
        </p:nvSpPr>
        <p:spPr>
          <a:xfrm>
            <a:off x="535084" y="2440299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5159F1AA-E5FE-E23A-8699-E1FC3D35431A}"/>
              </a:ext>
            </a:extLst>
          </p:cNvPr>
          <p:cNvSpPr txBox="1"/>
          <p:nvPr/>
        </p:nvSpPr>
        <p:spPr>
          <a:xfrm>
            <a:off x="535084" y="246945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 dos pares de valores inversamente proporcionales se construyen dos fracciones equivalentes.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4BB36C7-FD45-0926-1258-0D11011AEABF}"/>
              </a:ext>
            </a:extLst>
          </p:cNvPr>
          <p:cNvSpPr txBox="1"/>
          <p:nvPr/>
        </p:nvSpPr>
        <p:spPr>
          <a:xfrm>
            <a:off x="535083" y="3260037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b="1" dirty="0"/>
              <a:t>Dos albañiles tardan 30 días en hacer un muro. ¿Cuántos albañiles necesito para hacerlo en 20 días? ¿Cuánto tardarían 4 albañiles?</a:t>
            </a:r>
            <a:endParaRPr lang="es-ES" sz="2400" b="1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4F53221-C125-CB0C-F7C4-B0FBA5EAE2F0}"/>
              </a:ext>
            </a:extLst>
          </p:cNvPr>
          <p:cNvCxnSpPr>
            <a:cxnSpLocks/>
          </p:cNvCxnSpPr>
          <p:nvPr/>
        </p:nvCxnSpPr>
        <p:spPr>
          <a:xfrm>
            <a:off x="2860040" y="4525749"/>
            <a:ext cx="216408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CuadroTexto 1">
            <a:extLst>
              <a:ext uri="{FF2B5EF4-FFF2-40B4-BE49-F238E27FC236}">
                <a16:creationId xmlns:a16="http://schemas.microsoft.com/office/drawing/2014/main" id="{F28CDFF0-C3A9-036B-AC16-94BB55672E4E}"/>
              </a:ext>
            </a:extLst>
          </p:cNvPr>
          <p:cNvSpPr txBox="1"/>
          <p:nvPr/>
        </p:nvSpPr>
        <p:spPr>
          <a:xfrm>
            <a:off x="2224258" y="4131565"/>
            <a:ext cx="3510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Nº ALBAÑILES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D9EC5DF-7324-E9B4-3A2B-D9E23F9D4910}"/>
              </a:ext>
            </a:extLst>
          </p:cNvPr>
          <p:cNvCxnSpPr>
            <a:cxnSpLocks/>
          </p:cNvCxnSpPr>
          <p:nvPr/>
        </p:nvCxnSpPr>
        <p:spPr>
          <a:xfrm>
            <a:off x="7576820" y="4525749"/>
            <a:ext cx="112776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CuadroTexto 1">
            <a:extLst>
              <a:ext uri="{FF2B5EF4-FFF2-40B4-BE49-F238E27FC236}">
                <a16:creationId xmlns:a16="http://schemas.microsoft.com/office/drawing/2014/main" id="{6A1F77F7-B2B5-7061-49A2-92D95CC51AFC}"/>
              </a:ext>
            </a:extLst>
          </p:cNvPr>
          <p:cNvSpPr txBox="1"/>
          <p:nvPr/>
        </p:nvSpPr>
        <p:spPr>
          <a:xfrm>
            <a:off x="6699991" y="4127559"/>
            <a:ext cx="2970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5">
                    <a:lumMod val="75000"/>
                  </a:schemeClr>
                </a:solidFill>
              </a:rPr>
              <a:t>DÍAS</a:t>
            </a:r>
          </a:p>
        </p:txBody>
      </p:sp>
      <p:sp>
        <p:nvSpPr>
          <p:cNvPr id="21" name="!CuadroTexto 1">
            <a:extLst>
              <a:ext uri="{FF2B5EF4-FFF2-40B4-BE49-F238E27FC236}">
                <a16:creationId xmlns:a16="http://schemas.microsoft.com/office/drawing/2014/main" id="{1A15EFB7-631C-AFD1-F4E0-974A34673526}"/>
              </a:ext>
            </a:extLst>
          </p:cNvPr>
          <p:cNvSpPr txBox="1"/>
          <p:nvPr/>
        </p:nvSpPr>
        <p:spPr>
          <a:xfrm>
            <a:off x="3654710" y="4600301"/>
            <a:ext cx="64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2</a:t>
            </a:r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C98533FA-0BFE-429F-208B-EBE859101506}"/>
              </a:ext>
            </a:extLst>
          </p:cNvPr>
          <p:cNvSpPr txBox="1"/>
          <p:nvPr/>
        </p:nvSpPr>
        <p:spPr>
          <a:xfrm>
            <a:off x="7860569" y="4600301"/>
            <a:ext cx="64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30</a:t>
            </a:r>
          </a:p>
        </p:txBody>
      </p:sp>
      <p:sp>
        <p:nvSpPr>
          <p:cNvPr id="23" name="!CuadroTexto 1">
            <a:extLst>
              <a:ext uri="{FF2B5EF4-FFF2-40B4-BE49-F238E27FC236}">
                <a16:creationId xmlns:a16="http://schemas.microsoft.com/office/drawing/2014/main" id="{354B3893-F494-7775-921D-1071739E50E2}"/>
              </a:ext>
            </a:extLst>
          </p:cNvPr>
          <p:cNvSpPr txBox="1"/>
          <p:nvPr/>
        </p:nvSpPr>
        <p:spPr>
          <a:xfrm>
            <a:off x="3654709" y="5061966"/>
            <a:ext cx="64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4</a:t>
            </a:r>
          </a:p>
        </p:txBody>
      </p:sp>
      <p:sp>
        <p:nvSpPr>
          <p:cNvPr id="25" name="!CuadroTexto 1">
            <a:extLst>
              <a:ext uri="{FF2B5EF4-FFF2-40B4-BE49-F238E27FC236}">
                <a16:creationId xmlns:a16="http://schemas.microsoft.com/office/drawing/2014/main" id="{9CEB2730-1F38-63C8-B5DF-72F8C8B393E0}"/>
              </a:ext>
            </a:extLst>
          </p:cNvPr>
          <p:cNvSpPr txBox="1"/>
          <p:nvPr/>
        </p:nvSpPr>
        <p:spPr>
          <a:xfrm>
            <a:off x="7860566" y="5057497"/>
            <a:ext cx="649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x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E0D3FF7B-3ADA-F8EB-A450-8C2CCA6B317F}"/>
              </a:ext>
            </a:extLst>
          </p:cNvPr>
          <p:cNvCxnSpPr/>
          <p:nvPr/>
        </p:nvCxnSpPr>
        <p:spPr>
          <a:xfrm>
            <a:off x="4628979" y="4819593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107712A1-1771-5574-45DA-158421087583}"/>
              </a:ext>
            </a:extLst>
          </p:cNvPr>
          <p:cNvCxnSpPr/>
          <p:nvPr/>
        </p:nvCxnSpPr>
        <p:spPr>
          <a:xfrm>
            <a:off x="4628979" y="5288330"/>
            <a:ext cx="3231587" cy="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2B2B437E-5889-4E2B-58A4-16C7B5D5B3EE}"/>
                  </a:ext>
                </a:extLst>
              </p:cNvPr>
              <p:cNvSpPr txBox="1"/>
              <p:nvPr/>
            </p:nvSpPr>
            <p:spPr>
              <a:xfrm>
                <a:off x="3163141" y="5712618"/>
                <a:ext cx="1212640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8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s-E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s-ES" sz="2800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</m:den>
                      </m:f>
                    </m:oMath>
                  </m:oMathPara>
                </a14:m>
                <a:endParaRPr lang="es-E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2B2B437E-5889-4E2B-58A4-16C7B5D5B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141" y="5712618"/>
                <a:ext cx="1212640" cy="8094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D4A1307-AB62-456F-ECAD-C6B2604B45C2}"/>
                  </a:ext>
                </a:extLst>
              </p:cNvPr>
              <p:cNvSpPr txBox="1"/>
              <p:nvPr/>
            </p:nvSpPr>
            <p:spPr>
              <a:xfrm>
                <a:off x="4494722" y="5920950"/>
                <a:ext cx="22782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𝟒𝐱</m:t>
                      </m:r>
                      <m:r>
                        <a:rPr lang="es-E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DD4A1307-AB62-456F-ECAD-C6B2604B4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722" y="5920950"/>
                <a:ext cx="227825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4B33EF11-B745-930D-01BF-A1731E88402F}"/>
                  </a:ext>
                </a:extLst>
              </p:cNvPr>
              <p:cNvSpPr txBox="1"/>
              <p:nvPr/>
            </p:nvSpPr>
            <p:spPr>
              <a:xfrm>
                <a:off x="6817504" y="5715439"/>
                <a:ext cx="2484976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s-E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s-ES" sz="2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𝟔𝟎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s-E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4B33EF11-B745-930D-01BF-A1731E884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504" y="5715439"/>
                <a:ext cx="2484976" cy="806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D9D9376D-2311-48AD-E387-A2531258096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E91BB6D-9948-8A76-18F4-E5F1099F089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Proporcionalidad y Porcentajes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2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9" grpId="0" animBg="1"/>
      <p:bldP spid="11" grpId="0"/>
      <p:bldP spid="49" grpId="0"/>
      <p:bldP spid="50" grpId="0"/>
      <p:bldP spid="5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FF47889-4339-46AC-8E1D-A4F65DACFF11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Proporcionalidad inversa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4 - Proporcionalidad y porcentaj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B22E8A7-E897-4707-A9C4-6107A47CEE1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66F0075-CCB5-4D69-91B2-CB92EA4D9760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EDB88DB-7BB4-4052-A944-B21E53AF0C41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8789D2E-0F48-4AA0-826E-8D70FA473A6A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FE3CDD6-1D26-4121-825B-0D771A13F671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9DFCBC8-BE5A-4B5B-96E0-FAD5ADE232BE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0C02F30-AFE8-49D2-BC23-2B23D299ED0B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E11F39E-A5A4-42E7-A3FB-9E84F6A23BCE}:26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EBD0281-4F1B-4D8B-B51F-53A64ECAAB01}:265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759</Words>
  <Application>Microsoft Office PowerPoint</Application>
  <PresentationFormat>Panorámica</PresentationFormat>
  <Paragraphs>163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Proporcionalidad inversa</dc:title>
  <dc:creator>Illán Linos Souto</dc:creator>
  <cp:lastModifiedBy>Illán Linos</cp:lastModifiedBy>
  <cp:revision>48</cp:revision>
  <dcterms:created xsi:type="dcterms:W3CDTF">2024-08-18T18:48:07Z</dcterms:created>
  <dcterms:modified xsi:type="dcterms:W3CDTF">2025-11-17T18:21:01Z</dcterms:modified>
</cp:coreProperties>
</file>