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ecuación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mx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</a:t>
            </a:r>
            <a:r>
              <a:rPr lang="es-ES" sz="2000" b="1" i="1" dirty="0"/>
              <a:t> </a:t>
            </a:r>
            <a:r>
              <a:rPr lang="es-ES" sz="2000" b="1" dirty="0"/>
              <a:t>se representa mediante una recta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pendiente</a:t>
            </a:r>
            <a:r>
              <a:rPr lang="es-ES" sz="2000" b="1" dirty="0"/>
              <a:t> </a:t>
            </a:r>
            <a:r>
              <a:rPr lang="es-ES" sz="2000" b="1" i="1" dirty="0"/>
              <a:t>m </a:t>
            </a:r>
            <a:r>
              <a:rPr lang="es-ES" sz="2000" b="1" dirty="0"/>
              <a:t>que corta al eje </a:t>
            </a:r>
            <a:r>
              <a:rPr lang="es-ES" sz="2000" b="1" i="1" dirty="0"/>
              <a:t>Y </a:t>
            </a:r>
            <a:r>
              <a:rPr lang="es-ES" sz="2000" b="1" dirty="0"/>
              <a:t>en el punto (0, </a:t>
            </a:r>
            <a:r>
              <a:rPr lang="es-ES" sz="2000" b="1" i="1" dirty="0"/>
              <a:t>n</a:t>
            </a:r>
            <a:r>
              <a:rPr lang="es-ES" sz="2000" b="1" dirty="0"/>
              <a:t>).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899154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906441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i="1" dirty="0"/>
              <a:t>n </a:t>
            </a:r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ordenada en el origen</a:t>
            </a:r>
            <a:r>
              <a:rPr lang="es-ES" sz="2000" b="1" dirty="0"/>
              <a:t>.</a:t>
            </a:r>
            <a:endParaRPr lang="es-ES" sz="4800" b="1" dirty="0"/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1836387B-3138-A937-7E16-9CB44D67FDBE}"/>
              </a:ext>
            </a:extLst>
          </p:cNvPr>
          <p:cNvSpPr/>
          <p:nvPr/>
        </p:nvSpPr>
        <p:spPr>
          <a:xfrm>
            <a:off x="535084" y="2434273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4F092549-B956-3805-61A5-865D637A3B9E}"/>
              </a:ext>
            </a:extLst>
          </p:cNvPr>
          <p:cNvSpPr txBox="1"/>
          <p:nvPr/>
        </p:nvSpPr>
        <p:spPr>
          <a:xfrm>
            <a:off x="535084" y="2437916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Dos ecuaciones con la misma pendiente se representan mediante rectas paralelas.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8532A0FF-8258-87F2-D5C4-AAB97EF5B009}"/>
              </a:ext>
            </a:extLst>
          </p:cNvPr>
          <p:cNvSpPr/>
          <p:nvPr/>
        </p:nvSpPr>
        <p:spPr>
          <a:xfrm>
            <a:off x="535084" y="296939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C16CE600-1B85-6A2E-D9A1-A40E8AC7F264}"/>
              </a:ext>
            </a:extLst>
          </p:cNvPr>
          <p:cNvSpPr txBox="1"/>
          <p:nvPr/>
        </p:nvSpPr>
        <p:spPr>
          <a:xfrm>
            <a:off x="535084" y="2969392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Las funciones </a:t>
            </a:r>
            <a:r>
              <a:rPr lang="es-ES" sz="2000" b="1" i="1" dirty="0"/>
              <a:t>y </a:t>
            </a:r>
            <a:r>
              <a:rPr lang="es-ES" sz="2000" b="1" dirty="0"/>
              <a:t>= </a:t>
            </a:r>
            <a:r>
              <a:rPr lang="es-ES" sz="2000" b="1" i="1" dirty="0"/>
              <a:t>mx </a:t>
            </a:r>
            <a:r>
              <a:rPr lang="es-ES" sz="2000" b="1" dirty="0"/>
              <a:t>+ </a:t>
            </a:r>
            <a:r>
              <a:rPr lang="es-ES" sz="2000" b="1" i="1" dirty="0"/>
              <a:t>n </a:t>
            </a:r>
            <a:r>
              <a:rPr lang="es-ES" sz="2000" b="1" dirty="0"/>
              <a:t>se llaman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lineales</a:t>
            </a:r>
            <a:r>
              <a:rPr lang="es-ES" sz="2000" b="1" dirty="0"/>
              <a:t>. </a:t>
            </a:r>
          </a:p>
          <a:p>
            <a:r>
              <a:rPr lang="es-ES" sz="2000" b="1" dirty="0"/>
              <a:t>Cuando </a:t>
            </a:r>
            <a:r>
              <a:rPr lang="es-ES" sz="2000" b="1" i="1" dirty="0"/>
              <a:t>n </a:t>
            </a:r>
            <a:r>
              <a:rPr lang="es-ES" sz="2000" b="1" dirty="0"/>
              <a:t>= 0 se trata de una función de proporcionalidad, </a:t>
            </a:r>
            <a:r>
              <a:rPr lang="es-ES" sz="2000" b="1" i="1" dirty="0"/>
              <a:t>y </a:t>
            </a:r>
            <a:r>
              <a:rPr lang="es-ES" sz="2000" b="1" dirty="0"/>
              <a:t>= </a:t>
            </a:r>
            <a:r>
              <a:rPr lang="es-ES" sz="2000" b="1" i="1" dirty="0"/>
              <a:t>mx</a:t>
            </a:r>
            <a:r>
              <a:rPr lang="es-ES" sz="2000" b="1" dirty="0"/>
              <a:t>.</a:t>
            </a:r>
          </a:p>
        </p:txBody>
      </p: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4FF2D367-2D22-B860-1262-69530352FA86}"/>
              </a:ext>
            </a:extLst>
          </p:cNvPr>
          <p:cNvCxnSpPr>
            <a:cxnSpLocks/>
          </p:cNvCxnSpPr>
          <p:nvPr/>
        </p:nvCxnSpPr>
        <p:spPr>
          <a:xfrm flipV="1">
            <a:off x="5353399" y="5497114"/>
            <a:ext cx="2142778" cy="1066893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0F421E2-FBE6-D692-152D-6096E0121471}"/>
              </a:ext>
            </a:extLst>
          </p:cNvPr>
          <p:cNvCxnSpPr>
            <a:cxnSpLocks/>
          </p:cNvCxnSpPr>
          <p:nvPr/>
        </p:nvCxnSpPr>
        <p:spPr>
          <a:xfrm flipV="1">
            <a:off x="4930626" y="4538492"/>
            <a:ext cx="2552295" cy="1270792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77EC624-08C9-B8D6-4BA2-C72918721271}"/>
              </a:ext>
            </a:extLst>
          </p:cNvPr>
          <p:cNvCxnSpPr>
            <a:cxnSpLocks/>
          </p:cNvCxnSpPr>
          <p:nvPr/>
        </p:nvCxnSpPr>
        <p:spPr>
          <a:xfrm flipV="1">
            <a:off x="4870450" y="3936163"/>
            <a:ext cx="1916310" cy="917876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73E0C498-6C41-0908-0BCD-BB8F2703AD6E}"/>
              </a:ext>
            </a:extLst>
          </p:cNvPr>
          <p:cNvGrpSpPr/>
          <p:nvPr/>
        </p:nvGrpSpPr>
        <p:grpSpPr>
          <a:xfrm>
            <a:off x="4930626" y="3929891"/>
            <a:ext cx="2562373" cy="2817787"/>
            <a:chOff x="4930626" y="3929891"/>
            <a:chExt cx="2562373" cy="2817787"/>
          </a:xfrm>
        </p:grpSpPr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5EAA0295-2F3A-0922-A0C3-0F575076AA3D}"/>
                </a:ext>
              </a:extLst>
            </p:cNvPr>
            <p:cNvCxnSpPr>
              <a:cxnSpLocks/>
            </p:cNvCxnSpPr>
            <p:nvPr/>
          </p:nvCxnSpPr>
          <p:spPr>
            <a:xfrm>
              <a:off x="5338850" y="6568461"/>
              <a:ext cx="215097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70F7C934-2267-A41B-09C2-DE84CEDBC8A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09821" y="52615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2621722-53A5-C0AE-1D31-0FBB3204F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77327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715245-A25F-4859-8468-809D9D1302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53038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9B83473-A14D-AE9E-EB91-8654B7D36D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28749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ABDFE03-9963-A09E-348B-A459ADFDDD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404461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8D142CA-718C-1A69-E193-F6D30B5C59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80172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1F36BCB-9EB4-8234-4B03-46102F0D2C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55883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EA9F8A3-17E5-0F05-FA27-327F31BE21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31594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E5E1775-A433-0394-D531-6A0C37625F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307305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2C357BF-D18E-7700-FAFA-49AEC048F89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501616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624E4721-CF03-8677-D222-476B26E726BD}"/>
                </a:ext>
              </a:extLst>
            </p:cNvPr>
            <p:cNvCxnSpPr>
              <a:cxnSpLocks/>
            </p:cNvCxnSpPr>
            <p:nvPr/>
          </p:nvCxnSpPr>
          <p:spPr>
            <a:xfrm>
              <a:off x="5575887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853622A-8368-9A0D-9BF9-2CD3E7F2CEBA}"/>
                </a:ext>
              </a:extLst>
            </p:cNvPr>
            <p:cNvCxnSpPr>
              <a:cxnSpLocks/>
            </p:cNvCxnSpPr>
            <p:nvPr/>
          </p:nvCxnSpPr>
          <p:spPr>
            <a:xfrm>
              <a:off x="5818775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F266EDB-F1B9-59FF-5E2E-7C9D6BB54BF1}"/>
                </a:ext>
              </a:extLst>
            </p:cNvPr>
            <p:cNvCxnSpPr>
              <a:cxnSpLocks/>
            </p:cNvCxnSpPr>
            <p:nvPr/>
          </p:nvCxnSpPr>
          <p:spPr>
            <a:xfrm>
              <a:off x="6061664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BD51884-6A85-B80F-F9C0-2C6C1AB58268}"/>
                </a:ext>
              </a:extLst>
            </p:cNvPr>
            <p:cNvCxnSpPr>
              <a:cxnSpLocks/>
            </p:cNvCxnSpPr>
            <p:nvPr/>
          </p:nvCxnSpPr>
          <p:spPr>
            <a:xfrm>
              <a:off x="6304553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5FBC8E1F-75A9-5815-AC57-CADB55CE9CC5}"/>
                </a:ext>
              </a:extLst>
            </p:cNvPr>
            <p:cNvCxnSpPr>
              <a:cxnSpLocks/>
            </p:cNvCxnSpPr>
            <p:nvPr/>
          </p:nvCxnSpPr>
          <p:spPr>
            <a:xfrm>
              <a:off x="6547442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A189FE8-8A0E-B067-1B71-E935A1343291}"/>
                </a:ext>
              </a:extLst>
            </p:cNvPr>
            <p:cNvCxnSpPr>
              <a:cxnSpLocks/>
            </p:cNvCxnSpPr>
            <p:nvPr/>
          </p:nvCxnSpPr>
          <p:spPr>
            <a:xfrm>
              <a:off x="6790331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AE3BFD8-DB0F-AF88-05A1-727B5DA41495}"/>
                </a:ext>
              </a:extLst>
            </p:cNvPr>
            <p:cNvCxnSpPr>
              <a:cxnSpLocks/>
            </p:cNvCxnSpPr>
            <p:nvPr/>
          </p:nvCxnSpPr>
          <p:spPr>
            <a:xfrm>
              <a:off x="7033220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6BE96F1-92C4-EF7A-4A05-30A15DE89496}"/>
                </a:ext>
              </a:extLst>
            </p:cNvPr>
            <p:cNvCxnSpPr>
              <a:cxnSpLocks/>
            </p:cNvCxnSpPr>
            <p:nvPr/>
          </p:nvCxnSpPr>
          <p:spPr>
            <a:xfrm>
              <a:off x="7276107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7DF842C-0003-E494-5966-0361F85D73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412999" y="28498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FBE9566-D202-4A2F-AC41-49467625C83A}"/>
                </a:ext>
              </a:extLst>
            </p:cNvPr>
            <p:cNvCxnSpPr>
              <a:cxnSpLocks/>
            </p:cNvCxnSpPr>
            <p:nvPr/>
          </p:nvCxnSpPr>
          <p:spPr>
            <a:xfrm>
              <a:off x="7492999" y="3936164"/>
              <a:ext cx="0" cy="262784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56FB316-DFA9-FCBF-7A9A-565605461928}"/>
                </a:ext>
              </a:extLst>
            </p:cNvPr>
            <p:cNvSpPr txBox="1"/>
            <p:nvPr/>
          </p:nvSpPr>
          <p:spPr>
            <a:xfrm>
              <a:off x="5742574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0545AF0-D51C-F289-A9EB-F1E426A2CF4B}"/>
                </a:ext>
              </a:extLst>
            </p:cNvPr>
            <p:cNvSpPr txBox="1"/>
            <p:nvPr/>
          </p:nvSpPr>
          <p:spPr>
            <a:xfrm>
              <a:off x="6228354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723C5312-1CFF-CC98-3DA7-33B987F7CC9C}"/>
                </a:ext>
              </a:extLst>
            </p:cNvPr>
            <p:cNvSpPr txBox="1"/>
            <p:nvPr/>
          </p:nvSpPr>
          <p:spPr>
            <a:xfrm>
              <a:off x="6714130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CD9EC0CC-A2F9-CD49-D9A3-DEF4F56FC5A1}"/>
                </a:ext>
              </a:extLst>
            </p:cNvPr>
            <p:cNvSpPr txBox="1"/>
            <p:nvPr/>
          </p:nvSpPr>
          <p:spPr>
            <a:xfrm>
              <a:off x="7199906" y="607016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E2831D-FE8E-449F-EE57-8F4AB2792D48}"/>
                </a:ext>
              </a:extLst>
            </p:cNvPr>
            <p:cNvCxnSpPr>
              <a:cxnSpLocks/>
            </p:cNvCxnSpPr>
            <p:nvPr/>
          </p:nvCxnSpPr>
          <p:spPr>
            <a:xfrm>
              <a:off x="5818774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D77AE5B-0790-7149-997F-745A67BD5E02}"/>
                </a:ext>
              </a:extLst>
            </p:cNvPr>
            <p:cNvCxnSpPr>
              <a:cxnSpLocks/>
            </p:cNvCxnSpPr>
            <p:nvPr/>
          </p:nvCxnSpPr>
          <p:spPr>
            <a:xfrm>
              <a:off x="7276106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E979AFF-2780-99DD-DA20-B2378A4F8647}"/>
                </a:ext>
              </a:extLst>
            </p:cNvPr>
            <p:cNvCxnSpPr>
              <a:cxnSpLocks/>
            </p:cNvCxnSpPr>
            <p:nvPr/>
          </p:nvCxnSpPr>
          <p:spPr>
            <a:xfrm>
              <a:off x="6304553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9E1611C-C378-7CD8-ADCF-4FC2755F6291}"/>
                </a:ext>
              </a:extLst>
            </p:cNvPr>
            <p:cNvCxnSpPr>
              <a:cxnSpLocks/>
            </p:cNvCxnSpPr>
            <p:nvPr/>
          </p:nvCxnSpPr>
          <p:spPr>
            <a:xfrm>
              <a:off x="6790330" y="604098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9D803D3-54A0-E3E1-F7FB-992670AAF4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410286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BDF610C-E5E9-B3A8-9BDA-EEF9203415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556019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DA9100E-3264-03E6-DEE9-6DF3E0950A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4588643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5F573F6-9F88-52F1-419E-7D32E85DE1D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821" y="507442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12D484FE-D590-19FF-9710-A0EA3CDF52E4}"/>
                </a:ext>
              </a:extLst>
            </p:cNvPr>
            <p:cNvSpPr txBox="1"/>
            <p:nvPr/>
          </p:nvSpPr>
          <p:spPr>
            <a:xfrm>
              <a:off x="5112942" y="542071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5E07A9E-1D6C-03A8-C0B7-49DCCDDA7581}"/>
                </a:ext>
              </a:extLst>
            </p:cNvPr>
            <p:cNvSpPr txBox="1"/>
            <p:nvPr/>
          </p:nvSpPr>
          <p:spPr>
            <a:xfrm>
              <a:off x="5113918" y="493494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4FBE374A-9B69-B156-261B-78072BCF2E6C}"/>
                </a:ext>
              </a:extLst>
            </p:cNvPr>
            <p:cNvSpPr txBox="1"/>
            <p:nvPr/>
          </p:nvSpPr>
          <p:spPr>
            <a:xfrm>
              <a:off x="5112942" y="444916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0B9E77C-DAE0-3F60-3881-1E5BC7F5650F}"/>
                </a:ext>
              </a:extLst>
            </p:cNvPr>
            <p:cNvSpPr txBox="1"/>
            <p:nvPr/>
          </p:nvSpPr>
          <p:spPr>
            <a:xfrm>
              <a:off x="5120086" y="396338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B656437-F4AD-74B8-02F2-CE45FCB5BCCE}"/>
                </a:ext>
              </a:extLst>
            </p:cNvPr>
            <p:cNvCxnSpPr>
              <a:cxnSpLocks/>
            </p:cNvCxnSpPr>
            <p:nvPr/>
          </p:nvCxnSpPr>
          <p:spPr>
            <a:xfrm>
              <a:off x="5332999" y="3936164"/>
              <a:ext cx="0" cy="2657346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8BB95573-00C7-62F1-3C07-58868E65A589}"/>
                </a:ext>
              </a:extLst>
            </p:cNvPr>
            <p:cNvCxnSpPr>
              <a:cxnSpLocks/>
            </p:cNvCxnSpPr>
            <p:nvPr/>
          </p:nvCxnSpPr>
          <p:spPr>
            <a:xfrm>
              <a:off x="4930626" y="6096164"/>
              <a:ext cx="2562373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01622EE6-EAE9-E58B-D8C6-5696A91DF5E2}"/>
                </a:ext>
              </a:extLst>
            </p:cNvPr>
            <p:cNvSpPr txBox="1"/>
            <p:nvPr/>
          </p:nvSpPr>
          <p:spPr>
            <a:xfrm>
              <a:off x="4930626" y="6378346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-1</a:t>
              </a:r>
            </a:p>
          </p:txBody>
        </p: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FDA2532A-4A91-E616-BF32-879A1CDA0D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36178" y="651181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ángulo: esquinas redondeadas 113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/>
              <p:nvPr/>
            </p:nvSpPr>
            <p:spPr>
              <a:xfrm>
                <a:off x="6866531" y="3805714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4" name="Rectángulo: esquinas redondeadas 113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531" y="3805714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/>
              <p:nvPr/>
            </p:nvSpPr>
            <p:spPr>
              <a:xfrm>
                <a:off x="7560655" y="4448768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55" y="4448768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ángulo: esquinas redondeadas 115">
                <a:extLst>
                  <a:ext uri="{FF2B5EF4-FFF2-40B4-BE49-F238E27FC236}">
                    <a16:creationId xmlns:a16="http://schemas.microsoft.com/office/drawing/2014/main" id="{BE3CC571-607F-26CF-C7E9-ED28F5521A3A}"/>
                  </a:ext>
                </a:extLst>
              </p:cNvPr>
              <p:cNvSpPr/>
              <p:nvPr/>
            </p:nvSpPr>
            <p:spPr>
              <a:xfrm>
                <a:off x="7560655" y="5250085"/>
                <a:ext cx="1437845" cy="488136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6" name="Rectángulo: esquinas redondeadas 115">
                <a:extLst>
                  <a:ext uri="{FF2B5EF4-FFF2-40B4-BE49-F238E27FC236}">
                    <a16:creationId xmlns:a16="http://schemas.microsoft.com/office/drawing/2014/main" id="{BE3CC571-607F-26CF-C7E9-ED28F5521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55" y="5250085"/>
                <a:ext cx="1437845" cy="488136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3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97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4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97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3" grpId="0" animBg="1"/>
      <p:bldP spid="14" grpId="0"/>
      <p:bldP spid="17" grpId="0" animBg="1"/>
      <p:bldP spid="18" grpId="0"/>
      <p:bldP spid="114" grpId="0" animBg="1"/>
      <p:bldP spid="115" grpId="0" animBg="1"/>
      <p:bldP spid="1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964188" y="2600326"/>
            <a:ext cx="2170050" cy="2106120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EA62A7DF-90C3-89A2-9996-00AA9D309CD3}"/>
              </a:ext>
            </a:extLst>
          </p:cNvPr>
          <p:cNvGrpSpPr/>
          <p:nvPr/>
        </p:nvGrpSpPr>
        <p:grpSpPr>
          <a:xfrm>
            <a:off x="760901" y="2406501"/>
            <a:ext cx="2380174" cy="3328480"/>
            <a:chOff x="760901" y="2406501"/>
            <a:chExt cx="2380174" cy="3328480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7D213A-F99C-1683-F31C-0F9E6F5961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4239" y="195013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D8E58DC-BC84-E3B7-A758-4E5156CFBE3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4" y="171397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4AB1D605-8384-DA43-09F2-C1DF1269CA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4" y="151116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7548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3933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60318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6703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13088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9473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585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42243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8628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2557827"/>
              <a:ext cx="0" cy="283381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45311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7234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92222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984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761018" y="473525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761994" y="424947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761018" y="376369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768162" y="327791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2557827"/>
              <a:ext cx="0" cy="2833818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6A3671B-32F6-07B8-0B3A-720A5C27A8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297973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04358F8-EF00-F3AF-5793-7B7CF8D4DA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254574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F836E4E2-43CC-FC09-BAB9-D082C0202C4F}"/>
                </a:ext>
              </a:extLst>
            </p:cNvPr>
            <p:cNvSpPr txBox="1"/>
            <p:nvPr/>
          </p:nvSpPr>
          <p:spPr>
            <a:xfrm>
              <a:off x="760901" y="240650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6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4F9862D6-5A2A-577A-A6C4-7D05895F2082}"/>
                </a:ext>
              </a:extLst>
            </p:cNvPr>
            <p:cNvSpPr txBox="1"/>
            <p:nvPr/>
          </p:nvSpPr>
          <p:spPr>
            <a:xfrm>
              <a:off x="762168" y="282215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8628" y="1034135"/>
            <a:ext cx="1112183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El alquiler de una canoa cuesta 1 € cada hora. Pero, previamente, hemos de</a:t>
            </a:r>
          </a:p>
          <a:p>
            <a:r>
              <a:rPr lang="es-ES" sz="2000" dirty="0"/>
              <a:t>pagar 1,50 € para entrar en el recinto donde se encuentran. Por tanto, el coste de un </a:t>
            </a:r>
          </a:p>
          <a:p>
            <a:r>
              <a:rPr lang="es-ES" sz="2000" dirty="0"/>
              <a:t>paseo en canoa, en función del tiempo que estemos, es:</a:t>
            </a:r>
            <a:endParaRPr lang="es-E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17918"/>
              </p:ext>
            </p:extLst>
          </p:nvPr>
        </p:nvGraphicFramePr>
        <p:xfrm>
          <a:off x="3937514" y="4420080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 + 1,5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687171" y="4027144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CANOA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685330" y="4574928"/>
                <a:ext cx="1522416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+1,5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330" y="4574928"/>
                <a:ext cx="1522416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8065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439649" y="418851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923703" y="3714407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895804" y="276539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410027" y="3243158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C74B8BC-78B1-F12E-C240-B9DBE3AA9BF2}"/>
                  </a:ext>
                </a:extLst>
              </p:cNvPr>
              <p:cNvSpPr txBox="1"/>
              <p:nvPr/>
            </p:nvSpPr>
            <p:spPr>
              <a:xfrm>
                <a:off x="3937514" y="2282029"/>
                <a:ext cx="3244927" cy="1538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→1,5+1=2,5€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h𝑜𝑟𝑎𝑠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1,5+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,5€</m:t>
                    </m:r>
                  </m:oMath>
                </a14:m>
                <a:r>
                  <a:rPr lang="es-ES" sz="2000" dirty="0"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C74B8BC-78B1-F12E-C240-B9DBE3AA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514" y="2282029"/>
                <a:ext cx="3244927" cy="1538883"/>
              </a:xfrm>
              <a:prstGeom prst="rect">
                <a:avLst/>
              </a:prstGeom>
              <a:blipFill>
                <a:blip r:embed="rId8"/>
                <a:stretch>
                  <a:fillRect l="-2820" b="-118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Elipse 74">
            <a:extLst>
              <a:ext uri="{FF2B5EF4-FFF2-40B4-BE49-F238E27FC236}">
                <a16:creationId xmlns:a16="http://schemas.microsoft.com/office/drawing/2014/main" id="{DAD0B148-D125-E39C-4C52-85A539FC3596}"/>
              </a:ext>
            </a:extLst>
          </p:cNvPr>
          <p:cNvSpPr/>
          <p:nvPr/>
        </p:nvSpPr>
        <p:spPr>
          <a:xfrm>
            <a:off x="955876" y="4658002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9FEB8FE-5FD5-55D4-E8DC-A361F73B9592}"/>
              </a:ext>
            </a:extLst>
          </p:cNvPr>
          <p:cNvSpPr txBox="1"/>
          <p:nvPr/>
        </p:nvSpPr>
        <p:spPr>
          <a:xfrm>
            <a:off x="80614" y="2171286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COSTE (€)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39AE7E7-6DE0-3A3F-B551-0131F5AACA16}"/>
              </a:ext>
            </a:extLst>
          </p:cNvPr>
          <p:cNvSpPr txBox="1"/>
          <p:nvPr/>
        </p:nvSpPr>
        <p:spPr>
          <a:xfrm>
            <a:off x="3134238" y="5424129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TIEMPO (h)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1" grpId="0"/>
      <p:bldP spid="86" grpId="0" animBg="1"/>
      <p:bldP spid="87" grpId="0" animBg="1"/>
      <p:bldP spid="92" grpId="0" animBg="1"/>
      <p:bldP spid="94" grpId="0" animBg="1"/>
      <p:bldP spid="95" grpId="0" animBg="1"/>
      <p:bldP spid="4" grpId="0" uiExpand="1" build="p"/>
      <p:bldP spid="75" grpId="0" animBg="1"/>
      <p:bldP spid="77" grpId="0"/>
      <p:bldP spid="8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7F0890F-EFD7-4BFF-AFCF-CDB5A65472CA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1 - Fun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4. y=mx+n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1F09D72-1553-4917-8EE4-0C2A1FC128FD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4BFCDD-3F2B-4338-AFD5-DA1751074B88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249</Words>
  <Application>Microsoft Office PowerPoint</Application>
  <PresentationFormat>Panorámica</PresentationFormat>
  <Paragraphs>59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y=mx+n</dc:title>
  <dc:creator>Illán Linos Souto</dc:creator>
  <cp:lastModifiedBy>Illán Linos</cp:lastModifiedBy>
  <cp:revision>82</cp:revision>
  <dcterms:created xsi:type="dcterms:W3CDTF">2024-08-18T18:48:07Z</dcterms:created>
  <dcterms:modified xsi:type="dcterms:W3CDTF">2025-11-18T13:27:17Z</dcterms:modified>
</cp:coreProperties>
</file>