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4" r:id="rId5"/>
    <p:sldId id="265" r:id="rId6"/>
    <p:sldId id="260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custDataLst>
    <p:tags r:id="rId1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CE3754-BE59-460F-96C7-6689EB907389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89995-22FE-47AE-886E-6F0AF560318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509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6216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6335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81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094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992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34725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656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648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4764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7616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89995-22FE-47AE-886E-6F0AF5603187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035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21.png"/><Relationship Id="rId10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10" Type="http://schemas.openxmlformats.org/officeDocument/2006/relationships/image" Target="../media/image23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31.png"/><Relationship Id="rId10" Type="http://schemas.openxmlformats.org/officeDocument/2006/relationships/image" Target="../media/image33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6" Type="http://schemas.openxmlformats.org/officeDocument/2006/relationships/image" Target="../media/image34.png"/><Relationship Id="rId11" Type="http://schemas.openxmlformats.org/officeDocument/2006/relationships/image" Target="../media/image31.png"/><Relationship Id="rId10" Type="http://schemas.openxmlformats.org/officeDocument/2006/relationships/image" Target="../media/image36.png"/><Relationship Id="rId9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varias letras (parte literal).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a 7">
                <a:extLst>
                  <a:ext uri="{FF2B5EF4-FFF2-40B4-BE49-F238E27FC236}">
                    <a16:creationId xmlns:a16="http://schemas.microsoft.com/office/drawing/2014/main" id="{FCEBE3AE-FA44-4985-0269-94AE0C950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546211"/>
                  </p:ext>
                </p:extLst>
              </p:nvPr>
            </p:nvGraphicFramePr>
            <p:xfrm>
              <a:off x="2667000" y="3078807"/>
              <a:ext cx="6858000" cy="155956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179592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MONOMIO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COEFICIENTE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PARTE LITERAL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a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a 7">
                <a:extLst>
                  <a:ext uri="{FF2B5EF4-FFF2-40B4-BE49-F238E27FC236}">
                    <a16:creationId xmlns:a16="http://schemas.microsoft.com/office/drawing/2014/main" id="{FCEBE3AE-FA44-4985-0269-94AE0C950D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4546211"/>
                  </p:ext>
                </p:extLst>
              </p:nvPr>
            </p:nvGraphicFramePr>
            <p:xfrm>
              <a:off x="2667000" y="3078807"/>
              <a:ext cx="6858000" cy="155956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86000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14179592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MONOMIO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COEFICIENTE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600" dirty="0"/>
                            <a:t>PARTE LITERAL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98462" r="-200800" b="-2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198462" r="-200800" b="-1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0533" t="-198462" r="-533" b="-1276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67" t="-298462" r="-200800" b="-2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x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CuadroTexto 1">
            <a:extLst>
              <a:ext uri="{FF2B5EF4-FFF2-40B4-BE49-F238E27FC236}">
                <a16:creationId xmlns:a16="http://schemas.microsoft.com/office/drawing/2014/main" id="{BFE94418-1854-75C7-E6B8-088B661C1EE0}"/>
              </a:ext>
            </a:extLst>
          </p:cNvPr>
          <p:cNvSpPr txBox="1"/>
          <p:nvPr/>
        </p:nvSpPr>
        <p:spPr>
          <a:xfrm>
            <a:off x="535084" y="4857865"/>
            <a:ext cx="9843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000" b="1" dirty="0">
                <a:latin typeface="Century Gothic" panose="020B0502020202020204" pitchFamily="34" charset="0"/>
              </a:rPr>
              <a:t>Cuando 2 monomios tienen la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misma parte literal </a:t>
            </a:r>
            <a:r>
              <a:rPr lang="es-ES" sz="2000" b="1" dirty="0">
                <a:latin typeface="Century Gothic" panose="020B0502020202020204" pitchFamily="34" charset="0"/>
              </a:rPr>
              <a:t>se dice que 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monomios semejantes.</a:t>
            </a:r>
          </a:p>
          <a:p>
            <a:pPr algn="just"/>
            <a:r>
              <a:rPr lang="es-ES" sz="2000" b="1" dirty="0">
                <a:latin typeface="Century Gothic" panose="020B0502020202020204" pitchFamily="34" charset="0"/>
              </a:rPr>
              <a:t>En este caso 2x y 5x son monomios semejantes.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A9098E-47F8-EB30-F83C-7D974E999F4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BDE1F5-9355-7F05-6D9F-D23B940006A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75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 animBg="1"/>
      <p:bldP spid="9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varias letras (parte literal).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7E97183-C797-53B4-D1AA-CE0E14A1B482}"/>
              </a:ext>
            </a:extLst>
          </p:cNvPr>
          <p:cNvSpPr txBox="1"/>
          <p:nvPr/>
        </p:nvSpPr>
        <p:spPr>
          <a:xfrm>
            <a:off x="535084" y="2945510"/>
            <a:ext cx="8579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 la hora de escribir un monomio hay que tener en cuenta que: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48A880-BEF4-54D6-5307-4014A6014228}"/>
              </a:ext>
            </a:extLst>
          </p:cNvPr>
          <p:cNvSpPr txBox="1"/>
          <p:nvPr/>
        </p:nvSpPr>
        <p:spPr>
          <a:xfrm>
            <a:off x="542679" y="3568489"/>
            <a:ext cx="54908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1º- El coeficiente 1 no se pone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7FC516F3-58C9-B865-28A0-DB7281574B6A}"/>
              </a:ext>
            </a:extLst>
          </p:cNvPr>
          <p:cNvGrpSpPr/>
          <p:nvPr/>
        </p:nvGrpSpPr>
        <p:grpSpPr>
          <a:xfrm>
            <a:off x="4461272" y="3569271"/>
            <a:ext cx="2980128" cy="423948"/>
            <a:chOff x="6253167" y="6748630"/>
            <a:chExt cx="2980128" cy="4239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120631EB-DD05-3E56-F938-5731E090DFC5}"/>
                    </a:ext>
                  </a:extLst>
                </p:cNvPr>
                <p:cNvSpPr txBox="1"/>
                <p:nvPr/>
              </p:nvSpPr>
              <p:spPr>
                <a:xfrm>
                  <a:off x="6253167" y="67724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120631EB-DD05-3E56-F938-5731E090DF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3167" y="6772468"/>
                  <a:ext cx="139700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803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064975F1-674C-C570-4369-A884965BB71D}"/>
                </a:ext>
              </a:extLst>
            </p:cNvPr>
            <p:cNvCxnSpPr>
              <a:cxnSpLocks/>
            </p:cNvCxnSpPr>
            <p:nvPr/>
          </p:nvCxnSpPr>
          <p:spPr>
            <a:xfrm>
              <a:off x="7298134" y="6972523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0D3B63E-CCD7-B7D3-BF28-783BF1016BAE}"/>
                    </a:ext>
                  </a:extLst>
                </p:cNvPr>
                <p:cNvSpPr txBox="1"/>
                <p:nvPr/>
              </p:nvSpPr>
              <p:spPr>
                <a:xfrm>
                  <a:off x="7836295" y="6748630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20D3B63E-CCD7-B7D3-BF28-783BF1016B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6295" y="6748630"/>
                  <a:ext cx="1397000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4803" t="-9231" b="-2769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AC4EC89-5382-5B2B-5A62-2034DCBB3B3E}"/>
              </a:ext>
            </a:extLst>
          </p:cNvPr>
          <p:cNvSpPr txBox="1"/>
          <p:nvPr/>
        </p:nvSpPr>
        <p:spPr>
          <a:xfrm>
            <a:off x="550004" y="4256089"/>
            <a:ext cx="56194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2º- El exponente 1 no se indica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1195ECBB-40B9-CC1D-D431-5E872AA6F3FD}"/>
              </a:ext>
            </a:extLst>
          </p:cNvPr>
          <p:cNvGrpSpPr/>
          <p:nvPr/>
        </p:nvGrpSpPr>
        <p:grpSpPr>
          <a:xfrm>
            <a:off x="4683387" y="4267496"/>
            <a:ext cx="2788120" cy="400110"/>
            <a:chOff x="6431943" y="7460068"/>
            <a:chExt cx="2788120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3CBDB6A-150A-4F1F-48A2-4E806B8EDC08}"/>
                    </a:ext>
                  </a:extLst>
                </p:cNvPr>
                <p:cNvSpPr txBox="1"/>
                <p:nvPr/>
              </p:nvSpPr>
              <p:spPr>
                <a:xfrm>
                  <a:off x="6431943" y="74600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r>
                    <a:rPr lang="es-ES" sz="2000" b="1" baseline="30000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1</a:t>
                  </a:r>
                </a:p>
              </p:txBody>
            </p:sp>
          </mc:Choice>
          <mc:Fallback xmlns=""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23CBDB6A-150A-4F1F-48A2-4E806B8ED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31943" y="7460068"/>
                  <a:ext cx="1397000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4367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5032DB-E078-8F32-816C-5A0FC9D51382}"/>
                    </a:ext>
                  </a:extLst>
                </p:cNvPr>
                <p:cNvSpPr txBox="1"/>
                <p:nvPr/>
              </p:nvSpPr>
              <p:spPr>
                <a:xfrm>
                  <a:off x="7823063" y="7460068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endParaRPr lang="es-ES" sz="2000" b="1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17" name="CuadroTexto 16">
                  <a:extLst>
                    <a:ext uri="{FF2B5EF4-FFF2-40B4-BE49-F238E27FC236}">
                      <a16:creationId xmlns:a16="http://schemas.microsoft.com/office/drawing/2014/main" id="{6D5032DB-E078-8F32-816C-5A0FC9D513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3063" y="7460068"/>
                  <a:ext cx="1397000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4348" t="-7576" b="-25758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CD782D99-E33C-E11C-7527-7CF41895070A}"/>
                </a:ext>
              </a:extLst>
            </p:cNvPr>
            <p:cNvCxnSpPr>
              <a:cxnSpLocks/>
            </p:cNvCxnSpPr>
            <p:nvPr/>
          </p:nvCxnSpPr>
          <p:spPr>
            <a:xfrm>
              <a:off x="7254795" y="7660123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0063626-D675-C4FE-9A3E-B89B16D03337}"/>
              </a:ext>
            </a:extLst>
          </p:cNvPr>
          <p:cNvSpPr txBox="1"/>
          <p:nvPr/>
        </p:nvSpPr>
        <p:spPr>
          <a:xfrm>
            <a:off x="535084" y="4928378"/>
            <a:ext cx="100748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3º- El símbolo de producto no se pone ni entre los números ni entre las letras</a:t>
            </a: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17C1221-F6A7-5F7E-0893-22AD8C0179DD}"/>
              </a:ext>
            </a:extLst>
          </p:cNvPr>
          <p:cNvGrpSpPr/>
          <p:nvPr/>
        </p:nvGrpSpPr>
        <p:grpSpPr>
          <a:xfrm>
            <a:off x="5224208" y="5379768"/>
            <a:ext cx="1743584" cy="400110"/>
            <a:chOff x="6277955" y="8583747"/>
            <a:chExt cx="1743584" cy="4001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B252E3F5-238C-7BDA-B2F1-729BA1F4159B}"/>
                    </a:ext>
                  </a:extLst>
                </p:cNvPr>
                <p:cNvSpPr txBox="1"/>
                <p:nvPr/>
              </p:nvSpPr>
              <p:spPr>
                <a:xfrm>
                  <a:off x="6277955" y="8583747"/>
                  <a:ext cx="1397000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x</a:t>
                  </a:r>
                  <a14:m>
                    <m:oMath xmlns:m="http://schemas.openxmlformats.org/officeDocument/2006/math">
                      <m:r>
                        <a:rPr lang="es-ES" sz="2000" i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000" b="1" dirty="0"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atin typeface="Century Gothic" panose="020B0502020202020204" pitchFamily="34" charset="0"/>
                    </a:rPr>
                    <a:t>y</a:t>
                  </a:r>
                  <a:endParaRPr lang="es-ES" sz="2000" b="1" baseline="300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B252E3F5-238C-7BDA-B2F1-729BA1F415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7955" y="8583747"/>
                  <a:ext cx="1397000" cy="400110"/>
                </a:xfrm>
                <a:prstGeom prst="rect">
                  <a:avLst/>
                </a:prstGeom>
                <a:blipFill>
                  <a:blip r:embed="rId10"/>
                  <a:stretch>
                    <a:fillRect l="-4803" t="-9231" b="-27692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5654AC2-B4BC-9832-B9DA-FB982E8308EB}"/>
                </a:ext>
              </a:extLst>
            </p:cNvPr>
            <p:cNvSpPr txBox="1"/>
            <p:nvPr/>
          </p:nvSpPr>
          <p:spPr>
            <a:xfrm>
              <a:off x="7470960" y="8583747"/>
              <a:ext cx="55057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2000" b="1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rPr>
                <a:t>xy</a:t>
              </a:r>
              <a:endParaRPr lang="es-ES" sz="20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709AD978-35FE-5E3E-AD52-982C4ADFE5EB}"/>
                </a:ext>
              </a:extLst>
            </p:cNvPr>
            <p:cNvCxnSpPr>
              <a:cxnSpLocks/>
            </p:cNvCxnSpPr>
            <p:nvPr/>
          </p:nvCxnSpPr>
          <p:spPr>
            <a:xfrm>
              <a:off x="6941133" y="8814282"/>
              <a:ext cx="471488" cy="0"/>
            </a:xfrm>
            <a:prstGeom prst="straightConnector1">
              <a:avLst/>
            </a:prstGeom>
            <a:ln w="28575">
              <a:solidFill>
                <a:schemeClr val="accent1">
                  <a:lumMod val="60000"/>
                  <a:lumOff val="40000"/>
                </a:schemeClr>
              </a:solidFill>
              <a:headEnd type="diamond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EE0F287E-9216-A476-7A1D-C568583F719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0FFEB3A-A3F1-230A-6390-53A0A6890B73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9911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00"/>
                            </p:stCondLst>
                            <p:childTnLst>
                              <p:par>
                                <p:cTn id="1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4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expresiones algebraicas </a:t>
            </a:r>
            <a:r>
              <a:rPr lang="es-ES" sz="2000" b="1" dirty="0"/>
              <a:t>más simples,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formadas por productos de letras y números</a:t>
            </a:r>
            <a:r>
              <a:rPr lang="es-ES" sz="2000" b="1" dirty="0"/>
              <a:t>, se llaman monomios.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5FEE5CF0-2DDB-A9A1-344A-DD3A41486DD8}"/>
              </a:ext>
            </a:extLst>
          </p:cNvPr>
          <p:cNvSpPr/>
          <p:nvPr/>
        </p:nvSpPr>
        <p:spPr>
          <a:xfrm>
            <a:off x="535084" y="199214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CuadroTexto 1">
            <a:extLst>
              <a:ext uri="{FF2B5EF4-FFF2-40B4-BE49-F238E27FC236}">
                <a16:creationId xmlns:a16="http://schemas.microsoft.com/office/drawing/2014/main" id="{BA1A0D72-9E57-942A-0A4D-77FCA309E5E7}"/>
              </a:ext>
            </a:extLst>
          </p:cNvPr>
          <p:cNvSpPr txBox="1"/>
          <p:nvPr/>
        </p:nvSpPr>
        <p:spPr>
          <a:xfrm>
            <a:off x="535084" y="202129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monomio consiste en el producto de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número conocido (coeficiente) </a:t>
            </a:r>
            <a:r>
              <a:rPr lang="es-ES" sz="2000" b="1" dirty="0"/>
              <a:t>por una 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varias letras (parte literal).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!Marco 10">
            <a:extLst>
              <a:ext uri="{FF2B5EF4-FFF2-40B4-BE49-F238E27FC236}">
                <a16:creationId xmlns:a16="http://schemas.microsoft.com/office/drawing/2014/main" id="{916B4B40-173E-FAD7-12D9-41C81A7F6718}"/>
              </a:ext>
            </a:extLst>
          </p:cNvPr>
          <p:cNvSpPr/>
          <p:nvPr/>
        </p:nvSpPr>
        <p:spPr>
          <a:xfrm>
            <a:off x="535084" y="2935311"/>
            <a:ext cx="11121832" cy="493689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067EAB0B-3BC6-2949-F4F5-EF46E0C66E01}"/>
              </a:ext>
            </a:extLst>
          </p:cNvPr>
          <p:cNvSpPr txBox="1"/>
          <p:nvPr/>
        </p:nvSpPr>
        <p:spPr>
          <a:xfrm>
            <a:off x="535084" y="298210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El grado de un monomio es la suma de sus exponentes.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Tabla 7">
                <a:extLst>
                  <a:ext uri="{FF2B5EF4-FFF2-40B4-BE49-F238E27FC236}">
                    <a16:creationId xmlns:a16="http://schemas.microsoft.com/office/drawing/2014/main" id="{1D85AD01-A227-DD46-D114-AD03AEE07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801066"/>
                  </p:ext>
                </p:extLst>
              </p:nvPr>
            </p:nvGraphicFramePr>
            <p:xfrm>
              <a:off x="3846285" y="3716075"/>
              <a:ext cx="4499430" cy="1504552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49715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49715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</a:tblGrid>
                  <a:tr h="3202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MONOMIO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GRADO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421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1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4215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-3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a</a:t>
                          </a:r>
                          <a:r>
                            <a:rPr lang="es-ES" sz="2000" baseline="30000" dirty="0"/>
                            <a:t>2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b</a:t>
                          </a:r>
                          <a:r>
                            <a:rPr lang="es-ES" sz="2000" baseline="30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 + 3 = 5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170722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5</a:t>
                          </a:r>
                          <a14:m>
                            <m:oMath xmlns:m="http://schemas.openxmlformats.org/officeDocument/2006/math">
                              <m:r>
                                <a:rPr lang="es-ES" sz="20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</m:oMath>
                          </a14:m>
                          <a:r>
                            <a:rPr lang="es-ES" sz="2000" dirty="0"/>
                            <a:t>x</a:t>
                          </a:r>
                          <a:r>
                            <a:rPr lang="es-ES" sz="2000" baseline="30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Tabla 7">
                <a:extLst>
                  <a:ext uri="{FF2B5EF4-FFF2-40B4-BE49-F238E27FC236}">
                    <a16:creationId xmlns:a16="http://schemas.microsoft.com/office/drawing/2014/main" id="{1D85AD01-A227-DD46-D114-AD03AEE074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4801066"/>
                  </p:ext>
                </p:extLst>
              </p:nvPr>
            </p:nvGraphicFramePr>
            <p:xfrm>
              <a:off x="3846285" y="3716075"/>
              <a:ext cx="4499430" cy="1504552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2249715">
                      <a:extLst>
                        <a:ext uri="{9D8B030D-6E8A-4147-A177-3AD203B41FA5}">
                          <a16:colId xmlns:a16="http://schemas.microsoft.com/office/drawing/2014/main" val="1661500128"/>
                        </a:ext>
                      </a:extLst>
                    </a:gridCol>
                    <a:gridCol w="2249715">
                      <a:extLst>
                        <a:ext uri="{9D8B030D-6E8A-4147-A177-3AD203B41FA5}">
                          <a16:colId xmlns:a16="http://schemas.microsoft.com/office/drawing/2014/main" val="2421302338"/>
                        </a:ext>
                      </a:extLst>
                    </a:gridCol>
                  </a:tblGrid>
                  <a:tr h="35327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MONOMIO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1800" dirty="0"/>
                            <a:t>GRADO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3452666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101587" r="-100541" b="-2301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1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440481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198438" r="-100541" b="-126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2 + 3 = 5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3029610"/>
                      </a:ext>
                    </a:extLst>
                  </a:tr>
                  <a:tr h="383758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70" t="-303175" r="-100541" b="-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sz="2000" dirty="0"/>
                            <a:t>3</a:t>
                          </a:r>
                        </a:p>
                      </a:txBody>
                      <a:tcPr marL="78958" marR="78958" marT="39479" marB="39479">
                        <a:lnL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37440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ángulo 3">
            <a:extLst>
              <a:ext uri="{FF2B5EF4-FFF2-40B4-BE49-F238E27FC236}">
                <a16:creationId xmlns:a16="http://schemas.microsoft.com/office/drawing/2014/main" id="{71D97CC1-B70E-62A1-A153-BB7C71C72F6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9D3A61-BB06-32EF-D813-2EDCCF803AAD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633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monomios sólo se pueden sumar o restar cuando 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monomios semejantes</a:t>
            </a:r>
            <a:r>
              <a:rPr lang="es-ES" sz="2000" b="1" dirty="0"/>
              <a:t>,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tienen misma parte literal.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1E11616-34B1-AB8F-3EAA-C00A1E983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2984552"/>
            <a:ext cx="409810" cy="51909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B050988-937C-5805-4E76-839221D98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78" y="2984552"/>
            <a:ext cx="409810" cy="51909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8C192E6-7F09-AE85-3500-51553BC7D7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78" y="2984552"/>
            <a:ext cx="409810" cy="5190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ABE3583-BE1E-B70A-B1BC-DF7434473A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2984552"/>
            <a:ext cx="409810" cy="519094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AEE1A3A-3E49-0EEB-0413-B7AF2240E3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4152621"/>
            <a:ext cx="409810" cy="519094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35E8007-1191-B6EC-664A-ED27D2B38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7178" y="4152621"/>
            <a:ext cx="409810" cy="5190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D3BF33-95AD-280B-1B91-CD1EB6C91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4152621"/>
            <a:ext cx="409810" cy="519094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7209C51F-7A4A-1735-1954-102BE802DE60}"/>
              </a:ext>
            </a:extLst>
          </p:cNvPr>
          <p:cNvSpPr txBox="1"/>
          <p:nvPr/>
        </p:nvSpPr>
        <p:spPr>
          <a:xfrm>
            <a:off x="4942586" y="3538695"/>
            <a:ext cx="65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+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3F33ECC-B8ED-2366-1CE3-ED25FD630E2C}"/>
              </a:ext>
            </a:extLst>
          </p:cNvPr>
          <p:cNvCxnSpPr>
            <a:cxnSpLocks/>
          </p:cNvCxnSpPr>
          <p:nvPr/>
        </p:nvCxnSpPr>
        <p:spPr>
          <a:xfrm>
            <a:off x="4315622" y="4820669"/>
            <a:ext cx="18636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AAB5CB-2188-60E1-F30F-FAE35E1B5815}"/>
              </a:ext>
            </a:extLst>
          </p:cNvPr>
          <p:cNvSpPr txBox="1"/>
          <p:nvPr/>
        </p:nvSpPr>
        <p:spPr>
          <a:xfrm>
            <a:off x="4434855" y="4901847"/>
            <a:ext cx="167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7a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9BAF317-C9A3-BEA5-A2D0-1ED94FE82630}"/>
              </a:ext>
            </a:extLst>
          </p:cNvPr>
          <p:cNvGrpSpPr/>
          <p:nvPr/>
        </p:nvGrpSpPr>
        <p:grpSpPr>
          <a:xfrm>
            <a:off x="8001583" y="3010773"/>
            <a:ext cx="1462697" cy="1638299"/>
            <a:chOff x="7388581" y="6424257"/>
            <a:chExt cx="1462697" cy="1638299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6F14AB5-4CB2-2223-9572-EB65C427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8674" y="6562905"/>
              <a:ext cx="416652" cy="52776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E898F85-C919-F467-8789-743140B8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034" y="7280949"/>
              <a:ext cx="454282" cy="546588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5D61346-FA2B-4EE1-2C1C-B143EF25B2A2}"/>
                </a:ext>
              </a:extLst>
            </p:cNvPr>
            <p:cNvSpPr txBox="1"/>
            <p:nvPr/>
          </p:nvSpPr>
          <p:spPr>
            <a:xfrm>
              <a:off x="7720912" y="6657233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CEFA63F-89C3-3BB0-D5D0-E8305EB4CAC2}"/>
                </a:ext>
              </a:extLst>
            </p:cNvPr>
            <p:cNvSpPr txBox="1"/>
            <p:nvPr/>
          </p:nvSpPr>
          <p:spPr>
            <a:xfrm>
              <a:off x="7735087" y="7365872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b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DC46D98F-05C6-2F1B-8E5D-E285BDFFEFB4}"/>
                </a:ext>
              </a:extLst>
            </p:cNvPr>
            <p:cNvSpPr/>
            <p:nvPr/>
          </p:nvSpPr>
          <p:spPr>
            <a:xfrm>
              <a:off x="7388581" y="6424257"/>
              <a:ext cx="1448523" cy="1638299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00"/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5D8337B-1EC6-BD2D-C599-9A14FE53A54C}"/>
              </a:ext>
            </a:extLst>
          </p:cNvPr>
          <p:cNvSpPr txBox="1"/>
          <p:nvPr/>
        </p:nvSpPr>
        <p:spPr>
          <a:xfrm>
            <a:off x="5952502" y="3044408"/>
            <a:ext cx="134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4a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92615B3-A3EC-1777-C786-E613F0B42704}"/>
              </a:ext>
            </a:extLst>
          </p:cNvPr>
          <p:cNvSpPr txBox="1"/>
          <p:nvPr/>
        </p:nvSpPr>
        <p:spPr>
          <a:xfrm>
            <a:off x="5915165" y="4210050"/>
            <a:ext cx="1419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3a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D73DA82-FC19-0509-B140-86D79D0229C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F7F06B-2591-427F-02A1-AFFE13E03CF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70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75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2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25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75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15" grpId="0"/>
      <p:bldP spid="17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monomios sólo se pueden sumar o restar cuando 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monomios semejantes</a:t>
            </a:r>
            <a:r>
              <a:rPr lang="es-ES" sz="2000" b="1" dirty="0"/>
              <a:t>,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tienen misma parte literal.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AAB5CB-2188-60E1-F30F-FAE35E1B5815}"/>
              </a:ext>
            </a:extLst>
          </p:cNvPr>
          <p:cNvSpPr txBox="1"/>
          <p:nvPr/>
        </p:nvSpPr>
        <p:spPr>
          <a:xfrm>
            <a:off x="4434855" y="4901847"/>
            <a:ext cx="1674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4a + 3b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9BAF317-C9A3-BEA5-A2D0-1ED94FE82630}"/>
              </a:ext>
            </a:extLst>
          </p:cNvPr>
          <p:cNvGrpSpPr/>
          <p:nvPr/>
        </p:nvGrpSpPr>
        <p:grpSpPr>
          <a:xfrm>
            <a:off x="8001583" y="3010773"/>
            <a:ext cx="1462697" cy="1638299"/>
            <a:chOff x="7388581" y="6424257"/>
            <a:chExt cx="1462697" cy="1638299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56F14AB5-4CB2-2223-9572-EB65C42732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8674" y="6562905"/>
              <a:ext cx="416652" cy="527760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CE898F85-C919-F467-8789-743140B8A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034" y="7280949"/>
              <a:ext cx="454282" cy="546588"/>
            </a:xfrm>
            <a:prstGeom prst="rect">
              <a:avLst/>
            </a:prstGeom>
          </p:spPr>
        </p:pic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E5D61346-FA2B-4EE1-2C1C-B143EF25B2A2}"/>
                </a:ext>
              </a:extLst>
            </p:cNvPr>
            <p:cNvSpPr txBox="1"/>
            <p:nvPr/>
          </p:nvSpPr>
          <p:spPr>
            <a:xfrm>
              <a:off x="7720912" y="6657233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a</a:t>
              </a: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CCEFA63F-89C3-3BB0-D5D0-E8305EB4CAC2}"/>
                </a:ext>
              </a:extLst>
            </p:cNvPr>
            <p:cNvSpPr txBox="1"/>
            <p:nvPr/>
          </p:nvSpPr>
          <p:spPr>
            <a:xfrm>
              <a:off x="7735087" y="7365872"/>
              <a:ext cx="11161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/>
                <a:t>= b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DC46D98F-05C6-2F1B-8E5D-E285BDFFEFB4}"/>
                </a:ext>
              </a:extLst>
            </p:cNvPr>
            <p:cNvSpPr/>
            <p:nvPr/>
          </p:nvSpPr>
          <p:spPr>
            <a:xfrm>
              <a:off x="7388581" y="6424257"/>
              <a:ext cx="1448523" cy="1638299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100"/>
            </a:p>
          </p:txBody>
        </p:sp>
      </p:grpSp>
      <p:sp>
        <p:nvSpPr>
          <p:cNvPr id="10" name="!Marco 10">
            <a:extLst>
              <a:ext uri="{FF2B5EF4-FFF2-40B4-BE49-F238E27FC236}">
                <a16:creationId xmlns:a16="http://schemas.microsoft.com/office/drawing/2014/main" id="{EC9355EB-D40A-5B2C-F482-4AB872B5EDD7}"/>
              </a:ext>
            </a:extLst>
          </p:cNvPr>
          <p:cNvSpPr/>
          <p:nvPr/>
        </p:nvSpPr>
        <p:spPr>
          <a:xfrm>
            <a:off x="535084" y="1962743"/>
            <a:ext cx="11121832" cy="489476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CuadroTexto 1">
            <a:extLst>
              <a:ext uri="{FF2B5EF4-FFF2-40B4-BE49-F238E27FC236}">
                <a16:creationId xmlns:a16="http://schemas.microsoft.com/office/drawing/2014/main" id="{62719BAF-217A-51EC-0E8A-8633ACEDC8CC}"/>
              </a:ext>
            </a:extLst>
          </p:cNvPr>
          <p:cNvSpPr txBox="1"/>
          <p:nvPr/>
        </p:nvSpPr>
        <p:spPr>
          <a:xfrm>
            <a:off x="535084" y="199189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Cuando no son semejantes </a:t>
            </a:r>
            <a:r>
              <a:rPr lang="es-ES" sz="2000" b="1" dirty="0"/>
              <a:t>la operación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se deja indicada.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84672A34-2A63-A0B4-5C0F-546D628369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047" y="4191220"/>
            <a:ext cx="454282" cy="54658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98FC7E1-A285-1626-3EB3-271A8D330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465" y="4191220"/>
            <a:ext cx="454282" cy="546588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75950C7-1D62-697C-4A62-73B8909C9E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302" y="4191220"/>
            <a:ext cx="454282" cy="54658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CFED3542-C035-79DB-3640-06B77FD65A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378" y="2984552"/>
            <a:ext cx="409810" cy="519094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DEED6D1-5AB3-9269-B93E-9CA118610A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578" y="2984552"/>
            <a:ext cx="409810" cy="51909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8BAB54FA-5DB1-3408-5356-03BA1B0C14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78" y="2984552"/>
            <a:ext cx="409810" cy="519094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24BC7070-89FE-362B-40E6-B29A7D08F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2978" y="2984552"/>
            <a:ext cx="409810" cy="519094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B2CE7AD1-9238-B1AB-F008-70EB5069B064}"/>
              </a:ext>
            </a:extLst>
          </p:cNvPr>
          <p:cNvSpPr txBox="1"/>
          <p:nvPr/>
        </p:nvSpPr>
        <p:spPr>
          <a:xfrm>
            <a:off x="4942586" y="3538695"/>
            <a:ext cx="6589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/>
              <a:t>+</a:t>
            </a: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E1F0328F-C7DE-BF98-7956-18FDCA87DCF0}"/>
              </a:ext>
            </a:extLst>
          </p:cNvPr>
          <p:cNvCxnSpPr>
            <a:cxnSpLocks/>
          </p:cNvCxnSpPr>
          <p:nvPr/>
        </p:nvCxnSpPr>
        <p:spPr>
          <a:xfrm>
            <a:off x="4315622" y="4820669"/>
            <a:ext cx="1863643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466A6A0-6756-B77D-F157-83523031C432}"/>
              </a:ext>
            </a:extLst>
          </p:cNvPr>
          <p:cNvSpPr txBox="1"/>
          <p:nvPr/>
        </p:nvSpPr>
        <p:spPr>
          <a:xfrm>
            <a:off x="5952502" y="3044408"/>
            <a:ext cx="1344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4a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E4C55DC5-9DE3-D5F1-22C1-3E71640001F0}"/>
              </a:ext>
            </a:extLst>
          </p:cNvPr>
          <p:cNvSpPr txBox="1"/>
          <p:nvPr/>
        </p:nvSpPr>
        <p:spPr>
          <a:xfrm>
            <a:off x="5915165" y="4210050"/>
            <a:ext cx="14196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= 3b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9E2029-0835-5767-6F3B-8887862049E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767C7E2-3F70-B46F-83E9-BA5926657EE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180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5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5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0" grpId="0" animBg="1"/>
      <p:bldP spid="11" grpId="0"/>
      <p:bldP spid="34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otro monomio.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E5EF1D93-4DFA-852A-870D-7C704A932AD6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EB963E2B-DF6A-3243-6137-22A2556F7C35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EDBE128-8ABD-A862-B849-E0B55C9CB8AF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2F239C8D-E473-1B51-3132-8B71C675F096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D8476F3E-7296-A1F6-5F11-8A3DFE14B145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D9453F87-37D8-D29E-CF5E-CDC533B4C34D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3EBEE637-0400-36C2-054C-66F767358FF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0D6163A3-7083-B596-AA58-77403C7E060E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2A6E28E-C9C7-4F11-00E1-29A5866B7E92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44A5C920-D97A-3276-5CE8-E462E1A9920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03D872A5-77B8-E5A5-D44E-FD72C96245B9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08C5535A-1A82-DFC0-A1C6-5D5871E5096E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AD14AD5C-B608-D702-E3FF-9E8A5C37DDA1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EB97929C-813B-248A-59B0-0BA5AA0BCE70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513A67AA-4E12-7C41-697B-A9D5A6269840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72612D78-B015-8245-8B7B-E091B33DB5B5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64D34716-D8D0-1E39-9B2E-C281566153E6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blipFill>
                <a:blip r:embed="rId7"/>
                <a:stretch>
                  <a:fillRect l="-166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A862B64B-4715-3618-0D2C-44CCC0BDDBED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E211FE-6533-D728-198E-5A008D045407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061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25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5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8" grpId="0"/>
      <p:bldP spid="29" grpId="0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otro monomio.</a:t>
            </a:r>
          </a:p>
        </p:txBody>
      </p: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</m:oMath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9259"/>
                <a:ext cx="3305746" cy="392993"/>
              </a:xfrm>
              <a:prstGeom prst="rect">
                <a:avLst/>
              </a:prstGeom>
              <a:blipFill>
                <a:blip r:embed="rId7"/>
                <a:stretch>
                  <a:fillRect l="-166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/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upo 8">
            <a:extLst>
              <a:ext uri="{FF2B5EF4-FFF2-40B4-BE49-F238E27FC236}">
                <a16:creationId xmlns:a16="http://schemas.microsoft.com/office/drawing/2014/main" id="{586C6F2A-99ED-1473-F752-D3476B2F2C82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10" name="CuadroTexto 12">
              <a:extLst>
                <a:ext uri="{FF2B5EF4-FFF2-40B4-BE49-F238E27FC236}">
                  <a16:creationId xmlns:a16="http://schemas.microsoft.com/office/drawing/2014/main" id="{766BBAF6-71E4-4576-D1C2-869FBDD0700D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1" name="CuadroTexto 13">
              <a:extLst>
                <a:ext uri="{FF2B5EF4-FFF2-40B4-BE49-F238E27FC236}">
                  <a16:creationId xmlns:a16="http://schemas.microsoft.com/office/drawing/2014/main" id="{2F760D9C-805F-9F42-3A5B-1563147A462D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23420AE9-8ACA-9101-CD0F-129DE118B66D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951523B7-562E-D166-0158-B981D47876DF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33" name="CuadroTexto 27">
              <a:extLst>
                <a:ext uri="{FF2B5EF4-FFF2-40B4-BE49-F238E27FC236}">
                  <a16:creationId xmlns:a16="http://schemas.microsoft.com/office/drawing/2014/main" id="{5E382203-B173-8D1B-4795-5DEC174A7F1E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4" name="CuadroTexto 29">
              <a:extLst>
                <a:ext uri="{FF2B5EF4-FFF2-40B4-BE49-F238E27FC236}">
                  <a16:creationId xmlns:a16="http://schemas.microsoft.com/office/drawing/2014/main" id="{F806F71C-612B-0700-D1B9-5695D9841B21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5" name="CuadroTexto 30">
              <a:extLst>
                <a:ext uri="{FF2B5EF4-FFF2-40B4-BE49-F238E27FC236}">
                  <a16:creationId xmlns:a16="http://schemas.microsoft.com/office/drawing/2014/main" id="{B8A1FDA4-B3C0-9513-DA23-5D87218677A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E5366DC0-A60E-7AEC-2692-0B1F3FDB25B8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37" name="CuadroTexto 27">
              <a:extLst>
                <a:ext uri="{FF2B5EF4-FFF2-40B4-BE49-F238E27FC236}">
                  <a16:creationId xmlns:a16="http://schemas.microsoft.com/office/drawing/2014/main" id="{BA6A3435-BD4E-52F2-8098-8956FE218900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8" name="CuadroTexto 27">
              <a:extLst>
                <a:ext uri="{FF2B5EF4-FFF2-40B4-BE49-F238E27FC236}">
                  <a16:creationId xmlns:a16="http://schemas.microsoft.com/office/drawing/2014/main" id="{62AE8D51-8F72-D19E-5EF2-58D9B15DCF51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9" name="CuadroTexto 27">
              <a:extLst>
                <a:ext uri="{FF2B5EF4-FFF2-40B4-BE49-F238E27FC236}">
                  <a16:creationId xmlns:a16="http://schemas.microsoft.com/office/drawing/2014/main" id="{D7C6CC23-6A14-A610-A8AB-1826732C3DB5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0" name="CuadroTexto 27">
              <a:extLst>
                <a:ext uri="{FF2B5EF4-FFF2-40B4-BE49-F238E27FC236}">
                  <a16:creationId xmlns:a16="http://schemas.microsoft.com/office/drawing/2014/main" id="{1546DF1A-79B7-C4B7-7308-301B2F773401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1" name="CuadroTexto 27">
              <a:extLst>
                <a:ext uri="{FF2B5EF4-FFF2-40B4-BE49-F238E27FC236}">
                  <a16:creationId xmlns:a16="http://schemas.microsoft.com/office/drawing/2014/main" id="{BFC9E738-80D0-ED36-3034-AD6124A08725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2" name="CuadroTexto 13">
              <a:extLst>
                <a:ext uri="{FF2B5EF4-FFF2-40B4-BE49-F238E27FC236}">
                  <a16:creationId xmlns:a16="http://schemas.microsoft.com/office/drawing/2014/main" id="{83ADC8EE-31E0-51BC-AFB5-7C2D19124E2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F4FA620F-F905-FB81-C536-A86AA8E6C1F0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DA736932-346C-AE4A-13FD-5EE0E5537F3F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3E07E4C0-0F1D-3FEB-EBE1-0C060441262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4970746-2CC6-CD95-65B5-582531C266EA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569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Al multiplicar dos monomios obtendrás </a:t>
            </a:r>
            <a:r>
              <a:rPr lang="es-ES" sz="2000" b="1" dirty="0"/>
              <a:t>otro producto con más factores; es decir,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otro monomio.</a:t>
            </a:r>
          </a:p>
        </p:txBody>
      </p:sp>
      <p:sp>
        <p:nvSpPr>
          <p:cNvPr id="28" name="CuadroTexto 1">
            <a:extLst>
              <a:ext uri="{FF2B5EF4-FFF2-40B4-BE49-F238E27FC236}">
                <a16:creationId xmlns:a16="http://schemas.microsoft.com/office/drawing/2014/main" id="{F96F8BE5-A80A-9459-E3CD-9220235B9B5E}"/>
              </a:ext>
            </a:extLst>
          </p:cNvPr>
          <p:cNvSpPr txBox="1"/>
          <p:nvPr/>
        </p:nvSpPr>
        <p:spPr>
          <a:xfrm>
            <a:off x="572905" y="1938732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/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𝟐𝐱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  <m:r>
                          <a:rPr lang="es-E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𝟖</m:t>
                    </m:r>
                    <m:r>
                      <a:rPr lang="es-E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</m:oMath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29" name="CuadroTexto 1">
                <a:extLst>
                  <a:ext uri="{FF2B5EF4-FFF2-40B4-BE49-F238E27FC236}">
                    <a16:creationId xmlns:a16="http://schemas.microsoft.com/office/drawing/2014/main" id="{42F9CCEB-F14D-5AA4-D763-0876DC05B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2348932"/>
                <a:ext cx="3189205" cy="392993"/>
              </a:xfrm>
              <a:prstGeom prst="rect">
                <a:avLst/>
              </a:prstGeom>
              <a:blipFill>
                <a:blip r:embed="rId6"/>
                <a:stretch>
                  <a:fillRect l="-1721" t="-3077" b="-246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/>
              <p:nvPr/>
            </p:nvSpPr>
            <p:spPr>
              <a:xfrm>
                <a:off x="674583" y="2810294"/>
                <a:ext cx="330574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𝟓𝐚</m:t>
                        </m:r>
                      </m:e>
                    </m:d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𝟏𝟎</m:t>
                    </m:r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0" name="CuadroTexto 1">
                <a:extLst>
                  <a:ext uri="{FF2B5EF4-FFF2-40B4-BE49-F238E27FC236}">
                    <a16:creationId xmlns:a16="http://schemas.microsoft.com/office/drawing/2014/main" id="{EC6EA9A6-D5BF-7049-2391-4252F2494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3" y="2810294"/>
                <a:ext cx="3305746" cy="407099"/>
              </a:xfrm>
              <a:prstGeom prst="rect">
                <a:avLst/>
              </a:prstGeom>
              <a:blipFill>
                <a:blip r:embed="rId7"/>
                <a:stretch>
                  <a:fillRect l="-1661" t="-1493" b="-238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/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ES" sz="2000" b="1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</m:t>
                            </m:r>
                          </m:den>
                        </m:f>
                        <m:r>
                          <a:rPr lang="es-ES" sz="2000" b="1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𝟔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𝒙𝒚</m:t>
                    </m:r>
                    <m:r>
                      <a:rPr lang="es-ES" sz="2000" b="1" i="1" smtClean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1" name="CuadroTexto 1">
                <a:extLst>
                  <a:ext uri="{FF2B5EF4-FFF2-40B4-BE49-F238E27FC236}">
                    <a16:creationId xmlns:a16="http://schemas.microsoft.com/office/drawing/2014/main" id="{30C36286-7975-A8B3-E7F7-6AEFD8635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82" y="3289184"/>
                <a:ext cx="3485041" cy="5529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/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𝟐𝐱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2" name="CuadroTexto 1">
                <a:extLst>
                  <a:ext uri="{FF2B5EF4-FFF2-40B4-BE49-F238E27FC236}">
                    <a16:creationId xmlns:a16="http://schemas.microsoft.com/office/drawing/2014/main" id="{CEB764C9-7006-67EE-FFE2-C0FED90DC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0619" y="4036178"/>
                <a:ext cx="6647614" cy="51328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/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sSup>
                        <m:sSup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0A194F6B-B1FF-5CE5-5443-F6C3DB989B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160" y="4662687"/>
                <a:ext cx="7422797" cy="5329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2F56068E-9816-BBBC-9DE3-349FBB82DB95}"/>
                  </a:ext>
                </a:extLst>
              </p:cNvPr>
              <p:cNvSpPr txBox="1"/>
              <p:nvPr/>
            </p:nvSpPr>
            <p:spPr>
              <a:xfrm>
                <a:off x="2112301" y="5249636"/>
                <a:ext cx="7422797" cy="1060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s-ES" sz="28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𝟑</m:t>
                                  </m:r>
                                </m:den>
                              </m:f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𝒙𝒚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2F56068E-9816-BBBC-9DE3-349FBB82D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301" y="5249636"/>
                <a:ext cx="7422797" cy="10604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o 9">
            <a:extLst>
              <a:ext uri="{FF2B5EF4-FFF2-40B4-BE49-F238E27FC236}">
                <a16:creationId xmlns:a16="http://schemas.microsoft.com/office/drawing/2014/main" id="{13F6E149-6390-AFA6-B377-4AFDCC7C8E11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11" name="CuadroTexto 12">
              <a:extLst>
                <a:ext uri="{FF2B5EF4-FFF2-40B4-BE49-F238E27FC236}">
                  <a16:creationId xmlns:a16="http://schemas.microsoft.com/office/drawing/2014/main" id="{C230FF91-AFBB-D9CE-C809-15DCFCF7FD61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5" name="CuadroTexto 13">
              <a:extLst>
                <a:ext uri="{FF2B5EF4-FFF2-40B4-BE49-F238E27FC236}">
                  <a16:creationId xmlns:a16="http://schemas.microsoft.com/office/drawing/2014/main" id="{36F301BD-EF46-18D3-DD26-3196435C5C30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825F1200-C4CD-69AC-94F6-B643C975ECE3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33" name="CuadroTexto 26">
              <a:extLst>
                <a:ext uri="{FF2B5EF4-FFF2-40B4-BE49-F238E27FC236}">
                  <a16:creationId xmlns:a16="http://schemas.microsoft.com/office/drawing/2014/main" id="{85BB14D6-2FC6-29A9-069A-1CCE8049AA23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34" name="CuadroTexto 27">
              <a:extLst>
                <a:ext uri="{FF2B5EF4-FFF2-40B4-BE49-F238E27FC236}">
                  <a16:creationId xmlns:a16="http://schemas.microsoft.com/office/drawing/2014/main" id="{527C1442-1BC6-B4B5-4A71-6393D9BA274A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5" name="CuadroTexto 29">
              <a:extLst>
                <a:ext uri="{FF2B5EF4-FFF2-40B4-BE49-F238E27FC236}">
                  <a16:creationId xmlns:a16="http://schemas.microsoft.com/office/drawing/2014/main" id="{54565AF9-908E-EDDF-229A-E508CEADA5CB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6" name="CuadroTexto 30">
              <a:extLst>
                <a:ext uri="{FF2B5EF4-FFF2-40B4-BE49-F238E27FC236}">
                  <a16:creationId xmlns:a16="http://schemas.microsoft.com/office/drawing/2014/main" id="{A9587FDF-0EB3-EF17-7AF7-A6922C69CE6E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F06FEA74-6DB7-265D-B673-4FF2FEE8A72E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38" name="CuadroTexto 27">
              <a:extLst>
                <a:ext uri="{FF2B5EF4-FFF2-40B4-BE49-F238E27FC236}">
                  <a16:creationId xmlns:a16="http://schemas.microsoft.com/office/drawing/2014/main" id="{832B12F4-3E6A-965C-FCEB-1609217F90DE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39" name="CuadroTexto 27">
              <a:extLst>
                <a:ext uri="{FF2B5EF4-FFF2-40B4-BE49-F238E27FC236}">
                  <a16:creationId xmlns:a16="http://schemas.microsoft.com/office/drawing/2014/main" id="{9EC720D0-26C5-B333-C7E2-BA5E0373F747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0" name="CuadroTexto 27">
              <a:extLst>
                <a:ext uri="{FF2B5EF4-FFF2-40B4-BE49-F238E27FC236}">
                  <a16:creationId xmlns:a16="http://schemas.microsoft.com/office/drawing/2014/main" id="{BC230795-41EC-5AB0-95EF-2D99A3CF3032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41" name="CuadroTexto 27">
              <a:extLst>
                <a:ext uri="{FF2B5EF4-FFF2-40B4-BE49-F238E27FC236}">
                  <a16:creationId xmlns:a16="http://schemas.microsoft.com/office/drawing/2014/main" id="{C3D103A5-DF62-F232-3513-C0FF65CB13CE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2" name="CuadroTexto 27">
              <a:extLst>
                <a:ext uri="{FF2B5EF4-FFF2-40B4-BE49-F238E27FC236}">
                  <a16:creationId xmlns:a16="http://schemas.microsoft.com/office/drawing/2014/main" id="{CA9FF6FE-994C-D6EC-3A04-A3DDED4DBB7F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43" name="CuadroTexto 13">
              <a:extLst>
                <a:ext uri="{FF2B5EF4-FFF2-40B4-BE49-F238E27FC236}">
                  <a16:creationId xmlns:a16="http://schemas.microsoft.com/office/drawing/2014/main" id="{6C9B94C8-3AAE-5566-0B3D-189843FA822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44" name="Elipse 43">
              <a:extLst>
                <a:ext uri="{FF2B5EF4-FFF2-40B4-BE49-F238E27FC236}">
                  <a16:creationId xmlns:a16="http://schemas.microsoft.com/office/drawing/2014/main" id="{944F3F9B-3343-249E-4C67-F5CEF28F7F68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A9A9D844-9CEF-0CD2-DE46-90A7EA6D8119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14FA3769-1B64-1418-C21C-28F1E56E2680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370B5B-579E-6D93-E4E0-DDE8C81E341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6980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11651"/>
              </a:xfrm>
              <a:prstGeom prst="rect">
                <a:avLst/>
              </a:prstGeom>
              <a:blipFill>
                <a:blip r:embed="rId6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F8DB36A5-8B4D-97B4-03D1-215FDDA392E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B589AC8-1C5E-7C7F-ADBE-450B753B9E28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083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5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6" grpId="0"/>
      <p:bldP spid="47" grpId="0"/>
      <p:bldP spid="48" grpId="0"/>
      <p:bldP spid="49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7" name="CuadroTexto 1">
                <a:extLst>
                  <a:ext uri="{FF2B5EF4-FFF2-40B4-BE49-F238E27FC236}">
                    <a16:creationId xmlns:a16="http://schemas.microsoft.com/office/drawing/2014/main" id="{BD1DDF0B-FCBA-1228-73C3-1DD1E6EB2D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blipFill>
                <a:blip r:embed="rId6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980514" cy="7178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/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12A174DB-4981-5FF7-17D5-DD89E93D111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086ADD-A8E0-D634-2D88-C9BE010CC22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5: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Álgebra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117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6618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78122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monomios se dividen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una parte los coeficientes </a:t>
            </a:r>
            <a:r>
              <a:rPr lang="es-ES" sz="2000" b="1" dirty="0"/>
              <a:t>y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por otra las partes literales.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5AB3BE0-49C8-6589-B791-57825FE3CE80}"/>
              </a:ext>
            </a:extLst>
          </p:cNvPr>
          <p:cNvGrpSpPr/>
          <p:nvPr/>
        </p:nvGrpSpPr>
        <p:grpSpPr>
          <a:xfrm>
            <a:off x="9592105" y="1801694"/>
            <a:ext cx="2064811" cy="2174536"/>
            <a:chOff x="6755143" y="4856744"/>
            <a:chExt cx="2308473" cy="2431144"/>
          </a:xfrm>
        </p:grpSpPr>
        <p:sp>
          <p:nvSpPr>
            <p:cNvPr id="5" name="CuadroTexto 12">
              <a:extLst>
                <a:ext uri="{FF2B5EF4-FFF2-40B4-BE49-F238E27FC236}">
                  <a16:creationId xmlns:a16="http://schemas.microsoft.com/office/drawing/2014/main" id="{3BB35FB2-8D63-EF7E-CD8C-446A4735009E}"/>
                </a:ext>
              </a:extLst>
            </p:cNvPr>
            <p:cNvSpPr txBox="1"/>
            <p:nvPr/>
          </p:nvSpPr>
          <p:spPr>
            <a:xfrm>
              <a:off x="6906230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7" name="CuadroTexto 13">
              <a:extLst>
                <a:ext uri="{FF2B5EF4-FFF2-40B4-BE49-F238E27FC236}">
                  <a16:creationId xmlns:a16="http://schemas.microsoft.com/office/drawing/2014/main" id="{20E09C0D-288E-1342-9DC6-02DFDC43EC75}"/>
                </a:ext>
              </a:extLst>
            </p:cNvPr>
            <p:cNvSpPr txBox="1"/>
            <p:nvPr/>
          </p:nvSpPr>
          <p:spPr>
            <a:xfrm>
              <a:off x="7550755" y="4927892"/>
              <a:ext cx="469210" cy="10322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EA6F2184-28EA-3334-0EE9-C64F55F7966F}"/>
                </a:ext>
              </a:extLst>
            </p:cNvPr>
            <p:cNvSpPr/>
            <p:nvPr/>
          </p:nvSpPr>
          <p:spPr>
            <a:xfrm>
              <a:off x="7420379" y="5412568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12" name="CuadroTexto 26">
              <a:extLst>
                <a:ext uri="{FF2B5EF4-FFF2-40B4-BE49-F238E27FC236}">
                  <a16:creationId xmlns:a16="http://schemas.microsoft.com/office/drawing/2014/main" id="{3DCFCC85-E72E-1FAA-E491-E3F409E2043B}"/>
                </a:ext>
              </a:extLst>
            </p:cNvPr>
            <p:cNvSpPr txBox="1"/>
            <p:nvPr/>
          </p:nvSpPr>
          <p:spPr>
            <a:xfrm>
              <a:off x="6906230" y="5652661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13" name="CuadroTexto 27">
              <a:extLst>
                <a:ext uri="{FF2B5EF4-FFF2-40B4-BE49-F238E27FC236}">
                  <a16:creationId xmlns:a16="http://schemas.microsoft.com/office/drawing/2014/main" id="{20E87CC0-6CEC-C497-72BB-30CBDBC6487B}"/>
                </a:ext>
              </a:extLst>
            </p:cNvPr>
            <p:cNvSpPr txBox="1"/>
            <p:nvPr/>
          </p:nvSpPr>
          <p:spPr>
            <a:xfrm>
              <a:off x="7550755" y="5566823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4" name="CuadroTexto 29">
              <a:extLst>
                <a:ext uri="{FF2B5EF4-FFF2-40B4-BE49-F238E27FC236}">
                  <a16:creationId xmlns:a16="http://schemas.microsoft.com/office/drawing/2014/main" id="{5E52EBA2-064B-E9A4-813A-109C265E6586}"/>
                </a:ext>
              </a:extLst>
            </p:cNvPr>
            <p:cNvSpPr txBox="1"/>
            <p:nvPr/>
          </p:nvSpPr>
          <p:spPr>
            <a:xfrm>
              <a:off x="6906230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5" name="CuadroTexto 30">
              <a:extLst>
                <a:ext uri="{FF2B5EF4-FFF2-40B4-BE49-F238E27FC236}">
                  <a16:creationId xmlns:a16="http://schemas.microsoft.com/office/drawing/2014/main" id="{D6844A26-B113-B9BE-F52E-2DFF6DA8B416}"/>
                </a:ext>
              </a:extLst>
            </p:cNvPr>
            <p:cNvSpPr txBox="1"/>
            <p:nvPr/>
          </p:nvSpPr>
          <p:spPr>
            <a:xfrm>
              <a:off x="7550755" y="617931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E757731D-4CAC-C41F-E82C-63779F961359}"/>
                </a:ext>
              </a:extLst>
            </p:cNvPr>
            <p:cNvSpPr/>
            <p:nvPr/>
          </p:nvSpPr>
          <p:spPr>
            <a:xfrm>
              <a:off x="6755143" y="5071434"/>
              <a:ext cx="2308473" cy="2045241"/>
            </a:xfrm>
            <a:prstGeom prst="rect">
              <a:avLst/>
            </a:prstGeom>
            <a:noFill/>
            <a:ln w="38100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200" dirty="0"/>
            </a:p>
          </p:txBody>
        </p:sp>
        <p:sp>
          <p:nvSpPr>
            <p:cNvPr id="17" name="CuadroTexto 27">
              <a:extLst>
                <a:ext uri="{FF2B5EF4-FFF2-40B4-BE49-F238E27FC236}">
                  <a16:creationId xmlns:a16="http://schemas.microsoft.com/office/drawing/2014/main" id="{D031994B-1E74-D978-5CE9-239BE8972E81}"/>
                </a:ext>
              </a:extLst>
            </p:cNvPr>
            <p:cNvSpPr txBox="1"/>
            <p:nvPr/>
          </p:nvSpPr>
          <p:spPr>
            <a:xfrm>
              <a:off x="7962815" y="5090073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8" name="CuadroTexto 27">
              <a:extLst>
                <a:ext uri="{FF2B5EF4-FFF2-40B4-BE49-F238E27FC236}">
                  <a16:creationId xmlns:a16="http://schemas.microsoft.com/office/drawing/2014/main" id="{F059FE05-914D-6636-BC76-8F6521B52E9F}"/>
                </a:ext>
              </a:extLst>
            </p:cNvPr>
            <p:cNvSpPr txBox="1"/>
            <p:nvPr/>
          </p:nvSpPr>
          <p:spPr>
            <a:xfrm>
              <a:off x="7964928" y="5808115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19" name="CuadroTexto 27">
              <a:extLst>
                <a:ext uri="{FF2B5EF4-FFF2-40B4-BE49-F238E27FC236}">
                  <a16:creationId xmlns:a16="http://schemas.microsoft.com/office/drawing/2014/main" id="{694FB67F-4C6D-05DA-D521-79560F7234AD}"/>
                </a:ext>
              </a:extLst>
            </p:cNvPr>
            <p:cNvSpPr txBox="1"/>
            <p:nvPr/>
          </p:nvSpPr>
          <p:spPr>
            <a:xfrm>
              <a:off x="7962815" y="6417318"/>
              <a:ext cx="469210" cy="7226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3600" b="1" dirty="0"/>
                <a:t>=</a:t>
              </a:r>
            </a:p>
          </p:txBody>
        </p:sp>
        <p:sp>
          <p:nvSpPr>
            <p:cNvPr id="20" name="CuadroTexto 27">
              <a:extLst>
                <a:ext uri="{FF2B5EF4-FFF2-40B4-BE49-F238E27FC236}">
                  <a16:creationId xmlns:a16="http://schemas.microsoft.com/office/drawing/2014/main" id="{31D9F204-4C52-FF10-5A1D-F467DED06FE3}"/>
                </a:ext>
              </a:extLst>
            </p:cNvPr>
            <p:cNvSpPr txBox="1"/>
            <p:nvPr/>
          </p:nvSpPr>
          <p:spPr>
            <a:xfrm>
              <a:off x="8426164" y="5579265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1" name="CuadroTexto 27">
              <a:extLst>
                <a:ext uri="{FF2B5EF4-FFF2-40B4-BE49-F238E27FC236}">
                  <a16:creationId xmlns:a16="http://schemas.microsoft.com/office/drawing/2014/main" id="{1197F853-A167-154E-868A-FD757019A3CD}"/>
                </a:ext>
              </a:extLst>
            </p:cNvPr>
            <p:cNvSpPr txBox="1"/>
            <p:nvPr/>
          </p:nvSpPr>
          <p:spPr>
            <a:xfrm>
              <a:off x="8422967" y="4856744"/>
              <a:ext cx="469210" cy="10322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-</a:t>
              </a:r>
            </a:p>
          </p:txBody>
        </p:sp>
        <p:sp>
          <p:nvSpPr>
            <p:cNvPr id="22" name="CuadroTexto 13">
              <a:extLst>
                <a:ext uri="{FF2B5EF4-FFF2-40B4-BE49-F238E27FC236}">
                  <a16:creationId xmlns:a16="http://schemas.microsoft.com/office/drawing/2014/main" id="{F582BF46-ED85-6CD3-E930-ED0020892D76}"/>
                </a:ext>
              </a:extLst>
            </p:cNvPr>
            <p:cNvSpPr txBox="1"/>
            <p:nvPr/>
          </p:nvSpPr>
          <p:spPr>
            <a:xfrm>
              <a:off x="8448978" y="6255599"/>
              <a:ext cx="469210" cy="10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s-ES" sz="5400" b="1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+</a:t>
              </a: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13168918-56EB-1914-6538-8C993EB58D5B}"/>
                </a:ext>
              </a:extLst>
            </p:cNvPr>
            <p:cNvSpPr/>
            <p:nvPr/>
          </p:nvSpPr>
          <p:spPr>
            <a:xfrm>
              <a:off x="7420379" y="6130596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A4E8F8A-7667-CE49-5966-0C262A96E528}"/>
                </a:ext>
              </a:extLst>
            </p:cNvPr>
            <p:cNvSpPr/>
            <p:nvPr/>
          </p:nvSpPr>
          <p:spPr>
            <a:xfrm>
              <a:off x="7420379" y="6743973"/>
              <a:ext cx="88612" cy="886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ES" sz="1200"/>
            </a:p>
          </p:txBody>
        </p:sp>
      </p:grpSp>
      <p:sp>
        <p:nvSpPr>
          <p:cNvPr id="46" name="CuadroTexto 1">
            <a:extLst>
              <a:ext uri="{FF2B5EF4-FFF2-40B4-BE49-F238E27FC236}">
                <a16:creationId xmlns:a16="http://schemas.microsoft.com/office/drawing/2014/main" id="{318DBF0E-FF53-E762-6908-350C7DE394A5}"/>
              </a:ext>
            </a:extLst>
          </p:cNvPr>
          <p:cNvSpPr txBox="1"/>
          <p:nvPr/>
        </p:nvSpPr>
        <p:spPr>
          <a:xfrm>
            <a:off x="535084" y="1924733"/>
            <a:ext cx="25437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EJEMPLOS:</a:t>
            </a:r>
            <a:endParaRPr lang="es-ES" sz="2000" b="1" baseline="300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/>
              <p:nvPr/>
            </p:nvSpPr>
            <p:spPr>
              <a:xfrm>
                <a:off x="594203" y="2919355"/>
                <a:ext cx="1622108" cy="717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f>
                            <m:fPr>
                              <m:ctrlPr>
                                <a:rPr lang="es-E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s-E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den>
                          </m:f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</m:oMath>
                  </m:oMathPara>
                </a14:m>
                <a:endParaRPr lang="es-ES" sz="2000" b="1" baseline="30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8" name="CuadroTexto 1">
                <a:extLst>
                  <a:ext uri="{FF2B5EF4-FFF2-40B4-BE49-F238E27FC236}">
                    <a16:creationId xmlns:a16="http://schemas.microsoft.com/office/drawing/2014/main" id="{171565AE-5290-EAA9-82CE-B0C3749F9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919355"/>
                <a:ext cx="1622108" cy="7178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/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8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9" name="CuadroTexto 1">
                <a:extLst>
                  <a:ext uri="{FF2B5EF4-FFF2-40B4-BE49-F238E27FC236}">
                    <a16:creationId xmlns:a16="http://schemas.microsoft.com/office/drawing/2014/main" id="{C2AABED2-CAA4-AF0A-7388-54580D0E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2434417"/>
                <a:ext cx="6647614" cy="5393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/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000" b="1" i="1" smtClean="0">
                              <a:solidFill>
                                <a:schemeClr val="accent5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s-ES" sz="2000" b="1" i="1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𝟗</m:t>
                              </m:r>
                              <m:sSup>
                                <m:sSupPr>
                                  <m:ctrlP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 smtClean="0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s-ES" sz="2000" b="1" i="1" smtClean="0">
                                  <a:solidFill>
                                    <a:schemeClr val="accent5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solidFill>
                                        <a:schemeClr val="accent5">
                                          <a:lumMod val="60000"/>
                                          <a:lumOff val="4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𝟓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s-ES" sz="2000" b="1" baseline="30000" dirty="0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0" name="CuadroTexto 1">
                <a:extLst>
                  <a:ext uri="{FF2B5EF4-FFF2-40B4-BE49-F238E27FC236}">
                    <a16:creationId xmlns:a16="http://schemas.microsoft.com/office/drawing/2014/main" id="{34BBD9F9-E743-BFE0-2517-814E4E1EF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3701684"/>
                <a:ext cx="1111895" cy="72622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/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1" name="CuadroTexto 1">
                <a:extLst>
                  <a:ext uri="{FF2B5EF4-FFF2-40B4-BE49-F238E27FC236}">
                    <a16:creationId xmlns:a16="http://schemas.microsoft.com/office/drawing/2014/main" id="{E929C3F2-CD92-C654-412D-48A283BA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971" y="3197549"/>
                <a:ext cx="6647614" cy="9679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E1BAC5A5-CC76-D9D4-517C-242F80D6A9C0}"/>
                  </a:ext>
                </a:extLst>
              </p:cNvPr>
              <p:cNvSpPr txBox="1"/>
              <p:nvPr/>
            </p:nvSpPr>
            <p:spPr>
              <a:xfrm>
                <a:off x="2611152" y="4356122"/>
                <a:ext cx="6647614" cy="97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sSup>
                            <m:sSupPr>
                              <m:ctrlP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sSup>
                            <m:sSupPr>
                              <m:ctrlP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num>
                        <m:den>
                          <m:r>
                            <a:rPr lang="es-E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s-ES" sz="28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den>
                      </m:f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8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CuadroTexto 1">
                <a:extLst>
                  <a:ext uri="{FF2B5EF4-FFF2-40B4-BE49-F238E27FC236}">
                    <a16:creationId xmlns:a16="http://schemas.microsoft.com/office/drawing/2014/main" id="{E1BAC5A5-CC76-D9D4-517C-242F80D6A9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152" y="4356122"/>
                <a:ext cx="6647614" cy="97975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BBA407D7-9AF6-6D49-94A2-CBA73D0D3733}"/>
                  </a:ext>
                </a:extLst>
              </p:cNvPr>
              <p:cNvSpPr txBox="1"/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"/>
                          <m:ctrlP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sSup>
                            <m:sSupPr>
                              <m:ctrlP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p>
                              <m:r>
                                <a:rPr lang="es-ES" sz="20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sup>
                          </m:sSup>
                        </m:e>
                      </m:d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s-E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E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s-ES" sz="2000" b="1" baseline="300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1">
                <a:extLst>
                  <a:ext uri="{FF2B5EF4-FFF2-40B4-BE49-F238E27FC236}">
                    <a16:creationId xmlns:a16="http://schemas.microsoft.com/office/drawing/2014/main" id="{BBA407D7-9AF6-6D49-94A2-CBA73D0D3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203" y="2443200"/>
                <a:ext cx="2350757" cy="426463"/>
              </a:xfrm>
              <a:prstGeom prst="rect">
                <a:avLst/>
              </a:prstGeom>
              <a:blipFill>
                <a:blip r:embed="rId11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29346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B88E6F53-E9BD-49C6-AB7C-BFE0096BA2C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Monomi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5 - Álgebra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D911C68-E0BE-428A-8442-06B2E2590B66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442A026-5060-43D8-A830-6E73D2345745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0E6BB7D-8C4E-4292-A5CD-DE26FE99A69E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3AE60DA2-E81A-42D8-A78A-BF5214CC736B}:26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3E2DA1E-EC10-4DF1-A517-F55F95FA5C53}:26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1C283AF-6009-44F5-846E-EC951B44F873}:26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15AC13E-0F99-47DE-85DB-8641D60650DE}:26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717B15B-196A-4D5A-9248-835AA3CBDBF8}:26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972D274B-67C1-478B-8639-E29A310C61BD}:26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3D6B24A-E190-44E1-88AD-F0B29E301AD3}:26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8215761-F1BE-49CC-98C9-D5D7395C84F1}:26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769</Words>
  <Application>Microsoft Office PowerPoint</Application>
  <PresentationFormat>Panorámica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Monomios</dc:title>
  <dc:creator>Illán Linos Souto</dc:creator>
  <cp:lastModifiedBy>Illán Linos</cp:lastModifiedBy>
  <cp:revision>52</cp:revision>
  <dcterms:created xsi:type="dcterms:W3CDTF">2024-08-18T18:48:07Z</dcterms:created>
  <dcterms:modified xsi:type="dcterms:W3CDTF">2025-11-18T12:34:45Z</dcterms:modified>
</cp:coreProperties>
</file>