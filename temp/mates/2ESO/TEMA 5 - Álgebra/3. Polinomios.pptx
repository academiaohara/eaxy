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custDataLst>
    <p:tags r:id="rId4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DC88F6-0D4D-424F-9308-F9220F87E1D7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7CEC71-71E2-4DB0-BA0C-1B4C5C62C01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01010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7CEC71-71E2-4DB0-BA0C-1B4C5C62C010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37120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Un polinomio es una expresión algebraica formada por sumas y/o restas de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uno o más monomios no semejantes.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26470EF-D911-AAB2-F8F3-74B9873B214E}"/>
              </a:ext>
            </a:extLst>
          </p:cNvPr>
          <p:cNvSpPr txBox="1"/>
          <p:nvPr/>
        </p:nvSpPr>
        <p:spPr>
          <a:xfrm>
            <a:off x="535084" y="1899154"/>
            <a:ext cx="1112183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800" b="1"/>
            </a:lvl1pPr>
          </a:lstStyle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ES" sz="2000" dirty="0"/>
              <a:t>CADA UNO DE </a:t>
            </a:r>
            <a:r>
              <a:rPr lang="es-E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LOS SUMANDOS SE DENOMINA TÉRMINO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ES" sz="2000" dirty="0"/>
              <a:t>UN TÉRMINO </a:t>
            </a:r>
            <a:r>
              <a:rPr lang="es-E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PUEDE TENER COEFICIENTE Y PARTE LITERAL, O SOLO COEFICIENTE Y/O PARTE LITERAL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ES" sz="2000" dirty="0"/>
              <a:t>EXISTEN TÉRMINOS QUE </a:t>
            </a:r>
            <a:r>
              <a:rPr lang="es-E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SOLO TIENEN NÚMEROS</a:t>
            </a:r>
            <a:r>
              <a:rPr lang="es-ES" sz="2000" dirty="0"/>
              <a:t>, SON </a:t>
            </a:r>
            <a:r>
              <a:rPr lang="es-E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LOS TÉRMINOS INDEPENDIENTES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ES" sz="2000" dirty="0"/>
              <a:t>LOS POLINOMIOS TAMBIÉN </a:t>
            </a:r>
            <a:r>
              <a:rPr lang="es-E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SE PUEDEN CLASIFICAR POR GRADOS</a:t>
            </a:r>
          </a:p>
        </p:txBody>
      </p:sp>
      <p:graphicFrame>
        <p:nvGraphicFramePr>
          <p:cNvPr id="5" name="Tabla 7">
            <a:extLst>
              <a:ext uri="{FF2B5EF4-FFF2-40B4-BE49-F238E27FC236}">
                <a16:creationId xmlns:a16="http://schemas.microsoft.com/office/drawing/2014/main" id="{FDD75943-43A3-99C4-8D46-59CC45C3C6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0628855"/>
              </p:ext>
            </p:extLst>
          </p:nvPr>
        </p:nvGraphicFramePr>
        <p:xfrm>
          <a:off x="2259998" y="3737390"/>
          <a:ext cx="7672004" cy="128524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918001">
                  <a:extLst>
                    <a:ext uri="{9D8B030D-6E8A-4147-A177-3AD203B41FA5}">
                      <a16:colId xmlns:a16="http://schemas.microsoft.com/office/drawing/2014/main" val="1661500128"/>
                    </a:ext>
                  </a:extLst>
                </a:gridCol>
                <a:gridCol w="1918001">
                  <a:extLst>
                    <a:ext uri="{9D8B030D-6E8A-4147-A177-3AD203B41FA5}">
                      <a16:colId xmlns:a16="http://schemas.microsoft.com/office/drawing/2014/main" val="2421302338"/>
                    </a:ext>
                  </a:extLst>
                </a:gridCol>
                <a:gridCol w="2451168">
                  <a:extLst>
                    <a:ext uri="{9D8B030D-6E8A-4147-A177-3AD203B41FA5}">
                      <a16:colId xmlns:a16="http://schemas.microsoft.com/office/drawing/2014/main" val="1417959234"/>
                    </a:ext>
                  </a:extLst>
                </a:gridCol>
                <a:gridCol w="1384834">
                  <a:extLst>
                    <a:ext uri="{9D8B030D-6E8A-4147-A177-3AD203B41FA5}">
                      <a16:colId xmlns:a16="http://schemas.microsoft.com/office/drawing/2014/main" val="27091421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POLINOMIO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TÉRMINOS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T. INDEPENDIENTE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GRADO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452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3x</a:t>
                      </a:r>
                      <a:r>
                        <a:rPr lang="es-ES" sz="2400" baseline="30000" dirty="0"/>
                        <a:t>3</a:t>
                      </a:r>
                      <a:r>
                        <a:rPr lang="es-ES" sz="2400" dirty="0"/>
                        <a:t>+5x-4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3x; 5x; -4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-4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440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-3ab+4b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-3ab; 4b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No tiene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3029610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3E7D832D-C90A-9CCC-A04B-34D3730601E3}"/>
              </a:ext>
            </a:extLst>
          </p:cNvPr>
          <p:cNvSpPr txBox="1"/>
          <p:nvPr/>
        </p:nvSpPr>
        <p:spPr>
          <a:xfrm>
            <a:off x="535084" y="5229650"/>
            <a:ext cx="101908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b="1" i="0" u="none" strike="noStrike" baseline="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El término de mayor grado determina el grado del polinomio </a:t>
            </a:r>
            <a:r>
              <a:rPr lang="es-ES" sz="2000" b="1" i="0" u="none" strike="noStrike" baseline="0" dirty="0"/>
              <a:t>sumando los exponentes de su parte literal.</a:t>
            </a:r>
            <a:endParaRPr lang="es-ES" sz="2000" b="1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4ECD082-7602-0FDA-E4F3-2BD9F7F539A4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1BA57E8-34CA-12E7-7F3F-8BF78CE0D096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5: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Álgebra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00"/>
                            </p:stCondLst>
                            <p:childTnLst>
                              <p:par>
                                <p:cTn id="3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4" grpId="0" uiExpand="1" build="p"/>
      <p:bldP spid="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BE55F549-43FD-44E7-9FA5-747FD924C249"/>
  <p:tag name="ISPRING_CMI5_LAUNCH_METHOD" val="any window"/>
  <p:tag name="ISPRING_SCORM_RATE_SLIDES" val="1"/>
  <p:tag name="ISPRINGCLOUDFOLDERID" val="1"/>
  <p:tag name="ISPRINGONLINEFOLDERID" val="1"/>
  <p:tag name="ISPRING_SCORM_PASSING_SCORE" val="100.000000"/>
  <p:tag name="ISPRING_PRESENTATION_TITLE" val="3. Polinomios"/>
  <p:tag name="ISPRING_OUTPUT_FOLDER" val="[[&quot;\uFFFD\/\uFFFD\uFFFD{21D528DD-60A0-4F5B-BB24-A0E5BDBD4B43}&quot;,&quot;C:\\Users\\34717\\Desktop\\Apuntes\\1 ESO\\TEMA 10-Álgebra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FIRST_PUBLISH" val="1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SCORM_RATE_QUIZZES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84326667-1B3C-4612-969B-25324F761861}:257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485</TotalTime>
  <Words>115</Words>
  <Application>Microsoft Office PowerPoint</Application>
  <PresentationFormat>Panorámica</PresentationFormat>
  <Paragraphs>20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Arial</vt:lpstr>
      <vt:lpstr>Century Gothic</vt:lpstr>
      <vt:lpstr>SF Fedora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 Polinomios</dc:title>
  <dc:creator>Illán Linos Souto</dc:creator>
  <cp:lastModifiedBy>Illán Linos</cp:lastModifiedBy>
  <cp:revision>52</cp:revision>
  <dcterms:created xsi:type="dcterms:W3CDTF">2024-08-18T18:48:07Z</dcterms:created>
  <dcterms:modified xsi:type="dcterms:W3CDTF">2025-11-18T12:35:04Z</dcterms:modified>
</cp:coreProperties>
</file>