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custDataLst>
    <p:tags r:id="rId9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EF4246"/>
    <a:srgbClr val="5759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801613-D5E6-4F47-B29B-CCF8353C6873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07C575-6A04-4FB9-A999-C494DE9748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43490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07C575-6A04-4FB9-A999-C494DE97489A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6940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07C575-6A04-4FB9-A999-C494DE97489A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81637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07C575-6A04-4FB9-A999-C494DE97489A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4701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07C575-6A04-4FB9-A999-C494DE97489A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85371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07C575-6A04-4FB9-A999-C494DE97489A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21907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07C575-6A04-4FB9-A999-C494DE97489A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89772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33793"/>
            <a:ext cx="11121832" cy="1085454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68689"/>
            <a:ext cx="11121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1.º Se multiplican como si fueran números naturales, sin tener en cuenta la coma.</a:t>
            </a:r>
          </a:p>
          <a:p>
            <a:r>
              <a:rPr lang="es-ES" sz="2000" b="1" dirty="0">
                <a:latin typeface="Century Gothic" panose="020B0502020202020204" pitchFamily="34" charset="0"/>
              </a:rPr>
              <a:t>2.º En el resultado obtenido se coloca la coma. para ello, se cuentan desde la derecha tantos lugares como cifras decimales tengan los dos factores.</a:t>
            </a:r>
          </a:p>
        </p:txBody>
      </p:sp>
      <p:sp>
        <p:nvSpPr>
          <p:cNvPr id="4" name="CuadroTexto 1">
            <a:extLst>
              <a:ext uri="{FF2B5EF4-FFF2-40B4-BE49-F238E27FC236}">
                <a16:creationId xmlns:a16="http://schemas.microsoft.com/office/drawing/2014/main" id="{4F802150-2CC9-A03F-B19C-375BAEABCF21}"/>
              </a:ext>
            </a:extLst>
          </p:cNvPr>
          <p:cNvSpPr txBox="1"/>
          <p:nvPr/>
        </p:nvSpPr>
        <p:spPr>
          <a:xfrm>
            <a:off x="690632" y="2349647"/>
            <a:ext cx="18747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EJEMPLO: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5" name="CuadroTexto 1">
            <a:extLst>
              <a:ext uri="{FF2B5EF4-FFF2-40B4-BE49-F238E27FC236}">
                <a16:creationId xmlns:a16="http://schemas.microsoft.com/office/drawing/2014/main" id="{A73A01A0-F05E-0811-9164-7CBB46C4AC11}"/>
              </a:ext>
            </a:extLst>
          </p:cNvPr>
          <p:cNvSpPr txBox="1"/>
          <p:nvPr/>
        </p:nvSpPr>
        <p:spPr>
          <a:xfrm>
            <a:off x="2197570" y="2333580"/>
            <a:ext cx="2217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>
                <a:latin typeface="Century Gothic" panose="020B0502020202020204" pitchFamily="34" charset="0"/>
              </a:rPr>
              <a:t>¿3,52 X 5,1?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7" name="CuadroTexto 1">
            <a:extLst>
              <a:ext uri="{FF2B5EF4-FFF2-40B4-BE49-F238E27FC236}">
                <a16:creationId xmlns:a16="http://schemas.microsoft.com/office/drawing/2014/main" id="{164106E4-C499-7846-E643-892CBDAE24AC}"/>
              </a:ext>
            </a:extLst>
          </p:cNvPr>
          <p:cNvSpPr txBox="1"/>
          <p:nvPr/>
        </p:nvSpPr>
        <p:spPr>
          <a:xfrm>
            <a:off x="5192746" y="2438907"/>
            <a:ext cx="1495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2400" b="1" dirty="0">
                <a:latin typeface="Century Gothic" panose="020B0502020202020204" pitchFamily="34" charset="0"/>
              </a:rPr>
              <a:t>3,52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8" name="CuadroTexto 1">
            <a:extLst>
              <a:ext uri="{FF2B5EF4-FFF2-40B4-BE49-F238E27FC236}">
                <a16:creationId xmlns:a16="http://schemas.microsoft.com/office/drawing/2014/main" id="{CF658A8E-D0FC-A9C0-8F60-7F9EBBFC6BA8}"/>
              </a:ext>
            </a:extLst>
          </p:cNvPr>
          <p:cNvSpPr txBox="1"/>
          <p:nvPr/>
        </p:nvSpPr>
        <p:spPr>
          <a:xfrm>
            <a:off x="5192746" y="2864741"/>
            <a:ext cx="1495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2400" b="1" dirty="0">
                <a:latin typeface="Century Gothic" panose="020B0502020202020204" pitchFamily="34" charset="0"/>
              </a:rPr>
              <a:t>5,1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12" name="CuadroTexto 1">
            <a:extLst>
              <a:ext uri="{FF2B5EF4-FFF2-40B4-BE49-F238E27FC236}">
                <a16:creationId xmlns:a16="http://schemas.microsoft.com/office/drawing/2014/main" id="{82EA9582-0C46-5E4A-D99A-664BAF357970}"/>
              </a:ext>
            </a:extLst>
          </p:cNvPr>
          <p:cNvSpPr txBox="1"/>
          <p:nvPr/>
        </p:nvSpPr>
        <p:spPr>
          <a:xfrm>
            <a:off x="4761279" y="2864740"/>
            <a:ext cx="1495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x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4DAC5BEF-354B-6677-87EB-45E68A508987}"/>
              </a:ext>
            </a:extLst>
          </p:cNvPr>
          <p:cNvCxnSpPr>
            <a:cxnSpLocks/>
          </p:cNvCxnSpPr>
          <p:nvPr/>
        </p:nvCxnSpPr>
        <p:spPr>
          <a:xfrm>
            <a:off x="5146349" y="3354075"/>
            <a:ext cx="172435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CuadroTexto 1">
            <a:extLst>
              <a:ext uri="{FF2B5EF4-FFF2-40B4-BE49-F238E27FC236}">
                <a16:creationId xmlns:a16="http://schemas.microsoft.com/office/drawing/2014/main" id="{3280F8FF-F975-39BC-3D01-CA144C2A4958}"/>
              </a:ext>
            </a:extLst>
          </p:cNvPr>
          <p:cNvSpPr txBox="1"/>
          <p:nvPr/>
        </p:nvSpPr>
        <p:spPr>
          <a:xfrm>
            <a:off x="5192746" y="3332844"/>
            <a:ext cx="1495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2400" b="1" dirty="0">
                <a:latin typeface="Century Gothic" panose="020B0502020202020204" pitchFamily="34" charset="0"/>
              </a:rPr>
              <a:t>352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20" name="CuadroTexto 1">
            <a:extLst>
              <a:ext uri="{FF2B5EF4-FFF2-40B4-BE49-F238E27FC236}">
                <a16:creationId xmlns:a16="http://schemas.microsoft.com/office/drawing/2014/main" id="{76F96988-2028-2953-24B6-A9DD1C5EC99F}"/>
              </a:ext>
            </a:extLst>
          </p:cNvPr>
          <p:cNvSpPr txBox="1"/>
          <p:nvPr/>
        </p:nvSpPr>
        <p:spPr>
          <a:xfrm>
            <a:off x="5018933" y="3679881"/>
            <a:ext cx="1495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2400" b="1" dirty="0">
                <a:latin typeface="Century Gothic" panose="020B0502020202020204" pitchFamily="34" charset="0"/>
              </a:rPr>
              <a:t>1760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cxnSp>
        <p:nvCxnSpPr>
          <p:cNvPr id="21" name="Conector recto 20">
            <a:extLst>
              <a:ext uri="{FF2B5EF4-FFF2-40B4-BE49-F238E27FC236}">
                <a16:creationId xmlns:a16="http://schemas.microsoft.com/office/drawing/2014/main" id="{B6FEB5DE-0ED0-4BBC-712A-1E891D96F86A}"/>
              </a:ext>
            </a:extLst>
          </p:cNvPr>
          <p:cNvCxnSpPr>
            <a:cxnSpLocks/>
          </p:cNvCxnSpPr>
          <p:nvPr/>
        </p:nvCxnSpPr>
        <p:spPr>
          <a:xfrm>
            <a:off x="4925593" y="4136640"/>
            <a:ext cx="1940825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uadroTexto 1">
            <a:extLst>
              <a:ext uri="{FF2B5EF4-FFF2-40B4-BE49-F238E27FC236}">
                <a16:creationId xmlns:a16="http://schemas.microsoft.com/office/drawing/2014/main" id="{1708E093-7611-DFD4-109C-FC4C0EE7FAAB}"/>
              </a:ext>
            </a:extLst>
          </p:cNvPr>
          <p:cNvSpPr txBox="1"/>
          <p:nvPr/>
        </p:nvSpPr>
        <p:spPr>
          <a:xfrm>
            <a:off x="4415242" y="3690201"/>
            <a:ext cx="1495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+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23" name="CuadroTexto 1">
            <a:extLst>
              <a:ext uri="{FF2B5EF4-FFF2-40B4-BE49-F238E27FC236}">
                <a16:creationId xmlns:a16="http://schemas.microsoft.com/office/drawing/2014/main" id="{A2F3557A-416E-666D-BB0C-64575E4775E6}"/>
              </a:ext>
            </a:extLst>
          </p:cNvPr>
          <p:cNvSpPr txBox="1"/>
          <p:nvPr/>
        </p:nvSpPr>
        <p:spPr>
          <a:xfrm>
            <a:off x="5192746" y="4136639"/>
            <a:ext cx="1495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2400" b="1" dirty="0">
                <a:latin typeface="Century Gothic" panose="020B0502020202020204" pitchFamily="34" charset="0"/>
              </a:rPr>
              <a:t>17952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25" name="CuadroTexto 1">
            <a:extLst>
              <a:ext uri="{FF2B5EF4-FFF2-40B4-BE49-F238E27FC236}">
                <a16:creationId xmlns:a16="http://schemas.microsoft.com/office/drawing/2014/main" id="{D552C7AC-AF8A-4293-8CF6-90F2C2E21392}"/>
              </a:ext>
            </a:extLst>
          </p:cNvPr>
          <p:cNvSpPr txBox="1"/>
          <p:nvPr/>
        </p:nvSpPr>
        <p:spPr>
          <a:xfrm>
            <a:off x="5308505" y="4144251"/>
            <a:ext cx="1495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,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897B850-24B4-6F19-4474-FEAD48FE5442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07A0BE7-B596-7A61-3429-FBD3368411E9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2: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Sistema Decimal y Sexagesimal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5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5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25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75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6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25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75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4" grpId="0"/>
      <p:bldP spid="5" grpId="0"/>
      <p:bldP spid="7" grpId="0"/>
      <p:bldP spid="8" grpId="0"/>
      <p:bldP spid="12" grpId="0"/>
      <p:bldP spid="19" grpId="0"/>
      <p:bldP spid="20" grpId="0"/>
      <p:bldP spid="22" grpId="0"/>
      <p:bldP spid="23" grpId="0"/>
      <p:bldP spid="2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2321491"/>
            <a:ext cx="11121832" cy="1085454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2356387"/>
            <a:ext cx="11121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Si se multiplica un número decimal por un número natural terminado por ceros, antes de multiplicarlos se puede quitar los ceros y mover la coma hacia la derecha tantos ceros hayamos quitado.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63AFA2A-DE8E-2ED2-647E-FD5842B5FE8A}"/>
              </a:ext>
            </a:extLst>
          </p:cNvPr>
          <p:cNvSpPr txBox="1"/>
          <p:nvPr/>
        </p:nvSpPr>
        <p:spPr>
          <a:xfrm>
            <a:off x="4071755" y="3808144"/>
            <a:ext cx="2055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latin typeface="Century Gothic" panose="020B0502020202020204" pitchFamily="34" charset="0"/>
              </a:rPr>
              <a:t>3,52 X 500</a:t>
            </a:r>
            <a:endParaRPr lang="es-ES" sz="2800" b="1" baseline="30000" dirty="0">
              <a:latin typeface="Century Gothic" panose="020B0502020202020204" pitchFamily="34" charset="0"/>
            </a:endParaRP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C744302C-5EAE-8FF9-B0EF-8706EB7E96D4}"/>
              </a:ext>
            </a:extLst>
          </p:cNvPr>
          <p:cNvCxnSpPr>
            <a:cxnSpLocks/>
          </p:cNvCxnSpPr>
          <p:nvPr/>
        </p:nvCxnSpPr>
        <p:spPr>
          <a:xfrm>
            <a:off x="6089209" y="4069754"/>
            <a:ext cx="59244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8313DF78-CA7D-3D28-6347-08EBBC8D0ABB}"/>
              </a:ext>
            </a:extLst>
          </p:cNvPr>
          <p:cNvSpPr txBox="1"/>
          <p:nvPr/>
        </p:nvSpPr>
        <p:spPr>
          <a:xfrm>
            <a:off x="6719758" y="3808144"/>
            <a:ext cx="2055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latin typeface="Century Gothic" panose="020B0502020202020204" pitchFamily="34" charset="0"/>
              </a:rPr>
              <a:t>352 X 5</a:t>
            </a:r>
            <a:endParaRPr lang="es-ES" sz="28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2C66C074-03C7-6B98-1CE7-EFAC9260959A}"/>
              </a:ext>
            </a:extLst>
          </p:cNvPr>
          <p:cNvSpPr/>
          <p:nvPr/>
        </p:nvSpPr>
        <p:spPr>
          <a:xfrm>
            <a:off x="535084" y="1033793"/>
            <a:ext cx="11121832" cy="1085454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1FA52BCF-FC55-E063-5F5D-422F05A03261}"/>
              </a:ext>
            </a:extLst>
          </p:cNvPr>
          <p:cNvSpPr txBox="1"/>
          <p:nvPr/>
        </p:nvSpPr>
        <p:spPr>
          <a:xfrm>
            <a:off x="535084" y="1068689"/>
            <a:ext cx="11121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latin typeface="Century Gothic" panose="020B0502020202020204" pitchFamily="34" charset="0"/>
              </a:rPr>
              <a:t>1.º Se multiplican como si fueran números naturales, sin tener en cuenta la coma.</a:t>
            </a:r>
          </a:p>
          <a:p>
            <a:r>
              <a:rPr lang="es-ES" sz="2000" b="1" dirty="0">
                <a:latin typeface="Century Gothic" panose="020B0502020202020204" pitchFamily="34" charset="0"/>
              </a:rPr>
              <a:t>2.º En el resultado obtenido se coloca la coma. para ello, se cuentan desde la derecha tantos lugares como cifras decimales tengan los dos factores.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62BC958-1EC4-3A7E-C1E8-1901BE4246B4}"/>
              </a:ext>
            </a:extLst>
          </p:cNvPr>
          <p:cNvSpPr txBox="1"/>
          <p:nvPr/>
        </p:nvSpPr>
        <p:spPr>
          <a:xfrm>
            <a:off x="4071755" y="4435626"/>
            <a:ext cx="2055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latin typeface="Century Gothic" panose="020B0502020202020204" pitchFamily="34" charset="0"/>
              </a:rPr>
              <a:t>3,52 X 50</a:t>
            </a:r>
            <a:endParaRPr lang="es-ES" sz="2800" b="1" baseline="30000" dirty="0">
              <a:latin typeface="Century Gothic" panose="020B0502020202020204" pitchFamily="34" charset="0"/>
            </a:endParaRPr>
          </a:p>
        </p:txBody>
      </p: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DFF2EC6C-9AB2-804D-499D-F42B7C0DE7DC}"/>
              </a:ext>
            </a:extLst>
          </p:cNvPr>
          <p:cNvCxnSpPr>
            <a:cxnSpLocks/>
          </p:cNvCxnSpPr>
          <p:nvPr/>
        </p:nvCxnSpPr>
        <p:spPr>
          <a:xfrm>
            <a:off x="6089209" y="4697236"/>
            <a:ext cx="592449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9B2C8050-2E89-F336-F20A-5C0E76F80D68}"/>
              </a:ext>
            </a:extLst>
          </p:cNvPr>
          <p:cNvSpPr txBox="1"/>
          <p:nvPr/>
        </p:nvSpPr>
        <p:spPr>
          <a:xfrm>
            <a:off x="6719758" y="4435626"/>
            <a:ext cx="20555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>
                <a:latin typeface="Century Gothic" panose="020B0502020202020204" pitchFamily="34" charset="0"/>
              </a:rPr>
              <a:t>35,2 X 5</a:t>
            </a:r>
            <a:endParaRPr lang="es-ES" sz="28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20E9692-DF4D-A93E-1BC8-FFA67D452183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76C4D61-3C27-8D43-5479-21F37F3F3E26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2: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Sistema Decimal y Sexagesimal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68942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85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35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8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3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3" grpId="0"/>
      <p:bldP spid="10" grpId="0"/>
      <p:bldP spid="7" grpId="0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!Marco 10">
            <a:extLst>
              <a:ext uri="{FF2B5EF4-FFF2-40B4-BE49-F238E27FC236}">
                <a16:creationId xmlns:a16="http://schemas.microsoft.com/office/drawing/2014/main" id="{FFE03C4C-5383-A716-2BBD-ECC12D723078}"/>
              </a:ext>
            </a:extLst>
          </p:cNvPr>
          <p:cNvSpPr/>
          <p:nvPr/>
        </p:nvSpPr>
        <p:spPr>
          <a:xfrm>
            <a:off x="535084" y="1033793"/>
            <a:ext cx="11121832" cy="1085454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!CuadroTexto 1">
            <a:extLst>
              <a:ext uri="{FF2B5EF4-FFF2-40B4-BE49-F238E27FC236}">
                <a16:creationId xmlns:a16="http://schemas.microsoft.com/office/drawing/2014/main" id="{C5DE945A-44A1-0AF0-4C86-00E7E585EB82}"/>
              </a:ext>
            </a:extLst>
          </p:cNvPr>
          <p:cNvSpPr txBox="1"/>
          <p:nvPr/>
        </p:nvSpPr>
        <p:spPr>
          <a:xfrm>
            <a:off x="535084" y="1068689"/>
            <a:ext cx="11121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Cuando se dividen 2 números naturales:</a:t>
            </a:r>
          </a:p>
          <a:p>
            <a:r>
              <a:rPr lang="es-ES" sz="2000" b="1" dirty="0">
                <a:latin typeface="Century Gothic" panose="020B0502020202020204" pitchFamily="34" charset="0"/>
              </a:rPr>
              <a:t>1.º S</a:t>
            </a:r>
            <a:r>
              <a:rPr lang="es-ES" sz="2000" b="1" dirty="0"/>
              <a:t>i la división es exacta,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el resto es cero.</a:t>
            </a:r>
          </a:p>
          <a:p>
            <a:r>
              <a:rPr lang="es-ES" sz="2000" b="1" dirty="0"/>
              <a:t>2.º Si la división no es exacta,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el resto es distinto de cero y menor que el dividendo.</a:t>
            </a:r>
            <a:endParaRPr lang="es-ES" sz="2000" b="1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BFE0142-AC86-3F4B-2989-B03A429190CF}"/>
              </a:ext>
            </a:extLst>
          </p:cNvPr>
          <p:cNvSpPr txBox="1"/>
          <p:nvPr/>
        </p:nvSpPr>
        <p:spPr>
          <a:xfrm>
            <a:off x="2481851" y="2430081"/>
            <a:ext cx="3233499" cy="461665"/>
          </a:xfrm>
          <a:prstGeom prst="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DIVISIÓN EXACTA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688AC765-43D2-8263-1564-B18D58B40F54}"/>
              </a:ext>
            </a:extLst>
          </p:cNvPr>
          <p:cNvSpPr txBox="1"/>
          <p:nvPr/>
        </p:nvSpPr>
        <p:spPr>
          <a:xfrm>
            <a:off x="6341025" y="2430081"/>
            <a:ext cx="3577835" cy="461665"/>
          </a:xfrm>
          <a:prstGeom prst="rect">
            <a:avLst/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DIVISIÓN NO EXACTA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54D678EF-3FEC-4A70-236F-B2C0182A4ED2}"/>
              </a:ext>
            </a:extLst>
          </p:cNvPr>
          <p:cNvSpPr txBox="1"/>
          <p:nvPr/>
        </p:nvSpPr>
        <p:spPr>
          <a:xfrm>
            <a:off x="7274370" y="2986549"/>
            <a:ext cx="922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162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1E137F97-F1AF-F8D1-6593-1F2E8D602711}"/>
              </a:ext>
            </a:extLst>
          </p:cNvPr>
          <p:cNvGrpSpPr/>
          <p:nvPr/>
        </p:nvGrpSpPr>
        <p:grpSpPr>
          <a:xfrm>
            <a:off x="8304811" y="3037045"/>
            <a:ext cx="769857" cy="367419"/>
            <a:chOff x="3225536" y="8101469"/>
            <a:chExt cx="769857" cy="367419"/>
          </a:xfrm>
        </p:grpSpPr>
        <p:cxnSp>
          <p:nvCxnSpPr>
            <p:cNvPr id="19" name="Conector recto 18">
              <a:extLst>
                <a:ext uri="{FF2B5EF4-FFF2-40B4-BE49-F238E27FC236}">
                  <a16:creationId xmlns:a16="http://schemas.microsoft.com/office/drawing/2014/main" id="{81364A24-9AF3-0F1C-E9AE-EAC193ABC596}"/>
                </a:ext>
              </a:extLst>
            </p:cNvPr>
            <p:cNvCxnSpPr>
              <a:cxnSpLocks/>
            </p:cNvCxnSpPr>
            <p:nvPr/>
          </p:nvCxnSpPr>
          <p:spPr>
            <a:xfrm>
              <a:off x="3225536" y="8101469"/>
              <a:ext cx="2070" cy="367419"/>
            </a:xfrm>
            <a:prstGeom prst="line">
              <a:avLst/>
            </a:prstGeom>
            <a:ln w="381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Conector recto 19">
              <a:extLst>
                <a:ext uri="{FF2B5EF4-FFF2-40B4-BE49-F238E27FC236}">
                  <a16:creationId xmlns:a16="http://schemas.microsoft.com/office/drawing/2014/main" id="{C04DE90F-3813-3721-5842-A5425989D19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30080" y="8468888"/>
              <a:ext cx="765313" cy="0"/>
            </a:xfrm>
            <a:prstGeom prst="line">
              <a:avLst/>
            </a:prstGeom>
            <a:ln w="381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3F4B42D-B898-5B2B-7A09-C93099BFFB32}"/>
              </a:ext>
            </a:extLst>
          </p:cNvPr>
          <p:cNvSpPr txBox="1"/>
          <p:nvPr/>
        </p:nvSpPr>
        <p:spPr>
          <a:xfrm>
            <a:off x="8026654" y="2994307"/>
            <a:ext cx="922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5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9BE81D42-B0D6-0476-B41E-7FF59284F7C1}"/>
              </a:ext>
            </a:extLst>
          </p:cNvPr>
          <p:cNvSpPr txBox="1"/>
          <p:nvPr/>
        </p:nvSpPr>
        <p:spPr>
          <a:xfrm>
            <a:off x="8021338" y="3337657"/>
            <a:ext cx="922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3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830C4DAD-389E-AE35-A4FD-1D9F371A8E62}"/>
              </a:ext>
            </a:extLst>
          </p:cNvPr>
          <p:cNvSpPr txBox="1"/>
          <p:nvPr/>
        </p:nvSpPr>
        <p:spPr>
          <a:xfrm>
            <a:off x="7274370" y="3359766"/>
            <a:ext cx="922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012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1619CFE-7DA7-632B-A288-0CF35879BB56}"/>
              </a:ext>
            </a:extLst>
          </p:cNvPr>
          <p:cNvSpPr txBox="1"/>
          <p:nvPr/>
        </p:nvSpPr>
        <p:spPr>
          <a:xfrm>
            <a:off x="7364199" y="3715094"/>
            <a:ext cx="922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02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B51F128D-C293-0184-8BC1-F0884F17DF1A}"/>
              </a:ext>
            </a:extLst>
          </p:cNvPr>
          <p:cNvSpPr txBox="1"/>
          <p:nvPr/>
        </p:nvSpPr>
        <p:spPr>
          <a:xfrm>
            <a:off x="8228616" y="3337657"/>
            <a:ext cx="922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2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2223AE91-96C7-B530-8873-7323F9B5D420}"/>
              </a:ext>
            </a:extLst>
          </p:cNvPr>
          <p:cNvSpPr txBox="1"/>
          <p:nvPr/>
        </p:nvSpPr>
        <p:spPr>
          <a:xfrm>
            <a:off x="3394577" y="2986549"/>
            <a:ext cx="922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246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grpSp>
        <p:nvGrpSpPr>
          <p:cNvPr id="28" name="Grupo 27">
            <a:extLst>
              <a:ext uri="{FF2B5EF4-FFF2-40B4-BE49-F238E27FC236}">
                <a16:creationId xmlns:a16="http://schemas.microsoft.com/office/drawing/2014/main" id="{A77F0E53-1D77-CE26-CFA3-8B026B3BF246}"/>
              </a:ext>
            </a:extLst>
          </p:cNvPr>
          <p:cNvGrpSpPr/>
          <p:nvPr/>
        </p:nvGrpSpPr>
        <p:grpSpPr>
          <a:xfrm>
            <a:off x="4216541" y="3033128"/>
            <a:ext cx="653669" cy="368506"/>
            <a:chOff x="3227796" y="8102763"/>
            <a:chExt cx="653669" cy="368506"/>
          </a:xfrm>
        </p:grpSpPr>
        <p:cxnSp>
          <p:nvCxnSpPr>
            <p:cNvPr id="29" name="Conector recto 28">
              <a:extLst>
                <a:ext uri="{FF2B5EF4-FFF2-40B4-BE49-F238E27FC236}">
                  <a16:creationId xmlns:a16="http://schemas.microsoft.com/office/drawing/2014/main" id="{4F4D084E-E7A2-18D0-DFAA-7A53D88F11E0}"/>
                </a:ext>
              </a:extLst>
            </p:cNvPr>
            <p:cNvCxnSpPr>
              <a:cxnSpLocks/>
            </p:cNvCxnSpPr>
            <p:nvPr/>
          </p:nvCxnSpPr>
          <p:spPr>
            <a:xfrm>
              <a:off x="3227796" y="8102763"/>
              <a:ext cx="2070" cy="367419"/>
            </a:xfrm>
            <a:prstGeom prst="line">
              <a:avLst/>
            </a:prstGeom>
            <a:ln w="381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ector recto 29">
              <a:extLst>
                <a:ext uri="{FF2B5EF4-FFF2-40B4-BE49-F238E27FC236}">
                  <a16:creationId xmlns:a16="http://schemas.microsoft.com/office/drawing/2014/main" id="{21EE87A5-C079-DD97-1AC0-84D5E7C27A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30080" y="8471269"/>
              <a:ext cx="651385" cy="0"/>
            </a:xfrm>
            <a:prstGeom prst="line">
              <a:avLst/>
            </a:prstGeom>
            <a:ln w="38100" cap="rnd">
              <a:solidFill>
                <a:schemeClr val="tx1"/>
              </a:solidFill>
              <a:round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CuadroTexto 30">
            <a:extLst>
              <a:ext uri="{FF2B5EF4-FFF2-40B4-BE49-F238E27FC236}">
                <a16:creationId xmlns:a16="http://schemas.microsoft.com/office/drawing/2014/main" id="{D5096FEC-1129-A93D-DEAF-95E52A732539}"/>
              </a:ext>
            </a:extLst>
          </p:cNvPr>
          <p:cNvSpPr txBox="1"/>
          <p:nvPr/>
        </p:nvSpPr>
        <p:spPr>
          <a:xfrm>
            <a:off x="3961270" y="2971747"/>
            <a:ext cx="922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6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24F52372-8A95-6C08-F774-8AA8AA2A1B77}"/>
              </a:ext>
            </a:extLst>
          </p:cNvPr>
          <p:cNvSpPr txBox="1"/>
          <p:nvPr/>
        </p:nvSpPr>
        <p:spPr>
          <a:xfrm>
            <a:off x="3966285" y="3359700"/>
            <a:ext cx="922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4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EB1AB7C8-B975-ADA4-BFC5-51BBABD02D20}"/>
              </a:ext>
            </a:extLst>
          </p:cNvPr>
          <p:cNvSpPr txBox="1"/>
          <p:nvPr/>
        </p:nvSpPr>
        <p:spPr>
          <a:xfrm>
            <a:off x="3394577" y="3359766"/>
            <a:ext cx="922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006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23C626C1-6234-612B-6081-CC3D9DF31828}"/>
              </a:ext>
            </a:extLst>
          </p:cNvPr>
          <p:cNvSpPr txBox="1"/>
          <p:nvPr/>
        </p:nvSpPr>
        <p:spPr>
          <a:xfrm>
            <a:off x="3588837" y="3697583"/>
            <a:ext cx="922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0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DC700D50-6212-9434-B86D-C78967F58587}"/>
              </a:ext>
            </a:extLst>
          </p:cNvPr>
          <p:cNvSpPr txBox="1"/>
          <p:nvPr/>
        </p:nvSpPr>
        <p:spPr>
          <a:xfrm>
            <a:off x="4143908" y="3359700"/>
            <a:ext cx="922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1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F1045195-BF2B-3F4C-8D2B-9266A49E1513}"/>
              </a:ext>
            </a:extLst>
          </p:cNvPr>
          <p:cNvSpPr txBox="1"/>
          <p:nvPr/>
        </p:nvSpPr>
        <p:spPr>
          <a:xfrm>
            <a:off x="7635847" y="3715094"/>
            <a:ext cx="922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0</a:t>
            </a:r>
            <a:endParaRPr lang="es-ES" sz="2400" b="1" baseline="30000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0F35AA5B-4151-F02A-3430-88DCEE22B860}"/>
              </a:ext>
            </a:extLst>
          </p:cNvPr>
          <p:cNvSpPr txBox="1"/>
          <p:nvPr/>
        </p:nvSpPr>
        <p:spPr>
          <a:xfrm>
            <a:off x="8367138" y="3337657"/>
            <a:ext cx="922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,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2E47599A-9C1A-750A-2ED8-8323F97C92DE}"/>
              </a:ext>
            </a:extLst>
          </p:cNvPr>
          <p:cNvSpPr txBox="1"/>
          <p:nvPr/>
        </p:nvSpPr>
        <p:spPr>
          <a:xfrm>
            <a:off x="8492540" y="3337657"/>
            <a:ext cx="922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4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8B813A31-9EC7-B4EC-4AEF-C5081708F60D}"/>
              </a:ext>
            </a:extLst>
          </p:cNvPr>
          <p:cNvSpPr txBox="1"/>
          <p:nvPr/>
        </p:nvSpPr>
        <p:spPr>
          <a:xfrm>
            <a:off x="7356837" y="4058444"/>
            <a:ext cx="922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2400" b="1" dirty="0">
                <a:latin typeface="Century Gothic" panose="020B0502020202020204" pitchFamily="34" charset="0"/>
              </a:rPr>
              <a:t>00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7B6BEF6-9F87-781C-D7A8-EDB51C4FBF76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0C02042-DDFF-2BE4-5B64-8E56F4808D4C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2: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Sistema Decimal y Sexagesimal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714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500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1500"/>
                            </p:stCondLst>
                            <p:childTnLst>
                              <p:par>
                                <p:cTn id="7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500"/>
                            </p:stCondLst>
                            <p:childTnLst>
                              <p:par>
                                <p:cTn id="1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>
                      <p:stCondLst>
                        <p:cond delay="indefinite"/>
                      </p:stCondLst>
                      <p:childTnLst>
                        <p:par>
                          <p:cTn id="123" fill="hold">
                            <p:stCondLst>
                              <p:cond delay="0"/>
                            </p:stCondLst>
                            <p:childTnLst>
                              <p:par>
                                <p:cTn id="12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500"/>
                            </p:stCondLst>
                            <p:childTnLst>
                              <p:par>
                                <p:cTn id="13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5" grpId="0" animBg="1"/>
      <p:bldP spid="16" grpId="0" animBg="1"/>
      <p:bldP spid="17" grpId="0"/>
      <p:bldP spid="21" grpId="0"/>
      <p:bldP spid="22" grpId="0"/>
      <p:bldP spid="23" grpId="0"/>
      <p:bldP spid="25" grpId="0"/>
      <p:bldP spid="26" grpId="0"/>
      <p:bldP spid="27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!Marco 10">
            <a:extLst>
              <a:ext uri="{FF2B5EF4-FFF2-40B4-BE49-F238E27FC236}">
                <a16:creationId xmlns:a16="http://schemas.microsoft.com/office/drawing/2014/main" id="{FFE03C4C-5383-A716-2BBD-ECC12D723078}"/>
              </a:ext>
            </a:extLst>
          </p:cNvPr>
          <p:cNvSpPr/>
          <p:nvPr/>
        </p:nvSpPr>
        <p:spPr>
          <a:xfrm>
            <a:off x="535084" y="1033793"/>
            <a:ext cx="11121832" cy="461665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!CuadroTexto 1">
            <a:extLst>
              <a:ext uri="{FF2B5EF4-FFF2-40B4-BE49-F238E27FC236}">
                <a16:creationId xmlns:a16="http://schemas.microsoft.com/office/drawing/2014/main" id="{C5DE945A-44A1-0AF0-4C86-00E7E585EB82}"/>
              </a:ext>
            </a:extLst>
          </p:cNvPr>
          <p:cNvSpPr txBox="1"/>
          <p:nvPr/>
        </p:nvSpPr>
        <p:spPr>
          <a:xfrm>
            <a:off x="535084" y="1064570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En la división de números decimales nos encontramos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3 casos diferentes.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501E98B9-B313-07D7-C645-FCB44F77AAF0}"/>
              </a:ext>
            </a:extLst>
          </p:cNvPr>
          <p:cNvSpPr/>
          <p:nvPr/>
        </p:nvSpPr>
        <p:spPr>
          <a:xfrm>
            <a:off x="535084" y="1668322"/>
            <a:ext cx="11121832" cy="836753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60DC9689-1687-3B67-7AC6-C1AA2D5CA10F}"/>
              </a:ext>
            </a:extLst>
          </p:cNvPr>
          <p:cNvSpPr txBox="1"/>
          <p:nvPr/>
        </p:nvSpPr>
        <p:spPr>
          <a:xfrm>
            <a:off x="535084" y="1732755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1.º </a:t>
            </a:r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Dividendo decimal y divisor natural:</a:t>
            </a:r>
            <a:r>
              <a:rPr lang="es-ES" sz="2000" b="1" dirty="0"/>
              <a:t> Se divide como si fuera una división normal, pero al bajar la primera cifra decimal se pone la coma en el cociente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6CAB1FE-AB17-358E-BA1B-7513201C2016}"/>
              </a:ext>
            </a:extLst>
          </p:cNvPr>
          <p:cNvSpPr txBox="1"/>
          <p:nvPr/>
        </p:nvSpPr>
        <p:spPr>
          <a:xfrm>
            <a:off x="5419318" y="2718931"/>
            <a:ext cx="922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8,5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82482358-774D-C911-27BF-61C21A0D57C4}"/>
              </a:ext>
            </a:extLst>
          </p:cNvPr>
          <p:cNvGrpSpPr/>
          <p:nvPr/>
        </p:nvGrpSpPr>
        <p:grpSpPr>
          <a:xfrm>
            <a:off x="6256082" y="2776207"/>
            <a:ext cx="651385" cy="367419"/>
            <a:chOff x="3230080" y="8120520"/>
            <a:chExt cx="651385" cy="367419"/>
          </a:xfrm>
        </p:grpSpPr>
        <p:cxnSp>
          <p:nvCxnSpPr>
            <p:cNvPr id="8" name="Conector recto 7">
              <a:extLst>
                <a:ext uri="{FF2B5EF4-FFF2-40B4-BE49-F238E27FC236}">
                  <a16:creationId xmlns:a16="http://schemas.microsoft.com/office/drawing/2014/main" id="{FC7B7FCC-B41E-39DE-59AD-FD260E8C98CC}"/>
                </a:ext>
              </a:extLst>
            </p:cNvPr>
            <p:cNvCxnSpPr>
              <a:cxnSpLocks/>
            </p:cNvCxnSpPr>
            <p:nvPr/>
          </p:nvCxnSpPr>
          <p:spPr>
            <a:xfrm>
              <a:off x="3230080" y="8120520"/>
              <a:ext cx="2070" cy="367419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1E989526-FBF3-A1B4-7CA0-931EFB4BA5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30080" y="8471269"/>
              <a:ext cx="65138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CuadroTexto 9">
            <a:extLst>
              <a:ext uri="{FF2B5EF4-FFF2-40B4-BE49-F238E27FC236}">
                <a16:creationId xmlns:a16="http://schemas.microsoft.com/office/drawing/2014/main" id="{CC2445C3-3ACE-6A2B-AC21-141534788371}"/>
              </a:ext>
            </a:extLst>
          </p:cNvPr>
          <p:cNvSpPr txBox="1"/>
          <p:nvPr/>
        </p:nvSpPr>
        <p:spPr>
          <a:xfrm>
            <a:off x="5985219" y="2718931"/>
            <a:ext cx="922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5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4BE17A0-66A0-6C36-77D3-C3F6894D8636}"/>
              </a:ext>
            </a:extLst>
          </p:cNvPr>
          <p:cNvSpPr txBox="1"/>
          <p:nvPr/>
        </p:nvSpPr>
        <p:spPr>
          <a:xfrm>
            <a:off x="5991026" y="3092072"/>
            <a:ext cx="922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1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C94EC56-E522-31BE-8E54-DF1BFB04AD1A}"/>
              </a:ext>
            </a:extLst>
          </p:cNvPr>
          <p:cNvSpPr txBox="1"/>
          <p:nvPr/>
        </p:nvSpPr>
        <p:spPr>
          <a:xfrm>
            <a:off x="5287711" y="3085422"/>
            <a:ext cx="922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3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18BE7345-3C77-9100-0EF8-B3D001DE05B4}"/>
              </a:ext>
            </a:extLst>
          </p:cNvPr>
          <p:cNvSpPr txBox="1"/>
          <p:nvPr/>
        </p:nvSpPr>
        <p:spPr>
          <a:xfrm>
            <a:off x="5542942" y="3433934"/>
            <a:ext cx="922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0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1A0512F3-85B7-ECC9-4318-13ABE9CFF96B}"/>
              </a:ext>
            </a:extLst>
          </p:cNvPr>
          <p:cNvSpPr txBox="1"/>
          <p:nvPr/>
        </p:nvSpPr>
        <p:spPr>
          <a:xfrm>
            <a:off x="6083758" y="3088747"/>
            <a:ext cx="922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,</a:t>
            </a:r>
            <a:endParaRPr lang="es-ES" sz="2400" b="1" baseline="30000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0A05D5C6-5DC9-ED28-EC1B-E8A1B9F7F370}"/>
              </a:ext>
            </a:extLst>
          </p:cNvPr>
          <p:cNvSpPr txBox="1"/>
          <p:nvPr/>
        </p:nvSpPr>
        <p:spPr>
          <a:xfrm>
            <a:off x="5542338" y="3088747"/>
            <a:ext cx="922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5</a:t>
            </a:r>
            <a:endParaRPr lang="es-ES" sz="2400" b="1" baseline="30000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60F016D6-71C5-7521-2626-FFB8311D5475}"/>
              </a:ext>
            </a:extLst>
          </p:cNvPr>
          <p:cNvSpPr txBox="1"/>
          <p:nvPr/>
        </p:nvSpPr>
        <p:spPr>
          <a:xfrm>
            <a:off x="6524788" y="3088747"/>
            <a:ext cx="282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 b="1">
                <a:latin typeface="Century Gothic" panose="020B0502020202020204" pitchFamily="34" charset="0"/>
              </a:defRPr>
            </a:lvl1pPr>
          </a:lstStyle>
          <a:p>
            <a:r>
              <a:rPr lang="es-ES" dirty="0"/>
              <a:t>7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E835967-EBB3-CF65-26F8-99EA247B5E12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AF95602-1A47-7F4B-A7B5-A0D4DE2FA37F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2: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Sistema Decimal y Sexagesimal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64685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425"/>
                            </p:stCondLst>
                            <p:childTnLst>
                              <p:par>
                                <p:cTn id="1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925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425"/>
                            </p:stCondLst>
                            <p:childTnLst>
                              <p:par>
                                <p:cTn id="2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0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4" grpId="0" animBg="1"/>
      <p:bldP spid="5" grpId="0"/>
      <p:bldP spid="6" grpId="0"/>
      <p:bldP spid="10" grpId="0"/>
      <p:bldP spid="11" grpId="0"/>
      <p:bldP spid="14" grpId="0"/>
      <p:bldP spid="24" grpId="0"/>
      <p:bldP spid="40" grpId="0"/>
      <p:bldP spid="40" grpId="1"/>
      <p:bldP spid="41" grpId="0"/>
      <p:bldP spid="41" grpId="1"/>
      <p:bldP spid="4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!Marco 10">
            <a:extLst>
              <a:ext uri="{FF2B5EF4-FFF2-40B4-BE49-F238E27FC236}">
                <a16:creationId xmlns:a16="http://schemas.microsoft.com/office/drawing/2014/main" id="{FFE03C4C-5383-A716-2BBD-ECC12D723078}"/>
              </a:ext>
            </a:extLst>
          </p:cNvPr>
          <p:cNvSpPr/>
          <p:nvPr/>
        </p:nvSpPr>
        <p:spPr>
          <a:xfrm>
            <a:off x="535084" y="1033793"/>
            <a:ext cx="11121832" cy="461665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!CuadroTexto 1">
            <a:extLst>
              <a:ext uri="{FF2B5EF4-FFF2-40B4-BE49-F238E27FC236}">
                <a16:creationId xmlns:a16="http://schemas.microsoft.com/office/drawing/2014/main" id="{C5DE945A-44A1-0AF0-4C86-00E7E585EB82}"/>
              </a:ext>
            </a:extLst>
          </p:cNvPr>
          <p:cNvSpPr txBox="1"/>
          <p:nvPr/>
        </p:nvSpPr>
        <p:spPr>
          <a:xfrm>
            <a:off x="535084" y="1064570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En la división de números decimales nos encontramos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3 casos diferentes.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501E98B9-B313-07D7-C645-FCB44F77AAF0}"/>
              </a:ext>
            </a:extLst>
          </p:cNvPr>
          <p:cNvSpPr/>
          <p:nvPr/>
        </p:nvSpPr>
        <p:spPr>
          <a:xfrm>
            <a:off x="535084" y="1668322"/>
            <a:ext cx="11121832" cy="836753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60DC9689-1687-3B67-7AC6-C1AA2D5CA10F}"/>
              </a:ext>
            </a:extLst>
          </p:cNvPr>
          <p:cNvSpPr txBox="1"/>
          <p:nvPr/>
        </p:nvSpPr>
        <p:spPr>
          <a:xfrm>
            <a:off x="535084" y="1732755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1.º </a:t>
            </a:r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Dividendo decimal y divisor natural:</a:t>
            </a:r>
            <a:r>
              <a:rPr lang="es-ES" sz="2000" b="1" dirty="0"/>
              <a:t> Se divide como si fuera una división normal, pero al bajar la primera cifra decimal se pone la coma en el cociente</a:t>
            </a:r>
          </a:p>
        </p:txBody>
      </p:sp>
      <p:sp>
        <p:nvSpPr>
          <p:cNvPr id="3" name="!Marco 10">
            <a:extLst>
              <a:ext uri="{FF2B5EF4-FFF2-40B4-BE49-F238E27FC236}">
                <a16:creationId xmlns:a16="http://schemas.microsoft.com/office/drawing/2014/main" id="{129E049C-B08B-DD4F-FAA1-521FE9B90B8F}"/>
              </a:ext>
            </a:extLst>
          </p:cNvPr>
          <p:cNvSpPr/>
          <p:nvPr/>
        </p:nvSpPr>
        <p:spPr>
          <a:xfrm>
            <a:off x="535084" y="2665914"/>
            <a:ext cx="11121832" cy="1027947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!CuadroTexto 1">
            <a:extLst>
              <a:ext uri="{FF2B5EF4-FFF2-40B4-BE49-F238E27FC236}">
                <a16:creationId xmlns:a16="http://schemas.microsoft.com/office/drawing/2014/main" id="{CD72B42A-9CF5-78FE-A7B6-68BF84BA3EB7}"/>
              </a:ext>
            </a:extLst>
          </p:cNvPr>
          <p:cNvSpPr txBox="1"/>
          <p:nvPr/>
        </p:nvSpPr>
        <p:spPr>
          <a:xfrm>
            <a:off x="535084" y="2672056"/>
            <a:ext cx="11121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2.º </a:t>
            </a:r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Dividendo y divisor decimales: </a:t>
            </a:r>
            <a:r>
              <a:rPr lang="es-ES" sz="2000" b="1" dirty="0"/>
              <a:t>se suprime la coma del divisor y se desplaza la coma del dividendo tantos lugares a la derecha como cifras decimales tiene el divisor. si es necesario, se añaden ceros al dividendo.</a:t>
            </a:r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A570D915-6433-8819-34CD-657E4D47BE39}"/>
              </a:ext>
            </a:extLst>
          </p:cNvPr>
          <p:cNvGrpSpPr/>
          <p:nvPr/>
        </p:nvGrpSpPr>
        <p:grpSpPr>
          <a:xfrm>
            <a:off x="6897136" y="4074465"/>
            <a:ext cx="2106865" cy="461665"/>
            <a:chOff x="4408235" y="10208360"/>
            <a:chExt cx="2106865" cy="461665"/>
          </a:xfrm>
        </p:grpSpPr>
        <p:sp>
          <p:nvSpPr>
            <p:cNvPr id="17" name="CuadroTexto 16">
              <a:extLst>
                <a:ext uri="{FF2B5EF4-FFF2-40B4-BE49-F238E27FC236}">
                  <a16:creationId xmlns:a16="http://schemas.microsoft.com/office/drawing/2014/main" id="{3012DD56-A82C-841B-F669-F2D1C4AC63B0}"/>
                </a:ext>
              </a:extLst>
            </p:cNvPr>
            <p:cNvSpPr txBox="1"/>
            <p:nvPr/>
          </p:nvSpPr>
          <p:spPr>
            <a:xfrm>
              <a:off x="4408235" y="10208360"/>
              <a:ext cx="9222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latin typeface="Century Gothic" panose="020B0502020202020204" pitchFamily="34" charset="0"/>
                </a:rPr>
                <a:t>128</a:t>
              </a:r>
              <a:endParaRPr lang="es-ES" sz="2400" b="1" baseline="30000" dirty="0">
                <a:latin typeface="Century Gothic" panose="020B0502020202020204" pitchFamily="34" charset="0"/>
              </a:endParaRPr>
            </a:p>
          </p:txBody>
        </p:sp>
        <p:grpSp>
          <p:nvGrpSpPr>
            <p:cNvPr id="18" name="Grupo 17">
              <a:extLst>
                <a:ext uri="{FF2B5EF4-FFF2-40B4-BE49-F238E27FC236}">
                  <a16:creationId xmlns:a16="http://schemas.microsoft.com/office/drawing/2014/main" id="{B6A0FE99-FD41-796A-4ADD-3265DC6EA488}"/>
                </a:ext>
              </a:extLst>
            </p:cNvPr>
            <p:cNvGrpSpPr/>
            <p:nvPr/>
          </p:nvGrpSpPr>
          <p:grpSpPr>
            <a:xfrm>
              <a:off x="5474460" y="10265636"/>
              <a:ext cx="1040640" cy="367419"/>
              <a:chOff x="3230080" y="8120520"/>
              <a:chExt cx="1040640" cy="367419"/>
            </a:xfrm>
          </p:grpSpPr>
          <p:cxnSp>
            <p:nvCxnSpPr>
              <p:cNvPr id="20" name="Conector recto 19">
                <a:extLst>
                  <a:ext uri="{FF2B5EF4-FFF2-40B4-BE49-F238E27FC236}">
                    <a16:creationId xmlns:a16="http://schemas.microsoft.com/office/drawing/2014/main" id="{2056D26C-044E-4052-A55B-B7A735C0C2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30080" y="8120520"/>
                <a:ext cx="2070" cy="36741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Conector recto 20">
                <a:extLst>
                  <a:ext uri="{FF2B5EF4-FFF2-40B4-BE49-F238E27FC236}">
                    <a16:creationId xmlns:a16="http://schemas.microsoft.com/office/drawing/2014/main" id="{447637E7-2F3A-8BC0-CA46-938592F8BB7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230080" y="8471269"/>
                <a:ext cx="104064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9" name="CuadroTexto 18">
              <a:extLst>
                <a:ext uri="{FF2B5EF4-FFF2-40B4-BE49-F238E27FC236}">
                  <a16:creationId xmlns:a16="http://schemas.microsoft.com/office/drawing/2014/main" id="{FB54D530-EFA2-24E5-BF03-29EE66D57FBC}"/>
                </a:ext>
              </a:extLst>
            </p:cNvPr>
            <p:cNvSpPr txBox="1"/>
            <p:nvPr/>
          </p:nvSpPr>
          <p:spPr>
            <a:xfrm>
              <a:off x="5262017" y="10208360"/>
              <a:ext cx="9222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latin typeface="Century Gothic" panose="020B0502020202020204" pitchFamily="34" charset="0"/>
                </a:rPr>
                <a:t>20</a:t>
              </a:r>
              <a:endParaRPr lang="es-ES" sz="2400" b="1" baseline="30000" dirty="0">
                <a:latin typeface="Century Gothic" panose="020B0502020202020204" pitchFamily="34" charset="0"/>
              </a:endParaRPr>
            </a:p>
          </p:txBody>
        </p:sp>
      </p:grpSp>
      <p:sp>
        <p:nvSpPr>
          <p:cNvPr id="22" name="CuadroTexto 21">
            <a:extLst>
              <a:ext uri="{FF2B5EF4-FFF2-40B4-BE49-F238E27FC236}">
                <a16:creationId xmlns:a16="http://schemas.microsoft.com/office/drawing/2014/main" id="{C3BBD2E0-28AB-B2B2-2133-1611F3A789BF}"/>
              </a:ext>
            </a:extLst>
          </p:cNvPr>
          <p:cNvSpPr txBox="1"/>
          <p:nvPr/>
        </p:nvSpPr>
        <p:spPr>
          <a:xfrm>
            <a:off x="7964920" y="4445307"/>
            <a:ext cx="2866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6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633E044-32A5-F032-F142-39674621ECF3}"/>
              </a:ext>
            </a:extLst>
          </p:cNvPr>
          <p:cNvSpPr txBox="1"/>
          <p:nvPr/>
        </p:nvSpPr>
        <p:spPr>
          <a:xfrm>
            <a:off x="8096810" y="4445307"/>
            <a:ext cx="237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,</a:t>
            </a:r>
            <a:endParaRPr lang="es-ES" sz="2400" b="1" baseline="30000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159CD47A-905C-B55D-113B-3460D016F763}"/>
              </a:ext>
            </a:extLst>
          </p:cNvPr>
          <p:cNvSpPr txBox="1"/>
          <p:nvPr/>
        </p:nvSpPr>
        <p:spPr>
          <a:xfrm>
            <a:off x="6897136" y="4445307"/>
            <a:ext cx="922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008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6ECD1F3-5788-B4A5-391A-9246DBD889E9}"/>
              </a:ext>
            </a:extLst>
          </p:cNvPr>
          <p:cNvSpPr txBox="1"/>
          <p:nvPr/>
        </p:nvSpPr>
        <p:spPr>
          <a:xfrm>
            <a:off x="8210264" y="4445307"/>
            <a:ext cx="282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 b="1">
                <a:latin typeface="Century Gothic" panose="020B0502020202020204" pitchFamily="34" charset="0"/>
              </a:defRPr>
            </a:lvl1pPr>
          </a:lstStyle>
          <a:p>
            <a:r>
              <a:rPr lang="es-ES" dirty="0"/>
              <a:t>4</a:t>
            </a:r>
          </a:p>
        </p:txBody>
      </p:sp>
      <p:grpSp>
        <p:nvGrpSpPr>
          <p:cNvPr id="27" name="Grupo 26">
            <a:extLst>
              <a:ext uri="{FF2B5EF4-FFF2-40B4-BE49-F238E27FC236}">
                <a16:creationId xmlns:a16="http://schemas.microsoft.com/office/drawing/2014/main" id="{8E17560F-2243-1FCF-CC98-933EC545DF4E}"/>
              </a:ext>
            </a:extLst>
          </p:cNvPr>
          <p:cNvGrpSpPr/>
          <p:nvPr/>
        </p:nvGrpSpPr>
        <p:grpSpPr>
          <a:xfrm>
            <a:off x="3941289" y="4074465"/>
            <a:ext cx="1602167" cy="461665"/>
            <a:chOff x="1452388" y="10208360"/>
            <a:chExt cx="1602167" cy="461665"/>
          </a:xfrm>
        </p:grpSpPr>
        <p:sp>
          <p:nvSpPr>
            <p:cNvPr id="28" name="CuadroTexto 27">
              <a:extLst>
                <a:ext uri="{FF2B5EF4-FFF2-40B4-BE49-F238E27FC236}">
                  <a16:creationId xmlns:a16="http://schemas.microsoft.com/office/drawing/2014/main" id="{00CD59FD-1E33-C3B8-86AB-409F9B918DE0}"/>
                </a:ext>
              </a:extLst>
            </p:cNvPr>
            <p:cNvSpPr txBox="1"/>
            <p:nvPr/>
          </p:nvSpPr>
          <p:spPr>
            <a:xfrm>
              <a:off x="1452388" y="10208360"/>
              <a:ext cx="9222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latin typeface="Century Gothic" panose="020B0502020202020204" pitchFamily="34" charset="0"/>
                </a:rPr>
                <a:t>1,28</a:t>
              </a:r>
            </a:p>
          </p:txBody>
        </p:sp>
        <p:grpSp>
          <p:nvGrpSpPr>
            <p:cNvPr id="29" name="Grupo 28">
              <a:extLst>
                <a:ext uri="{FF2B5EF4-FFF2-40B4-BE49-F238E27FC236}">
                  <a16:creationId xmlns:a16="http://schemas.microsoft.com/office/drawing/2014/main" id="{D3047D41-D7AA-451A-BCE8-E48333CA38D2}"/>
                </a:ext>
              </a:extLst>
            </p:cNvPr>
            <p:cNvGrpSpPr/>
            <p:nvPr/>
          </p:nvGrpSpPr>
          <p:grpSpPr>
            <a:xfrm>
              <a:off x="2289152" y="10265636"/>
              <a:ext cx="651385" cy="367419"/>
              <a:chOff x="3230080" y="8120520"/>
              <a:chExt cx="651385" cy="367419"/>
            </a:xfrm>
          </p:grpSpPr>
          <p:cxnSp>
            <p:nvCxnSpPr>
              <p:cNvPr id="31" name="Conector recto 30">
                <a:extLst>
                  <a:ext uri="{FF2B5EF4-FFF2-40B4-BE49-F238E27FC236}">
                    <a16:creationId xmlns:a16="http://schemas.microsoft.com/office/drawing/2014/main" id="{60C836DC-5CFE-83DB-C826-9D192FF249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30080" y="8120520"/>
                <a:ext cx="2070" cy="36741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Conector recto 31">
                <a:extLst>
                  <a:ext uri="{FF2B5EF4-FFF2-40B4-BE49-F238E27FC236}">
                    <a16:creationId xmlns:a16="http://schemas.microsoft.com/office/drawing/2014/main" id="{4E08549D-69A9-9012-25AF-6965CFC74F3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230080" y="8471269"/>
                <a:ext cx="651385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0" name="CuadroTexto 29">
              <a:extLst>
                <a:ext uri="{FF2B5EF4-FFF2-40B4-BE49-F238E27FC236}">
                  <a16:creationId xmlns:a16="http://schemas.microsoft.com/office/drawing/2014/main" id="{D00A6C7B-B8E2-8E72-7233-2CDA5DF00352}"/>
                </a:ext>
              </a:extLst>
            </p:cNvPr>
            <p:cNvSpPr txBox="1"/>
            <p:nvPr/>
          </p:nvSpPr>
          <p:spPr>
            <a:xfrm>
              <a:off x="2132307" y="10208360"/>
              <a:ext cx="9222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latin typeface="Century Gothic" panose="020B0502020202020204" pitchFamily="34" charset="0"/>
                </a:rPr>
                <a:t>0,2</a:t>
              </a:r>
              <a:endParaRPr lang="es-ES" sz="2400" b="1" baseline="30000" dirty="0">
                <a:latin typeface="Century Gothic" panose="020B0502020202020204" pitchFamily="34" charset="0"/>
              </a:endParaRPr>
            </a:p>
          </p:txBody>
        </p:sp>
      </p:grp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03298611-5734-7363-809B-B0546ED9E869}"/>
              </a:ext>
            </a:extLst>
          </p:cNvPr>
          <p:cNvCxnSpPr>
            <a:stCxn id="30" idx="3"/>
            <a:endCxn id="17" idx="1"/>
          </p:cNvCxnSpPr>
          <p:nvPr/>
        </p:nvCxnSpPr>
        <p:spPr>
          <a:xfrm>
            <a:off x="5543456" y="4305298"/>
            <a:ext cx="1353680" cy="0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CuadroTexto 33">
            <a:extLst>
              <a:ext uri="{FF2B5EF4-FFF2-40B4-BE49-F238E27FC236}">
                <a16:creationId xmlns:a16="http://schemas.microsoft.com/office/drawing/2014/main" id="{3FA07D1B-0984-67D8-FADC-9982AF621AB3}"/>
              </a:ext>
            </a:extLst>
          </p:cNvPr>
          <p:cNvSpPr txBox="1"/>
          <p:nvPr/>
        </p:nvSpPr>
        <p:spPr>
          <a:xfrm>
            <a:off x="7547209" y="4445307"/>
            <a:ext cx="3321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0</a:t>
            </a:r>
            <a:endParaRPr lang="es-ES" sz="2400" b="1" baseline="30000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3F57CEED-0C94-4187-2756-BE76841503B6}"/>
              </a:ext>
            </a:extLst>
          </p:cNvPr>
          <p:cNvSpPr txBox="1"/>
          <p:nvPr/>
        </p:nvSpPr>
        <p:spPr>
          <a:xfrm>
            <a:off x="7547209" y="4789353"/>
            <a:ext cx="3321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0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9C58ED5-6C8C-62B4-6055-9E1E5395E021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20539BF-841B-4E22-A37C-FA2DF0057145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2: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Sistema Decimal y Sexagesimal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80636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5" grpId="0"/>
      <p:bldP spid="22" grpId="0"/>
      <p:bldP spid="23" grpId="0"/>
      <p:bldP spid="25" grpId="0"/>
      <p:bldP spid="26" grpId="0"/>
      <p:bldP spid="34" grpId="0"/>
      <p:bldP spid="3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!Marco 10">
            <a:extLst>
              <a:ext uri="{FF2B5EF4-FFF2-40B4-BE49-F238E27FC236}">
                <a16:creationId xmlns:a16="http://schemas.microsoft.com/office/drawing/2014/main" id="{FFE03C4C-5383-A716-2BBD-ECC12D723078}"/>
              </a:ext>
            </a:extLst>
          </p:cNvPr>
          <p:cNvSpPr/>
          <p:nvPr/>
        </p:nvSpPr>
        <p:spPr>
          <a:xfrm>
            <a:off x="535084" y="1033793"/>
            <a:ext cx="11121832" cy="461665"/>
          </a:xfrm>
          <a:prstGeom prst="rect">
            <a:avLst/>
          </a:prstGeom>
          <a:noFill/>
          <a:ln w="381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!CuadroTexto 1">
            <a:extLst>
              <a:ext uri="{FF2B5EF4-FFF2-40B4-BE49-F238E27FC236}">
                <a16:creationId xmlns:a16="http://schemas.microsoft.com/office/drawing/2014/main" id="{C5DE945A-44A1-0AF0-4C86-00E7E585EB82}"/>
              </a:ext>
            </a:extLst>
          </p:cNvPr>
          <p:cNvSpPr txBox="1"/>
          <p:nvPr/>
        </p:nvSpPr>
        <p:spPr>
          <a:xfrm>
            <a:off x="535084" y="1064570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En la división de números decimales nos encontramos </a:t>
            </a:r>
            <a:r>
              <a:rPr lang="es-ES" sz="20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3 casos diferentes.</a:t>
            </a:r>
          </a:p>
        </p:txBody>
      </p:sp>
      <p:sp>
        <p:nvSpPr>
          <p:cNvPr id="4" name="!Marco 10">
            <a:extLst>
              <a:ext uri="{FF2B5EF4-FFF2-40B4-BE49-F238E27FC236}">
                <a16:creationId xmlns:a16="http://schemas.microsoft.com/office/drawing/2014/main" id="{501E98B9-B313-07D7-C645-FCB44F77AAF0}"/>
              </a:ext>
            </a:extLst>
          </p:cNvPr>
          <p:cNvSpPr/>
          <p:nvPr/>
        </p:nvSpPr>
        <p:spPr>
          <a:xfrm>
            <a:off x="535084" y="1668322"/>
            <a:ext cx="11121832" cy="836753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!CuadroTexto 1">
            <a:extLst>
              <a:ext uri="{FF2B5EF4-FFF2-40B4-BE49-F238E27FC236}">
                <a16:creationId xmlns:a16="http://schemas.microsoft.com/office/drawing/2014/main" id="{60DC9689-1687-3B67-7AC6-C1AA2D5CA10F}"/>
              </a:ext>
            </a:extLst>
          </p:cNvPr>
          <p:cNvSpPr txBox="1"/>
          <p:nvPr/>
        </p:nvSpPr>
        <p:spPr>
          <a:xfrm>
            <a:off x="535084" y="1732755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1.º </a:t>
            </a:r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Dividendo decimal y divisor natural:</a:t>
            </a:r>
            <a:r>
              <a:rPr lang="es-ES" sz="2000" b="1" dirty="0"/>
              <a:t> Se divide como si fuera una división normal, pero al bajar la primera cifra decimal se pone la coma en el cociente</a:t>
            </a:r>
          </a:p>
        </p:txBody>
      </p:sp>
      <p:sp>
        <p:nvSpPr>
          <p:cNvPr id="3" name="!Marco 10">
            <a:extLst>
              <a:ext uri="{FF2B5EF4-FFF2-40B4-BE49-F238E27FC236}">
                <a16:creationId xmlns:a16="http://schemas.microsoft.com/office/drawing/2014/main" id="{129E049C-B08B-DD4F-FAA1-521FE9B90B8F}"/>
              </a:ext>
            </a:extLst>
          </p:cNvPr>
          <p:cNvSpPr/>
          <p:nvPr/>
        </p:nvSpPr>
        <p:spPr>
          <a:xfrm>
            <a:off x="535084" y="2665914"/>
            <a:ext cx="11121832" cy="1027947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!CuadroTexto 1">
            <a:extLst>
              <a:ext uri="{FF2B5EF4-FFF2-40B4-BE49-F238E27FC236}">
                <a16:creationId xmlns:a16="http://schemas.microsoft.com/office/drawing/2014/main" id="{CD72B42A-9CF5-78FE-A7B6-68BF84BA3EB7}"/>
              </a:ext>
            </a:extLst>
          </p:cNvPr>
          <p:cNvSpPr txBox="1"/>
          <p:nvPr/>
        </p:nvSpPr>
        <p:spPr>
          <a:xfrm>
            <a:off x="535084" y="2672056"/>
            <a:ext cx="111218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2.º </a:t>
            </a:r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Dividendo y divisor decimales: </a:t>
            </a:r>
            <a:r>
              <a:rPr lang="es-ES" sz="2000" b="1" dirty="0"/>
              <a:t>se suprime la coma del divisor y se desplaza la coma del dividendo tantos lugares a la derecha como cifras decimales tiene el divisor. si es necesario, se añaden ceros al dividendo.</a:t>
            </a:r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0BAE3544-4ECE-A6C9-B9F7-C28D5CA439D3}"/>
              </a:ext>
            </a:extLst>
          </p:cNvPr>
          <p:cNvSpPr/>
          <p:nvPr/>
        </p:nvSpPr>
        <p:spPr>
          <a:xfrm>
            <a:off x="535084" y="3906457"/>
            <a:ext cx="11121832" cy="707886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!CuadroTexto 1">
            <a:extLst>
              <a:ext uri="{FF2B5EF4-FFF2-40B4-BE49-F238E27FC236}">
                <a16:creationId xmlns:a16="http://schemas.microsoft.com/office/drawing/2014/main" id="{63DE30FC-8B3B-ADB1-AF3E-21B47214EBB9}"/>
              </a:ext>
            </a:extLst>
          </p:cNvPr>
          <p:cNvSpPr txBox="1"/>
          <p:nvPr/>
        </p:nvSpPr>
        <p:spPr>
          <a:xfrm>
            <a:off x="535084" y="3906457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3.º </a:t>
            </a:r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Dividendo natural y divisor decimal: </a:t>
            </a:r>
            <a:r>
              <a:rPr lang="es-ES" sz="2000" b="1" dirty="0"/>
              <a:t>se suprime la coma del divisor y se añaden tantos ceros al dividendo como cifras decimales tenga el divisor.</a:t>
            </a:r>
          </a:p>
        </p:txBody>
      </p:sp>
      <p:grpSp>
        <p:nvGrpSpPr>
          <p:cNvPr id="8" name="Grupo 7">
            <a:extLst>
              <a:ext uri="{FF2B5EF4-FFF2-40B4-BE49-F238E27FC236}">
                <a16:creationId xmlns:a16="http://schemas.microsoft.com/office/drawing/2014/main" id="{564715DC-AE13-5D70-C9E0-E07D061790E8}"/>
              </a:ext>
            </a:extLst>
          </p:cNvPr>
          <p:cNvGrpSpPr/>
          <p:nvPr/>
        </p:nvGrpSpPr>
        <p:grpSpPr>
          <a:xfrm>
            <a:off x="6667500" y="4826939"/>
            <a:ext cx="1969705" cy="461665"/>
            <a:chOff x="5273464" y="12340837"/>
            <a:chExt cx="1969705" cy="461665"/>
          </a:xfrm>
        </p:grpSpPr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E4210AE3-C47F-B7ED-8AF2-C010179EF04C}"/>
                </a:ext>
              </a:extLst>
            </p:cNvPr>
            <p:cNvSpPr txBox="1"/>
            <p:nvPr/>
          </p:nvSpPr>
          <p:spPr>
            <a:xfrm>
              <a:off x="5273464" y="12340837"/>
              <a:ext cx="9222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latin typeface="Century Gothic" panose="020B0502020202020204" pitchFamily="34" charset="0"/>
                </a:rPr>
                <a:t>4410</a:t>
              </a:r>
              <a:endParaRPr lang="es-ES" sz="2400" b="1" baseline="30000" dirty="0">
                <a:latin typeface="Century Gothic" panose="020B0502020202020204" pitchFamily="34" charset="0"/>
              </a:endParaRPr>
            </a:p>
          </p:txBody>
        </p:sp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A95EF2D4-AA17-429A-9A80-1CF0F35E0936}"/>
                </a:ext>
              </a:extLst>
            </p:cNvPr>
            <p:cNvGrpSpPr/>
            <p:nvPr/>
          </p:nvGrpSpPr>
          <p:grpSpPr>
            <a:xfrm>
              <a:off x="6202529" y="12398113"/>
              <a:ext cx="1040640" cy="367419"/>
              <a:chOff x="3230080" y="8120520"/>
              <a:chExt cx="1040640" cy="367419"/>
            </a:xfrm>
          </p:grpSpPr>
          <p:cxnSp>
            <p:nvCxnSpPr>
              <p:cNvPr id="14" name="Conector recto 13">
                <a:extLst>
                  <a:ext uri="{FF2B5EF4-FFF2-40B4-BE49-F238E27FC236}">
                    <a16:creationId xmlns:a16="http://schemas.microsoft.com/office/drawing/2014/main" id="{DE486D0B-97BA-1D02-C09F-56243A2BB7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30080" y="8120520"/>
                <a:ext cx="2070" cy="36741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Conector recto 23">
                <a:extLst>
                  <a:ext uri="{FF2B5EF4-FFF2-40B4-BE49-F238E27FC236}">
                    <a16:creationId xmlns:a16="http://schemas.microsoft.com/office/drawing/2014/main" id="{F321E4FE-BF8A-C156-AB9B-D02BAF4B522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230080" y="8471269"/>
                <a:ext cx="1040640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30DFB25E-068D-BCDD-4313-6C35DFF9FA83}"/>
                </a:ext>
              </a:extLst>
            </p:cNvPr>
            <p:cNvSpPr txBox="1"/>
            <p:nvPr/>
          </p:nvSpPr>
          <p:spPr>
            <a:xfrm>
              <a:off x="6005326" y="12340837"/>
              <a:ext cx="9222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latin typeface="Century Gothic" panose="020B0502020202020204" pitchFamily="34" charset="0"/>
                </a:rPr>
                <a:t>36</a:t>
              </a:r>
              <a:endParaRPr lang="es-ES" sz="2400" b="1" baseline="30000" dirty="0">
                <a:latin typeface="Century Gothic" panose="020B0502020202020204" pitchFamily="34" charset="0"/>
              </a:endParaRPr>
            </a:p>
          </p:txBody>
        </p:sp>
      </p:grpSp>
      <p:sp>
        <p:nvSpPr>
          <p:cNvPr id="36" name="CuadroTexto 35">
            <a:extLst>
              <a:ext uri="{FF2B5EF4-FFF2-40B4-BE49-F238E27FC236}">
                <a16:creationId xmlns:a16="http://schemas.microsoft.com/office/drawing/2014/main" id="{7149BDC6-C0B8-2763-A3F2-490F33144622}"/>
              </a:ext>
            </a:extLst>
          </p:cNvPr>
          <p:cNvSpPr txBox="1"/>
          <p:nvPr/>
        </p:nvSpPr>
        <p:spPr>
          <a:xfrm>
            <a:off x="7323889" y="5198397"/>
            <a:ext cx="922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1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14F46979-B145-0188-B544-6029869B17AD}"/>
              </a:ext>
            </a:extLst>
          </p:cNvPr>
          <p:cNvSpPr txBox="1"/>
          <p:nvPr/>
        </p:nvSpPr>
        <p:spPr>
          <a:xfrm>
            <a:off x="6844831" y="5564134"/>
            <a:ext cx="922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90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1C82CA4B-AD87-32E5-EA8D-F44350CFEA1D}"/>
              </a:ext>
            </a:extLst>
          </p:cNvPr>
          <p:cNvSpPr txBox="1"/>
          <p:nvPr/>
        </p:nvSpPr>
        <p:spPr>
          <a:xfrm>
            <a:off x="8148852" y="5215783"/>
            <a:ext cx="2378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,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C6C2D04D-5F9A-4F3D-8B12-FFCDB3174E3F}"/>
              </a:ext>
            </a:extLst>
          </p:cNvPr>
          <p:cNvSpPr txBox="1"/>
          <p:nvPr/>
        </p:nvSpPr>
        <p:spPr>
          <a:xfrm>
            <a:off x="6578066" y="5213377"/>
            <a:ext cx="922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081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B945C09A-537D-B583-1832-566E145BEDB0}"/>
              </a:ext>
            </a:extLst>
          </p:cNvPr>
          <p:cNvSpPr txBox="1"/>
          <p:nvPr/>
        </p:nvSpPr>
        <p:spPr>
          <a:xfrm>
            <a:off x="7812988" y="5198397"/>
            <a:ext cx="282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 b="1">
                <a:latin typeface="Century Gothic" panose="020B0502020202020204" pitchFamily="34" charset="0"/>
              </a:defRPr>
            </a:lvl1pPr>
          </a:lstStyle>
          <a:p>
            <a:r>
              <a:rPr lang="es-ES" dirty="0"/>
              <a:t>2</a:t>
            </a:r>
          </a:p>
        </p:txBody>
      </p:sp>
      <p:grpSp>
        <p:nvGrpSpPr>
          <p:cNvPr id="41" name="Grupo 40">
            <a:extLst>
              <a:ext uri="{FF2B5EF4-FFF2-40B4-BE49-F238E27FC236}">
                <a16:creationId xmlns:a16="http://schemas.microsoft.com/office/drawing/2014/main" id="{749E13E7-55D9-F5CA-1B22-1AC56313765C}"/>
              </a:ext>
            </a:extLst>
          </p:cNvPr>
          <p:cNvGrpSpPr/>
          <p:nvPr/>
        </p:nvGrpSpPr>
        <p:grpSpPr>
          <a:xfrm>
            <a:off x="3711653" y="4826939"/>
            <a:ext cx="1602167" cy="461665"/>
            <a:chOff x="2317617" y="12340837"/>
            <a:chExt cx="1602167" cy="461665"/>
          </a:xfrm>
        </p:grpSpPr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29E9921A-1EC3-228E-97C7-851FC1971E42}"/>
                </a:ext>
              </a:extLst>
            </p:cNvPr>
            <p:cNvSpPr txBox="1"/>
            <p:nvPr/>
          </p:nvSpPr>
          <p:spPr>
            <a:xfrm>
              <a:off x="2317617" y="12340837"/>
              <a:ext cx="9222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latin typeface="Century Gothic" panose="020B0502020202020204" pitchFamily="34" charset="0"/>
                </a:rPr>
                <a:t>441</a:t>
              </a:r>
            </a:p>
          </p:txBody>
        </p:sp>
        <p:grpSp>
          <p:nvGrpSpPr>
            <p:cNvPr id="43" name="Grupo 42">
              <a:extLst>
                <a:ext uri="{FF2B5EF4-FFF2-40B4-BE49-F238E27FC236}">
                  <a16:creationId xmlns:a16="http://schemas.microsoft.com/office/drawing/2014/main" id="{78EB2879-B314-B0C7-118A-8B26CD309B5C}"/>
                </a:ext>
              </a:extLst>
            </p:cNvPr>
            <p:cNvGrpSpPr/>
            <p:nvPr/>
          </p:nvGrpSpPr>
          <p:grpSpPr>
            <a:xfrm>
              <a:off x="3154381" y="12398113"/>
              <a:ext cx="651385" cy="367419"/>
              <a:chOff x="3230080" y="8120520"/>
              <a:chExt cx="651385" cy="367419"/>
            </a:xfrm>
          </p:grpSpPr>
          <p:cxnSp>
            <p:nvCxnSpPr>
              <p:cNvPr id="45" name="Conector recto 44">
                <a:extLst>
                  <a:ext uri="{FF2B5EF4-FFF2-40B4-BE49-F238E27FC236}">
                    <a16:creationId xmlns:a16="http://schemas.microsoft.com/office/drawing/2014/main" id="{7271F07F-271C-A648-FD86-213A3736A4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30080" y="8120520"/>
                <a:ext cx="2070" cy="367419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Conector recto 45">
                <a:extLst>
                  <a:ext uri="{FF2B5EF4-FFF2-40B4-BE49-F238E27FC236}">
                    <a16:creationId xmlns:a16="http://schemas.microsoft.com/office/drawing/2014/main" id="{80E79404-8FA7-6CD5-3913-CF32B79DDD7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230080" y="8471269"/>
                <a:ext cx="651385" cy="0"/>
              </a:xfrm>
              <a:prstGeom prst="line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CuadroTexto 43">
              <a:extLst>
                <a:ext uri="{FF2B5EF4-FFF2-40B4-BE49-F238E27FC236}">
                  <a16:creationId xmlns:a16="http://schemas.microsoft.com/office/drawing/2014/main" id="{014F5C49-059C-98CB-0638-33A8CFE92E18}"/>
                </a:ext>
              </a:extLst>
            </p:cNvPr>
            <p:cNvSpPr txBox="1"/>
            <p:nvPr/>
          </p:nvSpPr>
          <p:spPr>
            <a:xfrm>
              <a:off x="2997536" y="12340837"/>
              <a:ext cx="92224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400" b="1" dirty="0">
                  <a:latin typeface="Century Gothic" panose="020B0502020202020204" pitchFamily="34" charset="0"/>
                </a:rPr>
                <a:t>3,6</a:t>
              </a:r>
              <a:endParaRPr lang="es-ES" sz="2400" b="1" baseline="30000" dirty="0">
                <a:latin typeface="Century Gothic" panose="020B0502020202020204" pitchFamily="34" charset="0"/>
              </a:endParaRPr>
            </a:p>
          </p:txBody>
        </p:sp>
      </p:grpSp>
      <p:cxnSp>
        <p:nvCxnSpPr>
          <p:cNvPr id="47" name="Conector recto de flecha 46">
            <a:extLst>
              <a:ext uri="{FF2B5EF4-FFF2-40B4-BE49-F238E27FC236}">
                <a16:creationId xmlns:a16="http://schemas.microsoft.com/office/drawing/2014/main" id="{B51A95A5-7502-3FA4-49A1-2A674AF3F99D}"/>
              </a:ext>
            </a:extLst>
          </p:cNvPr>
          <p:cNvCxnSpPr>
            <a:stCxn id="44" idx="3"/>
            <a:endCxn id="9" idx="1"/>
          </p:cNvCxnSpPr>
          <p:nvPr/>
        </p:nvCxnSpPr>
        <p:spPr>
          <a:xfrm>
            <a:off x="5313820" y="5057772"/>
            <a:ext cx="1353680" cy="0"/>
          </a:xfrm>
          <a:prstGeom prst="straightConnector1">
            <a:avLst/>
          </a:prstGeom>
          <a:ln w="38100">
            <a:solidFill>
              <a:schemeClr val="accent5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CuadroTexto 47">
            <a:extLst>
              <a:ext uri="{FF2B5EF4-FFF2-40B4-BE49-F238E27FC236}">
                <a16:creationId xmlns:a16="http://schemas.microsoft.com/office/drawing/2014/main" id="{25CC743E-11C0-E969-8775-4B960DAD2DAD}"/>
              </a:ext>
            </a:extLst>
          </p:cNvPr>
          <p:cNvSpPr txBox="1"/>
          <p:nvPr/>
        </p:nvSpPr>
        <p:spPr>
          <a:xfrm>
            <a:off x="8011283" y="5198397"/>
            <a:ext cx="282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 b="1">
                <a:latin typeface="Century Gothic" panose="020B0502020202020204" pitchFamily="34" charset="0"/>
              </a:defRPr>
            </a:lvl1pPr>
          </a:lstStyle>
          <a:p>
            <a:r>
              <a:rPr lang="es-ES" dirty="0"/>
              <a:t>2</a:t>
            </a:r>
          </a:p>
        </p:txBody>
      </p:sp>
      <p:sp>
        <p:nvSpPr>
          <p:cNvPr id="49" name="CuadroTexto 48">
            <a:extLst>
              <a:ext uri="{FF2B5EF4-FFF2-40B4-BE49-F238E27FC236}">
                <a16:creationId xmlns:a16="http://schemas.microsoft.com/office/drawing/2014/main" id="{398FF06F-17D9-0531-2B88-5C4B423235A1}"/>
              </a:ext>
            </a:extLst>
          </p:cNvPr>
          <p:cNvSpPr txBox="1"/>
          <p:nvPr/>
        </p:nvSpPr>
        <p:spPr>
          <a:xfrm>
            <a:off x="8262567" y="5198397"/>
            <a:ext cx="282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400" b="1">
                <a:latin typeface="Century Gothic" panose="020B0502020202020204" pitchFamily="34" charset="0"/>
              </a:defRPr>
            </a:lvl1pPr>
          </a:lstStyle>
          <a:p>
            <a:r>
              <a:rPr lang="es-ES" dirty="0"/>
              <a:t>5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6F6A7616-62A0-8352-F8F7-A4E26D6D6DE5}"/>
              </a:ext>
            </a:extLst>
          </p:cNvPr>
          <p:cNvSpPr txBox="1"/>
          <p:nvPr/>
        </p:nvSpPr>
        <p:spPr>
          <a:xfrm>
            <a:off x="6847419" y="5898600"/>
            <a:ext cx="92224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18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4A1E4799-8D25-E450-7B3A-5DEE6F0D1005}"/>
              </a:ext>
            </a:extLst>
          </p:cNvPr>
          <p:cNvSpPr txBox="1"/>
          <p:nvPr/>
        </p:nvSpPr>
        <p:spPr>
          <a:xfrm>
            <a:off x="7410585" y="5898600"/>
            <a:ext cx="3321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Century Gothic" panose="020B0502020202020204" pitchFamily="34" charset="0"/>
              </a:rPr>
              <a:t>0</a:t>
            </a:r>
            <a:endParaRPr lang="es-ES" sz="2400" b="1" baseline="30000" dirty="0">
              <a:solidFill>
                <a:schemeClr val="accent5">
                  <a:lumMod val="60000"/>
                  <a:lumOff val="4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52" name="CuadroTexto 51">
            <a:extLst>
              <a:ext uri="{FF2B5EF4-FFF2-40B4-BE49-F238E27FC236}">
                <a16:creationId xmlns:a16="http://schemas.microsoft.com/office/drawing/2014/main" id="{ABA52C6A-E5D8-8067-64FF-5A8013058B0B}"/>
              </a:ext>
            </a:extLst>
          </p:cNvPr>
          <p:cNvSpPr txBox="1"/>
          <p:nvPr/>
        </p:nvSpPr>
        <p:spPr>
          <a:xfrm>
            <a:off x="7279942" y="6236696"/>
            <a:ext cx="5972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400" b="1" dirty="0">
                <a:latin typeface="Century Gothic" panose="020B0502020202020204" pitchFamily="34" charset="0"/>
              </a:rPr>
              <a:t>0</a:t>
            </a:r>
            <a:endParaRPr lang="es-ES" sz="2400" b="1" baseline="30000" dirty="0">
              <a:latin typeface="Century Gothic" panose="020B0502020202020204" pitchFamily="34" charset="0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24C11283-66CA-F02C-272F-9CE3A1B74187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DC234BC-C905-5FC8-F9C3-C6B9AD93F88B}"/>
              </a:ext>
            </a:extLst>
          </p:cNvPr>
          <p:cNvSpPr txBox="1"/>
          <p:nvPr/>
        </p:nvSpPr>
        <p:spPr>
          <a:xfrm>
            <a:off x="3601" y="33951"/>
            <a:ext cx="108347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2: </a:t>
            </a:r>
            <a:r>
              <a:rPr lang="es-ES" sz="4000" dirty="0">
                <a:latin typeface="SF Fedora" panose="00000400000000000000" pitchFamily="2" charset="0"/>
                <a:cs typeface="SF Fedora" panose="00000400000000000000" pitchFamily="2" charset="0"/>
              </a:rPr>
              <a:t>Sistema Decimal y Sexagesimal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013017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350"/>
                            </p:stCondLst>
                            <p:childTnLst>
                              <p:par>
                                <p:cTn id="1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85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00"/>
                            </p:stCondLst>
                            <p:childTnLst>
                              <p:par>
                                <p:cTn id="6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36" grpId="0"/>
      <p:bldP spid="37" grpId="0"/>
      <p:bldP spid="38" grpId="0"/>
      <p:bldP spid="39" grpId="0"/>
      <p:bldP spid="40" grpId="0"/>
      <p:bldP spid="48" grpId="0"/>
      <p:bldP spid="49" grpId="0"/>
      <p:bldP spid="50" grpId="0"/>
      <p:bldP spid="51" grpId="0"/>
      <p:bldP spid="5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A32A69B5-E853-447A-AA2F-337980708000"/>
  <p:tag name="ISPRING_CMI5_LAUNCH_METHOD" val="any window"/>
  <p:tag name="ISPRING_SCORM_RATE_SLIDES" val="1"/>
  <p:tag name="ISPRINGCLOUDFOLDERID" val="1"/>
  <p:tag name="ISPRINGONLINEFOLDERID" val="1"/>
  <p:tag name="ISPRING_SCORM_PASSING_SCORE" val="100.000000"/>
  <p:tag name="ISPRING_PRESENTATION_TITLE" val="3. Multiplicación y división"/>
  <p:tag name="ISPRING_OUTPUT_FOLDER" val="[[&quot;\uFFFD\/\uFFFD\uFFFD{21D528DD-60A0-4F5B-BB24-A0E5BDBD4B43}&quot;,&quot;C:\\Users\\34717\\Desktop\\Apuntes\\1 ESO\\TEMA 5-Los números decimales&quot;]]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FIRST_PUBLISH" val="1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RATE_QUIZZE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F27A8D38-4996-4867-8041-86CD4D0373BF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D0A9F95A-2E99-4CFA-BFA3-3DECBD4A0CAF}:25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F0DB7A0D-8949-4F05-92BF-B60C24F8FA9E}:25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DF0DA9D5-7C39-457D-994D-80E11A32DB69}:26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81F3F708-0681-44B7-B2E8-DB0D025BA260}:26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27D5A907-3151-4313-A350-3E9844F45193}:262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</TotalTime>
  <Words>548</Words>
  <Application>Microsoft Office PowerPoint</Application>
  <PresentationFormat>Panorámica</PresentationFormat>
  <Paragraphs>93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Aptos</vt:lpstr>
      <vt:lpstr>Arial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3. Multiplicación y división</dc:title>
  <dc:creator>Illán Linos Souto</dc:creator>
  <cp:lastModifiedBy>Illán Linos</cp:lastModifiedBy>
  <cp:revision>39</cp:revision>
  <dcterms:created xsi:type="dcterms:W3CDTF">2024-08-18T18:48:07Z</dcterms:created>
  <dcterms:modified xsi:type="dcterms:W3CDTF">2025-11-17T18:12:29Z</dcterms:modified>
</cp:coreProperties>
</file>