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1" r:id="rId4"/>
    <p:sldId id="260" r:id="rId5"/>
    <p:sldId id="262" r:id="rId6"/>
    <p:sldId id="263" r:id="rId7"/>
    <p:sldId id="264" r:id="rId8"/>
  </p:sldIdLst>
  <p:sldSz cx="12192000" cy="6858000"/>
  <p:notesSz cx="6858000" cy="9144000"/>
  <p:custDataLst>
    <p:tags r:id="rId10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56897-585F-435D-9B68-4C75FE7DDCB1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1B68C-CDF7-401B-8EF5-A1035BA2F7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314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907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360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9271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3943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7105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453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B68C-CDF7-401B-8EF5-A1035BA2F7F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79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sistema sexagesimal </a:t>
            </a:r>
            <a:r>
              <a:rPr lang="es-ES" sz="2000" b="1" dirty="0"/>
              <a:t>se basa en contar de 60 en 60, igual que el sistema decimal se basa en contar de 10 en 10.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5" name="Imagen 24" descr="Mano de una persona&#10;&#10;Descripción generada automáticamente">
            <a:extLst>
              <a:ext uri="{FF2B5EF4-FFF2-40B4-BE49-F238E27FC236}">
                <a16:creationId xmlns:a16="http://schemas.microsoft.com/office/drawing/2014/main" id="{897489E8-1507-1E32-0189-CCA5723AE2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3" t="-2289" r="3333" b="2289"/>
          <a:stretch/>
        </p:blipFill>
        <p:spPr>
          <a:xfrm flipH="1">
            <a:off x="2301841" y="3035184"/>
            <a:ext cx="2571750" cy="3429000"/>
          </a:xfrm>
          <a:prstGeom prst="ellipse">
            <a:avLst/>
          </a:prstGeom>
        </p:spPr>
      </p:pic>
      <p:pic>
        <p:nvPicPr>
          <p:cNvPr id="26" name="Imagen 25" descr="Mano de una persona&#10;&#10;Descripción generada automáticamente">
            <a:extLst>
              <a:ext uri="{FF2B5EF4-FFF2-40B4-BE49-F238E27FC236}">
                <a16:creationId xmlns:a16="http://schemas.microsoft.com/office/drawing/2014/main" id="{8E305560-B8C0-8C42-8CF3-494CFE960B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3" t="-2289" r="3333" b="2289"/>
          <a:stretch/>
        </p:blipFill>
        <p:spPr>
          <a:xfrm>
            <a:off x="4873591" y="3035184"/>
            <a:ext cx="2571750" cy="3429000"/>
          </a:xfrm>
          <a:prstGeom prst="ellipse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D452FE64-B4BB-2197-5BE9-8181C9D13633}"/>
              </a:ext>
            </a:extLst>
          </p:cNvPr>
          <p:cNvSpPr txBox="1"/>
          <p:nvPr/>
        </p:nvSpPr>
        <p:spPr>
          <a:xfrm>
            <a:off x="5224111" y="4462414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61B458B-7B6A-788E-543C-381F54D2CA01}"/>
              </a:ext>
            </a:extLst>
          </p:cNvPr>
          <p:cNvSpPr txBox="1"/>
          <p:nvPr/>
        </p:nvSpPr>
        <p:spPr>
          <a:xfrm>
            <a:off x="5043136" y="3879008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CF40206-1DA2-4939-70EE-F54B80F65A48}"/>
              </a:ext>
            </a:extLst>
          </p:cNvPr>
          <p:cNvSpPr txBox="1"/>
          <p:nvPr/>
        </p:nvSpPr>
        <p:spPr>
          <a:xfrm>
            <a:off x="5131242" y="4170711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FF66D8B-625B-C3AE-1C68-2B2A563ED401}"/>
              </a:ext>
            </a:extLst>
          </p:cNvPr>
          <p:cNvSpPr txBox="1"/>
          <p:nvPr/>
        </p:nvSpPr>
        <p:spPr>
          <a:xfrm>
            <a:off x="5565264" y="4175794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6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63801C4-7752-3184-F770-DA79D2F899C9}"/>
              </a:ext>
            </a:extLst>
          </p:cNvPr>
          <p:cNvSpPr txBox="1"/>
          <p:nvPr/>
        </p:nvSpPr>
        <p:spPr>
          <a:xfrm>
            <a:off x="5421040" y="3409092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4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FDA2B92-3E10-05B8-0F48-8720FD7E0696}"/>
              </a:ext>
            </a:extLst>
          </p:cNvPr>
          <p:cNvSpPr txBox="1"/>
          <p:nvPr/>
        </p:nvSpPr>
        <p:spPr>
          <a:xfrm>
            <a:off x="5493588" y="3792443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5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DBAA1DD-C0FF-16A6-018D-05F23A1BDF4A}"/>
              </a:ext>
            </a:extLst>
          </p:cNvPr>
          <p:cNvSpPr txBox="1"/>
          <p:nvPr/>
        </p:nvSpPr>
        <p:spPr>
          <a:xfrm>
            <a:off x="5927610" y="4140869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9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9576417-8334-A0EC-12A4-962CDC16E90A}"/>
              </a:ext>
            </a:extLst>
          </p:cNvPr>
          <p:cNvSpPr txBox="1"/>
          <p:nvPr/>
        </p:nvSpPr>
        <p:spPr>
          <a:xfrm>
            <a:off x="5875381" y="3277315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7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11478E1-1323-AB60-996E-ECF2745AF37F}"/>
              </a:ext>
            </a:extLst>
          </p:cNvPr>
          <p:cNvSpPr txBox="1"/>
          <p:nvPr/>
        </p:nvSpPr>
        <p:spPr>
          <a:xfrm>
            <a:off x="5897488" y="3710178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8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67C6278-B861-F4E0-E887-5172D678A9FF}"/>
              </a:ext>
            </a:extLst>
          </p:cNvPr>
          <p:cNvSpPr txBox="1"/>
          <p:nvPr/>
        </p:nvSpPr>
        <p:spPr>
          <a:xfrm>
            <a:off x="6272765" y="4177001"/>
            <a:ext cx="494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12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C3A8361-66AD-AD40-326C-0D4D6F3165D8}"/>
              </a:ext>
            </a:extLst>
          </p:cNvPr>
          <p:cNvSpPr txBox="1"/>
          <p:nvPr/>
        </p:nvSpPr>
        <p:spPr>
          <a:xfrm>
            <a:off x="6340818" y="3438147"/>
            <a:ext cx="472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2B1AF29-CA75-FA27-21D8-87C415C68D1C}"/>
              </a:ext>
            </a:extLst>
          </p:cNvPr>
          <p:cNvSpPr txBox="1"/>
          <p:nvPr/>
        </p:nvSpPr>
        <p:spPr>
          <a:xfrm>
            <a:off x="6333492" y="3780066"/>
            <a:ext cx="472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a:rPr>
              <a:t>11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8963057-61D3-FDD9-B034-F0251732EFD8}"/>
              </a:ext>
            </a:extLst>
          </p:cNvPr>
          <p:cNvSpPr txBox="1"/>
          <p:nvPr/>
        </p:nvSpPr>
        <p:spPr>
          <a:xfrm>
            <a:off x="2158650" y="3992498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D3C0620-E06E-F9A0-7F5B-EEE871279469}"/>
              </a:ext>
            </a:extLst>
          </p:cNvPr>
          <p:cNvSpPr txBox="1"/>
          <p:nvPr/>
        </p:nvSpPr>
        <p:spPr>
          <a:xfrm>
            <a:off x="2971450" y="3015543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E65B2FC-C596-7976-0A89-A23F369A662C}"/>
              </a:ext>
            </a:extLst>
          </p:cNvPr>
          <p:cNvSpPr txBox="1"/>
          <p:nvPr/>
        </p:nvSpPr>
        <p:spPr>
          <a:xfrm>
            <a:off x="3517551" y="2878150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F402105-1A78-057C-2014-894E6BF3E601}"/>
              </a:ext>
            </a:extLst>
          </p:cNvPr>
          <p:cNvSpPr txBox="1"/>
          <p:nvPr/>
        </p:nvSpPr>
        <p:spPr>
          <a:xfrm>
            <a:off x="4057700" y="3026544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0AA6383-6B9E-FA3E-5E8F-7130DA2F12BA}"/>
              </a:ext>
            </a:extLst>
          </p:cNvPr>
          <p:cNvSpPr txBox="1"/>
          <p:nvPr/>
        </p:nvSpPr>
        <p:spPr>
          <a:xfrm>
            <a:off x="4457825" y="3478898"/>
            <a:ext cx="32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s-ES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49" name="!Marco 10">
            <a:extLst>
              <a:ext uri="{FF2B5EF4-FFF2-40B4-BE49-F238E27FC236}">
                <a16:creationId xmlns:a16="http://schemas.microsoft.com/office/drawing/2014/main" id="{4BBE5AF5-B8F7-A8D4-9396-3EAA1BE7C83C}"/>
              </a:ext>
            </a:extLst>
          </p:cNvPr>
          <p:cNvSpPr/>
          <p:nvPr/>
        </p:nvSpPr>
        <p:spPr>
          <a:xfrm>
            <a:off x="535084" y="1952613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!CuadroTexto 1">
            <a:extLst>
              <a:ext uri="{FF2B5EF4-FFF2-40B4-BE49-F238E27FC236}">
                <a16:creationId xmlns:a16="http://schemas.microsoft.com/office/drawing/2014/main" id="{43E5702C-978E-B41C-156B-10FE508CC2F5}"/>
              </a:ext>
            </a:extLst>
          </p:cNvPr>
          <p:cNvSpPr txBox="1"/>
          <p:nvPr/>
        </p:nvSpPr>
        <p:spPr>
          <a:xfrm>
            <a:off x="535084" y="196718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Probablemente proviene de contar con 12 falanges de una mano y los 5 dedos de la otra.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1793141-17EF-23AC-6B6F-40BBE91DE4F9}"/>
              </a:ext>
            </a:extLst>
          </p:cNvPr>
          <p:cNvSpPr txBox="1"/>
          <p:nvPr/>
        </p:nvSpPr>
        <p:spPr>
          <a:xfrm rot="21277523">
            <a:off x="7897873" y="3352069"/>
            <a:ext cx="328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/>
              <a:t>5 X 12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68EF4C3-CACA-BAAE-B79D-5F08CD3F7E7E}"/>
              </a:ext>
            </a:extLst>
          </p:cNvPr>
          <p:cNvSpPr txBox="1"/>
          <p:nvPr/>
        </p:nvSpPr>
        <p:spPr>
          <a:xfrm>
            <a:off x="8021794" y="4193461"/>
            <a:ext cx="328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60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F2DB0F88-0F8E-4D31-3116-DF322672B714}"/>
              </a:ext>
            </a:extLst>
          </p:cNvPr>
          <p:cNvCxnSpPr>
            <a:cxnSpLocks/>
          </p:cNvCxnSpPr>
          <p:nvPr/>
        </p:nvCxnSpPr>
        <p:spPr>
          <a:xfrm flipV="1">
            <a:off x="8458200" y="3992498"/>
            <a:ext cx="2225040" cy="2163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Arco 62">
            <a:extLst>
              <a:ext uri="{FF2B5EF4-FFF2-40B4-BE49-F238E27FC236}">
                <a16:creationId xmlns:a16="http://schemas.microsoft.com/office/drawing/2014/main" id="{53584B44-2A2F-C650-AC58-03BF7F21BBC6}"/>
              </a:ext>
            </a:extLst>
          </p:cNvPr>
          <p:cNvSpPr/>
          <p:nvPr/>
        </p:nvSpPr>
        <p:spPr>
          <a:xfrm rot="11745893">
            <a:off x="8834846" y="3904291"/>
            <a:ext cx="749654" cy="749654"/>
          </a:xfrm>
          <a:prstGeom prst="arc">
            <a:avLst>
              <a:gd name="adj1" fmla="val 14694584"/>
              <a:gd name="adj2" fmla="val 0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4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5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85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15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3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8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3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8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3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8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3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8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3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7" grpId="0"/>
      <p:bldP spid="28" grpId="0"/>
      <p:bldP spid="29" grpId="0"/>
      <p:bldP spid="30" grpId="0"/>
      <p:bldP spid="31" grpId="0"/>
      <p:bldP spid="32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7" grpId="0"/>
      <p:bldP spid="48" grpId="0"/>
      <p:bldP spid="49" grpId="0" animBg="1"/>
      <p:bldP spid="50" grpId="0"/>
      <p:bldP spid="51" grpId="0"/>
      <p:bldP spid="52" grpId="0"/>
      <p:bldP spid="6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actualidad, el sistema sexagesimal se utiliza en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medida del tiempo </a:t>
            </a:r>
            <a:r>
              <a:rPr lang="es-ES" sz="2000" b="1" dirty="0"/>
              <a:t>y en la de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amplitud angular</a:t>
            </a:r>
            <a:r>
              <a:rPr lang="es-ES" sz="2000" b="1" dirty="0"/>
              <a:t>. Cada unidad se divide en 60 unidades del orden inferior.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9" name="Tabla 7">
            <a:extLst>
              <a:ext uri="{FF2B5EF4-FFF2-40B4-BE49-F238E27FC236}">
                <a16:creationId xmlns:a16="http://schemas.microsoft.com/office/drawing/2014/main" id="{3968A90D-F212-AEAF-39EB-7C212E90B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527823"/>
              </p:ext>
            </p:extLst>
          </p:nvPr>
        </p:nvGraphicFramePr>
        <p:xfrm>
          <a:off x="769209" y="2752356"/>
          <a:ext cx="4651755" cy="8073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50585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</a:tblGrid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HORA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MINUTO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SEGUNDO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min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20" name="Tabla 7">
            <a:extLst>
              <a:ext uri="{FF2B5EF4-FFF2-40B4-BE49-F238E27FC236}">
                <a16:creationId xmlns:a16="http://schemas.microsoft.com/office/drawing/2014/main" id="{6C0EE5DB-CA4B-32A7-6AF3-413D7C829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92988"/>
              </p:ext>
            </p:extLst>
          </p:nvPr>
        </p:nvGraphicFramePr>
        <p:xfrm>
          <a:off x="6771038" y="2752356"/>
          <a:ext cx="4651755" cy="8073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50585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</a:tblGrid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GRADO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MINUTO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SEGUNDO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º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‘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21" name="Abrir llave 20">
            <a:extLst>
              <a:ext uri="{FF2B5EF4-FFF2-40B4-BE49-F238E27FC236}">
                <a16:creationId xmlns:a16="http://schemas.microsoft.com/office/drawing/2014/main" id="{DB2CAEB2-0C5E-EBED-F8BD-6F3D77B6776E}"/>
              </a:ext>
            </a:extLst>
          </p:cNvPr>
          <p:cNvSpPr/>
          <p:nvPr/>
        </p:nvSpPr>
        <p:spPr>
          <a:xfrm rot="5400000">
            <a:off x="2970212" y="125760"/>
            <a:ext cx="249750" cy="4651755"/>
          </a:xfrm>
          <a:prstGeom prst="leftBrace">
            <a:avLst>
              <a:gd name="adj1" fmla="val 72023"/>
              <a:gd name="adj2" fmla="val 50000"/>
            </a:avLst>
          </a:prstGeom>
          <a:ln w="285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BEA95F3-D1B1-8302-1B2E-F828D79B898E}"/>
              </a:ext>
            </a:extLst>
          </p:cNvPr>
          <p:cNvSpPr txBox="1"/>
          <p:nvPr/>
        </p:nvSpPr>
        <p:spPr>
          <a:xfrm>
            <a:off x="2447118" y="1926652"/>
            <a:ext cx="1295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TIEMPO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100B8471-D509-8946-6B82-CD129449394F}"/>
              </a:ext>
            </a:extLst>
          </p:cNvPr>
          <p:cNvSpPr/>
          <p:nvPr/>
        </p:nvSpPr>
        <p:spPr>
          <a:xfrm rot="5400000">
            <a:off x="8972039" y="130036"/>
            <a:ext cx="249750" cy="4651755"/>
          </a:xfrm>
          <a:prstGeom prst="leftBrace">
            <a:avLst>
              <a:gd name="adj1" fmla="val 72023"/>
              <a:gd name="adj2" fmla="val 50000"/>
            </a:avLst>
          </a:prstGeom>
          <a:ln w="285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6B9FEDB-7690-B0DE-FD58-2BB96FF65439}"/>
              </a:ext>
            </a:extLst>
          </p:cNvPr>
          <p:cNvSpPr txBox="1"/>
          <p:nvPr/>
        </p:nvSpPr>
        <p:spPr>
          <a:xfrm>
            <a:off x="7711956" y="1926652"/>
            <a:ext cx="2769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AMPLITUD ANGULAR</a:t>
            </a:r>
          </a:p>
        </p:txBody>
      </p:sp>
      <p:sp>
        <p:nvSpPr>
          <p:cNvPr id="45" name="Arco 44">
            <a:extLst>
              <a:ext uri="{FF2B5EF4-FFF2-40B4-BE49-F238E27FC236}">
                <a16:creationId xmlns:a16="http://schemas.microsoft.com/office/drawing/2014/main" id="{23BAC860-C6C8-351B-E91A-27BBDE18849A}"/>
              </a:ext>
            </a:extLst>
          </p:cNvPr>
          <p:cNvSpPr/>
          <p:nvPr/>
        </p:nvSpPr>
        <p:spPr>
          <a:xfrm>
            <a:off x="309508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Arco 33">
            <a:extLst>
              <a:ext uri="{FF2B5EF4-FFF2-40B4-BE49-F238E27FC236}">
                <a16:creationId xmlns:a16="http://schemas.microsoft.com/office/drawing/2014/main" id="{5768872B-B9F6-342E-6718-468979319DD6}"/>
              </a:ext>
            </a:extLst>
          </p:cNvPr>
          <p:cNvSpPr/>
          <p:nvPr/>
        </p:nvSpPr>
        <p:spPr>
          <a:xfrm>
            <a:off x="153298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922599E-FFC7-2644-77E3-6CDF2C095917}"/>
              </a:ext>
            </a:extLst>
          </p:cNvPr>
          <p:cNvSpPr txBox="1"/>
          <p:nvPr/>
        </p:nvSpPr>
        <p:spPr>
          <a:xfrm>
            <a:off x="196097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32412B8-A0FA-BF5A-2982-DF675A65A928}"/>
              </a:ext>
            </a:extLst>
          </p:cNvPr>
          <p:cNvSpPr txBox="1"/>
          <p:nvPr/>
        </p:nvSpPr>
        <p:spPr>
          <a:xfrm>
            <a:off x="352307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55" name="Arco 54">
            <a:extLst>
              <a:ext uri="{FF2B5EF4-FFF2-40B4-BE49-F238E27FC236}">
                <a16:creationId xmlns:a16="http://schemas.microsoft.com/office/drawing/2014/main" id="{E478F092-B06C-0D8A-D5F6-A88A0EBB812F}"/>
              </a:ext>
            </a:extLst>
          </p:cNvPr>
          <p:cNvSpPr/>
          <p:nvPr/>
        </p:nvSpPr>
        <p:spPr>
          <a:xfrm>
            <a:off x="749563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Arco 59">
            <a:extLst>
              <a:ext uri="{FF2B5EF4-FFF2-40B4-BE49-F238E27FC236}">
                <a16:creationId xmlns:a16="http://schemas.microsoft.com/office/drawing/2014/main" id="{0D911C3D-5164-5506-9C44-472E354CC1C1}"/>
              </a:ext>
            </a:extLst>
          </p:cNvPr>
          <p:cNvSpPr/>
          <p:nvPr/>
        </p:nvSpPr>
        <p:spPr>
          <a:xfrm>
            <a:off x="905773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E9FDF0B-3D9D-8DF9-F35C-43D6276F7AE9}"/>
              </a:ext>
            </a:extLst>
          </p:cNvPr>
          <p:cNvSpPr txBox="1"/>
          <p:nvPr/>
        </p:nvSpPr>
        <p:spPr>
          <a:xfrm>
            <a:off x="792362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DC8858B-F57C-5E20-242D-1655B1C4D022}"/>
              </a:ext>
            </a:extLst>
          </p:cNvPr>
          <p:cNvSpPr txBox="1"/>
          <p:nvPr/>
        </p:nvSpPr>
        <p:spPr>
          <a:xfrm>
            <a:off x="948572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A46E199B-FFEE-5696-89D2-49675B355DCB}"/>
              </a:ext>
            </a:extLst>
          </p:cNvPr>
          <p:cNvSpPr/>
          <p:nvPr/>
        </p:nvSpPr>
        <p:spPr>
          <a:xfrm>
            <a:off x="1232417" y="2126642"/>
            <a:ext cx="3725338" cy="2404597"/>
          </a:xfrm>
          <a:prstGeom prst="arc">
            <a:avLst>
              <a:gd name="adj1" fmla="val 578644"/>
              <a:gd name="adj2" fmla="val 10276013"/>
            </a:avLst>
          </a:prstGeom>
          <a:noFill/>
          <a:ln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34757367-1725-9DCB-A873-A7E0CC4DCE1F}"/>
              </a:ext>
            </a:extLst>
          </p:cNvPr>
          <p:cNvSpPr txBox="1"/>
          <p:nvPr/>
        </p:nvSpPr>
        <p:spPr>
          <a:xfrm>
            <a:off x="2574378" y="4119747"/>
            <a:ext cx="104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3600</a:t>
            </a:r>
          </a:p>
        </p:txBody>
      </p:sp>
      <p:sp>
        <p:nvSpPr>
          <p:cNvPr id="70" name="Arco 69">
            <a:extLst>
              <a:ext uri="{FF2B5EF4-FFF2-40B4-BE49-F238E27FC236}">
                <a16:creationId xmlns:a16="http://schemas.microsoft.com/office/drawing/2014/main" id="{E11A4292-04B8-1F53-30DB-B8BEFD20D870}"/>
              </a:ext>
            </a:extLst>
          </p:cNvPr>
          <p:cNvSpPr/>
          <p:nvPr/>
        </p:nvSpPr>
        <p:spPr>
          <a:xfrm>
            <a:off x="7196145" y="2084482"/>
            <a:ext cx="3725338" cy="2404597"/>
          </a:xfrm>
          <a:prstGeom prst="arc">
            <a:avLst>
              <a:gd name="adj1" fmla="val 607627"/>
              <a:gd name="adj2" fmla="val 10133684"/>
            </a:avLst>
          </a:prstGeom>
          <a:noFill/>
          <a:ln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AF92F4F-3F75-41A3-4676-68F62312A9D4}"/>
              </a:ext>
            </a:extLst>
          </p:cNvPr>
          <p:cNvSpPr txBox="1"/>
          <p:nvPr/>
        </p:nvSpPr>
        <p:spPr>
          <a:xfrm>
            <a:off x="8538106" y="4074605"/>
            <a:ext cx="104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3600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188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6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1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6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1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6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1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5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75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25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1" grpId="0" animBg="1"/>
      <p:bldP spid="22" grpId="0"/>
      <p:bldP spid="23" grpId="0" animBg="1"/>
      <p:bldP spid="33" grpId="0"/>
      <p:bldP spid="45" grpId="0" animBg="1"/>
      <p:bldP spid="34" grpId="0" animBg="1"/>
      <p:bldP spid="46" grpId="0"/>
      <p:bldP spid="53" grpId="0"/>
      <p:bldP spid="55" grpId="0" animBg="1"/>
      <p:bldP spid="60" grpId="0" animBg="1"/>
      <p:bldP spid="62" grpId="0"/>
      <p:bldP spid="64" grpId="0"/>
      <p:bldP spid="68" grpId="0" animBg="1"/>
      <p:bldP spid="69" grpId="0"/>
      <p:bldP spid="70" grpId="0" animBg="1"/>
      <p:bldP spid="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actualidad, el sistema sexagesimal se utiliza en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medida del tiempo </a:t>
            </a:r>
            <a:r>
              <a:rPr lang="es-ES" sz="2000" b="1" dirty="0"/>
              <a:t>y en la de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amplitud angular</a:t>
            </a:r>
            <a:r>
              <a:rPr lang="es-ES" sz="2000" b="1" dirty="0"/>
              <a:t>. Cada unidad se divide en 60 unidades del orden inferior.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9" name="Tabla 7">
            <a:extLst>
              <a:ext uri="{FF2B5EF4-FFF2-40B4-BE49-F238E27FC236}">
                <a16:creationId xmlns:a16="http://schemas.microsoft.com/office/drawing/2014/main" id="{3968A90D-F212-AEAF-39EB-7C212E90B21C}"/>
              </a:ext>
            </a:extLst>
          </p:cNvPr>
          <p:cNvGraphicFramePr>
            <a:graphicFrameLocks noGrp="1"/>
          </p:cNvGraphicFramePr>
          <p:nvPr/>
        </p:nvGraphicFramePr>
        <p:xfrm>
          <a:off x="769209" y="2752356"/>
          <a:ext cx="4651755" cy="8073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50585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</a:tblGrid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HORA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MINUTO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SEGUNDO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min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20" name="Tabla 7">
            <a:extLst>
              <a:ext uri="{FF2B5EF4-FFF2-40B4-BE49-F238E27FC236}">
                <a16:creationId xmlns:a16="http://schemas.microsoft.com/office/drawing/2014/main" id="{6C0EE5DB-CA4B-32A7-6AF3-413D7C829503}"/>
              </a:ext>
            </a:extLst>
          </p:cNvPr>
          <p:cNvGraphicFramePr>
            <a:graphicFrameLocks noGrp="1"/>
          </p:cNvGraphicFramePr>
          <p:nvPr/>
        </p:nvGraphicFramePr>
        <p:xfrm>
          <a:off x="6771038" y="2752356"/>
          <a:ext cx="4651755" cy="8073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50585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</a:tblGrid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GRADO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MINUTO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SEGUNDO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º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‘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21" name="Abrir llave 20">
            <a:extLst>
              <a:ext uri="{FF2B5EF4-FFF2-40B4-BE49-F238E27FC236}">
                <a16:creationId xmlns:a16="http://schemas.microsoft.com/office/drawing/2014/main" id="{DB2CAEB2-0C5E-EBED-F8BD-6F3D77B6776E}"/>
              </a:ext>
            </a:extLst>
          </p:cNvPr>
          <p:cNvSpPr/>
          <p:nvPr/>
        </p:nvSpPr>
        <p:spPr>
          <a:xfrm rot="5400000">
            <a:off x="2970212" y="125760"/>
            <a:ext cx="249750" cy="4651755"/>
          </a:xfrm>
          <a:prstGeom prst="leftBrace">
            <a:avLst>
              <a:gd name="adj1" fmla="val 72023"/>
              <a:gd name="adj2" fmla="val 50000"/>
            </a:avLst>
          </a:prstGeom>
          <a:ln w="285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BEA95F3-D1B1-8302-1B2E-F828D79B898E}"/>
              </a:ext>
            </a:extLst>
          </p:cNvPr>
          <p:cNvSpPr txBox="1"/>
          <p:nvPr/>
        </p:nvSpPr>
        <p:spPr>
          <a:xfrm>
            <a:off x="2447118" y="1926652"/>
            <a:ext cx="1295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TIEMPO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100B8471-D509-8946-6B82-CD129449394F}"/>
              </a:ext>
            </a:extLst>
          </p:cNvPr>
          <p:cNvSpPr/>
          <p:nvPr/>
        </p:nvSpPr>
        <p:spPr>
          <a:xfrm rot="5400000">
            <a:off x="8972039" y="130036"/>
            <a:ext cx="249750" cy="4651755"/>
          </a:xfrm>
          <a:prstGeom prst="leftBrace">
            <a:avLst>
              <a:gd name="adj1" fmla="val 72023"/>
              <a:gd name="adj2" fmla="val 50000"/>
            </a:avLst>
          </a:prstGeom>
          <a:ln w="285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6B9FEDB-7690-B0DE-FD58-2BB96FF65439}"/>
              </a:ext>
            </a:extLst>
          </p:cNvPr>
          <p:cNvSpPr txBox="1"/>
          <p:nvPr/>
        </p:nvSpPr>
        <p:spPr>
          <a:xfrm>
            <a:off x="7711956" y="1926652"/>
            <a:ext cx="2769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AMPLITUD ANGULAR</a:t>
            </a:r>
          </a:p>
        </p:txBody>
      </p:sp>
      <p:sp>
        <p:nvSpPr>
          <p:cNvPr id="34" name="Arco 33">
            <a:extLst>
              <a:ext uri="{FF2B5EF4-FFF2-40B4-BE49-F238E27FC236}">
                <a16:creationId xmlns:a16="http://schemas.microsoft.com/office/drawing/2014/main" id="{5768872B-B9F6-342E-6718-468979319DD6}"/>
              </a:ext>
            </a:extLst>
          </p:cNvPr>
          <p:cNvSpPr/>
          <p:nvPr/>
        </p:nvSpPr>
        <p:spPr>
          <a:xfrm>
            <a:off x="153298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Arco 44">
            <a:extLst>
              <a:ext uri="{FF2B5EF4-FFF2-40B4-BE49-F238E27FC236}">
                <a16:creationId xmlns:a16="http://schemas.microsoft.com/office/drawing/2014/main" id="{23BAC860-C6C8-351B-E91A-27BBDE18849A}"/>
              </a:ext>
            </a:extLst>
          </p:cNvPr>
          <p:cNvSpPr/>
          <p:nvPr/>
        </p:nvSpPr>
        <p:spPr>
          <a:xfrm>
            <a:off x="309508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922599E-FFC7-2644-77E3-6CDF2C095917}"/>
              </a:ext>
            </a:extLst>
          </p:cNvPr>
          <p:cNvSpPr txBox="1"/>
          <p:nvPr/>
        </p:nvSpPr>
        <p:spPr>
          <a:xfrm>
            <a:off x="196097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32412B8-A0FA-BF5A-2982-DF675A65A928}"/>
              </a:ext>
            </a:extLst>
          </p:cNvPr>
          <p:cNvSpPr txBox="1"/>
          <p:nvPr/>
        </p:nvSpPr>
        <p:spPr>
          <a:xfrm>
            <a:off x="352307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55" name="Arco 54">
            <a:extLst>
              <a:ext uri="{FF2B5EF4-FFF2-40B4-BE49-F238E27FC236}">
                <a16:creationId xmlns:a16="http://schemas.microsoft.com/office/drawing/2014/main" id="{E478F092-B06C-0D8A-D5F6-A88A0EBB812F}"/>
              </a:ext>
            </a:extLst>
          </p:cNvPr>
          <p:cNvSpPr/>
          <p:nvPr/>
        </p:nvSpPr>
        <p:spPr>
          <a:xfrm>
            <a:off x="749563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Arco 59">
            <a:extLst>
              <a:ext uri="{FF2B5EF4-FFF2-40B4-BE49-F238E27FC236}">
                <a16:creationId xmlns:a16="http://schemas.microsoft.com/office/drawing/2014/main" id="{0D911C3D-5164-5506-9C44-472E354CC1C1}"/>
              </a:ext>
            </a:extLst>
          </p:cNvPr>
          <p:cNvSpPr/>
          <p:nvPr/>
        </p:nvSpPr>
        <p:spPr>
          <a:xfrm>
            <a:off x="9057736" y="2864371"/>
            <a:ext cx="1562100" cy="1129258"/>
          </a:xfrm>
          <a:prstGeom prst="arc">
            <a:avLst>
              <a:gd name="adj1" fmla="val 780006"/>
              <a:gd name="adj2" fmla="val 9990214"/>
            </a:avLst>
          </a:prstGeom>
          <a:noFill/>
          <a:ln>
            <a:solidFill>
              <a:srgbClr val="EF4246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E9FDF0B-3D9D-8DF9-F35C-43D6276F7AE9}"/>
              </a:ext>
            </a:extLst>
          </p:cNvPr>
          <p:cNvSpPr txBox="1"/>
          <p:nvPr/>
        </p:nvSpPr>
        <p:spPr>
          <a:xfrm>
            <a:off x="792362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DC8858B-F57C-5E20-242D-1655B1C4D022}"/>
              </a:ext>
            </a:extLst>
          </p:cNvPr>
          <p:cNvSpPr txBox="1"/>
          <p:nvPr/>
        </p:nvSpPr>
        <p:spPr>
          <a:xfrm>
            <a:off x="9485726" y="3618725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60</a:t>
            </a:r>
          </a:p>
        </p:txBody>
      </p:sp>
      <p:sp>
        <p:nvSpPr>
          <p:cNvPr id="3" name="Arco 2">
            <a:extLst>
              <a:ext uri="{FF2B5EF4-FFF2-40B4-BE49-F238E27FC236}">
                <a16:creationId xmlns:a16="http://schemas.microsoft.com/office/drawing/2014/main" id="{F1780314-547F-6B1E-7C55-26B69B3C9487}"/>
              </a:ext>
            </a:extLst>
          </p:cNvPr>
          <p:cNvSpPr/>
          <p:nvPr/>
        </p:nvSpPr>
        <p:spPr>
          <a:xfrm>
            <a:off x="1232417" y="2126642"/>
            <a:ext cx="3725338" cy="2404597"/>
          </a:xfrm>
          <a:prstGeom prst="arc">
            <a:avLst>
              <a:gd name="adj1" fmla="val 578644"/>
              <a:gd name="adj2" fmla="val 10276013"/>
            </a:avLst>
          </a:prstGeom>
          <a:noFill/>
          <a:ln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2D8A13-0A47-DB70-97C8-310400DC3F0F}"/>
              </a:ext>
            </a:extLst>
          </p:cNvPr>
          <p:cNvSpPr txBox="1"/>
          <p:nvPr/>
        </p:nvSpPr>
        <p:spPr>
          <a:xfrm>
            <a:off x="2574378" y="4119747"/>
            <a:ext cx="104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3600</a:t>
            </a:r>
          </a:p>
        </p:txBody>
      </p:sp>
      <p:sp>
        <p:nvSpPr>
          <p:cNvPr id="5" name="Arco 4">
            <a:extLst>
              <a:ext uri="{FF2B5EF4-FFF2-40B4-BE49-F238E27FC236}">
                <a16:creationId xmlns:a16="http://schemas.microsoft.com/office/drawing/2014/main" id="{151C42B1-FD46-CD87-EEED-E4BC8FDD61AB}"/>
              </a:ext>
            </a:extLst>
          </p:cNvPr>
          <p:cNvSpPr/>
          <p:nvPr/>
        </p:nvSpPr>
        <p:spPr>
          <a:xfrm>
            <a:off x="7196145" y="2084482"/>
            <a:ext cx="3725338" cy="2404597"/>
          </a:xfrm>
          <a:prstGeom prst="arc">
            <a:avLst>
              <a:gd name="adj1" fmla="val 607627"/>
              <a:gd name="adj2" fmla="val 10133684"/>
            </a:avLst>
          </a:prstGeom>
          <a:noFill/>
          <a:ln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C35BCD-31B3-E588-F8AB-20D89C26B2EA}"/>
              </a:ext>
            </a:extLst>
          </p:cNvPr>
          <p:cNvSpPr txBox="1"/>
          <p:nvPr/>
        </p:nvSpPr>
        <p:spPr>
          <a:xfrm>
            <a:off x="8538106" y="4074605"/>
            <a:ext cx="104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x 3600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599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actualidad, el sistema sexagesimal se utiliza en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medida del tiempo </a:t>
            </a:r>
            <a:r>
              <a:rPr lang="es-ES" sz="2000" b="1" dirty="0"/>
              <a:t>y en la de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amplitud angular</a:t>
            </a:r>
            <a:r>
              <a:rPr lang="es-ES" sz="2000" b="1" dirty="0"/>
              <a:t>. Cada unidad se divide en 60 unidades del orden inferior.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9" name="Tabla 7">
            <a:extLst>
              <a:ext uri="{FF2B5EF4-FFF2-40B4-BE49-F238E27FC236}">
                <a16:creationId xmlns:a16="http://schemas.microsoft.com/office/drawing/2014/main" id="{3968A90D-F212-AEAF-39EB-7C212E90B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106275"/>
              </p:ext>
            </p:extLst>
          </p:nvPr>
        </p:nvGraphicFramePr>
        <p:xfrm>
          <a:off x="769209" y="2288805"/>
          <a:ext cx="4651755" cy="8073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50585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</a:tblGrid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HORA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MINUTO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SEGUNDO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min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20" name="Tabla 7">
            <a:extLst>
              <a:ext uri="{FF2B5EF4-FFF2-40B4-BE49-F238E27FC236}">
                <a16:creationId xmlns:a16="http://schemas.microsoft.com/office/drawing/2014/main" id="{6C0EE5DB-CA4B-32A7-6AF3-413D7C829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604212"/>
              </p:ext>
            </p:extLst>
          </p:nvPr>
        </p:nvGraphicFramePr>
        <p:xfrm>
          <a:off x="6771038" y="2288805"/>
          <a:ext cx="4651755" cy="8073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50585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1550585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</a:tblGrid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GRADO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MINUTO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SEGUNDO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40367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º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‘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FBEA95F3-D1B1-8302-1B2E-F828D79B898E}"/>
              </a:ext>
            </a:extLst>
          </p:cNvPr>
          <p:cNvSpPr txBox="1"/>
          <p:nvPr/>
        </p:nvSpPr>
        <p:spPr>
          <a:xfrm>
            <a:off x="2447118" y="1869502"/>
            <a:ext cx="1295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TIEMPO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6B9FEDB-7690-B0DE-FD58-2BB96FF65439}"/>
              </a:ext>
            </a:extLst>
          </p:cNvPr>
          <p:cNvSpPr txBox="1"/>
          <p:nvPr/>
        </p:nvSpPr>
        <p:spPr>
          <a:xfrm>
            <a:off x="7711956" y="1869502"/>
            <a:ext cx="2769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AMPLITUD ANGULAR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09B88B30-25EE-7312-E756-9BA711EDBA9D}"/>
              </a:ext>
            </a:extLst>
          </p:cNvPr>
          <p:cNvSpPr/>
          <p:nvPr/>
        </p:nvSpPr>
        <p:spPr>
          <a:xfrm>
            <a:off x="535084" y="3348047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D2D01C4E-D788-8CAC-B976-EC9C80F0E5B5}"/>
              </a:ext>
            </a:extLst>
          </p:cNvPr>
          <p:cNvSpPr txBox="1"/>
          <p:nvPr/>
        </p:nvSpPr>
        <p:spPr>
          <a:xfrm>
            <a:off x="535084" y="335533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i="0" u="none" strike="noStrike" baseline="0" dirty="0"/>
              <a:t>Se pueden expresar utilizando simultáneamente varias unidades </a:t>
            </a:r>
            <a:r>
              <a:rPr lang="es-ES" sz="2000" b="1" i="0" u="none" strike="noStrike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(forma compleja) </a:t>
            </a:r>
            <a:r>
              <a:rPr lang="es-ES" sz="2000" b="1" i="0" u="none" strike="noStrike" baseline="0" dirty="0"/>
              <a:t>o una unidad única </a:t>
            </a:r>
            <a:r>
              <a:rPr lang="es-ES" sz="2000" b="1" i="0" u="none" strike="noStrike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(forma incompleja).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3EC983-677C-8BA0-515B-DF9E58A08E00}"/>
              </a:ext>
            </a:extLst>
          </p:cNvPr>
          <p:cNvSpPr txBox="1"/>
          <p:nvPr/>
        </p:nvSpPr>
        <p:spPr>
          <a:xfrm>
            <a:off x="1608163" y="4322410"/>
            <a:ext cx="297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FORMA COMPLEJA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97EDFD-7468-A8A6-4C50-ABE5956A992A}"/>
              </a:ext>
            </a:extLst>
          </p:cNvPr>
          <p:cNvSpPr txBox="1"/>
          <p:nvPr/>
        </p:nvSpPr>
        <p:spPr>
          <a:xfrm>
            <a:off x="7609993" y="4320132"/>
            <a:ext cx="2769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FORMA INCOMPLEJA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EE482A8-AB44-0067-0B0B-04DE6AC45D8F}"/>
              </a:ext>
            </a:extLst>
          </p:cNvPr>
          <p:cNvCxnSpPr>
            <a:cxnSpLocks/>
          </p:cNvCxnSpPr>
          <p:nvPr/>
        </p:nvCxnSpPr>
        <p:spPr>
          <a:xfrm>
            <a:off x="1842549" y="4720242"/>
            <a:ext cx="25050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1E89DF9-8237-D06C-B70F-EBD9D490CFFE}"/>
              </a:ext>
            </a:extLst>
          </p:cNvPr>
          <p:cNvCxnSpPr>
            <a:cxnSpLocks/>
          </p:cNvCxnSpPr>
          <p:nvPr/>
        </p:nvCxnSpPr>
        <p:spPr>
          <a:xfrm>
            <a:off x="7609993" y="4720242"/>
            <a:ext cx="2769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A3F93C-73F4-E394-F5A4-0DD569C68DF6}"/>
              </a:ext>
            </a:extLst>
          </p:cNvPr>
          <p:cNvSpPr txBox="1"/>
          <p:nvPr/>
        </p:nvSpPr>
        <p:spPr>
          <a:xfrm>
            <a:off x="2180281" y="4914401"/>
            <a:ext cx="1829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1h y 15 min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15B2D1-BA9F-220D-89D4-B8F062AE661A}"/>
              </a:ext>
            </a:extLst>
          </p:cNvPr>
          <p:cNvSpPr txBox="1"/>
          <p:nvPr/>
        </p:nvSpPr>
        <p:spPr>
          <a:xfrm>
            <a:off x="2180281" y="5594399"/>
            <a:ext cx="1829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13º 12’</a:t>
            </a:r>
            <a:endParaRPr lang="es-ES" sz="2000" b="1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3540D2A-B0AD-BF90-434A-FD85E068A7E9}"/>
              </a:ext>
            </a:extLst>
          </p:cNvPr>
          <p:cNvCxnSpPr/>
          <p:nvPr/>
        </p:nvCxnSpPr>
        <p:spPr>
          <a:xfrm>
            <a:off x="4762742" y="5114456"/>
            <a:ext cx="2666516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36E47FC-F3C8-9AEA-B2B3-3DB01F4966CA}"/>
              </a:ext>
            </a:extLst>
          </p:cNvPr>
          <p:cNvCxnSpPr/>
          <p:nvPr/>
        </p:nvCxnSpPr>
        <p:spPr>
          <a:xfrm>
            <a:off x="4762742" y="5813035"/>
            <a:ext cx="2666516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8BAC4CE-CF0A-107E-BFD1-0EF0942318F7}"/>
              </a:ext>
            </a:extLst>
          </p:cNvPr>
          <p:cNvSpPr txBox="1"/>
          <p:nvPr/>
        </p:nvSpPr>
        <p:spPr>
          <a:xfrm>
            <a:off x="8087331" y="4914401"/>
            <a:ext cx="2019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1,25h o 75min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1B1E08F-077F-4D09-5B44-2F828964057E}"/>
              </a:ext>
            </a:extLst>
          </p:cNvPr>
          <p:cNvSpPr txBox="1"/>
          <p:nvPr/>
        </p:nvSpPr>
        <p:spPr>
          <a:xfrm>
            <a:off x="8087331" y="5594399"/>
            <a:ext cx="2019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13,2º o 792’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5904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13" grpId="0"/>
      <p:bldP spid="14" grpId="0"/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550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 la hora de resolver un problema tendremos que usar la información en forma incompleja, por eso vamos a ver cómo se pasa de una forma a otra.	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866E7D-B0C0-4D2F-799A-8D13A9A4C755}"/>
              </a:ext>
            </a:extLst>
          </p:cNvPr>
          <p:cNvSpPr txBox="1"/>
          <p:nvPr/>
        </p:nvSpPr>
        <p:spPr>
          <a:xfrm>
            <a:off x="535084" y="1993787"/>
            <a:ext cx="383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De complejo a incomplejo:</a:t>
            </a:r>
          </a:p>
        </p:txBody>
      </p:sp>
      <p:sp>
        <p:nvSpPr>
          <p:cNvPr id="12" name="Sol 11">
            <a:extLst>
              <a:ext uri="{FF2B5EF4-FFF2-40B4-BE49-F238E27FC236}">
                <a16:creationId xmlns:a16="http://schemas.microsoft.com/office/drawing/2014/main" id="{133C4135-D2DD-320E-0471-81A1EB6C0B57}"/>
              </a:ext>
            </a:extLst>
          </p:cNvPr>
          <p:cNvSpPr/>
          <p:nvPr/>
        </p:nvSpPr>
        <p:spPr>
          <a:xfrm>
            <a:off x="690086" y="2488371"/>
            <a:ext cx="439420" cy="439420"/>
          </a:xfrm>
          <a:prstGeom prst="sun">
            <a:avLst>
              <a:gd name="adj" fmla="val 41095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0C447FD5-7B96-9DA4-654F-92939987746D}"/>
              </a:ext>
            </a:extLst>
          </p:cNvPr>
          <p:cNvSpPr txBox="1"/>
          <p:nvPr/>
        </p:nvSpPr>
        <p:spPr>
          <a:xfrm>
            <a:off x="1129506" y="2508026"/>
            <a:ext cx="738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 1: </a:t>
            </a:r>
            <a:r>
              <a:rPr lang="es-ES" sz="2000" b="1" dirty="0"/>
              <a:t>Pasar 3h 10min y 50s a segundos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5126E39-0544-059C-A879-63877D0CE16F}"/>
                  </a:ext>
                </a:extLst>
              </p:cNvPr>
              <p:cNvSpPr txBox="1"/>
              <p:nvPr/>
            </p:nvSpPr>
            <p:spPr>
              <a:xfrm>
                <a:off x="690086" y="3165530"/>
                <a:ext cx="429339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𝟑𝟔𝟎𝟎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𝟏𝟎𝟖𝟎𝟎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5126E39-0544-059C-A879-63877D0CE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" y="3165530"/>
                <a:ext cx="4293394" cy="307777"/>
              </a:xfrm>
              <a:prstGeom prst="rect">
                <a:avLst/>
              </a:prstGeom>
              <a:blipFill>
                <a:blip r:embed="rId6"/>
                <a:stretch>
                  <a:fillRect l="-2128" r="-1560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B110B34-9CAE-315E-1EF4-4DBEC12F2F92}"/>
                  </a:ext>
                </a:extLst>
              </p:cNvPr>
              <p:cNvSpPr txBox="1"/>
              <p:nvPr/>
            </p:nvSpPr>
            <p:spPr>
              <a:xfrm>
                <a:off x="690086" y="3599010"/>
                <a:ext cx="396648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B110B34-9CAE-315E-1EF4-4DBEC12F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" y="3599010"/>
                <a:ext cx="3966484" cy="307777"/>
              </a:xfrm>
              <a:prstGeom prst="rect">
                <a:avLst/>
              </a:prstGeom>
              <a:blipFill>
                <a:blip r:embed="rId7"/>
                <a:stretch>
                  <a:fillRect l="-2304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385F297-66F7-0772-E574-124E31BF2802}"/>
                  </a:ext>
                </a:extLst>
              </p:cNvPr>
              <p:cNvSpPr txBox="1"/>
              <p:nvPr/>
            </p:nvSpPr>
            <p:spPr>
              <a:xfrm>
                <a:off x="690087" y="4032490"/>
                <a:ext cx="66627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385F297-66F7-0772-E574-124E31BF2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7" y="4032490"/>
                <a:ext cx="666273" cy="307777"/>
              </a:xfrm>
              <a:prstGeom prst="rect">
                <a:avLst/>
              </a:prstGeom>
              <a:blipFill>
                <a:blip r:embed="rId8"/>
                <a:stretch>
                  <a:fillRect l="-13636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brir llave 30">
            <a:extLst>
              <a:ext uri="{FF2B5EF4-FFF2-40B4-BE49-F238E27FC236}">
                <a16:creationId xmlns:a16="http://schemas.microsoft.com/office/drawing/2014/main" id="{FE26C34A-153D-793A-2EC9-933ECEA3AE9D}"/>
              </a:ext>
            </a:extLst>
          </p:cNvPr>
          <p:cNvSpPr/>
          <p:nvPr/>
        </p:nvSpPr>
        <p:spPr>
          <a:xfrm rot="10800000">
            <a:off x="5054600" y="3100794"/>
            <a:ext cx="121162" cy="1239473"/>
          </a:xfrm>
          <a:prstGeom prst="leftBrace">
            <a:avLst>
              <a:gd name="adj1" fmla="val 72023"/>
              <a:gd name="adj2" fmla="val 50000"/>
            </a:avLst>
          </a:prstGeom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514F82A-F27B-0C19-8BDC-55742F8297A9}"/>
              </a:ext>
            </a:extLst>
          </p:cNvPr>
          <p:cNvCxnSpPr/>
          <p:nvPr/>
        </p:nvCxnSpPr>
        <p:spPr>
          <a:xfrm>
            <a:off x="5308600" y="3720530"/>
            <a:ext cx="476250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3882A61-3D4D-CB94-8503-96D1AB8B8D6E}"/>
                  </a:ext>
                </a:extLst>
              </p:cNvPr>
              <p:cNvSpPr txBox="1"/>
              <p:nvPr/>
            </p:nvSpPr>
            <p:spPr>
              <a:xfrm>
                <a:off x="5853942" y="3582030"/>
                <a:ext cx="42933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𝟏𝟎𝟖𝟎𝟎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𝟔𝟎𝟎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𝟏𝟏𝟒𝟓𝟎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3882A61-3D4D-CB94-8503-96D1AB8B8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942" y="3582030"/>
                <a:ext cx="4293394" cy="276999"/>
              </a:xfrm>
              <a:prstGeom prst="rect">
                <a:avLst/>
              </a:prstGeom>
              <a:blipFill>
                <a:blip r:embed="rId9"/>
                <a:stretch>
                  <a:fillRect l="-1844" b="-1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1AD602C0-037D-EAA1-B652-1C9410D36B1B}"/>
              </a:ext>
            </a:extLst>
          </p:cNvPr>
          <p:cNvSpPr/>
          <p:nvPr/>
        </p:nvSpPr>
        <p:spPr>
          <a:xfrm>
            <a:off x="8026909" y="3571972"/>
            <a:ext cx="896112" cy="324758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1089728-3069-57DF-3757-4F6A7E252208}"/>
              </a:ext>
            </a:extLst>
          </p:cNvPr>
          <p:cNvSpPr txBox="1"/>
          <p:nvPr/>
        </p:nvSpPr>
        <p:spPr>
          <a:xfrm>
            <a:off x="8874001" y="3534296"/>
            <a:ext cx="292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 INCOMPLEJA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391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" grpId="0"/>
      <p:bldP spid="12" grpId="0" animBg="1"/>
      <p:bldP spid="25" grpId="0"/>
      <p:bldP spid="26" grpId="0"/>
      <p:bldP spid="27" grpId="0"/>
      <p:bldP spid="28" grpId="0"/>
      <p:bldP spid="31" grpId="0" animBg="1"/>
      <p:bldP spid="37" grpId="0"/>
      <p:bldP spid="38" grpId="0" animBg="1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866E7D-B0C0-4D2F-799A-8D13A9A4C755}"/>
              </a:ext>
            </a:extLst>
          </p:cNvPr>
          <p:cNvSpPr txBox="1"/>
          <p:nvPr/>
        </p:nvSpPr>
        <p:spPr>
          <a:xfrm>
            <a:off x="535084" y="1993787"/>
            <a:ext cx="383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De complejo a incomplejo:</a:t>
            </a:r>
          </a:p>
        </p:txBody>
      </p:sp>
      <p:sp>
        <p:nvSpPr>
          <p:cNvPr id="12" name="Sol 11">
            <a:extLst>
              <a:ext uri="{FF2B5EF4-FFF2-40B4-BE49-F238E27FC236}">
                <a16:creationId xmlns:a16="http://schemas.microsoft.com/office/drawing/2014/main" id="{133C4135-D2DD-320E-0471-81A1EB6C0B57}"/>
              </a:ext>
            </a:extLst>
          </p:cNvPr>
          <p:cNvSpPr/>
          <p:nvPr/>
        </p:nvSpPr>
        <p:spPr>
          <a:xfrm>
            <a:off x="690086" y="2488371"/>
            <a:ext cx="439420" cy="439420"/>
          </a:xfrm>
          <a:prstGeom prst="sun">
            <a:avLst>
              <a:gd name="adj" fmla="val 41095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0C447FD5-7B96-9DA4-654F-92939987746D}"/>
              </a:ext>
            </a:extLst>
          </p:cNvPr>
          <p:cNvSpPr txBox="1"/>
          <p:nvPr/>
        </p:nvSpPr>
        <p:spPr>
          <a:xfrm>
            <a:off x="1129506" y="2508026"/>
            <a:ext cx="738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 2: </a:t>
            </a:r>
            <a:r>
              <a:rPr lang="es-ES" sz="2000" b="1" dirty="0"/>
              <a:t>Pasar 3h 10min y 50s a minutos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5126E39-0544-059C-A879-63877D0CE16F}"/>
                  </a:ext>
                </a:extLst>
              </p:cNvPr>
              <p:cNvSpPr txBox="1"/>
              <p:nvPr/>
            </p:nvSpPr>
            <p:spPr>
              <a:xfrm>
                <a:off x="690086" y="3165530"/>
                <a:ext cx="429339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𝒎𝒊𝒏</m:t>
                    </m:r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5126E39-0544-059C-A879-63877D0CE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" y="3165530"/>
                <a:ext cx="4293394" cy="307777"/>
              </a:xfrm>
              <a:prstGeom prst="rect">
                <a:avLst/>
              </a:prstGeom>
              <a:blipFill>
                <a:blip r:embed="rId6"/>
                <a:stretch>
                  <a:fillRect l="-2128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B110B34-9CAE-315E-1EF4-4DBEC12F2F92}"/>
                  </a:ext>
                </a:extLst>
              </p:cNvPr>
              <p:cNvSpPr txBox="1"/>
              <p:nvPr/>
            </p:nvSpPr>
            <p:spPr>
              <a:xfrm>
                <a:off x="690086" y="3599010"/>
                <a:ext cx="396648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𝒎𝒊𝒏</m:t>
                    </m:r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B110B34-9CAE-315E-1EF4-4DBEC12F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" y="3599010"/>
                <a:ext cx="3966484" cy="307777"/>
              </a:xfrm>
              <a:prstGeom prst="rect">
                <a:avLst/>
              </a:prstGeom>
              <a:blipFill>
                <a:blip r:embed="rId7"/>
                <a:stretch>
                  <a:fillRect l="-2304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385F297-66F7-0772-E574-124E31BF2802}"/>
                  </a:ext>
                </a:extLst>
              </p:cNvPr>
              <p:cNvSpPr txBox="1"/>
              <p:nvPr/>
            </p:nvSpPr>
            <p:spPr>
              <a:xfrm>
                <a:off x="690087" y="4032490"/>
                <a:ext cx="3335813" cy="3181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𝟖</m:t>
                    </m:r>
                    <m:acc>
                      <m:accPr>
                        <m:chr m:val="̂"/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385F297-66F7-0772-E574-124E31BF2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7" y="4032490"/>
                <a:ext cx="3335813" cy="318100"/>
              </a:xfrm>
              <a:prstGeom prst="rect">
                <a:avLst/>
              </a:prstGeom>
              <a:blipFill>
                <a:blip r:embed="rId8"/>
                <a:stretch>
                  <a:fillRect l="-2742" t="-22642" b="-75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brir llave 30">
            <a:extLst>
              <a:ext uri="{FF2B5EF4-FFF2-40B4-BE49-F238E27FC236}">
                <a16:creationId xmlns:a16="http://schemas.microsoft.com/office/drawing/2014/main" id="{FE26C34A-153D-793A-2EC9-933ECEA3AE9D}"/>
              </a:ext>
            </a:extLst>
          </p:cNvPr>
          <p:cNvSpPr/>
          <p:nvPr/>
        </p:nvSpPr>
        <p:spPr>
          <a:xfrm rot="10800000">
            <a:off x="3340100" y="3100794"/>
            <a:ext cx="121162" cy="1239473"/>
          </a:xfrm>
          <a:prstGeom prst="leftBrace">
            <a:avLst>
              <a:gd name="adj1" fmla="val 72023"/>
              <a:gd name="adj2" fmla="val 50000"/>
            </a:avLst>
          </a:prstGeom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514F82A-F27B-0C19-8BDC-55742F8297A9}"/>
              </a:ext>
            </a:extLst>
          </p:cNvPr>
          <p:cNvCxnSpPr/>
          <p:nvPr/>
        </p:nvCxnSpPr>
        <p:spPr>
          <a:xfrm>
            <a:off x="3594100" y="3720530"/>
            <a:ext cx="476250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3882A61-3D4D-CB94-8503-96D1AB8B8D6E}"/>
                  </a:ext>
                </a:extLst>
              </p:cNvPr>
              <p:cNvSpPr txBox="1"/>
              <p:nvPr/>
            </p:nvSpPr>
            <p:spPr>
              <a:xfrm>
                <a:off x="4139442" y="3582030"/>
                <a:ext cx="4293394" cy="286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𝟏𝟖𝟎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𝟖</m:t>
                    </m:r>
                    <m:acc>
                      <m:accPr>
                        <m:chr m:val="̂"/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𝟏𝟗𝟎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𝟖</m:t>
                    </m:r>
                    <m:acc>
                      <m:accPr>
                        <m:chr m:val="̂"/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3882A61-3D4D-CB94-8503-96D1AB8B8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442" y="3582030"/>
                <a:ext cx="4293394" cy="286297"/>
              </a:xfrm>
              <a:prstGeom prst="rect">
                <a:avLst/>
              </a:prstGeom>
              <a:blipFill>
                <a:blip r:embed="rId9"/>
                <a:stretch>
                  <a:fillRect l="-1847" t="-17021" b="-85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1AD602C0-037D-EAA1-B652-1C9410D36B1B}"/>
              </a:ext>
            </a:extLst>
          </p:cNvPr>
          <p:cNvSpPr/>
          <p:nvPr/>
        </p:nvSpPr>
        <p:spPr>
          <a:xfrm>
            <a:off x="6136485" y="3571972"/>
            <a:ext cx="852288" cy="324758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1089728-3069-57DF-3757-4F6A7E252208}"/>
              </a:ext>
            </a:extLst>
          </p:cNvPr>
          <p:cNvSpPr txBox="1"/>
          <p:nvPr/>
        </p:nvSpPr>
        <p:spPr>
          <a:xfrm>
            <a:off x="6970847" y="3534296"/>
            <a:ext cx="292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 INCOMPLEJA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327D8ED2-3808-4372-38D2-1CC8EA7A1FF5}"/>
              </a:ext>
            </a:extLst>
          </p:cNvPr>
          <p:cNvSpPr/>
          <p:nvPr/>
        </p:nvSpPr>
        <p:spPr>
          <a:xfrm>
            <a:off x="535084" y="1048971"/>
            <a:ext cx="11121832" cy="76550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6D393995-C772-FEB3-44E2-E798AFA6875D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 la hora de resolver un problema tendremos que usar la información en forma incompleja, por eso vamos a ver cómo se pasa de una forma a otra.	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679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/>
      <p:bldP spid="26" grpId="0"/>
      <p:bldP spid="27" grpId="0"/>
      <p:bldP spid="28" grpId="0"/>
      <p:bldP spid="31" grpId="0" animBg="1"/>
      <p:bldP spid="37" grpId="0"/>
      <p:bldP spid="38" grpId="0" animBg="1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866E7D-B0C0-4D2F-799A-8D13A9A4C755}"/>
              </a:ext>
            </a:extLst>
          </p:cNvPr>
          <p:cNvSpPr txBox="1"/>
          <p:nvPr/>
        </p:nvSpPr>
        <p:spPr>
          <a:xfrm>
            <a:off x="535084" y="1993787"/>
            <a:ext cx="383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De incomplejo a complejo:</a:t>
            </a:r>
          </a:p>
        </p:txBody>
      </p:sp>
      <p:sp>
        <p:nvSpPr>
          <p:cNvPr id="3" name="Sol 2">
            <a:extLst>
              <a:ext uri="{FF2B5EF4-FFF2-40B4-BE49-F238E27FC236}">
                <a16:creationId xmlns:a16="http://schemas.microsoft.com/office/drawing/2014/main" id="{089AFFB9-3001-B97E-897C-DD3B02FE562A}"/>
              </a:ext>
            </a:extLst>
          </p:cNvPr>
          <p:cNvSpPr/>
          <p:nvPr/>
        </p:nvSpPr>
        <p:spPr>
          <a:xfrm>
            <a:off x="690086" y="2488371"/>
            <a:ext cx="439420" cy="439420"/>
          </a:xfrm>
          <a:prstGeom prst="sun">
            <a:avLst>
              <a:gd name="adj" fmla="val 41095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1A4A6344-85F7-7BA2-4BF7-678EE8455C01}"/>
              </a:ext>
            </a:extLst>
          </p:cNvPr>
          <p:cNvSpPr txBox="1"/>
          <p:nvPr/>
        </p:nvSpPr>
        <p:spPr>
          <a:xfrm>
            <a:off x="1129506" y="2508026"/>
            <a:ext cx="738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 1: </a:t>
            </a:r>
            <a:r>
              <a:rPr lang="es-ES" sz="2000" b="1" dirty="0"/>
              <a:t>Pasar a horas, minutos y segundos 7624s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C042C54-992C-A64C-EB9C-9841979BB8A1}"/>
              </a:ext>
            </a:extLst>
          </p:cNvPr>
          <p:cNvGrpSpPr/>
          <p:nvPr/>
        </p:nvGrpSpPr>
        <p:grpSpPr>
          <a:xfrm>
            <a:off x="1471155" y="3195804"/>
            <a:ext cx="2186445" cy="523220"/>
            <a:chOff x="6843255" y="3050849"/>
            <a:chExt cx="2186445" cy="523220"/>
          </a:xfrm>
        </p:grpSpPr>
        <p:sp>
          <p:nvSpPr>
            <p:cNvPr id="7" name="Forma en L 6">
              <a:extLst>
                <a:ext uri="{FF2B5EF4-FFF2-40B4-BE49-F238E27FC236}">
                  <a16:creationId xmlns:a16="http://schemas.microsoft.com/office/drawing/2014/main" id="{6C721C94-30C7-6F75-4978-9F79E55C9222}"/>
                </a:ext>
              </a:extLst>
            </p:cNvPr>
            <p:cNvSpPr/>
            <p:nvPr/>
          </p:nvSpPr>
          <p:spPr>
            <a:xfrm>
              <a:off x="8157509" y="3081618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F3D189E-7B85-0D78-E827-F91A142E24CC}"/>
                </a:ext>
              </a:extLst>
            </p:cNvPr>
            <p:cNvSpPr txBox="1"/>
            <p:nvPr/>
          </p:nvSpPr>
          <p:spPr>
            <a:xfrm>
              <a:off x="8169087" y="3050849"/>
              <a:ext cx="6540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60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81888DE-8D64-DD5D-646C-861427236B5B}"/>
                </a:ext>
              </a:extLst>
            </p:cNvPr>
            <p:cNvSpPr txBox="1"/>
            <p:nvPr/>
          </p:nvSpPr>
          <p:spPr>
            <a:xfrm>
              <a:off x="6843255" y="3050849"/>
              <a:ext cx="13148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7624</a:t>
              </a:r>
              <a:r>
                <a:rPr lang="es-ES" sz="2400" b="1" dirty="0"/>
                <a:t>s</a:t>
              </a:r>
              <a:endParaRPr lang="es-ES" sz="2800" b="1" dirty="0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5E4E60-CB32-D105-903A-69CCB4D2EA51}"/>
              </a:ext>
            </a:extLst>
          </p:cNvPr>
          <p:cNvSpPr txBox="1"/>
          <p:nvPr/>
        </p:nvSpPr>
        <p:spPr>
          <a:xfrm>
            <a:off x="1648202" y="3683776"/>
            <a:ext cx="80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/>
              <a:t>162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AF86A2-F147-7C30-8F8D-1892F0BE57B1}"/>
              </a:ext>
            </a:extLst>
          </p:cNvPr>
          <p:cNvSpPr txBox="1"/>
          <p:nvPr/>
        </p:nvSpPr>
        <p:spPr>
          <a:xfrm>
            <a:off x="2822017" y="3683776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DC307D-7750-E5F5-A5CF-7EA1D5331A86}"/>
              </a:ext>
            </a:extLst>
          </p:cNvPr>
          <p:cNvSpPr txBox="1"/>
          <p:nvPr/>
        </p:nvSpPr>
        <p:spPr>
          <a:xfrm>
            <a:off x="3060701" y="3683776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FDF03B-0B8C-A10D-C696-9C6AAB124A9F}"/>
              </a:ext>
            </a:extLst>
          </p:cNvPr>
          <p:cNvSpPr txBox="1"/>
          <p:nvPr/>
        </p:nvSpPr>
        <p:spPr>
          <a:xfrm>
            <a:off x="1854111" y="4171748"/>
            <a:ext cx="80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/>
              <a:t>424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5B7C897-66CA-9E34-F5E6-3219352B721A}"/>
              </a:ext>
            </a:extLst>
          </p:cNvPr>
          <p:cNvSpPr txBox="1"/>
          <p:nvPr/>
        </p:nvSpPr>
        <p:spPr>
          <a:xfrm>
            <a:off x="3303124" y="3683776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7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FD52C40-1C8C-EF2C-99D5-755763640F6C}"/>
              </a:ext>
            </a:extLst>
          </p:cNvPr>
          <p:cNvSpPr txBox="1"/>
          <p:nvPr/>
        </p:nvSpPr>
        <p:spPr>
          <a:xfrm>
            <a:off x="1854111" y="4624472"/>
            <a:ext cx="80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/>
              <a:t>4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D542E7-5088-0AC6-AC68-262B9BCC1F01}"/>
              </a:ext>
            </a:extLst>
          </p:cNvPr>
          <p:cNvGrpSpPr/>
          <p:nvPr/>
        </p:nvGrpSpPr>
        <p:grpSpPr>
          <a:xfrm>
            <a:off x="4251884" y="3648528"/>
            <a:ext cx="872191" cy="523220"/>
            <a:chOff x="8113059" y="3050849"/>
            <a:chExt cx="872191" cy="523220"/>
          </a:xfrm>
        </p:grpSpPr>
        <p:sp>
          <p:nvSpPr>
            <p:cNvPr id="19" name="Forma en L 18">
              <a:extLst>
                <a:ext uri="{FF2B5EF4-FFF2-40B4-BE49-F238E27FC236}">
                  <a16:creationId xmlns:a16="http://schemas.microsoft.com/office/drawing/2014/main" id="{7F7BD0C8-F73A-BEDA-3364-9D445A648598}"/>
                </a:ext>
              </a:extLst>
            </p:cNvPr>
            <p:cNvSpPr/>
            <p:nvPr/>
          </p:nvSpPr>
          <p:spPr>
            <a:xfrm>
              <a:off x="8113059" y="3081618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360975A-FAAC-6F3E-2A45-458B4DFE2A9D}"/>
                </a:ext>
              </a:extLst>
            </p:cNvPr>
            <p:cNvSpPr txBox="1"/>
            <p:nvPr/>
          </p:nvSpPr>
          <p:spPr>
            <a:xfrm>
              <a:off x="8124637" y="3050849"/>
              <a:ext cx="6540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60</a:t>
              </a: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1AA69D9-779F-8FF1-7117-2546F99E046A}"/>
              </a:ext>
            </a:extLst>
          </p:cNvPr>
          <p:cNvSpPr txBox="1"/>
          <p:nvPr/>
        </p:nvSpPr>
        <p:spPr>
          <a:xfrm>
            <a:off x="3451035" y="3747562"/>
            <a:ext cx="872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min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CD6E18-4D5A-F027-446A-AEB68F9B5A3C}"/>
              </a:ext>
            </a:extLst>
          </p:cNvPr>
          <p:cNvSpPr txBox="1"/>
          <p:nvPr/>
        </p:nvSpPr>
        <p:spPr>
          <a:xfrm>
            <a:off x="2275498" y="4686027"/>
            <a:ext cx="872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485DC2A-0FA9-B653-3889-D9C7A0FCBFEA}"/>
              </a:ext>
            </a:extLst>
          </p:cNvPr>
          <p:cNvSpPr txBox="1"/>
          <p:nvPr/>
        </p:nvSpPr>
        <p:spPr>
          <a:xfrm>
            <a:off x="4335362" y="4101252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CE1D0D3-D0AA-7249-072A-C132FE2401EF}"/>
              </a:ext>
            </a:extLst>
          </p:cNvPr>
          <p:cNvSpPr txBox="1"/>
          <p:nvPr/>
        </p:nvSpPr>
        <p:spPr>
          <a:xfrm>
            <a:off x="3279396" y="4105723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7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FEA747A-CAFF-D750-3CED-8D8978C5CE3A}"/>
              </a:ext>
            </a:extLst>
          </p:cNvPr>
          <p:cNvSpPr txBox="1"/>
          <p:nvPr/>
        </p:nvSpPr>
        <p:spPr>
          <a:xfrm>
            <a:off x="3462613" y="4152989"/>
            <a:ext cx="872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min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6BD2AE9-AD63-0804-C157-5E2C4E6F55C4}"/>
              </a:ext>
            </a:extLst>
          </p:cNvPr>
          <p:cNvSpPr txBox="1"/>
          <p:nvPr/>
        </p:nvSpPr>
        <p:spPr>
          <a:xfrm>
            <a:off x="4280542" y="4152989"/>
            <a:ext cx="872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h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87BC2DC-E528-1306-1132-A54A1C7CAF25}"/>
              </a:ext>
            </a:extLst>
          </p:cNvPr>
          <p:cNvSpPr/>
          <p:nvPr/>
        </p:nvSpPr>
        <p:spPr>
          <a:xfrm>
            <a:off x="2305050" y="4694968"/>
            <a:ext cx="555068" cy="417476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A8F0C12-A0F5-8174-9461-91FAA63F6817}"/>
              </a:ext>
            </a:extLst>
          </p:cNvPr>
          <p:cNvSpPr/>
          <p:nvPr/>
        </p:nvSpPr>
        <p:spPr>
          <a:xfrm>
            <a:off x="3264179" y="4176219"/>
            <a:ext cx="942695" cy="417476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CA18F8F-2A22-713D-CFA1-12030B3B29E4}"/>
              </a:ext>
            </a:extLst>
          </p:cNvPr>
          <p:cNvSpPr/>
          <p:nvPr/>
        </p:nvSpPr>
        <p:spPr>
          <a:xfrm>
            <a:off x="4323227" y="4176219"/>
            <a:ext cx="594284" cy="417476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699F729-B7B6-7B38-9584-6E16EA915F86}"/>
              </a:ext>
            </a:extLst>
          </p:cNvPr>
          <p:cNvSpPr txBox="1"/>
          <p:nvPr/>
        </p:nvSpPr>
        <p:spPr>
          <a:xfrm>
            <a:off x="6016662" y="3651077"/>
            <a:ext cx="391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7624 </a:t>
            </a:r>
            <a:r>
              <a:rPr lang="es-E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⇒</a:t>
            </a:r>
            <a:r>
              <a:rPr lang="es-ES" sz="2800" b="1" dirty="0"/>
              <a:t> </a:t>
            </a:r>
            <a:r>
              <a:rPr lang="es-ES" sz="2800" b="1" dirty="0">
                <a:sym typeface="Wingdings" panose="05000000000000000000" pitchFamily="2" charset="2"/>
              </a:rPr>
              <a:t>2h 7min 4s</a:t>
            </a:r>
            <a:endParaRPr lang="es-ES" sz="2800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E49EF28-DFE3-5EB2-69AC-4FAEE1F82226}"/>
              </a:ext>
            </a:extLst>
          </p:cNvPr>
          <p:cNvSpPr txBox="1"/>
          <p:nvPr/>
        </p:nvSpPr>
        <p:spPr>
          <a:xfrm>
            <a:off x="7039269" y="4132029"/>
            <a:ext cx="3382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FORMA COMPLEJA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937D676-E2F7-470B-D91A-52B5A4D519D3}"/>
              </a:ext>
            </a:extLst>
          </p:cNvPr>
          <p:cNvSpPr/>
          <p:nvPr/>
        </p:nvSpPr>
        <p:spPr>
          <a:xfrm>
            <a:off x="7677636" y="3688255"/>
            <a:ext cx="1893084" cy="41747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!Marco 10">
            <a:extLst>
              <a:ext uri="{FF2B5EF4-FFF2-40B4-BE49-F238E27FC236}">
                <a16:creationId xmlns:a16="http://schemas.microsoft.com/office/drawing/2014/main" id="{38578279-1F76-BD0D-8A2A-C2C9270359B9}"/>
              </a:ext>
            </a:extLst>
          </p:cNvPr>
          <p:cNvSpPr/>
          <p:nvPr/>
        </p:nvSpPr>
        <p:spPr>
          <a:xfrm>
            <a:off x="535084" y="1048971"/>
            <a:ext cx="11121832" cy="76550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!CuadroTexto 1">
            <a:extLst>
              <a:ext uri="{FF2B5EF4-FFF2-40B4-BE49-F238E27FC236}">
                <a16:creationId xmlns:a16="http://schemas.microsoft.com/office/drawing/2014/main" id="{BC4C4682-CAD8-B788-E14A-BC49EDD2C329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 la hora de resolver un problema tendremos que usar la información en forma incompleja, por eso vamos a ver cómo se pasa de una forma a otra.	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811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50"/>
                            </p:stCondLst>
                            <p:childTnLst>
                              <p:par>
                                <p:cTn id="12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4" grpId="0"/>
      <p:bldP spid="11" grpId="0"/>
      <p:bldP spid="13" grpId="0"/>
      <p:bldP spid="14" grpId="0"/>
      <p:bldP spid="15" grpId="0"/>
      <p:bldP spid="16" grpId="0"/>
      <p:bldP spid="17" grpId="0"/>
      <p:bldP spid="22" grpId="0"/>
      <p:bldP spid="23" grpId="0"/>
      <p:bldP spid="29" grpId="0"/>
      <p:bldP spid="30" grpId="0"/>
      <p:bldP spid="32" grpId="0"/>
      <p:bldP spid="33" grpId="0"/>
      <p:bldP spid="40" grpId="0" animBg="1"/>
      <p:bldP spid="41" grpId="0" animBg="1"/>
      <p:bldP spid="42" grpId="0" animBg="1"/>
      <p:bldP spid="43" grpId="0"/>
      <p:bldP spid="44" grpId="0"/>
      <p:bldP spid="4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8DD0F50-3771-459E-B0A1-DFC1BA4FDD8E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2 - Sistema de numeración decimal y sistema sexagesimal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4. Sistema sexagesimal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71C2EC6-08BA-4D7A-9BF8-A7095C5DEE3F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471F8DA-6C5B-4C4D-B823-0677557796AD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1E146CA-4C05-4B44-9EF9-AC237DDE3DB9}:2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1737FAD-60E0-4438-8F81-E3733627A550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E27AF6A-BBE3-400D-99F6-59E28DAB9840}:26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629CF34-191D-4235-905F-33F9C02B42B4}:26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BC98AD6-40F3-4F6F-B74D-21FF32F05B95}:264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550</Words>
  <Application>Microsoft Office PowerPoint</Application>
  <PresentationFormat>Panorámica</PresentationFormat>
  <Paragraphs>135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Arial</vt:lpstr>
      <vt:lpstr>Cambria Math</vt:lpstr>
      <vt:lpstr>Century Gothic</vt:lpstr>
      <vt:lpstr>SF Fedora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Sistema sexagesimal</dc:title>
  <dc:creator>Illán Linos Souto</dc:creator>
  <cp:lastModifiedBy>Illán Linos</cp:lastModifiedBy>
  <cp:revision>65</cp:revision>
  <dcterms:created xsi:type="dcterms:W3CDTF">2024-08-18T18:48:07Z</dcterms:created>
  <dcterms:modified xsi:type="dcterms:W3CDTF">2025-11-17T18:13:13Z</dcterms:modified>
</cp:coreProperties>
</file>