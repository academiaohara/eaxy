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76" d="100"/>
          <a:sy n="76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5966134"/>
                  </p:ext>
                </p:extLst>
              </p:nvPr>
            </p:nvGraphicFramePr>
            <p:xfrm>
              <a:off x="545068" y="3025732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025732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REPARTOS PROPORCIONALES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PROBLEMAS DE VEHÍCULOS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2812522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450151"/>
                  </p:ext>
                </p:extLst>
              </p:nvPr>
            </p:nvGraphicFramePr>
            <p:xfrm>
              <a:off x="548148" y="239114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148" y="2391140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1117607"/>
                  </p:ext>
                </p:extLst>
              </p:nvPr>
            </p:nvGraphicFramePr>
            <p:xfrm>
              <a:off x="545068" y="429733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297330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SIMPLE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COMPUESTA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DAA877-B259-2520-2AAE-A90292E2F4D9}"/>
              </a:ext>
            </a:extLst>
          </p:cNvPr>
          <p:cNvSpPr txBox="1"/>
          <p:nvPr/>
        </p:nvSpPr>
        <p:spPr>
          <a:xfrm>
            <a:off x="861140" y="492022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CÁLCULOS DE PORCENTAJES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12176"/>
                  </p:ext>
                </p:extLst>
              </p:nvPr>
            </p:nvGraphicFramePr>
            <p:xfrm>
              <a:off x="545068" y="496591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965918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250"/>
                            </p:stCondLst>
                            <p:childTnLst>
                              <p:par>
                                <p:cTn id="5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7" grpId="0" animBg="1"/>
      <p:bldP spid="16" grpId="0"/>
      <p:bldP spid="17" grpId="0"/>
      <p:bldP spid="17" grpId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19621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Un granjero ha necesitado 294 kilos de pienso para alimentar a 15 vacas durante una semana. ¿Cuántos kilos de pienso se necesitarán para alimentar a 10 vacas durante 30 días?</a:t>
            </a:r>
            <a:endParaRPr lang="es-ES" sz="20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6F2E9B7-E2AD-E068-F74C-4C29EA3B5BF6}"/>
              </a:ext>
            </a:extLst>
          </p:cNvPr>
          <p:cNvSpPr txBox="1"/>
          <p:nvPr/>
        </p:nvSpPr>
        <p:spPr>
          <a:xfrm>
            <a:off x="2639655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VACAS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B477AC-5C44-3C66-74D2-BE33B8892384}"/>
              </a:ext>
            </a:extLst>
          </p:cNvPr>
          <p:cNvSpPr txBox="1"/>
          <p:nvPr/>
        </p:nvSpPr>
        <p:spPr>
          <a:xfrm>
            <a:off x="5303879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0BDEEC-7D1A-E8B4-8213-2055A122FA8E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KILOS</a:t>
            </a:r>
            <a:endParaRPr lang="es-ES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A9D864B-34B1-06C7-C450-22224F723379}"/>
              </a:ext>
            </a:extLst>
          </p:cNvPr>
          <p:cNvGrpSpPr/>
          <p:nvPr/>
        </p:nvGrpSpPr>
        <p:grpSpPr>
          <a:xfrm>
            <a:off x="2945427" y="3601739"/>
            <a:ext cx="5901396" cy="369332"/>
            <a:chOff x="2945427" y="3601739"/>
            <a:chExt cx="5901396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945427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7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294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8A209F9-BB22-E945-0AC8-AAE9E0A99298}"/>
              </a:ext>
            </a:extLst>
          </p:cNvPr>
          <p:cNvGrpSpPr/>
          <p:nvPr/>
        </p:nvGrpSpPr>
        <p:grpSpPr>
          <a:xfrm>
            <a:off x="2945427" y="4133216"/>
            <a:ext cx="5901396" cy="369332"/>
            <a:chOff x="2945427" y="5602063"/>
            <a:chExt cx="5901396" cy="369332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775D6317-3552-30DA-8256-EF8C4CB0FBF8}"/>
                </a:ext>
              </a:extLst>
            </p:cNvPr>
            <p:cNvSpPr txBox="1"/>
            <p:nvPr/>
          </p:nvSpPr>
          <p:spPr>
            <a:xfrm>
              <a:off x="2945427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08A5406-7D14-7615-7D79-BA72EFB6269E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30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5545C7D4-47B6-5128-DBFD-E9B06948D3AC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EAEE5C09-1065-6DFB-8AA9-94709AF57943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C3460C2C-9C96-E1EE-DCE9-00DB24C9940C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Arco 51">
            <a:extLst>
              <a:ext uri="{FF2B5EF4-FFF2-40B4-BE49-F238E27FC236}">
                <a16:creationId xmlns:a16="http://schemas.microsoft.com/office/drawing/2014/main" id="{89C5E39F-6B21-5726-1D32-037A883FC75D}"/>
              </a:ext>
            </a:extLst>
          </p:cNvPr>
          <p:cNvSpPr/>
          <p:nvPr/>
        </p:nvSpPr>
        <p:spPr>
          <a:xfrm>
            <a:off x="3175001" y="2857500"/>
            <a:ext cx="5416614" cy="1816100"/>
          </a:xfrm>
          <a:prstGeom prst="arc">
            <a:avLst>
              <a:gd name="adj1" fmla="val 11596584"/>
              <a:gd name="adj2" fmla="val 20799782"/>
            </a:avLst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3099DDDB-774E-D131-C41D-5F87ACC869F1}"/>
              </a:ext>
            </a:extLst>
          </p:cNvPr>
          <p:cNvCxnSpPr/>
          <p:nvPr/>
        </p:nvCxnSpPr>
        <p:spPr>
          <a:xfrm>
            <a:off x="6252029" y="3327400"/>
            <a:ext cx="1835936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E0E2822-D080-672B-94B9-D40E8CD9A935}"/>
              </a:ext>
            </a:extLst>
          </p:cNvPr>
          <p:cNvSpPr txBox="1"/>
          <p:nvPr/>
        </p:nvSpPr>
        <p:spPr>
          <a:xfrm>
            <a:off x="6290129" y="3039602"/>
            <a:ext cx="1660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Prop. directa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B781C65-843D-F4AF-BD34-14B7D663D77B}"/>
              </a:ext>
            </a:extLst>
          </p:cNvPr>
          <p:cNvSpPr txBox="1"/>
          <p:nvPr/>
        </p:nvSpPr>
        <p:spPr>
          <a:xfrm rot="826684">
            <a:off x="6571591" y="2909024"/>
            <a:ext cx="1660274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102046"/>
              </a:avLst>
            </a:prstTxWarp>
            <a:spAutoFit/>
          </a:bodyPr>
          <a:lstStyle/>
          <a:p>
            <a:r>
              <a:rPr lang="es-ES" sz="1600" dirty="0"/>
              <a:t>Prop. directa</a:t>
            </a:r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6" grpId="0"/>
      <p:bldP spid="10" grpId="0"/>
      <p:bldP spid="11" grpId="0"/>
      <p:bldP spid="12" grpId="0"/>
      <p:bldP spid="52" grpId="0" animBg="1"/>
      <p:bldP spid="56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19621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Un granjero ha necesitado 294 kilos de pienso para alimentar a 15 vacas durante una semana. ¿Cuántos kilos de pienso se necesitarán para alimentar a 10 vacas durante 30 días?</a:t>
            </a:r>
            <a:endParaRPr lang="es-ES" sz="20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6F2E9B7-E2AD-E068-F74C-4C29EA3B5BF6}"/>
              </a:ext>
            </a:extLst>
          </p:cNvPr>
          <p:cNvSpPr txBox="1"/>
          <p:nvPr/>
        </p:nvSpPr>
        <p:spPr>
          <a:xfrm>
            <a:off x="2639655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VACAS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B477AC-5C44-3C66-74D2-BE33B8892384}"/>
              </a:ext>
            </a:extLst>
          </p:cNvPr>
          <p:cNvSpPr txBox="1"/>
          <p:nvPr/>
        </p:nvSpPr>
        <p:spPr>
          <a:xfrm>
            <a:off x="5303879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0BDEEC-7D1A-E8B4-8213-2055A122FA8E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KILOS</a:t>
            </a:r>
            <a:endParaRPr lang="es-ES" dirty="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E544E65-2D2D-AED7-208A-6D453173EBFF}"/>
              </a:ext>
            </a:extLst>
          </p:cNvPr>
          <p:cNvGrpSpPr/>
          <p:nvPr/>
        </p:nvGrpSpPr>
        <p:grpSpPr>
          <a:xfrm>
            <a:off x="2945427" y="3601739"/>
            <a:ext cx="5901396" cy="369332"/>
            <a:chOff x="2945427" y="3601739"/>
            <a:chExt cx="5901396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945427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7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294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46AFFB9-7067-25F4-5B56-23D2B84E69E5}"/>
              </a:ext>
            </a:extLst>
          </p:cNvPr>
          <p:cNvGrpSpPr/>
          <p:nvPr/>
        </p:nvGrpSpPr>
        <p:grpSpPr>
          <a:xfrm>
            <a:off x="2945427" y="5602063"/>
            <a:ext cx="5901396" cy="369332"/>
            <a:chOff x="2945427" y="5602063"/>
            <a:chExt cx="5901396" cy="369332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E6659FE-A95C-53BA-53AC-14856EDBB06B}"/>
                </a:ext>
              </a:extLst>
            </p:cNvPr>
            <p:cNvSpPr txBox="1"/>
            <p:nvPr/>
          </p:nvSpPr>
          <p:spPr>
            <a:xfrm>
              <a:off x="2945427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C4965AED-4FB9-9019-8434-C13F82A32703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FB0C279-D8DC-52A7-0249-6D81D6CBD534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3B21DCB3-E7B5-021E-B688-8767C2875247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450C3DCF-C0D5-C9F4-B64E-DA1561E0A559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E46F0C6-2E45-2A9F-1B60-03C0581CAB2F}"/>
              </a:ext>
            </a:extLst>
          </p:cNvPr>
          <p:cNvGrpSpPr/>
          <p:nvPr/>
        </p:nvGrpSpPr>
        <p:grpSpPr>
          <a:xfrm>
            <a:off x="2945427" y="4101820"/>
            <a:ext cx="5901396" cy="369332"/>
            <a:chOff x="2945427" y="3985585"/>
            <a:chExt cx="5901396" cy="369332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63DA143-5B30-7F8A-9AD7-DBA9C64698B7}"/>
                </a:ext>
              </a:extLst>
            </p:cNvPr>
            <p:cNvSpPr txBox="1"/>
            <p:nvPr/>
          </p:nvSpPr>
          <p:spPr>
            <a:xfrm>
              <a:off x="2945427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486F4D6-23D3-21D7-8B78-1D0EE0733065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57E56D5-EBED-3130-7D87-A2F9A7B0ADCB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42</a:t>
              </a: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4A118D3E-04DB-87D0-7F97-668E706F0816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DA08A9F8-B609-F94A-49B9-CDF882D45CBB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787E259-8688-590B-9258-577520AE96E3}"/>
              </a:ext>
            </a:extLst>
          </p:cNvPr>
          <p:cNvGrpSpPr/>
          <p:nvPr/>
        </p:nvGrpSpPr>
        <p:grpSpPr>
          <a:xfrm>
            <a:off x="2945427" y="4601901"/>
            <a:ext cx="5901396" cy="369332"/>
            <a:chOff x="2945427" y="3985585"/>
            <a:chExt cx="5901396" cy="369332"/>
          </a:xfrm>
        </p:grpSpPr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F6A7467-443A-052F-D20B-3182785865FB}"/>
                </a:ext>
              </a:extLst>
            </p:cNvPr>
            <p:cNvSpPr txBox="1"/>
            <p:nvPr/>
          </p:nvSpPr>
          <p:spPr>
            <a:xfrm>
              <a:off x="2945427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6C52D252-0724-89A4-77D7-9B5576214D31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6CB5F485-9182-124F-9CC6-A471BA288AEC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2,8</a:t>
              </a:r>
            </a:p>
          </p:txBody>
        </p: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6F8228AB-74F7-B7A7-0CFF-87D7B0BD1FFB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0A50D738-BFA8-E373-30E3-C4534E2E2E83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3FF89EB-429A-4669-1105-62778B67A284}"/>
              </a:ext>
            </a:extLst>
          </p:cNvPr>
          <p:cNvGrpSpPr/>
          <p:nvPr/>
        </p:nvGrpSpPr>
        <p:grpSpPr>
          <a:xfrm>
            <a:off x="2945427" y="5101982"/>
            <a:ext cx="5901396" cy="369332"/>
            <a:chOff x="2945427" y="3985585"/>
            <a:chExt cx="5901396" cy="369332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2BA7686-ED01-C649-CFE0-5F35A963FD99}"/>
                </a:ext>
              </a:extLst>
            </p:cNvPr>
            <p:cNvSpPr txBox="1"/>
            <p:nvPr/>
          </p:nvSpPr>
          <p:spPr>
            <a:xfrm>
              <a:off x="2945427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590B127C-D4FB-B95A-1434-497B9F5DBBB7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080774A7-676F-F724-8733-B969F8778277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28</a:t>
              </a:r>
            </a:p>
          </p:txBody>
        </p: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AD8C44B-7160-AAD6-CF2A-0EB0B53C82D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A565871F-E213-6401-3726-D360B038926B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A94B5F3-4DC2-1BF1-44A2-E87D44A7BD1B}"/>
              </a:ext>
            </a:extLst>
          </p:cNvPr>
          <p:cNvGrpSpPr/>
          <p:nvPr/>
        </p:nvGrpSpPr>
        <p:grpSpPr>
          <a:xfrm>
            <a:off x="8846823" y="3786405"/>
            <a:ext cx="652411" cy="436345"/>
            <a:chOff x="8846823" y="3786405"/>
            <a:chExt cx="652411" cy="436345"/>
          </a:xfrm>
        </p:grpSpPr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8D732EB8-FB19-6CEA-BA3A-246513BFB1DB}"/>
                </a:ext>
              </a:extLst>
            </p:cNvPr>
            <p:cNvCxnSpPr/>
            <p:nvPr/>
          </p:nvCxnSpPr>
          <p:spPr>
            <a:xfrm>
              <a:off x="8896350" y="3786405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5F2EB07F-2F4F-BDEA-7CDC-1EB07F30BD7D}"/>
                </a:ext>
              </a:extLst>
            </p:cNvPr>
            <p:cNvSpPr txBox="1"/>
            <p:nvPr/>
          </p:nvSpPr>
          <p:spPr>
            <a:xfrm>
              <a:off x="8846823" y="378640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:7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923DE7A-7CA7-E283-D230-D44156A0D9D6}"/>
              </a:ext>
            </a:extLst>
          </p:cNvPr>
          <p:cNvGrpSpPr/>
          <p:nvPr/>
        </p:nvGrpSpPr>
        <p:grpSpPr>
          <a:xfrm>
            <a:off x="8846822" y="4321647"/>
            <a:ext cx="652411" cy="436345"/>
            <a:chOff x="8846822" y="4321647"/>
            <a:chExt cx="652411" cy="436345"/>
          </a:xfrm>
        </p:grpSpPr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DBCABB13-4808-7963-1911-8369F0DC32E6}"/>
                </a:ext>
              </a:extLst>
            </p:cNvPr>
            <p:cNvCxnSpPr/>
            <p:nvPr/>
          </p:nvCxnSpPr>
          <p:spPr>
            <a:xfrm>
              <a:off x="8896350" y="4321647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48150319-78F1-92F4-F48C-63B34BD2E02E}"/>
                </a:ext>
              </a:extLst>
            </p:cNvPr>
            <p:cNvSpPr txBox="1"/>
            <p:nvPr/>
          </p:nvSpPr>
          <p:spPr>
            <a:xfrm>
              <a:off x="8846822" y="435515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:15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16AB9D74-03C7-725C-D5BF-536CC235CDBB}"/>
              </a:ext>
            </a:extLst>
          </p:cNvPr>
          <p:cNvGrpSpPr/>
          <p:nvPr/>
        </p:nvGrpSpPr>
        <p:grpSpPr>
          <a:xfrm>
            <a:off x="8846821" y="4855234"/>
            <a:ext cx="652411" cy="436345"/>
            <a:chOff x="8846821" y="4855234"/>
            <a:chExt cx="652411" cy="436345"/>
          </a:xfrm>
        </p:grpSpPr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69CD48A5-8AF9-E14C-80E7-21C4DE4A5A04}"/>
                </a:ext>
              </a:extLst>
            </p:cNvPr>
            <p:cNvCxnSpPr/>
            <p:nvPr/>
          </p:nvCxnSpPr>
          <p:spPr>
            <a:xfrm>
              <a:off x="8896350" y="4855234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559AF06-1861-1ECD-8FCB-F7FCB1A518C5}"/>
                    </a:ext>
                  </a:extLst>
                </p:cNvPr>
                <p:cNvSpPr txBox="1"/>
                <p:nvPr/>
              </p:nvSpPr>
              <p:spPr>
                <a:xfrm>
                  <a:off x="8846821" y="4888740"/>
                  <a:ext cx="652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dirty="0"/>
                    <a:t>10</a:t>
                  </a:r>
                </a:p>
              </p:txBody>
            </p:sp>
          </mc:Choice>
          <mc:Fallback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559AF06-1861-1ECD-8FCB-F7FCB1A51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821" y="4888740"/>
                  <a:ext cx="65241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299110B4-1C15-DD95-92F0-99A17ADAB8F4}"/>
              </a:ext>
            </a:extLst>
          </p:cNvPr>
          <p:cNvGrpSpPr/>
          <p:nvPr/>
        </p:nvGrpSpPr>
        <p:grpSpPr>
          <a:xfrm>
            <a:off x="8846821" y="5384227"/>
            <a:ext cx="652411" cy="438940"/>
            <a:chOff x="8846821" y="5384227"/>
            <a:chExt cx="652411" cy="438940"/>
          </a:xfrm>
        </p:grpSpPr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0FC51180-795F-CD37-76CF-F6CF69C98A98}"/>
                </a:ext>
              </a:extLst>
            </p:cNvPr>
            <p:cNvCxnSpPr/>
            <p:nvPr/>
          </p:nvCxnSpPr>
          <p:spPr>
            <a:xfrm>
              <a:off x="8896350" y="5386822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1F15918-05CE-38B0-77D9-9080110CBB9E}"/>
                    </a:ext>
                  </a:extLst>
                </p:cNvPr>
                <p:cNvSpPr txBox="1"/>
                <p:nvPr/>
              </p:nvSpPr>
              <p:spPr>
                <a:xfrm>
                  <a:off x="8846821" y="5384227"/>
                  <a:ext cx="652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dirty="0"/>
                    <a:t>30</a:t>
                  </a:r>
                </a:p>
              </p:txBody>
            </p:sp>
          </mc:Choice>
          <mc:Fallback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1F15918-05CE-38B0-77D9-9080110CBB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821" y="5384227"/>
                  <a:ext cx="652411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/>
              <p:nvPr/>
            </p:nvSpPr>
            <p:spPr>
              <a:xfrm>
                <a:off x="3881016" y="6148285"/>
                <a:ext cx="395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𝟖𝟒𝟎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𝒌𝒈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016" y="6148285"/>
                <a:ext cx="3950756" cy="461665"/>
              </a:xfrm>
              <a:prstGeom prst="rect">
                <a:avLst/>
              </a:prstGeom>
              <a:blipFill>
                <a:blip r:embed="rId8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793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19621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Un granjero ha necesitado 294 kilos de pienso para alimentar a 15 vacas durante una semana. ¿Cuántos kilos de pienso se necesitarán para alimentar a 10 vacas durante 30 días?</a:t>
            </a:r>
            <a:endParaRPr lang="es-ES" sz="20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6F2E9B7-E2AD-E068-F74C-4C29EA3B5BF6}"/>
              </a:ext>
            </a:extLst>
          </p:cNvPr>
          <p:cNvSpPr txBox="1"/>
          <p:nvPr/>
        </p:nvSpPr>
        <p:spPr>
          <a:xfrm>
            <a:off x="2639655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VACAS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B477AC-5C44-3C66-74D2-BE33B8892384}"/>
              </a:ext>
            </a:extLst>
          </p:cNvPr>
          <p:cNvSpPr txBox="1"/>
          <p:nvPr/>
        </p:nvSpPr>
        <p:spPr>
          <a:xfrm>
            <a:off x="5303879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0BDEEC-7D1A-E8B4-8213-2055A122FA8E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KILOS</a:t>
            </a:r>
            <a:endParaRPr lang="es-ES" dirty="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E544E65-2D2D-AED7-208A-6D453173EBFF}"/>
              </a:ext>
            </a:extLst>
          </p:cNvPr>
          <p:cNvGrpSpPr/>
          <p:nvPr/>
        </p:nvGrpSpPr>
        <p:grpSpPr>
          <a:xfrm>
            <a:off x="2945427" y="3601739"/>
            <a:ext cx="5901396" cy="369332"/>
            <a:chOff x="2945427" y="3601739"/>
            <a:chExt cx="5901396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945427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7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294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/>
              <p:nvPr/>
            </p:nvSpPr>
            <p:spPr>
              <a:xfrm>
                <a:off x="3215344" y="4849359"/>
                <a:ext cx="5282099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294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294∙10∙30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15∙7</m:t>
                          </m:r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344" y="4849359"/>
                <a:ext cx="5282099" cy="7936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upo 22">
            <a:extLst>
              <a:ext uri="{FF2B5EF4-FFF2-40B4-BE49-F238E27FC236}">
                <a16:creationId xmlns:a16="http://schemas.microsoft.com/office/drawing/2014/main" id="{0A979F89-26ED-1846-7381-8EA0C01A927D}"/>
              </a:ext>
            </a:extLst>
          </p:cNvPr>
          <p:cNvGrpSpPr/>
          <p:nvPr/>
        </p:nvGrpSpPr>
        <p:grpSpPr>
          <a:xfrm>
            <a:off x="2945427" y="4133216"/>
            <a:ext cx="5901396" cy="369332"/>
            <a:chOff x="2945427" y="5602063"/>
            <a:chExt cx="5901396" cy="369332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806617DE-568C-DFA9-E2E1-A790FD50FF27}"/>
                </a:ext>
              </a:extLst>
            </p:cNvPr>
            <p:cNvSpPr txBox="1"/>
            <p:nvPr/>
          </p:nvSpPr>
          <p:spPr>
            <a:xfrm>
              <a:off x="2945427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4B0AE14-1B29-057C-7446-239DA5EC0C84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AF61EE1-27A8-BB2E-6181-6921FC97C66B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77568F64-9D35-A426-202E-85AA33FEBA87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DBD93DCA-67AE-C5BC-AC9B-795A9A0BDB2F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E72BF32E-0B5F-2D6A-0F17-230F08AD8B33}"/>
                  </a:ext>
                </a:extLst>
              </p:cNvPr>
              <p:cNvSpPr txBox="1"/>
              <p:nvPr/>
            </p:nvSpPr>
            <p:spPr>
              <a:xfrm>
                <a:off x="3881015" y="5759016"/>
                <a:ext cx="395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𝟖𝟒𝟎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𝒌𝒈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E72BF32E-0B5F-2D6A-0F17-230F08AD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015" y="5759016"/>
                <a:ext cx="3950756" cy="461665"/>
              </a:xfrm>
              <a:prstGeom prst="rect">
                <a:avLst/>
              </a:prstGeom>
              <a:blipFill>
                <a:blip r:embed="rId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382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1797021"/>
            <a:ext cx="11121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Una cuadrilla de albañiles, trabajando 8 horas diarias, construye 400 metros cuadrados de pared en 15 días. ¿Cuánto tardaría la misma cuadrilla en construir 600 metros cuadrados de pared, si deciden trabajar 10 horas cada día?</a:t>
            </a:r>
            <a:endParaRPr lang="es-ES" sz="20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6F2E9B7-E2AD-E068-F74C-4C29EA3B5BF6}"/>
              </a:ext>
            </a:extLst>
          </p:cNvPr>
          <p:cNvSpPr txBox="1"/>
          <p:nvPr/>
        </p:nvSpPr>
        <p:spPr>
          <a:xfrm>
            <a:off x="1848088" y="3170171"/>
            <a:ext cx="268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METROS CUADRADOS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B477AC-5C44-3C66-74D2-BE33B8892384}"/>
              </a:ext>
            </a:extLst>
          </p:cNvPr>
          <p:cNvSpPr txBox="1"/>
          <p:nvPr/>
        </p:nvSpPr>
        <p:spPr>
          <a:xfrm>
            <a:off x="4897100" y="3151335"/>
            <a:ext cx="191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HORAS/DÍAS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0BDEEC-7D1A-E8B4-8213-2055A122FA8E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A9D864B-34B1-06C7-C450-22224F723379}"/>
              </a:ext>
            </a:extLst>
          </p:cNvPr>
          <p:cNvGrpSpPr/>
          <p:nvPr/>
        </p:nvGrpSpPr>
        <p:grpSpPr>
          <a:xfrm>
            <a:off x="2786502" y="3601739"/>
            <a:ext cx="6060321" cy="369332"/>
            <a:chOff x="2786502" y="3601739"/>
            <a:chExt cx="6060321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78650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400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8A209F9-BB22-E945-0AC8-AAE9E0A99298}"/>
              </a:ext>
            </a:extLst>
          </p:cNvPr>
          <p:cNvGrpSpPr/>
          <p:nvPr/>
        </p:nvGrpSpPr>
        <p:grpSpPr>
          <a:xfrm>
            <a:off x="2786502" y="4133216"/>
            <a:ext cx="6060321" cy="369332"/>
            <a:chOff x="2786502" y="5602063"/>
            <a:chExt cx="6060321" cy="369332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775D6317-3552-30DA-8256-EF8C4CB0FBF8}"/>
                </a:ext>
              </a:extLst>
            </p:cNvPr>
            <p:cNvSpPr txBox="1"/>
            <p:nvPr/>
          </p:nvSpPr>
          <p:spPr>
            <a:xfrm>
              <a:off x="278650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600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08A5406-7D14-7615-7D79-BA72EFB6269E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5545C7D4-47B6-5128-DBFD-E9B06948D3AC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EAEE5C09-1065-6DFB-8AA9-94709AF57943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C3460C2C-9C96-E1EE-DCE9-00DB24C9940C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Arco 51">
            <a:extLst>
              <a:ext uri="{FF2B5EF4-FFF2-40B4-BE49-F238E27FC236}">
                <a16:creationId xmlns:a16="http://schemas.microsoft.com/office/drawing/2014/main" id="{89C5E39F-6B21-5726-1D32-037A883FC75D}"/>
              </a:ext>
            </a:extLst>
          </p:cNvPr>
          <p:cNvSpPr/>
          <p:nvPr/>
        </p:nvSpPr>
        <p:spPr>
          <a:xfrm>
            <a:off x="3175001" y="2857500"/>
            <a:ext cx="5671822" cy="1816100"/>
          </a:xfrm>
          <a:prstGeom prst="arc">
            <a:avLst>
              <a:gd name="adj1" fmla="val 11652622"/>
              <a:gd name="adj2" fmla="val 20719137"/>
            </a:avLst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3099DDDB-774E-D131-C41D-5F87ACC869F1}"/>
              </a:ext>
            </a:extLst>
          </p:cNvPr>
          <p:cNvCxnSpPr>
            <a:cxnSpLocks/>
          </p:cNvCxnSpPr>
          <p:nvPr/>
        </p:nvCxnSpPr>
        <p:spPr>
          <a:xfrm>
            <a:off x="6587309" y="3327400"/>
            <a:ext cx="1607103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E0E2822-D080-672B-94B9-D40E8CD9A935}"/>
              </a:ext>
            </a:extLst>
          </p:cNvPr>
          <p:cNvSpPr txBox="1"/>
          <p:nvPr/>
        </p:nvSpPr>
        <p:spPr>
          <a:xfrm>
            <a:off x="6625409" y="3039602"/>
            <a:ext cx="1660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Prop. inversa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B781C65-843D-F4AF-BD34-14B7D663D77B}"/>
              </a:ext>
            </a:extLst>
          </p:cNvPr>
          <p:cNvSpPr txBox="1"/>
          <p:nvPr/>
        </p:nvSpPr>
        <p:spPr>
          <a:xfrm rot="826684">
            <a:off x="6574583" y="2854936"/>
            <a:ext cx="1660274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102046"/>
              </a:avLst>
            </a:prstTxWarp>
            <a:spAutoFit/>
          </a:bodyPr>
          <a:lstStyle/>
          <a:p>
            <a:r>
              <a:rPr lang="es-ES" sz="1600" dirty="0"/>
              <a:t>Prop. directa</a:t>
            </a:r>
          </a:p>
        </p:txBody>
      </p:sp>
    </p:spTree>
    <p:extLst>
      <p:ext uri="{BB962C8B-B14F-4D97-AF65-F5344CB8AC3E}">
        <p14:creationId xmlns:p14="http://schemas.microsoft.com/office/powerpoint/2010/main" val="136740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6" grpId="0"/>
      <p:bldP spid="10" grpId="0"/>
      <p:bldP spid="11" grpId="0"/>
      <p:bldP spid="12" grpId="0"/>
      <p:bldP spid="52" grpId="0" animBg="1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8E544E65-2D2D-AED7-208A-6D453173EBFF}"/>
              </a:ext>
            </a:extLst>
          </p:cNvPr>
          <p:cNvGrpSpPr/>
          <p:nvPr/>
        </p:nvGrpSpPr>
        <p:grpSpPr>
          <a:xfrm>
            <a:off x="2786502" y="3601739"/>
            <a:ext cx="6060321" cy="369332"/>
            <a:chOff x="2786502" y="3601739"/>
            <a:chExt cx="6060321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78650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400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46AFFB9-7067-25F4-5B56-23D2B84E69E5}"/>
              </a:ext>
            </a:extLst>
          </p:cNvPr>
          <p:cNvGrpSpPr/>
          <p:nvPr/>
        </p:nvGrpSpPr>
        <p:grpSpPr>
          <a:xfrm>
            <a:off x="2786502" y="5602063"/>
            <a:ext cx="6060321" cy="369332"/>
            <a:chOff x="2786502" y="5602063"/>
            <a:chExt cx="6060321" cy="369332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E6659FE-A95C-53BA-53AC-14856EDBB06B}"/>
                </a:ext>
              </a:extLst>
            </p:cNvPr>
            <p:cNvSpPr txBox="1"/>
            <p:nvPr/>
          </p:nvSpPr>
          <p:spPr>
            <a:xfrm>
              <a:off x="278650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600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C4965AED-4FB9-9019-8434-C13F82A32703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FB0C279-D8DC-52A7-0249-6D81D6CBD534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3B21DCB3-E7B5-021E-B688-8767C2875247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450C3DCF-C0D5-C9F4-B64E-DA1561E0A559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E46F0C6-2E45-2A9F-1B60-03C0581CAB2F}"/>
              </a:ext>
            </a:extLst>
          </p:cNvPr>
          <p:cNvGrpSpPr/>
          <p:nvPr/>
        </p:nvGrpSpPr>
        <p:grpSpPr>
          <a:xfrm>
            <a:off x="2786502" y="4101820"/>
            <a:ext cx="6060321" cy="369332"/>
            <a:chOff x="2786502" y="3985585"/>
            <a:chExt cx="6060321" cy="369332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63DA143-5B30-7F8A-9AD7-DBA9C64698B7}"/>
                </a:ext>
              </a:extLst>
            </p:cNvPr>
            <p:cNvSpPr txBox="1"/>
            <p:nvPr/>
          </p:nvSpPr>
          <p:spPr>
            <a:xfrm>
              <a:off x="278650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400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486F4D6-23D3-21D7-8B78-1D0EE0733065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57E56D5-EBED-3130-7D87-A2F9A7B0ADCB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120</a:t>
              </a: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4A118D3E-04DB-87D0-7F97-668E706F0816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DA08A9F8-B609-F94A-49B9-CDF882D45CBB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787E259-8688-590B-9258-577520AE96E3}"/>
              </a:ext>
            </a:extLst>
          </p:cNvPr>
          <p:cNvGrpSpPr/>
          <p:nvPr/>
        </p:nvGrpSpPr>
        <p:grpSpPr>
          <a:xfrm>
            <a:off x="2786502" y="4601901"/>
            <a:ext cx="6060321" cy="369332"/>
            <a:chOff x="2786502" y="3985585"/>
            <a:chExt cx="6060321" cy="369332"/>
          </a:xfrm>
        </p:grpSpPr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F6A7467-443A-052F-D20B-3182785865FB}"/>
                </a:ext>
              </a:extLst>
            </p:cNvPr>
            <p:cNvSpPr txBox="1"/>
            <p:nvPr/>
          </p:nvSpPr>
          <p:spPr>
            <a:xfrm>
              <a:off x="278650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6C52D252-0724-89A4-77D7-9B5576214D31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6CB5F485-9182-124F-9CC6-A471BA288AEC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30</a:t>
              </a:r>
            </a:p>
          </p:txBody>
        </p: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6F8228AB-74F7-B7A7-0CFF-87D7B0BD1FFB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0A50D738-BFA8-E373-30E3-C4534E2E2E83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3FF89EB-429A-4669-1105-62778B67A284}"/>
              </a:ext>
            </a:extLst>
          </p:cNvPr>
          <p:cNvGrpSpPr/>
          <p:nvPr/>
        </p:nvGrpSpPr>
        <p:grpSpPr>
          <a:xfrm>
            <a:off x="2786502" y="5101982"/>
            <a:ext cx="6060321" cy="369332"/>
            <a:chOff x="2786502" y="3985585"/>
            <a:chExt cx="6060321" cy="369332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2BA7686-ED01-C649-CFE0-5F35A963FD99}"/>
                </a:ext>
              </a:extLst>
            </p:cNvPr>
            <p:cNvSpPr txBox="1"/>
            <p:nvPr/>
          </p:nvSpPr>
          <p:spPr>
            <a:xfrm>
              <a:off x="278650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590B127C-D4FB-B95A-1434-497B9F5DBBB7}"/>
                </a:ext>
              </a:extLst>
            </p:cNvPr>
            <p:cNvSpPr txBox="1"/>
            <p:nvPr/>
          </p:nvSpPr>
          <p:spPr>
            <a:xfrm>
              <a:off x="5609651" y="3985585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080774A7-676F-F724-8733-B969F8778277}"/>
                </a:ext>
              </a:extLst>
            </p:cNvPr>
            <p:cNvSpPr txBox="1"/>
            <p:nvPr/>
          </p:nvSpPr>
          <p:spPr>
            <a:xfrm>
              <a:off x="8194412" y="3985585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</a:t>
              </a:r>
            </a:p>
          </p:txBody>
        </p: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AD8C44B-7160-AAD6-CF2A-0EB0B53C82D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A565871F-E213-6401-3726-D360B038926B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4170251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A94B5F3-4DC2-1BF1-44A2-E87D44A7BD1B}"/>
              </a:ext>
            </a:extLst>
          </p:cNvPr>
          <p:cNvGrpSpPr/>
          <p:nvPr/>
        </p:nvGrpSpPr>
        <p:grpSpPr>
          <a:xfrm>
            <a:off x="8846823" y="3786405"/>
            <a:ext cx="652411" cy="436345"/>
            <a:chOff x="8846823" y="3786405"/>
            <a:chExt cx="652411" cy="436345"/>
          </a:xfrm>
        </p:grpSpPr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8D732EB8-FB19-6CEA-BA3A-246513BFB1DB}"/>
                </a:ext>
              </a:extLst>
            </p:cNvPr>
            <p:cNvCxnSpPr/>
            <p:nvPr/>
          </p:nvCxnSpPr>
          <p:spPr>
            <a:xfrm>
              <a:off x="8896350" y="3786405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5F2EB07F-2F4F-BDEA-7CDC-1EB07F30BD7D}"/>
                    </a:ext>
                  </a:extLst>
                </p:cNvPr>
                <p:cNvSpPr txBox="1"/>
                <p:nvPr/>
              </p:nvSpPr>
              <p:spPr>
                <a:xfrm>
                  <a:off x="8846823" y="3786405"/>
                  <a:ext cx="652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</m:oMath>
                  </a14:m>
                  <a:r>
                    <a:rPr lang="es-ES" dirty="0"/>
                    <a:t>8</a:t>
                  </a:r>
                </a:p>
              </p:txBody>
            </p:sp>
          </mc:Choice>
          <mc:Fallback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5F2EB07F-2F4F-BDEA-7CDC-1EB07F30B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823" y="3786405"/>
                  <a:ext cx="65241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923DE7A-7CA7-E283-D230-D44156A0D9D6}"/>
              </a:ext>
            </a:extLst>
          </p:cNvPr>
          <p:cNvGrpSpPr/>
          <p:nvPr/>
        </p:nvGrpSpPr>
        <p:grpSpPr>
          <a:xfrm>
            <a:off x="8846822" y="4321647"/>
            <a:ext cx="652411" cy="436345"/>
            <a:chOff x="8846822" y="4321647"/>
            <a:chExt cx="652411" cy="436345"/>
          </a:xfrm>
        </p:grpSpPr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DBCABB13-4808-7963-1911-8369F0DC32E6}"/>
                </a:ext>
              </a:extLst>
            </p:cNvPr>
            <p:cNvCxnSpPr/>
            <p:nvPr/>
          </p:nvCxnSpPr>
          <p:spPr>
            <a:xfrm>
              <a:off x="8896350" y="4321647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48150319-78F1-92F4-F48C-63B34BD2E02E}"/>
                </a:ext>
              </a:extLst>
            </p:cNvPr>
            <p:cNvSpPr txBox="1"/>
            <p:nvPr/>
          </p:nvSpPr>
          <p:spPr>
            <a:xfrm>
              <a:off x="8846822" y="435515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:4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16AB9D74-03C7-725C-D5BF-536CC235CDBB}"/>
              </a:ext>
            </a:extLst>
          </p:cNvPr>
          <p:cNvGrpSpPr/>
          <p:nvPr/>
        </p:nvGrpSpPr>
        <p:grpSpPr>
          <a:xfrm>
            <a:off x="8846821" y="4855234"/>
            <a:ext cx="652411" cy="436345"/>
            <a:chOff x="8846821" y="4855234"/>
            <a:chExt cx="652411" cy="436345"/>
          </a:xfrm>
        </p:grpSpPr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69CD48A5-8AF9-E14C-80E7-21C4DE4A5A04}"/>
                </a:ext>
              </a:extLst>
            </p:cNvPr>
            <p:cNvCxnSpPr/>
            <p:nvPr/>
          </p:nvCxnSpPr>
          <p:spPr>
            <a:xfrm>
              <a:off x="8896350" y="4855234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559AF06-1861-1ECD-8FCB-F7FCB1A518C5}"/>
                    </a:ext>
                  </a:extLst>
                </p:cNvPr>
                <p:cNvSpPr txBox="1"/>
                <p:nvPr/>
              </p:nvSpPr>
              <p:spPr>
                <a:xfrm>
                  <a:off x="8846821" y="4888740"/>
                  <a:ext cx="652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s-ES" dirty="0"/>
                    <a:t>10</a:t>
                  </a:r>
                </a:p>
              </p:txBody>
            </p:sp>
          </mc:Choice>
          <mc:Fallback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559AF06-1861-1ECD-8FCB-F7FCB1A51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821" y="4888740"/>
                  <a:ext cx="652411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299110B4-1C15-DD95-92F0-99A17ADAB8F4}"/>
              </a:ext>
            </a:extLst>
          </p:cNvPr>
          <p:cNvGrpSpPr/>
          <p:nvPr/>
        </p:nvGrpSpPr>
        <p:grpSpPr>
          <a:xfrm>
            <a:off x="8846821" y="5384227"/>
            <a:ext cx="652411" cy="438940"/>
            <a:chOff x="8846821" y="5384227"/>
            <a:chExt cx="652411" cy="438940"/>
          </a:xfrm>
        </p:grpSpPr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0FC51180-795F-CD37-76CF-F6CF69C98A98}"/>
                </a:ext>
              </a:extLst>
            </p:cNvPr>
            <p:cNvCxnSpPr/>
            <p:nvPr/>
          </p:nvCxnSpPr>
          <p:spPr>
            <a:xfrm>
              <a:off x="8896350" y="5386822"/>
              <a:ext cx="0" cy="436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1F15918-05CE-38B0-77D9-9080110CBB9E}"/>
                    </a:ext>
                  </a:extLst>
                </p:cNvPr>
                <p:cNvSpPr txBox="1"/>
                <p:nvPr/>
              </p:nvSpPr>
              <p:spPr>
                <a:xfrm>
                  <a:off x="8846821" y="5384227"/>
                  <a:ext cx="652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s-E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dirty="0"/>
                    <a:t>6</a:t>
                  </a:r>
                </a:p>
              </p:txBody>
            </p:sp>
          </mc:Choice>
          <mc:Fallback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1F15918-05CE-38B0-77D9-9080110CBB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821" y="5384227"/>
                  <a:ext cx="652411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/>
              <p:nvPr/>
            </p:nvSpPr>
            <p:spPr>
              <a:xfrm>
                <a:off x="3881016" y="6148285"/>
                <a:ext cx="395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𝒅𝒊𝒂𝒔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016" y="6148285"/>
                <a:ext cx="395075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D358996E-9165-1E0F-A49F-3C2F95EEADE7}"/>
              </a:ext>
            </a:extLst>
          </p:cNvPr>
          <p:cNvSpPr txBox="1"/>
          <p:nvPr/>
        </p:nvSpPr>
        <p:spPr>
          <a:xfrm>
            <a:off x="535084" y="1797021"/>
            <a:ext cx="11121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Una cuadrilla de albañiles, trabajando 8 horas diarias, construye 400 metros cuadrados de pared en 15 días. ¿Cuánto tardaría la misma cuadrilla en construir 600 metros cuadrados de pared, si deciden trabajar 10 horas cada día?</a:t>
            </a:r>
            <a:endParaRPr lang="es-ES" sz="2000" dirty="0">
              <a:solidFill>
                <a:srgbClr val="4E95D9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6D11C45-ECD9-FA74-E469-512A83075F1F}"/>
              </a:ext>
            </a:extLst>
          </p:cNvPr>
          <p:cNvSpPr txBox="1"/>
          <p:nvPr/>
        </p:nvSpPr>
        <p:spPr>
          <a:xfrm>
            <a:off x="1848088" y="3170171"/>
            <a:ext cx="268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METROS CUADRADOS</a:t>
            </a:r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F52B628-BE2C-A0AA-2914-7D4815DA94EA}"/>
              </a:ext>
            </a:extLst>
          </p:cNvPr>
          <p:cNvSpPr txBox="1"/>
          <p:nvPr/>
        </p:nvSpPr>
        <p:spPr>
          <a:xfrm>
            <a:off x="4897100" y="3151335"/>
            <a:ext cx="191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HORAS/DÍAS</a:t>
            </a:r>
            <a:endParaRPr lang="es-ES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AA422FE-966E-C8F1-D701-FCF069505AE7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9744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Llamamos de </a:t>
            </a:r>
            <a:r>
              <a:rPr lang="es-ES" sz="2000" b="1" dirty="0">
                <a:solidFill>
                  <a:srgbClr val="4E95D9"/>
                </a:solidFill>
              </a:rPr>
              <a:t>proporcionalidad compuesta </a:t>
            </a:r>
            <a:r>
              <a:rPr lang="es-ES" sz="2000" b="1" dirty="0"/>
              <a:t>a aquellas situaciones en las que intervienen más de dos magnitudes ligadas por la relación de proporcionalidad.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8E544E65-2D2D-AED7-208A-6D453173EBFF}"/>
              </a:ext>
            </a:extLst>
          </p:cNvPr>
          <p:cNvGrpSpPr/>
          <p:nvPr/>
        </p:nvGrpSpPr>
        <p:grpSpPr>
          <a:xfrm>
            <a:off x="2786502" y="3601739"/>
            <a:ext cx="6060321" cy="369332"/>
            <a:chOff x="2786502" y="3601739"/>
            <a:chExt cx="6060321" cy="36933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FFFEBC2-E115-75F9-0562-75663284D0DE}"/>
                </a:ext>
              </a:extLst>
            </p:cNvPr>
            <p:cNvSpPr txBox="1"/>
            <p:nvPr/>
          </p:nvSpPr>
          <p:spPr>
            <a:xfrm>
              <a:off x="278650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400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3C836B9-FC65-EFD6-34F3-D4C231CB1DE8}"/>
                </a:ext>
              </a:extLst>
            </p:cNvPr>
            <p:cNvSpPr txBox="1"/>
            <p:nvPr/>
          </p:nvSpPr>
          <p:spPr>
            <a:xfrm>
              <a:off x="5609651" y="3601739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5F23D71-6322-59EB-8C05-2707262CAD90}"/>
                </a:ext>
              </a:extLst>
            </p:cNvPr>
            <p:cNvSpPr txBox="1"/>
            <p:nvPr/>
          </p:nvSpPr>
          <p:spPr>
            <a:xfrm>
              <a:off x="8194412" y="3601739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15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3D47731-4472-DD4D-C9D6-FF25E9441DCA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A6B63165-3DE1-5B26-0608-154155AC5C84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3786405"/>
              <a:ext cx="1835936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/>
              <p:nvPr/>
            </p:nvSpPr>
            <p:spPr>
              <a:xfrm>
                <a:off x="3215344" y="4849359"/>
                <a:ext cx="5282099" cy="818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0∙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400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9DE3BD3-2E4F-0545-A5BE-771A8C9D1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344" y="4849359"/>
                <a:ext cx="5282099" cy="818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upo 22">
            <a:extLst>
              <a:ext uri="{FF2B5EF4-FFF2-40B4-BE49-F238E27FC236}">
                <a16:creationId xmlns:a16="http://schemas.microsoft.com/office/drawing/2014/main" id="{0A979F89-26ED-1846-7381-8EA0C01A927D}"/>
              </a:ext>
            </a:extLst>
          </p:cNvPr>
          <p:cNvGrpSpPr/>
          <p:nvPr/>
        </p:nvGrpSpPr>
        <p:grpSpPr>
          <a:xfrm>
            <a:off x="2786502" y="4133216"/>
            <a:ext cx="6060321" cy="369332"/>
            <a:chOff x="2786502" y="5602063"/>
            <a:chExt cx="6060321" cy="369332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806617DE-568C-DFA9-E2E1-A790FD50FF27}"/>
                </a:ext>
              </a:extLst>
            </p:cNvPr>
            <p:cNvSpPr txBox="1"/>
            <p:nvPr/>
          </p:nvSpPr>
          <p:spPr>
            <a:xfrm>
              <a:off x="278650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600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4B0AE14-1B29-057C-7446-239DA5EC0C84}"/>
                </a:ext>
              </a:extLst>
            </p:cNvPr>
            <p:cNvSpPr txBox="1"/>
            <p:nvPr/>
          </p:nvSpPr>
          <p:spPr>
            <a:xfrm>
              <a:off x="5609651" y="5602063"/>
              <a:ext cx="493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AF61EE1-27A8-BB2E-6181-6921FC97C66B}"/>
                </a:ext>
              </a:extLst>
            </p:cNvPr>
            <p:cNvSpPr txBox="1"/>
            <p:nvPr/>
          </p:nvSpPr>
          <p:spPr>
            <a:xfrm>
              <a:off x="8194412" y="5602063"/>
              <a:ext cx="65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77568F64-9D35-A426-202E-85AA33FEBA87}"/>
                </a:ext>
              </a:extLst>
            </p:cNvPr>
            <p:cNvCxnSpPr>
              <a:cxnSpLocks/>
            </p:cNvCxnSpPr>
            <p:nvPr/>
          </p:nvCxnSpPr>
          <p:spPr>
            <a:xfrm>
              <a:off x="3670754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DBD93DCA-67AE-C5BC-AC9B-795A9A0BDB2F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29" y="5786729"/>
              <a:ext cx="1835936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E72BF32E-0B5F-2D6A-0F17-230F08AD8B33}"/>
                  </a:ext>
                </a:extLst>
              </p:cNvPr>
              <p:cNvSpPr txBox="1"/>
              <p:nvPr/>
            </p:nvSpPr>
            <p:spPr>
              <a:xfrm>
                <a:off x="3881015" y="5759016"/>
                <a:ext cx="395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𝒅𝒊𝒂𝒔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E72BF32E-0B5F-2D6A-0F17-230F08AD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015" y="5759016"/>
                <a:ext cx="395075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87948623-9468-A011-350B-798803DB4D85}"/>
              </a:ext>
            </a:extLst>
          </p:cNvPr>
          <p:cNvSpPr txBox="1"/>
          <p:nvPr/>
        </p:nvSpPr>
        <p:spPr>
          <a:xfrm>
            <a:off x="535084" y="1797021"/>
            <a:ext cx="11121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Una cuadrilla de albañiles, trabajando 8 horas diarias, construye 400 metros cuadrados de pared en 15 días. ¿Cuánto tardaría la misma cuadrilla en construir 600 metros cuadrados de pared, si deciden trabajar 10 horas cada día?</a:t>
            </a:r>
            <a:endParaRPr lang="es-ES" sz="2000" dirty="0">
              <a:solidFill>
                <a:srgbClr val="4E95D9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9A7CE0-7025-B95A-5782-F6D9B934919D}"/>
              </a:ext>
            </a:extLst>
          </p:cNvPr>
          <p:cNvSpPr txBox="1"/>
          <p:nvPr/>
        </p:nvSpPr>
        <p:spPr>
          <a:xfrm>
            <a:off x="1848088" y="3170171"/>
            <a:ext cx="268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METROS CUADRADOS</a:t>
            </a:r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55594FB-AA72-88AB-6128-B1F187133267}"/>
              </a:ext>
            </a:extLst>
          </p:cNvPr>
          <p:cNvSpPr txBox="1"/>
          <p:nvPr/>
        </p:nvSpPr>
        <p:spPr>
          <a:xfrm>
            <a:off x="4897100" y="3151335"/>
            <a:ext cx="191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HORAS/DÍAS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3D0C408-852D-9551-B5C9-248EAC273611}"/>
              </a:ext>
            </a:extLst>
          </p:cNvPr>
          <p:cNvSpPr txBox="1"/>
          <p:nvPr/>
        </p:nvSpPr>
        <p:spPr>
          <a:xfrm>
            <a:off x="7968103" y="3139929"/>
            <a:ext cx="11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DÍAS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212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5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559</Words>
  <Application>Microsoft Office PowerPoint</Application>
  <PresentationFormat>Panorámica</PresentationFormat>
  <Paragraphs>115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71</cp:revision>
  <dcterms:created xsi:type="dcterms:W3CDTF">2024-08-18T18:48:07Z</dcterms:created>
  <dcterms:modified xsi:type="dcterms:W3CDTF">2024-10-18T10:41:57Z</dcterms:modified>
</cp:coreProperties>
</file>