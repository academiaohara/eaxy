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86" autoAdjust="0"/>
    <p:restoredTop sz="96238" autoAdjust="0"/>
  </p:normalViewPr>
  <p:slideViewPr>
    <p:cSldViewPr snapToGrid="0">
      <p:cViewPr>
        <p:scale>
          <a:sx n="66" d="100"/>
          <a:sy n="66" d="100"/>
        </p:scale>
        <p:origin x="47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61062729"/>
                  </p:ext>
                </p:extLst>
              </p:nvPr>
            </p:nvGraphicFramePr>
            <p:xfrm>
              <a:off x="545866" y="4303240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866" y="4303240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REPARTOS PROPORCIONALES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DB21E1-C19E-8367-7D5E-D2372B5FC4CA}"/>
              </a:ext>
            </a:extLst>
          </p:cNvPr>
          <p:cNvSpPr txBox="1"/>
          <p:nvPr/>
        </p:nvSpPr>
        <p:spPr>
          <a:xfrm>
            <a:off x="861140" y="425163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PROBLEMAS DE VEHÍCULOS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05366519"/>
                  </p:ext>
                </p:extLst>
              </p:nvPr>
            </p:nvGraphicFramePr>
            <p:xfrm>
              <a:off x="551197" y="3034054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1197" y="3034054"/>
                <a:ext cx="342798" cy="43183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3450151"/>
                  </p:ext>
                </p:extLst>
              </p:nvPr>
            </p:nvGraphicFramePr>
            <p:xfrm>
              <a:off x="548148" y="2391140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8148" y="2391140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37159760"/>
                  </p:ext>
                </p:extLst>
              </p:nvPr>
            </p:nvGraphicFramePr>
            <p:xfrm>
              <a:off x="551197" y="3668647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1197" y="3668647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PROPORCIONALIDAD SIMPLE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PROPORCIONALIDAD COMPUESTA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5DAA877-B259-2520-2AAE-A90292E2F4D9}"/>
              </a:ext>
            </a:extLst>
          </p:cNvPr>
          <p:cNvSpPr txBox="1"/>
          <p:nvPr/>
        </p:nvSpPr>
        <p:spPr>
          <a:xfrm>
            <a:off x="861140" y="492022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CÁLCULOS DE PORCENTAJES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3476BE25-A3FC-779A-7732-13A930C006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5612176"/>
                  </p:ext>
                </p:extLst>
              </p:nvPr>
            </p:nvGraphicFramePr>
            <p:xfrm>
              <a:off x="545068" y="4965918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3476BE25-A3FC-779A-7732-13A930C006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4965918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250"/>
                            </p:stCondLst>
                            <p:childTnLst>
                              <p:par>
                                <p:cTn id="58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6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5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3" grpId="0"/>
      <p:bldP spid="3" grpId="1"/>
      <p:bldP spid="7" grpId="0" animBg="1"/>
      <p:bldP spid="16" grpId="0"/>
      <p:bldP spid="1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4680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4753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dos automóviles se mueven en sentidos opuestos, la velocidad a la que se aproximan es la suma de sus velocidades.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238122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i="1" dirty="0"/>
              <a:t>Dos poblaciones A y B distan 350 km. A las nueve de la mañana sale de A hacia B un camión a una velocidad de 80 km/h. Simultáneamente, un coche sale de B</a:t>
            </a:r>
          </a:p>
          <a:p>
            <a:r>
              <a:rPr lang="es-ES" sz="2000" i="1" dirty="0"/>
              <a:t>hacia A a 120 km/h. ¿A qué hora se cruzan?</a:t>
            </a:r>
            <a:endParaRPr lang="es-ES" sz="2400" dirty="0">
              <a:solidFill>
                <a:srgbClr val="4E95D9"/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C18BF6F-C58B-9C95-419C-9345400309B8}"/>
              </a:ext>
            </a:extLst>
          </p:cNvPr>
          <p:cNvSpPr txBox="1"/>
          <p:nvPr/>
        </p:nvSpPr>
        <p:spPr>
          <a:xfrm>
            <a:off x="535084" y="951066"/>
            <a:ext cx="3922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ENCUENTROS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250DC12D-E400-2DF0-1449-0E3B461C9733}"/>
              </a:ext>
            </a:extLst>
          </p:cNvPr>
          <p:cNvGrpSpPr/>
          <p:nvPr/>
        </p:nvGrpSpPr>
        <p:grpSpPr>
          <a:xfrm>
            <a:off x="921592" y="3396884"/>
            <a:ext cx="1433416" cy="1034520"/>
            <a:chOff x="921592" y="3396884"/>
            <a:chExt cx="1433416" cy="1034520"/>
          </a:xfrm>
        </p:grpSpPr>
        <p:pic>
          <p:nvPicPr>
            <p:cNvPr id="21" name="Gráfico 20" descr="Coche con relleno sólido">
              <a:extLst>
                <a:ext uri="{FF2B5EF4-FFF2-40B4-BE49-F238E27FC236}">
                  <a16:creationId xmlns:a16="http://schemas.microsoft.com/office/drawing/2014/main" id="{044D644D-6368-4A1A-A7A0-F44EF8DEA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81100" y="3396884"/>
              <a:ext cx="914400" cy="914400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0C195D5-DC42-F9C8-BAE2-B143FC6E9F94}"/>
                </a:ext>
              </a:extLst>
            </p:cNvPr>
            <p:cNvSpPr txBox="1"/>
            <p:nvPr/>
          </p:nvSpPr>
          <p:spPr>
            <a:xfrm>
              <a:off x="921592" y="4062072"/>
              <a:ext cx="1433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120 km/h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F72639C8-85A8-30D5-D95D-A17A072AD6B5}"/>
              </a:ext>
            </a:extLst>
          </p:cNvPr>
          <p:cNvGrpSpPr/>
          <p:nvPr/>
        </p:nvGrpSpPr>
        <p:grpSpPr>
          <a:xfrm>
            <a:off x="9493813" y="3396884"/>
            <a:ext cx="1433416" cy="1034520"/>
            <a:chOff x="9493813" y="3396884"/>
            <a:chExt cx="1433416" cy="1034520"/>
          </a:xfrm>
        </p:grpSpPr>
        <p:pic>
          <p:nvPicPr>
            <p:cNvPr id="24" name="Gráfico 23" descr="Camión con relleno sólido">
              <a:extLst>
                <a:ext uri="{FF2B5EF4-FFF2-40B4-BE49-F238E27FC236}">
                  <a16:creationId xmlns:a16="http://schemas.microsoft.com/office/drawing/2014/main" id="{9660DE8F-8DDB-AE73-E32F-DDA3C9543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9753600" y="3396884"/>
              <a:ext cx="914400" cy="914400"/>
            </a:xfrm>
            <a:prstGeom prst="rect">
              <a:avLst/>
            </a:prstGeom>
          </p:spPr>
        </p:pic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390742FA-2EC9-B217-29AD-0FF78FE22330}"/>
                </a:ext>
              </a:extLst>
            </p:cNvPr>
            <p:cNvSpPr txBox="1"/>
            <p:nvPr/>
          </p:nvSpPr>
          <p:spPr>
            <a:xfrm>
              <a:off x="9493813" y="4062072"/>
              <a:ext cx="1433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80 km/h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1AC7F07E-43DC-FC5C-F282-A573C8A469C8}"/>
              </a:ext>
            </a:extLst>
          </p:cNvPr>
          <p:cNvCxnSpPr/>
          <p:nvPr/>
        </p:nvCxnSpPr>
        <p:spPr>
          <a:xfrm>
            <a:off x="1752600" y="4610100"/>
            <a:ext cx="8509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88A835-38BC-8839-C36F-8B9EA443BE94}"/>
              </a:ext>
            </a:extLst>
          </p:cNvPr>
          <p:cNvSpPr txBox="1"/>
          <p:nvPr/>
        </p:nvSpPr>
        <p:spPr>
          <a:xfrm>
            <a:off x="5379292" y="4647167"/>
            <a:ext cx="1433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350 km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3F662D7-5B4B-0DF4-EF99-19EA8C3E68CE}"/>
              </a:ext>
            </a:extLst>
          </p:cNvPr>
          <p:cNvSpPr txBox="1"/>
          <p:nvPr/>
        </p:nvSpPr>
        <p:spPr>
          <a:xfrm>
            <a:off x="1273629" y="4425434"/>
            <a:ext cx="47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A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26BED1B-B517-10B0-2484-ECA25BB8AE83}"/>
              </a:ext>
            </a:extLst>
          </p:cNvPr>
          <p:cNvSpPr txBox="1"/>
          <p:nvPr/>
        </p:nvSpPr>
        <p:spPr>
          <a:xfrm>
            <a:off x="10188684" y="4425434"/>
            <a:ext cx="47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6" grpId="0"/>
      <p:bldP spid="16" grpId="0"/>
      <p:bldP spid="30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4680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4753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dos automóviles se mueven en sentidos opuestos, la velocidad a la que se aproximan es la suma de sus velocidades.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238122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i="1" dirty="0"/>
              <a:t>Dos poblaciones A y B distan 350 km. A las nueve de la mañana sale de A hacia B un camión a una velocidad de 80 km/h. Simultáneamente, un coche sale de B</a:t>
            </a:r>
          </a:p>
          <a:p>
            <a:r>
              <a:rPr lang="es-ES" sz="2000" i="1" dirty="0"/>
              <a:t>hacia A a 120 km/h. ¿A qué hora se cruzan?</a:t>
            </a:r>
            <a:endParaRPr lang="es-ES" sz="2400" dirty="0">
              <a:solidFill>
                <a:srgbClr val="4E95D9"/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C18BF6F-C58B-9C95-419C-9345400309B8}"/>
              </a:ext>
            </a:extLst>
          </p:cNvPr>
          <p:cNvSpPr txBox="1"/>
          <p:nvPr/>
        </p:nvSpPr>
        <p:spPr>
          <a:xfrm>
            <a:off x="535084" y="951066"/>
            <a:ext cx="3922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ENCUENTROS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250DC12D-E400-2DF0-1449-0E3B461C9733}"/>
              </a:ext>
            </a:extLst>
          </p:cNvPr>
          <p:cNvGrpSpPr/>
          <p:nvPr/>
        </p:nvGrpSpPr>
        <p:grpSpPr>
          <a:xfrm>
            <a:off x="921592" y="3396884"/>
            <a:ext cx="1433416" cy="1034520"/>
            <a:chOff x="921592" y="3396884"/>
            <a:chExt cx="1433416" cy="1034520"/>
          </a:xfrm>
        </p:grpSpPr>
        <p:pic>
          <p:nvPicPr>
            <p:cNvPr id="21" name="Gráfico 20" descr="Coche con relleno sólido">
              <a:extLst>
                <a:ext uri="{FF2B5EF4-FFF2-40B4-BE49-F238E27FC236}">
                  <a16:creationId xmlns:a16="http://schemas.microsoft.com/office/drawing/2014/main" id="{044D644D-6368-4A1A-A7A0-F44EF8DEA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81100" y="3396884"/>
              <a:ext cx="914400" cy="914400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0C195D5-DC42-F9C8-BAE2-B143FC6E9F94}"/>
                </a:ext>
              </a:extLst>
            </p:cNvPr>
            <p:cNvSpPr txBox="1"/>
            <p:nvPr/>
          </p:nvSpPr>
          <p:spPr>
            <a:xfrm>
              <a:off x="921592" y="4062072"/>
              <a:ext cx="1433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120 km/h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F72639C8-85A8-30D5-D95D-A17A072AD6B5}"/>
              </a:ext>
            </a:extLst>
          </p:cNvPr>
          <p:cNvGrpSpPr/>
          <p:nvPr/>
        </p:nvGrpSpPr>
        <p:grpSpPr>
          <a:xfrm>
            <a:off x="9493813" y="3396884"/>
            <a:ext cx="1433416" cy="1034520"/>
            <a:chOff x="9493813" y="3396884"/>
            <a:chExt cx="1433416" cy="1034520"/>
          </a:xfrm>
        </p:grpSpPr>
        <p:pic>
          <p:nvPicPr>
            <p:cNvPr id="24" name="Gráfico 23" descr="Camión con relleno sólido">
              <a:extLst>
                <a:ext uri="{FF2B5EF4-FFF2-40B4-BE49-F238E27FC236}">
                  <a16:creationId xmlns:a16="http://schemas.microsoft.com/office/drawing/2014/main" id="{9660DE8F-8DDB-AE73-E32F-DDA3C9543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9753600" y="3396884"/>
              <a:ext cx="914400" cy="914400"/>
            </a:xfrm>
            <a:prstGeom prst="rect">
              <a:avLst/>
            </a:prstGeom>
          </p:spPr>
        </p:pic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390742FA-2EC9-B217-29AD-0FF78FE22330}"/>
                </a:ext>
              </a:extLst>
            </p:cNvPr>
            <p:cNvSpPr txBox="1"/>
            <p:nvPr/>
          </p:nvSpPr>
          <p:spPr>
            <a:xfrm>
              <a:off x="9493813" y="4062072"/>
              <a:ext cx="1433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80 km/h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1AC7F07E-43DC-FC5C-F282-A573C8A469C8}"/>
              </a:ext>
            </a:extLst>
          </p:cNvPr>
          <p:cNvCxnSpPr/>
          <p:nvPr/>
        </p:nvCxnSpPr>
        <p:spPr>
          <a:xfrm>
            <a:off x="1752600" y="4610100"/>
            <a:ext cx="8509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88A835-38BC-8839-C36F-8B9EA443BE94}"/>
              </a:ext>
            </a:extLst>
          </p:cNvPr>
          <p:cNvSpPr txBox="1"/>
          <p:nvPr/>
        </p:nvSpPr>
        <p:spPr>
          <a:xfrm>
            <a:off x="5379292" y="4647167"/>
            <a:ext cx="1433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350 km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3F662D7-5B4B-0DF4-EF99-19EA8C3E68CE}"/>
              </a:ext>
            </a:extLst>
          </p:cNvPr>
          <p:cNvSpPr txBox="1"/>
          <p:nvPr/>
        </p:nvSpPr>
        <p:spPr>
          <a:xfrm>
            <a:off x="1273629" y="4425434"/>
            <a:ext cx="47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A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26BED1B-B517-10B0-2484-ECA25BB8AE83}"/>
              </a:ext>
            </a:extLst>
          </p:cNvPr>
          <p:cNvSpPr txBox="1"/>
          <p:nvPr/>
        </p:nvSpPr>
        <p:spPr>
          <a:xfrm>
            <a:off x="10188684" y="4425434"/>
            <a:ext cx="47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97226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4680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4753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dos automóviles se mueven en sentidos opuestos, la velocidad a la que se aproximan es la suma de sus velocidades.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238122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i="1" dirty="0"/>
              <a:t>Dos poblaciones A y B distan 350 km. A las nueve de la mañana sale de A hacia B un camión a una velocidad de 80 km/h. Simultáneamente, un coche sale de B</a:t>
            </a:r>
          </a:p>
          <a:p>
            <a:r>
              <a:rPr lang="es-ES" sz="2000" i="1" dirty="0"/>
              <a:t>hacia A a 120 km/h. ¿A qué hora se cruzan?</a:t>
            </a:r>
            <a:endParaRPr lang="es-ES" sz="2400" dirty="0">
              <a:solidFill>
                <a:srgbClr val="4E95D9"/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C18BF6F-C58B-9C95-419C-9345400309B8}"/>
              </a:ext>
            </a:extLst>
          </p:cNvPr>
          <p:cNvSpPr txBox="1"/>
          <p:nvPr/>
        </p:nvSpPr>
        <p:spPr>
          <a:xfrm>
            <a:off x="535084" y="951066"/>
            <a:ext cx="3922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ENCUENTROS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250DC12D-E400-2DF0-1449-0E3B461C9733}"/>
              </a:ext>
            </a:extLst>
          </p:cNvPr>
          <p:cNvGrpSpPr/>
          <p:nvPr/>
        </p:nvGrpSpPr>
        <p:grpSpPr>
          <a:xfrm>
            <a:off x="3601292" y="3396884"/>
            <a:ext cx="1433416" cy="1034520"/>
            <a:chOff x="921592" y="3396884"/>
            <a:chExt cx="1433416" cy="1034520"/>
          </a:xfrm>
        </p:grpSpPr>
        <p:pic>
          <p:nvPicPr>
            <p:cNvPr id="21" name="Gráfico 20" descr="Coche con relleno sólido">
              <a:extLst>
                <a:ext uri="{FF2B5EF4-FFF2-40B4-BE49-F238E27FC236}">
                  <a16:creationId xmlns:a16="http://schemas.microsoft.com/office/drawing/2014/main" id="{044D644D-6368-4A1A-A7A0-F44EF8DEA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81100" y="3396884"/>
              <a:ext cx="914400" cy="914400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0C195D5-DC42-F9C8-BAE2-B143FC6E9F94}"/>
                </a:ext>
              </a:extLst>
            </p:cNvPr>
            <p:cNvSpPr txBox="1"/>
            <p:nvPr/>
          </p:nvSpPr>
          <p:spPr>
            <a:xfrm>
              <a:off x="921592" y="4062072"/>
              <a:ext cx="1433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120 km/h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F72639C8-85A8-30D5-D95D-A17A072AD6B5}"/>
              </a:ext>
            </a:extLst>
          </p:cNvPr>
          <p:cNvGrpSpPr/>
          <p:nvPr/>
        </p:nvGrpSpPr>
        <p:grpSpPr>
          <a:xfrm>
            <a:off x="8261913" y="3396884"/>
            <a:ext cx="1433416" cy="1034520"/>
            <a:chOff x="9493813" y="3396884"/>
            <a:chExt cx="1433416" cy="1034520"/>
          </a:xfrm>
        </p:grpSpPr>
        <p:pic>
          <p:nvPicPr>
            <p:cNvPr id="24" name="Gráfico 23" descr="Camión con relleno sólido">
              <a:extLst>
                <a:ext uri="{FF2B5EF4-FFF2-40B4-BE49-F238E27FC236}">
                  <a16:creationId xmlns:a16="http://schemas.microsoft.com/office/drawing/2014/main" id="{9660DE8F-8DDB-AE73-E32F-DDA3C9543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9753600" y="3396884"/>
              <a:ext cx="914400" cy="914400"/>
            </a:xfrm>
            <a:prstGeom prst="rect">
              <a:avLst/>
            </a:prstGeom>
          </p:spPr>
        </p:pic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390742FA-2EC9-B217-29AD-0FF78FE22330}"/>
                </a:ext>
              </a:extLst>
            </p:cNvPr>
            <p:cNvSpPr txBox="1"/>
            <p:nvPr/>
          </p:nvSpPr>
          <p:spPr>
            <a:xfrm>
              <a:off x="9493813" y="4062072"/>
              <a:ext cx="1433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80 km/h</a:t>
              </a:r>
            </a:p>
          </p:txBody>
        </p:sp>
      </p:grp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1AC7F07E-43DC-FC5C-F282-A573C8A469C8}"/>
              </a:ext>
            </a:extLst>
          </p:cNvPr>
          <p:cNvCxnSpPr/>
          <p:nvPr/>
        </p:nvCxnSpPr>
        <p:spPr>
          <a:xfrm>
            <a:off x="1752600" y="4610100"/>
            <a:ext cx="8509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3F662D7-5B4B-0DF4-EF99-19EA8C3E68CE}"/>
              </a:ext>
            </a:extLst>
          </p:cNvPr>
          <p:cNvSpPr txBox="1"/>
          <p:nvPr/>
        </p:nvSpPr>
        <p:spPr>
          <a:xfrm>
            <a:off x="1273629" y="4425434"/>
            <a:ext cx="47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A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26BED1B-B517-10B0-2484-ECA25BB8AE83}"/>
              </a:ext>
            </a:extLst>
          </p:cNvPr>
          <p:cNvSpPr txBox="1"/>
          <p:nvPr/>
        </p:nvSpPr>
        <p:spPr>
          <a:xfrm>
            <a:off x="10188684" y="4425434"/>
            <a:ext cx="47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A40F97F0-94B2-1275-4267-4D360E853F35}"/>
              </a:ext>
            </a:extLst>
          </p:cNvPr>
          <p:cNvGrpSpPr/>
          <p:nvPr/>
        </p:nvGrpSpPr>
        <p:grpSpPr>
          <a:xfrm>
            <a:off x="1752600" y="4089643"/>
            <a:ext cx="2565400" cy="369332"/>
            <a:chOff x="1752600" y="4089643"/>
            <a:chExt cx="2565400" cy="369332"/>
          </a:xfrm>
        </p:grpSpPr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FCE3431D-7EEE-EA93-2592-4231A99E7029}"/>
                </a:ext>
              </a:extLst>
            </p:cNvPr>
            <p:cNvCxnSpPr>
              <a:cxnSpLocks/>
              <a:endCxn id="25" idx="2"/>
            </p:cNvCxnSpPr>
            <p:nvPr/>
          </p:nvCxnSpPr>
          <p:spPr>
            <a:xfrm>
              <a:off x="1752600" y="4425434"/>
              <a:ext cx="2565400" cy="5970"/>
            </a:xfrm>
            <a:prstGeom prst="straightConnector1">
              <a:avLst/>
            </a:prstGeom>
            <a:ln>
              <a:solidFill>
                <a:schemeClr val="accent4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83095F23-27A3-E29D-7004-F2617B497923}"/>
                </a:ext>
              </a:extLst>
            </p:cNvPr>
            <p:cNvSpPr txBox="1"/>
            <p:nvPr/>
          </p:nvSpPr>
          <p:spPr>
            <a:xfrm>
              <a:off x="2180707" y="4089643"/>
              <a:ext cx="1433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120 km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CD739207-DF43-0867-4164-A5BEA9A88DD5}"/>
              </a:ext>
            </a:extLst>
          </p:cNvPr>
          <p:cNvGrpSpPr/>
          <p:nvPr/>
        </p:nvGrpSpPr>
        <p:grpSpPr>
          <a:xfrm>
            <a:off x="8921750" y="4135402"/>
            <a:ext cx="1506592" cy="369332"/>
            <a:chOff x="1752600" y="4094878"/>
            <a:chExt cx="3191149" cy="369332"/>
          </a:xfrm>
        </p:grpSpPr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B0492ACC-7DF9-E6F0-7275-63B4AEB1AD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2600" y="4431404"/>
              <a:ext cx="2837969" cy="0"/>
            </a:xfrm>
            <a:prstGeom prst="straightConnector1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54703D54-ACB8-1CB1-E596-B25A051110A7}"/>
                </a:ext>
              </a:extLst>
            </p:cNvPr>
            <p:cNvSpPr txBox="1"/>
            <p:nvPr/>
          </p:nvSpPr>
          <p:spPr>
            <a:xfrm>
              <a:off x="2688332" y="4094878"/>
              <a:ext cx="2255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accent5">
                      <a:lumMod val="75000"/>
                    </a:schemeClr>
                  </a:solidFill>
                </a:rPr>
                <a:t>80 km</a:t>
              </a:r>
            </a:p>
          </p:txBody>
        </p: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4813804-8181-C094-E1FA-8F5B5FFE5F19}"/>
              </a:ext>
            </a:extLst>
          </p:cNvPr>
          <p:cNvSpPr txBox="1"/>
          <p:nvPr/>
        </p:nvSpPr>
        <p:spPr>
          <a:xfrm>
            <a:off x="5379292" y="4647167"/>
            <a:ext cx="1433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350 km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3C61A74-EAB8-D63A-4667-983107C1A486}"/>
              </a:ext>
            </a:extLst>
          </p:cNvPr>
          <p:cNvSpPr txBox="1"/>
          <p:nvPr/>
        </p:nvSpPr>
        <p:spPr>
          <a:xfrm>
            <a:off x="535084" y="5124163"/>
            <a:ext cx="1013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En una hora se aproximan 120 km + 80 km = 200 km. La velocidad de aproximación es de</a:t>
            </a:r>
          </a:p>
          <a:p>
            <a:r>
              <a:rPr lang="es-ES" dirty="0"/>
              <a:t>200 km/h.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73B3863-8BF7-6E8D-BC34-EA4AE6323241}"/>
              </a:ext>
            </a:extLst>
          </p:cNvPr>
          <p:cNvSpPr txBox="1"/>
          <p:nvPr/>
        </p:nvSpPr>
        <p:spPr>
          <a:xfrm>
            <a:off x="289379" y="3587433"/>
            <a:ext cx="1698171" cy="369332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1h después</a:t>
            </a:r>
          </a:p>
        </p:txBody>
      </p:sp>
    </p:spTree>
    <p:extLst>
      <p:ext uri="{BB962C8B-B14F-4D97-AF65-F5344CB8AC3E}">
        <p14:creationId xmlns:p14="http://schemas.microsoft.com/office/powerpoint/2010/main" val="2713361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uiExpand="1" build="p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4680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4753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dos automóviles se mueven en sentidos opuestos, la velocidad a la que se aproximan es la suma de sus velocidades.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238122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i="1" dirty="0"/>
              <a:t>Dos poblaciones A y B distan 350 km. A las nueve de la mañana sale de A hacia B un camión a una velocidad de 80 km/h. Simultáneamente, un coche sale de B</a:t>
            </a:r>
          </a:p>
          <a:p>
            <a:r>
              <a:rPr lang="es-ES" sz="2000" i="1" dirty="0"/>
              <a:t>hacia A a 120 km/h. ¿A qué hora se cruzan?</a:t>
            </a:r>
            <a:endParaRPr lang="es-ES" sz="2400" dirty="0">
              <a:solidFill>
                <a:srgbClr val="4E95D9"/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C18BF6F-C58B-9C95-419C-9345400309B8}"/>
              </a:ext>
            </a:extLst>
          </p:cNvPr>
          <p:cNvSpPr txBox="1"/>
          <p:nvPr/>
        </p:nvSpPr>
        <p:spPr>
          <a:xfrm>
            <a:off x="535084" y="951066"/>
            <a:ext cx="3922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ENCUENTROS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8A50431-9C9C-7816-C0E7-D91069F03D6F}"/>
                  </a:ext>
                </a:extLst>
              </p:cNvPr>
              <p:cNvSpPr txBox="1"/>
              <p:nvPr/>
            </p:nvSpPr>
            <p:spPr>
              <a:xfrm>
                <a:off x="3884593" y="4434493"/>
                <a:ext cx="4422813" cy="584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350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h𝑜𝑟𝑎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45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C8A50431-9C9C-7816-C0E7-D91069F03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593" y="4434493"/>
                <a:ext cx="4422813" cy="5845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628974F6-4840-1C9C-6561-3D5FA0B15007}"/>
                  </a:ext>
                </a:extLst>
              </p:cNvPr>
              <p:cNvSpPr txBox="1"/>
              <p:nvPr/>
            </p:nvSpPr>
            <p:spPr>
              <a:xfrm>
                <a:off x="3268207" y="5349550"/>
                <a:ext cx="565558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𝑆𝑒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𝑐𝑟𝑢𝑧𝑎𝑛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𝑙𝑎𝑠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𝑜𝑛𝑐𝑒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𝑚𝑒𝑛𝑜𝑠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𝑐𝑢𝑎𝑟𝑡𝑜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𝑙𝑎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𝑚𝑎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ñ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𝑎𝑛𝑎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628974F6-4840-1C9C-6561-3D5FA0B15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207" y="5349550"/>
                <a:ext cx="5655586" cy="307777"/>
              </a:xfrm>
              <a:prstGeom prst="rect">
                <a:avLst/>
              </a:prstGeom>
              <a:blipFill>
                <a:blip r:embed="rId7"/>
                <a:stretch>
                  <a:fillRect l="-431" r="-323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C178B1A-048E-023D-AB1C-701DC0814209}"/>
                  </a:ext>
                </a:extLst>
              </p:cNvPr>
              <p:cNvSpPr txBox="1"/>
              <p:nvPr/>
            </p:nvSpPr>
            <p:spPr>
              <a:xfrm>
                <a:off x="535084" y="3519694"/>
                <a:ext cx="8147167" cy="584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𝑉𝑒𝑙𝑜𝑐𝑖𝑑𝑎𝑑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𝑎𝑝𝑟𝑜𝑥𝑖𝑚𝑎𝑐𝑖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=120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+80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=200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C178B1A-048E-023D-AB1C-701DC0814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519694"/>
                <a:ext cx="8147167" cy="5843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0597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Aritméticos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4680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4753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dos automóviles marchan en el mismo sentido, el más rápido al alcance del</a:t>
            </a:r>
          </a:p>
          <a:p>
            <a:r>
              <a:rPr lang="es-ES" sz="2000" b="1" dirty="0"/>
              <a:t>otro, la velocidad de aproximación es la diferencia de sus velocidades.</a:t>
            </a:r>
            <a:endParaRPr lang="es-E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E320F7-EA0E-AB7C-E93A-22CE4BE39FE4}"/>
              </a:ext>
            </a:extLst>
          </p:cNvPr>
          <p:cNvSpPr txBox="1"/>
          <p:nvPr/>
        </p:nvSpPr>
        <p:spPr>
          <a:xfrm>
            <a:off x="535084" y="238122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i="1" dirty="0"/>
              <a:t>Un ciclista profesional, entrenándose, avanza por una carretera a una velocidad de 38 km/h. Más adelante, a 22 km, un cicloturista avanza en la misma dirección a 14 km/h. ¿Cuánto tarda el uno en alcanzar al otro?</a:t>
            </a:r>
            <a:endParaRPr lang="es-ES" sz="2800" dirty="0">
              <a:solidFill>
                <a:srgbClr val="4E95D9"/>
              </a:solidFill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EC18BF6F-C58B-9C95-419C-9345400309B8}"/>
              </a:ext>
            </a:extLst>
          </p:cNvPr>
          <p:cNvSpPr txBox="1"/>
          <p:nvPr/>
        </p:nvSpPr>
        <p:spPr>
          <a:xfrm>
            <a:off x="535084" y="951066"/>
            <a:ext cx="3922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ALCANCES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3EC9E73-6606-A69E-EE97-E16162608106}"/>
                  </a:ext>
                </a:extLst>
              </p:cNvPr>
              <p:cNvSpPr txBox="1"/>
              <p:nvPr/>
            </p:nvSpPr>
            <p:spPr>
              <a:xfrm>
                <a:off x="3884593" y="4434493"/>
                <a:ext cx="4020909" cy="584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h𝑜𝑟𝑎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=55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3EC9E73-6606-A69E-EE97-E16162608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593" y="4434493"/>
                <a:ext cx="4020909" cy="5844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4ABB1F4-A906-8532-2BD7-7A93346F6A28}"/>
                  </a:ext>
                </a:extLst>
              </p:cNvPr>
              <p:cNvSpPr txBox="1"/>
              <p:nvPr/>
            </p:nvSpPr>
            <p:spPr>
              <a:xfrm>
                <a:off x="535084" y="3519694"/>
                <a:ext cx="7843301" cy="584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𝑉𝑒𝑙𝑜𝑐𝑖𝑑𝑎𝑑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𝑎𝑝𝑟𝑜𝑥𝑖𝑚𝑎𝑐𝑖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=38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−14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=24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4ABB1F4-A906-8532-2BD7-7A93346F6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519694"/>
                <a:ext cx="7843301" cy="5843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5566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26" grpId="0"/>
      <p:bldP spid="16" grpId="0"/>
      <p:bldP spid="10" grpId="0"/>
      <p:bldP spid="1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585</Words>
  <Application>Microsoft Office PowerPoint</Application>
  <PresentationFormat>Panorámica</PresentationFormat>
  <Paragraphs>57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75</cp:revision>
  <dcterms:created xsi:type="dcterms:W3CDTF">2024-08-18T18:48:07Z</dcterms:created>
  <dcterms:modified xsi:type="dcterms:W3CDTF">2024-10-18T12:00:12Z</dcterms:modified>
</cp:coreProperties>
</file>