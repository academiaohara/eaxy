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5D9"/>
    <a:srgbClr val="960119"/>
    <a:srgbClr val="FE8A9D"/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86" autoAdjust="0"/>
    <p:restoredTop sz="96238" autoAdjust="0"/>
  </p:normalViewPr>
  <p:slideViewPr>
    <p:cSldViewPr snapToGrid="0">
      <p:cViewPr varScale="1">
        <p:scale>
          <a:sx n="73" d="100"/>
          <a:sy n="73" d="100"/>
        </p:scale>
        <p:origin x="126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17/10/2024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17/10/2024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17/10/2024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17/10/2024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17/06/relationships/model3d" Target="../media/model3d1.glb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microsoft.com/office/2017/06/relationships/model3d" Target="../media/model3d2.glb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3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upo 114">
            <a:extLst>
              <a:ext uri="{FF2B5EF4-FFF2-40B4-BE49-F238E27FC236}">
                <a16:creationId xmlns:a16="http://schemas.microsoft.com/office/drawing/2014/main" id="{1875D95A-20E1-D947-93B2-04321193314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01" y="0"/>
            <a:ext cx="12184798" cy="6858000"/>
            <a:chOff x="3601" y="0"/>
            <a:chExt cx="12184798" cy="6858000"/>
          </a:xfrm>
        </p:grpSpPr>
        <p:pic>
          <p:nvPicPr>
            <p:cNvPr id="113" name="Imagen 112">
              <a:extLst>
                <a:ext uri="{FF2B5EF4-FFF2-40B4-BE49-F238E27FC236}">
                  <a16:creationId xmlns:a16="http://schemas.microsoft.com/office/drawing/2014/main" id="{3A8A379F-D036-778F-3C84-2E90E578B92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01" y="0"/>
              <a:ext cx="7970217" cy="6858000"/>
            </a:xfrm>
            <a:prstGeom prst="rect">
              <a:avLst/>
            </a:prstGeom>
          </p:spPr>
        </p:pic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1DC43CFD-784F-B694-E8A0-D05C052D07E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2"/>
            <a:srcRect l="35501" r="5319"/>
            <a:stretch/>
          </p:blipFill>
          <p:spPr>
            <a:xfrm>
              <a:off x="7471606" y="0"/>
              <a:ext cx="4716793" cy="6858000"/>
            </a:xfrm>
            <a:prstGeom prst="rect">
              <a:avLst/>
            </a:prstGeom>
          </p:spPr>
        </p:pic>
      </p:grp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32063" y="574828"/>
            <a:ext cx="911673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3:</a:t>
            </a:r>
          </a:p>
          <a:p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Números Reales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362666121"/>
                  </p:ext>
                </p:extLst>
              </p:nvPr>
            </p:nvGraphicFramePr>
            <p:xfrm>
              <a:off x="540421" y="3656515"/>
              <a:ext cx="342000" cy="432000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342000" cy="432000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781" ay="-304177" az="-53636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58102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0421" y="3656515"/>
                <a:ext cx="342000" cy="4320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CuadroTexto 21">
            <a:extLst>
              <a:ext uri="{FF2B5EF4-FFF2-40B4-BE49-F238E27FC236}">
                <a16:creationId xmlns:a16="http://schemas.microsoft.com/office/drawing/2014/main" id="{54F5365F-030C-6924-C5E3-9C4F1D0E4AB9}"/>
              </a:ext>
            </a:extLst>
          </p:cNvPr>
          <p:cNvSpPr txBox="1"/>
          <p:nvPr/>
        </p:nvSpPr>
        <p:spPr>
          <a:xfrm>
            <a:off x="861140" y="3617047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RAÍCES Y RADICALES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FDB21E1-C19E-8367-7D5E-D2372B5FC4CA}"/>
              </a:ext>
            </a:extLst>
          </p:cNvPr>
          <p:cNvSpPr txBox="1"/>
          <p:nvPr/>
        </p:nvSpPr>
        <p:spPr>
          <a:xfrm>
            <a:off x="861140" y="4251639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PROPIEDADES DE LAS RAÍCES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Modelo 3D 3" descr="Pirámide gris tetragonal">
                <a:extLst>
                  <a:ext uri="{FF2B5EF4-FFF2-40B4-BE49-F238E27FC236}">
                    <a16:creationId xmlns:a16="http://schemas.microsoft.com/office/drawing/2014/main" id="{281CF13F-6788-410B-4E74-134488BA767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7703566"/>
                  </p:ext>
                </p:extLst>
              </p:nvPr>
            </p:nvGraphicFramePr>
            <p:xfrm>
              <a:off x="550512" y="3027582"/>
              <a:ext cx="331909" cy="426741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31909" cy="426741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57847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Modelo 3D 3" descr="Pirámide gris tetragonal">
                <a:extLst>
                  <a:ext uri="{FF2B5EF4-FFF2-40B4-BE49-F238E27FC236}">
                    <a16:creationId xmlns:a16="http://schemas.microsoft.com/office/drawing/2014/main" id="{281CF13F-6788-410B-4E74-134488BA767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0512" y="3027582"/>
                <a:ext cx="331909" cy="426741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!!1">
            <a:extLst>
              <a:ext uri="{FF2B5EF4-FFF2-40B4-BE49-F238E27FC236}">
                <a16:creationId xmlns:a16="http://schemas.microsoft.com/office/drawing/2014/main" id="{7BC3C1B2-47DF-D395-2549-C1865E2D90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77F6EEA-3D47-CF72-DBFF-353B69A645FB}"/>
              </a:ext>
            </a:extLst>
          </p:cNvPr>
          <p:cNvSpPr/>
          <p:nvPr/>
        </p:nvSpPr>
        <p:spPr>
          <a:xfrm>
            <a:off x="9772650" y="3196371"/>
            <a:ext cx="438150" cy="8219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!!2">
            <a:extLst>
              <a:ext uri="{FF2B5EF4-FFF2-40B4-BE49-F238E27FC236}">
                <a16:creationId xmlns:a16="http://schemas.microsoft.com/office/drawing/2014/main" id="{CB3732CC-67F9-3321-B21A-AEBB61ADAB2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0" name="!!3">
            <a:extLst>
              <a:ext uri="{FF2B5EF4-FFF2-40B4-BE49-F238E27FC236}">
                <a16:creationId xmlns:a16="http://schemas.microsoft.com/office/drawing/2014/main" id="{F3EF4A45-382F-1D99-BF65-152A2BA65C4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1" name="!!4">
            <a:extLst>
              <a:ext uri="{FF2B5EF4-FFF2-40B4-BE49-F238E27FC236}">
                <a16:creationId xmlns:a16="http://schemas.microsoft.com/office/drawing/2014/main" id="{D2F4685D-E9D0-B992-D69A-6AD53D90B7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3" y="466806"/>
            <a:ext cx="3029373" cy="6287377"/>
          </a:xfrm>
          <a:prstGeom prst="rect">
            <a:avLst/>
          </a:prstGeom>
        </p:spPr>
      </p:pic>
      <p:sp>
        <p:nvSpPr>
          <p:cNvPr id="12" name="Elipse 11">
            <a:extLst>
              <a:ext uri="{FF2B5EF4-FFF2-40B4-BE49-F238E27FC236}">
                <a16:creationId xmlns:a16="http://schemas.microsoft.com/office/drawing/2014/main" id="{3D873195-389B-F3F1-3D78-7C9F39F2EAAE}"/>
              </a:ext>
            </a:extLst>
          </p:cNvPr>
          <p:cNvSpPr/>
          <p:nvPr/>
        </p:nvSpPr>
        <p:spPr>
          <a:xfrm>
            <a:off x="7361499" y="2037144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3A48F03A-9935-7607-08EC-E68B03447160}"/>
              </a:ext>
            </a:extLst>
          </p:cNvPr>
          <p:cNvSpPr/>
          <p:nvPr/>
        </p:nvSpPr>
        <p:spPr>
          <a:xfrm>
            <a:off x="7336286" y="4016375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Modelo 3D 13" descr="Pirámide gris tetragonal">
                <a:extLst>
                  <a:ext uri="{FF2B5EF4-FFF2-40B4-BE49-F238E27FC236}">
                    <a16:creationId xmlns:a16="http://schemas.microsoft.com/office/drawing/2014/main" id="{EA6B823D-072B-0CC2-10E9-B19FC3ADD89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85611105"/>
                  </p:ext>
                </p:extLst>
              </p:nvPr>
            </p:nvGraphicFramePr>
            <p:xfrm>
              <a:off x="545068" y="2393552"/>
              <a:ext cx="342798" cy="431838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11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Modelo 3D 13" descr="Pirámide gris tetragonal">
                <a:extLst>
                  <a:ext uri="{FF2B5EF4-FFF2-40B4-BE49-F238E27FC236}">
                    <a16:creationId xmlns:a16="http://schemas.microsoft.com/office/drawing/2014/main" id="{EA6B823D-072B-0CC2-10E9-B19FC3ADD89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45068" y="2393552"/>
                <a:ext cx="342798" cy="4318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Modelo 3D 14" descr="Pirámide gris tetragonal">
                <a:extLst>
                  <a:ext uri="{FF2B5EF4-FFF2-40B4-BE49-F238E27FC236}">
                    <a16:creationId xmlns:a16="http://schemas.microsoft.com/office/drawing/2014/main" id="{0032D165-EFCA-CFD9-D9D3-FD4CDB66C92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63197711"/>
                  </p:ext>
                </p:extLst>
              </p:nvPr>
            </p:nvGraphicFramePr>
            <p:xfrm>
              <a:off x="545068" y="4297330"/>
              <a:ext cx="342798" cy="431838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11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Modelo 3D 14" descr="Pirámide gris tetragonal">
                <a:extLst>
                  <a:ext uri="{FF2B5EF4-FFF2-40B4-BE49-F238E27FC236}">
                    <a16:creationId xmlns:a16="http://schemas.microsoft.com/office/drawing/2014/main" id="{0032D165-EFCA-CFD9-D9D3-FD4CDB66C92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45068" y="4297330"/>
                <a:ext cx="342798" cy="431838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CuadroTexto 15">
            <a:extLst>
              <a:ext uri="{FF2B5EF4-FFF2-40B4-BE49-F238E27FC236}">
                <a16:creationId xmlns:a16="http://schemas.microsoft.com/office/drawing/2014/main" id="{014081C4-D3ED-A383-D535-E7AFCA285ACC}"/>
              </a:ext>
            </a:extLst>
          </p:cNvPr>
          <p:cNvSpPr txBox="1"/>
          <p:nvPr/>
        </p:nvSpPr>
        <p:spPr>
          <a:xfrm>
            <a:off x="861140" y="2347861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NÚMEROS IRRACIONALES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06771BA-0FC2-03A4-AA75-21D94F9EBDF5}"/>
              </a:ext>
            </a:extLst>
          </p:cNvPr>
          <p:cNvSpPr txBox="1"/>
          <p:nvPr/>
        </p:nvSpPr>
        <p:spPr>
          <a:xfrm>
            <a:off x="861140" y="2982454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NÚMEROS REALES</a:t>
            </a:r>
          </a:p>
        </p:txBody>
      </p:sp>
    </p:spTree>
    <p:extLst>
      <p:ext uri="{BB962C8B-B14F-4D97-AF65-F5344CB8AC3E}">
        <p14:creationId xmlns:p14="http://schemas.microsoft.com/office/powerpoint/2010/main" val="14683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25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750"/>
                            </p:stCondLst>
                            <p:childTnLst>
                              <p:par>
                                <p:cTn id="51" presetID="39" presetClass="emph" presetSubtype="5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5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.0012"/>
                                          </p:val>
                                        </p:tav>
                                        <p:tav tm="2250">
                                          <p:val>
                                            <p:fltVal val="0.0098"/>
                                          </p:val>
                                        </p:tav>
                                        <p:tav tm="3370">
                                          <p:val>
                                            <p:fltVal val="0.033"/>
                                          </p:val>
                                        </p:tav>
                                        <p:tav tm="4490">
                                          <p:val>
                                            <p:fltVal val="0.0789"/>
                                          </p:val>
                                        </p:tav>
                                        <p:tav tm="5620">
                                          <p:val>
                                            <p:fltVal val="0.1548"/>
                                          </p:val>
                                        </p:tav>
                                        <p:tav tm="6740">
                                          <p:val>
                                            <p:fltVal val="0.267"/>
                                          </p:val>
                                        </p:tav>
                                        <p:tav tm="7870">
                                          <p:val>
                                            <p:fltVal val="0.4235"/>
                                          </p:val>
                                        </p:tav>
                                        <p:tav tm="8990">
                                          <p:val>
                                            <p:fltVal val="0.6337"/>
                                          </p:val>
                                        </p:tav>
                                        <p:tav tm="10110">
                                          <p:val>
                                            <p:fltVal val="0.9013"/>
                                          </p:val>
                                        </p:tav>
                                        <p:tav tm="11240">
                                          <p:val>
                                            <p:fltVal val="1.2353"/>
                                          </p:val>
                                        </p:tav>
                                        <p:tav tm="12360">
                                          <p:val>
                                            <p:fltVal val="1.647"/>
                                          </p:val>
                                        </p:tav>
                                        <p:tav tm="13480">
                                          <p:val>
                                            <p:fltVal val="2.0869"/>
                                          </p:val>
                                        </p:tav>
                                        <p:tav tm="14610">
                                          <p:val>
                                            <p:fltVal val="2.4538"/>
                                          </p:val>
                                        </p:tav>
                                        <p:tav tm="15730">
                                          <p:val>
                                            <p:fltVal val="2.7534"/>
                                          </p:val>
                                        </p:tav>
                                        <p:tav tm="16850">
                                          <p:val>
                                            <p:fltVal val="2.9876"/>
                                          </p:val>
                                        </p:tav>
                                        <p:tav tm="17980">
                                          <p:val>
                                            <p:fltVal val="3.1669"/>
                                          </p:val>
                                        </p:tav>
                                        <p:tav tm="19100">
                                          <p:val>
                                            <p:fltVal val="3.2996"/>
                                          </p:val>
                                        </p:tav>
                                        <p:tav tm="20220">
                                          <p:val>
                                            <p:fltVal val="3.3906"/>
                                          </p:val>
                                        </p:tav>
                                        <p:tav tm="21350">
                                          <p:val>
                                            <p:fltVal val="3.4488"/>
                                          </p:val>
                                        </p:tav>
                                        <p:tav tm="22470">
                                          <p:val>
                                            <p:fltVal val="3.4815"/>
                                          </p:val>
                                        </p:tav>
                                        <p:tav tm="23600">
                                          <p:val>
                                            <p:fltVal val="3.4961"/>
                                          </p:val>
                                        </p:tav>
                                        <p:tav tm="24720">
                                          <p:val>
                                            <p:fltVal val="3.4998"/>
                                          </p:val>
                                        </p:tav>
                                        <p:tav tm="25840">
                                          <p:val>
                                            <p:fltVal val="3.0301"/>
                                          </p:val>
                                        </p:tav>
                                        <p:tav tm="26970">
                                          <p:val>
                                            <p:fltVal val="0.9661"/>
                                          </p:val>
                                        </p:tav>
                                        <p:tav tm="28090">
                                          <p:val>
                                            <p:fltVal val="-2.1525"/>
                                          </p:val>
                                        </p:tav>
                                        <p:tav tm="29210">
                                          <p:val>
                                            <p:fltVal val="-6.1215"/>
                                          </p:val>
                                        </p:tav>
                                        <p:tav tm="30340">
                                          <p:val>
                                            <p:fltVal val="-10.8322"/>
                                          </p:val>
                                        </p:tav>
                                        <p:tav tm="31460">
                                          <p:val>
                                            <p:fltVal val="-16.2132"/>
                                          </p:val>
                                        </p:tav>
                                        <p:tav tm="32580">
                                          <p:val>
                                            <p:fltVal val="-22.2128"/>
                                          </p:val>
                                        </p:tav>
                                        <p:tav tm="33710">
                                          <p:val>
                                            <p:fltVal val="-28.7297"/>
                                          </p:val>
                                        </p:tav>
                                        <p:tav tm="34830">
                                          <p:val>
                                            <p:fltVal val="-35.8493"/>
                                          </p:val>
                                        </p:tav>
                                        <p:tav tm="35960">
                                          <p:val>
                                            <p:fltVal val="-43.4888"/>
                                          </p:val>
                                        </p:tav>
                                        <p:tav tm="37080">
                                          <p:val>
                                            <p:fltVal val="-51.6257"/>
                                          </p:val>
                                        </p:tav>
                                        <p:tav tm="38200">
                                          <p:val>
                                            <p:fltVal val="-60.2402"/>
                                          </p:val>
                                        </p:tav>
                                        <p:tav tm="39330">
                                          <p:val>
                                            <p:fltVal val="-69.3155"/>
                                          </p:val>
                                        </p:tav>
                                        <p:tav tm="40450">
                                          <p:val>
                                            <p:fltVal val="-78.8364"/>
                                          </p:val>
                                        </p:tav>
                                        <p:tav tm="41570">
                                          <p:val>
                                            <p:fltVal val="-88.6987"/>
                                          </p:val>
                                        </p:tav>
                                        <p:tav tm="42700">
                                          <p:val>
                                            <p:fltVal val="-99.0679"/>
                                          </p:val>
                                        </p:tav>
                                        <p:tav tm="43820">
                                          <p:val>
                                            <p:fltVal val="-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-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-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-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-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-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-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-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-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-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-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-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-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-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-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-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-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-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-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-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-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-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-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-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-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-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-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-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-363.345"/>
                                          </p:val>
                                        </p:tav>
                                        <p:tav tm="76400">
                                          <p:val>
                                            <p:fltVal val="-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-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-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-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-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-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-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-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-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-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-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-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-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-360"/>
                                          </p:val>
                                        </p:tav>
                                        <p:tav tm="92130">
                                          <p:val>
                                            <p:fltVal val="-360"/>
                                          </p:val>
                                        </p:tav>
                                        <p:tav tm="93260">
                                          <p:val>
                                            <p:fltVal val="-360"/>
                                          </p:val>
                                        </p:tav>
                                        <p:tav tm="94380">
                                          <p:val>
                                            <p:fltVal val="-360"/>
                                          </p:val>
                                        </p:tav>
                                        <p:tav tm="95510">
                                          <p:val>
                                            <p:fltVal val="-360"/>
                                          </p:val>
                                        </p:tav>
                                        <p:tav tm="96630">
                                          <p:val>
                                            <p:fltVal val="-360"/>
                                          </p:val>
                                        </p:tav>
                                        <p:tav tm="97750">
                                          <p:val>
                                            <p:fltVal val="-360"/>
                                          </p:val>
                                        </p:tav>
                                        <p:tav tm="9888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-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5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8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9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0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22" grpId="0"/>
      <p:bldP spid="22" grpId="1"/>
      <p:bldP spid="3" grpId="0"/>
      <p:bldP spid="7" grpId="0" animBg="1"/>
      <p:bldP spid="16" grpId="0"/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3: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Números Reales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048972"/>
            <a:ext cx="11121832" cy="720880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!CuadroTexto 1">
                <a:extLst>
                  <a:ext uri="{FF2B5EF4-FFF2-40B4-BE49-F238E27FC236}">
                    <a16:creationId xmlns:a16="http://schemas.microsoft.com/office/drawing/2014/main" id="{1EEA7333-76FF-65D2-463D-815EE19913CD}"/>
                  </a:ext>
                </a:extLst>
              </p:cNvPr>
              <p:cNvSpPr txBox="1"/>
              <p:nvPr/>
            </p:nvSpPr>
            <p:spPr>
              <a:xfrm>
                <a:off x="535084" y="1056258"/>
                <a:ext cx="11121832" cy="7135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b="1" dirty="0"/>
                  <a:t>Se llama </a:t>
                </a:r>
                <a:r>
                  <a:rPr lang="es-ES" sz="2000" b="1" dirty="0">
                    <a:solidFill>
                      <a:srgbClr val="4E95D9"/>
                    </a:solidFill>
                  </a:rPr>
                  <a:t>raíz </a:t>
                </a:r>
                <a:r>
                  <a:rPr lang="es-ES" sz="2000" b="1" i="1" dirty="0">
                    <a:solidFill>
                      <a:srgbClr val="4E95D9"/>
                    </a:solidFill>
                  </a:rPr>
                  <a:t>n</a:t>
                </a:r>
                <a:r>
                  <a:rPr lang="es-ES" sz="2000" b="1" dirty="0">
                    <a:solidFill>
                      <a:srgbClr val="4E95D9"/>
                    </a:solidFill>
                  </a:rPr>
                  <a:t>-</a:t>
                </a:r>
                <a:r>
                  <a:rPr lang="es-ES" sz="2000" b="1" dirty="0" err="1">
                    <a:solidFill>
                      <a:srgbClr val="4E95D9"/>
                    </a:solidFill>
                  </a:rPr>
                  <a:t>ésima</a:t>
                </a:r>
                <a:r>
                  <a:rPr lang="es-ES" sz="2000" b="1" dirty="0">
                    <a:solidFill>
                      <a:srgbClr val="4E95D9"/>
                    </a:solidFill>
                  </a:rPr>
                  <a:t> </a:t>
                </a:r>
                <a:r>
                  <a:rPr lang="es-ES" sz="2000" b="1" dirty="0"/>
                  <a:t>de un número </a:t>
                </a:r>
                <a:r>
                  <a:rPr lang="es-ES" sz="2000" b="1" i="1" dirty="0"/>
                  <a:t>a</a:t>
                </a:r>
                <a:r>
                  <a:rPr lang="es-ES" sz="2000" b="1" dirty="0"/>
                  <a:t>, y se escribe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s-ES" sz="20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s-ES" sz="20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deg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rad>
                  </m:oMath>
                </a14:m>
                <a:r>
                  <a:rPr lang="es-ES" sz="2000" b="1" dirty="0"/>
                  <a:t>, a un número </a:t>
                </a:r>
                <a:r>
                  <a:rPr lang="es-ES" sz="2000" b="1" i="1" dirty="0"/>
                  <a:t>b </a:t>
                </a:r>
                <a:r>
                  <a:rPr lang="es-ES" sz="2000" b="1" dirty="0"/>
                  <a:t>que cumple la siguiente condición:</a:t>
                </a:r>
              </a:p>
            </p:txBody>
          </p:sp>
        </mc:Choice>
        <mc:Fallback xmlns="">
          <p:sp>
            <p:nvSpPr>
              <p:cNvPr id="5" name="!CuadroTexto 1">
                <a:extLst>
                  <a:ext uri="{FF2B5EF4-FFF2-40B4-BE49-F238E27FC236}">
                    <a16:creationId xmlns:a16="http://schemas.microsoft.com/office/drawing/2014/main" id="{1EEA7333-76FF-65D2-463D-815EE1991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84" y="1056258"/>
                <a:ext cx="11121832" cy="713593"/>
              </a:xfrm>
              <a:prstGeom prst="rect">
                <a:avLst/>
              </a:prstGeom>
              <a:blipFill>
                <a:blip r:embed="rId2"/>
                <a:stretch>
                  <a:fillRect l="-603" t="-3419" b="-1453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!!1">
            <a:extLst>
              <a:ext uri="{FF2B5EF4-FFF2-40B4-BE49-F238E27FC236}">
                <a16:creationId xmlns:a16="http://schemas.microsoft.com/office/drawing/2014/main" id="{6D328C37-2A0C-0C87-7333-250DDAEDB5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714C0D6C-B63A-BE74-15FB-DA74808E8A46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EB50E424-E0D5-F97F-B7CA-A659A14ED5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D6EDEA7B-509F-53A3-C7AB-FD4A7073B7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BF80DDBD-C7A4-B1A9-90AE-6F72C74DFA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6C200101-981B-3E5B-D7F3-948B3A072D91}"/>
                  </a:ext>
                </a:extLst>
              </p:cNvPr>
              <p:cNvSpPr txBox="1"/>
              <p:nvPr/>
            </p:nvSpPr>
            <p:spPr>
              <a:xfrm>
                <a:off x="3515995" y="2424683"/>
                <a:ext cx="6223000" cy="5310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ctrlP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deg>
                        <m:e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rad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𝒔𝒊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sSup>
                        <m:sSupPr>
                          <m:ctrlP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s-ES" sz="2800" b="1" dirty="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6C200101-981B-3E5B-D7F3-948B3A072D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5995" y="2424683"/>
                <a:ext cx="6223000" cy="5310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ángulo 11">
            <a:extLst>
              <a:ext uri="{FF2B5EF4-FFF2-40B4-BE49-F238E27FC236}">
                <a16:creationId xmlns:a16="http://schemas.microsoft.com/office/drawing/2014/main" id="{045A455B-22B8-A11F-CA65-5BF9E58BF423}"/>
              </a:ext>
            </a:extLst>
          </p:cNvPr>
          <p:cNvSpPr>
            <a:spLocks/>
          </p:cNvSpPr>
          <p:nvPr/>
        </p:nvSpPr>
        <p:spPr>
          <a:xfrm>
            <a:off x="5013325" y="2424683"/>
            <a:ext cx="638810" cy="531043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5519FF1-A546-BBBB-0B70-BE20CEBCAB9E}"/>
              </a:ext>
            </a:extLst>
          </p:cNvPr>
          <p:cNvSpPr/>
          <p:nvPr/>
        </p:nvSpPr>
        <p:spPr>
          <a:xfrm>
            <a:off x="5332730" y="2628325"/>
            <a:ext cx="248946" cy="232350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B4020F6-763A-4227-B37A-9C04C642B90B}"/>
              </a:ext>
            </a:extLst>
          </p:cNvPr>
          <p:cNvSpPr/>
          <p:nvPr/>
        </p:nvSpPr>
        <p:spPr>
          <a:xfrm>
            <a:off x="5060906" y="2520916"/>
            <a:ext cx="181380" cy="169288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256AFEC-92D2-7E29-9C42-0B0D22C8F763}"/>
              </a:ext>
            </a:extLst>
          </p:cNvPr>
          <p:cNvSpPr txBox="1"/>
          <p:nvPr/>
        </p:nvSpPr>
        <p:spPr>
          <a:xfrm>
            <a:off x="5652135" y="2015431"/>
            <a:ext cx="153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radical</a:t>
            </a:r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AAF160CB-34B9-9228-BD5D-1C51616B3903}"/>
              </a:ext>
            </a:extLst>
          </p:cNvPr>
          <p:cNvGrpSpPr/>
          <p:nvPr/>
        </p:nvGrpSpPr>
        <p:grpSpPr>
          <a:xfrm>
            <a:off x="5452758" y="2860675"/>
            <a:ext cx="370364" cy="257175"/>
            <a:chOff x="4700283" y="2860675"/>
            <a:chExt cx="370364" cy="257175"/>
          </a:xfrm>
        </p:grpSpPr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5099B95F-D7E1-843F-7402-8350C0A2EC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2664" y="3117850"/>
              <a:ext cx="367983" cy="0"/>
            </a:xfrm>
            <a:prstGeom prst="line">
              <a:avLst/>
            </a:prstGeom>
            <a:ln cap="rnd">
              <a:solidFill>
                <a:schemeClr val="accent3">
                  <a:lumMod val="40000"/>
                  <a:lumOff val="60000"/>
                </a:schemeClr>
              </a:solidFill>
              <a:round/>
              <a:headEnd type="triangle" w="sm" len="med"/>
              <a:tailEnd type="none" w="lg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78B1F3D7-325C-034A-DC88-9690362E10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00283" y="2860675"/>
              <a:ext cx="0" cy="257175"/>
            </a:xfrm>
            <a:prstGeom prst="line">
              <a:avLst/>
            </a:prstGeom>
            <a:ln cap="rnd">
              <a:solidFill>
                <a:schemeClr val="accent3">
                  <a:lumMod val="40000"/>
                  <a:lumOff val="6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CuadroTexto 24">
            <a:extLst>
              <a:ext uri="{FF2B5EF4-FFF2-40B4-BE49-F238E27FC236}">
                <a16:creationId xmlns:a16="http://schemas.microsoft.com/office/drawing/2014/main" id="{99922EBB-F10C-AE1A-B61B-26DE56761281}"/>
              </a:ext>
            </a:extLst>
          </p:cNvPr>
          <p:cNvSpPr txBox="1"/>
          <p:nvPr/>
        </p:nvSpPr>
        <p:spPr>
          <a:xfrm>
            <a:off x="5772163" y="2928421"/>
            <a:ext cx="153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radicando</a:t>
            </a:r>
          </a:p>
        </p:txBody>
      </p: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F18A6EC2-CB22-556D-3DC3-D37D5A87C8D1}"/>
              </a:ext>
            </a:extLst>
          </p:cNvPr>
          <p:cNvCxnSpPr>
            <a:cxnSpLocks/>
          </p:cNvCxnSpPr>
          <p:nvPr/>
        </p:nvCxnSpPr>
        <p:spPr>
          <a:xfrm>
            <a:off x="4688160" y="2605560"/>
            <a:ext cx="367983" cy="0"/>
          </a:xfrm>
          <a:prstGeom prst="line">
            <a:avLst/>
          </a:prstGeom>
          <a:ln cap="rnd">
            <a:solidFill>
              <a:schemeClr val="accent4">
                <a:lumMod val="60000"/>
                <a:lumOff val="40000"/>
              </a:schemeClr>
            </a:solidFill>
            <a:round/>
            <a:headEnd type="triangle" w="sm" len="med"/>
            <a:tailEnd type="none" w="lg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3D94B22D-FAAC-4B57-772F-D96E00244367}"/>
              </a:ext>
            </a:extLst>
          </p:cNvPr>
          <p:cNvSpPr txBox="1"/>
          <p:nvPr/>
        </p:nvSpPr>
        <p:spPr>
          <a:xfrm>
            <a:off x="3344221" y="2424682"/>
            <a:ext cx="1412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exponente</a:t>
            </a:r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BDB8A970-B5D7-CBDF-5E81-E9529E96F225}"/>
              </a:ext>
            </a:extLst>
          </p:cNvPr>
          <p:cNvGrpSpPr/>
          <p:nvPr/>
        </p:nvGrpSpPr>
        <p:grpSpPr>
          <a:xfrm>
            <a:off x="5332729" y="2209800"/>
            <a:ext cx="367984" cy="214883"/>
            <a:chOff x="5332729" y="2209800"/>
            <a:chExt cx="367984" cy="214883"/>
          </a:xfrm>
        </p:grpSpPr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C87814A7-D2CF-F7BC-CF1C-278B382510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32730" y="2209800"/>
              <a:ext cx="367983" cy="0"/>
            </a:xfrm>
            <a:prstGeom prst="line">
              <a:avLst/>
            </a:prstGeom>
            <a:ln cap="rnd">
              <a:solidFill>
                <a:schemeClr val="accent5">
                  <a:lumMod val="60000"/>
                  <a:lumOff val="40000"/>
                </a:schemeClr>
              </a:solidFill>
              <a:round/>
              <a:headEnd type="triangle" w="sm" len="med"/>
              <a:tailEnd type="none" w="lg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9CB9918E-FA8A-9CEE-C367-42E3EA6114A1}"/>
                </a:ext>
              </a:extLst>
            </p:cNvPr>
            <p:cNvCxnSpPr>
              <a:cxnSpLocks/>
              <a:stCxn id="12" idx="0"/>
            </p:cNvCxnSpPr>
            <p:nvPr/>
          </p:nvCxnSpPr>
          <p:spPr>
            <a:xfrm flipH="1" flipV="1">
              <a:off x="5332729" y="2209800"/>
              <a:ext cx="1" cy="214883"/>
            </a:xfrm>
            <a:prstGeom prst="line">
              <a:avLst/>
            </a:prstGeom>
            <a:ln cap="rnd">
              <a:solidFill>
                <a:schemeClr val="accent5">
                  <a:lumMod val="60000"/>
                  <a:lumOff val="40000"/>
                </a:schemeClr>
              </a:solidFill>
              <a:round/>
              <a:headEnd type="none" w="sm" len="med"/>
              <a:tailEnd type="none" w="lg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!Marco 10">
            <a:extLst>
              <a:ext uri="{FF2B5EF4-FFF2-40B4-BE49-F238E27FC236}">
                <a16:creationId xmlns:a16="http://schemas.microsoft.com/office/drawing/2014/main" id="{95C1F7EC-4845-3136-90E4-55BA6A84BFA7}"/>
              </a:ext>
            </a:extLst>
          </p:cNvPr>
          <p:cNvSpPr/>
          <p:nvPr/>
        </p:nvSpPr>
        <p:spPr>
          <a:xfrm>
            <a:off x="535084" y="3495464"/>
            <a:ext cx="11121832" cy="78576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3" name="!CuadroTexto 1">
            <a:extLst>
              <a:ext uri="{FF2B5EF4-FFF2-40B4-BE49-F238E27FC236}">
                <a16:creationId xmlns:a16="http://schemas.microsoft.com/office/drawing/2014/main" id="{EDBE5CF7-AC29-4B97-2F15-04EED385A28B}"/>
              </a:ext>
            </a:extLst>
          </p:cNvPr>
          <p:cNvSpPr txBox="1"/>
          <p:nvPr/>
        </p:nvSpPr>
        <p:spPr>
          <a:xfrm>
            <a:off x="535084" y="3519026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Los radicales se pueden expresar como potencias elevando el radicando a su exponente entre el del radical.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A25B4A32-D208-8D49-0D5D-98A8A54CC6C7}"/>
                  </a:ext>
                </a:extLst>
              </p:cNvPr>
              <p:cNvSpPr txBox="1"/>
              <p:nvPr/>
            </p:nvSpPr>
            <p:spPr>
              <a:xfrm>
                <a:off x="2437827" y="4645584"/>
                <a:ext cx="2254502" cy="6375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ctrlP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es-ES" sz="2400" b="1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g>
                        <m:e>
                          <m:sSup>
                            <m:sSupPr>
                              <m:ctrlPr>
                                <a:rPr lang="es-E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  <m:sup>
                              <m:r>
                                <a:rPr lang="es-ES" sz="2400" b="1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</m:e>
                      </m:rad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  <m:sup>
                          <m:f>
                            <m:fPr>
                              <m:ctrlPr>
                                <a:rPr lang="es-E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2400" b="1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s-ES" sz="2400" b="1" i="1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s-ES" sz="2400" b="1" dirty="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A25B4A32-D208-8D49-0D5D-98A8A54CC6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7827" y="4645584"/>
                <a:ext cx="2254502" cy="63754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09E1D334-5E2C-048D-CB6D-BC987B432D25}"/>
                  </a:ext>
                </a:extLst>
              </p:cNvPr>
              <p:cNvSpPr txBox="1"/>
              <p:nvPr/>
            </p:nvSpPr>
            <p:spPr>
              <a:xfrm>
                <a:off x="5410087" y="4634809"/>
                <a:ext cx="2254502" cy="6572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ctrlP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es-ES" sz="2400" b="1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g>
                        <m:e>
                          <m:sSup>
                            <m:sSupPr>
                              <m:ctrlPr>
                                <a:rPr lang="es-E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e>
                            <m:sup>
                              <m:r>
                                <a:rPr lang="es-ES" sz="2400" b="1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e>
                      </m:rad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  <m:sup>
                          <m:f>
                            <m:fPr>
                              <m:ctrlPr>
                                <a:rPr lang="es-E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2400" b="1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num>
                            <m:den>
                              <m:r>
                                <a:rPr lang="es-ES" sz="2400" b="1" i="1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s-ES" sz="2400" b="1" dirty="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09E1D334-5E2C-048D-CB6D-BC987B432D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0087" y="4634809"/>
                <a:ext cx="2254502" cy="6572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21E98C39-0422-C0DF-06E8-57DEF9C95F00}"/>
                  </a:ext>
                </a:extLst>
              </p:cNvPr>
              <p:cNvSpPr txBox="1"/>
              <p:nvPr/>
            </p:nvSpPr>
            <p:spPr>
              <a:xfrm>
                <a:off x="8382347" y="4617070"/>
                <a:ext cx="2254502" cy="6572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ctrlP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es-ES" sz="2400" b="1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</m:deg>
                        <m:e>
                          <m:sSup>
                            <m:sSupPr>
                              <m:ctrlPr>
                                <a:rPr lang="es-E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s-ES" sz="2400" b="1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p>
                          </m:sSup>
                        </m:e>
                      </m:rad>
                      <m:r>
                        <a:rPr lang="es-E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  <m:sup>
                          <m:f>
                            <m:fPr>
                              <m:ctrlPr>
                                <a:rPr lang="es-E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2400" b="1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num>
                            <m:den>
                              <m:r>
                                <a:rPr lang="es-ES" sz="2400" b="1" i="1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𝟖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s-ES" sz="2400" b="1" dirty="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21E98C39-0422-C0DF-06E8-57DEF9C95F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347" y="4617070"/>
                <a:ext cx="2254502" cy="65723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375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11" grpId="0"/>
      <p:bldP spid="12" grpId="0" animBg="1"/>
      <p:bldP spid="13" grpId="0" animBg="1"/>
      <p:bldP spid="14" grpId="0" animBg="1"/>
      <p:bldP spid="20" grpId="0"/>
      <p:bldP spid="25" grpId="0"/>
      <p:bldP spid="33" grpId="0"/>
      <p:bldP spid="19" grpId="0" animBg="1"/>
      <p:bldP spid="23" grpId="0"/>
      <p:bldP spid="24" grpId="0"/>
      <p:bldP spid="28" grpId="0"/>
      <p:bldP spid="29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667</TotalTime>
  <Words>82</Words>
  <Application>Microsoft Office PowerPoint</Application>
  <PresentationFormat>Panorámica</PresentationFormat>
  <Paragraphs>16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Illán Linos Souto</dc:creator>
  <cp:lastModifiedBy>Illán Linos Souto</cp:lastModifiedBy>
  <cp:revision>72</cp:revision>
  <dcterms:created xsi:type="dcterms:W3CDTF">2024-08-18T18:48:07Z</dcterms:created>
  <dcterms:modified xsi:type="dcterms:W3CDTF">2024-10-17T12:46:16Z</dcterms:modified>
</cp:coreProperties>
</file>