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960119"/>
    <a:srgbClr val="FE8A9D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6" autoAdjust="0"/>
    <p:restoredTop sz="96238" autoAdjust="0"/>
  </p:normalViewPr>
  <p:slideViewPr>
    <p:cSldViewPr snapToGrid="0">
      <p:cViewPr varScale="1">
        <p:scale>
          <a:sx n="76" d="100"/>
          <a:sy n="76" d="100"/>
        </p:scale>
        <p:origin x="11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7/06/relationships/model3d" Target="../media/model3d1.glb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17/06/relationships/model3d" Target="../media/model3d2.glb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5.png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Números Reales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25169771"/>
                  </p:ext>
                </p:extLst>
              </p:nvPr>
            </p:nvGraphicFramePr>
            <p:xfrm>
              <a:off x="545866" y="2387881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866" y="2387881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40" y="361704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RAÍCES Y RADICALES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DB21E1-C19E-8367-7D5E-D2372B5FC4CA}"/>
              </a:ext>
            </a:extLst>
          </p:cNvPr>
          <p:cNvSpPr txBox="1"/>
          <p:nvPr/>
        </p:nvSpPr>
        <p:spPr>
          <a:xfrm>
            <a:off x="861140" y="4251639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PROPIEDADES DE LAS RAÍCES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12812522"/>
                  </p:ext>
                </p:extLst>
              </p:nvPr>
            </p:nvGraphicFramePr>
            <p:xfrm>
              <a:off x="545068" y="3662738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3662738"/>
                <a:ext cx="342798" cy="431838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3735663"/>
                  </p:ext>
                </p:extLst>
              </p:nvPr>
            </p:nvGraphicFramePr>
            <p:xfrm>
              <a:off x="545068" y="3028145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3028145"/>
                <a:ext cx="342798" cy="431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21117607"/>
                  </p:ext>
                </p:extLst>
              </p:nvPr>
            </p:nvGraphicFramePr>
            <p:xfrm>
              <a:off x="545068" y="4297330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4297330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NÚMEROS IRRACIONALES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NÚMEROS REALES</a:t>
            </a:r>
          </a:p>
        </p:txBody>
      </p:sp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750"/>
                            </p:stCondLst>
                            <p:childTnLst>
                              <p:par>
                                <p:cTn id="51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3" grpId="0"/>
      <p:bldP spid="7" grpId="0" animBg="1"/>
      <p:bldP spid="16" grpId="0"/>
      <p:bldP spid="16" grpId="1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ECF41FD-2B76-B920-2613-895B417468C9}"/>
              </a:ext>
            </a:extLst>
          </p:cNvPr>
          <p:cNvCxnSpPr>
            <a:cxnSpLocks/>
            <a:endCxn id="32" idx="5"/>
          </p:cNvCxnSpPr>
          <p:nvPr/>
        </p:nvCxnSpPr>
        <p:spPr>
          <a:xfrm flipV="1">
            <a:off x="5579225" y="4746068"/>
            <a:ext cx="1336765" cy="960462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Números Reales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Números racionales </a:t>
            </a:r>
            <a:r>
              <a:rPr lang="es-ES" sz="2000" b="1" dirty="0"/>
              <a:t>son los que se pueden poner como cociente de dos números enteros. Su expresión decimal es </a:t>
            </a:r>
            <a:r>
              <a:rPr lang="es-ES" sz="2000" b="1" dirty="0">
                <a:solidFill>
                  <a:srgbClr val="4E95D9"/>
                </a:solidFill>
              </a:rPr>
              <a:t>exacta o periódica</a:t>
            </a:r>
            <a:r>
              <a:rPr lang="es-ES" sz="2000" b="1" dirty="0"/>
              <a:t>. </a:t>
            </a:r>
            <a:endParaRPr lang="es-ES" sz="2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!Marco 10">
            <a:extLst>
              <a:ext uri="{FF2B5EF4-FFF2-40B4-BE49-F238E27FC236}">
                <a16:creationId xmlns:a16="http://schemas.microsoft.com/office/drawing/2014/main" id="{A0187FB5-3AAD-B8E4-ED26-816AAEADD21C}"/>
              </a:ext>
            </a:extLst>
          </p:cNvPr>
          <p:cNvSpPr/>
          <p:nvPr/>
        </p:nvSpPr>
        <p:spPr>
          <a:xfrm>
            <a:off x="535084" y="1886015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!CuadroTexto 1">
            <a:extLst>
              <a:ext uri="{FF2B5EF4-FFF2-40B4-BE49-F238E27FC236}">
                <a16:creationId xmlns:a16="http://schemas.microsoft.com/office/drawing/2014/main" id="{B0404A15-C7E9-32A5-DE79-132293F0A600}"/>
              </a:ext>
            </a:extLst>
          </p:cNvPr>
          <p:cNvSpPr txBox="1"/>
          <p:nvPr/>
        </p:nvSpPr>
        <p:spPr>
          <a:xfrm>
            <a:off x="535084" y="189330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Números irracionales </a:t>
            </a:r>
            <a:r>
              <a:rPr lang="es-ES" sz="2000" b="1" dirty="0"/>
              <a:t>son los que no pueden obtenerse como cociente de dos números enteros. Su expresión decimal es </a:t>
            </a:r>
            <a:r>
              <a:rPr lang="es-ES" sz="2000" b="1" dirty="0">
                <a:solidFill>
                  <a:srgbClr val="4E95D9"/>
                </a:solidFill>
              </a:rPr>
              <a:t>infinita no periódica</a:t>
            </a:r>
            <a:r>
              <a:rPr lang="es-ES" sz="2000" b="1" dirty="0"/>
              <a:t>. 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2CA4EFF-46D2-D8DE-BADC-6A4253239C0E}"/>
              </a:ext>
            </a:extLst>
          </p:cNvPr>
          <p:cNvCxnSpPr>
            <a:cxnSpLocks/>
          </p:cNvCxnSpPr>
          <p:nvPr/>
        </p:nvCxnSpPr>
        <p:spPr>
          <a:xfrm flipV="1">
            <a:off x="1801888" y="4296832"/>
            <a:ext cx="1414538" cy="1414538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84C6BB6-2AA8-EB6B-A9A2-8D59E1083487}"/>
              </a:ext>
            </a:extLst>
          </p:cNvPr>
          <p:cNvSpPr/>
          <p:nvPr/>
        </p:nvSpPr>
        <p:spPr>
          <a:xfrm>
            <a:off x="1801888" y="4296832"/>
            <a:ext cx="1414538" cy="1414538"/>
          </a:xfrm>
          <a:prstGeom prst="rect">
            <a:avLst/>
          </a:prstGeom>
          <a:noFill/>
          <a:ln w="28575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9E320F7-EA0E-AB7C-E93A-22CE4BE39FE4}"/>
              </a:ext>
            </a:extLst>
          </p:cNvPr>
          <p:cNvSpPr txBox="1"/>
          <p:nvPr/>
        </p:nvSpPr>
        <p:spPr>
          <a:xfrm>
            <a:off x="535084" y="2761063"/>
            <a:ext cx="612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EJEMPLOS DE NÚMEROS IRRACIONALES: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5BC2BE3-FFFD-8F05-3CA9-C3BCDAC4CE8F}"/>
                  </a:ext>
                </a:extLst>
              </p:cNvPr>
              <p:cNvSpPr txBox="1"/>
              <p:nvPr/>
            </p:nvSpPr>
            <p:spPr>
              <a:xfrm>
                <a:off x="1977441" y="4628192"/>
                <a:ext cx="519016" cy="497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ES" sz="2400" b="1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sz="2400" b="1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s-ES" sz="24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5BC2BE3-FFFD-8F05-3CA9-C3BCDAC4C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441" y="4628192"/>
                <a:ext cx="519016" cy="4976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5495AB00-912B-4452-E0BF-76C9561BC198}"/>
                  </a:ext>
                </a:extLst>
              </p:cNvPr>
              <p:cNvSpPr txBox="1"/>
              <p:nvPr/>
            </p:nvSpPr>
            <p:spPr>
              <a:xfrm>
                <a:off x="3145171" y="4773269"/>
                <a:ext cx="5190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solidFill>
                            <a:srgbClr val="4E95D9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2400" dirty="0">
                  <a:solidFill>
                    <a:srgbClr val="4E95D9"/>
                  </a:solidFill>
                </a:endParaRP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5495AB00-912B-4452-E0BF-76C9561BC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5171" y="4773269"/>
                <a:ext cx="519016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5EC2E756-7D0E-39B1-14BD-32772DFEDC83}"/>
                  </a:ext>
                </a:extLst>
              </p:cNvPr>
              <p:cNvSpPr txBox="1"/>
              <p:nvPr/>
            </p:nvSpPr>
            <p:spPr>
              <a:xfrm>
                <a:off x="2249649" y="5711371"/>
                <a:ext cx="5190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solidFill>
                            <a:srgbClr val="4E95D9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2400" dirty="0">
                  <a:solidFill>
                    <a:srgbClr val="4E95D9"/>
                  </a:solidFill>
                </a:endParaRP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5EC2E756-7D0E-39B1-14BD-32772DFED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649" y="5711371"/>
                <a:ext cx="519016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C4A19354-61DF-17E0-4F4A-C129E015643F}"/>
                  </a:ext>
                </a:extLst>
              </p:cNvPr>
              <p:cNvSpPr txBox="1"/>
              <p:nvPr/>
            </p:nvSpPr>
            <p:spPr>
              <a:xfrm>
                <a:off x="2249649" y="3453838"/>
                <a:ext cx="519016" cy="497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E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s-ES" sz="2400" b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C4A19354-61DF-17E0-4F4A-C129E0156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649" y="3453838"/>
                <a:ext cx="519016" cy="4976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A6F2286-CFE3-60E3-F97C-96C0D2091778}"/>
                  </a:ext>
                </a:extLst>
              </p:cNvPr>
              <p:cNvSpPr txBox="1"/>
              <p:nvPr/>
            </p:nvSpPr>
            <p:spPr>
              <a:xfrm>
                <a:off x="5045396" y="3354067"/>
                <a:ext cx="1870594" cy="697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</m:rad>
                        <m:r>
                          <a:rPr lang="es-E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E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s-ES" sz="2400" b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A6F2286-CFE3-60E3-F97C-96C0D2091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396" y="3354067"/>
                <a:ext cx="1870594" cy="69717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Pentágono 31">
            <a:extLst>
              <a:ext uri="{FF2B5EF4-FFF2-40B4-BE49-F238E27FC236}">
                <a16:creationId xmlns:a16="http://schemas.microsoft.com/office/drawing/2014/main" id="{F9B3855F-835F-573F-EBC8-AA1D645444AB}"/>
              </a:ext>
            </a:extLst>
          </p:cNvPr>
          <p:cNvSpPr/>
          <p:nvPr/>
        </p:nvSpPr>
        <p:spPr>
          <a:xfrm>
            <a:off x="5276008" y="4149481"/>
            <a:ext cx="1639984" cy="1561890"/>
          </a:xfrm>
          <a:prstGeom prst="pentagon">
            <a:avLst/>
          </a:prstGeom>
          <a:noFill/>
          <a:ln w="28575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76BAA1B-406E-7160-1D72-1DEBACC34B49}"/>
                  </a:ext>
                </a:extLst>
              </p:cNvPr>
              <p:cNvSpPr txBox="1"/>
              <p:nvPr/>
            </p:nvSpPr>
            <p:spPr>
              <a:xfrm>
                <a:off x="6370022" y="4045685"/>
                <a:ext cx="5190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solidFill>
                            <a:srgbClr val="4E95D9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2400" dirty="0">
                  <a:solidFill>
                    <a:srgbClr val="4E95D9"/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76BAA1B-406E-7160-1D72-1DEBACC34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022" y="4045685"/>
                <a:ext cx="519016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E14AC1DE-975D-540A-2125-54FB5FCB09B5}"/>
                  </a:ext>
                </a:extLst>
              </p:cNvPr>
              <p:cNvSpPr txBox="1"/>
              <p:nvPr/>
            </p:nvSpPr>
            <p:spPr>
              <a:xfrm>
                <a:off x="5836492" y="4773269"/>
                <a:ext cx="5190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s-ES" sz="2400" b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E14AC1DE-975D-540A-2125-54FB5FCB0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492" y="4773269"/>
                <a:ext cx="519016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1A475C88-2730-2D1B-4F7C-5BC97013E722}"/>
                  </a:ext>
                </a:extLst>
              </p:cNvPr>
              <p:cNvSpPr txBox="1"/>
              <p:nvPr/>
            </p:nvSpPr>
            <p:spPr>
              <a:xfrm>
                <a:off x="7910044" y="3311972"/>
                <a:ext cx="3227748" cy="781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l-GR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num>
                        <m:den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den>
                      </m:f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𝟏𝟒𝟏𝟔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1A475C88-2730-2D1B-4F7C-5BC97013E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044" y="3311972"/>
                <a:ext cx="3227748" cy="78136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Elipse 37">
            <a:extLst>
              <a:ext uri="{FF2B5EF4-FFF2-40B4-BE49-F238E27FC236}">
                <a16:creationId xmlns:a16="http://schemas.microsoft.com/office/drawing/2014/main" id="{2CF90AEB-CD0F-46C6-2496-78DBC390D8FD}"/>
              </a:ext>
            </a:extLst>
          </p:cNvPr>
          <p:cNvSpPr/>
          <p:nvPr/>
        </p:nvSpPr>
        <p:spPr>
          <a:xfrm>
            <a:off x="8752813" y="4200281"/>
            <a:ext cx="1542210" cy="1542210"/>
          </a:xfrm>
          <a:prstGeom prst="ellipse">
            <a:avLst/>
          </a:prstGeom>
          <a:noFill/>
          <a:ln w="28575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D5B2C932-5A29-A277-294C-00220E0EBCC0}"/>
              </a:ext>
            </a:extLst>
          </p:cNvPr>
          <p:cNvSpPr/>
          <p:nvPr/>
        </p:nvSpPr>
        <p:spPr>
          <a:xfrm>
            <a:off x="9492846" y="4927614"/>
            <a:ext cx="87544" cy="87544"/>
          </a:xfrm>
          <a:prstGeom prst="ellipse">
            <a:avLst/>
          </a:prstGeom>
          <a:solidFill>
            <a:srgbClr val="4E95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4C99EBC4-E9FB-6B38-4C7D-EC639B00FD3A}"/>
              </a:ext>
            </a:extLst>
          </p:cNvPr>
          <p:cNvCxnSpPr>
            <a:stCxn id="38" idx="3"/>
            <a:endCxn id="38" idx="7"/>
          </p:cNvCxnSpPr>
          <p:nvPr/>
        </p:nvCxnSpPr>
        <p:spPr>
          <a:xfrm flipV="1">
            <a:off x="8978664" y="4426132"/>
            <a:ext cx="1090508" cy="1090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6FBE3FE7-55D0-4069-FE2A-A2E8DC114787}"/>
                  </a:ext>
                </a:extLst>
              </p:cNvPr>
              <p:cNvSpPr txBox="1"/>
              <p:nvPr/>
            </p:nvSpPr>
            <p:spPr>
              <a:xfrm>
                <a:off x="10142667" y="4311604"/>
                <a:ext cx="5190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solidFill>
                            <a:srgbClr val="4E95D9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s-ES" sz="2400" dirty="0">
                  <a:solidFill>
                    <a:srgbClr val="4E95D9"/>
                  </a:solidFill>
                </a:endParaRPr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6FBE3FE7-55D0-4069-FE2A-A2E8DC114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2667" y="4311604"/>
                <a:ext cx="519016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15179000-AE0C-E88B-A416-E01ED7A3AFC6}"/>
                  </a:ext>
                </a:extLst>
              </p:cNvPr>
              <p:cNvSpPr txBox="1"/>
              <p:nvPr/>
            </p:nvSpPr>
            <p:spPr>
              <a:xfrm>
                <a:off x="9403848" y="4347632"/>
                <a:ext cx="5190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s-E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15179000-AE0C-E88B-A416-E01ED7A3A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848" y="4347632"/>
                <a:ext cx="519016" cy="461665"/>
              </a:xfrm>
              <a:prstGeom prst="rect">
                <a:avLst/>
              </a:prstGeom>
              <a:blipFill>
                <a:blip r:embed="rId15"/>
                <a:stretch>
                  <a:fillRect l="-235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92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75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8" grpId="0" animBg="1"/>
      <p:bldP spid="19" grpId="0"/>
      <p:bldP spid="21" grpId="0" animBg="1"/>
      <p:bldP spid="26" grpId="0"/>
      <p:bldP spid="27" grpId="0"/>
      <p:bldP spid="28" grpId="0"/>
      <p:bldP spid="29" grpId="0"/>
      <p:bldP spid="30" grpId="0"/>
      <p:bldP spid="31" grpId="0"/>
      <p:bldP spid="32" grpId="0" animBg="1"/>
      <p:bldP spid="35" grpId="0"/>
      <p:bldP spid="36" grpId="0"/>
      <p:bldP spid="37" grpId="0"/>
      <p:bldP spid="38" grpId="0" animBg="1"/>
      <p:bldP spid="39" grpId="0" animBg="1"/>
      <p:bldP spid="42" grpId="0"/>
      <p:bldP spid="43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92</Words>
  <Application>Microsoft Office PowerPoint</Application>
  <PresentationFormat>Panorámica</PresentationFormat>
  <Paragraphs>20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68</cp:revision>
  <dcterms:created xsi:type="dcterms:W3CDTF">2024-08-18T18:48:07Z</dcterms:created>
  <dcterms:modified xsi:type="dcterms:W3CDTF">2024-10-17T11:34:29Z</dcterms:modified>
</cp:coreProperties>
</file>