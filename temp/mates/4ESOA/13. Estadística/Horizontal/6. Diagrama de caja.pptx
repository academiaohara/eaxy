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>
        <p:scale>
          <a:sx n="75" d="100"/>
          <a:sy n="75" d="100"/>
        </p:scale>
        <p:origin x="124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32086924"/>
                  </p:ext>
                </p:extLst>
              </p:nvPr>
            </p:nvGraphicFramePr>
            <p:xfrm>
              <a:off x="545068" y="557129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5571291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DE DISPERSIÓN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5443068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TABLAS DE FRECUENCIA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ESTADÍSTICOS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B2DD62-C62A-77A0-00AE-857AE57B9E58}"/>
              </a:ext>
            </a:extLst>
          </p:cNvPr>
          <p:cNvSpPr txBox="1"/>
          <p:nvPr/>
        </p:nvSpPr>
        <p:spPr>
          <a:xfrm>
            <a:off x="861140" y="5526862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PUNTO MEDIO. DISTANCIA ENTRE 2 PUNTOS.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D96369DC-07EB-8967-646D-6EC833F586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8684672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D96369DC-07EB-8967-646D-6EC833F586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2065A5B6-0FF7-A03F-A19B-9AA7C84000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5969526"/>
                  </p:ext>
                </p:extLst>
              </p:nvPr>
            </p:nvGraphicFramePr>
            <p:xfrm>
              <a:off x="545068" y="493669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2065A5B6-0FF7-A03F-A19B-9AA7C84000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936698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B0DF604D-AD9F-F394-3119-0BE0306EEC1E}"/>
              </a:ext>
            </a:extLst>
          </p:cNvPr>
          <p:cNvSpPr txBox="1"/>
          <p:nvPr/>
        </p:nvSpPr>
        <p:spPr>
          <a:xfrm>
            <a:off x="861140" y="4257676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DE POSICIÓN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6B59C56-A032-07A3-8670-82C913670AAB}"/>
              </a:ext>
            </a:extLst>
          </p:cNvPr>
          <p:cNvSpPr txBox="1"/>
          <p:nvPr/>
        </p:nvSpPr>
        <p:spPr>
          <a:xfrm>
            <a:off x="861140" y="48922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COEFICIENTE DE VARIACIÓN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75F926EB-ED37-CE2C-D537-BDB5E00F62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4228182"/>
                  </p:ext>
                </p:extLst>
              </p:nvPr>
            </p:nvGraphicFramePr>
            <p:xfrm>
              <a:off x="545068" y="4297214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75F926EB-ED37-CE2C-D537-BDB5E00F62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297214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250"/>
                            </p:stCondLst>
                            <p:childTnLst>
                              <p:par>
                                <p:cTn id="64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6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7" grpId="0"/>
      <p:bldP spid="3" grpId="0"/>
      <p:bldP spid="3" grpId="1"/>
      <p:bldP spid="18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población total se parte en cuatro trozos, cada uno de ellos con el 25% de los individuos, previamente ordenados de menor a mayor.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1" name="!Marco 10">
            <a:extLst>
              <a:ext uri="{FF2B5EF4-FFF2-40B4-BE49-F238E27FC236}">
                <a16:creationId xmlns:a16="http://schemas.microsoft.com/office/drawing/2014/main" id="{DEB2CF59-DBB1-72BD-EA6F-A03EF38FDDCF}"/>
              </a:ext>
            </a:extLst>
          </p:cNvPr>
          <p:cNvSpPr/>
          <p:nvPr/>
        </p:nvSpPr>
        <p:spPr>
          <a:xfrm>
            <a:off x="535084" y="1936088"/>
            <a:ext cx="11121832" cy="43577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25A3DEDE-D09B-B293-8D65-40FB496EA7BB}"/>
              </a:ext>
            </a:extLst>
          </p:cNvPr>
          <p:cNvSpPr txBox="1"/>
          <p:nvPr/>
        </p:nvSpPr>
        <p:spPr>
          <a:xfrm>
            <a:off x="535084" y="194337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50% de los valores centrales se destacan mediante un rectángulo (caja).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446C5097-CA5F-6962-2C7C-2E567A0EB135}"/>
              </a:ext>
            </a:extLst>
          </p:cNvPr>
          <p:cNvSpPr/>
          <p:nvPr/>
        </p:nvSpPr>
        <p:spPr>
          <a:xfrm>
            <a:off x="535084" y="3065275"/>
            <a:ext cx="11121832" cy="72787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B25B48FC-944E-38CA-C8FF-70E6CC3B0F5E}"/>
              </a:ext>
            </a:extLst>
          </p:cNvPr>
          <p:cNvSpPr txBox="1"/>
          <p:nvPr/>
        </p:nvSpPr>
        <p:spPr>
          <a:xfrm>
            <a:off x="535084" y="308526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valores extremos (el 25% de los menores y el 25% de los mayores) se representan mediante sendos segmentos (bigotes). </a:t>
            </a:r>
            <a:endParaRPr lang="es-ES" sz="3600" b="1" dirty="0"/>
          </a:p>
        </p:txBody>
      </p:sp>
      <p:sp>
        <p:nvSpPr>
          <p:cNvPr id="73" name="!Marco 10">
            <a:extLst>
              <a:ext uri="{FF2B5EF4-FFF2-40B4-BE49-F238E27FC236}">
                <a16:creationId xmlns:a16="http://schemas.microsoft.com/office/drawing/2014/main" id="{E9306ECA-2588-CD72-8442-CE69426FF0EE}"/>
              </a:ext>
            </a:extLst>
          </p:cNvPr>
          <p:cNvSpPr/>
          <p:nvPr/>
        </p:nvSpPr>
        <p:spPr>
          <a:xfrm>
            <a:off x="535084" y="3920505"/>
            <a:ext cx="11121832" cy="72787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4" name="!CuadroTexto 1">
            <a:extLst>
              <a:ext uri="{FF2B5EF4-FFF2-40B4-BE49-F238E27FC236}">
                <a16:creationId xmlns:a16="http://schemas.microsoft.com/office/drawing/2014/main" id="{E97A47E5-2A47-5A09-8B8A-E2B69573B8B1}"/>
              </a:ext>
            </a:extLst>
          </p:cNvPr>
          <p:cNvSpPr txBox="1"/>
          <p:nvPr/>
        </p:nvSpPr>
        <p:spPr>
          <a:xfrm>
            <a:off x="535084" y="39404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bigotes pueden medir como mucho pueden medir 1,5 veces el tamaño de la caja (Q</a:t>
            </a:r>
            <a:r>
              <a:rPr lang="es-ES" sz="2000" b="1" baseline="-25000" dirty="0"/>
              <a:t>3</a:t>
            </a:r>
            <a:r>
              <a:rPr lang="es-ES" sz="2000" b="1" dirty="0"/>
              <a:t>-Q</a:t>
            </a:r>
            <a:r>
              <a:rPr lang="es-ES" sz="2000" b="1" baseline="-25000" dirty="0"/>
              <a:t>1</a:t>
            </a:r>
            <a:r>
              <a:rPr lang="es-ES" sz="2000" b="1" dirty="0"/>
              <a:t>).</a:t>
            </a:r>
            <a:endParaRPr lang="es-ES" sz="3600" b="1" dirty="0"/>
          </a:p>
        </p:txBody>
      </p:sp>
      <p:sp>
        <p:nvSpPr>
          <p:cNvPr id="75" name="!Marco 10">
            <a:extLst>
              <a:ext uri="{FF2B5EF4-FFF2-40B4-BE49-F238E27FC236}">
                <a16:creationId xmlns:a16="http://schemas.microsoft.com/office/drawing/2014/main" id="{1B1AB837-EBEF-87B6-3A82-0DA2277A130D}"/>
              </a:ext>
            </a:extLst>
          </p:cNvPr>
          <p:cNvSpPr/>
          <p:nvPr/>
        </p:nvSpPr>
        <p:spPr>
          <a:xfrm>
            <a:off x="535084" y="2517277"/>
            <a:ext cx="11121832" cy="43577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6" name="!CuadroTexto 1">
            <a:extLst>
              <a:ext uri="{FF2B5EF4-FFF2-40B4-BE49-F238E27FC236}">
                <a16:creationId xmlns:a16="http://schemas.microsoft.com/office/drawing/2014/main" id="{D31EA543-38AA-1B0D-A2AA-708F2A403E2A}"/>
              </a:ext>
            </a:extLst>
          </p:cNvPr>
          <p:cNvSpPr txBox="1"/>
          <p:nvPr/>
        </p:nvSpPr>
        <p:spPr>
          <a:xfrm>
            <a:off x="535084" y="252456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Dentro de la caja se marca la mediana con una línea vertical.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!Marco 10">
            <a:extLst>
              <a:ext uri="{FF2B5EF4-FFF2-40B4-BE49-F238E27FC236}">
                <a16:creationId xmlns:a16="http://schemas.microsoft.com/office/drawing/2014/main" id="{03D75D77-3AAF-143E-0A7F-9DB311FA8348}"/>
              </a:ext>
            </a:extLst>
          </p:cNvPr>
          <p:cNvSpPr/>
          <p:nvPr/>
        </p:nvSpPr>
        <p:spPr>
          <a:xfrm>
            <a:off x="535084" y="4786196"/>
            <a:ext cx="10303245" cy="4200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!CuadroTexto 1">
            <a:extLst>
              <a:ext uri="{FF2B5EF4-FFF2-40B4-BE49-F238E27FC236}">
                <a16:creationId xmlns:a16="http://schemas.microsoft.com/office/drawing/2014/main" id="{F377536C-2906-3A93-21C0-5B39E3731CF6}"/>
              </a:ext>
            </a:extLst>
          </p:cNvPr>
          <p:cNvSpPr txBox="1"/>
          <p:nvPr/>
        </p:nvSpPr>
        <p:spPr>
          <a:xfrm>
            <a:off x="535084" y="4806183"/>
            <a:ext cx="1030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algún valor queda fuera de esta medida se indicará con un asterisco.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2" grpId="0"/>
      <p:bldP spid="10" grpId="0" animBg="1"/>
      <p:bldP spid="13" grpId="0"/>
      <p:bldP spid="73" grpId="0" animBg="1"/>
      <p:bldP spid="74" grpId="0"/>
      <p:bldP spid="75" grpId="0" animBg="1"/>
      <p:bldP spid="76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5496B-2674-B8C2-639D-8DA23CB6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7EE2C92-D01C-0F6C-929D-0181B13F019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C6CBF79-9E1B-25A9-4672-BB9D83EB52D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1C6DE461-9A3D-1123-4229-F91761170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42F598D-6CA9-51FC-721F-0D2FDF308E1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AFACB60-F162-C08E-271A-FE4AAB58E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FBA9B908-FD02-D090-49D2-56912DA49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963826E-FA33-03A1-2B8F-BF46196138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F0684D7-B89F-0D1A-B24F-EE0FA3432908}"/>
              </a:ext>
            </a:extLst>
          </p:cNvPr>
          <p:cNvSpPr txBox="1"/>
          <p:nvPr/>
        </p:nvSpPr>
        <p:spPr>
          <a:xfrm>
            <a:off x="535084" y="1116078"/>
            <a:ext cx="1112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 </a:t>
            </a:r>
            <a:r>
              <a:rPr lang="es-ES" sz="1800" i="0" u="none" strike="noStrike" baseline="0" dirty="0"/>
              <a:t>Las estaturas de los 40 alumnos de una clase son, dadas ordenadamente:</a:t>
            </a:r>
            <a:endParaRPr lang="es-E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A5DCFF-E33F-9325-D21F-4D79698D1337}"/>
              </a:ext>
            </a:extLst>
          </p:cNvPr>
          <p:cNvSpPr txBox="1"/>
          <p:nvPr/>
        </p:nvSpPr>
        <p:spPr>
          <a:xfrm>
            <a:off x="806741" y="1600066"/>
            <a:ext cx="17269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i="0" u="none" strike="noStrike" baseline="0" dirty="0"/>
              <a:t>149 150 154 156 157 158 159 160 160 </a:t>
            </a:r>
            <a:r>
              <a:rPr lang="es-ES" sz="1600" b="1" i="0" u="none" strike="noStrike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160 161 </a:t>
            </a:r>
            <a:r>
              <a:rPr lang="es-ES" sz="1600" i="0" u="none" strike="noStrike" baseline="0" dirty="0"/>
              <a:t>162  162 163 163 163 163 164 165 </a:t>
            </a:r>
            <a:r>
              <a:rPr lang="es-ES" sz="16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166 166</a:t>
            </a:r>
            <a:r>
              <a:rPr lang="es-ES" sz="1600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1600" i="0" u="none" strike="noStrike" baseline="0" dirty="0"/>
              <a:t>166 167 167  167 168 168 168 169 </a:t>
            </a:r>
            <a:r>
              <a:rPr lang="es-ES" sz="1600" b="1" i="0" u="none" strike="noStrike" baseline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169 170 </a:t>
            </a:r>
            <a:r>
              <a:rPr lang="es-ES" sz="1600" i="0" u="none" strike="noStrike" baseline="0" dirty="0"/>
              <a:t>170 170 171 172 173 174 175 175 189</a:t>
            </a:r>
            <a:endParaRPr lang="es-ES" sz="1600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51D9E0F5-6D86-D9F8-171F-DD625B5991DB}"/>
              </a:ext>
            </a:extLst>
          </p:cNvPr>
          <p:cNvGrpSpPr/>
          <p:nvPr/>
        </p:nvGrpSpPr>
        <p:grpSpPr>
          <a:xfrm>
            <a:off x="3171825" y="2087218"/>
            <a:ext cx="7666504" cy="545826"/>
            <a:chOff x="3171825" y="2087218"/>
            <a:chExt cx="7666504" cy="545826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02AD4AF1-DD41-323C-72EE-4FF71C9F66CA}"/>
                </a:ext>
              </a:extLst>
            </p:cNvPr>
            <p:cNvCxnSpPr/>
            <p:nvPr/>
          </p:nvCxnSpPr>
          <p:spPr>
            <a:xfrm flipV="1">
              <a:off x="3171825" y="2546402"/>
              <a:ext cx="76665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DCAF146-509C-31DE-8B33-1DC02E11E9F0}"/>
                </a:ext>
              </a:extLst>
            </p:cNvPr>
            <p:cNvCxnSpPr>
              <a:cxnSpLocks/>
            </p:cNvCxnSpPr>
            <p:nvPr/>
          </p:nvCxnSpPr>
          <p:spPr>
            <a:xfrm>
              <a:off x="3714750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61E67B96-4F14-BF3E-B6C8-A9F64E21BB16}"/>
                </a:ext>
              </a:extLst>
            </p:cNvPr>
            <p:cNvCxnSpPr>
              <a:cxnSpLocks/>
            </p:cNvCxnSpPr>
            <p:nvPr/>
          </p:nvCxnSpPr>
          <p:spPr>
            <a:xfrm>
              <a:off x="4505325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429D2AB3-96DB-1E07-DFFA-94FB03458144}"/>
                </a:ext>
              </a:extLst>
            </p:cNvPr>
            <p:cNvCxnSpPr>
              <a:cxnSpLocks/>
            </p:cNvCxnSpPr>
            <p:nvPr/>
          </p:nvCxnSpPr>
          <p:spPr>
            <a:xfrm>
              <a:off x="5295900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5116FE5-A0E6-27DA-3413-958EDB285E33}"/>
                </a:ext>
              </a:extLst>
            </p:cNvPr>
            <p:cNvCxnSpPr>
              <a:cxnSpLocks/>
            </p:cNvCxnSpPr>
            <p:nvPr/>
          </p:nvCxnSpPr>
          <p:spPr>
            <a:xfrm>
              <a:off x="6086475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1EE0AFF-F3BD-B489-3080-19C2F39A638D}"/>
                </a:ext>
              </a:extLst>
            </p:cNvPr>
            <p:cNvCxnSpPr>
              <a:cxnSpLocks/>
            </p:cNvCxnSpPr>
            <p:nvPr/>
          </p:nvCxnSpPr>
          <p:spPr>
            <a:xfrm>
              <a:off x="6877050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ACC8475-6F15-3789-25AE-6A0379919A16}"/>
                </a:ext>
              </a:extLst>
            </p:cNvPr>
            <p:cNvCxnSpPr>
              <a:cxnSpLocks/>
            </p:cNvCxnSpPr>
            <p:nvPr/>
          </p:nvCxnSpPr>
          <p:spPr>
            <a:xfrm>
              <a:off x="7667625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89E6DE7-B5C0-D06C-7A96-1C3A644AE39A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23F3FEF-A64F-0C82-D9F7-EE94F7905B5F}"/>
                </a:ext>
              </a:extLst>
            </p:cNvPr>
            <p:cNvCxnSpPr>
              <a:cxnSpLocks/>
            </p:cNvCxnSpPr>
            <p:nvPr/>
          </p:nvCxnSpPr>
          <p:spPr>
            <a:xfrm>
              <a:off x="9248775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3B13E79-4E68-597C-6A47-DBAFF811447F}"/>
                </a:ext>
              </a:extLst>
            </p:cNvPr>
            <p:cNvCxnSpPr>
              <a:cxnSpLocks/>
            </p:cNvCxnSpPr>
            <p:nvPr/>
          </p:nvCxnSpPr>
          <p:spPr>
            <a:xfrm>
              <a:off x="10039350" y="2459761"/>
              <a:ext cx="0" cy="173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A190EE8B-5448-6C98-29F9-A016D8CDB605}"/>
                </a:ext>
              </a:extLst>
            </p:cNvPr>
            <p:cNvSpPr txBox="1"/>
            <p:nvPr/>
          </p:nvSpPr>
          <p:spPr>
            <a:xfrm>
              <a:off x="3411990" y="2087218"/>
              <a:ext cx="588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0" u="none" strike="noStrike" baseline="0" dirty="0"/>
                <a:t>150</a:t>
              </a:r>
              <a:endParaRPr lang="es-ES" sz="1600" dirty="0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05FE6100-EA9A-705E-372B-8E26E67A111A}"/>
                </a:ext>
              </a:extLst>
            </p:cNvPr>
            <p:cNvSpPr txBox="1"/>
            <p:nvPr/>
          </p:nvSpPr>
          <p:spPr>
            <a:xfrm>
              <a:off x="5001543" y="2087218"/>
              <a:ext cx="588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0" u="none" strike="noStrike" baseline="0" dirty="0"/>
                <a:t>160</a:t>
              </a:r>
              <a:endParaRPr lang="es-ES" sz="1600" dirty="0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098997E5-60B1-42E7-97D9-BF9B5DDD88A7}"/>
                </a:ext>
              </a:extLst>
            </p:cNvPr>
            <p:cNvSpPr txBox="1"/>
            <p:nvPr/>
          </p:nvSpPr>
          <p:spPr>
            <a:xfrm>
              <a:off x="6582693" y="2087218"/>
              <a:ext cx="588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0" u="none" strike="noStrike" baseline="0" dirty="0"/>
                <a:t>170</a:t>
              </a:r>
              <a:endParaRPr lang="es-ES" sz="1600" dirty="0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DCFBDFC1-2F3B-CCE1-3299-C6CDBE439E12}"/>
                </a:ext>
              </a:extLst>
            </p:cNvPr>
            <p:cNvSpPr txBox="1"/>
            <p:nvPr/>
          </p:nvSpPr>
          <p:spPr>
            <a:xfrm>
              <a:off x="8188055" y="2087218"/>
              <a:ext cx="588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0" u="none" strike="noStrike" baseline="0" dirty="0"/>
                <a:t>180</a:t>
              </a:r>
              <a:endParaRPr lang="es-ES" sz="1600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3AF518A7-EF03-35E4-BB37-9703737FA902}"/>
                </a:ext>
              </a:extLst>
            </p:cNvPr>
            <p:cNvSpPr txBox="1"/>
            <p:nvPr/>
          </p:nvSpPr>
          <p:spPr>
            <a:xfrm>
              <a:off x="9769205" y="2087218"/>
              <a:ext cx="5887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0" u="none" strike="noStrike" baseline="0" dirty="0"/>
                <a:t>190</a:t>
              </a:r>
              <a:endParaRPr lang="es-ES" sz="1600" dirty="0"/>
            </a:p>
          </p:txBody>
        </p:sp>
      </p:grp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D3844F1-45CE-84F8-E34D-23FD9BDDC9A4}"/>
              </a:ext>
            </a:extLst>
          </p:cNvPr>
          <p:cNvSpPr/>
          <p:nvPr/>
        </p:nvSpPr>
        <p:spPr>
          <a:xfrm>
            <a:off x="5378302" y="3181578"/>
            <a:ext cx="1416346" cy="600635"/>
          </a:xfrm>
          <a:prstGeom prst="rect">
            <a:avLst/>
          </a:prstGeom>
          <a:noFill/>
          <a:ln w="28575"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FE32099-E6F6-55AC-388D-BF54C85A8FE2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6794648" y="3481896"/>
            <a:ext cx="2250292" cy="0"/>
          </a:xfrm>
          <a:prstGeom prst="line">
            <a:avLst/>
          </a:prstGeom>
          <a:ln w="28575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A812714A-D624-1F34-AA55-816D8D45AECE}"/>
              </a:ext>
            </a:extLst>
          </p:cNvPr>
          <p:cNvCxnSpPr>
            <a:cxnSpLocks/>
          </p:cNvCxnSpPr>
          <p:nvPr/>
        </p:nvCxnSpPr>
        <p:spPr>
          <a:xfrm>
            <a:off x="3558540" y="3481894"/>
            <a:ext cx="1821592" cy="0"/>
          </a:xfrm>
          <a:prstGeom prst="line">
            <a:avLst/>
          </a:prstGeom>
          <a:ln w="28575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Estrella: 5 puntas 55">
            <a:extLst>
              <a:ext uri="{FF2B5EF4-FFF2-40B4-BE49-F238E27FC236}">
                <a16:creationId xmlns:a16="http://schemas.microsoft.com/office/drawing/2014/main" id="{73C9BB03-24AA-8E0C-0616-8AFED4B0A61C}"/>
              </a:ext>
            </a:extLst>
          </p:cNvPr>
          <p:cNvSpPr/>
          <p:nvPr/>
        </p:nvSpPr>
        <p:spPr>
          <a:xfrm>
            <a:off x="9986010" y="3443794"/>
            <a:ext cx="76200" cy="76200"/>
          </a:xfrm>
          <a:prstGeom prst="star5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DF67CE87-EDFD-02E6-3FE0-1512B8D5BF48}"/>
              </a:ext>
            </a:extLst>
          </p:cNvPr>
          <p:cNvCxnSpPr/>
          <p:nvPr/>
        </p:nvCxnSpPr>
        <p:spPr>
          <a:xfrm>
            <a:off x="6210300" y="3181578"/>
            <a:ext cx="0" cy="600635"/>
          </a:xfrm>
          <a:prstGeom prst="line">
            <a:avLst/>
          </a:prstGeom>
          <a:ln w="28575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859D0CF-ACCB-AB6A-F64B-5AF7631B17AB}"/>
              </a:ext>
            </a:extLst>
          </p:cNvPr>
          <p:cNvSpPr txBox="1"/>
          <p:nvPr/>
        </p:nvSpPr>
        <p:spPr>
          <a:xfrm>
            <a:off x="5133975" y="2798535"/>
            <a:ext cx="52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  <a:r>
              <a:rPr lang="es-ES" baseline="-25000" dirty="0"/>
              <a:t>1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F904974-CA8D-833B-C9D4-93299244CB98}"/>
              </a:ext>
            </a:extLst>
          </p:cNvPr>
          <p:cNvSpPr txBox="1"/>
          <p:nvPr/>
        </p:nvSpPr>
        <p:spPr>
          <a:xfrm>
            <a:off x="5938839" y="2798535"/>
            <a:ext cx="52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E27B45C-E004-34C4-16CF-6274F7F1607B}"/>
              </a:ext>
            </a:extLst>
          </p:cNvPr>
          <p:cNvSpPr txBox="1"/>
          <p:nvPr/>
        </p:nvSpPr>
        <p:spPr>
          <a:xfrm>
            <a:off x="6582693" y="2798535"/>
            <a:ext cx="52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  <a:r>
              <a:rPr lang="es-ES" baseline="-25000" dirty="0"/>
              <a:t>3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652F3FE-B6E0-AE94-2EA5-FE8624E86E08}"/>
              </a:ext>
            </a:extLst>
          </p:cNvPr>
          <p:cNvSpPr txBox="1"/>
          <p:nvPr/>
        </p:nvSpPr>
        <p:spPr>
          <a:xfrm>
            <a:off x="4186757" y="1537700"/>
            <a:ext cx="127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</a:t>
            </a:r>
            <a:r>
              <a:rPr lang="es-ES" b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=160,5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633F47A5-C49D-B200-C87E-76CCF96FC066}"/>
              </a:ext>
            </a:extLst>
          </p:cNvPr>
          <p:cNvSpPr txBox="1"/>
          <p:nvPr/>
        </p:nvSpPr>
        <p:spPr>
          <a:xfrm>
            <a:off x="6096000" y="1534997"/>
            <a:ext cx="105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M=166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3E9997C-217F-0BEE-001F-B9FCDDE6C4BF}"/>
              </a:ext>
            </a:extLst>
          </p:cNvPr>
          <p:cNvSpPr txBox="1"/>
          <p:nvPr/>
        </p:nvSpPr>
        <p:spPr>
          <a:xfrm>
            <a:off x="7667625" y="1534997"/>
            <a:ext cx="127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</a:t>
            </a:r>
            <a:r>
              <a:rPr lang="es-ES" b="1" baseline="-25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=169,5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DEBEBE4-61C0-1CAD-4B8C-4CE3AFA9A81B}"/>
                  </a:ext>
                </a:extLst>
              </p:cNvPr>
              <p:cNvSpPr txBox="1"/>
              <p:nvPr/>
            </p:nvSpPr>
            <p:spPr>
              <a:xfrm>
                <a:off x="702208" y="4338008"/>
                <a:ext cx="9187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𝑇𝑎𝑚𝑎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ñ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á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𝑥𝑖𝑚𝑜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𝑏𝑖𝑔𝑜𝑡𝑒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=1,5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=1,5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169,5−160,5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=1,5∙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=13,5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DEBEBE4-61C0-1CAD-4B8C-4CE3AFA9A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08" y="4338008"/>
                <a:ext cx="9187381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F1B587E-E124-FED4-37FA-1643E7A3786D}"/>
                  </a:ext>
                </a:extLst>
              </p:cNvPr>
              <p:cNvSpPr txBox="1"/>
              <p:nvPr/>
            </p:nvSpPr>
            <p:spPr>
              <a:xfrm>
                <a:off x="702208" y="4847370"/>
                <a:ext cx="9187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𝐵𝑖𝑔𝑜𝑡𝑒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1=</m:t>
                    </m:r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160,5−149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;13,5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0,5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;13,5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10,5</m:t>
                        </m:r>
                      </m:e>
                    </m:func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F1B587E-E124-FED4-37FA-1643E7A37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08" y="4847370"/>
                <a:ext cx="9187381" cy="369332"/>
              </a:xfrm>
              <a:prstGeom prst="rect">
                <a:avLst/>
              </a:prstGeom>
              <a:blipFill>
                <a:blip r:embed="rId7"/>
                <a:stretch>
                  <a:fillRect l="-199" b="-1639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3E64749-47B5-DE4E-B1EE-3E7D64DAE571}"/>
                  </a:ext>
                </a:extLst>
              </p:cNvPr>
              <p:cNvSpPr txBox="1"/>
              <p:nvPr/>
            </p:nvSpPr>
            <p:spPr>
              <a:xfrm>
                <a:off x="702207" y="5350573"/>
                <a:ext cx="9187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𝐵𝑖𝑔𝑜𝑡𝑒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2=</m:t>
                    </m:r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189−169,5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;13,5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9,5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;13,5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13,5</m:t>
                        </m:r>
                      </m:e>
                    </m:func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3E64749-47B5-DE4E-B1EE-3E7D64DAE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07" y="5350573"/>
                <a:ext cx="9187381" cy="369332"/>
              </a:xfrm>
              <a:prstGeom prst="rect">
                <a:avLst/>
              </a:prstGeom>
              <a:blipFill>
                <a:blip r:embed="rId8"/>
                <a:stretch>
                  <a:fillRect l="-199" b="-1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62DD71-28C8-F4B0-1EDA-57F6511B3A38}"/>
                  </a:ext>
                </a:extLst>
              </p:cNvPr>
              <p:cNvSpPr txBox="1"/>
              <p:nvPr/>
            </p:nvSpPr>
            <p:spPr>
              <a:xfrm>
                <a:off x="7464957" y="5350573"/>
                <a:ext cx="21743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169,5+13,5=183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62DD71-28C8-F4B0-1EDA-57F6511B3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957" y="5350573"/>
                <a:ext cx="21743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744C06CA-A671-48D9-7388-6B1D3B68AB07}"/>
              </a:ext>
            </a:extLst>
          </p:cNvPr>
          <p:cNvCxnSpPr>
            <a:cxnSpLocks/>
          </p:cNvCxnSpPr>
          <p:nvPr/>
        </p:nvCxnSpPr>
        <p:spPr>
          <a:xfrm>
            <a:off x="6905624" y="5535239"/>
            <a:ext cx="587908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13C785A-964D-9FF1-7F01-AB8B2848C0EF}"/>
              </a:ext>
            </a:extLst>
          </p:cNvPr>
          <p:cNvSpPr txBox="1"/>
          <p:nvPr/>
        </p:nvSpPr>
        <p:spPr>
          <a:xfrm>
            <a:off x="3264183" y="3078913"/>
            <a:ext cx="588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i="0" u="none" strike="noStrike" baseline="0" dirty="0">
                <a:solidFill>
                  <a:srgbClr val="EF4246"/>
                </a:solidFill>
              </a:rPr>
              <a:t>149</a:t>
            </a:r>
            <a:endParaRPr lang="es-ES" sz="1600" b="1" dirty="0">
              <a:solidFill>
                <a:srgbClr val="EF4246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C613FEE-C0A0-B61E-42ED-20F19A66898C}"/>
              </a:ext>
            </a:extLst>
          </p:cNvPr>
          <p:cNvSpPr txBox="1"/>
          <p:nvPr/>
        </p:nvSpPr>
        <p:spPr>
          <a:xfrm>
            <a:off x="8750583" y="3088082"/>
            <a:ext cx="588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i="0" u="none" strike="noStrike" baseline="0" dirty="0">
                <a:solidFill>
                  <a:srgbClr val="EF4246"/>
                </a:solidFill>
              </a:rPr>
              <a:t>183</a:t>
            </a:r>
            <a:endParaRPr lang="es-ES" sz="1600" b="1" dirty="0">
              <a:solidFill>
                <a:srgbClr val="EF4246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9EA41A0-26A4-E010-3266-095964643B17}"/>
              </a:ext>
            </a:extLst>
          </p:cNvPr>
          <p:cNvSpPr txBox="1"/>
          <p:nvPr/>
        </p:nvSpPr>
        <p:spPr>
          <a:xfrm>
            <a:off x="9729753" y="3079814"/>
            <a:ext cx="588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i="0" u="none" strike="noStrike" baseline="0" dirty="0">
                <a:solidFill>
                  <a:srgbClr val="EF4246"/>
                </a:solidFill>
              </a:rPr>
              <a:t>189</a:t>
            </a:r>
            <a:endParaRPr lang="es-ES" sz="1600" b="1" dirty="0">
              <a:solidFill>
                <a:srgbClr val="EF42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706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49" grpId="0" animBg="1"/>
      <p:bldP spid="56" grpId="0" animBg="1"/>
      <p:bldP spid="59" grpId="0"/>
      <p:bldP spid="60" grpId="0"/>
      <p:bldP spid="62" grpId="0"/>
      <p:bldP spid="68" grpId="0"/>
      <p:bldP spid="69" grpId="0"/>
      <p:bldP spid="70" grpId="0"/>
      <p:bldP spid="19" grpId="0"/>
      <p:bldP spid="22" grpId="0"/>
      <p:bldP spid="23" grpId="0"/>
      <p:bldP spid="24" grpId="0"/>
      <p:bldP spid="40" grpId="0"/>
      <p:bldP spid="43" grpId="0"/>
      <p:bldP spid="4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253</Words>
  <Application>Microsoft Office PowerPoint</Application>
  <PresentationFormat>Panorámica</PresentationFormat>
  <Paragraphs>36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83</cp:revision>
  <dcterms:created xsi:type="dcterms:W3CDTF">2024-08-18T18:48:07Z</dcterms:created>
  <dcterms:modified xsi:type="dcterms:W3CDTF">2024-10-25T15:58:46Z</dcterms:modified>
</cp:coreProperties>
</file>