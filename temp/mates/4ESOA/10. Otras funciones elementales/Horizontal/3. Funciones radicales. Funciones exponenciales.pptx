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9696"/>
    <a:srgbClr val="7CB07C"/>
    <a:srgbClr val="E61E3F"/>
    <a:srgbClr val="4E95D9"/>
    <a:srgbClr val="960119"/>
    <a:srgbClr val="FE8A9D"/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644" autoAdjust="0"/>
    <p:restoredTop sz="96238" autoAdjust="0"/>
  </p:normalViewPr>
  <p:slideViewPr>
    <p:cSldViewPr snapToGrid="0">
      <p:cViewPr>
        <p:scale>
          <a:sx n="100" d="100"/>
          <a:sy n="100" d="100"/>
        </p:scale>
        <p:origin x="468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22/10/2024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17/06/relationships/model3d" Target="../media/model3d1.glb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microsoft.com/office/2017/06/relationships/model3d" Target="../media/model3d2.glb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10" Type="http://schemas.openxmlformats.org/officeDocument/2006/relationships/image" Target="../media/image12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6.png"/><Relationship Id="rId10" Type="http://schemas.openxmlformats.org/officeDocument/2006/relationships/image" Target="../media/image17.png"/><Relationship Id="rId4" Type="http://schemas.openxmlformats.org/officeDocument/2006/relationships/image" Target="../media/image5.png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upo 114">
            <a:extLst>
              <a:ext uri="{FF2B5EF4-FFF2-40B4-BE49-F238E27FC236}">
                <a16:creationId xmlns:a16="http://schemas.microsoft.com/office/drawing/2014/main" id="{1875D95A-20E1-D947-93B2-04321193314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01" y="0"/>
            <a:ext cx="12184798" cy="6858000"/>
            <a:chOff x="3601" y="0"/>
            <a:chExt cx="12184798" cy="6858000"/>
          </a:xfrm>
        </p:grpSpPr>
        <p:pic>
          <p:nvPicPr>
            <p:cNvPr id="113" name="Imagen 112">
              <a:extLst>
                <a:ext uri="{FF2B5EF4-FFF2-40B4-BE49-F238E27FC236}">
                  <a16:creationId xmlns:a16="http://schemas.microsoft.com/office/drawing/2014/main" id="{3A8A379F-D036-778F-3C84-2E90E578B92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01" y="0"/>
              <a:ext cx="7970217" cy="6858000"/>
            </a:xfrm>
            <a:prstGeom prst="rect">
              <a:avLst/>
            </a:prstGeom>
          </p:spPr>
        </p:pic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1DC43CFD-784F-B694-E8A0-D05C052D07E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2"/>
            <a:srcRect l="35501" r="5319"/>
            <a:stretch/>
          </p:blipFill>
          <p:spPr>
            <a:xfrm>
              <a:off x="7471606" y="0"/>
              <a:ext cx="4716793" cy="6858000"/>
            </a:xfrm>
            <a:prstGeom prst="rect">
              <a:avLst/>
            </a:prstGeom>
          </p:spPr>
        </p:pic>
      </p:grp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32063" y="574828"/>
            <a:ext cx="911673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10:</a:t>
            </a:r>
          </a:p>
          <a:p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Otras Funciones Elementa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943153032"/>
                  </p:ext>
                </p:extLst>
              </p:nvPr>
            </p:nvGraphicFramePr>
            <p:xfrm>
              <a:off x="545467" y="3668778"/>
              <a:ext cx="342000" cy="432000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342000" cy="432000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781" ay="-304177" az="-53636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58102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5467" y="3668778"/>
                <a:ext cx="342000" cy="4320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CuadroTexto 21">
            <a:extLst>
              <a:ext uri="{FF2B5EF4-FFF2-40B4-BE49-F238E27FC236}">
                <a16:creationId xmlns:a16="http://schemas.microsoft.com/office/drawing/2014/main" id="{54F5365F-030C-6924-C5E3-9C4F1D0E4AB9}"/>
              </a:ext>
            </a:extLst>
          </p:cNvPr>
          <p:cNvSpPr txBox="1"/>
          <p:nvPr/>
        </p:nvSpPr>
        <p:spPr>
          <a:xfrm>
            <a:off x="861140" y="3617047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FUNCIONES RADICALES Y EXPONENCIALES</a:t>
            </a:r>
          </a:p>
        </p:txBody>
      </p:sp>
      <p:pic>
        <p:nvPicPr>
          <p:cNvPr id="6" name="!!1">
            <a:extLst>
              <a:ext uri="{FF2B5EF4-FFF2-40B4-BE49-F238E27FC236}">
                <a16:creationId xmlns:a16="http://schemas.microsoft.com/office/drawing/2014/main" id="{7BC3C1B2-47DF-D395-2549-C1865E2D90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77F6EEA-3D47-CF72-DBFF-353B69A645FB}"/>
              </a:ext>
            </a:extLst>
          </p:cNvPr>
          <p:cNvSpPr/>
          <p:nvPr/>
        </p:nvSpPr>
        <p:spPr>
          <a:xfrm>
            <a:off x="9772650" y="3196371"/>
            <a:ext cx="438150" cy="8219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!!2">
            <a:extLst>
              <a:ext uri="{FF2B5EF4-FFF2-40B4-BE49-F238E27FC236}">
                <a16:creationId xmlns:a16="http://schemas.microsoft.com/office/drawing/2014/main" id="{CB3732CC-67F9-3321-B21A-AEBB61ADAB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0" name="!!3">
            <a:extLst>
              <a:ext uri="{FF2B5EF4-FFF2-40B4-BE49-F238E27FC236}">
                <a16:creationId xmlns:a16="http://schemas.microsoft.com/office/drawing/2014/main" id="{F3EF4A45-382F-1D99-BF65-152A2BA65C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1" name="!!4">
            <a:extLst>
              <a:ext uri="{FF2B5EF4-FFF2-40B4-BE49-F238E27FC236}">
                <a16:creationId xmlns:a16="http://schemas.microsoft.com/office/drawing/2014/main" id="{D2F4685D-E9D0-B992-D69A-6AD53D90B79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3" y="466806"/>
            <a:ext cx="3029373" cy="6287377"/>
          </a:xfrm>
          <a:prstGeom prst="rect">
            <a:avLst/>
          </a:prstGeom>
        </p:spPr>
      </p:pic>
      <p:sp>
        <p:nvSpPr>
          <p:cNvPr id="12" name="Elipse 11">
            <a:extLst>
              <a:ext uri="{FF2B5EF4-FFF2-40B4-BE49-F238E27FC236}">
                <a16:creationId xmlns:a16="http://schemas.microsoft.com/office/drawing/2014/main" id="{3D873195-389B-F3F1-3D78-7C9F39F2EAAE}"/>
              </a:ext>
            </a:extLst>
          </p:cNvPr>
          <p:cNvSpPr/>
          <p:nvPr/>
        </p:nvSpPr>
        <p:spPr>
          <a:xfrm>
            <a:off x="7361499" y="2037144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3A48F03A-9935-7607-08EC-E68B03447160}"/>
              </a:ext>
            </a:extLst>
          </p:cNvPr>
          <p:cNvSpPr/>
          <p:nvPr/>
        </p:nvSpPr>
        <p:spPr>
          <a:xfrm>
            <a:off x="7336286" y="4016375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EA6B823D-072B-0CC2-10E9-B19FC3ADD89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03464582"/>
                  </p:ext>
                </p:extLst>
              </p:nvPr>
            </p:nvGraphicFramePr>
            <p:xfrm>
              <a:off x="545068" y="3033579"/>
              <a:ext cx="342798" cy="431838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EA6B823D-072B-0CC2-10E9-B19FC3ADD89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5068" y="3033579"/>
                <a:ext cx="342798" cy="4318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Modelo 3D 14" descr="Pirámide gris tetragonal">
                <a:extLst>
                  <a:ext uri="{FF2B5EF4-FFF2-40B4-BE49-F238E27FC236}">
                    <a16:creationId xmlns:a16="http://schemas.microsoft.com/office/drawing/2014/main" id="{0032D165-EFCA-CFD9-D9D3-FD4CDB66C92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44801848"/>
                  </p:ext>
                </p:extLst>
              </p:nvPr>
            </p:nvGraphicFramePr>
            <p:xfrm>
              <a:off x="545068" y="2393552"/>
              <a:ext cx="342798" cy="431838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Modelo 3D 14" descr="Pirámide gris tetragonal">
                <a:extLst>
                  <a:ext uri="{FF2B5EF4-FFF2-40B4-BE49-F238E27FC236}">
                    <a16:creationId xmlns:a16="http://schemas.microsoft.com/office/drawing/2014/main" id="{0032D165-EFCA-CFD9-D9D3-FD4CDB66C92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5068" y="2393552"/>
                <a:ext cx="342798" cy="431838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CuadroTexto 15">
            <a:extLst>
              <a:ext uri="{FF2B5EF4-FFF2-40B4-BE49-F238E27FC236}">
                <a16:creationId xmlns:a16="http://schemas.microsoft.com/office/drawing/2014/main" id="{014081C4-D3ED-A383-D535-E7AFCA285ACC}"/>
              </a:ext>
            </a:extLst>
          </p:cNvPr>
          <p:cNvSpPr txBox="1"/>
          <p:nvPr/>
        </p:nvSpPr>
        <p:spPr>
          <a:xfrm>
            <a:off x="861140" y="2347861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PARÁBOLAS Y FUNCIONES CUADRÁTICAS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06771BA-0FC2-03A4-AA75-21D94F9EBDF5}"/>
              </a:ext>
            </a:extLst>
          </p:cNvPr>
          <p:cNvSpPr txBox="1"/>
          <p:nvPr/>
        </p:nvSpPr>
        <p:spPr>
          <a:xfrm>
            <a:off x="861140" y="2982454"/>
            <a:ext cx="82380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FUNCIONES DE PROPORCIONALIDAD INVERSA</a:t>
            </a:r>
          </a:p>
        </p:txBody>
      </p:sp>
    </p:spTree>
    <p:extLst>
      <p:ext uri="{BB962C8B-B14F-4D97-AF65-F5344CB8AC3E}">
        <p14:creationId xmlns:p14="http://schemas.microsoft.com/office/powerpoint/2010/main" val="14683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25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750"/>
                            </p:stCondLst>
                            <p:childTnLst>
                              <p:par>
                                <p:cTn id="45" presetID="39" presetClass="emph" presetSubtype="5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4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.0012"/>
                                          </p:val>
                                        </p:tav>
                                        <p:tav tm="2250">
                                          <p:val>
                                            <p:fltVal val="0.0098"/>
                                          </p:val>
                                        </p:tav>
                                        <p:tav tm="3370">
                                          <p:val>
                                            <p:fltVal val="0.033"/>
                                          </p:val>
                                        </p:tav>
                                        <p:tav tm="4490">
                                          <p:val>
                                            <p:fltVal val="0.0789"/>
                                          </p:val>
                                        </p:tav>
                                        <p:tav tm="5620">
                                          <p:val>
                                            <p:fltVal val="0.1548"/>
                                          </p:val>
                                        </p:tav>
                                        <p:tav tm="6740">
                                          <p:val>
                                            <p:fltVal val="0.267"/>
                                          </p:val>
                                        </p:tav>
                                        <p:tav tm="7870">
                                          <p:val>
                                            <p:fltVal val="0.4235"/>
                                          </p:val>
                                        </p:tav>
                                        <p:tav tm="8990">
                                          <p:val>
                                            <p:fltVal val="0.6337"/>
                                          </p:val>
                                        </p:tav>
                                        <p:tav tm="10110">
                                          <p:val>
                                            <p:fltVal val="0.9013"/>
                                          </p:val>
                                        </p:tav>
                                        <p:tav tm="11240">
                                          <p:val>
                                            <p:fltVal val="1.2353"/>
                                          </p:val>
                                        </p:tav>
                                        <p:tav tm="12360">
                                          <p:val>
                                            <p:fltVal val="1.647"/>
                                          </p:val>
                                        </p:tav>
                                        <p:tav tm="13480">
                                          <p:val>
                                            <p:fltVal val="2.0869"/>
                                          </p:val>
                                        </p:tav>
                                        <p:tav tm="14610">
                                          <p:val>
                                            <p:fltVal val="2.4538"/>
                                          </p:val>
                                        </p:tav>
                                        <p:tav tm="15730">
                                          <p:val>
                                            <p:fltVal val="2.7534"/>
                                          </p:val>
                                        </p:tav>
                                        <p:tav tm="16850">
                                          <p:val>
                                            <p:fltVal val="2.9876"/>
                                          </p:val>
                                        </p:tav>
                                        <p:tav tm="17980">
                                          <p:val>
                                            <p:fltVal val="3.1669"/>
                                          </p:val>
                                        </p:tav>
                                        <p:tav tm="19100">
                                          <p:val>
                                            <p:fltVal val="3.2996"/>
                                          </p:val>
                                        </p:tav>
                                        <p:tav tm="20220">
                                          <p:val>
                                            <p:fltVal val="3.3906"/>
                                          </p:val>
                                        </p:tav>
                                        <p:tav tm="21350">
                                          <p:val>
                                            <p:fltVal val="3.4488"/>
                                          </p:val>
                                        </p:tav>
                                        <p:tav tm="22470">
                                          <p:val>
                                            <p:fltVal val="3.4815"/>
                                          </p:val>
                                        </p:tav>
                                        <p:tav tm="23600">
                                          <p:val>
                                            <p:fltVal val="3.4961"/>
                                          </p:val>
                                        </p:tav>
                                        <p:tav tm="24720">
                                          <p:val>
                                            <p:fltVal val="3.4998"/>
                                          </p:val>
                                        </p:tav>
                                        <p:tav tm="25840">
                                          <p:val>
                                            <p:fltVal val="3.0301"/>
                                          </p:val>
                                        </p:tav>
                                        <p:tav tm="26970">
                                          <p:val>
                                            <p:fltVal val="0.9661"/>
                                          </p:val>
                                        </p:tav>
                                        <p:tav tm="28090">
                                          <p:val>
                                            <p:fltVal val="-2.1525"/>
                                          </p:val>
                                        </p:tav>
                                        <p:tav tm="29210">
                                          <p:val>
                                            <p:fltVal val="-6.1215"/>
                                          </p:val>
                                        </p:tav>
                                        <p:tav tm="30340">
                                          <p:val>
                                            <p:fltVal val="-10.8322"/>
                                          </p:val>
                                        </p:tav>
                                        <p:tav tm="31460">
                                          <p:val>
                                            <p:fltVal val="-16.2132"/>
                                          </p:val>
                                        </p:tav>
                                        <p:tav tm="32580">
                                          <p:val>
                                            <p:fltVal val="-22.2128"/>
                                          </p:val>
                                        </p:tav>
                                        <p:tav tm="33710">
                                          <p:val>
                                            <p:fltVal val="-28.7297"/>
                                          </p:val>
                                        </p:tav>
                                        <p:tav tm="34830">
                                          <p:val>
                                            <p:fltVal val="-35.8493"/>
                                          </p:val>
                                        </p:tav>
                                        <p:tav tm="35960">
                                          <p:val>
                                            <p:fltVal val="-43.4888"/>
                                          </p:val>
                                        </p:tav>
                                        <p:tav tm="37080">
                                          <p:val>
                                            <p:fltVal val="-51.6257"/>
                                          </p:val>
                                        </p:tav>
                                        <p:tav tm="38200">
                                          <p:val>
                                            <p:fltVal val="-60.2402"/>
                                          </p:val>
                                        </p:tav>
                                        <p:tav tm="39330">
                                          <p:val>
                                            <p:fltVal val="-69.3155"/>
                                          </p:val>
                                        </p:tav>
                                        <p:tav tm="40450">
                                          <p:val>
                                            <p:fltVal val="-78.8364"/>
                                          </p:val>
                                        </p:tav>
                                        <p:tav tm="41570">
                                          <p:val>
                                            <p:fltVal val="-88.6987"/>
                                          </p:val>
                                        </p:tav>
                                        <p:tav tm="42700">
                                          <p:val>
                                            <p:fltVal val="-99.0679"/>
                                          </p:val>
                                        </p:tav>
                                        <p:tav tm="43820">
                                          <p:val>
                                            <p:fltVal val="-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-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-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-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-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-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-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-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-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-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-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-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-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-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-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-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-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-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-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-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-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-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-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-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-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-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-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-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-363.345"/>
                                          </p:val>
                                        </p:tav>
                                        <p:tav tm="76400">
                                          <p:val>
                                            <p:fltVal val="-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-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-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-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-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-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-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-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-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-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-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-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-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-360"/>
                                          </p:val>
                                        </p:tav>
                                        <p:tav tm="92130">
                                          <p:val>
                                            <p:fltVal val="-360"/>
                                          </p:val>
                                        </p:tav>
                                        <p:tav tm="93260">
                                          <p:val>
                                            <p:fltVal val="-360"/>
                                          </p:val>
                                        </p:tav>
                                        <p:tav tm="94380">
                                          <p:val>
                                            <p:fltVal val="-360"/>
                                          </p:val>
                                        </p:tav>
                                        <p:tav tm="95510">
                                          <p:val>
                                            <p:fltVal val="-360"/>
                                          </p:val>
                                        </p:tav>
                                        <p:tav tm="96630">
                                          <p:val>
                                            <p:fltVal val="-360"/>
                                          </p:val>
                                        </p:tav>
                                        <p:tav tm="97750">
                                          <p:val>
                                            <p:fltVal val="-360"/>
                                          </p:val>
                                        </p:tav>
                                        <p:tav tm="9888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-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4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2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3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4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22" grpId="0"/>
      <p:bldP spid="22" grpId="1"/>
      <p:bldP spid="7" grpId="0" animBg="1"/>
      <p:bldP spid="16" grpId="0"/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0" y="33951"/>
            <a:ext cx="114068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10: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Otras Funciones Elementales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6D328C37-2A0C-0C87-7333-250DDAEDB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14C0D6C-B63A-BE74-15FB-DA74808E8A46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EB50E424-E0D5-F97F-B7CA-A659A14ED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D6EDEA7B-509F-53A3-C7AB-FD4A7073B7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BF80DDBD-C7A4-B1A9-90AE-6F72C74DFA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085D9FE-CF6C-7C7B-7B33-6575D70C574D}"/>
              </a:ext>
            </a:extLst>
          </p:cNvPr>
          <p:cNvSpPr txBox="1"/>
          <p:nvPr/>
        </p:nvSpPr>
        <p:spPr>
          <a:xfrm>
            <a:off x="441642" y="975984"/>
            <a:ext cx="3330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FUNCIONES RADICALES</a:t>
            </a:r>
          </a:p>
        </p:txBody>
      </p:sp>
      <p:sp>
        <p:nvSpPr>
          <p:cNvPr id="170" name="!Marco 10">
            <a:extLst>
              <a:ext uri="{FF2B5EF4-FFF2-40B4-BE49-F238E27FC236}">
                <a16:creationId xmlns:a16="http://schemas.microsoft.com/office/drawing/2014/main" id="{FDF2B4F1-35C5-3E87-A536-D852024AB3D7}"/>
              </a:ext>
            </a:extLst>
          </p:cNvPr>
          <p:cNvSpPr/>
          <p:nvPr/>
        </p:nvSpPr>
        <p:spPr>
          <a:xfrm>
            <a:off x="441643" y="1573501"/>
            <a:ext cx="8410257" cy="71359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1" name="!CuadroTexto 1">
                <a:extLst>
                  <a:ext uri="{FF2B5EF4-FFF2-40B4-BE49-F238E27FC236}">
                    <a16:creationId xmlns:a16="http://schemas.microsoft.com/office/drawing/2014/main" id="{F15E3822-8895-E60F-C799-27200B784E24}"/>
                  </a:ext>
                </a:extLst>
              </p:cNvPr>
              <p:cNvSpPr txBox="1"/>
              <p:nvPr/>
            </p:nvSpPr>
            <p:spPr>
              <a:xfrm>
                <a:off x="441642" y="1561755"/>
                <a:ext cx="8410258" cy="7135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b="1" dirty="0"/>
                  <a:t>Las funciones  </a:t>
                </a:r>
                <a14:m>
                  <m:oMath xmlns:m="http://schemas.openxmlformats.org/officeDocument/2006/math">
                    <m:r>
                      <a:rPr lang="es-ES" sz="2000" b="1" i="1" dirty="0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s-ES" sz="2000" b="1" i="1" dirty="0" smtClean="0">
                        <a:latin typeface="Cambria Math" panose="02040503050406030204" pitchFamily="18" charset="0"/>
                      </a:rPr>
                      <m:t> = </m:t>
                    </m:r>
                    <m:rad>
                      <m:radPr>
                        <m:degHide m:val="on"/>
                        <m:ctrlPr>
                          <a:rPr lang="es-ES" sz="2000" b="1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ES" sz="2000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rad>
                  </m:oMath>
                </a14:m>
                <a:r>
                  <a:rPr lang="es-ES" sz="2000" b="1" i="1" dirty="0"/>
                  <a:t>  </a:t>
                </a:r>
                <a:r>
                  <a:rPr lang="es-ES" sz="2000" b="1" dirty="0"/>
                  <a:t>e  </a:t>
                </a:r>
                <a14:m>
                  <m:oMath xmlns:m="http://schemas.openxmlformats.org/officeDocument/2006/math">
                    <m:r>
                      <a:rPr lang="es-ES" sz="2000" b="1" i="1" dirty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s-ES" sz="2000" b="1" i="1" dirty="0">
                        <a:latin typeface="Cambria Math" panose="02040503050406030204" pitchFamily="18" charset="0"/>
                      </a:rPr>
                      <m:t> =−</m:t>
                    </m:r>
                    <m:rad>
                      <m:radPr>
                        <m:degHide m:val="on"/>
                        <m:ctrlPr>
                          <a:rPr lang="es-ES" sz="2000" b="1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ES" sz="2000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rad>
                  </m:oMath>
                </a14:m>
                <a:r>
                  <a:rPr lang="es-ES" sz="2000" b="1" i="1" dirty="0"/>
                  <a:t>  </a:t>
                </a:r>
                <a:r>
                  <a:rPr lang="es-ES" sz="2000" b="1" dirty="0"/>
                  <a:t>se pueden representar punto a punto y dan lugar a las gráficas que ves debajo. </a:t>
                </a:r>
              </a:p>
            </p:txBody>
          </p:sp>
        </mc:Choice>
        <mc:Fallback>
          <p:sp>
            <p:nvSpPr>
              <p:cNvPr id="171" name="!CuadroTexto 1">
                <a:extLst>
                  <a:ext uri="{FF2B5EF4-FFF2-40B4-BE49-F238E27FC236}">
                    <a16:creationId xmlns:a16="http://schemas.microsoft.com/office/drawing/2014/main" id="{F15E3822-8895-E60F-C799-27200B784E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642" y="1561755"/>
                <a:ext cx="8410258" cy="713593"/>
              </a:xfrm>
              <a:prstGeom prst="rect">
                <a:avLst/>
              </a:prstGeom>
              <a:blipFill>
                <a:blip r:embed="rId6"/>
                <a:stretch>
                  <a:fillRect l="-725" t="-3419" r="-580" b="-1453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n 4">
            <a:extLst>
              <a:ext uri="{FF2B5EF4-FFF2-40B4-BE49-F238E27FC236}">
                <a16:creationId xmlns:a16="http://schemas.microsoft.com/office/drawing/2014/main" id="{8F4E381A-3C87-97AD-9528-88B5AE81064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0111"/>
          <a:stretch/>
        </p:blipFill>
        <p:spPr>
          <a:xfrm>
            <a:off x="9282541" y="1340092"/>
            <a:ext cx="2467816" cy="2244136"/>
          </a:xfrm>
          <a:prstGeom prst="rect">
            <a:avLst/>
          </a:prstGeom>
        </p:spPr>
      </p:pic>
      <p:sp>
        <p:nvSpPr>
          <p:cNvPr id="13" name="!Marco 10">
            <a:extLst>
              <a:ext uri="{FF2B5EF4-FFF2-40B4-BE49-F238E27FC236}">
                <a16:creationId xmlns:a16="http://schemas.microsoft.com/office/drawing/2014/main" id="{C03AFB0C-5605-0BBC-CA9E-01A5ABA32847}"/>
              </a:ext>
            </a:extLst>
          </p:cNvPr>
          <p:cNvSpPr/>
          <p:nvPr/>
        </p:nvSpPr>
        <p:spPr>
          <a:xfrm>
            <a:off x="441643" y="2425356"/>
            <a:ext cx="8410257" cy="71359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!CuadroTexto 1">
                <a:extLst>
                  <a:ext uri="{FF2B5EF4-FFF2-40B4-BE49-F238E27FC236}">
                    <a16:creationId xmlns:a16="http://schemas.microsoft.com/office/drawing/2014/main" id="{9A042615-B2E5-8675-680C-89B025342CE5}"/>
                  </a:ext>
                </a:extLst>
              </p:cNvPr>
              <p:cNvSpPr txBox="1"/>
              <p:nvPr/>
            </p:nvSpPr>
            <p:spPr>
              <a:xfrm>
                <a:off x="441642" y="2413610"/>
                <a:ext cx="8410258" cy="714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b="1" dirty="0"/>
                  <a:t>Son mitades de parábola y juntas describen una parábola idéntica a </a:t>
                </a:r>
                <a14:m>
                  <m:oMath xmlns:m="http://schemas.openxmlformats.org/officeDocument/2006/math">
                    <m:r>
                      <a:rPr lang="es-ES" sz="2000" b="1" i="1" dirty="0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s-ES" sz="2000" b="1" i="1" dirty="0" smtClean="0"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s-ES" sz="20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s-ES" sz="20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s-ES" sz="2000" b="1" dirty="0"/>
                  <a:t>, pero con su eje sobre el eje </a:t>
                </a:r>
                <a:r>
                  <a:rPr lang="es-ES" sz="2000" b="1" i="1" dirty="0"/>
                  <a:t>X</a:t>
                </a:r>
                <a:r>
                  <a:rPr lang="es-ES" sz="2000" b="1" dirty="0"/>
                  <a:t>. </a:t>
                </a:r>
              </a:p>
            </p:txBody>
          </p:sp>
        </mc:Choice>
        <mc:Fallback>
          <p:sp>
            <p:nvSpPr>
              <p:cNvPr id="14" name="!CuadroTexto 1">
                <a:extLst>
                  <a:ext uri="{FF2B5EF4-FFF2-40B4-BE49-F238E27FC236}">
                    <a16:creationId xmlns:a16="http://schemas.microsoft.com/office/drawing/2014/main" id="{9A042615-B2E5-8675-680C-89B025342C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642" y="2413610"/>
                <a:ext cx="8410258" cy="714876"/>
              </a:xfrm>
              <a:prstGeom prst="rect">
                <a:avLst/>
              </a:prstGeom>
              <a:blipFill>
                <a:blip r:embed="rId8"/>
                <a:stretch>
                  <a:fillRect l="-725" t="-5128" b="-1453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Imagen 15">
            <a:extLst>
              <a:ext uri="{FF2B5EF4-FFF2-40B4-BE49-F238E27FC236}">
                <a16:creationId xmlns:a16="http://schemas.microsoft.com/office/drawing/2014/main" id="{6975F437-0C82-8C0A-71F1-4541DA70F2E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29070" y="3710744"/>
            <a:ext cx="7133860" cy="153828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E522AD1F-A722-D333-D3FA-F80854A8389D}"/>
                  </a:ext>
                </a:extLst>
              </p:cNvPr>
              <p:cNvSpPr txBox="1"/>
              <p:nvPr/>
            </p:nvSpPr>
            <p:spPr>
              <a:xfrm>
                <a:off x="3686175" y="5481906"/>
                <a:ext cx="481965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𝐸𝑙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𝑑𝑜𝑚𝑖𝑛𝑖𝑜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𝑒𝑠𝑡𝑎𝑠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𝑓𝑢𝑛𝑐𝑖𝑜𝑛𝑒𝑠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𝑒𝑠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 [0, +∞]</m:t>
                      </m:r>
                    </m:oMath>
                  </m:oMathPara>
                </a14:m>
                <a:endParaRPr lang="es-ES" sz="2000" dirty="0"/>
              </a:p>
            </p:txBody>
          </p:sp>
        </mc:Choice>
        <mc:Fallback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E522AD1F-A722-D333-D3FA-F80854A83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6175" y="5481906"/>
                <a:ext cx="4819650" cy="400110"/>
              </a:xfrm>
              <a:prstGeom prst="rect">
                <a:avLst/>
              </a:prstGeom>
              <a:blipFill>
                <a:blip r:embed="rId10"/>
                <a:stretch>
                  <a:fillRect r="-886" b="-1818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2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70" grpId="0" animBg="1"/>
      <p:bldP spid="171" grpId="0"/>
      <p:bldP spid="13" grpId="0" animBg="1"/>
      <p:bldP spid="14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E7FE95-BE8E-FCD9-F2A2-9EE74C61B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CE84E75-61A8-C1C7-2D84-9F212F4B6B5A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BE2350F2-E531-FC5E-6FA9-5ABA7428029C}"/>
              </a:ext>
            </a:extLst>
          </p:cNvPr>
          <p:cNvSpPr txBox="1"/>
          <p:nvPr/>
        </p:nvSpPr>
        <p:spPr>
          <a:xfrm>
            <a:off x="3600" y="33951"/>
            <a:ext cx="114068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10: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Otras Funciones Elementales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90F7552F-F6A4-03FA-8453-39DD7FD1DE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2099EEF7-5B89-0A4E-80AA-1DE1BB684800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54A3113E-6BF1-040E-4838-A28370AD7F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7B494543-3E02-99AE-7410-03E72EEBDF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0D0061DD-9691-D3E9-F016-42FE2FC387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6D39593B-BF16-8CC5-5597-40A33D7C451E}"/>
              </a:ext>
            </a:extLst>
          </p:cNvPr>
          <p:cNvSpPr txBox="1"/>
          <p:nvPr/>
        </p:nvSpPr>
        <p:spPr>
          <a:xfrm>
            <a:off x="441642" y="975984"/>
            <a:ext cx="3330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FUNCIONES EXPONENCIALES</a:t>
            </a:r>
          </a:p>
        </p:txBody>
      </p:sp>
      <p:sp>
        <p:nvSpPr>
          <p:cNvPr id="170" name="!Marco 10">
            <a:extLst>
              <a:ext uri="{FF2B5EF4-FFF2-40B4-BE49-F238E27FC236}">
                <a16:creationId xmlns:a16="http://schemas.microsoft.com/office/drawing/2014/main" id="{4005BA0B-BC17-61D2-AC2B-A4EEB7D62D82}"/>
              </a:ext>
            </a:extLst>
          </p:cNvPr>
          <p:cNvSpPr/>
          <p:nvPr/>
        </p:nvSpPr>
        <p:spPr>
          <a:xfrm>
            <a:off x="441643" y="1389828"/>
            <a:ext cx="11215273" cy="432138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1" name="!CuadroTexto 1">
                <a:extLst>
                  <a:ext uri="{FF2B5EF4-FFF2-40B4-BE49-F238E27FC236}">
                    <a16:creationId xmlns:a16="http://schemas.microsoft.com/office/drawing/2014/main" id="{FBC82EE2-DCC5-07E9-E99C-16E3A032364E}"/>
                  </a:ext>
                </a:extLst>
              </p:cNvPr>
              <p:cNvSpPr txBox="1"/>
              <p:nvPr/>
            </p:nvSpPr>
            <p:spPr>
              <a:xfrm>
                <a:off x="441642" y="1405842"/>
                <a:ext cx="112152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b="1" dirty="0"/>
                  <a:t>Se llaman funciones exponenciales a las que tienen la ecuación </a:t>
                </a:r>
                <a14:m>
                  <m:oMath xmlns:m="http://schemas.openxmlformats.org/officeDocument/2006/math">
                    <m:r>
                      <a:rPr lang="es-ES" sz="2000" b="1" i="1" dirty="0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s-ES" sz="2000" b="1" i="1" dirty="0" smtClean="0"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s-ES" sz="20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s-ES" sz="2000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sup>
                    </m:sSup>
                  </m:oMath>
                </a14:m>
                <a:r>
                  <a:rPr lang="es-ES" sz="2000" b="1" dirty="0"/>
                  <a:t>.</a:t>
                </a:r>
                <a:endParaRPr lang="es-ES" sz="2400" b="1" dirty="0"/>
              </a:p>
            </p:txBody>
          </p:sp>
        </mc:Choice>
        <mc:Fallback>
          <p:sp>
            <p:nvSpPr>
              <p:cNvPr id="171" name="!CuadroTexto 1">
                <a:extLst>
                  <a:ext uri="{FF2B5EF4-FFF2-40B4-BE49-F238E27FC236}">
                    <a16:creationId xmlns:a16="http://schemas.microsoft.com/office/drawing/2014/main" id="{FBC82EE2-DCC5-07E9-E99C-16E3A03236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642" y="1405842"/>
                <a:ext cx="11215274" cy="400110"/>
              </a:xfrm>
              <a:prstGeom prst="rect">
                <a:avLst/>
              </a:prstGeom>
              <a:blipFill>
                <a:blip r:embed="rId6"/>
                <a:stretch>
                  <a:fillRect l="-543" t="-9231" b="-2769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!CuadroTexto 1">
            <a:extLst>
              <a:ext uri="{FF2B5EF4-FFF2-40B4-BE49-F238E27FC236}">
                <a16:creationId xmlns:a16="http://schemas.microsoft.com/office/drawing/2014/main" id="{ADA9807A-9000-DA5F-0A3A-9D756FB0BC41}"/>
              </a:ext>
            </a:extLst>
          </p:cNvPr>
          <p:cNvSpPr txBox="1"/>
          <p:nvPr/>
        </p:nvSpPr>
        <p:spPr>
          <a:xfrm>
            <a:off x="441642" y="1915555"/>
            <a:ext cx="1121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Todas ellas son continuas, están definidas en todo R y pasan por los puntos (0, 1) y (1, </a:t>
            </a:r>
            <a:r>
              <a:rPr lang="es-ES" i="1" dirty="0"/>
              <a:t>a</a:t>
            </a:r>
            <a:r>
              <a:rPr lang="es-ES" dirty="0"/>
              <a:t>).</a:t>
            </a:r>
            <a:endParaRPr lang="es-ES" sz="2400" b="1" dirty="0"/>
          </a:p>
        </p:txBody>
      </p:sp>
      <p:sp>
        <p:nvSpPr>
          <p:cNvPr id="11" name="!CuadroTexto 1">
            <a:extLst>
              <a:ext uri="{FF2B5EF4-FFF2-40B4-BE49-F238E27FC236}">
                <a16:creationId xmlns:a16="http://schemas.microsoft.com/office/drawing/2014/main" id="{13D6AE4A-A749-CC6D-073C-8E18048DB8D7}"/>
              </a:ext>
            </a:extLst>
          </p:cNvPr>
          <p:cNvSpPr txBox="1"/>
          <p:nvPr/>
        </p:nvSpPr>
        <p:spPr>
          <a:xfrm>
            <a:off x="441559" y="2333595"/>
            <a:ext cx="1121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Si la base es mayor que 1 (</a:t>
            </a:r>
            <a:r>
              <a:rPr lang="es-ES" i="1" dirty="0"/>
              <a:t>a </a:t>
            </a:r>
            <a:r>
              <a:rPr lang="es-ES" dirty="0"/>
              <a:t>&gt; 1), entonces son crecientes.</a:t>
            </a:r>
            <a:endParaRPr lang="es-ES" sz="2800" b="1" dirty="0"/>
          </a:p>
        </p:txBody>
      </p:sp>
      <p:sp>
        <p:nvSpPr>
          <p:cNvPr id="12" name="!CuadroTexto 1">
            <a:extLst>
              <a:ext uri="{FF2B5EF4-FFF2-40B4-BE49-F238E27FC236}">
                <a16:creationId xmlns:a16="http://schemas.microsoft.com/office/drawing/2014/main" id="{3025396C-CCE8-6C51-41C3-D570DD3AC228}"/>
              </a:ext>
            </a:extLst>
          </p:cNvPr>
          <p:cNvSpPr txBox="1"/>
          <p:nvPr/>
        </p:nvSpPr>
        <p:spPr>
          <a:xfrm>
            <a:off x="441559" y="2751635"/>
            <a:ext cx="1121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Si la base es menor que 1 (</a:t>
            </a:r>
            <a:r>
              <a:rPr lang="es-ES" i="1" dirty="0"/>
              <a:t>a </a:t>
            </a:r>
            <a:r>
              <a:rPr lang="es-ES" dirty="0"/>
              <a:t>&lt; 1), entonces son decrecientes.</a:t>
            </a:r>
            <a:endParaRPr lang="es-ES" sz="2800" b="1" dirty="0"/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E743A4B6-1868-76BE-4936-F85F883A115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8253" t="21044" r="34404" b="2322"/>
          <a:stretch>
            <a:fillRect/>
          </a:stretch>
        </p:blipFill>
        <p:spPr>
          <a:xfrm>
            <a:off x="3971926" y="3691206"/>
            <a:ext cx="3286125" cy="2524125"/>
          </a:xfrm>
          <a:custGeom>
            <a:avLst/>
            <a:gdLst>
              <a:gd name="connsiteX0" fmla="*/ 0 w 3286125"/>
              <a:gd name="connsiteY0" fmla="*/ 0 h 2524125"/>
              <a:gd name="connsiteX1" fmla="*/ 3286125 w 3286125"/>
              <a:gd name="connsiteY1" fmla="*/ 0 h 2524125"/>
              <a:gd name="connsiteX2" fmla="*/ 3286125 w 3286125"/>
              <a:gd name="connsiteY2" fmla="*/ 2524125 h 2524125"/>
              <a:gd name="connsiteX3" fmla="*/ 0 w 3286125"/>
              <a:gd name="connsiteY3" fmla="*/ 2524125 h 2524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86125" h="2524125">
                <a:moveTo>
                  <a:pt x="0" y="0"/>
                </a:moveTo>
                <a:lnTo>
                  <a:pt x="3286125" y="0"/>
                </a:lnTo>
                <a:lnTo>
                  <a:pt x="3286125" y="2524125"/>
                </a:lnTo>
                <a:lnTo>
                  <a:pt x="0" y="2524125"/>
                </a:lnTo>
                <a:close/>
              </a:path>
            </a:pathLst>
          </a:cu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3C3EEF57-C9D4-8DB7-CDAB-3FE2CC3E044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8253" t="21044" r="34404" b="2322"/>
          <a:stretch>
            <a:fillRect/>
          </a:stretch>
        </p:blipFill>
        <p:spPr>
          <a:xfrm>
            <a:off x="3971926" y="3691206"/>
            <a:ext cx="3286125" cy="2524125"/>
          </a:xfrm>
          <a:custGeom>
            <a:avLst/>
            <a:gdLst>
              <a:gd name="connsiteX0" fmla="*/ 0 w 3286125"/>
              <a:gd name="connsiteY0" fmla="*/ 0 h 2524125"/>
              <a:gd name="connsiteX1" fmla="*/ 3286125 w 3286125"/>
              <a:gd name="connsiteY1" fmla="*/ 0 h 2524125"/>
              <a:gd name="connsiteX2" fmla="*/ 3286125 w 3286125"/>
              <a:gd name="connsiteY2" fmla="*/ 2524125 h 2524125"/>
              <a:gd name="connsiteX3" fmla="*/ 0 w 3286125"/>
              <a:gd name="connsiteY3" fmla="*/ 2524125 h 2524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86125" h="2524125">
                <a:moveTo>
                  <a:pt x="0" y="0"/>
                </a:moveTo>
                <a:lnTo>
                  <a:pt x="3286125" y="0"/>
                </a:lnTo>
                <a:lnTo>
                  <a:pt x="3286125" y="2524125"/>
                </a:lnTo>
                <a:lnTo>
                  <a:pt x="0" y="2524125"/>
                </a:lnTo>
                <a:close/>
              </a:path>
            </a:pathLst>
          </a:cu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1B2F1F21-89BC-40EE-BF5F-E6FFAE4E82F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8253" t="21044" r="34404" b="2322"/>
          <a:stretch>
            <a:fillRect/>
          </a:stretch>
        </p:blipFill>
        <p:spPr>
          <a:xfrm>
            <a:off x="3971926" y="3691206"/>
            <a:ext cx="3286125" cy="2524125"/>
          </a:xfrm>
          <a:custGeom>
            <a:avLst/>
            <a:gdLst>
              <a:gd name="connsiteX0" fmla="*/ 0 w 3286125"/>
              <a:gd name="connsiteY0" fmla="*/ 0 h 2524125"/>
              <a:gd name="connsiteX1" fmla="*/ 3286125 w 3286125"/>
              <a:gd name="connsiteY1" fmla="*/ 0 h 2524125"/>
              <a:gd name="connsiteX2" fmla="*/ 3286125 w 3286125"/>
              <a:gd name="connsiteY2" fmla="*/ 2524125 h 2524125"/>
              <a:gd name="connsiteX3" fmla="*/ 0 w 3286125"/>
              <a:gd name="connsiteY3" fmla="*/ 2524125 h 2524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86125" h="2524125">
                <a:moveTo>
                  <a:pt x="0" y="0"/>
                </a:moveTo>
                <a:lnTo>
                  <a:pt x="3286125" y="0"/>
                </a:lnTo>
                <a:lnTo>
                  <a:pt x="3286125" y="2524125"/>
                </a:lnTo>
                <a:lnTo>
                  <a:pt x="0" y="2524125"/>
                </a:lnTo>
                <a:close/>
              </a:path>
            </a:pathLst>
          </a:cu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CA52C933-C715-9ED8-DE44-51CDCC27B6D4}"/>
                  </a:ext>
                </a:extLst>
              </p:cNvPr>
              <p:cNvSpPr txBox="1"/>
              <p:nvPr/>
            </p:nvSpPr>
            <p:spPr>
              <a:xfrm>
                <a:off x="6534150" y="3870747"/>
                <a:ext cx="952500" cy="369332"/>
              </a:xfrm>
              <a:prstGeom prst="rect">
                <a:avLst/>
              </a:prstGeom>
              <a:noFill/>
              <a:ln w="28575">
                <a:solidFill>
                  <a:srgbClr val="7CB07C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s-ES" dirty="0"/>
              </a:p>
            </p:txBody>
          </p:sp>
        </mc:Choice>
        <mc:Fallback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CA52C933-C715-9ED8-DE44-51CDCC27B6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4150" y="3870747"/>
                <a:ext cx="952500" cy="369332"/>
              </a:xfrm>
              <a:prstGeom prst="rect">
                <a:avLst/>
              </a:prstGeom>
              <a:blipFill>
                <a:blip r:embed="rId10"/>
                <a:stretch>
                  <a:fillRect b="-3030"/>
                </a:stretch>
              </a:blipFill>
              <a:ln w="28575">
                <a:solidFill>
                  <a:srgbClr val="7CB07C"/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1440B310-F4DC-872E-0770-0FBA7919152A}"/>
                  </a:ext>
                </a:extLst>
              </p:cNvPr>
              <p:cNvSpPr txBox="1"/>
              <p:nvPr/>
            </p:nvSpPr>
            <p:spPr>
              <a:xfrm>
                <a:off x="3824288" y="4055413"/>
                <a:ext cx="952500" cy="666914"/>
              </a:xfrm>
              <a:prstGeom prst="rect">
                <a:avLst/>
              </a:prstGeom>
              <a:noFill/>
              <a:ln w="28575">
                <a:solidFill>
                  <a:srgbClr val="EA9696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  <m:sup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s-ES" dirty="0"/>
              </a:p>
            </p:txBody>
          </p:sp>
        </mc:Choice>
        <mc:Fallback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1440B310-F4DC-872E-0770-0FBA79191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4288" y="4055413"/>
                <a:ext cx="952500" cy="66691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28575">
                <a:solidFill>
                  <a:srgbClr val="EA9696"/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04926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2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75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4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9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45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950"/>
                            </p:stCondLst>
                            <p:childTnLst>
                              <p:par>
                                <p:cTn id="4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70" grpId="0" animBg="1"/>
      <p:bldP spid="171" grpId="0"/>
      <p:bldP spid="4" grpId="0"/>
      <p:bldP spid="11" grpId="0"/>
      <p:bldP spid="12" grpId="0"/>
      <p:bldP spid="29" grpId="0" animBg="1"/>
      <p:bldP spid="30" grpId="0" animBg="1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947</TotalTime>
  <Words>174</Words>
  <Application>Microsoft Office PowerPoint</Application>
  <PresentationFormat>Panorámica</PresentationFormat>
  <Paragraphs>18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Illán Linos Souto</dc:creator>
  <cp:lastModifiedBy>Illán Linos Souto</cp:lastModifiedBy>
  <cp:revision>87</cp:revision>
  <dcterms:created xsi:type="dcterms:W3CDTF">2024-08-18T18:48:07Z</dcterms:created>
  <dcterms:modified xsi:type="dcterms:W3CDTF">2024-10-22T20:51:52Z</dcterms:modified>
</cp:coreProperties>
</file>