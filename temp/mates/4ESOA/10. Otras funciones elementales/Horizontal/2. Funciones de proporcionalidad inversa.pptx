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1E3F"/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4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2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64507495"/>
                  </p:ext>
                </p:extLst>
              </p:nvPr>
            </p:nvGraphicFramePr>
            <p:xfrm>
              <a:off x="539739" y="3024953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739" y="3024953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FUNCIONES RADICALES Y EXPONENCIALES</a:t>
            </a:r>
          </a:p>
        </p:txBody>
      </p:sp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3376759"/>
                  </p:ext>
                </p:extLst>
              </p:nvPr>
            </p:nvGraphicFramePr>
            <p:xfrm>
              <a:off x="545068" y="365898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658986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4801848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PARÁBOLAS Y FUNCIONES CUADRÁTICAS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823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FUNCIONES DE PROPORCIONALIDAD INVERSA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7" grpId="0" animBg="1"/>
      <p:bldP spid="16" grpId="0"/>
      <p:bldP spid="17" grpId="0"/>
      <p:bldP spid="1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085D9FE-CF6C-7C7B-7B33-6575D70C574D}"/>
                  </a:ext>
                </a:extLst>
              </p:cNvPr>
              <p:cNvSpPr txBox="1"/>
              <p:nvPr/>
            </p:nvSpPr>
            <p:spPr>
              <a:xfrm>
                <a:off x="441642" y="975984"/>
                <a:ext cx="2884194" cy="381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LA FUNCIÓN: </a:t>
                </a:r>
                <a14:m>
                  <m:oMath xmlns:m="http://schemas.openxmlformats.org/officeDocument/2006/math"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⁄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s-ES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085D9FE-CF6C-7C7B-7B33-6575D70C5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2" y="975984"/>
                <a:ext cx="2884194" cy="381899"/>
              </a:xfrm>
              <a:prstGeom prst="rect">
                <a:avLst/>
              </a:prstGeom>
              <a:blipFill>
                <a:blip r:embed="rId6"/>
                <a:stretch>
                  <a:fillRect l="-1688" t="-7937" b="-206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!Marco 10">
            <a:extLst>
              <a:ext uri="{FF2B5EF4-FFF2-40B4-BE49-F238E27FC236}">
                <a16:creationId xmlns:a16="http://schemas.microsoft.com/office/drawing/2014/main" id="{FDF2B4F1-35C5-3E87-A536-D852024AB3D7}"/>
              </a:ext>
            </a:extLst>
          </p:cNvPr>
          <p:cNvSpPr/>
          <p:nvPr/>
        </p:nvSpPr>
        <p:spPr>
          <a:xfrm>
            <a:off x="441643" y="1573501"/>
            <a:ext cx="8410257" cy="37661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171" name="!CuadroTexto 1">
            <a:extLst>
              <a:ext uri="{FF2B5EF4-FFF2-40B4-BE49-F238E27FC236}">
                <a16:creationId xmlns:a16="http://schemas.microsoft.com/office/drawing/2014/main" id="{F15E3822-8895-E60F-C799-27200B784E24}"/>
              </a:ext>
            </a:extLst>
          </p:cNvPr>
          <p:cNvSpPr txBox="1"/>
          <p:nvPr/>
        </p:nvSpPr>
        <p:spPr>
          <a:xfrm>
            <a:off x="441642" y="1561755"/>
            <a:ext cx="841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No están definidas en </a:t>
            </a:r>
            <a:r>
              <a:rPr lang="es-ES" b="1" i="1" dirty="0"/>
              <a:t>x </a:t>
            </a:r>
            <a:r>
              <a:rPr lang="es-ES" b="1" dirty="0"/>
              <a:t>= 0.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2" name="!Marco 10">
            <a:extLst>
              <a:ext uri="{FF2B5EF4-FFF2-40B4-BE49-F238E27FC236}">
                <a16:creationId xmlns:a16="http://schemas.microsoft.com/office/drawing/2014/main" id="{FCC131AB-FC2C-5E71-5BF6-6D96C4FA342E}"/>
              </a:ext>
            </a:extLst>
          </p:cNvPr>
          <p:cNvSpPr/>
          <p:nvPr/>
        </p:nvSpPr>
        <p:spPr>
          <a:xfrm>
            <a:off x="441642" y="2131962"/>
            <a:ext cx="8410257" cy="64633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173" name="!CuadroTexto 1">
            <a:extLst>
              <a:ext uri="{FF2B5EF4-FFF2-40B4-BE49-F238E27FC236}">
                <a16:creationId xmlns:a16="http://schemas.microsoft.com/office/drawing/2014/main" id="{923AE7DD-EAFD-1CF9-D344-8B50D7ADCE8A}"/>
              </a:ext>
            </a:extLst>
          </p:cNvPr>
          <p:cNvSpPr txBox="1"/>
          <p:nvPr/>
        </p:nvSpPr>
        <p:spPr>
          <a:xfrm>
            <a:off x="441641" y="2120216"/>
            <a:ext cx="8410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Si </a:t>
            </a:r>
            <a:r>
              <a:rPr lang="es-ES" b="1" i="1" dirty="0"/>
              <a:t>x </a:t>
            </a:r>
            <a:r>
              <a:rPr lang="es-ES" b="1" dirty="0"/>
              <a:t>se acerca a 0, </a:t>
            </a:r>
            <a:r>
              <a:rPr lang="es-ES" b="1" i="1" dirty="0"/>
              <a:t>y </a:t>
            </a:r>
            <a:r>
              <a:rPr lang="es-ES" b="1" dirty="0"/>
              <a:t>toma valores cada vez más grandes. Por eso, decimos que el eje </a:t>
            </a:r>
            <a:r>
              <a:rPr lang="es-ES" b="1" i="1" dirty="0"/>
              <a:t>Y </a:t>
            </a:r>
            <a:r>
              <a:rPr lang="es-ES" b="1" dirty="0"/>
              <a:t>es una asíntota.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4" name="!Marco 10">
            <a:extLst>
              <a:ext uri="{FF2B5EF4-FFF2-40B4-BE49-F238E27FC236}">
                <a16:creationId xmlns:a16="http://schemas.microsoft.com/office/drawing/2014/main" id="{BAABA865-5D65-C081-3814-83020280252E}"/>
              </a:ext>
            </a:extLst>
          </p:cNvPr>
          <p:cNvSpPr/>
          <p:nvPr/>
        </p:nvSpPr>
        <p:spPr>
          <a:xfrm>
            <a:off x="441641" y="2967423"/>
            <a:ext cx="8410257" cy="63458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175" name="!CuadroTexto 1">
            <a:extLst>
              <a:ext uri="{FF2B5EF4-FFF2-40B4-BE49-F238E27FC236}">
                <a16:creationId xmlns:a16="http://schemas.microsoft.com/office/drawing/2014/main" id="{CA7F8A2B-7F8B-D7C3-AABF-ACA8E77F36C0}"/>
              </a:ext>
            </a:extLst>
          </p:cNvPr>
          <p:cNvSpPr txBox="1"/>
          <p:nvPr/>
        </p:nvSpPr>
        <p:spPr>
          <a:xfrm>
            <a:off x="441640" y="2955676"/>
            <a:ext cx="8410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Si </a:t>
            </a:r>
            <a:r>
              <a:rPr lang="es-ES" b="1" i="1" dirty="0"/>
              <a:t>x </a:t>
            </a:r>
            <a:r>
              <a:rPr lang="es-ES" b="1" dirty="0"/>
              <a:t>toma valores cada vez más grandes, </a:t>
            </a:r>
            <a:r>
              <a:rPr lang="es-ES" b="1" i="1" dirty="0"/>
              <a:t>y </a:t>
            </a:r>
            <a:r>
              <a:rPr lang="es-ES" b="1" dirty="0"/>
              <a:t>se acerca a 0. Por eso, el eje </a:t>
            </a:r>
            <a:r>
              <a:rPr lang="es-ES" b="1" i="1" dirty="0"/>
              <a:t>X </a:t>
            </a:r>
            <a:r>
              <a:rPr lang="es-ES" b="1" dirty="0"/>
              <a:t>es asíntota.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8" name="!Marco 10">
            <a:extLst>
              <a:ext uri="{FF2B5EF4-FFF2-40B4-BE49-F238E27FC236}">
                <a16:creationId xmlns:a16="http://schemas.microsoft.com/office/drawing/2014/main" id="{97ED992A-11BC-2FC4-EDD6-1094510D47F5}"/>
              </a:ext>
            </a:extLst>
          </p:cNvPr>
          <p:cNvSpPr/>
          <p:nvPr/>
        </p:nvSpPr>
        <p:spPr>
          <a:xfrm>
            <a:off x="441641" y="3808851"/>
            <a:ext cx="8410257" cy="36933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179" name="!CuadroTexto 1">
            <a:extLst>
              <a:ext uri="{FF2B5EF4-FFF2-40B4-BE49-F238E27FC236}">
                <a16:creationId xmlns:a16="http://schemas.microsoft.com/office/drawing/2014/main" id="{70A21BE6-E126-396A-F0DA-BBD2CFE33A56}"/>
              </a:ext>
            </a:extLst>
          </p:cNvPr>
          <p:cNvSpPr txBox="1"/>
          <p:nvPr/>
        </p:nvSpPr>
        <p:spPr>
          <a:xfrm>
            <a:off x="441640" y="3797104"/>
            <a:ext cx="841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Esta curva es una hipérbola.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82" name="Imagen 181">
            <a:extLst>
              <a:ext uri="{FF2B5EF4-FFF2-40B4-BE49-F238E27FC236}">
                <a16:creationId xmlns:a16="http://schemas.microsoft.com/office/drawing/2014/main" id="{153D58FE-655A-8EAD-7656-2F93C52552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476" b="4368"/>
          <a:stretch/>
        </p:blipFill>
        <p:spPr>
          <a:xfrm>
            <a:off x="9003355" y="1668414"/>
            <a:ext cx="2747002" cy="257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2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2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2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0" grpId="0" animBg="1"/>
      <p:bldP spid="171" grpId="0"/>
      <p:bldP spid="172" grpId="0" animBg="1"/>
      <p:bldP spid="173" grpId="0"/>
      <p:bldP spid="174" grpId="0" animBg="1"/>
      <p:bldP spid="175" grpId="0"/>
      <p:bldP spid="178" grpId="0" animBg="1"/>
      <p:bldP spid="1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D1B79-6A6C-1676-619F-D65342D1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D1EB832-E764-0CB9-3A00-BD0AA0FDB43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BB866F9-C1E9-91D0-E8DB-E032462D2C46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865BD09D-87F2-AF26-7F12-7329D6C4F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7C52D96-D047-F9A5-5ABB-40EB2813A2AE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5B91C296-B228-0BAC-24AD-54FC8D73A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70D90F4-FCC0-E198-41F1-4FFE8EF259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D63D41B-CED5-A21E-8180-257942A07C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96AB72E-12C7-14CE-7C7C-389E1135EC51}"/>
                  </a:ext>
                </a:extLst>
              </p:cNvPr>
              <p:cNvSpPr txBox="1"/>
              <p:nvPr/>
            </p:nvSpPr>
            <p:spPr>
              <a:xfrm>
                <a:off x="441642" y="975984"/>
                <a:ext cx="2884194" cy="381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LA FUNCIÓN: </a:t>
                </a:r>
                <a14:m>
                  <m:oMath xmlns:m="http://schemas.openxmlformats.org/officeDocument/2006/math"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⁄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s-ES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96AB72E-12C7-14CE-7C7C-389E1135E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2" y="975984"/>
                <a:ext cx="2884194" cy="381899"/>
              </a:xfrm>
              <a:prstGeom prst="rect">
                <a:avLst/>
              </a:prstGeom>
              <a:blipFill>
                <a:blip r:embed="rId6"/>
                <a:stretch>
                  <a:fillRect l="-1688" t="-7937" b="-206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a 7">
            <a:extLst>
              <a:ext uri="{FF2B5EF4-FFF2-40B4-BE49-F238E27FC236}">
                <a16:creationId xmlns:a16="http://schemas.microsoft.com/office/drawing/2014/main" id="{37FA3859-E822-926D-3F60-1A82FADF540A}"/>
              </a:ext>
            </a:extLst>
          </p:cNvPr>
          <p:cNvGraphicFramePr>
            <a:graphicFrameLocks noGrp="1"/>
          </p:cNvGraphicFramePr>
          <p:nvPr/>
        </p:nvGraphicFramePr>
        <p:xfrm>
          <a:off x="1213507" y="1592558"/>
          <a:ext cx="3989696" cy="70918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61106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</a:tblGrid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x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2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4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10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y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0,5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0,25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0,2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0,1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4" name="Tabla 7">
            <a:extLst>
              <a:ext uri="{FF2B5EF4-FFF2-40B4-BE49-F238E27FC236}">
                <a16:creationId xmlns:a16="http://schemas.microsoft.com/office/drawing/2014/main" id="{64ACF403-5CBB-40EB-4BFE-AA13720ECC1F}"/>
              </a:ext>
            </a:extLst>
          </p:cNvPr>
          <p:cNvGraphicFramePr>
            <a:graphicFrameLocks noGrp="1"/>
          </p:cNvGraphicFramePr>
          <p:nvPr/>
        </p:nvGraphicFramePr>
        <p:xfrm>
          <a:off x="6988797" y="1592558"/>
          <a:ext cx="3989696" cy="70918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61106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</a:tblGrid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x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-2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-4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-10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y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-0,5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-0,25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-0,2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-0,1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pic>
        <p:nvPicPr>
          <p:cNvPr id="168" name="Imagen 167">
            <a:extLst>
              <a:ext uri="{FF2B5EF4-FFF2-40B4-BE49-F238E27FC236}">
                <a16:creationId xmlns:a16="http://schemas.microsoft.com/office/drawing/2014/main" id="{DA2175AA-4888-B9BC-C755-7AB6EEC4B2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77" t="10643" r="18266" b="14005"/>
          <a:stretch/>
        </p:blipFill>
        <p:spPr>
          <a:xfrm>
            <a:off x="3262312" y="2892354"/>
            <a:ext cx="5667375" cy="33278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CuadroTexto 168">
                <a:extLst>
                  <a:ext uri="{FF2B5EF4-FFF2-40B4-BE49-F238E27FC236}">
                    <a16:creationId xmlns:a16="http://schemas.microsoft.com/office/drawing/2014/main" id="{FF0558BB-B828-F18C-F2AE-D08F68EF043E}"/>
                  </a:ext>
                </a:extLst>
              </p:cNvPr>
              <p:cNvSpPr txBox="1"/>
              <p:nvPr/>
            </p:nvSpPr>
            <p:spPr>
              <a:xfrm>
                <a:off x="5463863" y="1076325"/>
                <a:ext cx="1264272" cy="36933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169" name="CuadroTexto 168">
                <a:extLst>
                  <a:ext uri="{FF2B5EF4-FFF2-40B4-BE49-F238E27FC236}">
                    <a16:creationId xmlns:a16="http://schemas.microsoft.com/office/drawing/2014/main" id="{FF0558BB-B828-F18C-F2AE-D08F68EF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863" y="1076325"/>
                <a:ext cx="1264272" cy="369332"/>
              </a:xfrm>
              <a:prstGeom prst="rect">
                <a:avLst/>
              </a:prstGeom>
              <a:blipFill>
                <a:blip r:embed="rId8"/>
                <a:stretch>
                  <a:fillRect b="-1076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36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6F106-7497-EA3B-B633-1DAE16DC0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EF95E79-001B-C402-ACC7-0CC19383400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EBC898E-7DDA-755C-D009-F125EB6E05F0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8F754889-A553-4C30-01EE-839BCE9B0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06D79DB-EE50-26B9-5512-478729B2D36B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145236D9-593F-2EE3-6C2D-09828C683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999312AA-9D2E-E930-18A9-23E859786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5802AB86-E49C-35F1-F5F3-328019CE8E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5553C65-0894-B7DE-EA6E-E276BF227CC5}"/>
                  </a:ext>
                </a:extLst>
              </p:cNvPr>
              <p:cNvSpPr txBox="1"/>
              <p:nvPr/>
            </p:nvSpPr>
            <p:spPr>
              <a:xfrm>
                <a:off x="441642" y="975984"/>
                <a:ext cx="2884194" cy="381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LA FUNCIÓN: </a:t>
                </a:r>
                <a14:m>
                  <m:oMath xmlns:m="http://schemas.openxmlformats.org/officeDocument/2006/math"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⁄</m:t>
                    </m:r>
                    <m:r>
                      <a:rPr lang="es-E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s-ES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55553C65-0894-B7DE-EA6E-E276BF227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2" y="975984"/>
                <a:ext cx="2884194" cy="381899"/>
              </a:xfrm>
              <a:prstGeom prst="rect">
                <a:avLst/>
              </a:prstGeom>
              <a:blipFill>
                <a:blip r:embed="rId6"/>
                <a:stretch>
                  <a:fillRect l="-1688" t="-7937" b="-206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a 7">
            <a:extLst>
              <a:ext uri="{FF2B5EF4-FFF2-40B4-BE49-F238E27FC236}">
                <a16:creationId xmlns:a16="http://schemas.microsoft.com/office/drawing/2014/main" id="{1B36C505-50DC-4884-C7D3-92E209636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842666"/>
              </p:ext>
            </p:extLst>
          </p:nvPr>
        </p:nvGraphicFramePr>
        <p:xfrm>
          <a:off x="1213507" y="1592558"/>
          <a:ext cx="3989696" cy="70918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61106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</a:tblGrid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x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2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4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10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y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2,5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1,25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0,5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4" name="Tabla 7">
            <a:extLst>
              <a:ext uri="{FF2B5EF4-FFF2-40B4-BE49-F238E27FC236}">
                <a16:creationId xmlns:a16="http://schemas.microsoft.com/office/drawing/2014/main" id="{57673FE5-67E3-1E3E-BA76-72AE26DF1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510"/>
              </p:ext>
            </p:extLst>
          </p:nvPr>
        </p:nvGraphicFramePr>
        <p:xfrm>
          <a:off x="6988797" y="1592558"/>
          <a:ext cx="3989696" cy="70918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61106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685718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</a:tblGrid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x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-2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-4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-10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4594">
                <a:tc>
                  <a:txBody>
                    <a:bodyPr/>
                    <a:lstStyle/>
                    <a:p>
                      <a:pPr algn="ctr"/>
                      <a:r>
                        <a:rPr lang="es-ES" sz="1700" b="1" dirty="0"/>
                        <a:t>y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-2,5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-1,25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-1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b="0" dirty="0"/>
                        <a:t>-0,5</a:t>
                      </a:r>
                    </a:p>
                  </a:txBody>
                  <a:tcPr marL="88648" marR="88648" marT="44324" marB="44324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pic>
        <p:nvPicPr>
          <p:cNvPr id="168" name="Imagen 167">
            <a:extLst>
              <a:ext uri="{FF2B5EF4-FFF2-40B4-BE49-F238E27FC236}">
                <a16:creationId xmlns:a16="http://schemas.microsoft.com/office/drawing/2014/main" id="{B8F5F1E8-9157-48B5-A3D3-F39B25A3E9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9" t="5967" r="18374" b="10028"/>
          <a:stretch/>
        </p:blipFill>
        <p:spPr>
          <a:xfrm>
            <a:off x="3541884" y="2864110"/>
            <a:ext cx="5108232" cy="33842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CuadroTexto 168">
                <a:extLst>
                  <a:ext uri="{FF2B5EF4-FFF2-40B4-BE49-F238E27FC236}">
                    <a16:creationId xmlns:a16="http://schemas.microsoft.com/office/drawing/2014/main" id="{5A2B0038-1E38-1C5D-C651-7286CE44BB94}"/>
                  </a:ext>
                </a:extLst>
              </p:cNvPr>
              <p:cNvSpPr txBox="1"/>
              <p:nvPr/>
            </p:nvSpPr>
            <p:spPr>
              <a:xfrm>
                <a:off x="5463863" y="1076325"/>
                <a:ext cx="1264272" cy="36933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=5/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169" name="CuadroTexto 168">
                <a:extLst>
                  <a:ext uri="{FF2B5EF4-FFF2-40B4-BE49-F238E27FC236}">
                    <a16:creationId xmlns:a16="http://schemas.microsoft.com/office/drawing/2014/main" id="{5A2B0038-1E38-1C5D-C651-7286CE44B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863" y="1076325"/>
                <a:ext cx="1264272" cy="369332"/>
              </a:xfrm>
              <a:prstGeom prst="rect">
                <a:avLst/>
              </a:prstGeom>
              <a:blipFill>
                <a:blip r:embed="rId8"/>
                <a:stretch>
                  <a:fillRect b="-1076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58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203</Words>
  <Application>Microsoft Office PowerPoint</Application>
  <PresentationFormat>Panorámica</PresentationFormat>
  <Paragraphs>65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84</cp:revision>
  <dcterms:created xsi:type="dcterms:W3CDTF">2024-08-18T18:48:07Z</dcterms:created>
  <dcterms:modified xsi:type="dcterms:W3CDTF">2024-10-22T20:09:52Z</dcterms:modified>
</cp:coreProperties>
</file>