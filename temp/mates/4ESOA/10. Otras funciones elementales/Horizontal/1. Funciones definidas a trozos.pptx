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1E3F"/>
    <a:srgbClr val="4E95D9"/>
    <a:srgbClr val="960119"/>
    <a:srgbClr val="FE8A9D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4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Otras Funciones Elementa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13562187"/>
                  </p:ext>
                </p:extLst>
              </p:nvPr>
            </p:nvGraphicFramePr>
            <p:xfrm>
              <a:off x="545866" y="2392128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866" y="2392128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40" y="361704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FUNCIONES RADICALES Y EXPONENCIALES</a:t>
            </a:r>
          </a:p>
        </p:txBody>
      </p:sp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33376759"/>
                  </p:ext>
                </p:extLst>
              </p:nvPr>
            </p:nvGraphicFramePr>
            <p:xfrm>
              <a:off x="545068" y="3658986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3658986"/>
                <a:ext cx="342798" cy="431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17753415"/>
                  </p:ext>
                </p:extLst>
              </p:nvPr>
            </p:nvGraphicFramePr>
            <p:xfrm>
              <a:off x="545068" y="3026883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3026883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61140" y="23478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PARÁBOLAS Y FUNCIONES CUADRÁTICAS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82454"/>
            <a:ext cx="823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FUNCIONES DE PROPORCIONALIDAD INVERSA</a:t>
            </a:r>
          </a:p>
        </p:txBody>
      </p:sp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750"/>
                            </p:stCondLst>
                            <p:childTnLst>
                              <p:par>
                                <p:cTn id="45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4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2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7" grpId="0" animBg="1"/>
      <p:bldP spid="16" grpId="0"/>
      <p:bldP spid="16" grpId="1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0" y="33951"/>
            <a:ext cx="11406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Otras Funciones Elementales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085D9FE-CF6C-7C7B-7B33-6575D70C574D}"/>
                  </a:ext>
                </a:extLst>
              </p:cNvPr>
              <p:cNvSpPr txBox="1"/>
              <p:nvPr/>
            </p:nvSpPr>
            <p:spPr>
              <a:xfrm>
                <a:off x="441642" y="975984"/>
                <a:ext cx="2884194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LA FUNCIÓN: </a:t>
                </a:r>
                <a14:m>
                  <m:oMath xmlns:m="http://schemas.openxmlformats.org/officeDocument/2006/math">
                    <m:r>
                      <a:rPr lang="es-E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E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s-ES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s-ES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085D9FE-CF6C-7C7B-7B33-6575D70C5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42" y="975984"/>
                <a:ext cx="2884194" cy="375552"/>
              </a:xfrm>
              <a:prstGeom prst="rect">
                <a:avLst/>
              </a:prstGeom>
              <a:blipFill>
                <a:blip r:embed="rId6"/>
                <a:stretch>
                  <a:fillRect l="-1688" t="-6452" b="-2419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21C76EB-49DC-C16A-11BF-AC64C2416E13}"/>
                  </a:ext>
                </a:extLst>
              </p:cNvPr>
              <p:cNvSpPr txBox="1"/>
              <p:nvPr/>
            </p:nvSpPr>
            <p:spPr>
              <a:xfrm>
                <a:off x="1877542" y="1657633"/>
                <a:ext cx="110539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21C76EB-49DC-C16A-11BF-AC64C2416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542" y="1657633"/>
                <a:ext cx="1105394" cy="276999"/>
              </a:xfrm>
              <a:prstGeom prst="rect">
                <a:avLst/>
              </a:prstGeom>
              <a:blipFill>
                <a:blip r:embed="rId7"/>
                <a:stretch>
                  <a:fillRect l="-1657" b="-311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4" name="Grupo 103">
            <a:extLst>
              <a:ext uri="{FF2B5EF4-FFF2-40B4-BE49-F238E27FC236}">
                <a16:creationId xmlns:a16="http://schemas.microsoft.com/office/drawing/2014/main" id="{A60711A3-5DF2-060C-9229-5557686E0F4A}"/>
              </a:ext>
            </a:extLst>
          </p:cNvPr>
          <p:cNvGrpSpPr/>
          <p:nvPr/>
        </p:nvGrpSpPr>
        <p:grpSpPr>
          <a:xfrm>
            <a:off x="3897931" y="2385727"/>
            <a:ext cx="4396137" cy="4124928"/>
            <a:chOff x="5711311" y="2365700"/>
            <a:chExt cx="4396137" cy="4124928"/>
          </a:xfrm>
        </p:grpSpPr>
        <p:cxnSp>
          <p:nvCxnSpPr>
            <p:cNvPr id="103" name="Conector recto 102">
              <a:extLst>
                <a:ext uri="{FF2B5EF4-FFF2-40B4-BE49-F238E27FC236}">
                  <a16:creationId xmlns:a16="http://schemas.microsoft.com/office/drawing/2014/main" id="{A8577EEA-9A2B-BAFA-8216-AD209A4ABF72}"/>
                </a:ext>
              </a:extLst>
            </p:cNvPr>
            <p:cNvCxnSpPr>
              <a:cxnSpLocks/>
            </p:cNvCxnSpPr>
            <p:nvPr/>
          </p:nvCxnSpPr>
          <p:spPr>
            <a:xfrm>
              <a:off x="7951513" y="2566204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FDB7351E-3EBC-F158-E9DB-3023E271307D}"/>
                </a:ext>
              </a:extLst>
            </p:cNvPr>
            <p:cNvCxnSpPr>
              <a:cxnSpLocks/>
            </p:cNvCxnSpPr>
            <p:nvPr/>
          </p:nvCxnSpPr>
          <p:spPr>
            <a:xfrm>
              <a:off x="5777555" y="5420891"/>
              <a:ext cx="431981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C50386C8-13AD-A55F-40BD-240F133AE36F}"/>
                </a:ext>
              </a:extLst>
            </p:cNvPr>
            <p:cNvCxnSpPr>
              <a:cxnSpLocks/>
            </p:cNvCxnSpPr>
            <p:nvPr/>
          </p:nvCxnSpPr>
          <p:spPr>
            <a:xfrm>
              <a:off x="5777555" y="5195812"/>
              <a:ext cx="431981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123D124E-1C4C-436B-3A03-E76CD28426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7555" y="4968933"/>
              <a:ext cx="4319815" cy="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86E940FD-6E81-5C79-904D-74ACC1E12E11}"/>
                </a:ext>
              </a:extLst>
            </p:cNvPr>
            <p:cNvCxnSpPr>
              <a:cxnSpLocks/>
            </p:cNvCxnSpPr>
            <p:nvPr/>
          </p:nvCxnSpPr>
          <p:spPr>
            <a:xfrm>
              <a:off x="5772516" y="6099576"/>
              <a:ext cx="4329892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21A92B59-0B13-A117-2274-BCE854AFAAE8}"/>
                </a:ext>
              </a:extLst>
            </p:cNvPr>
            <p:cNvCxnSpPr>
              <a:cxnSpLocks/>
            </p:cNvCxnSpPr>
            <p:nvPr/>
          </p:nvCxnSpPr>
          <p:spPr>
            <a:xfrm>
              <a:off x="5777555" y="5874407"/>
              <a:ext cx="4329892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44FC868A-BE5E-EF80-00F1-908F8D6593C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51513" y="3491595"/>
              <a:ext cx="0" cy="431186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8F28A750-A331-75D6-7D8C-2DE65657963D}"/>
                </a:ext>
              </a:extLst>
            </p:cNvPr>
            <p:cNvCxnSpPr>
              <a:cxnSpLocks/>
            </p:cNvCxnSpPr>
            <p:nvPr/>
          </p:nvCxnSpPr>
          <p:spPr>
            <a:xfrm>
              <a:off x="5777555" y="5647982"/>
              <a:ext cx="216671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6C75F90B-C292-5F6B-11DB-3D04821FE70D}"/>
                </a:ext>
              </a:extLst>
            </p:cNvPr>
            <p:cNvCxnSpPr>
              <a:cxnSpLocks/>
            </p:cNvCxnSpPr>
            <p:nvPr/>
          </p:nvCxnSpPr>
          <p:spPr>
            <a:xfrm>
              <a:off x="5777555" y="2566498"/>
              <a:ext cx="0" cy="353307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D6A13F73-8239-38DC-9959-C3BCC600A7A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340062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19F3F751-832C-371E-DEE8-451D44DD3C4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315773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9614DCAF-B374-F610-D1C1-6C86F89CC3F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291485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7F1BA85E-85E7-1EF2-EEFB-1E15E6131F0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267196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0B279169-F84B-927F-50B5-5C648E9CC81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242907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84F68C89-9534-B9ED-8874-6FBA3F53126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218618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3F4D830-FE76-75C3-E799-423B8E1004A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194329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A55328F1-BE9E-C326-3908-A9D0D452566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170040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9560E91A-7902-F2F3-B846-F41BD010F57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147724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9AEDA50B-C4F0-15A9-807A-DFFAF0D0273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339915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CF323C9B-7258-A2E5-7F68-3E73144831D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3156268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D8BFC8C1-BCF5-E6E5-04CF-88ABA78F60A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291337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12C7396E-CCE8-D1C8-22D2-EE41AF0BF83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267049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04BD0EE4-7C5E-230A-50AD-A6B4DCB2C20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242760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F7A44A1A-67C0-BA56-6D67-42C9232EC6A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218471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54F461F5-E741-926C-CAFB-F914B32FB9E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194182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8DCDDFBB-1859-125F-0BED-F962F076D9D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169893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E55405BC-9E03-3807-1A1F-11722E2FA3E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147577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242CE1C9-2489-A0DC-5158-438A2835705E}"/>
                </a:ext>
              </a:extLst>
            </p:cNvPr>
            <p:cNvCxnSpPr>
              <a:cxnSpLocks/>
            </p:cNvCxnSpPr>
            <p:nvPr/>
          </p:nvCxnSpPr>
          <p:spPr>
            <a:xfrm>
              <a:off x="6023621" y="2564020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BF3D63EE-BBB1-32F1-7BF5-80AA32DF32CE}"/>
                </a:ext>
              </a:extLst>
            </p:cNvPr>
            <p:cNvCxnSpPr>
              <a:cxnSpLocks/>
            </p:cNvCxnSpPr>
            <p:nvPr/>
          </p:nvCxnSpPr>
          <p:spPr>
            <a:xfrm>
              <a:off x="6266509" y="2564020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C1B83883-DBFD-8F40-8905-CDB1016252CC}"/>
                </a:ext>
              </a:extLst>
            </p:cNvPr>
            <p:cNvCxnSpPr>
              <a:cxnSpLocks/>
            </p:cNvCxnSpPr>
            <p:nvPr/>
          </p:nvCxnSpPr>
          <p:spPr>
            <a:xfrm>
              <a:off x="6509398" y="2564020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F45BB443-343C-70C6-97D9-A7C98E10477D}"/>
                </a:ext>
              </a:extLst>
            </p:cNvPr>
            <p:cNvCxnSpPr>
              <a:cxnSpLocks/>
            </p:cNvCxnSpPr>
            <p:nvPr/>
          </p:nvCxnSpPr>
          <p:spPr>
            <a:xfrm>
              <a:off x="6752287" y="2564020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3C8C21C4-B1FF-C963-CC8F-665B98E58CD9}"/>
                </a:ext>
              </a:extLst>
            </p:cNvPr>
            <p:cNvCxnSpPr>
              <a:cxnSpLocks/>
            </p:cNvCxnSpPr>
            <p:nvPr/>
          </p:nvCxnSpPr>
          <p:spPr>
            <a:xfrm>
              <a:off x="6995176" y="2564020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D17CDC92-5D1E-C12E-9C2B-7FE62D31EB47}"/>
                </a:ext>
              </a:extLst>
            </p:cNvPr>
            <p:cNvCxnSpPr>
              <a:cxnSpLocks/>
            </p:cNvCxnSpPr>
            <p:nvPr/>
          </p:nvCxnSpPr>
          <p:spPr>
            <a:xfrm>
              <a:off x="7238065" y="2564020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EFBEA1C3-4719-6AD7-C9F0-27966B701871}"/>
                </a:ext>
              </a:extLst>
            </p:cNvPr>
            <p:cNvCxnSpPr>
              <a:cxnSpLocks/>
            </p:cNvCxnSpPr>
            <p:nvPr/>
          </p:nvCxnSpPr>
          <p:spPr>
            <a:xfrm>
              <a:off x="7480954" y="2564020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AB999FC8-BAEC-9A4A-F1B5-85807A209C1A}"/>
                </a:ext>
              </a:extLst>
            </p:cNvPr>
            <p:cNvCxnSpPr>
              <a:cxnSpLocks/>
            </p:cNvCxnSpPr>
            <p:nvPr/>
          </p:nvCxnSpPr>
          <p:spPr>
            <a:xfrm>
              <a:off x="7723841" y="2564020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F26B05CA-C3CA-4308-34B4-C0139C91DFD5}"/>
                </a:ext>
              </a:extLst>
            </p:cNvPr>
            <p:cNvCxnSpPr>
              <a:cxnSpLocks/>
            </p:cNvCxnSpPr>
            <p:nvPr/>
          </p:nvCxnSpPr>
          <p:spPr>
            <a:xfrm>
              <a:off x="8190336" y="2562043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D7CF077A-20F5-1442-A3AC-8AAFEBF9862C}"/>
                </a:ext>
              </a:extLst>
            </p:cNvPr>
            <p:cNvCxnSpPr>
              <a:cxnSpLocks/>
            </p:cNvCxnSpPr>
            <p:nvPr/>
          </p:nvCxnSpPr>
          <p:spPr>
            <a:xfrm>
              <a:off x="8433224" y="2562043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979A5B24-3485-AEE9-5015-E9C709313ACF}"/>
                </a:ext>
              </a:extLst>
            </p:cNvPr>
            <p:cNvCxnSpPr>
              <a:cxnSpLocks/>
            </p:cNvCxnSpPr>
            <p:nvPr/>
          </p:nvCxnSpPr>
          <p:spPr>
            <a:xfrm>
              <a:off x="8676113" y="2562043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BC9671CC-6710-0B99-961E-0C24AAF60169}"/>
                </a:ext>
              </a:extLst>
            </p:cNvPr>
            <p:cNvCxnSpPr>
              <a:cxnSpLocks/>
            </p:cNvCxnSpPr>
            <p:nvPr/>
          </p:nvCxnSpPr>
          <p:spPr>
            <a:xfrm>
              <a:off x="8919002" y="2562043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8157DE0B-5E15-488E-4964-EFCA20DADE6D}"/>
                </a:ext>
              </a:extLst>
            </p:cNvPr>
            <p:cNvCxnSpPr>
              <a:cxnSpLocks/>
            </p:cNvCxnSpPr>
            <p:nvPr/>
          </p:nvCxnSpPr>
          <p:spPr>
            <a:xfrm>
              <a:off x="9161891" y="2562043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52EDCC3C-F169-B71C-1AB7-0CB7550D501A}"/>
                </a:ext>
              </a:extLst>
            </p:cNvPr>
            <p:cNvCxnSpPr>
              <a:cxnSpLocks/>
            </p:cNvCxnSpPr>
            <p:nvPr/>
          </p:nvCxnSpPr>
          <p:spPr>
            <a:xfrm>
              <a:off x="9404780" y="2562043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D6FF4BC8-6DEC-AF2B-361D-FEA51D3C7868}"/>
                </a:ext>
              </a:extLst>
            </p:cNvPr>
            <p:cNvCxnSpPr>
              <a:cxnSpLocks/>
            </p:cNvCxnSpPr>
            <p:nvPr/>
          </p:nvCxnSpPr>
          <p:spPr>
            <a:xfrm>
              <a:off x="9647669" y="2562043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78C268E2-C0FD-5AFB-502A-A9EF9BAB160A}"/>
                </a:ext>
              </a:extLst>
            </p:cNvPr>
            <p:cNvCxnSpPr>
              <a:cxnSpLocks/>
            </p:cNvCxnSpPr>
            <p:nvPr/>
          </p:nvCxnSpPr>
          <p:spPr>
            <a:xfrm>
              <a:off x="5780733" y="4722044"/>
              <a:ext cx="432671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95CEAB4E-1562-14FB-35B0-C88C59FF2B9F}"/>
                </a:ext>
              </a:extLst>
            </p:cNvPr>
            <p:cNvSpPr txBox="1"/>
            <p:nvPr/>
          </p:nvSpPr>
          <p:spPr>
            <a:xfrm>
              <a:off x="6994858" y="6121296"/>
              <a:ext cx="4757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-2</a:t>
              </a:r>
            </a:p>
          </p:txBody>
        </p:sp>
        <p:sp>
          <p:nvSpPr>
            <p:cNvPr id="75" name="CuadroTexto 74">
              <a:extLst>
                <a:ext uri="{FF2B5EF4-FFF2-40B4-BE49-F238E27FC236}">
                  <a16:creationId xmlns:a16="http://schemas.microsoft.com/office/drawing/2014/main" id="{44B76D17-BC21-97E0-1BD6-EDA8FA9D5185}"/>
                </a:ext>
              </a:extLst>
            </p:cNvPr>
            <p:cNvSpPr txBox="1"/>
            <p:nvPr/>
          </p:nvSpPr>
          <p:spPr>
            <a:xfrm>
              <a:off x="7966168" y="6115324"/>
              <a:ext cx="475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5DC54425-9092-CF69-756D-9313E98C2419}"/>
                </a:ext>
              </a:extLst>
            </p:cNvPr>
            <p:cNvCxnSpPr>
              <a:cxnSpLocks/>
            </p:cNvCxnSpPr>
            <p:nvPr/>
          </p:nvCxnSpPr>
          <p:spPr>
            <a:xfrm>
              <a:off x="7237821" y="6047986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cto 79">
              <a:extLst>
                <a:ext uri="{FF2B5EF4-FFF2-40B4-BE49-F238E27FC236}">
                  <a16:creationId xmlns:a16="http://schemas.microsoft.com/office/drawing/2014/main" id="{BB371BFC-C80B-BF2D-5FA6-BD0EFE3844B9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59" y="6047986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6C41258E-547E-A7F1-06F1-2698D054617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28554" y="3692050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CuadroTexto 85">
              <a:extLst>
                <a:ext uri="{FF2B5EF4-FFF2-40B4-BE49-F238E27FC236}">
                  <a16:creationId xmlns:a16="http://schemas.microsoft.com/office/drawing/2014/main" id="{995B48F0-2B5A-97E1-2E60-A4605B8AC611}"/>
                </a:ext>
              </a:extLst>
            </p:cNvPr>
            <p:cNvSpPr txBox="1"/>
            <p:nvPr/>
          </p:nvSpPr>
          <p:spPr>
            <a:xfrm>
              <a:off x="7260055" y="3552568"/>
              <a:ext cx="445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10</a:t>
              </a:r>
            </a:p>
          </p:txBody>
        </p: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81EC01D4-BF3C-B180-FB00-5423B7075F51}"/>
                </a:ext>
              </a:extLst>
            </p:cNvPr>
            <p:cNvCxnSpPr>
              <a:cxnSpLocks/>
            </p:cNvCxnSpPr>
            <p:nvPr/>
          </p:nvCxnSpPr>
          <p:spPr>
            <a:xfrm>
              <a:off x="5711311" y="6112694"/>
              <a:ext cx="4396137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950ED33A-2EEA-0A8D-9EF1-9F7AF1278D9F}"/>
                </a:ext>
              </a:extLst>
            </p:cNvPr>
            <p:cNvCxnSpPr>
              <a:cxnSpLocks/>
            </p:cNvCxnSpPr>
            <p:nvPr/>
          </p:nvCxnSpPr>
          <p:spPr>
            <a:xfrm>
              <a:off x="7731732" y="2562044"/>
              <a:ext cx="0" cy="3586321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C71FACF6-3D7B-D472-66A4-ACBD2CEF5098}"/>
                </a:ext>
              </a:extLst>
            </p:cNvPr>
            <p:cNvCxnSpPr>
              <a:cxnSpLocks/>
            </p:cNvCxnSpPr>
            <p:nvPr/>
          </p:nvCxnSpPr>
          <p:spPr>
            <a:xfrm>
              <a:off x="9876269" y="25557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5662FE03-3130-1806-4CBC-6DB70C7C8E47}"/>
                </a:ext>
              </a:extLst>
            </p:cNvPr>
            <p:cNvCxnSpPr>
              <a:cxnSpLocks/>
            </p:cNvCxnSpPr>
            <p:nvPr/>
          </p:nvCxnSpPr>
          <p:spPr>
            <a:xfrm>
              <a:off x="10082130" y="255385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ector recto 115">
              <a:extLst>
                <a:ext uri="{FF2B5EF4-FFF2-40B4-BE49-F238E27FC236}">
                  <a16:creationId xmlns:a16="http://schemas.microsoft.com/office/drawing/2014/main" id="{5CB1F4A6-E18E-B252-0B5C-2F2B4DA5F37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24457" y="492423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CuadroTexto 116">
              <a:extLst>
                <a:ext uri="{FF2B5EF4-FFF2-40B4-BE49-F238E27FC236}">
                  <a16:creationId xmlns:a16="http://schemas.microsoft.com/office/drawing/2014/main" id="{2DCDEFB1-03ED-EBBF-ED04-F0DE0A8B9BE5}"/>
                </a:ext>
              </a:extLst>
            </p:cNvPr>
            <p:cNvSpPr txBox="1"/>
            <p:nvPr/>
          </p:nvSpPr>
          <p:spPr>
            <a:xfrm>
              <a:off x="7507578" y="4784753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5</a:t>
              </a:r>
            </a:p>
          </p:txBody>
        </p:sp>
        <p:sp>
          <p:nvSpPr>
            <p:cNvPr id="139" name="CuadroTexto 138">
              <a:extLst>
                <a:ext uri="{FF2B5EF4-FFF2-40B4-BE49-F238E27FC236}">
                  <a16:creationId xmlns:a16="http://schemas.microsoft.com/office/drawing/2014/main" id="{3FCE438F-5A36-5941-C3CB-1B86BF689264}"/>
                </a:ext>
              </a:extLst>
            </p:cNvPr>
            <p:cNvSpPr txBox="1"/>
            <p:nvPr/>
          </p:nvSpPr>
          <p:spPr>
            <a:xfrm>
              <a:off x="6509398" y="6115324"/>
              <a:ext cx="4757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-4</a:t>
              </a:r>
            </a:p>
          </p:txBody>
        </p:sp>
        <p:cxnSp>
          <p:nvCxnSpPr>
            <p:cNvPr id="140" name="Conector recto 139">
              <a:extLst>
                <a:ext uri="{FF2B5EF4-FFF2-40B4-BE49-F238E27FC236}">
                  <a16:creationId xmlns:a16="http://schemas.microsoft.com/office/drawing/2014/main" id="{D06189F3-2809-45F4-2922-EC66B60972C6}"/>
                </a:ext>
              </a:extLst>
            </p:cNvPr>
            <p:cNvCxnSpPr>
              <a:cxnSpLocks/>
            </p:cNvCxnSpPr>
            <p:nvPr/>
          </p:nvCxnSpPr>
          <p:spPr>
            <a:xfrm>
              <a:off x="6752361" y="604201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CuadroTexto 140">
              <a:extLst>
                <a:ext uri="{FF2B5EF4-FFF2-40B4-BE49-F238E27FC236}">
                  <a16:creationId xmlns:a16="http://schemas.microsoft.com/office/drawing/2014/main" id="{9B8F5FF9-799C-14F1-CDD4-657EA6B5CBA9}"/>
                </a:ext>
              </a:extLst>
            </p:cNvPr>
            <p:cNvSpPr txBox="1"/>
            <p:nvPr/>
          </p:nvSpPr>
          <p:spPr>
            <a:xfrm>
              <a:off x="8460436" y="6119407"/>
              <a:ext cx="475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142" name="Conector recto 141">
              <a:extLst>
                <a:ext uri="{FF2B5EF4-FFF2-40B4-BE49-F238E27FC236}">
                  <a16:creationId xmlns:a16="http://schemas.microsoft.com/office/drawing/2014/main" id="{9273083D-CA45-4C0C-3A42-3A679CDEEF20}"/>
                </a:ext>
              </a:extLst>
            </p:cNvPr>
            <p:cNvCxnSpPr>
              <a:cxnSpLocks/>
            </p:cNvCxnSpPr>
            <p:nvPr/>
          </p:nvCxnSpPr>
          <p:spPr>
            <a:xfrm>
              <a:off x="8683027" y="6052069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CuadroTexto 142">
              <a:extLst>
                <a:ext uri="{FF2B5EF4-FFF2-40B4-BE49-F238E27FC236}">
                  <a16:creationId xmlns:a16="http://schemas.microsoft.com/office/drawing/2014/main" id="{65235E48-0441-07FF-2D0F-C0480A569A29}"/>
                </a:ext>
              </a:extLst>
            </p:cNvPr>
            <p:cNvSpPr txBox="1"/>
            <p:nvPr/>
          </p:nvSpPr>
          <p:spPr>
            <a:xfrm>
              <a:off x="7492661" y="6115324"/>
              <a:ext cx="475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0</a:t>
              </a:r>
            </a:p>
          </p:txBody>
        </p:sp>
        <p:cxnSp>
          <p:nvCxnSpPr>
            <p:cNvPr id="144" name="Conector recto 143">
              <a:extLst>
                <a:ext uri="{FF2B5EF4-FFF2-40B4-BE49-F238E27FC236}">
                  <a16:creationId xmlns:a16="http://schemas.microsoft.com/office/drawing/2014/main" id="{C06A4FF8-EB03-3283-1619-2AF8228B5FF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27879" y="250518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CuadroTexto 144">
              <a:extLst>
                <a:ext uri="{FF2B5EF4-FFF2-40B4-BE49-F238E27FC236}">
                  <a16:creationId xmlns:a16="http://schemas.microsoft.com/office/drawing/2014/main" id="{24C009C9-D2DC-7B29-CF6C-391934D0DCBE}"/>
                </a:ext>
              </a:extLst>
            </p:cNvPr>
            <p:cNvSpPr txBox="1"/>
            <p:nvPr/>
          </p:nvSpPr>
          <p:spPr>
            <a:xfrm>
              <a:off x="7256999" y="2365700"/>
              <a:ext cx="445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15</a:t>
              </a:r>
            </a:p>
          </p:txBody>
        </p:sp>
      </p:grpSp>
      <p:graphicFrame>
        <p:nvGraphicFramePr>
          <p:cNvPr id="16" name="Tabla 7">
            <a:extLst>
              <a:ext uri="{FF2B5EF4-FFF2-40B4-BE49-F238E27FC236}">
                <a16:creationId xmlns:a16="http://schemas.microsoft.com/office/drawing/2014/main" id="{BD790785-A984-B6B9-384F-14F7A85E4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153952"/>
              </p:ext>
            </p:extLst>
          </p:nvPr>
        </p:nvGraphicFramePr>
        <p:xfrm>
          <a:off x="3006725" y="1479180"/>
          <a:ext cx="6732568" cy="70918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561106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545246935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1046788839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580922010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827334262"/>
                    </a:ext>
                  </a:extLst>
                </a:gridCol>
              </a:tblGrid>
              <a:tr h="354594">
                <a:tc>
                  <a:txBody>
                    <a:bodyPr/>
                    <a:lstStyle/>
                    <a:p>
                      <a:pPr algn="ctr"/>
                      <a:r>
                        <a:rPr lang="es-ES" sz="1700" b="1" dirty="0"/>
                        <a:t>x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-4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-3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-2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-1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0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1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2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3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4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54594">
                <a:tc>
                  <a:txBody>
                    <a:bodyPr/>
                    <a:lstStyle/>
                    <a:p>
                      <a:pPr algn="ctr"/>
                      <a:r>
                        <a:rPr lang="es-ES" sz="1700" b="1" dirty="0"/>
                        <a:t>y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16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9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4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1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0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1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4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9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16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sp>
        <p:nvSpPr>
          <p:cNvPr id="149" name="Arco 148">
            <a:extLst>
              <a:ext uri="{FF2B5EF4-FFF2-40B4-BE49-F238E27FC236}">
                <a16:creationId xmlns:a16="http://schemas.microsoft.com/office/drawing/2014/main" id="{B6B13EE0-2761-614A-AB01-B12ACD57EA93}"/>
              </a:ext>
            </a:extLst>
          </p:cNvPr>
          <p:cNvSpPr/>
          <p:nvPr/>
        </p:nvSpPr>
        <p:spPr>
          <a:xfrm>
            <a:off x="4761581" y="-11847006"/>
            <a:ext cx="2286010" cy="17959295"/>
          </a:xfrm>
          <a:prstGeom prst="arc">
            <a:avLst>
              <a:gd name="adj1" fmla="val 4831382"/>
              <a:gd name="adj2" fmla="val 5968944"/>
            </a:avLst>
          </a:prstGeom>
          <a:noFill/>
          <a:ln w="28575">
            <a:solidFill>
              <a:srgbClr val="E61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5EA61-D107-7F04-0762-60D3EDC51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Arco 148">
            <a:extLst>
              <a:ext uri="{FF2B5EF4-FFF2-40B4-BE49-F238E27FC236}">
                <a16:creationId xmlns:a16="http://schemas.microsoft.com/office/drawing/2014/main" id="{09F9BA38-6F0D-B130-B7F4-D5AFAED9839F}"/>
              </a:ext>
            </a:extLst>
          </p:cNvPr>
          <p:cNvSpPr/>
          <p:nvPr/>
        </p:nvSpPr>
        <p:spPr>
          <a:xfrm>
            <a:off x="1815208" y="-12537695"/>
            <a:ext cx="2286010" cy="17959295"/>
          </a:xfrm>
          <a:prstGeom prst="arc">
            <a:avLst>
              <a:gd name="adj1" fmla="val 4831382"/>
              <a:gd name="adj2" fmla="val 5968944"/>
            </a:avLst>
          </a:prstGeom>
          <a:noFill/>
          <a:ln w="28575">
            <a:solidFill>
              <a:srgbClr val="E61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1" name="Arco 80">
            <a:extLst>
              <a:ext uri="{FF2B5EF4-FFF2-40B4-BE49-F238E27FC236}">
                <a16:creationId xmlns:a16="http://schemas.microsoft.com/office/drawing/2014/main" id="{82055ECF-E6C4-3AAA-913E-AF65B3C76FC6}"/>
              </a:ext>
            </a:extLst>
          </p:cNvPr>
          <p:cNvSpPr/>
          <p:nvPr/>
        </p:nvSpPr>
        <p:spPr>
          <a:xfrm>
            <a:off x="2964560" y="-11859719"/>
            <a:ext cx="1397890" cy="17959295"/>
          </a:xfrm>
          <a:prstGeom prst="arc">
            <a:avLst>
              <a:gd name="adj1" fmla="val 5103897"/>
              <a:gd name="adj2" fmla="val 5696498"/>
            </a:avLst>
          </a:prstGeom>
          <a:noFill/>
          <a:ln w="285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CA0E412-1835-D8F5-6398-09C1B912092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AE909A1C-E057-8168-D38C-3E0123AC49A9}"/>
              </a:ext>
            </a:extLst>
          </p:cNvPr>
          <p:cNvSpPr txBox="1"/>
          <p:nvPr/>
        </p:nvSpPr>
        <p:spPr>
          <a:xfrm>
            <a:off x="3600" y="33951"/>
            <a:ext cx="11406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Otras Funciones Elementales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FC553D70-35E4-4111-7E55-E3456B254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1829FE5-2C11-D225-6DDE-81E928D5F1A4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8A2525E1-C759-36A3-6D11-6F13E2168F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0678459C-675A-AE01-DF52-DF73D9E37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5D6FE82D-F6FC-80D2-E7D0-B43ECDEB1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CC3CE22-5A6F-D2D3-DBBE-91495225D154}"/>
              </a:ext>
            </a:extLst>
          </p:cNvPr>
          <p:cNvSpPr txBox="1"/>
          <p:nvPr/>
        </p:nvSpPr>
        <p:spPr>
          <a:xfrm>
            <a:off x="441642" y="1102984"/>
            <a:ext cx="3920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FUNCIONES CUADRÁTICAS:</a:t>
            </a:r>
          </a:p>
        </p:txBody>
      </p: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087911E2-26D7-3ADB-A36A-ACA934F76DA0}"/>
              </a:ext>
            </a:extLst>
          </p:cNvPr>
          <p:cNvGrpSpPr/>
          <p:nvPr/>
        </p:nvGrpSpPr>
        <p:grpSpPr>
          <a:xfrm>
            <a:off x="938858" y="1695038"/>
            <a:ext cx="4396137" cy="4511350"/>
            <a:chOff x="5711311" y="2365700"/>
            <a:chExt cx="4396137" cy="4511350"/>
          </a:xfrm>
        </p:grpSpPr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CF875F8C-CD27-260A-01A8-572ADFF1653D}"/>
                </a:ext>
              </a:extLst>
            </p:cNvPr>
            <p:cNvCxnSpPr>
              <a:cxnSpLocks/>
            </p:cNvCxnSpPr>
            <p:nvPr/>
          </p:nvCxnSpPr>
          <p:spPr>
            <a:xfrm>
              <a:off x="5777905" y="6318105"/>
              <a:ext cx="431981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4BE20819-9062-7E8A-2F55-77855CB4D801}"/>
                </a:ext>
              </a:extLst>
            </p:cNvPr>
            <p:cNvCxnSpPr>
              <a:cxnSpLocks/>
            </p:cNvCxnSpPr>
            <p:nvPr/>
          </p:nvCxnSpPr>
          <p:spPr>
            <a:xfrm>
              <a:off x="5777111" y="6771621"/>
              <a:ext cx="4329892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C467E3C9-69FB-FE55-254F-70E2D80FD9A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32018" y="4388809"/>
              <a:ext cx="0" cy="431186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 recto 102">
              <a:extLst>
                <a:ext uri="{FF2B5EF4-FFF2-40B4-BE49-F238E27FC236}">
                  <a16:creationId xmlns:a16="http://schemas.microsoft.com/office/drawing/2014/main" id="{820BEFBC-1C56-B877-7E83-E4A2CC6D5A99}"/>
                </a:ext>
              </a:extLst>
            </p:cNvPr>
            <p:cNvCxnSpPr>
              <a:cxnSpLocks/>
            </p:cNvCxnSpPr>
            <p:nvPr/>
          </p:nvCxnSpPr>
          <p:spPr>
            <a:xfrm>
              <a:off x="7951513" y="2566204"/>
              <a:ext cx="0" cy="4205417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4B2EE105-ACEB-BFD3-ACE4-45875A685797}"/>
                </a:ext>
              </a:extLst>
            </p:cNvPr>
            <p:cNvCxnSpPr>
              <a:cxnSpLocks/>
            </p:cNvCxnSpPr>
            <p:nvPr/>
          </p:nvCxnSpPr>
          <p:spPr>
            <a:xfrm>
              <a:off x="5777555" y="5420891"/>
              <a:ext cx="431981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FF29C88D-3D1E-0C7E-9CC4-A9F2E0507259}"/>
                </a:ext>
              </a:extLst>
            </p:cNvPr>
            <p:cNvCxnSpPr>
              <a:cxnSpLocks/>
            </p:cNvCxnSpPr>
            <p:nvPr/>
          </p:nvCxnSpPr>
          <p:spPr>
            <a:xfrm>
              <a:off x="5777555" y="5195812"/>
              <a:ext cx="431981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3F193B75-DC6D-8E37-EFFD-0802EB97D4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7555" y="4968933"/>
              <a:ext cx="4319815" cy="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48C6D69A-E23C-A80F-2880-0A6FC460FC2B}"/>
                </a:ext>
              </a:extLst>
            </p:cNvPr>
            <p:cNvCxnSpPr>
              <a:cxnSpLocks/>
            </p:cNvCxnSpPr>
            <p:nvPr/>
          </p:nvCxnSpPr>
          <p:spPr>
            <a:xfrm>
              <a:off x="5772516" y="6099576"/>
              <a:ext cx="4329892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37CF859E-BAA0-1986-46C4-E259CAAF326C}"/>
                </a:ext>
              </a:extLst>
            </p:cNvPr>
            <p:cNvCxnSpPr>
              <a:cxnSpLocks/>
            </p:cNvCxnSpPr>
            <p:nvPr/>
          </p:nvCxnSpPr>
          <p:spPr>
            <a:xfrm>
              <a:off x="5777555" y="5874407"/>
              <a:ext cx="4329892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7F5A0846-BD3D-7AED-1DEE-07C45BA188C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51513" y="3491595"/>
              <a:ext cx="0" cy="431186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0074E486-23D9-33F2-4A31-DD2F1832735A}"/>
                </a:ext>
              </a:extLst>
            </p:cNvPr>
            <p:cNvCxnSpPr>
              <a:cxnSpLocks/>
            </p:cNvCxnSpPr>
            <p:nvPr/>
          </p:nvCxnSpPr>
          <p:spPr>
            <a:xfrm>
              <a:off x="5777555" y="5647982"/>
              <a:ext cx="216671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A57EE0A3-F08B-B7B4-0E34-A96424DA21B2}"/>
                </a:ext>
              </a:extLst>
            </p:cNvPr>
            <p:cNvCxnSpPr>
              <a:cxnSpLocks/>
            </p:cNvCxnSpPr>
            <p:nvPr/>
          </p:nvCxnSpPr>
          <p:spPr>
            <a:xfrm>
              <a:off x="5777555" y="2566498"/>
              <a:ext cx="0" cy="420512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94912D64-DE26-16DF-FE33-DB5069D9A3B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340062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A1D0420A-8936-7956-3A54-23B9BA34291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315773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5F1B2EA3-BF1F-76C1-D263-D72157025E2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291485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1864650F-1685-DC22-4638-43B25ACDC2D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267196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80313276-9E7E-3253-2B74-F02E34F98C4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242907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966B26F8-CBF8-D28D-57AB-16A11120954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218618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BDFA6063-1F4F-0B57-A61C-A0542287B18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194329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AB8DA0C9-7D41-338C-262E-72642994353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170040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59EE92F0-AA4E-01FB-6706-D0E6587DC3C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147724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B0DC2AB4-9B6A-3B6B-23CE-BB0238E78FB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339915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B81B8E1B-2A1E-B800-257D-CC668AF318A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3156268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2DD6214F-BE3F-04A7-0DDD-CCEF067065E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291337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34D7DD6A-1A4E-F2B1-CE21-31305FA26C3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267049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66526D0E-2F1E-89A3-9811-FF27F08F15E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242760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6175C1B3-1E93-4D99-CF4E-F53DD266087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218471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29193330-D824-8172-2224-ED420E66C7A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194182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D37C61C9-838B-A8E7-4833-59675B94BD2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169893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716C73C9-DD39-E82D-B5E4-61E6A9BBF5F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147577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B8D82B13-0799-D408-9A9D-759EE3DFD78B}"/>
                </a:ext>
              </a:extLst>
            </p:cNvPr>
            <p:cNvCxnSpPr>
              <a:cxnSpLocks/>
            </p:cNvCxnSpPr>
            <p:nvPr/>
          </p:nvCxnSpPr>
          <p:spPr>
            <a:xfrm>
              <a:off x="6023621" y="2564020"/>
              <a:ext cx="0" cy="420760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CF02AE2E-8187-B58B-011F-A2CDF5CE7049}"/>
                </a:ext>
              </a:extLst>
            </p:cNvPr>
            <p:cNvCxnSpPr>
              <a:cxnSpLocks/>
            </p:cNvCxnSpPr>
            <p:nvPr/>
          </p:nvCxnSpPr>
          <p:spPr>
            <a:xfrm>
              <a:off x="6266509" y="2564020"/>
              <a:ext cx="0" cy="420760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6CB45EBA-8939-D559-3419-FA02F555333C}"/>
                </a:ext>
              </a:extLst>
            </p:cNvPr>
            <p:cNvCxnSpPr>
              <a:cxnSpLocks/>
            </p:cNvCxnSpPr>
            <p:nvPr/>
          </p:nvCxnSpPr>
          <p:spPr>
            <a:xfrm>
              <a:off x="6509398" y="2564020"/>
              <a:ext cx="0" cy="420760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F735AF00-9749-E6F7-7182-1E8E2D8EA175}"/>
                </a:ext>
              </a:extLst>
            </p:cNvPr>
            <p:cNvCxnSpPr>
              <a:cxnSpLocks/>
            </p:cNvCxnSpPr>
            <p:nvPr/>
          </p:nvCxnSpPr>
          <p:spPr>
            <a:xfrm>
              <a:off x="6752287" y="2564020"/>
              <a:ext cx="0" cy="420760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0025C828-8136-1269-C9A2-A4892183E9F4}"/>
                </a:ext>
              </a:extLst>
            </p:cNvPr>
            <p:cNvCxnSpPr>
              <a:cxnSpLocks/>
            </p:cNvCxnSpPr>
            <p:nvPr/>
          </p:nvCxnSpPr>
          <p:spPr>
            <a:xfrm>
              <a:off x="6995176" y="2564020"/>
              <a:ext cx="0" cy="420760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2D3B1D83-FBEC-D705-A104-01406539F05B}"/>
                </a:ext>
              </a:extLst>
            </p:cNvPr>
            <p:cNvCxnSpPr>
              <a:cxnSpLocks/>
            </p:cNvCxnSpPr>
            <p:nvPr/>
          </p:nvCxnSpPr>
          <p:spPr>
            <a:xfrm>
              <a:off x="7238065" y="2564020"/>
              <a:ext cx="0" cy="420760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946BC51B-A05E-96CE-76A4-6D8730AB06DD}"/>
                </a:ext>
              </a:extLst>
            </p:cNvPr>
            <p:cNvCxnSpPr>
              <a:cxnSpLocks/>
            </p:cNvCxnSpPr>
            <p:nvPr/>
          </p:nvCxnSpPr>
          <p:spPr>
            <a:xfrm>
              <a:off x="7480954" y="2564020"/>
              <a:ext cx="0" cy="420760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75E7E456-EDF3-6C83-E13D-90A1E45C112A}"/>
                </a:ext>
              </a:extLst>
            </p:cNvPr>
            <p:cNvCxnSpPr>
              <a:cxnSpLocks/>
            </p:cNvCxnSpPr>
            <p:nvPr/>
          </p:nvCxnSpPr>
          <p:spPr>
            <a:xfrm>
              <a:off x="7723841" y="2564020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ECEA7031-31B5-998C-160C-7774501AB892}"/>
                </a:ext>
              </a:extLst>
            </p:cNvPr>
            <p:cNvCxnSpPr>
              <a:cxnSpLocks/>
            </p:cNvCxnSpPr>
            <p:nvPr/>
          </p:nvCxnSpPr>
          <p:spPr>
            <a:xfrm>
              <a:off x="8190336" y="2562043"/>
              <a:ext cx="0" cy="420957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9FC748B7-39DB-6036-7FEE-D954F8D3C3D2}"/>
                </a:ext>
              </a:extLst>
            </p:cNvPr>
            <p:cNvCxnSpPr>
              <a:cxnSpLocks/>
            </p:cNvCxnSpPr>
            <p:nvPr/>
          </p:nvCxnSpPr>
          <p:spPr>
            <a:xfrm>
              <a:off x="8433224" y="2562043"/>
              <a:ext cx="0" cy="420957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A07FE2D6-8269-F42B-6DFD-26B69750635B}"/>
                </a:ext>
              </a:extLst>
            </p:cNvPr>
            <p:cNvCxnSpPr>
              <a:cxnSpLocks/>
            </p:cNvCxnSpPr>
            <p:nvPr/>
          </p:nvCxnSpPr>
          <p:spPr>
            <a:xfrm>
              <a:off x="8676113" y="2562043"/>
              <a:ext cx="0" cy="420957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7BFFC1C9-6DEB-0DEC-2B9D-C3E9817D032A}"/>
                </a:ext>
              </a:extLst>
            </p:cNvPr>
            <p:cNvCxnSpPr>
              <a:cxnSpLocks/>
            </p:cNvCxnSpPr>
            <p:nvPr/>
          </p:nvCxnSpPr>
          <p:spPr>
            <a:xfrm>
              <a:off x="8919002" y="2562043"/>
              <a:ext cx="0" cy="420957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A9F2E2E7-23D5-C46E-7833-4A6EA1D0ECB6}"/>
                </a:ext>
              </a:extLst>
            </p:cNvPr>
            <p:cNvCxnSpPr>
              <a:cxnSpLocks/>
            </p:cNvCxnSpPr>
            <p:nvPr/>
          </p:nvCxnSpPr>
          <p:spPr>
            <a:xfrm>
              <a:off x="9161891" y="2562043"/>
              <a:ext cx="0" cy="420957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572E01A7-B997-1FE6-9F89-12ECC44005E9}"/>
                </a:ext>
              </a:extLst>
            </p:cNvPr>
            <p:cNvCxnSpPr>
              <a:cxnSpLocks/>
            </p:cNvCxnSpPr>
            <p:nvPr/>
          </p:nvCxnSpPr>
          <p:spPr>
            <a:xfrm>
              <a:off x="9404780" y="2562043"/>
              <a:ext cx="0" cy="420957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9C9CC71A-ABAD-22C8-FDCA-EC4384E847D9}"/>
                </a:ext>
              </a:extLst>
            </p:cNvPr>
            <p:cNvCxnSpPr>
              <a:cxnSpLocks/>
            </p:cNvCxnSpPr>
            <p:nvPr/>
          </p:nvCxnSpPr>
          <p:spPr>
            <a:xfrm>
              <a:off x="9647669" y="2562043"/>
              <a:ext cx="0" cy="420957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B466F1E4-31F3-EF58-4C4B-400EA04CB2A4}"/>
                </a:ext>
              </a:extLst>
            </p:cNvPr>
            <p:cNvCxnSpPr>
              <a:cxnSpLocks/>
            </p:cNvCxnSpPr>
            <p:nvPr/>
          </p:nvCxnSpPr>
          <p:spPr>
            <a:xfrm>
              <a:off x="5780733" y="4722044"/>
              <a:ext cx="432671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8CA3FB15-3C65-E901-F242-7773872ECD01}"/>
                </a:ext>
              </a:extLst>
            </p:cNvPr>
            <p:cNvSpPr txBox="1"/>
            <p:nvPr/>
          </p:nvSpPr>
          <p:spPr>
            <a:xfrm>
              <a:off x="6994858" y="6121296"/>
              <a:ext cx="4757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-2</a:t>
              </a:r>
            </a:p>
          </p:txBody>
        </p:sp>
        <p:sp>
          <p:nvSpPr>
            <p:cNvPr id="75" name="CuadroTexto 74">
              <a:extLst>
                <a:ext uri="{FF2B5EF4-FFF2-40B4-BE49-F238E27FC236}">
                  <a16:creationId xmlns:a16="http://schemas.microsoft.com/office/drawing/2014/main" id="{EC97B3D3-01B1-F500-4A50-1DFEC098EEDE}"/>
                </a:ext>
              </a:extLst>
            </p:cNvPr>
            <p:cNvSpPr txBox="1"/>
            <p:nvPr/>
          </p:nvSpPr>
          <p:spPr>
            <a:xfrm>
              <a:off x="7966168" y="6115324"/>
              <a:ext cx="475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4185B4B0-78A4-3C61-907A-364B9307594E}"/>
                </a:ext>
              </a:extLst>
            </p:cNvPr>
            <p:cNvCxnSpPr>
              <a:cxnSpLocks/>
            </p:cNvCxnSpPr>
            <p:nvPr/>
          </p:nvCxnSpPr>
          <p:spPr>
            <a:xfrm>
              <a:off x="7237821" y="6047986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cto 79">
              <a:extLst>
                <a:ext uri="{FF2B5EF4-FFF2-40B4-BE49-F238E27FC236}">
                  <a16:creationId xmlns:a16="http://schemas.microsoft.com/office/drawing/2014/main" id="{6C029564-75A2-8608-F768-9CFC7354681D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59" y="6047986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0CFE7184-8346-E47F-F25A-98E46B515E7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28554" y="3692050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C61DA661-CA6C-D24D-2475-381A7B5B48E7}"/>
                </a:ext>
              </a:extLst>
            </p:cNvPr>
            <p:cNvCxnSpPr>
              <a:cxnSpLocks/>
            </p:cNvCxnSpPr>
            <p:nvPr/>
          </p:nvCxnSpPr>
          <p:spPr>
            <a:xfrm>
              <a:off x="5711311" y="6112694"/>
              <a:ext cx="4396137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986D9B4B-DDEC-F4A4-15BB-D9ABC1A5FE54}"/>
                </a:ext>
              </a:extLst>
            </p:cNvPr>
            <p:cNvCxnSpPr>
              <a:cxnSpLocks/>
            </p:cNvCxnSpPr>
            <p:nvPr/>
          </p:nvCxnSpPr>
          <p:spPr>
            <a:xfrm>
              <a:off x="7731732" y="2562044"/>
              <a:ext cx="0" cy="4315006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4BB6D651-D47B-708B-9A65-3893847DBCD3}"/>
                </a:ext>
              </a:extLst>
            </p:cNvPr>
            <p:cNvCxnSpPr>
              <a:cxnSpLocks/>
            </p:cNvCxnSpPr>
            <p:nvPr/>
          </p:nvCxnSpPr>
          <p:spPr>
            <a:xfrm>
              <a:off x="9876269" y="2555771"/>
              <a:ext cx="0" cy="421585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05947108-7727-7EBC-1A0B-7BE2B6B19C0C}"/>
                </a:ext>
              </a:extLst>
            </p:cNvPr>
            <p:cNvCxnSpPr>
              <a:cxnSpLocks/>
            </p:cNvCxnSpPr>
            <p:nvPr/>
          </p:nvCxnSpPr>
          <p:spPr>
            <a:xfrm>
              <a:off x="10082130" y="2553851"/>
              <a:ext cx="0" cy="421777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ector recto 115">
              <a:extLst>
                <a:ext uri="{FF2B5EF4-FFF2-40B4-BE49-F238E27FC236}">
                  <a16:creationId xmlns:a16="http://schemas.microsoft.com/office/drawing/2014/main" id="{D2C82B34-1531-DFFB-5FCB-BA9195F143E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24457" y="492423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CuadroTexto 116">
              <a:extLst>
                <a:ext uri="{FF2B5EF4-FFF2-40B4-BE49-F238E27FC236}">
                  <a16:creationId xmlns:a16="http://schemas.microsoft.com/office/drawing/2014/main" id="{1E10DA14-A9F0-2F6A-4BAA-C2F4AFFF884F}"/>
                </a:ext>
              </a:extLst>
            </p:cNvPr>
            <p:cNvSpPr txBox="1"/>
            <p:nvPr/>
          </p:nvSpPr>
          <p:spPr>
            <a:xfrm>
              <a:off x="7507578" y="4784753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5</a:t>
              </a:r>
            </a:p>
          </p:txBody>
        </p:sp>
        <p:sp>
          <p:nvSpPr>
            <p:cNvPr id="139" name="CuadroTexto 138">
              <a:extLst>
                <a:ext uri="{FF2B5EF4-FFF2-40B4-BE49-F238E27FC236}">
                  <a16:creationId xmlns:a16="http://schemas.microsoft.com/office/drawing/2014/main" id="{54AAA982-A229-8AAD-E8A3-FBCFB6DDB023}"/>
                </a:ext>
              </a:extLst>
            </p:cNvPr>
            <p:cNvSpPr txBox="1"/>
            <p:nvPr/>
          </p:nvSpPr>
          <p:spPr>
            <a:xfrm>
              <a:off x="6509398" y="6115324"/>
              <a:ext cx="4757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-4</a:t>
              </a:r>
            </a:p>
          </p:txBody>
        </p:sp>
        <p:cxnSp>
          <p:nvCxnSpPr>
            <p:cNvPr id="140" name="Conector recto 139">
              <a:extLst>
                <a:ext uri="{FF2B5EF4-FFF2-40B4-BE49-F238E27FC236}">
                  <a16:creationId xmlns:a16="http://schemas.microsoft.com/office/drawing/2014/main" id="{412604D5-330A-4A5A-D34C-99056E971C08}"/>
                </a:ext>
              </a:extLst>
            </p:cNvPr>
            <p:cNvCxnSpPr>
              <a:cxnSpLocks/>
            </p:cNvCxnSpPr>
            <p:nvPr/>
          </p:nvCxnSpPr>
          <p:spPr>
            <a:xfrm>
              <a:off x="6752361" y="604201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CuadroTexto 140">
              <a:extLst>
                <a:ext uri="{FF2B5EF4-FFF2-40B4-BE49-F238E27FC236}">
                  <a16:creationId xmlns:a16="http://schemas.microsoft.com/office/drawing/2014/main" id="{D5090DE9-7492-EAB2-0F06-4A8729EA934C}"/>
                </a:ext>
              </a:extLst>
            </p:cNvPr>
            <p:cNvSpPr txBox="1"/>
            <p:nvPr/>
          </p:nvSpPr>
          <p:spPr>
            <a:xfrm>
              <a:off x="8460436" y="6119407"/>
              <a:ext cx="475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142" name="Conector recto 141">
              <a:extLst>
                <a:ext uri="{FF2B5EF4-FFF2-40B4-BE49-F238E27FC236}">
                  <a16:creationId xmlns:a16="http://schemas.microsoft.com/office/drawing/2014/main" id="{3EB4894D-677D-4DC1-04C7-99AF5CF085FB}"/>
                </a:ext>
              </a:extLst>
            </p:cNvPr>
            <p:cNvCxnSpPr>
              <a:cxnSpLocks/>
            </p:cNvCxnSpPr>
            <p:nvPr/>
          </p:nvCxnSpPr>
          <p:spPr>
            <a:xfrm>
              <a:off x="8683027" y="6052069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CuadroTexto 142">
              <a:extLst>
                <a:ext uri="{FF2B5EF4-FFF2-40B4-BE49-F238E27FC236}">
                  <a16:creationId xmlns:a16="http://schemas.microsoft.com/office/drawing/2014/main" id="{A2E366E2-1D4E-8979-B20C-BDB8F1021035}"/>
                </a:ext>
              </a:extLst>
            </p:cNvPr>
            <p:cNvSpPr txBox="1"/>
            <p:nvPr/>
          </p:nvSpPr>
          <p:spPr>
            <a:xfrm>
              <a:off x="7398313" y="6125812"/>
              <a:ext cx="475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0</a:t>
              </a:r>
            </a:p>
          </p:txBody>
        </p:sp>
        <p:cxnSp>
          <p:nvCxnSpPr>
            <p:cNvPr id="144" name="Conector recto 143">
              <a:extLst>
                <a:ext uri="{FF2B5EF4-FFF2-40B4-BE49-F238E27FC236}">
                  <a16:creationId xmlns:a16="http://schemas.microsoft.com/office/drawing/2014/main" id="{6EFD998F-51EA-976A-384F-754F3005A07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27879" y="250518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CuadroTexto 144">
              <a:extLst>
                <a:ext uri="{FF2B5EF4-FFF2-40B4-BE49-F238E27FC236}">
                  <a16:creationId xmlns:a16="http://schemas.microsoft.com/office/drawing/2014/main" id="{CECD5876-919C-1871-88FC-ACB683A62492}"/>
                </a:ext>
              </a:extLst>
            </p:cNvPr>
            <p:cNvSpPr txBox="1"/>
            <p:nvPr/>
          </p:nvSpPr>
          <p:spPr>
            <a:xfrm>
              <a:off x="7256999" y="2365700"/>
              <a:ext cx="445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15</a:t>
              </a:r>
            </a:p>
          </p:txBody>
        </p:sp>
        <p:sp>
          <p:nvSpPr>
            <p:cNvPr id="86" name="CuadroTexto 85">
              <a:extLst>
                <a:ext uri="{FF2B5EF4-FFF2-40B4-BE49-F238E27FC236}">
                  <a16:creationId xmlns:a16="http://schemas.microsoft.com/office/drawing/2014/main" id="{74FE29E3-6EBB-D938-F4A1-C90FCDC68B2C}"/>
                </a:ext>
              </a:extLst>
            </p:cNvPr>
            <p:cNvSpPr txBox="1"/>
            <p:nvPr/>
          </p:nvSpPr>
          <p:spPr>
            <a:xfrm>
              <a:off x="7260055" y="3552568"/>
              <a:ext cx="445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68ABEC3E-A5C6-52B8-A88A-45EA8274ED5D}"/>
                  </a:ext>
                </a:extLst>
              </p:cNvPr>
              <p:cNvSpPr txBox="1"/>
              <p:nvPr/>
            </p:nvSpPr>
            <p:spPr>
              <a:xfrm>
                <a:off x="1067811" y="4025907"/>
                <a:ext cx="1055673" cy="28321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E61E3F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68ABEC3E-A5C6-52B8-A88A-45EA8274E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811" y="4025907"/>
                <a:ext cx="1055673" cy="283219"/>
              </a:xfrm>
              <a:prstGeom prst="rect">
                <a:avLst/>
              </a:prstGeom>
              <a:blipFill>
                <a:blip r:embed="rId6"/>
                <a:stretch>
                  <a:fillRect b="-19231"/>
                </a:stretch>
              </a:blipFill>
              <a:ln w="28575">
                <a:solidFill>
                  <a:srgbClr val="E61E3F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F8DC4115-5068-CA13-F52C-E8CBD7117AD7}"/>
                  </a:ext>
                </a:extLst>
              </p:cNvPr>
              <p:cNvSpPr txBox="1"/>
              <p:nvPr/>
            </p:nvSpPr>
            <p:spPr>
              <a:xfrm>
                <a:off x="4263104" y="5660518"/>
                <a:ext cx="2320235" cy="28321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s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</m:oMath>
                  </m:oMathPara>
                </a14:m>
                <a:endParaRPr lang="es-E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F8DC4115-5068-CA13-F52C-E8CBD7117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104" y="5660518"/>
                <a:ext cx="2320235" cy="283219"/>
              </a:xfrm>
              <a:prstGeom prst="rect">
                <a:avLst/>
              </a:prstGeom>
              <a:blipFill>
                <a:blip r:embed="rId7"/>
                <a:stretch>
                  <a:fillRect b="-21569"/>
                </a:stretch>
              </a:blipFill>
              <a:ln w="2857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!Marco 10">
            <a:extLst>
              <a:ext uri="{FF2B5EF4-FFF2-40B4-BE49-F238E27FC236}">
                <a16:creationId xmlns:a16="http://schemas.microsoft.com/office/drawing/2014/main" id="{5B0C2000-FB6E-5559-FD98-E5F0FE75E8CC}"/>
              </a:ext>
            </a:extLst>
          </p:cNvPr>
          <p:cNvSpPr/>
          <p:nvPr/>
        </p:nvSpPr>
        <p:spPr>
          <a:xfrm>
            <a:off x="5845183" y="1468480"/>
            <a:ext cx="6092792" cy="93683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!CuadroTexto 1">
                <a:extLst>
                  <a:ext uri="{FF2B5EF4-FFF2-40B4-BE49-F238E27FC236}">
                    <a16:creationId xmlns:a16="http://schemas.microsoft.com/office/drawing/2014/main" id="{54E894CA-F425-D094-5245-961AFEADCCC6}"/>
                  </a:ext>
                </a:extLst>
              </p:cNvPr>
              <p:cNvSpPr txBox="1"/>
              <p:nvPr/>
            </p:nvSpPr>
            <p:spPr>
              <a:xfrm>
                <a:off x="5845182" y="1475767"/>
                <a:ext cx="6092793" cy="929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Las funciones 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𝒂𝒙</m:t>
                        </m:r>
                      </m:e>
                      <m:sup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𝒃𝒙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s-ES" b="1" dirty="0"/>
                  <a:t>, con 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s-ES" b="1" dirty="0"/>
                  <a:t>, llamadas cuadráticas, se representan todas ellas mediante parábolas con el eje paralelo al eje </a:t>
                </a:r>
                <a:r>
                  <a:rPr lang="es-ES" b="1" i="1" dirty="0"/>
                  <a:t>Y</a:t>
                </a:r>
                <a:r>
                  <a:rPr lang="es-ES" b="1" dirty="0"/>
                  <a:t>.</a:t>
                </a:r>
                <a:endParaRPr lang="es-ES" sz="3600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0" name="!CuadroTexto 1">
                <a:extLst>
                  <a:ext uri="{FF2B5EF4-FFF2-40B4-BE49-F238E27FC236}">
                    <a16:creationId xmlns:a16="http://schemas.microsoft.com/office/drawing/2014/main" id="{54E894CA-F425-D094-5245-961AFEADC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182" y="1475767"/>
                <a:ext cx="6092793" cy="929550"/>
              </a:xfrm>
              <a:prstGeom prst="rect">
                <a:avLst/>
              </a:prstGeom>
              <a:blipFill>
                <a:blip r:embed="rId8"/>
                <a:stretch>
                  <a:fillRect l="-901" t="-2614" b="-915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!Marco 10">
            <a:extLst>
              <a:ext uri="{FF2B5EF4-FFF2-40B4-BE49-F238E27FC236}">
                <a16:creationId xmlns:a16="http://schemas.microsoft.com/office/drawing/2014/main" id="{49893E3A-80EB-1E50-A7C5-E6A07CEE0B07}"/>
              </a:ext>
            </a:extLst>
          </p:cNvPr>
          <p:cNvSpPr/>
          <p:nvPr/>
        </p:nvSpPr>
        <p:spPr>
          <a:xfrm>
            <a:off x="5845182" y="2567060"/>
            <a:ext cx="6092792" cy="971809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!CuadroTexto 1">
            <a:extLst>
              <a:ext uri="{FF2B5EF4-FFF2-40B4-BE49-F238E27FC236}">
                <a16:creationId xmlns:a16="http://schemas.microsoft.com/office/drawing/2014/main" id="{6AA50CCA-0CB5-2E29-908A-33DF60D5B3D1}"/>
              </a:ext>
            </a:extLst>
          </p:cNvPr>
          <p:cNvSpPr txBox="1"/>
          <p:nvPr/>
        </p:nvSpPr>
        <p:spPr>
          <a:xfrm>
            <a:off x="5845181" y="2574348"/>
            <a:ext cx="6092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Su forma (anchura) y su orientación (hacia abajo, hacia arriba) dependen del coeficiente </a:t>
            </a:r>
            <a:r>
              <a:rPr lang="es-ES" b="1" i="1" dirty="0"/>
              <a:t>a </a:t>
            </a:r>
            <a:r>
              <a:rPr lang="es-ES" b="1" dirty="0"/>
              <a:t>de </a:t>
            </a:r>
            <a:r>
              <a:rPr lang="es-ES" b="1" i="1" dirty="0"/>
              <a:t>x</a:t>
            </a:r>
            <a:r>
              <a:rPr lang="es-ES" b="1" dirty="0"/>
              <a:t>2, del siguiente modo: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!CuadroTexto 1">
            <a:extLst>
              <a:ext uri="{FF2B5EF4-FFF2-40B4-BE49-F238E27FC236}">
                <a16:creationId xmlns:a16="http://schemas.microsoft.com/office/drawing/2014/main" id="{BB0CA462-078B-BC00-1927-BD8B9E4E6DC5}"/>
              </a:ext>
            </a:extLst>
          </p:cNvPr>
          <p:cNvSpPr txBox="1"/>
          <p:nvPr/>
        </p:nvSpPr>
        <p:spPr>
          <a:xfrm>
            <a:off x="5848426" y="3740378"/>
            <a:ext cx="6092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Si </a:t>
            </a:r>
            <a:r>
              <a:rPr lang="es-ES" i="1" dirty="0"/>
              <a:t>a </a:t>
            </a:r>
            <a:r>
              <a:rPr lang="es-ES" dirty="0"/>
              <a:t>&gt; 0, tiene las ramas hacia arriba, y si </a:t>
            </a:r>
            <a:r>
              <a:rPr lang="es-ES" i="1" dirty="0"/>
              <a:t>a </a:t>
            </a:r>
            <a:r>
              <a:rPr lang="es-ES" dirty="0"/>
              <a:t>&lt; 0, hacia abajo.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4" name="!CuadroTexto 1">
            <a:extLst>
              <a:ext uri="{FF2B5EF4-FFF2-40B4-BE49-F238E27FC236}">
                <a16:creationId xmlns:a16="http://schemas.microsoft.com/office/drawing/2014/main" id="{CADFD467-5954-6A90-A636-597D47EA35CE}"/>
              </a:ext>
            </a:extLst>
          </p:cNvPr>
          <p:cNvSpPr txBox="1"/>
          <p:nvPr/>
        </p:nvSpPr>
        <p:spPr>
          <a:xfrm>
            <a:off x="5845181" y="4492736"/>
            <a:ext cx="6092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Cuanto mayor sea |</a:t>
            </a:r>
            <a:r>
              <a:rPr lang="es-ES" i="1" dirty="0"/>
              <a:t>a</a:t>
            </a:r>
            <a:r>
              <a:rPr lang="es-ES" dirty="0"/>
              <a:t>|, más estrecha será la parábola.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29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1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/>
      <p:bldP spid="81" grpId="0" animBg="1"/>
      <p:bldP spid="10" grpId="0"/>
      <p:bldP spid="83" grpId="0" animBg="1"/>
      <p:bldP spid="85" grpId="0" animBg="1"/>
      <p:bldP spid="89" grpId="0" animBg="1"/>
      <p:bldP spid="90" grpId="0"/>
      <p:bldP spid="91" grpId="0" animBg="1"/>
      <p:bldP spid="92" grpId="0"/>
      <p:bldP spid="93" grpId="0"/>
      <p:bldP spid="94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</TotalTime>
  <Words>187</Words>
  <Application>Microsoft Office PowerPoint</Application>
  <PresentationFormat>Panorámica</PresentationFormat>
  <Paragraphs>52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82</cp:revision>
  <dcterms:created xsi:type="dcterms:W3CDTF">2024-08-18T18:48:07Z</dcterms:created>
  <dcterms:modified xsi:type="dcterms:W3CDTF">2024-10-22T19:25:08Z</dcterms:modified>
</cp:coreProperties>
</file>