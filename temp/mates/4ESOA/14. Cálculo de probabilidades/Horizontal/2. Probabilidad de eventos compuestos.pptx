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E61E3F"/>
    <a:srgbClr val="960119"/>
    <a:srgbClr val="FE8A9D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44" autoAdjust="0"/>
    <p:restoredTop sz="96238" autoAdjust="0"/>
  </p:normalViewPr>
  <p:slideViewPr>
    <p:cSldViewPr snapToGrid="0">
      <p:cViewPr>
        <p:scale>
          <a:sx n="100" d="100"/>
          <a:sy n="100" d="100"/>
        </p:scale>
        <p:origin x="36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Cálculo de Probabilidades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21478297"/>
                  </p:ext>
                </p:extLst>
              </p:nvPr>
            </p:nvGraphicFramePr>
            <p:xfrm>
              <a:off x="545068" y="3031597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068" y="3031597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39" y="3617047"/>
            <a:ext cx="7970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COMPOSICIÓN DE EVENTOS INDEPENDIENTES</a:t>
            </a:r>
          </a:p>
        </p:txBody>
      </p:sp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39129728"/>
                  </p:ext>
                </p:extLst>
              </p:nvPr>
            </p:nvGraphicFramePr>
            <p:xfrm>
              <a:off x="545068" y="3658986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3658986"/>
                <a:ext cx="342798" cy="431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06274745"/>
                  </p:ext>
                </p:extLst>
              </p:nvPr>
            </p:nvGraphicFramePr>
            <p:xfrm>
              <a:off x="545068" y="2393552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2393552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PROBABILIDAD DE EVENTOS SIMPLES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823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PROBABILIDAD DE EVENTOS COMPUESTOS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A0C8091-5F22-A7B0-0D2E-5FB4D0F1FD8B}"/>
              </a:ext>
            </a:extLst>
          </p:cNvPr>
          <p:cNvSpPr txBox="1"/>
          <p:nvPr/>
        </p:nvSpPr>
        <p:spPr>
          <a:xfrm>
            <a:off x="861140" y="4262873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COMPOSICIÓN DE EVENTOS DEPENDIENTES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6E74DB84-0F81-6104-3D95-C720BAEACC4B}"/>
              </a:ext>
            </a:extLst>
          </p:cNvPr>
          <p:cNvSpPr/>
          <p:nvPr/>
        </p:nvSpPr>
        <p:spPr>
          <a:xfrm>
            <a:off x="7336286" y="4662201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82AD831F-9CD6-19D7-6BC7-8869FB3066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39129728"/>
                  </p:ext>
                </p:extLst>
              </p:nvPr>
            </p:nvGraphicFramePr>
            <p:xfrm>
              <a:off x="545068" y="4304812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82AD831F-9CD6-19D7-6BC7-8869FB3066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4304812"/>
                <a:ext cx="342798" cy="4318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750"/>
                            </p:stCondLst>
                            <p:childTnLst>
                              <p:par>
                                <p:cTn id="51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8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7" grpId="0" animBg="1"/>
      <p:bldP spid="16" grpId="0"/>
      <p:bldP spid="17" grpId="0"/>
      <p:bldP spid="17" grpId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0" y="33951"/>
            <a:ext cx="1140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Cálculo de Probabilidades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4" name="!Marco 10">
            <a:extLst>
              <a:ext uri="{FF2B5EF4-FFF2-40B4-BE49-F238E27FC236}">
                <a16:creationId xmlns:a16="http://schemas.microsoft.com/office/drawing/2014/main" id="{5780A807-D93E-7BE3-C19A-4F7A69386F24}"/>
              </a:ext>
            </a:extLst>
          </p:cNvPr>
          <p:cNvSpPr/>
          <p:nvPr/>
        </p:nvSpPr>
        <p:spPr>
          <a:xfrm>
            <a:off x="535084" y="1092513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63035EE5-A379-BD03-95F8-297CB5E6A809}"/>
              </a:ext>
            </a:extLst>
          </p:cNvPr>
          <p:cNvSpPr txBox="1"/>
          <p:nvPr/>
        </p:nvSpPr>
        <p:spPr>
          <a:xfrm>
            <a:off x="535084" y="109980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o más experiencias aleatorias se llaman </a:t>
            </a:r>
            <a:r>
              <a:rPr lang="es-ES" sz="2000" b="1" dirty="0">
                <a:solidFill>
                  <a:srgbClr val="4E95D9"/>
                </a:solidFill>
              </a:rPr>
              <a:t>independientes</a:t>
            </a:r>
            <a:r>
              <a:rPr lang="es-ES" sz="2000" b="1" dirty="0"/>
              <a:t> cuando el resultado de cada una de ellas no depende del resultado de las demás. </a:t>
            </a:r>
          </a:p>
        </p:txBody>
      </p:sp>
      <p:sp>
        <p:nvSpPr>
          <p:cNvPr id="12" name="!Marco 10">
            <a:extLst>
              <a:ext uri="{FF2B5EF4-FFF2-40B4-BE49-F238E27FC236}">
                <a16:creationId xmlns:a16="http://schemas.microsoft.com/office/drawing/2014/main" id="{FE2BD54D-513A-64AE-AAC3-F862036257B7}"/>
              </a:ext>
            </a:extLst>
          </p:cNvPr>
          <p:cNvSpPr/>
          <p:nvPr/>
        </p:nvSpPr>
        <p:spPr>
          <a:xfrm>
            <a:off x="535084" y="1920329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447A0612-E766-A259-7165-B135325E96A7}"/>
              </a:ext>
            </a:extLst>
          </p:cNvPr>
          <p:cNvSpPr txBox="1"/>
          <p:nvPr/>
        </p:nvSpPr>
        <p:spPr>
          <a:xfrm>
            <a:off x="535084" y="192761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o más experiencias aleatorias se llaman </a:t>
            </a:r>
            <a:r>
              <a:rPr lang="es-ES" sz="2000" b="1" dirty="0">
                <a:solidFill>
                  <a:srgbClr val="4E95D9"/>
                </a:solidFill>
              </a:rPr>
              <a:t>dependientes</a:t>
            </a:r>
            <a:r>
              <a:rPr lang="es-ES" sz="2000" b="1" dirty="0"/>
              <a:t> cuando el resultado de cada una de ellas influye en las probabilidades de las siguientes.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CCBFF8F-F3A6-1299-B937-23D25265E4F0}"/>
              </a:ext>
            </a:extLst>
          </p:cNvPr>
          <p:cNvSpPr txBox="1"/>
          <p:nvPr/>
        </p:nvSpPr>
        <p:spPr>
          <a:xfrm>
            <a:off x="535084" y="2848148"/>
            <a:ext cx="9809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dirty="0"/>
              <a:t>La probabilidad de sacar un as de la baraja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BF375A8-AFF1-FA45-3652-B97A875F9CF0}"/>
              </a:ext>
            </a:extLst>
          </p:cNvPr>
          <p:cNvSpPr txBox="1"/>
          <p:nvPr/>
        </p:nvSpPr>
        <p:spPr>
          <a:xfrm>
            <a:off x="590269" y="5918834"/>
            <a:ext cx="237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4 ases/40 cartas</a:t>
            </a:r>
          </a:p>
        </p:txBody>
      </p:sp>
      <p:pic>
        <p:nvPicPr>
          <p:cNvPr id="16" name="Imagen 15" descr="Imagen que contiene Icono&#10;&#10;Descripción generada automáticamente">
            <a:extLst>
              <a:ext uri="{FF2B5EF4-FFF2-40B4-BE49-F238E27FC236}">
                <a16:creationId xmlns:a16="http://schemas.microsoft.com/office/drawing/2014/main" id="{E1A04A24-1F71-FBA8-E6E8-284D22CDF9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39" y="3534176"/>
            <a:ext cx="1691986" cy="2279482"/>
          </a:xfrm>
          <a:prstGeom prst="rect">
            <a:avLst/>
          </a:prstGeom>
        </p:spPr>
      </p:pic>
      <p:pic>
        <p:nvPicPr>
          <p:cNvPr id="21" name="Imagen 20" descr="Icono&#10;&#10;Descripción generada automáticamente con confianza baja">
            <a:extLst>
              <a:ext uri="{FF2B5EF4-FFF2-40B4-BE49-F238E27FC236}">
                <a16:creationId xmlns:a16="http://schemas.microsoft.com/office/drawing/2014/main" id="{156DBBEE-C493-EDA7-03C4-BC18C3F2A1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78" y="3500293"/>
            <a:ext cx="1723425" cy="2318127"/>
          </a:xfrm>
          <a:prstGeom prst="rect">
            <a:avLst/>
          </a:prstGeom>
        </p:spPr>
      </p:pic>
      <p:pic>
        <p:nvPicPr>
          <p:cNvPr id="11" name="Imagen 10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696769C0-3444-BA82-EEA8-BCE14E19D9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40" y="3409676"/>
            <a:ext cx="1860826" cy="248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2" grpId="0" animBg="1"/>
      <p:bldP spid="13" grpId="0"/>
      <p:bldP spid="14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A7683-3A0A-4FE3-A814-1F3C972C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4A9A59F-2F46-8D81-75E0-94AD7FCB725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B6F53606-7233-E850-50B0-F96EB0EDD3F5}"/>
              </a:ext>
            </a:extLst>
          </p:cNvPr>
          <p:cNvSpPr txBox="1"/>
          <p:nvPr/>
        </p:nvSpPr>
        <p:spPr>
          <a:xfrm>
            <a:off x="3600" y="33951"/>
            <a:ext cx="1140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Cálculo de Probabilidades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F7455DE2-0771-E43F-B896-8D98386CB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748427C-4CB6-2E71-C894-03D1D5688AAE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7ED76F5-4F75-1545-255D-7DB255380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B70BDF5B-DF40-5E9B-5DDF-B1AE8BDCD6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776452BF-56EC-3BD9-A388-2BB55CC25B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4" name="!Marco 10">
            <a:extLst>
              <a:ext uri="{FF2B5EF4-FFF2-40B4-BE49-F238E27FC236}">
                <a16:creationId xmlns:a16="http://schemas.microsoft.com/office/drawing/2014/main" id="{913AC891-D6DF-06E7-1D4D-D7E3BEA1BE00}"/>
              </a:ext>
            </a:extLst>
          </p:cNvPr>
          <p:cNvSpPr/>
          <p:nvPr/>
        </p:nvSpPr>
        <p:spPr>
          <a:xfrm>
            <a:off x="535084" y="1092513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A55A8256-0D06-B53F-6940-CE9B5305CCC3}"/>
              </a:ext>
            </a:extLst>
          </p:cNvPr>
          <p:cNvSpPr txBox="1"/>
          <p:nvPr/>
        </p:nvSpPr>
        <p:spPr>
          <a:xfrm>
            <a:off x="535084" y="109980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o más experiencias aleatorias se llaman </a:t>
            </a:r>
            <a:r>
              <a:rPr lang="es-ES" sz="2000" b="1" dirty="0">
                <a:solidFill>
                  <a:srgbClr val="4E95D9"/>
                </a:solidFill>
              </a:rPr>
              <a:t>independientes</a:t>
            </a:r>
            <a:r>
              <a:rPr lang="es-ES" sz="2000" b="1" dirty="0"/>
              <a:t> cuando el resultado de cada una de ellas no depende del resultado de las demás. </a:t>
            </a:r>
          </a:p>
        </p:txBody>
      </p:sp>
      <p:sp>
        <p:nvSpPr>
          <p:cNvPr id="12" name="!Marco 10">
            <a:extLst>
              <a:ext uri="{FF2B5EF4-FFF2-40B4-BE49-F238E27FC236}">
                <a16:creationId xmlns:a16="http://schemas.microsoft.com/office/drawing/2014/main" id="{19AA0662-B17B-58CF-C397-6142B5D93B3D}"/>
              </a:ext>
            </a:extLst>
          </p:cNvPr>
          <p:cNvSpPr/>
          <p:nvPr/>
        </p:nvSpPr>
        <p:spPr>
          <a:xfrm>
            <a:off x="535084" y="1920329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95C0A0AC-E015-27E6-8B42-7BB38653943C}"/>
              </a:ext>
            </a:extLst>
          </p:cNvPr>
          <p:cNvSpPr txBox="1"/>
          <p:nvPr/>
        </p:nvSpPr>
        <p:spPr>
          <a:xfrm>
            <a:off x="535084" y="192761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o más experiencias aleatorias se llaman </a:t>
            </a:r>
            <a:r>
              <a:rPr lang="es-ES" sz="2000" b="1" dirty="0">
                <a:solidFill>
                  <a:srgbClr val="4E95D9"/>
                </a:solidFill>
              </a:rPr>
              <a:t>dependientes</a:t>
            </a:r>
            <a:r>
              <a:rPr lang="es-ES" sz="2000" b="1" dirty="0"/>
              <a:t> cuando el resultado de cada una de ellas influye en las probabilidades de las siguientes.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4AEE0C5-85A5-B057-E9DF-9719BD1260C6}"/>
              </a:ext>
            </a:extLst>
          </p:cNvPr>
          <p:cNvSpPr txBox="1"/>
          <p:nvPr/>
        </p:nvSpPr>
        <p:spPr>
          <a:xfrm>
            <a:off x="535084" y="2848148"/>
            <a:ext cx="9809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dirty="0"/>
              <a:t>La probabilidad de sacar un as de la baraja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FB3B606-CF63-EF7F-CCC2-CB8390C1A308}"/>
              </a:ext>
            </a:extLst>
          </p:cNvPr>
          <p:cNvSpPr txBox="1"/>
          <p:nvPr/>
        </p:nvSpPr>
        <p:spPr>
          <a:xfrm>
            <a:off x="590269" y="5918834"/>
            <a:ext cx="237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4 ases/40 cartas</a:t>
            </a:r>
          </a:p>
        </p:txBody>
      </p:sp>
      <p:pic>
        <p:nvPicPr>
          <p:cNvPr id="16" name="Imagen 15" descr="Imagen que contiene Icono&#10;&#10;Descripción generada automáticamente">
            <a:extLst>
              <a:ext uri="{FF2B5EF4-FFF2-40B4-BE49-F238E27FC236}">
                <a16:creationId xmlns:a16="http://schemas.microsoft.com/office/drawing/2014/main" id="{F75BAE4A-CDB0-EEEF-9FE9-AA540103EB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39" y="3534176"/>
            <a:ext cx="1691986" cy="2279482"/>
          </a:xfrm>
          <a:prstGeom prst="rect">
            <a:avLst/>
          </a:prstGeom>
        </p:spPr>
      </p:pic>
      <p:pic>
        <p:nvPicPr>
          <p:cNvPr id="21" name="Imagen 20" descr="Icono&#10;&#10;Descripción generada automáticamente con confianza baja">
            <a:extLst>
              <a:ext uri="{FF2B5EF4-FFF2-40B4-BE49-F238E27FC236}">
                <a16:creationId xmlns:a16="http://schemas.microsoft.com/office/drawing/2014/main" id="{4F65C0C4-5380-83FE-6DCE-A2B92551F6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78" y="3500293"/>
            <a:ext cx="1723425" cy="2318127"/>
          </a:xfrm>
          <a:prstGeom prst="rect">
            <a:avLst/>
          </a:prstGeom>
        </p:spPr>
      </p:pic>
      <p:pic>
        <p:nvPicPr>
          <p:cNvPr id="11" name="Imagen 10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70EB2196-01AA-86FF-9A89-850B034758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40" y="3409676"/>
            <a:ext cx="1860826" cy="248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721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5CB7B-EBCE-89C1-9AE8-BB3B8655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6A5D29E-7F83-CE34-21D5-B7447344D9E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0CDF260-6C28-CC75-C24F-7279663E88D0}"/>
              </a:ext>
            </a:extLst>
          </p:cNvPr>
          <p:cNvSpPr txBox="1"/>
          <p:nvPr/>
        </p:nvSpPr>
        <p:spPr>
          <a:xfrm>
            <a:off x="3600" y="33951"/>
            <a:ext cx="1140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Cálculo de Probabilidades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4E1336BA-CB44-57D8-34C5-AB6CA9DF6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7619350-5C2E-19A6-3830-259AE1463A43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17F8A88D-5261-41DD-FE18-BBC2F37FB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A0C0AA6E-9BC6-1E86-948D-E1DEEBCACD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FB3BFBD6-473B-6B86-218D-A6F346DFCB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4" name="!Marco 10">
            <a:extLst>
              <a:ext uri="{FF2B5EF4-FFF2-40B4-BE49-F238E27FC236}">
                <a16:creationId xmlns:a16="http://schemas.microsoft.com/office/drawing/2014/main" id="{1F5A9FD2-EEE1-C1ED-5052-D6D8AA7085EF}"/>
              </a:ext>
            </a:extLst>
          </p:cNvPr>
          <p:cNvSpPr/>
          <p:nvPr/>
        </p:nvSpPr>
        <p:spPr>
          <a:xfrm>
            <a:off x="535084" y="1092513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C49517A4-4AF3-6D3C-217E-6FC16B8AB846}"/>
              </a:ext>
            </a:extLst>
          </p:cNvPr>
          <p:cNvSpPr txBox="1"/>
          <p:nvPr/>
        </p:nvSpPr>
        <p:spPr>
          <a:xfrm>
            <a:off x="535084" y="109980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o más experiencias aleatorias se llaman </a:t>
            </a:r>
            <a:r>
              <a:rPr lang="es-ES" sz="2000" b="1" dirty="0">
                <a:solidFill>
                  <a:srgbClr val="4E95D9"/>
                </a:solidFill>
              </a:rPr>
              <a:t>independientes</a:t>
            </a:r>
            <a:r>
              <a:rPr lang="es-ES" sz="2000" b="1" dirty="0"/>
              <a:t> cuando el resultado de cada una de ellas no depende del resultado de las demás. </a:t>
            </a:r>
          </a:p>
        </p:txBody>
      </p:sp>
      <p:sp>
        <p:nvSpPr>
          <p:cNvPr id="12" name="!Marco 10">
            <a:extLst>
              <a:ext uri="{FF2B5EF4-FFF2-40B4-BE49-F238E27FC236}">
                <a16:creationId xmlns:a16="http://schemas.microsoft.com/office/drawing/2014/main" id="{6F891855-25CA-0CD8-C2B2-3776CF7A9660}"/>
              </a:ext>
            </a:extLst>
          </p:cNvPr>
          <p:cNvSpPr/>
          <p:nvPr/>
        </p:nvSpPr>
        <p:spPr>
          <a:xfrm>
            <a:off x="535084" y="1920329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268CB547-D460-8CBD-12DF-A49192B6BBC2}"/>
              </a:ext>
            </a:extLst>
          </p:cNvPr>
          <p:cNvSpPr txBox="1"/>
          <p:nvPr/>
        </p:nvSpPr>
        <p:spPr>
          <a:xfrm>
            <a:off x="535084" y="192761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o más experiencias aleatorias se llaman </a:t>
            </a:r>
            <a:r>
              <a:rPr lang="es-ES" sz="2000" b="1" dirty="0">
                <a:solidFill>
                  <a:srgbClr val="4E95D9"/>
                </a:solidFill>
              </a:rPr>
              <a:t>dependientes</a:t>
            </a:r>
            <a:r>
              <a:rPr lang="es-ES" sz="2000" b="1" dirty="0"/>
              <a:t> cuando el resultado de cada una de ellas influye en las probabilidades de las siguientes.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0F84B19-9635-47D8-6F76-1870460299CD}"/>
              </a:ext>
            </a:extLst>
          </p:cNvPr>
          <p:cNvSpPr txBox="1"/>
          <p:nvPr/>
        </p:nvSpPr>
        <p:spPr>
          <a:xfrm>
            <a:off x="535084" y="2848148"/>
            <a:ext cx="9809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dirty="0"/>
              <a:t>La probabilidad de sacar un as de la baraja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2095F56-7C2B-73CF-26EB-8F280FC33DA1}"/>
              </a:ext>
            </a:extLst>
          </p:cNvPr>
          <p:cNvSpPr txBox="1"/>
          <p:nvPr/>
        </p:nvSpPr>
        <p:spPr>
          <a:xfrm>
            <a:off x="590269" y="5918834"/>
            <a:ext cx="237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3 ases/39 cartas</a:t>
            </a:r>
          </a:p>
        </p:txBody>
      </p:sp>
      <p:pic>
        <p:nvPicPr>
          <p:cNvPr id="16" name="Imagen 15" descr="Imagen que contiene Icono&#10;&#10;Descripción generada automáticamente">
            <a:extLst>
              <a:ext uri="{FF2B5EF4-FFF2-40B4-BE49-F238E27FC236}">
                <a16:creationId xmlns:a16="http://schemas.microsoft.com/office/drawing/2014/main" id="{0ABA1969-E5CF-12F8-76CF-8AD457A67E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039" y="3534176"/>
            <a:ext cx="1691986" cy="2279482"/>
          </a:xfrm>
          <a:prstGeom prst="rect">
            <a:avLst/>
          </a:prstGeom>
        </p:spPr>
      </p:pic>
      <p:pic>
        <p:nvPicPr>
          <p:cNvPr id="21" name="Imagen 20" descr="Icono&#10;&#10;Descripción generada automáticamente con confianza baja">
            <a:extLst>
              <a:ext uri="{FF2B5EF4-FFF2-40B4-BE49-F238E27FC236}">
                <a16:creationId xmlns:a16="http://schemas.microsoft.com/office/drawing/2014/main" id="{23FB10AA-10EA-7A1E-AB26-F346D7CE18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78" y="3500293"/>
            <a:ext cx="1723425" cy="2318127"/>
          </a:xfrm>
          <a:prstGeom prst="rect">
            <a:avLst/>
          </a:prstGeom>
        </p:spPr>
      </p:pic>
      <p:pic>
        <p:nvPicPr>
          <p:cNvPr id="11" name="Imagen 10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41075FB9-B34F-1BE0-CA5D-C0187A34B0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40" y="3409676"/>
            <a:ext cx="1860826" cy="24898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23EC9F3-C8A0-FA0E-C120-C78481F116EC}"/>
                  </a:ext>
                </a:extLst>
              </p:cNvPr>
              <p:cNvSpPr txBox="1"/>
              <p:nvPr/>
            </p:nvSpPr>
            <p:spPr>
              <a:xfrm>
                <a:off x="7173871" y="3500293"/>
                <a:ext cx="1625573" cy="57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1)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𝐴𝑠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23EC9F3-C8A0-FA0E-C120-C78481F11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871" y="3500293"/>
                <a:ext cx="1625573" cy="5771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28491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01EE79-A94D-531B-9AE7-8AAC97115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05420E1-143B-7ABD-F5D9-E121EBD2295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6438445-CC7B-EED0-0103-93500F897604}"/>
              </a:ext>
            </a:extLst>
          </p:cNvPr>
          <p:cNvSpPr txBox="1"/>
          <p:nvPr/>
        </p:nvSpPr>
        <p:spPr>
          <a:xfrm>
            <a:off x="3600" y="33951"/>
            <a:ext cx="1140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Cálculo de Probabilidades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24410394-BCB7-0C10-7417-C725A0F43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D936089-8C60-30B4-7F5E-0E3BBC341095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7A7D52DB-C29B-62D0-69FE-4A63443886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161A07F9-DE9F-3462-8E79-6CBF037F5B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2CE8379B-9E8D-5A01-CE00-1B5F802710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4" name="!Marco 10">
            <a:extLst>
              <a:ext uri="{FF2B5EF4-FFF2-40B4-BE49-F238E27FC236}">
                <a16:creationId xmlns:a16="http://schemas.microsoft.com/office/drawing/2014/main" id="{D5057146-CBBC-7637-CA39-D3DE2D94CDA6}"/>
              </a:ext>
            </a:extLst>
          </p:cNvPr>
          <p:cNvSpPr/>
          <p:nvPr/>
        </p:nvSpPr>
        <p:spPr>
          <a:xfrm>
            <a:off x="535084" y="1092513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0F55B84-06FC-2EAE-FD59-AF94B1DA09BA}"/>
              </a:ext>
            </a:extLst>
          </p:cNvPr>
          <p:cNvSpPr txBox="1"/>
          <p:nvPr/>
        </p:nvSpPr>
        <p:spPr>
          <a:xfrm>
            <a:off x="535084" y="109980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o más experiencias aleatorias se llaman </a:t>
            </a:r>
            <a:r>
              <a:rPr lang="es-ES" sz="2000" b="1" dirty="0">
                <a:solidFill>
                  <a:srgbClr val="4E95D9"/>
                </a:solidFill>
              </a:rPr>
              <a:t>independientes</a:t>
            </a:r>
            <a:r>
              <a:rPr lang="es-ES" sz="2000" b="1" dirty="0"/>
              <a:t> cuando el resultado de cada una de ellas no depende del resultado de las demás. </a:t>
            </a:r>
          </a:p>
        </p:txBody>
      </p:sp>
      <p:sp>
        <p:nvSpPr>
          <p:cNvPr id="12" name="!Marco 10">
            <a:extLst>
              <a:ext uri="{FF2B5EF4-FFF2-40B4-BE49-F238E27FC236}">
                <a16:creationId xmlns:a16="http://schemas.microsoft.com/office/drawing/2014/main" id="{AF0E9B72-C106-0FB8-50CF-D3C7AC7F467B}"/>
              </a:ext>
            </a:extLst>
          </p:cNvPr>
          <p:cNvSpPr/>
          <p:nvPr/>
        </p:nvSpPr>
        <p:spPr>
          <a:xfrm>
            <a:off x="535084" y="1920329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DB2C775B-E7E3-B9D9-40C4-7B01210BFE45}"/>
              </a:ext>
            </a:extLst>
          </p:cNvPr>
          <p:cNvSpPr txBox="1"/>
          <p:nvPr/>
        </p:nvSpPr>
        <p:spPr>
          <a:xfrm>
            <a:off x="535084" y="192761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o más experiencias aleatorias se llaman </a:t>
            </a:r>
            <a:r>
              <a:rPr lang="es-ES" sz="2000" b="1" dirty="0">
                <a:solidFill>
                  <a:srgbClr val="4E95D9"/>
                </a:solidFill>
              </a:rPr>
              <a:t>dependientes</a:t>
            </a:r>
            <a:r>
              <a:rPr lang="es-ES" sz="2000" b="1" dirty="0"/>
              <a:t> cuando el resultado de cada una de ellas influye en las probabilidades de las siguientes.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965D71A-71C0-AA1F-CC47-E24E033BE882}"/>
              </a:ext>
            </a:extLst>
          </p:cNvPr>
          <p:cNvSpPr txBox="1"/>
          <p:nvPr/>
        </p:nvSpPr>
        <p:spPr>
          <a:xfrm>
            <a:off x="535084" y="2848148"/>
            <a:ext cx="9809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dirty="0"/>
              <a:t>La probabilidad de sacar un as de la baraja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934C403-06A8-45A5-05C0-BD698081C0D8}"/>
              </a:ext>
            </a:extLst>
          </p:cNvPr>
          <p:cNvSpPr txBox="1"/>
          <p:nvPr/>
        </p:nvSpPr>
        <p:spPr>
          <a:xfrm>
            <a:off x="590269" y="5918834"/>
            <a:ext cx="237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4 ases/40 cartas</a:t>
            </a:r>
          </a:p>
        </p:txBody>
      </p:sp>
      <p:pic>
        <p:nvPicPr>
          <p:cNvPr id="16" name="Imagen 15" descr="Imagen que contiene Icono&#10;&#10;Descripción generada automáticamente">
            <a:extLst>
              <a:ext uri="{FF2B5EF4-FFF2-40B4-BE49-F238E27FC236}">
                <a16:creationId xmlns:a16="http://schemas.microsoft.com/office/drawing/2014/main" id="{184E9DBD-C3F7-2C4C-E566-2883088FFE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39" y="3534176"/>
            <a:ext cx="1691986" cy="2279482"/>
          </a:xfrm>
          <a:prstGeom prst="rect">
            <a:avLst/>
          </a:prstGeom>
        </p:spPr>
      </p:pic>
      <p:pic>
        <p:nvPicPr>
          <p:cNvPr id="21" name="Imagen 20" descr="Icono&#10;&#10;Descripción generada automáticamente con confianza baja">
            <a:extLst>
              <a:ext uri="{FF2B5EF4-FFF2-40B4-BE49-F238E27FC236}">
                <a16:creationId xmlns:a16="http://schemas.microsoft.com/office/drawing/2014/main" id="{6CA7F19C-79F1-058B-3933-44EC4CD0B3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78" y="3500293"/>
            <a:ext cx="1723425" cy="2318127"/>
          </a:xfrm>
          <a:prstGeom prst="rect">
            <a:avLst/>
          </a:prstGeom>
        </p:spPr>
      </p:pic>
      <p:pic>
        <p:nvPicPr>
          <p:cNvPr id="11" name="Imagen 10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00D191C0-5A15-2DD2-8B95-4234FD9CF4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40" y="3409676"/>
            <a:ext cx="1860826" cy="24898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2DD2594-504F-C52A-FF9B-0228F12C54C9}"/>
                  </a:ext>
                </a:extLst>
              </p:cNvPr>
              <p:cNvSpPr txBox="1"/>
              <p:nvPr/>
            </p:nvSpPr>
            <p:spPr>
              <a:xfrm>
                <a:off x="7173871" y="3500293"/>
                <a:ext cx="1625573" cy="57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1)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𝐴𝑠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2DD2594-504F-C52A-FF9B-0228F12C5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871" y="3500293"/>
                <a:ext cx="1625573" cy="5771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8823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C7D9E8-EBDA-4FE8-DECA-71D903FD8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3BBE809-3D41-3AB9-0E8D-CBA38CE0E40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FF62FDCB-1A5C-3E53-70A1-CF81F5087B8F}"/>
              </a:ext>
            </a:extLst>
          </p:cNvPr>
          <p:cNvSpPr txBox="1"/>
          <p:nvPr/>
        </p:nvSpPr>
        <p:spPr>
          <a:xfrm>
            <a:off x="3600" y="33951"/>
            <a:ext cx="1140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Cálculo de Probabilidades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047F4E4B-5575-5148-1441-D394CF3F5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BBF5D68-2B1D-8ACB-8CD1-E18EDF78A151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854583BE-8261-167E-5086-EFE38C9DC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BB91C5C1-00E8-105A-933B-8BD11F537F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4CDC6B3A-E99A-3660-69C6-25CC6114F8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4" name="!Marco 10">
            <a:extLst>
              <a:ext uri="{FF2B5EF4-FFF2-40B4-BE49-F238E27FC236}">
                <a16:creationId xmlns:a16="http://schemas.microsoft.com/office/drawing/2014/main" id="{A1FEB5BC-6CFC-4AF0-CA07-2F6B266FD703}"/>
              </a:ext>
            </a:extLst>
          </p:cNvPr>
          <p:cNvSpPr/>
          <p:nvPr/>
        </p:nvSpPr>
        <p:spPr>
          <a:xfrm>
            <a:off x="535084" y="1092513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97319643-A206-8851-6203-02DDE6E5DB53}"/>
              </a:ext>
            </a:extLst>
          </p:cNvPr>
          <p:cNvSpPr txBox="1"/>
          <p:nvPr/>
        </p:nvSpPr>
        <p:spPr>
          <a:xfrm>
            <a:off x="535084" y="109980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o más experiencias aleatorias se llaman </a:t>
            </a:r>
            <a:r>
              <a:rPr lang="es-ES" sz="2000" b="1" dirty="0">
                <a:solidFill>
                  <a:srgbClr val="4E95D9"/>
                </a:solidFill>
              </a:rPr>
              <a:t>independientes</a:t>
            </a:r>
            <a:r>
              <a:rPr lang="es-ES" sz="2000" b="1" dirty="0"/>
              <a:t> cuando el resultado de cada una de ellas no depende del resultado de las demás. </a:t>
            </a:r>
          </a:p>
        </p:txBody>
      </p:sp>
      <p:sp>
        <p:nvSpPr>
          <p:cNvPr id="12" name="!Marco 10">
            <a:extLst>
              <a:ext uri="{FF2B5EF4-FFF2-40B4-BE49-F238E27FC236}">
                <a16:creationId xmlns:a16="http://schemas.microsoft.com/office/drawing/2014/main" id="{410CE528-4ACA-A53B-94CF-7FA37A3CD3EC}"/>
              </a:ext>
            </a:extLst>
          </p:cNvPr>
          <p:cNvSpPr/>
          <p:nvPr/>
        </p:nvSpPr>
        <p:spPr>
          <a:xfrm>
            <a:off x="535084" y="1920329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C10675FC-EBF4-141B-291D-9666F3BDFFFC}"/>
              </a:ext>
            </a:extLst>
          </p:cNvPr>
          <p:cNvSpPr txBox="1"/>
          <p:nvPr/>
        </p:nvSpPr>
        <p:spPr>
          <a:xfrm>
            <a:off x="535084" y="192761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o más experiencias aleatorias se llaman </a:t>
            </a:r>
            <a:r>
              <a:rPr lang="es-ES" sz="2000" b="1" dirty="0">
                <a:solidFill>
                  <a:srgbClr val="4E95D9"/>
                </a:solidFill>
              </a:rPr>
              <a:t>dependientes</a:t>
            </a:r>
            <a:r>
              <a:rPr lang="es-ES" sz="2000" b="1" dirty="0"/>
              <a:t> cuando el resultado de cada una de ellas influye en las probabilidades de las siguientes.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5878534-EC16-9AC5-56D4-6A2E5311C38B}"/>
              </a:ext>
            </a:extLst>
          </p:cNvPr>
          <p:cNvSpPr txBox="1"/>
          <p:nvPr/>
        </p:nvSpPr>
        <p:spPr>
          <a:xfrm>
            <a:off x="535084" y="2848148"/>
            <a:ext cx="9809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dirty="0"/>
              <a:t>La probabilidad de sacar un as de la baraja </a:t>
            </a:r>
          </a:p>
        </p:txBody>
      </p:sp>
      <p:pic>
        <p:nvPicPr>
          <p:cNvPr id="16" name="Imagen 15" descr="Imagen que contiene Icono&#10;&#10;Descripción generada automáticamente">
            <a:extLst>
              <a:ext uri="{FF2B5EF4-FFF2-40B4-BE49-F238E27FC236}">
                <a16:creationId xmlns:a16="http://schemas.microsoft.com/office/drawing/2014/main" id="{C4071B1E-2D6C-A4A9-AB5C-79DD81CB7B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39" y="3534176"/>
            <a:ext cx="1691986" cy="2279482"/>
          </a:xfrm>
          <a:prstGeom prst="rect">
            <a:avLst/>
          </a:prstGeom>
        </p:spPr>
      </p:pic>
      <p:pic>
        <p:nvPicPr>
          <p:cNvPr id="21" name="Imagen 20" descr="Icono&#10;&#10;Descripción generada automáticamente con confianza baja">
            <a:extLst>
              <a:ext uri="{FF2B5EF4-FFF2-40B4-BE49-F238E27FC236}">
                <a16:creationId xmlns:a16="http://schemas.microsoft.com/office/drawing/2014/main" id="{722CAC71-F3AD-3BBD-59C7-C4661E091E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428" y="3500293"/>
            <a:ext cx="1723425" cy="2318127"/>
          </a:xfrm>
          <a:prstGeom prst="rect">
            <a:avLst/>
          </a:prstGeom>
        </p:spPr>
      </p:pic>
      <p:pic>
        <p:nvPicPr>
          <p:cNvPr id="11" name="Imagen 10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F20837EE-48E4-03CB-2B2C-92B1A729D7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40" y="3409676"/>
            <a:ext cx="1860826" cy="24898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4A7E9066-FFDD-223E-B6AA-BA9A6CB69E2F}"/>
                  </a:ext>
                </a:extLst>
              </p:cNvPr>
              <p:cNvSpPr txBox="1"/>
              <p:nvPr/>
            </p:nvSpPr>
            <p:spPr>
              <a:xfrm>
                <a:off x="7173871" y="3500293"/>
                <a:ext cx="1625573" cy="57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1)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𝐴𝑠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4A7E9066-FFDD-223E-B6AA-BA9A6CB69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871" y="3500293"/>
                <a:ext cx="1625573" cy="5771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F066DFE-AC80-1B18-9028-741C81A541D1}"/>
                  </a:ext>
                </a:extLst>
              </p:cNvPr>
              <p:cNvSpPr txBox="1"/>
              <p:nvPr/>
            </p:nvSpPr>
            <p:spPr>
              <a:xfrm>
                <a:off x="7173871" y="4387951"/>
                <a:ext cx="1625573" cy="57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2)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𝐴𝑠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F066DFE-AC80-1B18-9028-741C81A54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871" y="4387951"/>
                <a:ext cx="1625573" cy="577146"/>
              </a:xfrm>
              <a:prstGeom prst="rect">
                <a:avLst/>
              </a:prstGeom>
              <a:blipFill>
                <a:blip r:embed="rId10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uadroTexto 17">
            <a:extLst>
              <a:ext uri="{FF2B5EF4-FFF2-40B4-BE49-F238E27FC236}">
                <a16:creationId xmlns:a16="http://schemas.microsoft.com/office/drawing/2014/main" id="{0E3D38B0-830F-2669-4D35-ED4A375F2018}"/>
              </a:ext>
            </a:extLst>
          </p:cNvPr>
          <p:cNvSpPr txBox="1"/>
          <p:nvPr/>
        </p:nvSpPr>
        <p:spPr>
          <a:xfrm>
            <a:off x="8748712" y="3863511"/>
            <a:ext cx="31908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SUCESOS INDEPENDIENTES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7A67584-C42D-D3AC-64D2-08746D26301F}"/>
              </a:ext>
            </a:extLst>
          </p:cNvPr>
          <p:cNvSpPr txBox="1"/>
          <p:nvPr/>
        </p:nvSpPr>
        <p:spPr>
          <a:xfrm>
            <a:off x="590269" y="5918834"/>
            <a:ext cx="237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3 ases/39 cartas</a:t>
            </a:r>
          </a:p>
        </p:txBody>
      </p:sp>
    </p:spTree>
    <p:extLst>
      <p:ext uri="{BB962C8B-B14F-4D97-AF65-F5344CB8AC3E}">
        <p14:creationId xmlns:p14="http://schemas.microsoft.com/office/powerpoint/2010/main" val="36406047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F7B2-56BE-8FFB-677F-C935947D0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E66F9A7-8B7B-4261-4463-7CA6A291D9E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BD2A5AD8-C527-F9E7-A6FD-F97E0A67FE24}"/>
              </a:ext>
            </a:extLst>
          </p:cNvPr>
          <p:cNvSpPr txBox="1"/>
          <p:nvPr/>
        </p:nvSpPr>
        <p:spPr>
          <a:xfrm>
            <a:off x="3600" y="33951"/>
            <a:ext cx="1140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Cálculo de Probabilidades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FC8898AB-C9BF-9F80-A308-9E8AFD1F3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13C7599-0586-1F66-2DC9-974C1D2A873B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3207DEE0-833B-4B67-A00E-023EDE36B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3002864-EED5-3959-E2A9-396B40D8B1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547F3025-E22D-365A-FF86-D3946AC1FC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4" name="!Marco 10">
            <a:extLst>
              <a:ext uri="{FF2B5EF4-FFF2-40B4-BE49-F238E27FC236}">
                <a16:creationId xmlns:a16="http://schemas.microsoft.com/office/drawing/2014/main" id="{6FBF1FA1-8A6C-1728-95F3-9E6FAA5C6A9D}"/>
              </a:ext>
            </a:extLst>
          </p:cNvPr>
          <p:cNvSpPr/>
          <p:nvPr/>
        </p:nvSpPr>
        <p:spPr>
          <a:xfrm>
            <a:off x="535084" y="1092513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39B2E24A-C0EA-C591-57B8-F3D1DC04A7F6}"/>
              </a:ext>
            </a:extLst>
          </p:cNvPr>
          <p:cNvSpPr txBox="1"/>
          <p:nvPr/>
        </p:nvSpPr>
        <p:spPr>
          <a:xfrm>
            <a:off x="535084" y="109980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o más experiencias aleatorias se llaman </a:t>
            </a:r>
            <a:r>
              <a:rPr lang="es-ES" sz="2000" b="1" dirty="0">
                <a:solidFill>
                  <a:srgbClr val="4E95D9"/>
                </a:solidFill>
              </a:rPr>
              <a:t>independientes</a:t>
            </a:r>
            <a:r>
              <a:rPr lang="es-ES" sz="2000" b="1" dirty="0"/>
              <a:t> cuando el resultado de cada una de ellas no depende del resultado de las demás. </a:t>
            </a:r>
          </a:p>
        </p:txBody>
      </p:sp>
      <p:sp>
        <p:nvSpPr>
          <p:cNvPr id="12" name="!Marco 10">
            <a:extLst>
              <a:ext uri="{FF2B5EF4-FFF2-40B4-BE49-F238E27FC236}">
                <a16:creationId xmlns:a16="http://schemas.microsoft.com/office/drawing/2014/main" id="{8E547318-C586-9B97-24B4-49D67F0E62CC}"/>
              </a:ext>
            </a:extLst>
          </p:cNvPr>
          <p:cNvSpPr/>
          <p:nvPr/>
        </p:nvSpPr>
        <p:spPr>
          <a:xfrm>
            <a:off x="535084" y="1920329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F5316239-6576-8DF9-24BD-D8CEEF0AB850}"/>
              </a:ext>
            </a:extLst>
          </p:cNvPr>
          <p:cNvSpPr txBox="1"/>
          <p:nvPr/>
        </p:nvSpPr>
        <p:spPr>
          <a:xfrm>
            <a:off x="535084" y="192761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o más experiencias aleatorias se llaman </a:t>
            </a:r>
            <a:r>
              <a:rPr lang="es-ES" sz="2000" b="1" dirty="0">
                <a:solidFill>
                  <a:srgbClr val="4E95D9"/>
                </a:solidFill>
              </a:rPr>
              <a:t>dependientes</a:t>
            </a:r>
            <a:r>
              <a:rPr lang="es-ES" sz="2000" b="1" dirty="0"/>
              <a:t> cuando el resultado de cada una de ellas influye en las probabilidades de las siguientes.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8A1BFC6-2C16-B644-DB10-F01D959FFB9C}"/>
              </a:ext>
            </a:extLst>
          </p:cNvPr>
          <p:cNvSpPr txBox="1"/>
          <p:nvPr/>
        </p:nvSpPr>
        <p:spPr>
          <a:xfrm>
            <a:off x="535084" y="2848148"/>
            <a:ext cx="9809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dirty="0"/>
              <a:t>La probabilidad de sacar un as de la baraja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36ECD14-C053-6B5D-5ED5-C1695174A23A}"/>
              </a:ext>
            </a:extLst>
          </p:cNvPr>
          <p:cNvSpPr txBox="1"/>
          <p:nvPr/>
        </p:nvSpPr>
        <p:spPr>
          <a:xfrm>
            <a:off x="590269" y="5918834"/>
            <a:ext cx="237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4 ases/40 cartas</a:t>
            </a:r>
          </a:p>
        </p:txBody>
      </p:sp>
      <p:pic>
        <p:nvPicPr>
          <p:cNvPr id="16" name="Imagen 15" descr="Imagen que contiene Icono&#10;&#10;Descripción generada automáticamente">
            <a:extLst>
              <a:ext uri="{FF2B5EF4-FFF2-40B4-BE49-F238E27FC236}">
                <a16:creationId xmlns:a16="http://schemas.microsoft.com/office/drawing/2014/main" id="{DAA60B65-13F4-2B10-2257-AAA3E6EB8E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39" y="3534176"/>
            <a:ext cx="1691986" cy="2279482"/>
          </a:xfrm>
          <a:prstGeom prst="rect">
            <a:avLst/>
          </a:prstGeom>
        </p:spPr>
      </p:pic>
      <p:pic>
        <p:nvPicPr>
          <p:cNvPr id="21" name="Imagen 20" descr="Icono&#10;&#10;Descripción generada automáticamente con confianza baja">
            <a:extLst>
              <a:ext uri="{FF2B5EF4-FFF2-40B4-BE49-F238E27FC236}">
                <a16:creationId xmlns:a16="http://schemas.microsoft.com/office/drawing/2014/main" id="{364A505B-9CC0-42AF-3CEC-A7420D53B9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78" y="3500293"/>
            <a:ext cx="1723425" cy="2318127"/>
          </a:xfrm>
          <a:prstGeom prst="rect">
            <a:avLst/>
          </a:prstGeom>
        </p:spPr>
      </p:pic>
      <p:pic>
        <p:nvPicPr>
          <p:cNvPr id="11" name="Imagen 10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9F7503E8-2A5E-55E3-78FC-292B09B82F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40" y="3409676"/>
            <a:ext cx="1860826" cy="248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652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2D868-0005-F14A-371F-C87342DF4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491EAED-90AE-C63D-F334-86F528602BC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71F1C4FA-3185-0E93-5227-32FE0A195864}"/>
              </a:ext>
            </a:extLst>
          </p:cNvPr>
          <p:cNvSpPr txBox="1"/>
          <p:nvPr/>
        </p:nvSpPr>
        <p:spPr>
          <a:xfrm>
            <a:off x="3600" y="33951"/>
            <a:ext cx="1140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Cálculo de Probabilidades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2223FAA6-394D-2B11-C8A3-87958F7C7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2A8ABE1-26BE-F317-13FE-DEA5939A0B63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8156C276-01E3-7148-9A91-075E63FDF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28BDC45E-A93E-AC9D-97DB-B2F09115C2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4F13A496-5AC4-5F9E-C333-8048B1119E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4" name="!Marco 10">
            <a:extLst>
              <a:ext uri="{FF2B5EF4-FFF2-40B4-BE49-F238E27FC236}">
                <a16:creationId xmlns:a16="http://schemas.microsoft.com/office/drawing/2014/main" id="{ADFA4DFF-F70D-C19C-E1B1-96A0BCA05308}"/>
              </a:ext>
            </a:extLst>
          </p:cNvPr>
          <p:cNvSpPr/>
          <p:nvPr/>
        </p:nvSpPr>
        <p:spPr>
          <a:xfrm>
            <a:off x="535084" y="1092513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4EBD2FC2-CCC9-E9E9-627F-FB657E0354BE}"/>
              </a:ext>
            </a:extLst>
          </p:cNvPr>
          <p:cNvSpPr txBox="1"/>
          <p:nvPr/>
        </p:nvSpPr>
        <p:spPr>
          <a:xfrm>
            <a:off x="535084" y="109980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o más experiencias aleatorias se llaman </a:t>
            </a:r>
            <a:r>
              <a:rPr lang="es-ES" sz="2000" b="1" dirty="0">
                <a:solidFill>
                  <a:srgbClr val="4E95D9"/>
                </a:solidFill>
              </a:rPr>
              <a:t>independientes</a:t>
            </a:r>
            <a:r>
              <a:rPr lang="es-ES" sz="2000" b="1" dirty="0"/>
              <a:t> cuando el resultado de cada una de ellas no depende del resultado de las demás. </a:t>
            </a:r>
          </a:p>
        </p:txBody>
      </p:sp>
      <p:sp>
        <p:nvSpPr>
          <p:cNvPr id="12" name="!Marco 10">
            <a:extLst>
              <a:ext uri="{FF2B5EF4-FFF2-40B4-BE49-F238E27FC236}">
                <a16:creationId xmlns:a16="http://schemas.microsoft.com/office/drawing/2014/main" id="{6182F66E-8793-5197-C66D-9AFA5BC7D137}"/>
              </a:ext>
            </a:extLst>
          </p:cNvPr>
          <p:cNvSpPr/>
          <p:nvPr/>
        </p:nvSpPr>
        <p:spPr>
          <a:xfrm>
            <a:off x="535084" y="1920329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EA65B5D8-1D14-1BF3-2979-F7980E71805C}"/>
              </a:ext>
            </a:extLst>
          </p:cNvPr>
          <p:cNvSpPr txBox="1"/>
          <p:nvPr/>
        </p:nvSpPr>
        <p:spPr>
          <a:xfrm>
            <a:off x="535084" y="192761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o más experiencias aleatorias se llaman </a:t>
            </a:r>
            <a:r>
              <a:rPr lang="es-ES" sz="2000" b="1" dirty="0">
                <a:solidFill>
                  <a:srgbClr val="4E95D9"/>
                </a:solidFill>
              </a:rPr>
              <a:t>dependientes</a:t>
            </a:r>
            <a:r>
              <a:rPr lang="es-ES" sz="2000" b="1" dirty="0"/>
              <a:t> cuando el resultado de cada una de ellas influye en las probabilidades de las siguientes.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8033D9A-0BBC-64E4-62A7-A73C5455F8C2}"/>
              </a:ext>
            </a:extLst>
          </p:cNvPr>
          <p:cNvSpPr txBox="1"/>
          <p:nvPr/>
        </p:nvSpPr>
        <p:spPr>
          <a:xfrm>
            <a:off x="535084" y="2848148"/>
            <a:ext cx="9809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dirty="0"/>
              <a:t>La probabilidad de sacar un as de la baraja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8FF1058-FE0F-8839-C973-CBA35071CE89}"/>
              </a:ext>
            </a:extLst>
          </p:cNvPr>
          <p:cNvSpPr txBox="1"/>
          <p:nvPr/>
        </p:nvSpPr>
        <p:spPr>
          <a:xfrm>
            <a:off x="590269" y="5918834"/>
            <a:ext cx="237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3 ases/39 cartas</a:t>
            </a:r>
          </a:p>
        </p:txBody>
      </p:sp>
      <p:pic>
        <p:nvPicPr>
          <p:cNvPr id="16" name="Imagen 15" descr="Imagen que contiene Icono&#10;&#10;Descripción generada automáticamente">
            <a:extLst>
              <a:ext uri="{FF2B5EF4-FFF2-40B4-BE49-F238E27FC236}">
                <a16:creationId xmlns:a16="http://schemas.microsoft.com/office/drawing/2014/main" id="{1FB05CC2-DE98-8DE1-0D2D-C86D38638E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039" y="3534176"/>
            <a:ext cx="1691986" cy="2279482"/>
          </a:xfrm>
          <a:prstGeom prst="rect">
            <a:avLst/>
          </a:prstGeom>
        </p:spPr>
      </p:pic>
      <p:pic>
        <p:nvPicPr>
          <p:cNvPr id="21" name="Imagen 20" descr="Icono&#10;&#10;Descripción generada automáticamente con confianza baja">
            <a:extLst>
              <a:ext uri="{FF2B5EF4-FFF2-40B4-BE49-F238E27FC236}">
                <a16:creationId xmlns:a16="http://schemas.microsoft.com/office/drawing/2014/main" id="{B54299ED-CB12-E070-C3F5-92F8565243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78" y="3500293"/>
            <a:ext cx="1723425" cy="2318127"/>
          </a:xfrm>
          <a:prstGeom prst="rect">
            <a:avLst/>
          </a:prstGeom>
        </p:spPr>
      </p:pic>
      <p:pic>
        <p:nvPicPr>
          <p:cNvPr id="11" name="Imagen 10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9761FB1B-ECC7-6A30-60B5-9DA1077DBD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40" y="3409676"/>
            <a:ext cx="1860826" cy="24898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D933C796-6DE7-B2AA-1BDA-134CE15CDFE7}"/>
                  </a:ext>
                </a:extLst>
              </p:cNvPr>
              <p:cNvSpPr txBox="1"/>
              <p:nvPr/>
            </p:nvSpPr>
            <p:spPr>
              <a:xfrm>
                <a:off x="7173871" y="3500293"/>
                <a:ext cx="1625573" cy="57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1)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𝐴𝑠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D933C796-6DE7-B2AA-1BDA-134CE15CD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871" y="3500293"/>
                <a:ext cx="1625573" cy="5771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350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BCFC1-C820-B6E8-054D-2FDBB8612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2412003-9B1F-6598-585D-17615AADC880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109970D5-A949-0EF5-BD4C-9D2F6BB078E4}"/>
              </a:ext>
            </a:extLst>
          </p:cNvPr>
          <p:cNvSpPr txBox="1"/>
          <p:nvPr/>
        </p:nvSpPr>
        <p:spPr>
          <a:xfrm>
            <a:off x="3600" y="33951"/>
            <a:ext cx="1140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Cálculo de Probabilidades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8EE2C5B2-7138-47A2-BF4B-3672B77A1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F24B887-A306-B0EF-D456-E15F0F429387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C2979919-2EB8-CD8D-034D-637C5C6EF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2DB3E6A3-2845-0C44-D08F-9D5DA2E735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0F9DC0E9-A80B-CF15-7956-C6714E16D3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4" name="!Marco 10">
            <a:extLst>
              <a:ext uri="{FF2B5EF4-FFF2-40B4-BE49-F238E27FC236}">
                <a16:creationId xmlns:a16="http://schemas.microsoft.com/office/drawing/2014/main" id="{9E5964E3-F439-C7E7-D562-E1A5FD1F45AC}"/>
              </a:ext>
            </a:extLst>
          </p:cNvPr>
          <p:cNvSpPr/>
          <p:nvPr/>
        </p:nvSpPr>
        <p:spPr>
          <a:xfrm>
            <a:off x="535084" y="1092513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E48A16F2-5E64-044F-CF6F-95594BCFA43D}"/>
              </a:ext>
            </a:extLst>
          </p:cNvPr>
          <p:cNvSpPr txBox="1"/>
          <p:nvPr/>
        </p:nvSpPr>
        <p:spPr>
          <a:xfrm>
            <a:off x="535084" y="109980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o más experiencias aleatorias se llaman </a:t>
            </a:r>
            <a:r>
              <a:rPr lang="es-ES" sz="2000" b="1" dirty="0">
                <a:solidFill>
                  <a:srgbClr val="4E95D9"/>
                </a:solidFill>
              </a:rPr>
              <a:t>independientes</a:t>
            </a:r>
            <a:r>
              <a:rPr lang="es-ES" sz="2000" b="1" dirty="0"/>
              <a:t> cuando el resultado de cada una de ellas no depende del resultado de las demás. </a:t>
            </a:r>
          </a:p>
        </p:txBody>
      </p:sp>
      <p:sp>
        <p:nvSpPr>
          <p:cNvPr id="12" name="!Marco 10">
            <a:extLst>
              <a:ext uri="{FF2B5EF4-FFF2-40B4-BE49-F238E27FC236}">
                <a16:creationId xmlns:a16="http://schemas.microsoft.com/office/drawing/2014/main" id="{97452DF8-9EDD-F599-BEDE-249F51CD4790}"/>
              </a:ext>
            </a:extLst>
          </p:cNvPr>
          <p:cNvSpPr/>
          <p:nvPr/>
        </p:nvSpPr>
        <p:spPr>
          <a:xfrm>
            <a:off x="535084" y="1920329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85D76524-0FBE-C6D3-840B-D4E24547746C}"/>
              </a:ext>
            </a:extLst>
          </p:cNvPr>
          <p:cNvSpPr txBox="1"/>
          <p:nvPr/>
        </p:nvSpPr>
        <p:spPr>
          <a:xfrm>
            <a:off x="535084" y="192761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o más experiencias aleatorias se llaman </a:t>
            </a:r>
            <a:r>
              <a:rPr lang="es-ES" sz="2000" b="1" dirty="0">
                <a:solidFill>
                  <a:srgbClr val="4E95D9"/>
                </a:solidFill>
              </a:rPr>
              <a:t>dependientes</a:t>
            </a:r>
            <a:r>
              <a:rPr lang="es-ES" sz="2000" b="1" dirty="0"/>
              <a:t> cuando el resultado de cada una de ellas influye en las probabilidades de las siguientes.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E882B50-90FA-DC48-E311-1B299B099F41}"/>
              </a:ext>
            </a:extLst>
          </p:cNvPr>
          <p:cNvSpPr txBox="1"/>
          <p:nvPr/>
        </p:nvSpPr>
        <p:spPr>
          <a:xfrm>
            <a:off x="535084" y="2848148"/>
            <a:ext cx="9809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dirty="0"/>
              <a:t>La probabilidad de sacar un as de la baraja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82866F1-BFAA-0739-B85B-6D62D447AC8C}"/>
              </a:ext>
            </a:extLst>
          </p:cNvPr>
          <p:cNvSpPr txBox="1"/>
          <p:nvPr/>
        </p:nvSpPr>
        <p:spPr>
          <a:xfrm>
            <a:off x="590269" y="5918834"/>
            <a:ext cx="237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2 ases/38 cartas</a:t>
            </a:r>
          </a:p>
        </p:txBody>
      </p:sp>
      <p:pic>
        <p:nvPicPr>
          <p:cNvPr id="16" name="Imagen 15" descr="Imagen que contiene Icono&#10;&#10;Descripción generada automáticamente">
            <a:extLst>
              <a:ext uri="{FF2B5EF4-FFF2-40B4-BE49-F238E27FC236}">
                <a16:creationId xmlns:a16="http://schemas.microsoft.com/office/drawing/2014/main" id="{DA7E5BD4-2BBB-B735-9C01-35F602264F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039" y="3534176"/>
            <a:ext cx="1691986" cy="2279482"/>
          </a:xfrm>
          <a:prstGeom prst="rect">
            <a:avLst/>
          </a:prstGeom>
        </p:spPr>
      </p:pic>
      <p:pic>
        <p:nvPicPr>
          <p:cNvPr id="21" name="Imagen 20" descr="Icono&#10;&#10;Descripción generada automáticamente con confianza baja">
            <a:extLst>
              <a:ext uri="{FF2B5EF4-FFF2-40B4-BE49-F238E27FC236}">
                <a16:creationId xmlns:a16="http://schemas.microsoft.com/office/drawing/2014/main" id="{50447E5F-97E4-B233-1480-97E3DBA057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003" y="3500293"/>
            <a:ext cx="1723425" cy="2318127"/>
          </a:xfrm>
          <a:prstGeom prst="rect">
            <a:avLst/>
          </a:prstGeom>
        </p:spPr>
      </p:pic>
      <p:pic>
        <p:nvPicPr>
          <p:cNvPr id="11" name="Imagen 10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EDD7A590-281E-14A6-6A25-A9AACCF370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40" y="3409676"/>
            <a:ext cx="1860826" cy="24898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239A60E-E52F-8FAD-2B18-57C7AFC7B32E}"/>
                  </a:ext>
                </a:extLst>
              </p:cNvPr>
              <p:cNvSpPr txBox="1"/>
              <p:nvPr/>
            </p:nvSpPr>
            <p:spPr>
              <a:xfrm>
                <a:off x="7173871" y="3500293"/>
                <a:ext cx="1625573" cy="57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1)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𝐴𝑠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239A60E-E52F-8FAD-2B18-57C7AFC7B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871" y="3500293"/>
                <a:ext cx="1625573" cy="5771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A006B528-EBC6-B255-669B-26E33EDF2218}"/>
                  </a:ext>
                </a:extLst>
              </p:cNvPr>
              <p:cNvSpPr txBox="1"/>
              <p:nvPr/>
            </p:nvSpPr>
            <p:spPr>
              <a:xfrm>
                <a:off x="7173871" y="4387951"/>
                <a:ext cx="162557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2)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𝐴𝑠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A006B528-EBC6-B255-669B-26E33EDF2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871" y="4387951"/>
                <a:ext cx="1625573" cy="5782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uadroTexto 9">
            <a:extLst>
              <a:ext uri="{FF2B5EF4-FFF2-40B4-BE49-F238E27FC236}">
                <a16:creationId xmlns:a16="http://schemas.microsoft.com/office/drawing/2014/main" id="{B00E2FE9-9ADD-AC92-A801-C5082C195F05}"/>
              </a:ext>
            </a:extLst>
          </p:cNvPr>
          <p:cNvSpPr txBox="1"/>
          <p:nvPr/>
        </p:nvSpPr>
        <p:spPr>
          <a:xfrm>
            <a:off x="8748712" y="3863511"/>
            <a:ext cx="31908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SUCESOS </a:t>
            </a:r>
          </a:p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DEPENDIENTES</a:t>
            </a:r>
          </a:p>
        </p:txBody>
      </p:sp>
    </p:spTree>
    <p:extLst>
      <p:ext uri="{BB962C8B-B14F-4D97-AF65-F5344CB8AC3E}">
        <p14:creationId xmlns:p14="http://schemas.microsoft.com/office/powerpoint/2010/main" val="25302150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0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635</Words>
  <Application>Microsoft Office PowerPoint</Application>
  <PresentationFormat>Panorámica</PresentationFormat>
  <Paragraphs>56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85</cp:revision>
  <dcterms:created xsi:type="dcterms:W3CDTF">2024-08-18T18:48:07Z</dcterms:created>
  <dcterms:modified xsi:type="dcterms:W3CDTF">2024-10-26T13:37:00Z</dcterms:modified>
</cp:coreProperties>
</file>