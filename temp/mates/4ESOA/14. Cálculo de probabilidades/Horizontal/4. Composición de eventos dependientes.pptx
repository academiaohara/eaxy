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61E3F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6238" autoAdjust="0"/>
  </p:normalViewPr>
  <p:slideViewPr>
    <p:cSldViewPr snapToGrid="0">
      <p:cViewPr>
        <p:scale>
          <a:sx n="100" d="100"/>
          <a:sy n="100" d="100"/>
        </p:scale>
        <p:origin x="67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75386953"/>
                  </p:ext>
                </p:extLst>
              </p:nvPr>
            </p:nvGraphicFramePr>
            <p:xfrm>
              <a:off x="539791" y="4308483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791" y="4308483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39" y="3617047"/>
            <a:ext cx="797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INDEPENDIENTES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8059563"/>
                  </p:ext>
                </p:extLst>
              </p:nvPr>
            </p:nvGraphicFramePr>
            <p:xfrm>
              <a:off x="545068" y="302814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28145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627474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SIMPLES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COMPUESTOS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0C8091-5F22-A7B0-0D2E-5FB4D0F1FD8B}"/>
              </a:ext>
            </a:extLst>
          </p:cNvPr>
          <p:cNvSpPr txBox="1"/>
          <p:nvPr/>
        </p:nvSpPr>
        <p:spPr>
          <a:xfrm>
            <a:off x="861140" y="426287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DEPENDIENTES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E74DB84-0F81-6104-3D95-C720BAEACC4B}"/>
              </a:ext>
            </a:extLst>
          </p:cNvPr>
          <p:cNvSpPr/>
          <p:nvPr/>
        </p:nvSpPr>
        <p:spPr>
          <a:xfrm>
            <a:off x="7336286" y="4662201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0592109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7" grpId="0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5780A807-D93E-7BE3-C19A-4F7A69386F24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3035EE5-A379-BD03-95F8-297CB5E6A809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sucesos S</a:t>
            </a:r>
            <a:r>
              <a:rPr lang="es-ES" sz="2000" b="1" baseline="-25000" dirty="0"/>
              <a:t>1</a:t>
            </a:r>
            <a:r>
              <a:rPr lang="es-ES" sz="2000" b="1" dirty="0"/>
              <a:t> y S</a:t>
            </a:r>
            <a:r>
              <a:rPr lang="es-ES" sz="2000" b="1" baseline="-25000" dirty="0"/>
              <a:t>2</a:t>
            </a:r>
            <a:r>
              <a:rPr lang="es-ES" sz="2000" b="1" dirty="0"/>
              <a:t> corresponden a pruebas dependientes, la probabilidad de que ocurra S</a:t>
            </a:r>
            <a:r>
              <a:rPr lang="es-ES" sz="2000" b="1" baseline="-25000" dirty="0"/>
              <a:t>1</a:t>
            </a:r>
            <a:r>
              <a:rPr lang="es-ES" sz="2000" b="1" dirty="0"/>
              <a:t> en la 1ª y S</a:t>
            </a:r>
            <a:r>
              <a:rPr lang="es-ES" sz="2000" b="1" baseline="-25000" dirty="0"/>
              <a:t>2</a:t>
            </a:r>
            <a:r>
              <a:rPr lang="es-ES" sz="2000" b="1" dirty="0"/>
              <a:t> en la 2ª es: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CBFF8F-F3A6-1299-B937-23D25265E4F0}"/>
              </a:ext>
            </a:extLst>
          </p:cNvPr>
          <p:cNvSpPr txBox="1"/>
          <p:nvPr/>
        </p:nvSpPr>
        <p:spPr>
          <a:xfrm>
            <a:off x="535083" y="3513775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2 as seguidos de una baraja. Al sacar la primera se deja fuera de la baraja.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014031F-34B4-08E4-36EB-72D1E54E7AB8}"/>
                  </a:ext>
                </a:extLst>
              </p:cNvPr>
              <p:cNvSpPr txBox="1"/>
              <p:nvPr/>
            </p:nvSpPr>
            <p:spPr>
              <a:xfrm>
                <a:off x="2465743" y="2039084"/>
                <a:ext cx="72605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𝑙𝑎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2ª/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𝑙𝑎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1ª</m:t>
                          </m:r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014031F-34B4-08E4-36EB-72D1E54E7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743" y="2039084"/>
                <a:ext cx="7260514" cy="307777"/>
              </a:xfrm>
              <a:prstGeom prst="rect">
                <a:avLst/>
              </a:prstGeom>
              <a:blipFill>
                <a:blip r:embed="rId6"/>
                <a:stretch>
                  <a:fillRect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7CB049E-4C33-115C-F081-7C7531358FA8}"/>
                  </a:ext>
                </a:extLst>
              </p:cNvPr>
              <p:cNvSpPr txBox="1"/>
              <p:nvPr/>
            </p:nvSpPr>
            <p:spPr>
              <a:xfrm>
                <a:off x="2109884" y="4551798"/>
                <a:ext cx="2859181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7CB049E-4C33-115C-F081-7C7531358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884" y="4551798"/>
                <a:ext cx="2859181" cy="577146"/>
              </a:xfrm>
              <a:prstGeom prst="rect">
                <a:avLst/>
              </a:prstGeom>
              <a:blipFill>
                <a:blip r:embed="rId7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24F7EE8-462E-3E38-A7AE-3ABB66595FEB}"/>
                  </a:ext>
                </a:extLst>
              </p:cNvPr>
              <p:cNvSpPr txBox="1"/>
              <p:nvPr/>
            </p:nvSpPr>
            <p:spPr>
              <a:xfrm>
                <a:off x="5371226" y="4950761"/>
                <a:ext cx="529433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24F7EE8-462E-3E38-A7AE-3ABB66595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226" y="4950761"/>
                <a:ext cx="5294334" cy="578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errar llave 19">
            <a:extLst>
              <a:ext uri="{FF2B5EF4-FFF2-40B4-BE49-F238E27FC236}">
                <a16:creationId xmlns:a16="http://schemas.microsoft.com/office/drawing/2014/main" id="{A5E2909A-5B5D-4A59-A132-AD1C3592FC9E}"/>
              </a:ext>
            </a:extLst>
          </p:cNvPr>
          <p:cNvSpPr/>
          <p:nvPr/>
        </p:nvSpPr>
        <p:spPr>
          <a:xfrm>
            <a:off x="5095191" y="4593303"/>
            <a:ext cx="149909" cy="1378343"/>
          </a:xfrm>
          <a:prstGeom prst="rightBrace">
            <a:avLst>
              <a:gd name="adj1" fmla="val 57092"/>
              <a:gd name="adj2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5431388D-B48C-831F-E4A5-AF08BC849F95}"/>
              </a:ext>
            </a:extLst>
          </p:cNvPr>
          <p:cNvSpPr/>
          <p:nvPr/>
        </p:nvSpPr>
        <p:spPr>
          <a:xfrm>
            <a:off x="535084" y="265259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3DF7EC92-27B8-1AE7-4DAE-5D78BCD3AA52}"/>
              </a:ext>
            </a:extLst>
          </p:cNvPr>
          <p:cNvSpPr txBox="1"/>
          <p:nvPr/>
        </p:nvSpPr>
        <p:spPr>
          <a:xfrm>
            <a:off x="535084" y="265987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expresión P[S</a:t>
            </a:r>
            <a:r>
              <a:rPr lang="es-ES" sz="2000" b="1" baseline="-25000" dirty="0"/>
              <a:t>2</a:t>
            </a:r>
            <a:r>
              <a:rPr lang="es-ES" sz="2000" b="1" dirty="0"/>
              <a:t> / S</a:t>
            </a:r>
            <a:r>
              <a:rPr lang="es-ES" sz="2000" b="1" baseline="-25000" dirty="0"/>
              <a:t>1</a:t>
            </a:r>
            <a:r>
              <a:rPr lang="es-ES" sz="2000" b="1" dirty="0"/>
              <a:t>] se llama probabilidad condicionada: probabilidad de S</a:t>
            </a:r>
            <a:r>
              <a:rPr lang="es-ES" sz="2000" b="1" baseline="-25000" dirty="0"/>
              <a:t>2</a:t>
            </a:r>
            <a:r>
              <a:rPr lang="es-ES" sz="2000" b="1" dirty="0"/>
              <a:t> condicionada a que ocurra S</a:t>
            </a:r>
            <a:r>
              <a:rPr lang="es-ES" sz="2000" b="1" baseline="-25000" dirty="0"/>
              <a:t>1</a:t>
            </a:r>
            <a:r>
              <a:rPr lang="es-ES" sz="2000" b="1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655BF0D-81B6-63A3-18BD-E669CF34EED7}"/>
                  </a:ext>
                </a:extLst>
              </p:cNvPr>
              <p:cNvSpPr txBox="1"/>
              <p:nvPr/>
            </p:nvSpPr>
            <p:spPr>
              <a:xfrm>
                <a:off x="1329414" y="5290142"/>
                <a:ext cx="363965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655BF0D-81B6-63A3-18BD-E669CF34E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414" y="5290142"/>
                <a:ext cx="3639651" cy="57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10" grpId="0"/>
      <p:bldP spid="15" grpId="0"/>
      <p:bldP spid="19" grpId="0"/>
      <p:bldP spid="20" grpId="0" animBg="1"/>
      <p:bldP spid="11" grpId="0" animBg="1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95170-D22E-AA7E-9F9C-D9114054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0061721-20EA-149A-CB48-9ABE60A46C4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9ECC410-9FB6-7C57-6DF1-F38DDA34C11B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D790B89-C8A0-35D3-FD63-255FA7FA8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DA9DC61-DCD8-4064-9964-134C27E64053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B681D62C-1BC4-7754-5A76-6B4AB314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ECC5F0CD-032E-7632-8133-EB859394F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10B70A68-060F-B14C-D595-5C9489383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93F7F0B5-D0DB-BE43-3C5C-BDC9FED8097B}"/>
              </a:ext>
            </a:extLst>
          </p:cNvPr>
          <p:cNvSpPr/>
          <p:nvPr/>
        </p:nvSpPr>
        <p:spPr>
          <a:xfrm>
            <a:off x="535084" y="1092514"/>
            <a:ext cx="11121832" cy="42054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C566B8BD-4661-904B-FBCB-41F22C917FF6}"/>
              </a:ext>
            </a:extLst>
          </p:cNvPr>
          <p:cNvSpPr txBox="1"/>
          <p:nvPr/>
        </p:nvSpPr>
        <p:spPr>
          <a:xfrm>
            <a:off x="535084" y="10998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tres sucesos dependientes: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2C821AE-0CE7-1A34-BB63-9521F47E906B}"/>
              </a:ext>
            </a:extLst>
          </p:cNvPr>
          <p:cNvSpPr txBox="1"/>
          <p:nvPr/>
        </p:nvSpPr>
        <p:spPr>
          <a:xfrm>
            <a:off x="535083" y="2337156"/>
            <a:ext cx="11121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1 as en la 1ª carta, 1 par en la 2ª y 1 impar en la 3ª.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8FBA322-195F-CEAA-3DB1-432CB0429B34}"/>
                  </a:ext>
                </a:extLst>
              </p:cNvPr>
              <p:cNvSpPr txBox="1"/>
              <p:nvPr/>
            </p:nvSpPr>
            <p:spPr>
              <a:xfrm>
                <a:off x="1793163" y="1732597"/>
                <a:ext cx="8605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8FBA322-195F-CEAA-3DB1-432CB0429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163" y="1732597"/>
                <a:ext cx="8605669" cy="307777"/>
              </a:xfrm>
              <a:prstGeom prst="rect">
                <a:avLst/>
              </a:prstGeom>
              <a:blipFill>
                <a:blip r:embed="rId6"/>
                <a:stretch>
                  <a:fillRect b="-372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E0DFAB3-4947-76BA-4973-F88D71EEA9D1}"/>
                  </a:ext>
                </a:extLst>
              </p:cNvPr>
              <p:cNvSpPr txBox="1"/>
              <p:nvPr/>
            </p:nvSpPr>
            <p:spPr>
              <a:xfrm>
                <a:off x="2274498" y="3040047"/>
                <a:ext cx="257269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E0DFAB3-4947-76BA-4973-F88D71EE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498" y="3040047"/>
                <a:ext cx="2572691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E194827-3039-D291-D388-BD6889CCD9E9}"/>
                  </a:ext>
                </a:extLst>
              </p:cNvPr>
              <p:cNvSpPr txBox="1"/>
              <p:nvPr/>
            </p:nvSpPr>
            <p:spPr>
              <a:xfrm>
                <a:off x="5192137" y="3505473"/>
                <a:ext cx="63415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𝐼𝑚𝑝𝑎𝑟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𝐼𝑚𝑝𝑎𝑟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𝑝𝑎𝑟</m:t>
                          </m: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E194827-3039-D291-D388-BD6889CCD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137" y="3505473"/>
                <a:ext cx="6341543" cy="276999"/>
              </a:xfrm>
              <a:prstGeom prst="rect">
                <a:avLst/>
              </a:prstGeom>
              <a:blipFill>
                <a:blip r:embed="rId8"/>
                <a:stretch>
                  <a:fillRect l="-385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errar llave 19">
            <a:extLst>
              <a:ext uri="{FF2B5EF4-FFF2-40B4-BE49-F238E27FC236}">
                <a16:creationId xmlns:a16="http://schemas.microsoft.com/office/drawing/2014/main" id="{499317BD-DE0A-80F4-5CB6-2A1F77BF9E7A}"/>
              </a:ext>
            </a:extLst>
          </p:cNvPr>
          <p:cNvSpPr/>
          <p:nvPr/>
        </p:nvSpPr>
        <p:spPr>
          <a:xfrm>
            <a:off x="4896669" y="2981714"/>
            <a:ext cx="149909" cy="2089140"/>
          </a:xfrm>
          <a:prstGeom prst="rightBrace">
            <a:avLst>
              <a:gd name="adj1" fmla="val 57092"/>
              <a:gd name="adj2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ECFE1B7-DC99-592F-3752-3BA7E87F45F6}"/>
                  </a:ext>
                </a:extLst>
              </p:cNvPr>
              <p:cNvSpPr txBox="1"/>
              <p:nvPr/>
            </p:nvSpPr>
            <p:spPr>
              <a:xfrm>
                <a:off x="2000705" y="3766085"/>
                <a:ext cx="284648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ECFE1B7-DC99-592F-3752-3BA7E87F4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705" y="3766085"/>
                <a:ext cx="2846484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0543A1-B518-A8FB-F8CF-BCD3D41AF9B2}"/>
                  </a:ext>
                </a:extLst>
              </p:cNvPr>
              <p:cNvSpPr txBox="1"/>
              <p:nvPr/>
            </p:nvSpPr>
            <p:spPr>
              <a:xfrm>
                <a:off x="240992" y="4481646"/>
                <a:ext cx="460619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𝐼𝑚𝑝𝑎𝑟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𝑝𝑎𝑟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0543A1-B518-A8FB-F8CF-BCD3D41A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92" y="4481646"/>
                <a:ext cx="4606197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383CB4D-CE75-CF22-F5CD-D8CB9BE8F273}"/>
                  </a:ext>
                </a:extLst>
              </p:cNvPr>
              <p:cNvSpPr txBox="1"/>
              <p:nvPr/>
            </p:nvSpPr>
            <p:spPr>
              <a:xfrm>
                <a:off x="5192137" y="4032113"/>
                <a:ext cx="465069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𝐼𝑚𝑝𝑎𝑟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39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780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383CB4D-CE75-CF22-F5CD-D8CB9BE8F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137" y="4032113"/>
                <a:ext cx="4650697" cy="5203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475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10" grpId="0"/>
      <p:bldP spid="15" grpId="0"/>
      <p:bldP spid="19" grpId="0"/>
      <p:bldP spid="20" grpId="0" animBg="1"/>
      <p:bldP spid="13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251</Words>
  <Application>Microsoft Office PowerPoint</Application>
  <PresentationFormat>Panorámica</PresentationFormat>
  <Paragraphs>23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88</cp:revision>
  <dcterms:created xsi:type="dcterms:W3CDTF">2024-08-18T18:48:07Z</dcterms:created>
  <dcterms:modified xsi:type="dcterms:W3CDTF">2024-10-26T20:11:08Z</dcterms:modified>
</cp:coreProperties>
</file>