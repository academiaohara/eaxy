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60" r:id="rId3"/>
    <p:sldId id="261" r:id="rId4"/>
    <p:sldId id="259" r:id="rId5"/>
    <p:sldId id="264" r:id="rId6"/>
    <p:sldId id="262" r:id="rId7"/>
    <p:sldId id="263" r:id="rId8"/>
    <p:sldId id="265" r:id="rId9"/>
    <p:sldId id="266" r:id="rId10"/>
    <p:sldId id="267" r:id="rId11"/>
  </p:sldIdLst>
  <p:sldSz cx="12192000" cy="6858000"/>
  <p:notesSz cx="6858000" cy="9144000"/>
  <p:custDataLst>
    <p:tags r:id="rId13"/>
  </p:custDataLst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EF4246"/>
    <a:srgbClr val="FF3300"/>
    <a:srgbClr val="D0B0E7"/>
    <a:srgbClr val="FFFFDB"/>
    <a:srgbClr val="ECF7FC"/>
    <a:srgbClr val="0A0A0A"/>
    <a:srgbClr val="EEFBEF"/>
    <a:srgbClr val="84E291"/>
    <a:srgbClr val="EDF8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74" autoAdjust="0"/>
    <p:restoredTop sz="96238" autoAdjust="0"/>
  </p:normalViewPr>
  <p:slideViewPr>
    <p:cSldViewPr snapToGrid="0">
      <p:cViewPr varScale="1">
        <p:scale>
          <a:sx n="107" d="100"/>
          <a:sy n="107" d="100"/>
        </p:scale>
        <p:origin x="63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03982-9F4D-438D-A88F-52DBE7D6A2C4}" type="datetimeFigureOut">
              <a:rPr lang="es-ES" smtClean="0"/>
              <a:t>20/11/2025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695FC5-33F2-446E-9487-06039519E15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2880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95FC5-33F2-446E-9487-06039519E155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2169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95FC5-33F2-446E-9487-06039519E155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5947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95FC5-33F2-446E-9487-06039519E155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44982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95FC5-33F2-446E-9487-06039519E155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483474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95FC5-33F2-446E-9487-06039519E155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8679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95FC5-33F2-446E-9487-06039519E155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5859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95FC5-33F2-446E-9487-06039519E155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173212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95FC5-33F2-446E-9487-06039519E155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46373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95FC5-33F2-446E-9487-06039519E155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1750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695FC5-33F2-446E-9487-06039519E155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232069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30CC69-0242-EE52-5289-975CBA2714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F73D9F-B4D1-33D9-1D9E-271DC37A5E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B39749-7708-B233-4400-98CF8C501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26388BE-A95D-EE17-9576-0B1138379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3D0BC4-CBE6-D467-E4D6-D64D32A57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788960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030BAC-1FB0-491F-B603-3E5454500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D2B9C2-E0AD-3BBC-D8A3-47A4754CC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1FCF2C-2E83-F0B3-7C49-1FAAE1412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4B2A-CB3A-7102-BDD4-2F18AA9CC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A8DB67A-C1BA-90FE-61D4-ECDD22E4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72848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BDC9DC-72C3-F198-AFF4-787C9902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4580639-1DFF-62A6-4B36-1388D36D2A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D1EF8A9-8072-80ED-8C3E-2612BB66F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6F21A17-5845-AA5F-EF08-20FC40F70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DA33D3-04F5-0B1F-71C9-5784F3658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57462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A352E5-63E6-0BEF-532D-E52C8C5C11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0E9DDE-BBA1-199E-A343-07F0C4D637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21534CA-3C16-BC29-D85F-2DFF0D4AC4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25BE418-589F-9F63-2F44-25C1FEC28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B9955F2-ABB9-4947-BBFF-5D163FE4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C49642F-2057-D0A7-29F6-105C0BC44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830496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A2EB1B-6FEB-11D6-7747-C644CB42B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E7A958E-B4E1-010E-7195-E2BBB2085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001E33A-EA12-5855-CF73-F53B369C3F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0888ACB-A13F-1F1E-6897-3B8D4972F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7CF691-1808-02B7-B038-046B7536E3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7277917-8322-4093-178F-A9DACEF58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4B37C16-BE58-1006-6656-85C15636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F44860-CAA5-300E-EC8A-678764646F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863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B697BC-44BC-F6A3-3B3A-9061217A6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266EEE2-A47A-6360-2F03-FCB00E03D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C4E4590-3762-5D55-5414-FD37FCCC9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EABE1C9-EE22-D475-B974-B7FD86890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235959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5A1C9C2-287B-BFB5-6360-B6B9BF11D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2A85BED-F9C2-B7AA-F0C1-B4BBE23B3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BA57394-8137-0A52-85CD-7B5C04D76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64524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4E36CD-55FB-DE2E-9C92-ECB6F0128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3189CA2-3ED8-7653-E541-3314D3E7CC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34EC18-037F-C4BA-B572-E9717A54E8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E363633-E074-9B5A-A143-CED74E719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8EB83B-4105-2D5F-9E15-1089C67BC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634990F-A961-2D4E-817B-8363E47BB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769154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DB6008-DB7C-3324-403B-7657B817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2FD88B2-9A94-BDDB-FAF2-931DA13042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5A41C9A-1AEA-7DDD-D68F-E69F0B388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E954D82-C7F9-CAFF-7A53-9B8702713F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78EE88-8582-855D-4C7A-80A0B6B1C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C7705F8-A957-7664-DD87-ADB5F3227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053732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58A047-3EF9-CD34-78AF-504143986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4FC04D-A229-A68C-D470-62CFD3084A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9EF32C-D8D2-51BE-CEBE-3458EDBB7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1F469C-112A-DEC8-A016-1F623F919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90AE46-A55B-56FF-1006-2C0A6D79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09212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F857533-87A5-755E-31C0-0F39BDFFA8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161402F-BC08-3B7E-9D9B-FB176E46CE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2D70B13-29F6-BFB0-3110-5363018D9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110C1E-4D6E-44ED-E74C-E8B2893C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609230-F255-4451-22E1-498837BDB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181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A11EF0C-DF51-DDFE-8A88-2777D9AAB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42B8EC7-7A82-FD16-3D86-7F6E80B1F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CAE80F-9F6E-A95C-C6E1-E800DB8A5A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3E6E93-7F22-48C5-BB25-3E621262F540}" type="datetimeFigureOut">
              <a:rPr lang="es-ES" smtClean="0"/>
              <a:t>20/11/2025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37CFB18-B5E6-AFA1-A378-83FC7C484D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F426725-340B-BBCA-B44B-A0300BEA83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2DBD23-11C2-4AF2-872F-82FAE4265C69}" type="slidenum">
              <a:rPr lang="es-ES" smtClean="0"/>
              <a:t>‹Nº›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46405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6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notesSlide" Target="../notesSlides/notesSlide7.xml"/><Relationship Id="rId7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6" Type="http://schemas.openxmlformats.org/officeDocument/2006/relationships/image" Target="../media/image9.png"/><Relationship Id="rId9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6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notesSlide" Target="../notesSlides/notesSlide9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6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7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6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rgbClr val="4E95D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En un triángulo rectángulo, los lados menores son los que forman el ángulo recto.</a:t>
            </a:r>
          </a:p>
          <a:p>
            <a:r>
              <a:rPr lang="es-ES" sz="2000" b="1" dirty="0"/>
              <a:t>Se llaman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catetos</a:t>
            </a:r>
            <a:r>
              <a:rPr lang="es-ES" sz="2000" b="1" dirty="0"/>
              <a:t>. El lado mayor se llama </a:t>
            </a:r>
            <a:r>
              <a:rPr lang="es-ES" sz="20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hipotenusa</a:t>
            </a:r>
            <a:r>
              <a:rPr lang="es-ES" sz="2000" b="1" dirty="0"/>
              <a:t>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1" name="!Marco 10">
            <a:extLst>
              <a:ext uri="{FF2B5EF4-FFF2-40B4-BE49-F238E27FC236}">
                <a16:creationId xmlns:a16="http://schemas.microsoft.com/office/drawing/2014/main" id="{3282BCA9-A943-87F0-3208-87B55592578F}"/>
              </a:ext>
            </a:extLst>
          </p:cNvPr>
          <p:cNvSpPr/>
          <p:nvPr/>
        </p:nvSpPr>
        <p:spPr>
          <a:xfrm>
            <a:off x="3863151" y="2439953"/>
            <a:ext cx="7793765" cy="2268035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!CuadroTexto 1">
                <a:extLst>
                  <a:ext uri="{FF2B5EF4-FFF2-40B4-BE49-F238E27FC236}">
                    <a16:creationId xmlns:a16="http://schemas.microsoft.com/office/drawing/2014/main" id="{58E4BEAB-8C3A-5832-87A1-CD2F22E2A88C}"/>
                  </a:ext>
                </a:extLst>
              </p:cNvPr>
              <p:cNvSpPr txBox="1"/>
              <p:nvPr/>
            </p:nvSpPr>
            <p:spPr>
              <a:xfrm>
                <a:off x="3863151" y="2447241"/>
                <a:ext cx="7793765" cy="22607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ES" sz="2000" b="1" dirty="0"/>
                  <a:t>El </a:t>
                </a:r>
                <a:r>
                  <a:rPr lang="es-ES" sz="2000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teorema de Pitágoras </a:t>
                </a:r>
                <a:r>
                  <a:rPr lang="es-ES" sz="2000" b="1" dirty="0"/>
                  <a:t>dice que:</a:t>
                </a:r>
              </a:p>
              <a:p>
                <a:pPr algn="ctr">
                  <a:lnSpc>
                    <a:spcPct val="200000"/>
                  </a:lnSpc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pt-BR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pt-BR" sz="2000" b="1" i="1" dirty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pt-BR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sz="2000" b="1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s-ES" sz="2000" b="1" i="1" dirty="0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pt-BR" sz="2000" b="1" dirty="0"/>
                  <a:t> </a:t>
                </a:r>
              </a:p>
              <a:p>
                <a:r>
                  <a:rPr lang="es-ES" sz="2000" b="1" dirty="0"/>
                  <a:t>Es decir, el área del cuadrado construido sobre la hipotenusa es igual a la suma de las áreas de los cuadrados construidos sobre los catetos.</a:t>
                </a:r>
              </a:p>
              <a:p>
                <a:r>
                  <a:rPr lang="es-ES" sz="2000" b="1" dirty="0"/>
                  <a:t>Y esto es verdad solamente si el </a:t>
                </a:r>
                <a:r>
                  <a:rPr lang="es-ES" sz="2000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triángulo</a:t>
                </a:r>
                <a:r>
                  <a:rPr lang="es-ES" sz="2000" b="1" dirty="0"/>
                  <a:t> es </a:t>
                </a:r>
                <a:r>
                  <a:rPr lang="es-ES" sz="2000" b="1" dirty="0">
                    <a:solidFill>
                      <a:schemeClr val="tx2">
                        <a:lumMod val="50000"/>
                        <a:lumOff val="50000"/>
                      </a:schemeClr>
                    </a:solidFill>
                  </a:rPr>
                  <a:t>rectángulo</a:t>
                </a:r>
                <a:r>
                  <a:rPr lang="es-ES" sz="2000" b="1" dirty="0"/>
                  <a:t>.</a:t>
                </a:r>
                <a:endParaRPr lang="es-ES" sz="3200" b="1" dirty="0">
                  <a:solidFill>
                    <a:schemeClr val="accent5">
                      <a:lumMod val="60000"/>
                      <a:lumOff val="4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22" name="!CuadroTexto 1">
                <a:extLst>
                  <a:ext uri="{FF2B5EF4-FFF2-40B4-BE49-F238E27FC236}">
                    <a16:creationId xmlns:a16="http://schemas.microsoft.com/office/drawing/2014/main" id="{58E4BEAB-8C3A-5832-87A1-CD2F22E2A8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3151" y="2447241"/>
                <a:ext cx="7793765" cy="2260747"/>
              </a:xfrm>
              <a:prstGeom prst="rect">
                <a:avLst/>
              </a:prstGeom>
              <a:blipFill>
                <a:blip r:embed="rId6"/>
                <a:stretch>
                  <a:fillRect l="-861" t="-1348" r="-1330" b="-3774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upo 2">
            <a:extLst>
              <a:ext uri="{FF2B5EF4-FFF2-40B4-BE49-F238E27FC236}">
                <a16:creationId xmlns:a16="http://schemas.microsoft.com/office/drawing/2014/main" id="{CFB27B38-9282-15D8-1199-59ED3ACB5E57}"/>
              </a:ext>
            </a:extLst>
          </p:cNvPr>
          <p:cNvGrpSpPr/>
          <p:nvPr/>
        </p:nvGrpSpPr>
        <p:grpSpPr>
          <a:xfrm>
            <a:off x="1052693" y="2350092"/>
            <a:ext cx="2184002" cy="2636464"/>
            <a:chOff x="290956" y="1450889"/>
            <a:chExt cx="4048771" cy="4887562"/>
          </a:xfrm>
        </p:grpSpPr>
        <p:sp>
          <p:nvSpPr>
            <p:cNvPr id="8" name="Rectángulo 7">
              <a:extLst>
                <a:ext uri="{FF2B5EF4-FFF2-40B4-BE49-F238E27FC236}">
                  <a16:creationId xmlns:a16="http://schemas.microsoft.com/office/drawing/2014/main" id="{0F68E4E1-71B9-EDEB-283B-66031286EE4A}"/>
                </a:ext>
              </a:extLst>
            </p:cNvPr>
            <p:cNvSpPr/>
            <p:nvPr/>
          </p:nvSpPr>
          <p:spPr>
            <a:xfrm rot="19599153">
              <a:off x="2989727" y="2276930"/>
              <a:ext cx="1350000" cy="1350000"/>
            </a:xfrm>
            <a:prstGeom prst="rect">
              <a:avLst/>
            </a:prstGeom>
            <a:solidFill>
              <a:srgbClr val="FFFFDB"/>
            </a:solidFill>
            <a:ln w="9525" cap="rnd">
              <a:solidFill>
                <a:srgbClr val="FCF67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9" name="Rectángulo 8">
              <a:extLst>
                <a:ext uri="{FF2B5EF4-FFF2-40B4-BE49-F238E27FC236}">
                  <a16:creationId xmlns:a16="http://schemas.microsoft.com/office/drawing/2014/main" id="{E4E3F2D2-92D3-9788-DF48-970E9EC1E558}"/>
                </a:ext>
              </a:extLst>
            </p:cNvPr>
            <p:cNvSpPr/>
            <p:nvPr/>
          </p:nvSpPr>
          <p:spPr>
            <a:xfrm>
              <a:off x="1021189" y="3886851"/>
              <a:ext cx="2452103" cy="2451600"/>
            </a:xfrm>
            <a:prstGeom prst="rect">
              <a:avLst/>
            </a:prstGeom>
            <a:solidFill>
              <a:srgbClr val="EEFBEF"/>
            </a:solidFill>
            <a:ln w="9525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8AFEDF07-173A-988A-51FD-4F31011859FC}"/>
                </a:ext>
              </a:extLst>
            </p:cNvPr>
            <p:cNvSpPr/>
            <p:nvPr/>
          </p:nvSpPr>
          <p:spPr>
            <a:xfrm rot="19599153">
              <a:off x="290956" y="1450889"/>
              <a:ext cx="2044253" cy="2044800"/>
            </a:xfrm>
            <a:prstGeom prst="rect">
              <a:avLst/>
            </a:prstGeom>
            <a:solidFill>
              <a:srgbClr val="ECF7FC"/>
            </a:solidFill>
            <a:ln w="95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1" name="Triángulo isósceles 10">
              <a:extLst>
                <a:ext uri="{FF2B5EF4-FFF2-40B4-BE49-F238E27FC236}">
                  <a16:creationId xmlns:a16="http://schemas.microsoft.com/office/drawing/2014/main" id="{FF4243CA-E548-8BCF-8333-8A53AC85A209}"/>
                </a:ext>
              </a:extLst>
            </p:cNvPr>
            <p:cNvSpPr/>
            <p:nvPr/>
          </p:nvSpPr>
          <p:spPr>
            <a:xfrm rot="8793340">
              <a:off x="1223115" y="3215162"/>
              <a:ext cx="2048256" cy="1348138"/>
            </a:xfrm>
            <a:prstGeom prst="triangle">
              <a:avLst>
                <a:gd name="adj" fmla="val 0"/>
              </a:avLst>
            </a:prstGeom>
            <a:solidFill>
              <a:srgbClr val="B07BD7">
                <a:alpha val="60000"/>
              </a:srgbClr>
            </a:solidFill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87026C7-62D3-13BE-9D4D-6ED36E060A4D}"/>
              </a:ext>
            </a:extLst>
          </p:cNvPr>
          <p:cNvSpPr/>
          <p:nvPr/>
        </p:nvSpPr>
        <p:spPr>
          <a:xfrm rot="3418691">
            <a:off x="2332315" y="3069668"/>
            <a:ext cx="57150" cy="5715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762905F-BA8D-287A-A0F1-B842AC8A8F72}"/>
              </a:ext>
            </a:extLst>
          </p:cNvPr>
          <p:cNvSpPr txBox="1"/>
          <p:nvPr/>
        </p:nvSpPr>
        <p:spPr>
          <a:xfrm>
            <a:off x="2335649" y="2885971"/>
            <a:ext cx="45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952CBB2-236F-C777-4A08-C201894975F7}"/>
              </a:ext>
            </a:extLst>
          </p:cNvPr>
          <p:cNvSpPr txBox="1"/>
          <p:nvPr/>
        </p:nvSpPr>
        <p:spPr>
          <a:xfrm>
            <a:off x="1924168" y="359396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7AFF6C9-4A3F-568C-1FB1-49E83B1C3B58}"/>
              </a:ext>
            </a:extLst>
          </p:cNvPr>
          <p:cNvSpPr txBox="1"/>
          <p:nvPr/>
        </p:nvSpPr>
        <p:spPr>
          <a:xfrm>
            <a:off x="1598195" y="306571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58F41B3-7B7F-9492-1FE5-F7A19A3D9068}"/>
              </a:ext>
            </a:extLst>
          </p:cNvPr>
          <p:cNvSpPr txBox="1"/>
          <p:nvPr/>
        </p:nvSpPr>
        <p:spPr>
          <a:xfrm>
            <a:off x="2433022" y="308178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3233543-6A0A-25C6-71BA-C9B833677494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9446A76-895F-8D4F-C2E6-44301613F221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4825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305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5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6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  <p:bldP spid="21" grpId="0" animBg="1"/>
      <p:bldP spid="22" grpId="0"/>
      <p:bldP spid="12" grpId="0" animBg="1"/>
      <p:bldP spid="16" grpId="0"/>
      <p:bldP spid="23" grpId="0"/>
      <p:bldP spid="25" grpId="0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riángulo isósceles 9">
            <a:extLst>
              <a:ext uri="{FF2B5EF4-FFF2-40B4-BE49-F238E27FC236}">
                <a16:creationId xmlns:a16="http://schemas.microsoft.com/office/drawing/2014/main" id="{BF3469AF-C7F7-B146-BE04-B23A0242EA32}"/>
              </a:ext>
            </a:extLst>
          </p:cNvPr>
          <p:cNvSpPr/>
          <p:nvPr/>
        </p:nvSpPr>
        <p:spPr>
          <a:xfrm rot="8820000">
            <a:off x="1555533" y="3301254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Triángulo isósceles 24">
            <a:extLst>
              <a:ext uri="{FF2B5EF4-FFF2-40B4-BE49-F238E27FC236}">
                <a16:creationId xmlns:a16="http://schemas.microsoft.com/office/drawing/2014/main" id="{4A1D5A12-F05D-3F1C-1737-1A0EC729BBCD}"/>
              </a:ext>
            </a:extLst>
          </p:cNvPr>
          <p:cNvSpPr/>
          <p:nvPr/>
        </p:nvSpPr>
        <p:spPr>
          <a:xfrm rot="8820000">
            <a:off x="1555533" y="3301254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Triángulo isósceles 29">
            <a:extLst>
              <a:ext uri="{FF2B5EF4-FFF2-40B4-BE49-F238E27FC236}">
                <a16:creationId xmlns:a16="http://schemas.microsoft.com/office/drawing/2014/main" id="{04D9D264-AE22-0735-69F8-1BE68B3AA1F1}"/>
              </a:ext>
            </a:extLst>
          </p:cNvPr>
          <p:cNvSpPr/>
          <p:nvPr/>
        </p:nvSpPr>
        <p:spPr>
          <a:xfrm rot="8820000">
            <a:off x="1555533" y="3301254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5" name="Triángulo isósceles 34">
            <a:extLst>
              <a:ext uri="{FF2B5EF4-FFF2-40B4-BE49-F238E27FC236}">
                <a16:creationId xmlns:a16="http://schemas.microsoft.com/office/drawing/2014/main" id="{8BF072E7-5D07-92A7-3BC4-5AE480EA6C7A}"/>
              </a:ext>
            </a:extLst>
          </p:cNvPr>
          <p:cNvSpPr/>
          <p:nvPr/>
        </p:nvSpPr>
        <p:spPr>
          <a:xfrm rot="8820000">
            <a:off x="1555533" y="3301254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Vamos a comprobar, visualmente, como el área del cuadrado de lado a, es igual que el área de los cuadrados de lado b y de lado c.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C47DB5DA-8BBB-7C42-AFD8-50448E2BA770}"/>
              </a:ext>
            </a:extLst>
          </p:cNvPr>
          <p:cNvGrpSpPr/>
          <p:nvPr/>
        </p:nvGrpSpPr>
        <p:grpSpPr>
          <a:xfrm>
            <a:off x="1052693" y="2350092"/>
            <a:ext cx="2184002" cy="2636464"/>
            <a:chOff x="290956" y="1450889"/>
            <a:chExt cx="4048771" cy="4887562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AA37EF98-4A86-507A-9001-AEEDF9F4B268}"/>
                </a:ext>
              </a:extLst>
            </p:cNvPr>
            <p:cNvSpPr/>
            <p:nvPr/>
          </p:nvSpPr>
          <p:spPr>
            <a:xfrm rot="19599153">
              <a:off x="2989727" y="2276930"/>
              <a:ext cx="1350000" cy="1350000"/>
            </a:xfrm>
            <a:prstGeom prst="rect">
              <a:avLst/>
            </a:prstGeom>
            <a:solidFill>
              <a:srgbClr val="FFFFDB"/>
            </a:solidFill>
            <a:ln w="9525" cap="rnd">
              <a:solidFill>
                <a:srgbClr val="FCF67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EFCDC3D-BDAA-3F22-051A-A4B995331193}"/>
                </a:ext>
              </a:extLst>
            </p:cNvPr>
            <p:cNvSpPr/>
            <p:nvPr/>
          </p:nvSpPr>
          <p:spPr>
            <a:xfrm>
              <a:off x="1021189" y="3886851"/>
              <a:ext cx="2452103" cy="2451600"/>
            </a:xfrm>
            <a:prstGeom prst="rect">
              <a:avLst/>
            </a:prstGeom>
            <a:solidFill>
              <a:srgbClr val="EEFBEF"/>
            </a:solidFill>
            <a:ln w="9525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E1270C8-7E01-6281-756D-DD856B0D42D6}"/>
                </a:ext>
              </a:extLst>
            </p:cNvPr>
            <p:cNvSpPr/>
            <p:nvPr/>
          </p:nvSpPr>
          <p:spPr>
            <a:xfrm rot="19599153">
              <a:off x="290956" y="1450889"/>
              <a:ext cx="2044253" cy="2044800"/>
            </a:xfrm>
            <a:prstGeom prst="rect">
              <a:avLst/>
            </a:prstGeom>
            <a:solidFill>
              <a:srgbClr val="ECF7FC"/>
            </a:solidFill>
            <a:ln w="95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" name="Triángulo isósceles 3">
              <a:extLst>
                <a:ext uri="{FF2B5EF4-FFF2-40B4-BE49-F238E27FC236}">
                  <a16:creationId xmlns:a16="http://schemas.microsoft.com/office/drawing/2014/main" id="{3E6E098F-6AB8-19BB-8085-B146F7806CBC}"/>
                </a:ext>
              </a:extLst>
            </p:cNvPr>
            <p:cNvSpPr/>
            <p:nvPr/>
          </p:nvSpPr>
          <p:spPr>
            <a:xfrm rot="8793340">
              <a:off x="1223114" y="3215163"/>
              <a:ext cx="2048255" cy="1348138"/>
            </a:xfrm>
            <a:prstGeom prst="triangle">
              <a:avLst>
                <a:gd name="adj" fmla="val 0"/>
              </a:avLst>
            </a:prstGeom>
            <a:solidFill>
              <a:srgbClr val="D0B0E7"/>
            </a:solidFill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87CC0EC-1551-C518-FCBC-81FAFBCEC9F6}"/>
              </a:ext>
            </a:extLst>
          </p:cNvPr>
          <p:cNvSpPr/>
          <p:nvPr/>
        </p:nvSpPr>
        <p:spPr>
          <a:xfrm rot="3418691">
            <a:off x="2332315" y="3069668"/>
            <a:ext cx="57150" cy="5715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9AEA1C6-7B06-CDEA-4B49-B12C3EABFF38}"/>
              </a:ext>
            </a:extLst>
          </p:cNvPr>
          <p:cNvSpPr txBox="1"/>
          <p:nvPr/>
        </p:nvSpPr>
        <p:spPr>
          <a:xfrm>
            <a:off x="2335649" y="2885971"/>
            <a:ext cx="45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85A93C1-0026-7AEC-3008-894029882AFD}"/>
              </a:ext>
            </a:extLst>
          </p:cNvPr>
          <p:cNvSpPr txBox="1"/>
          <p:nvPr/>
        </p:nvSpPr>
        <p:spPr>
          <a:xfrm>
            <a:off x="1924168" y="359396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5903788-2FBE-2428-66B2-D493FBA6CB7C}"/>
              </a:ext>
            </a:extLst>
          </p:cNvPr>
          <p:cNvSpPr txBox="1"/>
          <p:nvPr/>
        </p:nvSpPr>
        <p:spPr>
          <a:xfrm>
            <a:off x="1598195" y="306571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9FFDDB7-75AB-3D1F-BC80-E39C38AAC7DC}"/>
              </a:ext>
            </a:extLst>
          </p:cNvPr>
          <p:cNvSpPr txBox="1"/>
          <p:nvPr/>
        </p:nvSpPr>
        <p:spPr>
          <a:xfrm>
            <a:off x="2433022" y="308178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BA8979D-B283-0DD2-AB00-F4BFC8342C52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2B31139-7C5A-0B92-EBF1-04600B1BF66D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74699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ángulo 15">
            <a:extLst>
              <a:ext uri="{FF2B5EF4-FFF2-40B4-BE49-F238E27FC236}">
                <a16:creationId xmlns:a16="http://schemas.microsoft.com/office/drawing/2014/main" id="{FA915EF8-638B-24C3-53C2-E67762ED0825}"/>
              </a:ext>
            </a:extLst>
          </p:cNvPr>
          <p:cNvSpPr/>
          <p:nvPr/>
        </p:nvSpPr>
        <p:spPr>
          <a:xfrm>
            <a:off x="8528061" y="2572548"/>
            <a:ext cx="1831331" cy="1829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8" name="!!Triángulo isósceles 5">
            <a:extLst>
              <a:ext uri="{FF2B5EF4-FFF2-40B4-BE49-F238E27FC236}">
                <a16:creationId xmlns:a16="http://schemas.microsoft.com/office/drawing/2014/main" id="{95913E0A-5D82-FD1A-0B9F-0B64BC5F9C27}"/>
              </a:ext>
            </a:extLst>
          </p:cNvPr>
          <p:cNvSpPr/>
          <p:nvPr/>
        </p:nvSpPr>
        <p:spPr>
          <a:xfrm rot="8820000">
            <a:off x="1550274" y="3298688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49" name="!!Triángulo isósceles 6">
            <a:extLst>
              <a:ext uri="{FF2B5EF4-FFF2-40B4-BE49-F238E27FC236}">
                <a16:creationId xmlns:a16="http://schemas.microsoft.com/office/drawing/2014/main" id="{33942277-2616-9C31-AB7B-68738FD60661}"/>
              </a:ext>
            </a:extLst>
          </p:cNvPr>
          <p:cNvSpPr/>
          <p:nvPr/>
        </p:nvSpPr>
        <p:spPr>
          <a:xfrm rot="8820000">
            <a:off x="1550274" y="3298688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0" name="!!Triángulo isósceles 7">
            <a:extLst>
              <a:ext uri="{FF2B5EF4-FFF2-40B4-BE49-F238E27FC236}">
                <a16:creationId xmlns:a16="http://schemas.microsoft.com/office/drawing/2014/main" id="{B76A78A8-CCC6-CDDC-F24D-EF681887B7FC}"/>
              </a:ext>
            </a:extLst>
          </p:cNvPr>
          <p:cNvSpPr/>
          <p:nvPr/>
        </p:nvSpPr>
        <p:spPr>
          <a:xfrm rot="8820000">
            <a:off x="1550274" y="3298688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1" name="!!Triángulo isósceles 8">
            <a:extLst>
              <a:ext uri="{FF2B5EF4-FFF2-40B4-BE49-F238E27FC236}">
                <a16:creationId xmlns:a16="http://schemas.microsoft.com/office/drawing/2014/main" id="{0B386928-B98B-4D25-F8C5-54B9F038664F}"/>
              </a:ext>
            </a:extLst>
          </p:cNvPr>
          <p:cNvSpPr/>
          <p:nvPr/>
        </p:nvSpPr>
        <p:spPr>
          <a:xfrm rot="8820000">
            <a:off x="1550274" y="3298688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D92E600-79A0-DCA9-6538-3376B2FEB65C}"/>
              </a:ext>
            </a:extLst>
          </p:cNvPr>
          <p:cNvSpPr/>
          <p:nvPr/>
        </p:nvSpPr>
        <p:spPr>
          <a:xfrm>
            <a:off x="4630483" y="2573296"/>
            <a:ext cx="1831331" cy="1829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!!Triángulo isósceles 1">
            <a:extLst>
              <a:ext uri="{FF2B5EF4-FFF2-40B4-BE49-F238E27FC236}">
                <a16:creationId xmlns:a16="http://schemas.microsoft.com/office/drawing/2014/main" id="{BF3469AF-C7F7-B146-BE04-B23A0242EA32}"/>
              </a:ext>
            </a:extLst>
          </p:cNvPr>
          <p:cNvSpPr/>
          <p:nvPr/>
        </p:nvSpPr>
        <p:spPr>
          <a:xfrm rot="8820000">
            <a:off x="1555533" y="3301254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!!Triángulo isósceles 2">
            <a:extLst>
              <a:ext uri="{FF2B5EF4-FFF2-40B4-BE49-F238E27FC236}">
                <a16:creationId xmlns:a16="http://schemas.microsoft.com/office/drawing/2014/main" id="{4A1D5A12-F05D-3F1C-1737-1A0EC729BBCD}"/>
              </a:ext>
            </a:extLst>
          </p:cNvPr>
          <p:cNvSpPr/>
          <p:nvPr/>
        </p:nvSpPr>
        <p:spPr>
          <a:xfrm rot="8820000">
            <a:off x="1555533" y="3301254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0" name="!!Triángulo isósceles 3">
            <a:extLst>
              <a:ext uri="{FF2B5EF4-FFF2-40B4-BE49-F238E27FC236}">
                <a16:creationId xmlns:a16="http://schemas.microsoft.com/office/drawing/2014/main" id="{04D9D264-AE22-0735-69F8-1BE68B3AA1F1}"/>
              </a:ext>
            </a:extLst>
          </p:cNvPr>
          <p:cNvSpPr/>
          <p:nvPr/>
        </p:nvSpPr>
        <p:spPr>
          <a:xfrm rot="8820000">
            <a:off x="1555533" y="3301254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5" name="!!Triángulo isósceles 4">
            <a:extLst>
              <a:ext uri="{FF2B5EF4-FFF2-40B4-BE49-F238E27FC236}">
                <a16:creationId xmlns:a16="http://schemas.microsoft.com/office/drawing/2014/main" id="{8BF072E7-5D07-92A7-3BC4-5AE480EA6C7A}"/>
              </a:ext>
            </a:extLst>
          </p:cNvPr>
          <p:cNvSpPr/>
          <p:nvPr/>
        </p:nvSpPr>
        <p:spPr>
          <a:xfrm rot="8820000">
            <a:off x="1555533" y="3301254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!Marco 10">
            <a:extLst>
              <a:ext uri="{FF2B5EF4-FFF2-40B4-BE49-F238E27FC236}">
                <a16:creationId xmlns:a16="http://schemas.microsoft.com/office/drawing/2014/main" id="{206EB99F-C40E-6A47-D4FD-E991EA7BB2EF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CuadroTexto 1">
            <a:extLst>
              <a:ext uri="{FF2B5EF4-FFF2-40B4-BE49-F238E27FC236}">
                <a16:creationId xmlns:a16="http://schemas.microsoft.com/office/drawing/2014/main" id="{1C6B913A-99FD-1A1D-B485-29712A9AD0B2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Vamos a comprobar, visualmente, como el área del cuadrado de lado a, es igual que el área de los cuadrados de lado b y de lado c.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C47DB5DA-8BBB-7C42-AFD8-50448E2BA770}"/>
              </a:ext>
            </a:extLst>
          </p:cNvPr>
          <p:cNvGrpSpPr/>
          <p:nvPr/>
        </p:nvGrpSpPr>
        <p:grpSpPr>
          <a:xfrm>
            <a:off x="1052693" y="2350092"/>
            <a:ext cx="2184002" cy="2636464"/>
            <a:chOff x="290956" y="1450889"/>
            <a:chExt cx="4048771" cy="4887562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AA37EF98-4A86-507A-9001-AEEDF9F4B268}"/>
                </a:ext>
              </a:extLst>
            </p:cNvPr>
            <p:cNvSpPr/>
            <p:nvPr/>
          </p:nvSpPr>
          <p:spPr>
            <a:xfrm rot="19599153">
              <a:off x="2989727" y="2276930"/>
              <a:ext cx="1350000" cy="1350000"/>
            </a:xfrm>
            <a:prstGeom prst="rect">
              <a:avLst/>
            </a:prstGeom>
            <a:solidFill>
              <a:srgbClr val="FFFFDB"/>
            </a:solidFill>
            <a:ln w="9525" cap="rnd">
              <a:solidFill>
                <a:srgbClr val="FCF67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7" name="Rectángulo 6">
              <a:extLst>
                <a:ext uri="{FF2B5EF4-FFF2-40B4-BE49-F238E27FC236}">
                  <a16:creationId xmlns:a16="http://schemas.microsoft.com/office/drawing/2014/main" id="{EEFCDC3D-BDAA-3F22-051A-A4B995331193}"/>
                </a:ext>
              </a:extLst>
            </p:cNvPr>
            <p:cNvSpPr/>
            <p:nvPr/>
          </p:nvSpPr>
          <p:spPr>
            <a:xfrm>
              <a:off x="1021189" y="3886851"/>
              <a:ext cx="2452103" cy="2451600"/>
            </a:xfrm>
            <a:prstGeom prst="rect">
              <a:avLst/>
            </a:prstGeom>
            <a:solidFill>
              <a:srgbClr val="EEFBEF"/>
            </a:solidFill>
            <a:ln w="9525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AE1270C8-7E01-6281-756D-DD856B0D42D6}"/>
                </a:ext>
              </a:extLst>
            </p:cNvPr>
            <p:cNvSpPr/>
            <p:nvPr/>
          </p:nvSpPr>
          <p:spPr>
            <a:xfrm rot="19599153">
              <a:off x="290956" y="1450889"/>
              <a:ext cx="2044253" cy="2044800"/>
            </a:xfrm>
            <a:prstGeom prst="rect">
              <a:avLst/>
            </a:prstGeom>
            <a:solidFill>
              <a:srgbClr val="ECF7FC"/>
            </a:solidFill>
            <a:ln w="95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4" name="Triángulo isósceles 3">
              <a:extLst>
                <a:ext uri="{FF2B5EF4-FFF2-40B4-BE49-F238E27FC236}">
                  <a16:creationId xmlns:a16="http://schemas.microsoft.com/office/drawing/2014/main" id="{3E6E098F-6AB8-19BB-8085-B146F7806CBC}"/>
                </a:ext>
              </a:extLst>
            </p:cNvPr>
            <p:cNvSpPr/>
            <p:nvPr/>
          </p:nvSpPr>
          <p:spPr>
            <a:xfrm rot="8793340">
              <a:off x="1223114" y="3215163"/>
              <a:ext cx="2048256" cy="1348138"/>
            </a:xfrm>
            <a:prstGeom prst="triangle">
              <a:avLst>
                <a:gd name="adj" fmla="val 0"/>
              </a:avLst>
            </a:prstGeom>
            <a:solidFill>
              <a:srgbClr val="D0B0E7"/>
            </a:solidFill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15" name="Rectángulo 14">
            <a:extLst>
              <a:ext uri="{FF2B5EF4-FFF2-40B4-BE49-F238E27FC236}">
                <a16:creationId xmlns:a16="http://schemas.microsoft.com/office/drawing/2014/main" id="{587CC0EC-1551-C518-FCBC-81FAFBCEC9F6}"/>
              </a:ext>
            </a:extLst>
          </p:cNvPr>
          <p:cNvSpPr/>
          <p:nvPr/>
        </p:nvSpPr>
        <p:spPr>
          <a:xfrm rot="3418691">
            <a:off x="2332315" y="3069668"/>
            <a:ext cx="57150" cy="5715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9AEA1C6-7B06-CDEA-4B49-B12C3EABFF38}"/>
              </a:ext>
            </a:extLst>
          </p:cNvPr>
          <p:cNvSpPr txBox="1"/>
          <p:nvPr/>
        </p:nvSpPr>
        <p:spPr>
          <a:xfrm>
            <a:off x="2335649" y="2885971"/>
            <a:ext cx="45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85A93C1-0026-7AEC-3008-894029882AFD}"/>
              </a:ext>
            </a:extLst>
          </p:cNvPr>
          <p:cNvSpPr txBox="1"/>
          <p:nvPr/>
        </p:nvSpPr>
        <p:spPr>
          <a:xfrm>
            <a:off x="1924168" y="359396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5903788-2FBE-2428-66B2-D493FBA6CB7C}"/>
              </a:ext>
            </a:extLst>
          </p:cNvPr>
          <p:cNvSpPr txBox="1"/>
          <p:nvPr/>
        </p:nvSpPr>
        <p:spPr>
          <a:xfrm>
            <a:off x="1598195" y="306571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79FFDDB7-75AB-3D1F-BC80-E39C38AAC7DC}"/>
              </a:ext>
            </a:extLst>
          </p:cNvPr>
          <p:cNvSpPr txBox="1"/>
          <p:nvPr/>
        </p:nvSpPr>
        <p:spPr>
          <a:xfrm>
            <a:off x="2433022" y="308178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626FDC39-1883-11A8-6DFC-9AA08B778069}"/>
              </a:ext>
            </a:extLst>
          </p:cNvPr>
          <p:cNvSpPr txBox="1"/>
          <p:nvPr/>
        </p:nvSpPr>
        <p:spPr>
          <a:xfrm>
            <a:off x="5015877" y="2238154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548C2166-E8EC-FCCE-D27C-BACEDF1E498E}"/>
              </a:ext>
            </a:extLst>
          </p:cNvPr>
          <p:cNvSpPr txBox="1"/>
          <p:nvPr/>
        </p:nvSpPr>
        <p:spPr>
          <a:xfrm>
            <a:off x="6364617" y="3303215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F7273387-EBA1-7254-AF77-693A59D715D5}"/>
              </a:ext>
            </a:extLst>
          </p:cNvPr>
          <p:cNvSpPr txBox="1"/>
          <p:nvPr/>
        </p:nvSpPr>
        <p:spPr>
          <a:xfrm>
            <a:off x="3587357" y="3303215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626B7891-3BD5-F1E0-F5B7-9097E9080865}"/>
              </a:ext>
            </a:extLst>
          </p:cNvPr>
          <p:cNvSpPr txBox="1"/>
          <p:nvPr/>
        </p:nvSpPr>
        <p:spPr>
          <a:xfrm>
            <a:off x="5015877" y="4401718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15334B2-9DC4-A0BE-03CD-2C64876CCAF2}"/>
              </a:ext>
            </a:extLst>
          </p:cNvPr>
          <p:cNvSpPr txBox="1"/>
          <p:nvPr/>
        </p:nvSpPr>
        <p:spPr>
          <a:xfrm>
            <a:off x="8913455" y="2237406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26289F9-0E2A-830B-8F65-520A7E6D4CDB}"/>
              </a:ext>
            </a:extLst>
          </p:cNvPr>
          <p:cNvSpPr txBox="1"/>
          <p:nvPr/>
        </p:nvSpPr>
        <p:spPr>
          <a:xfrm>
            <a:off x="10262195" y="3302467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15011624-C5D1-E7E8-EC74-C570062D823C}"/>
              </a:ext>
            </a:extLst>
          </p:cNvPr>
          <p:cNvSpPr txBox="1"/>
          <p:nvPr/>
        </p:nvSpPr>
        <p:spPr>
          <a:xfrm>
            <a:off x="7484935" y="3302467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0D69710-3F17-E7FF-DDC8-D941BBA59BE7}"/>
              </a:ext>
            </a:extLst>
          </p:cNvPr>
          <p:cNvSpPr txBox="1"/>
          <p:nvPr/>
        </p:nvSpPr>
        <p:spPr>
          <a:xfrm>
            <a:off x="8913455" y="4400970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4BB75923-959C-C9D8-322C-15ACAFCD169F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088C2C3-BFB7-42CF-8CA4-C95A7B4A04C4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8986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" grpId="0" animBg="1"/>
      <p:bldP spid="8" grpId="0"/>
      <p:bldP spid="9" grpId="0"/>
      <p:bldP spid="11" grpId="0"/>
      <p:bldP spid="12" grpId="0"/>
      <p:bldP spid="21" grpId="0"/>
      <p:bldP spid="22" grpId="0"/>
      <p:bldP spid="23" grpId="0"/>
      <p:bldP spid="2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ángulo 93">
            <a:extLst>
              <a:ext uri="{FF2B5EF4-FFF2-40B4-BE49-F238E27FC236}">
                <a16:creationId xmlns:a16="http://schemas.microsoft.com/office/drawing/2014/main" id="{1B2D4790-6EF9-8D1D-10C2-A48864DACE36}"/>
              </a:ext>
            </a:extLst>
          </p:cNvPr>
          <p:cNvSpPr/>
          <p:nvPr/>
        </p:nvSpPr>
        <p:spPr>
          <a:xfrm>
            <a:off x="8528061" y="2572548"/>
            <a:ext cx="1831331" cy="1829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9" name="!!Triángulo isósceles 5">
            <a:extLst>
              <a:ext uri="{FF2B5EF4-FFF2-40B4-BE49-F238E27FC236}">
                <a16:creationId xmlns:a16="http://schemas.microsoft.com/office/drawing/2014/main" id="{B864F3EB-1B89-E8F0-B8DE-86366FA9C779}"/>
              </a:ext>
            </a:extLst>
          </p:cNvPr>
          <p:cNvSpPr/>
          <p:nvPr/>
        </p:nvSpPr>
        <p:spPr>
          <a:xfrm rot="8820000">
            <a:off x="1550274" y="3298688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0" name="!!Triángulo isósceles 6">
            <a:extLst>
              <a:ext uri="{FF2B5EF4-FFF2-40B4-BE49-F238E27FC236}">
                <a16:creationId xmlns:a16="http://schemas.microsoft.com/office/drawing/2014/main" id="{90509B0C-3F66-E863-DC4F-E9501B71C077}"/>
              </a:ext>
            </a:extLst>
          </p:cNvPr>
          <p:cNvSpPr/>
          <p:nvPr/>
        </p:nvSpPr>
        <p:spPr>
          <a:xfrm rot="8820000">
            <a:off x="1550274" y="3298688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1" name="!!Triángulo isósceles 7">
            <a:extLst>
              <a:ext uri="{FF2B5EF4-FFF2-40B4-BE49-F238E27FC236}">
                <a16:creationId xmlns:a16="http://schemas.microsoft.com/office/drawing/2014/main" id="{BA6BF211-90C4-3EDE-CA9B-EE6CC66B4E1F}"/>
              </a:ext>
            </a:extLst>
          </p:cNvPr>
          <p:cNvSpPr/>
          <p:nvPr/>
        </p:nvSpPr>
        <p:spPr>
          <a:xfrm rot="8820000">
            <a:off x="1550274" y="3298688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2" name="!!Triángulo isósceles 8">
            <a:extLst>
              <a:ext uri="{FF2B5EF4-FFF2-40B4-BE49-F238E27FC236}">
                <a16:creationId xmlns:a16="http://schemas.microsoft.com/office/drawing/2014/main" id="{7C9CD9BF-D603-07E4-4EFB-C4FC25E478FC}"/>
              </a:ext>
            </a:extLst>
          </p:cNvPr>
          <p:cNvSpPr/>
          <p:nvPr/>
        </p:nvSpPr>
        <p:spPr>
          <a:xfrm rot="8820000">
            <a:off x="1550274" y="3298688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3" name="!!Rectángulo a">
            <a:extLst>
              <a:ext uri="{FF2B5EF4-FFF2-40B4-BE49-F238E27FC236}">
                <a16:creationId xmlns:a16="http://schemas.microsoft.com/office/drawing/2014/main" id="{6A63E8E0-F9D0-125F-308E-F1BFAF568653}"/>
              </a:ext>
            </a:extLst>
          </p:cNvPr>
          <p:cNvSpPr/>
          <p:nvPr/>
        </p:nvSpPr>
        <p:spPr>
          <a:xfrm>
            <a:off x="1447199" y="3660030"/>
            <a:ext cx="1322722" cy="1322450"/>
          </a:xfrm>
          <a:prstGeom prst="rect">
            <a:avLst/>
          </a:prstGeom>
          <a:solidFill>
            <a:srgbClr val="EEFBEF"/>
          </a:solidFill>
          <a:ln w="9525"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AF952E-9F8C-CA52-1162-E1EFBAAC7504}"/>
              </a:ext>
            </a:extLst>
          </p:cNvPr>
          <p:cNvSpPr/>
          <p:nvPr/>
        </p:nvSpPr>
        <p:spPr>
          <a:xfrm>
            <a:off x="4630483" y="2573296"/>
            <a:ext cx="1831331" cy="1829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!!Triángulo isósceles 1">
            <a:extLst>
              <a:ext uri="{FF2B5EF4-FFF2-40B4-BE49-F238E27FC236}">
                <a16:creationId xmlns:a16="http://schemas.microsoft.com/office/drawing/2014/main" id="{AAC0C739-38B2-E443-DE54-3FC489561761}"/>
              </a:ext>
            </a:extLst>
          </p:cNvPr>
          <p:cNvSpPr/>
          <p:nvPr/>
        </p:nvSpPr>
        <p:spPr>
          <a:xfrm rot="5400000">
            <a:off x="4441653" y="2762126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!!Triángulo isósceles 2">
            <a:extLst>
              <a:ext uri="{FF2B5EF4-FFF2-40B4-BE49-F238E27FC236}">
                <a16:creationId xmlns:a16="http://schemas.microsoft.com/office/drawing/2014/main" id="{BD6DC9B2-8B70-2EE3-0DB4-1F6BFC63CA53}"/>
              </a:ext>
            </a:extLst>
          </p:cNvPr>
          <p:cNvSpPr/>
          <p:nvPr/>
        </p:nvSpPr>
        <p:spPr>
          <a:xfrm rot="10800000">
            <a:off x="5365204" y="2573296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!Triángulo isósceles 3">
            <a:extLst>
              <a:ext uri="{FF2B5EF4-FFF2-40B4-BE49-F238E27FC236}">
                <a16:creationId xmlns:a16="http://schemas.microsoft.com/office/drawing/2014/main" id="{10D39C61-98C0-CCBB-BE3E-ABCE0E1BC598}"/>
              </a:ext>
            </a:extLst>
          </p:cNvPr>
          <p:cNvSpPr/>
          <p:nvPr/>
        </p:nvSpPr>
        <p:spPr>
          <a:xfrm rot="16200000">
            <a:off x="5554034" y="3488210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!!Triángulo isósceles 4">
            <a:extLst>
              <a:ext uri="{FF2B5EF4-FFF2-40B4-BE49-F238E27FC236}">
                <a16:creationId xmlns:a16="http://schemas.microsoft.com/office/drawing/2014/main" id="{8231E796-5D7C-5744-DCD2-3570D6E3CEAB}"/>
              </a:ext>
            </a:extLst>
          </p:cNvPr>
          <p:cNvSpPr/>
          <p:nvPr/>
        </p:nvSpPr>
        <p:spPr>
          <a:xfrm>
            <a:off x="4630483" y="3675249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662F315-71BC-CDE8-2DA9-03950373AE81}"/>
              </a:ext>
            </a:extLst>
          </p:cNvPr>
          <p:cNvSpPr txBox="1"/>
          <p:nvPr/>
        </p:nvSpPr>
        <p:spPr>
          <a:xfrm>
            <a:off x="4234266" y="292255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6E6A733-CBDB-76DF-35E0-20E22F47DDAC}"/>
              </a:ext>
            </a:extLst>
          </p:cNvPr>
          <p:cNvSpPr txBox="1"/>
          <p:nvPr/>
        </p:nvSpPr>
        <p:spPr>
          <a:xfrm>
            <a:off x="4765491" y="223067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C0BDB1C-86CC-BF00-5161-C9D51B4539A3}"/>
              </a:ext>
            </a:extLst>
          </p:cNvPr>
          <p:cNvSpPr txBox="1"/>
          <p:nvPr/>
        </p:nvSpPr>
        <p:spPr>
          <a:xfrm>
            <a:off x="4861210" y="301705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D26CDC2-EF2F-F568-C2F8-687739175FBD}"/>
              </a:ext>
            </a:extLst>
          </p:cNvPr>
          <p:cNvSpPr txBox="1"/>
          <p:nvPr/>
        </p:nvSpPr>
        <p:spPr>
          <a:xfrm>
            <a:off x="6418805" y="269494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1348006-0D24-ECE8-B3AF-57A7CC9B50A9}"/>
              </a:ext>
            </a:extLst>
          </p:cNvPr>
          <p:cNvSpPr txBox="1"/>
          <p:nvPr/>
        </p:nvSpPr>
        <p:spPr>
          <a:xfrm>
            <a:off x="5734710" y="223067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87A1062-F39F-0B09-92DF-3C85261A956B}"/>
              </a:ext>
            </a:extLst>
          </p:cNvPr>
          <p:cNvSpPr txBox="1"/>
          <p:nvPr/>
        </p:nvSpPr>
        <p:spPr>
          <a:xfrm>
            <a:off x="5649272" y="289466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2537464-4115-FD0C-B4BF-113152DF669A}"/>
              </a:ext>
            </a:extLst>
          </p:cNvPr>
          <p:cNvSpPr txBox="1"/>
          <p:nvPr/>
        </p:nvSpPr>
        <p:spPr>
          <a:xfrm>
            <a:off x="5891924" y="436480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B7A8041-E29F-65B5-362E-C92C0E5C222D}"/>
              </a:ext>
            </a:extLst>
          </p:cNvPr>
          <p:cNvSpPr txBox="1"/>
          <p:nvPr/>
        </p:nvSpPr>
        <p:spPr>
          <a:xfrm>
            <a:off x="6421834" y="374532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5D0F988-2BF3-8C6F-D80A-8C4561340DCA}"/>
              </a:ext>
            </a:extLst>
          </p:cNvPr>
          <p:cNvSpPr txBox="1"/>
          <p:nvPr/>
        </p:nvSpPr>
        <p:spPr>
          <a:xfrm>
            <a:off x="5776808" y="350929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D1FAE46-3BA8-93BC-F319-44DC3D9BB9E3}"/>
              </a:ext>
            </a:extLst>
          </p:cNvPr>
          <p:cNvSpPr txBox="1"/>
          <p:nvPr/>
        </p:nvSpPr>
        <p:spPr>
          <a:xfrm>
            <a:off x="4234266" y="387687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DCB7945-F053-546D-C27C-E9AC701B4E3C}"/>
              </a:ext>
            </a:extLst>
          </p:cNvPr>
          <p:cNvSpPr txBox="1"/>
          <p:nvPr/>
        </p:nvSpPr>
        <p:spPr>
          <a:xfrm>
            <a:off x="4880014" y="436480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6F9C278-C859-AE93-F9E8-D3FBBEE3CFFC}"/>
              </a:ext>
            </a:extLst>
          </p:cNvPr>
          <p:cNvSpPr txBox="1"/>
          <p:nvPr/>
        </p:nvSpPr>
        <p:spPr>
          <a:xfrm>
            <a:off x="5009464" y="366439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D85D3CC8-C881-9914-6950-E48C93027546}"/>
              </a:ext>
            </a:extLst>
          </p:cNvPr>
          <p:cNvGrpSpPr/>
          <p:nvPr/>
        </p:nvGrpSpPr>
        <p:grpSpPr>
          <a:xfrm>
            <a:off x="1052693" y="2350092"/>
            <a:ext cx="2184002" cy="2636464"/>
            <a:chOff x="290956" y="1450889"/>
            <a:chExt cx="4048771" cy="4887562"/>
          </a:xfrm>
        </p:grpSpPr>
        <p:sp>
          <p:nvSpPr>
            <p:cNvPr id="63" name="Rectángulo 62">
              <a:extLst>
                <a:ext uri="{FF2B5EF4-FFF2-40B4-BE49-F238E27FC236}">
                  <a16:creationId xmlns:a16="http://schemas.microsoft.com/office/drawing/2014/main" id="{4D50F965-A42C-466F-82E4-E755D47C7632}"/>
                </a:ext>
              </a:extLst>
            </p:cNvPr>
            <p:cNvSpPr/>
            <p:nvPr/>
          </p:nvSpPr>
          <p:spPr>
            <a:xfrm rot="19599153">
              <a:off x="2989727" y="2276930"/>
              <a:ext cx="1350000" cy="1350000"/>
            </a:xfrm>
            <a:prstGeom prst="rect">
              <a:avLst/>
            </a:prstGeom>
            <a:solidFill>
              <a:srgbClr val="FFFFDB"/>
            </a:solidFill>
            <a:ln w="9525" cap="rnd">
              <a:solidFill>
                <a:srgbClr val="FCF67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3C740D21-8091-77DD-4B44-BAC21D8E59DC}"/>
                </a:ext>
              </a:extLst>
            </p:cNvPr>
            <p:cNvSpPr/>
            <p:nvPr/>
          </p:nvSpPr>
          <p:spPr>
            <a:xfrm>
              <a:off x="1021189" y="3886851"/>
              <a:ext cx="2452103" cy="2451600"/>
            </a:xfrm>
            <a:prstGeom prst="rect">
              <a:avLst/>
            </a:prstGeom>
            <a:solidFill>
              <a:srgbClr val="EEFBEF"/>
            </a:solidFill>
            <a:ln w="9525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Rectángulo 64">
              <a:extLst>
                <a:ext uri="{FF2B5EF4-FFF2-40B4-BE49-F238E27FC236}">
                  <a16:creationId xmlns:a16="http://schemas.microsoft.com/office/drawing/2014/main" id="{64D967B0-7C88-7251-7B0D-84E8BD8C30DF}"/>
                </a:ext>
              </a:extLst>
            </p:cNvPr>
            <p:cNvSpPr/>
            <p:nvPr/>
          </p:nvSpPr>
          <p:spPr>
            <a:xfrm rot="19599153">
              <a:off x="290956" y="1450889"/>
              <a:ext cx="2044253" cy="2044800"/>
            </a:xfrm>
            <a:prstGeom prst="rect">
              <a:avLst/>
            </a:prstGeom>
            <a:solidFill>
              <a:srgbClr val="ECF7FC"/>
            </a:solidFill>
            <a:ln w="95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6" name="Triángulo isósceles 65">
              <a:extLst>
                <a:ext uri="{FF2B5EF4-FFF2-40B4-BE49-F238E27FC236}">
                  <a16:creationId xmlns:a16="http://schemas.microsoft.com/office/drawing/2014/main" id="{600B7A6F-C195-67FC-F67F-1A5EB3FC8F27}"/>
                </a:ext>
              </a:extLst>
            </p:cNvPr>
            <p:cNvSpPr/>
            <p:nvPr/>
          </p:nvSpPr>
          <p:spPr>
            <a:xfrm rot="8793340">
              <a:off x="1223115" y="3215162"/>
              <a:ext cx="2048256" cy="1348138"/>
            </a:xfrm>
            <a:prstGeom prst="triangle">
              <a:avLst>
                <a:gd name="adj" fmla="val 0"/>
              </a:avLst>
            </a:prstGeom>
            <a:solidFill>
              <a:srgbClr val="D0B0E7"/>
            </a:solidFill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67" name="Rectángulo 66">
            <a:extLst>
              <a:ext uri="{FF2B5EF4-FFF2-40B4-BE49-F238E27FC236}">
                <a16:creationId xmlns:a16="http://schemas.microsoft.com/office/drawing/2014/main" id="{329E6B8B-6397-9F3E-8A99-BB8E4BEE7839}"/>
              </a:ext>
            </a:extLst>
          </p:cNvPr>
          <p:cNvSpPr/>
          <p:nvPr/>
        </p:nvSpPr>
        <p:spPr>
          <a:xfrm rot="3418691">
            <a:off x="2332315" y="3069668"/>
            <a:ext cx="57150" cy="5715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358F8908-47CA-B935-D1CA-411546223580}"/>
              </a:ext>
            </a:extLst>
          </p:cNvPr>
          <p:cNvSpPr txBox="1"/>
          <p:nvPr/>
        </p:nvSpPr>
        <p:spPr>
          <a:xfrm>
            <a:off x="2335649" y="2885971"/>
            <a:ext cx="45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57746073-68AD-7C88-4D04-F31617C122CD}"/>
              </a:ext>
            </a:extLst>
          </p:cNvPr>
          <p:cNvSpPr txBox="1"/>
          <p:nvPr/>
        </p:nvSpPr>
        <p:spPr>
          <a:xfrm>
            <a:off x="1924168" y="359396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EBF1C693-67AB-DF17-8AAE-BCD6E09AF00C}"/>
              </a:ext>
            </a:extLst>
          </p:cNvPr>
          <p:cNvSpPr txBox="1"/>
          <p:nvPr/>
        </p:nvSpPr>
        <p:spPr>
          <a:xfrm>
            <a:off x="1598195" y="306571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69C64AF8-A550-49CD-E5CA-B8D18F1584BB}"/>
              </a:ext>
            </a:extLst>
          </p:cNvPr>
          <p:cNvSpPr txBox="1"/>
          <p:nvPr/>
        </p:nvSpPr>
        <p:spPr>
          <a:xfrm>
            <a:off x="2433022" y="308178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91" name="!Marco 10">
            <a:extLst>
              <a:ext uri="{FF2B5EF4-FFF2-40B4-BE49-F238E27FC236}">
                <a16:creationId xmlns:a16="http://schemas.microsoft.com/office/drawing/2014/main" id="{D5A06BA5-F930-7A24-D76A-CD1C2C25D69E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!CuadroTexto 1">
            <a:extLst>
              <a:ext uri="{FF2B5EF4-FFF2-40B4-BE49-F238E27FC236}">
                <a16:creationId xmlns:a16="http://schemas.microsoft.com/office/drawing/2014/main" id="{545C84F0-07B4-1DBC-D9BD-B7466EE17A2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Vamos a comprobar, visualmente, como el área del cuadrado de lado a, es igual que el área de los cuadrados de lado b y de lado c.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95" name="CuadroTexto 94">
            <a:extLst>
              <a:ext uri="{FF2B5EF4-FFF2-40B4-BE49-F238E27FC236}">
                <a16:creationId xmlns:a16="http://schemas.microsoft.com/office/drawing/2014/main" id="{2A705A84-BA44-AF8C-BF3C-28030A52436D}"/>
              </a:ext>
            </a:extLst>
          </p:cNvPr>
          <p:cNvSpPr txBox="1"/>
          <p:nvPr/>
        </p:nvSpPr>
        <p:spPr>
          <a:xfrm>
            <a:off x="8913455" y="2237406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96" name="CuadroTexto 95">
            <a:extLst>
              <a:ext uri="{FF2B5EF4-FFF2-40B4-BE49-F238E27FC236}">
                <a16:creationId xmlns:a16="http://schemas.microsoft.com/office/drawing/2014/main" id="{996447BD-A08F-4DEE-5C35-72CF097C822A}"/>
              </a:ext>
            </a:extLst>
          </p:cNvPr>
          <p:cNvSpPr txBox="1"/>
          <p:nvPr/>
        </p:nvSpPr>
        <p:spPr>
          <a:xfrm>
            <a:off x="10262195" y="3302467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97" name="CuadroTexto 96">
            <a:extLst>
              <a:ext uri="{FF2B5EF4-FFF2-40B4-BE49-F238E27FC236}">
                <a16:creationId xmlns:a16="http://schemas.microsoft.com/office/drawing/2014/main" id="{F78B60E4-0559-1095-7DF7-0FE50ABF0D10}"/>
              </a:ext>
            </a:extLst>
          </p:cNvPr>
          <p:cNvSpPr txBox="1"/>
          <p:nvPr/>
        </p:nvSpPr>
        <p:spPr>
          <a:xfrm>
            <a:off x="7484935" y="3302467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98" name="CuadroTexto 97">
            <a:extLst>
              <a:ext uri="{FF2B5EF4-FFF2-40B4-BE49-F238E27FC236}">
                <a16:creationId xmlns:a16="http://schemas.microsoft.com/office/drawing/2014/main" id="{2DFF694A-8E95-CA64-D6B3-5AD21D303FAC}"/>
              </a:ext>
            </a:extLst>
          </p:cNvPr>
          <p:cNvSpPr txBox="1"/>
          <p:nvPr/>
        </p:nvSpPr>
        <p:spPr>
          <a:xfrm>
            <a:off x="8913455" y="4400970"/>
            <a:ext cx="1097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 + c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06733CF-DA9B-FB60-A62E-E5E814A873D4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5F062D1-52EF-496D-9FD7-2392E829F0D4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901839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5" grpId="0"/>
      <p:bldP spid="36" grpId="0"/>
      <p:bldP spid="32" grpId="0"/>
      <p:bldP spid="33" grpId="0"/>
      <p:bldP spid="37" grpId="0"/>
      <p:bldP spid="31" grpId="0"/>
      <p:bldP spid="34" grpId="0"/>
      <p:bldP spid="38" grpId="0"/>
      <p:bldP spid="21" grpId="0"/>
      <p:bldP spid="22" grpId="0"/>
      <p:bldP spid="3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!!Rectángulo a">
            <a:extLst>
              <a:ext uri="{FF2B5EF4-FFF2-40B4-BE49-F238E27FC236}">
                <a16:creationId xmlns:a16="http://schemas.microsoft.com/office/drawing/2014/main" id="{6A63E8E0-F9D0-125F-308E-F1BFAF568653}"/>
              </a:ext>
            </a:extLst>
          </p:cNvPr>
          <p:cNvSpPr/>
          <p:nvPr/>
        </p:nvSpPr>
        <p:spPr>
          <a:xfrm>
            <a:off x="1447199" y="3660030"/>
            <a:ext cx="1322722" cy="1322450"/>
          </a:xfrm>
          <a:prstGeom prst="rect">
            <a:avLst/>
          </a:prstGeom>
          <a:solidFill>
            <a:srgbClr val="EEFBEF"/>
          </a:solidFill>
          <a:ln w="9525" cap="rnd">
            <a:solidFill>
              <a:schemeClr val="accent3">
                <a:lumMod val="60000"/>
                <a:lumOff val="4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AF952E-9F8C-CA52-1162-E1EFBAAC7504}"/>
              </a:ext>
            </a:extLst>
          </p:cNvPr>
          <p:cNvSpPr/>
          <p:nvPr/>
        </p:nvSpPr>
        <p:spPr>
          <a:xfrm>
            <a:off x="4630483" y="2573296"/>
            <a:ext cx="1831331" cy="1829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!!Triángulo isósceles 1">
            <a:extLst>
              <a:ext uri="{FF2B5EF4-FFF2-40B4-BE49-F238E27FC236}">
                <a16:creationId xmlns:a16="http://schemas.microsoft.com/office/drawing/2014/main" id="{AAC0C739-38B2-E443-DE54-3FC489561761}"/>
              </a:ext>
            </a:extLst>
          </p:cNvPr>
          <p:cNvSpPr/>
          <p:nvPr/>
        </p:nvSpPr>
        <p:spPr>
          <a:xfrm rot="5400000">
            <a:off x="4441653" y="2762126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!!Triángulo isósceles 2">
            <a:extLst>
              <a:ext uri="{FF2B5EF4-FFF2-40B4-BE49-F238E27FC236}">
                <a16:creationId xmlns:a16="http://schemas.microsoft.com/office/drawing/2014/main" id="{BD6DC9B2-8B70-2EE3-0DB4-1F6BFC63CA53}"/>
              </a:ext>
            </a:extLst>
          </p:cNvPr>
          <p:cNvSpPr/>
          <p:nvPr/>
        </p:nvSpPr>
        <p:spPr>
          <a:xfrm rot="10800000">
            <a:off x="5365204" y="2573296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!!Triángulo isósceles 3">
            <a:extLst>
              <a:ext uri="{FF2B5EF4-FFF2-40B4-BE49-F238E27FC236}">
                <a16:creationId xmlns:a16="http://schemas.microsoft.com/office/drawing/2014/main" id="{10D39C61-98C0-CCBB-BE3E-ABCE0E1BC598}"/>
              </a:ext>
            </a:extLst>
          </p:cNvPr>
          <p:cNvSpPr/>
          <p:nvPr/>
        </p:nvSpPr>
        <p:spPr>
          <a:xfrm rot="16200000">
            <a:off x="5554034" y="3488210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1" name="!!Triángulo isósceles 4">
            <a:extLst>
              <a:ext uri="{FF2B5EF4-FFF2-40B4-BE49-F238E27FC236}">
                <a16:creationId xmlns:a16="http://schemas.microsoft.com/office/drawing/2014/main" id="{8231E796-5D7C-5744-DCD2-3570D6E3CEAB}"/>
              </a:ext>
            </a:extLst>
          </p:cNvPr>
          <p:cNvSpPr/>
          <p:nvPr/>
        </p:nvSpPr>
        <p:spPr>
          <a:xfrm>
            <a:off x="4630483" y="3675249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4" name="Rectángulo 93">
            <a:extLst>
              <a:ext uri="{FF2B5EF4-FFF2-40B4-BE49-F238E27FC236}">
                <a16:creationId xmlns:a16="http://schemas.microsoft.com/office/drawing/2014/main" id="{1B2D4790-6EF9-8D1D-10C2-A48864DACE36}"/>
              </a:ext>
            </a:extLst>
          </p:cNvPr>
          <p:cNvSpPr/>
          <p:nvPr/>
        </p:nvSpPr>
        <p:spPr>
          <a:xfrm>
            <a:off x="8528061" y="2572548"/>
            <a:ext cx="1831331" cy="1829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!!Triángulo isósceles 5">
            <a:extLst>
              <a:ext uri="{FF2B5EF4-FFF2-40B4-BE49-F238E27FC236}">
                <a16:creationId xmlns:a16="http://schemas.microsoft.com/office/drawing/2014/main" id="{1C3915A3-0E74-7A21-6393-79FC2E9EEC5F}"/>
              </a:ext>
            </a:extLst>
          </p:cNvPr>
          <p:cNvSpPr/>
          <p:nvPr/>
        </p:nvSpPr>
        <p:spPr>
          <a:xfrm rot="16200000">
            <a:off x="9445410" y="2756370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!!Triángulo isósceles 6">
            <a:extLst>
              <a:ext uri="{FF2B5EF4-FFF2-40B4-BE49-F238E27FC236}">
                <a16:creationId xmlns:a16="http://schemas.microsoft.com/office/drawing/2014/main" id="{BCDB8D4B-04E7-47EF-ED51-D79378D970B8}"/>
              </a:ext>
            </a:extLst>
          </p:cNvPr>
          <p:cNvSpPr/>
          <p:nvPr/>
        </p:nvSpPr>
        <p:spPr>
          <a:xfrm>
            <a:off x="8525538" y="3671373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!!Triángulo isósceles 7">
            <a:extLst>
              <a:ext uri="{FF2B5EF4-FFF2-40B4-BE49-F238E27FC236}">
                <a16:creationId xmlns:a16="http://schemas.microsoft.com/office/drawing/2014/main" id="{BE356CBB-E420-FEE6-A0C3-B80BD06DD463}"/>
              </a:ext>
            </a:extLst>
          </p:cNvPr>
          <p:cNvSpPr/>
          <p:nvPr/>
        </p:nvSpPr>
        <p:spPr>
          <a:xfrm rot="5400000">
            <a:off x="9447791" y="2753990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!!Triángulo isósceles 8">
            <a:extLst>
              <a:ext uri="{FF2B5EF4-FFF2-40B4-BE49-F238E27FC236}">
                <a16:creationId xmlns:a16="http://schemas.microsoft.com/office/drawing/2014/main" id="{5C50D421-882C-DA75-9296-4C57E26CC03C}"/>
              </a:ext>
            </a:extLst>
          </p:cNvPr>
          <p:cNvSpPr/>
          <p:nvPr/>
        </p:nvSpPr>
        <p:spPr>
          <a:xfrm rot="10800000">
            <a:off x="8528061" y="3673753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662F315-71BC-CDE8-2DA9-03950373AE81}"/>
              </a:ext>
            </a:extLst>
          </p:cNvPr>
          <p:cNvSpPr txBox="1"/>
          <p:nvPr/>
        </p:nvSpPr>
        <p:spPr>
          <a:xfrm>
            <a:off x="4234266" y="292255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6E6A733-CBDB-76DF-35E0-20E22F47DDAC}"/>
              </a:ext>
            </a:extLst>
          </p:cNvPr>
          <p:cNvSpPr txBox="1"/>
          <p:nvPr/>
        </p:nvSpPr>
        <p:spPr>
          <a:xfrm>
            <a:off x="4765491" y="223067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C0BDB1C-86CC-BF00-5161-C9D51B4539A3}"/>
              </a:ext>
            </a:extLst>
          </p:cNvPr>
          <p:cNvSpPr txBox="1"/>
          <p:nvPr/>
        </p:nvSpPr>
        <p:spPr>
          <a:xfrm>
            <a:off x="4861210" y="301705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D26CDC2-EF2F-F568-C2F8-687739175FBD}"/>
              </a:ext>
            </a:extLst>
          </p:cNvPr>
          <p:cNvSpPr txBox="1"/>
          <p:nvPr/>
        </p:nvSpPr>
        <p:spPr>
          <a:xfrm>
            <a:off x="6418805" y="269494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1348006-0D24-ECE8-B3AF-57A7CC9B50A9}"/>
              </a:ext>
            </a:extLst>
          </p:cNvPr>
          <p:cNvSpPr txBox="1"/>
          <p:nvPr/>
        </p:nvSpPr>
        <p:spPr>
          <a:xfrm>
            <a:off x="5734710" y="223067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87A1062-F39F-0B09-92DF-3C85261A956B}"/>
              </a:ext>
            </a:extLst>
          </p:cNvPr>
          <p:cNvSpPr txBox="1"/>
          <p:nvPr/>
        </p:nvSpPr>
        <p:spPr>
          <a:xfrm>
            <a:off x="5649272" y="289466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2537464-4115-FD0C-B4BF-113152DF669A}"/>
              </a:ext>
            </a:extLst>
          </p:cNvPr>
          <p:cNvSpPr txBox="1"/>
          <p:nvPr/>
        </p:nvSpPr>
        <p:spPr>
          <a:xfrm>
            <a:off x="5891924" y="436480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B7A8041-E29F-65B5-362E-C92C0E5C222D}"/>
              </a:ext>
            </a:extLst>
          </p:cNvPr>
          <p:cNvSpPr txBox="1"/>
          <p:nvPr/>
        </p:nvSpPr>
        <p:spPr>
          <a:xfrm>
            <a:off x="6421834" y="374532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5D0F988-2BF3-8C6F-D80A-8C4561340DCA}"/>
              </a:ext>
            </a:extLst>
          </p:cNvPr>
          <p:cNvSpPr txBox="1"/>
          <p:nvPr/>
        </p:nvSpPr>
        <p:spPr>
          <a:xfrm>
            <a:off x="5776808" y="350929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D1FAE46-3BA8-93BC-F319-44DC3D9BB9E3}"/>
              </a:ext>
            </a:extLst>
          </p:cNvPr>
          <p:cNvSpPr txBox="1"/>
          <p:nvPr/>
        </p:nvSpPr>
        <p:spPr>
          <a:xfrm>
            <a:off x="4234266" y="387687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DCB7945-F053-546D-C27C-E9AC701B4E3C}"/>
              </a:ext>
            </a:extLst>
          </p:cNvPr>
          <p:cNvSpPr txBox="1"/>
          <p:nvPr/>
        </p:nvSpPr>
        <p:spPr>
          <a:xfrm>
            <a:off x="4880014" y="436480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6F9C278-C859-AE93-F9E8-D3FBBEE3CFFC}"/>
              </a:ext>
            </a:extLst>
          </p:cNvPr>
          <p:cNvSpPr txBox="1"/>
          <p:nvPr/>
        </p:nvSpPr>
        <p:spPr>
          <a:xfrm>
            <a:off x="5009464" y="366439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D85D3CC8-C881-9914-6950-E48C93027546}"/>
              </a:ext>
            </a:extLst>
          </p:cNvPr>
          <p:cNvGrpSpPr/>
          <p:nvPr/>
        </p:nvGrpSpPr>
        <p:grpSpPr>
          <a:xfrm>
            <a:off x="1052693" y="2350092"/>
            <a:ext cx="2184002" cy="2636464"/>
            <a:chOff x="290956" y="1450889"/>
            <a:chExt cx="4048771" cy="4887562"/>
          </a:xfrm>
        </p:grpSpPr>
        <p:sp>
          <p:nvSpPr>
            <p:cNvPr id="63" name="Rectángulo 62">
              <a:extLst>
                <a:ext uri="{FF2B5EF4-FFF2-40B4-BE49-F238E27FC236}">
                  <a16:creationId xmlns:a16="http://schemas.microsoft.com/office/drawing/2014/main" id="{4D50F965-A42C-466F-82E4-E755D47C7632}"/>
                </a:ext>
              </a:extLst>
            </p:cNvPr>
            <p:cNvSpPr/>
            <p:nvPr/>
          </p:nvSpPr>
          <p:spPr>
            <a:xfrm rot="19599153">
              <a:off x="2989727" y="2276930"/>
              <a:ext cx="1350000" cy="1350000"/>
            </a:xfrm>
            <a:prstGeom prst="rect">
              <a:avLst/>
            </a:prstGeom>
            <a:solidFill>
              <a:srgbClr val="FFFFDB"/>
            </a:solidFill>
            <a:ln w="9525" cap="rnd">
              <a:solidFill>
                <a:srgbClr val="FCF67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3C740D21-8091-77DD-4B44-BAC21D8E59DC}"/>
                </a:ext>
              </a:extLst>
            </p:cNvPr>
            <p:cNvSpPr/>
            <p:nvPr/>
          </p:nvSpPr>
          <p:spPr>
            <a:xfrm>
              <a:off x="1021189" y="3886851"/>
              <a:ext cx="2452103" cy="2451600"/>
            </a:xfrm>
            <a:prstGeom prst="rect">
              <a:avLst/>
            </a:prstGeom>
            <a:solidFill>
              <a:srgbClr val="EEFBEF"/>
            </a:solidFill>
            <a:ln w="9525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Rectángulo 64">
              <a:extLst>
                <a:ext uri="{FF2B5EF4-FFF2-40B4-BE49-F238E27FC236}">
                  <a16:creationId xmlns:a16="http://schemas.microsoft.com/office/drawing/2014/main" id="{64D967B0-7C88-7251-7B0D-84E8BD8C30DF}"/>
                </a:ext>
              </a:extLst>
            </p:cNvPr>
            <p:cNvSpPr/>
            <p:nvPr/>
          </p:nvSpPr>
          <p:spPr>
            <a:xfrm rot="19599153">
              <a:off x="290956" y="1450889"/>
              <a:ext cx="2044253" cy="2044800"/>
            </a:xfrm>
            <a:prstGeom prst="rect">
              <a:avLst/>
            </a:prstGeom>
            <a:solidFill>
              <a:srgbClr val="ECF7FC"/>
            </a:solidFill>
            <a:ln w="95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6" name="Triángulo isósceles 65">
              <a:extLst>
                <a:ext uri="{FF2B5EF4-FFF2-40B4-BE49-F238E27FC236}">
                  <a16:creationId xmlns:a16="http://schemas.microsoft.com/office/drawing/2014/main" id="{600B7A6F-C195-67FC-F67F-1A5EB3FC8F27}"/>
                </a:ext>
              </a:extLst>
            </p:cNvPr>
            <p:cNvSpPr/>
            <p:nvPr/>
          </p:nvSpPr>
          <p:spPr>
            <a:xfrm rot="8793340">
              <a:off x="1223115" y="3215162"/>
              <a:ext cx="2048256" cy="1348138"/>
            </a:xfrm>
            <a:prstGeom prst="triangle">
              <a:avLst>
                <a:gd name="adj" fmla="val 0"/>
              </a:avLst>
            </a:prstGeom>
            <a:solidFill>
              <a:srgbClr val="D0B0E7"/>
            </a:solidFill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67" name="Rectángulo 66">
            <a:extLst>
              <a:ext uri="{FF2B5EF4-FFF2-40B4-BE49-F238E27FC236}">
                <a16:creationId xmlns:a16="http://schemas.microsoft.com/office/drawing/2014/main" id="{329E6B8B-6397-9F3E-8A99-BB8E4BEE7839}"/>
              </a:ext>
            </a:extLst>
          </p:cNvPr>
          <p:cNvSpPr/>
          <p:nvPr/>
        </p:nvSpPr>
        <p:spPr>
          <a:xfrm rot="3418691">
            <a:off x="2332315" y="3069668"/>
            <a:ext cx="57150" cy="5715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358F8908-47CA-B935-D1CA-411546223580}"/>
              </a:ext>
            </a:extLst>
          </p:cNvPr>
          <p:cNvSpPr txBox="1"/>
          <p:nvPr/>
        </p:nvSpPr>
        <p:spPr>
          <a:xfrm>
            <a:off x="2335649" y="2885971"/>
            <a:ext cx="45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57746073-68AD-7C88-4D04-F31617C122CD}"/>
              </a:ext>
            </a:extLst>
          </p:cNvPr>
          <p:cNvSpPr txBox="1"/>
          <p:nvPr/>
        </p:nvSpPr>
        <p:spPr>
          <a:xfrm>
            <a:off x="1924168" y="359396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EBF1C693-67AB-DF17-8AAE-BCD6E09AF00C}"/>
              </a:ext>
            </a:extLst>
          </p:cNvPr>
          <p:cNvSpPr txBox="1"/>
          <p:nvPr/>
        </p:nvSpPr>
        <p:spPr>
          <a:xfrm>
            <a:off x="1598195" y="306571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69C64AF8-A550-49CD-E5CA-B8D18F1584BB}"/>
              </a:ext>
            </a:extLst>
          </p:cNvPr>
          <p:cNvSpPr txBox="1"/>
          <p:nvPr/>
        </p:nvSpPr>
        <p:spPr>
          <a:xfrm>
            <a:off x="2433022" y="308178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91" name="!Marco 10">
            <a:extLst>
              <a:ext uri="{FF2B5EF4-FFF2-40B4-BE49-F238E27FC236}">
                <a16:creationId xmlns:a16="http://schemas.microsoft.com/office/drawing/2014/main" id="{D5A06BA5-F930-7A24-D76A-CD1C2C25D69E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!CuadroTexto 1">
            <a:extLst>
              <a:ext uri="{FF2B5EF4-FFF2-40B4-BE49-F238E27FC236}">
                <a16:creationId xmlns:a16="http://schemas.microsoft.com/office/drawing/2014/main" id="{545C84F0-07B4-1DBC-D9BD-B7466EE17A2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Vamos a comprobar, visualmente, como el área del cuadrado de lado a, es igual que el área de los cuadrados de lado b y de lado c.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410C677-65B3-BFC0-7179-BC1925FC5239}"/>
              </a:ext>
            </a:extLst>
          </p:cNvPr>
          <p:cNvSpPr txBox="1"/>
          <p:nvPr/>
        </p:nvSpPr>
        <p:spPr>
          <a:xfrm>
            <a:off x="8166653" y="385111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5399A3B0-20E2-C18A-BA8B-B41385CA9EB4}"/>
              </a:ext>
            </a:extLst>
          </p:cNvPr>
          <p:cNvSpPr txBox="1"/>
          <p:nvPr/>
        </p:nvSpPr>
        <p:spPr>
          <a:xfrm>
            <a:off x="9760198" y="223112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82884F0-B807-8703-1C98-C2B5C9EC1CBF}"/>
              </a:ext>
            </a:extLst>
          </p:cNvPr>
          <p:cNvSpPr txBox="1"/>
          <p:nvPr/>
        </p:nvSpPr>
        <p:spPr>
          <a:xfrm>
            <a:off x="9760198" y="436242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FDF0B086-A167-DD9C-A7BF-5D33D497A75D}"/>
              </a:ext>
            </a:extLst>
          </p:cNvPr>
          <p:cNvSpPr txBox="1"/>
          <p:nvPr/>
        </p:nvSpPr>
        <p:spPr>
          <a:xfrm>
            <a:off x="8849065" y="436242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66CBE14B-A6B6-9024-D111-86236A5AB9FF}"/>
              </a:ext>
            </a:extLst>
          </p:cNvPr>
          <p:cNvSpPr txBox="1"/>
          <p:nvPr/>
        </p:nvSpPr>
        <p:spPr>
          <a:xfrm>
            <a:off x="8839614" y="222935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10683D9-74A2-4609-356A-8C845CFDBE23}"/>
              </a:ext>
            </a:extLst>
          </p:cNvPr>
          <p:cNvSpPr txBox="1"/>
          <p:nvPr/>
        </p:nvSpPr>
        <p:spPr>
          <a:xfrm>
            <a:off x="8164753" y="293940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810C8E1-4799-BD0A-9BEE-E9849354FBA2}"/>
              </a:ext>
            </a:extLst>
          </p:cNvPr>
          <p:cNvSpPr txBox="1"/>
          <p:nvPr/>
        </p:nvSpPr>
        <p:spPr>
          <a:xfrm>
            <a:off x="10306400" y="293940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BF9F41D1-ED7C-D4EA-916B-CB438DFA81ED}"/>
              </a:ext>
            </a:extLst>
          </p:cNvPr>
          <p:cNvSpPr txBox="1"/>
          <p:nvPr/>
        </p:nvSpPr>
        <p:spPr>
          <a:xfrm>
            <a:off x="10306400" y="384773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4CC81B2D-1F2A-1CA1-0BBA-1E736A8C173A}"/>
              </a:ext>
            </a:extLst>
          </p:cNvPr>
          <p:cNvSpPr txBox="1"/>
          <p:nvPr/>
        </p:nvSpPr>
        <p:spPr>
          <a:xfrm>
            <a:off x="8705891" y="38949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08144A72-6861-790E-C9E8-7ED93DEF2E46}"/>
              </a:ext>
            </a:extLst>
          </p:cNvPr>
          <p:cNvSpPr txBox="1"/>
          <p:nvPr/>
        </p:nvSpPr>
        <p:spPr>
          <a:xfrm>
            <a:off x="9813091" y="301573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49F75D71-96DC-816F-C8F0-A77EF73568EC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E7A6A0D-BA6E-D4FD-B691-53F141C68E66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42621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3" grpId="0"/>
      <p:bldP spid="2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ángulo 17">
            <a:extLst>
              <a:ext uri="{FF2B5EF4-FFF2-40B4-BE49-F238E27FC236}">
                <a16:creationId xmlns:a16="http://schemas.microsoft.com/office/drawing/2014/main" id="{0B0CCAB8-22FA-0DA2-6222-7695243DC635}"/>
              </a:ext>
            </a:extLst>
          </p:cNvPr>
          <p:cNvSpPr/>
          <p:nvPr/>
        </p:nvSpPr>
        <p:spPr>
          <a:xfrm>
            <a:off x="8528061" y="2572548"/>
            <a:ext cx="1831331" cy="1829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B98ECE2-C3C2-87AE-4622-D6691A990F03}"/>
              </a:ext>
            </a:extLst>
          </p:cNvPr>
          <p:cNvSpPr/>
          <p:nvPr/>
        </p:nvSpPr>
        <p:spPr>
          <a:xfrm rot="19599153">
            <a:off x="2507934" y="2795676"/>
            <a:ext cx="728222" cy="728221"/>
          </a:xfrm>
          <a:prstGeom prst="rect">
            <a:avLst/>
          </a:prstGeom>
          <a:solidFill>
            <a:srgbClr val="FFFFDB"/>
          </a:solidFill>
          <a:ln w="9525" cap="rnd">
            <a:solidFill>
              <a:srgbClr val="FCF674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D00F3D3E-073C-4538-7086-75F9659898FA}"/>
              </a:ext>
            </a:extLst>
          </p:cNvPr>
          <p:cNvSpPr/>
          <p:nvPr/>
        </p:nvSpPr>
        <p:spPr>
          <a:xfrm rot="19599153">
            <a:off x="1052965" y="2342531"/>
            <a:ext cx="1102718" cy="1103012"/>
          </a:xfrm>
          <a:prstGeom prst="rect">
            <a:avLst/>
          </a:prstGeom>
          <a:solidFill>
            <a:srgbClr val="ECF7FC"/>
          </a:solidFill>
          <a:ln w="9525" cap="rnd">
            <a:solidFill>
              <a:schemeClr val="accent1">
                <a:lumMod val="40000"/>
                <a:lumOff val="6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D85D3CC8-C881-9914-6950-E48C93027546}"/>
              </a:ext>
            </a:extLst>
          </p:cNvPr>
          <p:cNvGrpSpPr/>
          <p:nvPr/>
        </p:nvGrpSpPr>
        <p:grpSpPr>
          <a:xfrm>
            <a:off x="1052693" y="2350092"/>
            <a:ext cx="2184002" cy="2636464"/>
            <a:chOff x="290956" y="1450889"/>
            <a:chExt cx="4048771" cy="4887562"/>
          </a:xfrm>
        </p:grpSpPr>
        <p:sp>
          <p:nvSpPr>
            <p:cNvPr id="63" name="Rectángulo 62">
              <a:extLst>
                <a:ext uri="{FF2B5EF4-FFF2-40B4-BE49-F238E27FC236}">
                  <a16:creationId xmlns:a16="http://schemas.microsoft.com/office/drawing/2014/main" id="{4D50F965-A42C-466F-82E4-E755D47C7632}"/>
                </a:ext>
              </a:extLst>
            </p:cNvPr>
            <p:cNvSpPr/>
            <p:nvPr/>
          </p:nvSpPr>
          <p:spPr>
            <a:xfrm rot="19599153">
              <a:off x="2989727" y="2276930"/>
              <a:ext cx="1350000" cy="1350000"/>
            </a:xfrm>
            <a:prstGeom prst="rect">
              <a:avLst/>
            </a:prstGeom>
            <a:solidFill>
              <a:srgbClr val="FFFFDB"/>
            </a:solidFill>
            <a:ln w="9525" cap="rnd">
              <a:solidFill>
                <a:srgbClr val="FCF67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3C740D21-8091-77DD-4B44-BAC21D8E59DC}"/>
                </a:ext>
              </a:extLst>
            </p:cNvPr>
            <p:cNvSpPr/>
            <p:nvPr/>
          </p:nvSpPr>
          <p:spPr>
            <a:xfrm>
              <a:off x="1021189" y="3886851"/>
              <a:ext cx="2452103" cy="2451600"/>
            </a:xfrm>
            <a:prstGeom prst="rect">
              <a:avLst/>
            </a:prstGeom>
            <a:solidFill>
              <a:srgbClr val="EEFBEF"/>
            </a:solidFill>
            <a:ln w="9525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Rectángulo 64">
              <a:extLst>
                <a:ext uri="{FF2B5EF4-FFF2-40B4-BE49-F238E27FC236}">
                  <a16:creationId xmlns:a16="http://schemas.microsoft.com/office/drawing/2014/main" id="{64D967B0-7C88-7251-7B0D-84E8BD8C30DF}"/>
                </a:ext>
              </a:extLst>
            </p:cNvPr>
            <p:cNvSpPr/>
            <p:nvPr/>
          </p:nvSpPr>
          <p:spPr>
            <a:xfrm rot="19599153">
              <a:off x="290956" y="1450889"/>
              <a:ext cx="2044253" cy="2044800"/>
            </a:xfrm>
            <a:prstGeom prst="rect">
              <a:avLst/>
            </a:prstGeom>
            <a:solidFill>
              <a:srgbClr val="ECF7FC"/>
            </a:solidFill>
            <a:ln w="95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6" name="Triángulo isósceles 65">
              <a:extLst>
                <a:ext uri="{FF2B5EF4-FFF2-40B4-BE49-F238E27FC236}">
                  <a16:creationId xmlns:a16="http://schemas.microsoft.com/office/drawing/2014/main" id="{600B7A6F-C195-67FC-F67F-1A5EB3FC8F27}"/>
                </a:ext>
              </a:extLst>
            </p:cNvPr>
            <p:cNvSpPr/>
            <p:nvPr/>
          </p:nvSpPr>
          <p:spPr>
            <a:xfrm rot="8793340">
              <a:off x="1223115" y="3215162"/>
              <a:ext cx="2048256" cy="1348138"/>
            </a:xfrm>
            <a:prstGeom prst="triangle">
              <a:avLst>
                <a:gd name="adj" fmla="val 0"/>
              </a:avLst>
            </a:prstGeom>
            <a:solidFill>
              <a:srgbClr val="D0B0E7"/>
            </a:solidFill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67" name="Rectángulo 66">
            <a:extLst>
              <a:ext uri="{FF2B5EF4-FFF2-40B4-BE49-F238E27FC236}">
                <a16:creationId xmlns:a16="http://schemas.microsoft.com/office/drawing/2014/main" id="{329E6B8B-6397-9F3E-8A99-BB8E4BEE7839}"/>
              </a:ext>
            </a:extLst>
          </p:cNvPr>
          <p:cNvSpPr/>
          <p:nvPr/>
        </p:nvSpPr>
        <p:spPr>
          <a:xfrm rot="3418691">
            <a:off x="2332315" y="3069668"/>
            <a:ext cx="57150" cy="5715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358F8908-47CA-B935-D1CA-411546223580}"/>
              </a:ext>
            </a:extLst>
          </p:cNvPr>
          <p:cNvSpPr txBox="1"/>
          <p:nvPr/>
        </p:nvSpPr>
        <p:spPr>
          <a:xfrm>
            <a:off x="2335649" y="2885971"/>
            <a:ext cx="45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57746073-68AD-7C88-4D04-F31617C122CD}"/>
              </a:ext>
            </a:extLst>
          </p:cNvPr>
          <p:cNvSpPr txBox="1"/>
          <p:nvPr/>
        </p:nvSpPr>
        <p:spPr>
          <a:xfrm>
            <a:off x="1924168" y="359396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EBF1C693-67AB-DF17-8AAE-BCD6E09AF00C}"/>
              </a:ext>
            </a:extLst>
          </p:cNvPr>
          <p:cNvSpPr txBox="1"/>
          <p:nvPr/>
        </p:nvSpPr>
        <p:spPr>
          <a:xfrm>
            <a:off x="1598195" y="306571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69C64AF8-A550-49CD-E5CA-B8D18F1584BB}"/>
              </a:ext>
            </a:extLst>
          </p:cNvPr>
          <p:cNvSpPr txBox="1"/>
          <p:nvPr/>
        </p:nvSpPr>
        <p:spPr>
          <a:xfrm>
            <a:off x="2433022" y="308178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91" name="!Marco 10">
            <a:extLst>
              <a:ext uri="{FF2B5EF4-FFF2-40B4-BE49-F238E27FC236}">
                <a16:creationId xmlns:a16="http://schemas.microsoft.com/office/drawing/2014/main" id="{D5A06BA5-F930-7A24-D76A-CD1C2C25D69E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!CuadroTexto 1">
            <a:extLst>
              <a:ext uri="{FF2B5EF4-FFF2-40B4-BE49-F238E27FC236}">
                <a16:creationId xmlns:a16="http://schemas.microsoft.com/office/drawing/2014/main" id="{545C84F0-07B4-1DBC-D9BD-B7466EE17A2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Vamos a comprobar, visualmente, como el área del cuadrado de lado a, es igual que el área de los cuadrados de lado b y de lado c.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" name="!!Triángulo isósceles 5">
            <a:extLst>
              <a:ext uri="{FF2B5EF4-FFF2-40B4-BE49-F238E27FC236}">
                <a16:creationId xmlns:a16="http://schemas.microsoft.com/office/drawing/2014/main" id="{ADDEB735-C509-83B8-B561-BC84BD5A7F75}"/>
              </a:ext>
            </a:extLst>
          </p:cNvPr>
          <p:cNvSpPr/>
          <p:nvPr/>
        </p:nvSpPr>
        <p:spPr>
          <a:xfrm rot="16200000">
            <a:off x="9445410" y="2756370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0" name="!!Triángulo isósceles 6">
            <a:extLst>
              <a:ext uri="{FF2B5EF4-FFF2-40B4-BE49-F238E27FC236}">
                <a16:creationId xmlns:a16="http://schemas.microsoft.com/office/drawing/2014/main" id="{1C6122FD-4733-13EC-A8C7-139225681854}"/>
              </a:ext>
            </a:extLst>
          </p:cNvPr>
          <p:cNvSpPr/>
          <p:nvPr/>
        </p:nvSpPr>
        <p:spPr>
          <a:xfrm>
            <a:off x="8525538" y="3671373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3" name="!!Triángulo isósceles 7">
            <a:extLst>
              <a:ext uri="{FF2B5EF4-FFF2-40B4-BE49-F238E27FC236}">
                <a16:creationId xmlns:a16="http://schemas.microsoft.com/office/drawing/2014/main" id="{A3AE19C1-2941-6902-AC55-235757BE23EC}"/>
              </a:ext>
            </a:extLst>
          </p:cNvPr>
          <p:cNvSpPr/>
          <p:nvPr/>
        </p:nvSpPr>
        <p:spPr>
          <a:xfrm rot="5400000">
            <a:off x="9447791" y="2753990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4" name="!!Triángulo isósceles 8">
            <a:extLst>
              <a:ext uri="{FF2B5EF4-FFF2-40B4-BE49-F238E27FC236}">
                <a16:creationId xmlns:a16="http://schemas.microsoft.com/office/drawing/2014/main" id="{69C4964F-FBC4-5625-1DEA-043EBD70AF06}"/>
              </a:ext>
            </a:extLst>
          </p:cNvPr>
          <p:cNvSpPr/>
          <p:nvPr/>
        </p:nvSpPr>
        <p:spPr>
          <a:xfrm rot="10800000">
            <a:off x="8528061" y="3673753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28AF1678-E3D7-DF69-B270-6302E52D022A}"/>
              </a:ext>
            </a:extLst>
          </p:cNvPr>
          <p:cNvSpPr txBox="1"/>
          <p:nvPr/>
        </p:nvSpPr>
        <p:spPr>
          <a:xfrm>
            <a:off x="8166653" y="385111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8DE4ADEC-F068-12AB-B2B8-0CF9D95B1D40}"/>
              </a:ext>
            </a:extLst>
          </p:cNvPr>
          <p:cNvSpPr txBox="1"/>
          <p:nvPr/>
        </p:nvSpPr>
        <p:spPr>
          <a:xfrm>
            <a:off x="9760198" y="223112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D85CE98-8870-9F40-1E6B-D6C3313BE131}"/>
              </a:ext>
            </a:extLst>
          </p:cNvPr>
          <p:cNvSpPr txBox="1"/>
          <p:nvPr/>
        </p:nvSpPr>
        <p:spPr>
          <a:xfrm>
            <a:off x="9760198" y="436242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C2C90EAE-08F3-A533-B27C-D7EA5B232071}"/>
              </a:ext>
            </a:extLst>
          </p:cNvPr>
          <p:cNvSpPr txBox="1"/>
          <p:nvPr/>
        </p:nvSpPr>
        <p:spPr>
          <a:xfrm>
            <a:off x="8849065" y="436242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6451516-22C3-145B-34B3-E7F1B1DDAFCD}"/>
              </a:ext>
            </a:extLst>
          </p:cNvPr>
          <p:cNvSpPr txBox="1"/>
          <p:nvPr/>
        </p:nvSpPr>
        <p:spPr>
          <a:xfrm>
            <a:off x="8839614" y="222935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E495EBC-E040-D020-1894-501649DF92BA}"/>
              </a:ext>
            </a:extLst>
          </p:cNvPr>
          <p:cNvSpPr txBox="1"/>
          <p:nvPr/>
        </p:nvSpPr>
        <p:spPr>
          <a:xfrm>
            <a:off x="8164753" y="293940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41" name="CuadroTexto 40">
            <a:extLst>
              <a:ext uri="{FF2B5EF4-FFF2-40B4-BE49-F238E27FC236}">
                <a16:creationId xmlns:a16="http://schemas.microsoft.com/office/drawing/2014/main" id="{9AD7790C-13E3-9208-7B98-4EB055D3ECAC}"/>
              </a:ext>
            </a:extLst>
          </p:cNvPr>
          <p:cNvSpPr txBox="1"/>
          <p:nvPr/>
        </p:nvSpPr>
        <p:spPr>
          <a:xfrm>
            <a:off x="10306400" y="293940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42" name="CuadroTexto 41">
            <a:extLst>
              <a:ext uri="{FF2B5EF4-FFF2-40B4-BE49-F238E27FC236}">
                <a16:creationId xmlns:a16="http://schemas.microsoft.com/office/drawing/2014/main" id="{0A8BB075-2B4D-10BA-8964-D69062D2147F}"/>
              </a:ext>
            </a:extLst>
          </p:cNvPr>
          <p:cNvSpPr txBox="1"/>
          <p:nvPr/>
        </p:nvSpPr>
        <p:spPr>
          <a:xfrm>
            <a:off x="10306400" y="384773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9191D135-ACEF-99C1-F0A3-4BAB8F4FEF16}"/>
              </a:ext>
            </a:extLst>
          </p:cNvPr>
          <p:cNvSpPr txBox="1"/>
          <p:nvPr/>
        </p:nvSpPr>
        <p:spPr>
          <a:xfrm>
            <a:off x="8705891" y="38949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0C009F3F-2C5A-A9EB-52FE-C49A2B0D2060}"/>
              </a:ext>
            </a:extLst>
          </p:cNvPr>
          <p:cNvSpPr txBox="1"/>
          <p:nvPr/>
        </p:nvSpPr>
        <p:spPr>
          <a:xfrm>
            <a:off x="9813091" y="301573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AF952E-9F8C-CA52-1162-E1EFBAAC7504}"/>
              </a:ext>
            </a:extLst>
          </p:cNvPr>
          <p:cNvSpPr/>
          <p:nvPr/>
        </p:nvSpPr>
        <p:spPr>
          <a:xfrm>
            <a:off x="4630483" y="2573296"/>
            <a:ext cx="1831331" cy="1829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!!Rectángulo a">
            <a:extLst>
              <a:ext uri="{FF2B5EF4-FFF2-40B4-BE49-F238E27FC236}">
                <a16:creationId xmlns:a16="http://schemas.microsoft.com/office/drawing/2014/main" id="{7D0B43C8-AA6E-1CAB-4A06-64A7B5B98AE1}"/>
              </a:ext>
            </a:extLst>
          </p:cNvPr>
          <p:cNvSpPr/>
          <p:nvPr/>
        </p:nvSpPr>
        <p:spPr>
          <a:xfrm rot="1980000">
            <a:off x="4885660" y="2829362"/>
            <a:ext cx="1322722" cy="1322450"/>
          </a:xfrm>
          <a:prstGeom prst="rect">
            <a:avLst/>
          </a:prstGeom>
          <a:solidFill>
            <a:srgbClr val="EEFBEF"/>
          </a:solidFill>
          <a:ln w="9525" cap="rnd">
            <a:solidFill>
              <a:schemeClr val="bg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!Triángulo isósceles 1">
            <a:extLst>
              <a:ext uri="{FF2B5EF4-FFF2-40B4-BE49-F238E27FC236}">
                <a16:creationId xmlns:a16="http://schemas.microsoft.com/office/drawing/2014/main" id="{AAC0C739-38B2-E443-DE54-3FC489561761}"/>
              </a:ext>
            </a:extLst>
          </p:cNvPr>
          <p:cNvSpPr/>
          <p:nvPr/>
        </p:nvSpPr>
        <p:spPr>
          <a:xfrm rot="5400000">
            <a:off x="4441653" y="2762126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662F315-71BC-CDE8-2DA9-03950373AE81}"/>
              </a:ext>
            </a:extLst>
          </p:cNvPr>
          <p:cNvSpPr txBox="1"/>
          <p:nvPr/>
        </p:nvSpPr>
        <p:spPr>
          <a:xfrm>
            <a:off x="4234266" y="292255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6E6A733-CBDB-76DF-35E0-20E22F47DDAC}"/>
              </a:ext>
            </a:extLst>
          </p:cNvPr>
          <p:cNvSpPr txBox="1"/>
          <p:nvPr/>
        </p:nvSpPr>
        <p:spPr>
          <a:xfrm>
            <a:off x="4765491" y="223067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C0BDB1C-86CC-BF00-5161-C9D51B4539A3}"/>
              </a:ext>
            </a:extLst>
          </p:cNvPr>
          <p:cNvSpPr txBox="1"/>
          <p:nvPr/>
        </p:nvSpPr>
        <p:spPr>
          <a:xfrm>
            <a:off x="4861210" y="301705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9" name="!!Triángulo isósceles 2">
            <a:extLst>
              <a:ext uri="{FF2B5EF4-FFF2-40B4-BE49-F238E27FC236}">
                <a16:creationId xmlns:a16="http://schemas.microsoft.com/office/drawing/2014/main" id="{BD6DC9B2-8B70-2EE3-0DB4-1F6BFC63CA53}"/>
              </a:ext>
            </a:extLst>
          </p:cNvPr>
          <p:cNvSpPr/>
          <p:nvPr/>
        </p:nvSpPr>
        <p:spPr>
          <a:xfrm rot="10800000">
            <a:off x="5365204" y="2573296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D26CDC2-EF2F-F568-C2F8-687739175FBD}"/>
              </a:ext>
            </a:extLst>
          </p:cNvPr>
          <p:cNvSpPr txBox="1"/>
          <p:nvPr/>
        </p:nvSpPr>
        <p:spPr>
          <a:xfrm>
            <a:off x="6418805" y="269494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1348006-0D24-ECE8-B3AF-57A7CC9B50A9}"/>
              </a:ext>
            </a:extLst>
          </p:cNvPr>
          <p:cNvSpPr txBox="1"/>
          <p:nvPr/>
        </p:nvSpPr>
        <p:spPr>
          <a:xfrm>
            <a:off x="5734710" y="223067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87A1062-F39F-0B09-92DF-3C85261A956B}"/>
              </a:ext>
            </a:extLst>
          </p:cNvPr>
          <p:cNvSpPr txBox="1"/>
          <p:nvPr/>
        </p:nvSpPr>
        <p:spPr>
          <a:xfrm>
            <a:off x="5649272" y="289466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0" name="!!Triángulo isósceles 3">
            <a:extLst>
              <a:ext uri="{FF2B5EF4-FFF2-40B4-BE49-F238E27FC236}">
                <a16:creationId xmlns:a16="http://schemas.microsoft.com/office/drawing/2014/main" id="{10D39C61-98C0-CCBB-BE3E-ABCE0E1BC598}"/>
              </a:ext>
            </a:extLst>
          </p:cNvPr>
          <p:cNvSpPr/>
          <p:nvPr/>
        </p:nvSpPr>
        <p:spPr>
          <a:xfrm rot="16200000">
            <a:off x="5554034" y="3488210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2537464-4115-FD0C-B4BF-113152DF669A}"/>
              </a:ext>
            </a:extLst>
          </p:cNvPr>
          <p:cNvSpPr txBox="1"/>
          <p:nvPr/>
        </p:nvSpPr>
        <p:spPr>
          <a:xfrm>
            <a:off x="5891924" y="436480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B7A8041-E29F-65B5-362E-C92C0E5C222D}"/>
              </a:ext>
            </a:extLst>
          </p:cNvPr>
          <p:cNvSpPr txBox="1"/>
          <p:nvPr/>
        </p:nvSpPr>
        <p:spPr>
          <a:xfrm>
            <a:off x="6421834" y="374532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5D0F988-2BF3-8C6F-D80A-8C4561340DCA}"/>
              </a:ext>
            </a:extLst>
          </p:cNvPr>
          <p:cNvSpPr txBox="1"/>
          <p:nvPr/>
        </p:nvSpPr>
        <p:spPr>
          <a:xfrm>
            <a:off x="5776808" y="350929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1" name="!!Triángulo isósceles 4">
            <a:extLst>
              <a:ext uri="{FF2B5EF4-FFF2-40B4-BE49-F238E27FC236}">
                <a16:creationId xmlns:a16="http://schemas.microsoft.com/office/drawing/2014/main" id="{8231E796-5D7C-5744-DCD2-3570D6E3CEAB}"/>
              </a:ext>
            </a:extLst>
          </p:cNvPr>
          <p:cNvSpPr/>
          <p:nvPr/>
        </p:nvSpPr>
        <p:spPr>
          <a:xfrm>
            <a:off x="4630483" y="3675249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D1FAE46-3BA8-93BC-F319-44DC3D9BB9E3}"/>
              </a:ext>
            </a:extLst>
          </p:cNvPr>
          <p:cNvSpPr txBox="1"/>
          <p:nvPr/>
        </p:nvSpPr>
        <p:spPr>
          <a:xfrm>
            <a:off x="4234266" y="387687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DCB7945-F053-546D-C27C-E9AC701B4E3C}"/>
              </a:ext>
            </a:extLst>
          </p:cNvPr>
          <p:cNvSpPr txBox="1"/>
          <p:nvPr/>
        </p:nvSpPr>
        <p:spPr>
          <a:xfrm>
            <a:off x="4880014" y="436480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6F9C278-C859-AE93-F9E8-D3FBBEE3CFFC}"/>
              </a:ext>
            </a:extLst>
          </p:cNvPr>
          <p:cNvSpPr txBox="1"/>
          <p:nvPr/>
        </p:nvSpPr>
        <p:spPr>
          <a:xfrm>
            <a:off x="5009464" y="366439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CC85FFB-B91F-CDF9-0E94-C8314827D276}"/>
              </a:ext>
            </a:extLst>
          </p:cNvPr>
          <p:cNvSpPr txBox="1"/>
          <p:nvPr/>
        </p:nvSpPr>
        <p:spPr>
          <a:xfrm>
            <a:off x="5325434" y="3263996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</a:t>
            </a:r>
            <a:r>
              <a:rPr lang="es-ES" sz="2000" b="1" baseline="300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2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FDBE129-1265-9B89-20F2-F5CFEF6C9809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91F1DDE-C7A1-BF4C-67F8-2B0FB4C0E267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365623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ángulo 28">
            <a:extLst>
              <a:ext uri="{FF2B5EF4-FFF2-40B4-BE49-F238E27FC236}">
                <a16:creationId xmlns:a16="http://schemas.microsoft.com/office/drawing/2014/main" id="{931FB9CB-A8F3-4530-B3B6-3DE52A7F4A80}"/>
              </a:ext>
            </a:extLst>
          </p:cNvPr>
          <p:cNvSpPr/>
          <p:nvPr/>
        </p:nvSpPr>
        <p:spPr>
          <a:xfrm>
            <a:off x="6470082" y="5630729"/>
            <a:ext cx="1445194" cy="41507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2" name="Rectángulo 71">
            <a:extLst>
              <a:ext uri="{FF2B5EF4-FFF2-40B4-BE49-F238E27FC236}">
                <a16:creationId xmlns:a16="http://schemas.microsoft.com/office/drawing/2014/main" id="{751BD221-F1AC-7F23-7303-8BDED262F2CE}"/>
              </a:ext>
            </a:extLst>
          </p:cNvPr>
          <p:cNvSpPr/>
          <p:nvPr/>
        </p:nvSpPr>
        <p:spPr>
          <a:xfrm>
            <a:off x="8528060" y="2571973"/>
            <a:ext cx="1823854" cy="1829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grpSp>
        <p:nvGrpSpPr>
          <p:cNvPr id="62" name="Grupo 61">
            <a:extLst>
              <a:ext uri="{FF2B5EF4-FFF2-40B4-BE49-F238E27FC236}">
                <a16:creationId xmlns:a16="http://schemas.microsoft.com/office/drawing/2014/main" id="{D85D3CC8-C881-9914-6950-E48C93027546}"/>
              </a:ext>
            </a:extLst>
          </p:cNvPr>
          <p:cNvGrpSpPr/>
          <p:nvPr/>
        </p:nvGrpSpPr>
        <p:grpSpPr>
          <a:xfrm>
            <a:off x="1052693" y="2350092"/>
            <a:ext cx="2184002" cy="2636464"/>
            <a:chOff x="290956" y="1450889"/>
            <a:chExt cx="4048771" cy="4887562"/>
          </a:xfrm>
        </p:grpSpPr>
        <p:sp>
          <p:nvSpPr>
            <p:cNvPr id="63" name="Rectángulo 62">
              <a:extLst>
                <a:ext uri="{FF2B5EF4-FFF2-40B4-BE49-F238E27FC236}">
                  <a16:creationId xmlns:a16="http://schemas.microsoft.com/office/drawing/2014/main" id="{4D50F965-A42C-466F-82E4-E755D47C7632}"/>
                </a:ext>
              </a:extLst>
            </p:cNvPr>
            <p:cNvSpPr/>
            <p:nvPr/>
          </p:nvSpPr>
          <p:spPr>
            <a:xfrm rot="19599153">
              <a:off x="2989727" y="2276930"/>
              <a:ext cx="1350000" cy="1350000"/>
            </a:xfrm>
            <a:prstGeom prst="rect">
              <a:avLst/>
            </a:prstGeom>
            <a:solidFill>
              <a:srgbClr val="FFFFDB"/>
            </a:solidFill>
            <a:ln w="9525" cap="rnd">
              <a:solidFill>
                <a:srgbClr val="FCF67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4" name="Rectángulo 63">
              <a:extLst>
                <a:ext uri="{FF2B5EF4-FFF2-40B4-BE49-F238E27FC236}">
                  <a16:creationId xmlns:a16="http://schemas.microsoft.com/office/drawing/2014/main" id="{3C740D21-8091-77DD-4B44-BAC21D8E59DC}"/>
                </a:ext>
              </a:extLst>
            </p:cNvPr>
            <p:cNvSpPr/>
            <p:nvPr/>
          </p:nvSpPr>
          <p:spPr>
            <a:xfrm>
              <a:off x="1021189" y="3886851"/>
              <a:ext cx="2452103" cy="2451600"/>
            </a:xfrm>
            <a:prstGeom prst="rect">
              <a:avLst/>
            </a:prstGeom>
            <a:solidFill>
              <a:srgbClr val="EEFBEF"/>
            </a:solidFill>
            <a:ln w="9525" cap="rnd">
              <a:solidFill>
                <a:schemeClr val="accent3">
                  <a:lumMod val="60000"/>
                  <a:lumOff val="4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5" name="Rectángulo 64">
              <a:extLst>
                <a:ext uri="{FF2B5EF4-FFF2-40B4-BE49-F238E27FC236}">
                  <a16:creationId xmlns:a16="http://schemas.microsoft.com/office/drawing/2014/main" id="{64D967B0-7C88-7251-7B0D-84E8BD8C30DF}"/>
                </a:ext>
              </a:extLst>
            </p:cNvPr>
            <p:cNvSpPr/>
            <p:nvPr/>
          </p:nvSpPr>
          <p:spPr>
            <a:xfrm rot="19599153">
              <a:off x="290956" y="1450889"/>
              <a:ext cx="2044253" cy="2044800"/>
            </a:xfrm>
            <a:prstGeom prst="rect">
              <a:avLst/>
            </a:prstGeom>
            <a:solidFill>
              <a:srgbClr val="ECF7FC"/>
            </a:solidFill>
            <a:ln w="9525" cap="rnd">
              <a:solidFill>
                <a:schemeClr val="accent1">
                  <a:lumMod val="40000"/>
                  <a:lumOff val="60000"/>
                </a:schemeClr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  <p:sp>
          <p:nvSpPr>
            <p:cNvPr id="66" name="Triángulo isósceles 65">
              <a:extLst>
                <a:ext uri="{FF2B5EF4-FFF2-40B4-BE49-F238E27FC236}">
                  <a16:creationId xmlns:a16="http://schemas.microsoft.com/office/drawing/2014/main" id="{600B7A6F-C195-67FC-F67F-1A5EB3FC8F27}"/>
                </a:ext>
              </a:extLst>
            </p:cNvPr>
            <p:cNvSpPr/>
            <p:nvPr/>
          </p:nvSpPr>
          <p:spPr>
            <a:xfrm rot="8793340">
              <a:off x="1223115" y="3215162"/>
              <a:ext cx="2048256" cy="1348138"/>
            </a:xfrm>
            <a:prstGeom prst="triangle">
              <a:avLst>
                <a:gd name="adj" fmla="val 0"/>
              </a:avLst>
            </a:prstGeom>
            <a:solidFill>
              <a:srgbClr val="D0B0E7"/>
            </a:solidFill>
            <a:ln w="12700" cap="rnd">
              <a:solidFill>
                <a:schemeClr val="tx1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 dirty="0"/>
            </a:p>
          </p:txBody>
        </p:sp>
      </p:grpSp>
      <p:sp>
        <p:nvSpPr>
          <p:cNvPr id="67" name="Rectángulo 66">
            <a:extLst>
              <a:ext uri="{FF2B5EF4-FFF2-40B4-BE49-F238E27FC236}">
                <a16:creationId xmlns:a16="http://schemas.microsoft.com/office/drawing/2014/main" id="{329E6B8B-6397-9F3E-8A99-BB8E4BEE7839}"/>
              </a:ext>
            </a:extLst>
          </p:cNvPr>
          <p:cNvSpPr/>
          <p:nvPr/>
        </p:nvSpPr>
        <p:spPr>
          <a:xfrm rot="3418691">
            <a:off x="2332315" y="3069668"/>
            <a:ext cx="57150" cy="57150"/>
          </a:xfrm>
          <a:prstGeom prst="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8" name="CuadroTexto 67">
            <a:extLst>
              <a:ext uri="{FF2B5EF4-FFF2-40B4-BE49-F238E27FC236}">
                <a16:creationId xmlns:a16="http://schemas.microsoft.com/office/drawing/2014/main" id="{358F8908-47CA-B935-D1CA-411546223580}"/>
              </a:ext>
            </a:extLst>
          </p:cNvPr>
          <p:cNvSpPr txBox="1"/>
          <p:nvPr/>
        </p:nvSpPr>
        <p:spPr>
          <a:xfrm>
            <a:off x="2335649" y="2885971"/>
            <a:ext cx="457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solidFill>
                  <a:srgbClr val="C00000"/>
                </a:solidFill>
              </a:rPr>
              <a:t>.</a:t>
            </a:r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57746073-68AD-7C88-4D04-F31617C122CD}"/>
              </a:ext>
            </a:extLst>
          </p:cNvPr>
          <p:cNvSpPr txBox="1"/>
          <p:nvPr/>
        </p:nvSpPr>
        <p:spPr>
          <a:xfrm>
            <a:off x="1924168" y="3593969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70" name="CuadroTexto 69">
            <a:extLst>
              <a:ext uri="{FF2B5EF4-FFF2-40B4-BE49-F238E27FC236}">
                <a16:creationId xmlns:a16="http://schemas.microsoft.com/office/drawing/2014/main" id="{EBF1C693-67AB-DF17-8AAE-BCD6E09AF00C}"/>
              </a:ext>
            </a:extLst>
          </p:cNvPr>
          <p:cNvSpPr txBox="1"/>
          <p:nvPr/>
        </p:nvSpPr>
        <p:spPr>
          <a:xfrm>
            <a:off x="1598195" y="3065718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71" name="CuadroTexto 70">
            <a:extLst>
              <a:ext uri="{FF2B5EF4-FFF2-40B4-BE49-F238E27FC236}">
                <a16:creationId xmlns:a16="http://schemas.microsoft.com/office/drawing/2014/main" id="{69C64AF8-A550-49CD-E5CA-B8D18F1584BB}"/>
              </a:ext>
            </a:extLst>
          </p:cNvPr>
          <p:cNvSpPr txBox="1"/>
          <p:nvPr/>
        </p:nvSpPr>
        <p:spPr>
          <a:xfrm>
            <a:off x="2433022" y="3081780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4319ECC8-4E6D-4F5F-DB9A-5F71090D8F8B}"/>
              </a:ext>
            </a:extLst>
          </p:cNvPr>
          <p:cNvSpPr/>
          <p:nvPr/>
        </p:nvSpPr>
        <p:spPr>
          <a:xfrm>
            <a:off x="8522964" y="2572622"/>
            <a:ext cx="1102718" cy="1103012"/>
          </a:xfrm>
          <a:prstGeom prst="rect">
            <a:avLst/>
          </a:prstGeom>
          <a:solidFill>
            <a:srgbClr val="EDF8FC"/>
          </a:solidFill>
          <a:ln w="9525" cap="rnd">
            <a:solidFill>
              <a:schemeClr val="accent1">
                <a:lumMod val="40000"/>
                <a:lumOff val="60000"/>
              </a:schemeClr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DC7B989C-663A-2ADB-DD8B-0D9CEF7F4091}"/>
              </a:ext>
            </a:extLst>
          </p:cNvPr>
          <p:cNvSpPr/>
          <p:nvPr/>
        </p:nvSpPr>
        <p:spPr>
          <a:xfrm>
            <a:off x="9627270" y="3673253"/>
            <a:ext cx="728222" cy="728221"/>
          </a:xfrm>
          <a:prstGeom prst="rect">
            <a:avLst/>
          </a:prstGeom>
          <a:solidFill>
            <a:srgbClr val="FFFFDB"/>
          </a:solidFill>
          <a:ln w="9525" cap="rnd">
            <a:solidFill>
              <a:srgbClr val="FCF674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5" name="!!Triángulo isósceles 5">
            <a:extLst>
              <a:ext uri="{FF2B5EF4-FFF2-40B4-BE49-F238E27FC236}">
                <a16:creationId xmlns:a16="http://schemas.microsoft.com/office/drawing/2014/main" id="{63D44222-8681-118A-2358-3AECD0419330}"/>
              </a:ext>
            </a:extLst>
          </p:cNvPr>
          <p:cNvSpPr/>
          <p:nvPr/>
        </p:nvSpPr>
        <p:spPr>
          <a:xfrm rot="16200000">
            <a:off x="9445410" y="2756370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6" name="!!Triángulo isósceles 6">
            <a:extLst>
              <a:ext uri="{FF2B5EF4-FFF2-40B4-BE49-F238E27FC236}">
                <a16:creationId xmlns:a16="http://schemas.microsoft.com/office/drawing/2014/main" id="{C87D4300-71D9-D09C-8A31-B15A02568D47}"/>
              </a:ext>
            </a:extLst>
          </p:cNvPr>
          <p:cNvSpPr/>
          <p:nvPr/>
        </p:nvSpPr>
        <p:spPr>
          <a:xfrm>
            <a:off x="8525538" y="3671373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7" name="!!Triángulo isósceles 7">
            <a:extLst>
              <a:ext uri="{FF2B5EF4-FFF2-40B4-BE49-F238E27FC236}">
                <a16:creationId xmlns:a16="http://schemas.microsoft.com/office/drawing/2014/main" id="{3D5575EA-2F18-7333-A5DC-96A01932C2E4}"/>
              </a:ext>
            </a:extLst>
          </p:cNvPr>
          <p:cNvSpPr/>
          <p:nvPr/>
        </p:nvSpPr>
        <p:spPr>
          <a:xfrm rot="5400000">
            <a:off x="9447791" y="2753990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8" name="!!Triángulo isósceles 8">
            <a:extLst>
              <a:ext uri="{FF2B5EF4-FFF2-40B4-BE49-F238E27FC236}">
                <a16:creationId xmlns:a16="http://schemas.microsoft.com/office/drawing/2014/main" id="{D21B50C8-7811-AE8E-09BC-800AF43339FC}"/>
              </a:ext>
            </a:extLst>
          </p:cNvPr>
          <p:cNvSpPr/>
          <p:nvPr/>
        </p:nvSpPr>
        <p:spPr>
          <a:xfrm rot="10800000">
            <a:off x="8528061" y="3673753"/>
            <a:ext cx="1090938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9" name="CuadroTexto 78">
            <a:extLst>
              <a:ext uri="{FF2B5EF4-FFF2-40B4-BE49-F238E27FC236}">
                <a16:creationId xmlns:a16="http://schemas.microsoft.com/office/drawing/2014/main" id="{005982BE-BE18-B404-06A3-884AF893705B}"/>
              </a:ext>
            </a:extLst>
          </p:cNvPr>
          <p:cNvSpPr txBox="1"/>
          <p:nvPr/>
        </p:nvSpPr>
        <p:spPr>
          <a:xfrm>
            <a:off x="8166653" y="385111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80" name="CuadroTexto 79">
            <a:extLst>
              <a:ext uri="{FF2B5EF4-FFF2-40B4-BE49-F238E27FC236}">
                <a16:creationId xmlns:a16="http://schemas.microsoft.com/office/drawing/2014/main" id="{372AAB02-6E3B-D39A-85FF-212FF5BA951F}"/>
              </a:ext>
            </a:extLst>
          </p:cNvPr>
          <p:cNvSpPr txBox="1"/>
          <p:nvPr/>
        </p:nvSpPr>
        <p:spPr>
          <a:xfrm>
            <a:off x="9760198" y="223112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81" name="CuadroTexto 80">
            <a:extLst>
              <a:ext uri="{FF2B5EF4-FFF2-40B4-BE49-F238E27FC236}">
                <a16:creationId xmlns:a16="http://schemas.microsoft.com/office/drawing/2014/main" id="{40191066-7744-355A-5AE1-34955851CF15}"/>
              </a:ext>
            </a:extLst>
          </p:cNvPr>
          <p:cNvSpPr txBox="1"/>
          <p:nvPr/>
        </p:nvSpPr>
        <p:spPr>
          <a:xfrm>
            <a:off x="9760198" y="436242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82" name="CuadroTexto 81">
            <a:extLst>
              <a:ext uri="{FF2B5EF4-FFF2-40B4-BE49-F238E27FC236}">
                <a16:creationId xmlns:a16="http://schemas.microsoft.com/office/drawing/2014/main" id="{EA61C4C6-1CE9-4241-5590-24462458E056}"/>
              </a:ext>
            </a:extLst>
          </p:cNvPr>
          <p:cNvSpPr txBox="1"/>
          <p:nvPr/>
        </p:nvSpPr>
        <p:spPr>
          <a:xfrm>
            <a:off x="8849065" y="436242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83" name="CuadroTexto 82">
            <a:extLst>
              <a:ext uri="{FF2B5EF4-FFF2-40B4-BE49-F238E27FC236}">
                <a16:creationId xmlns:a16="http://schemas.microsoft.com/office/drawing/2014/main" id="{9E40499D-D9DA-22DE-37A5-7B7275F7B422}"/>
              </a:ext>
            </a:extLst>
          </p:cNvPr>
          <p:cNvSpPr txBox="1"/>
          <p:nvPr/>
        </p:nvSpPr>
        <p:spPr>
          <a:xfrm>
            <a:off x="8839614" y="222935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B7541525-B319-487B-BA5D-84A5F7F646BC}"/>
              </a:ext>
            </a:extLst>
          </p:cNvPr>
          <p:cNvSpPr txBox="1"/>
          <p:nvPr/>
        </p:nvSpPr>
        <p:spPr>
          <a:xfrm>
            <a:off x="8164753" y="293940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85" name="CuadroTexto 84">
            <a:extLst>
              <a:ext uri="{FF2B5EF4-FFF2-40B4-BE49-F238E27FC236}">
                <a16:creationId xmlns:a16="http://schemas.microsoft.com/office/drawing/2014/main" id="{A12CB36E-BAEB-7AAC-35CB-077A6D946A63}"/>
              </a:ext>
            </a:extLst>
          </p:cNvPr>
          <p:cNvSpPr txBox="1"/>
          <p:nvPr/>
        </p:nvSpPr>
        <p:spPr>
          <a:xfrm>
            <a:off x="10306400" y="293940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86" name="CuadroTexto 85">
            <a:extLst>
              <a:ext uri="{FF2B5EF4-FFF2-40B4-BE49-F238E27FC236}">
                <a16:creationId xmlns:a16="http://schemas.microsoft.com/office/drawing/2014/main" id="{056ECACF-EBFE-F299-CCB7-49D14D974802}"/>
              </a:ext>
            </a:extLst>
          </p:cNvPr>
          <p:cNvSpPr txBox="1"/>
          <p:nvPr/>
        </p:nvSpPr>
        <p:spPr>
          <a:xfrm>
            <a:off x="10306400" y="384773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87" name="CuadroTexto 86">
            <a:extLst>
              <a:ext uri="{FF2B5EF4-FFF2-40B4-BE49-F238E27FC236}">
                <a16:creationId xmlns:a16="http://schemas.microsoft.com/office/drawing/2014/main" id="{9B88CFA7-3240-7CBE-249D-9F57F3DD410B}"/>
              </a:ext>
            </a:extLst>
          </p:cNvPr>
          <p:cNvSpPr txBox="1"/>
          <p:nvPr/>
        </p:nvSpPr>
        <p:spPr>
          <a:xfrm>
            <a:off x="8705891" y="389498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88" name="CuadroTexto 87">
            <a:extLst>
              <a:ext uri="{FF2B5EF4-FFF2-40B4-BE49-F238E27FC236}">
                <a16:creationId xmlns:a16="http://schemas.microsoft.com/office/drawing/2014/main" id="{74226E63-5122-5677-F7C5-C57844460051}"/>
              </a:ext>
            </a:extLst>
          </p:cNvPr>
          <p:cNvSpPr txBox="1"/>
          <p:nvPr/>
        </p:nvSpPr>
        <p:spPr>
          <a:xfrm>
            <a:off x="9813091" y="301573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89" name="CuadroTexto 88">
            <a:extLst>
              <a:ext uri="{FF2B5EF4-FFF2-40B4-BE49-F238E27FC236}">
                <a16:creationId xmlns:a16="http://schemas.microsoft.com/office/drawing/2014/main" id="{0EEA7C27-4D2E-DDB9-9EAD-B3B6FCC4EBF1}"/>
              </a:ext>
            </a:extLst>
          </p:cNvPr>
          <p:cNvSpPr txBox="1"/>
          <p:nvPr/>
        </p:nvSpPr>
        <p:spPr>
          <a:xfrm>
            <a:off x="8849065" y="2917543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b</a:t>
            </a:r>
            <a:r>
              <a:rPr lang="es-ES" sz="2000" b="1" baseline="30000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2</a:t>
            </a:r>
          </a:p>
        </p:txBody>
      </p:sp>
      <p:sp>
        <p:nvSpPr>
          <p:cNvPr id="90" name="CuadroTexto 89">
            <a:extLst>
              <a:ext uri="{FF2B5EF4-FFF2-40B4-BE49-F238E27FC236}">
                <a16:creationId xmlns:a16="http://schemas.microsoft.com/office/drawing/2014/main" id="{1AD19E88-7188-FA92-F118-A7588DC78C24}"/>
              </a:ext>
            </a:extLst>
          </p:cNvPr>
          <p:cNvSpPr txBox="1"/>
          <p:nvPr/>
        </p:nvSpPr>
        <p:spPr>
          <a:xfrm>
            <a:off x="9794307" y="3834500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FFC000"/>
                </a:solidFill>
              </a:rPr>
              <a:t>c</a:t>
            </a:r>
            <a:r>
              <a:rPr lang="es-ES" sz="2000" b="1" baseline="30000" dirty="0">
                <a:solidFill>
                  <a:srgbClr val="FFC000"/>
                </a:solidFill>
              </a:rPr>
              <a:t>2</a:t>
            </a:r>
          </a:p>
        </p:txBody>
      </p:sp>
      <p:sp>
        <p:nvSpPr>
          <p:cNvPr id="91" name="!Marco 10">
            <a:extLst>
              <a:ext uri="{FF2B5EF4-FFF2-40B4-BE49-F238E27FC236}">
                <a16:creationId xmlns:a16="http://schemas.microsoft.com/office/drawing/2014/main" id="{D5A06BA5-F930-7A24-D76A-CD1C2C25D69E}"/>
              </a:ext>
            </a:extLst>
          </p:cNvPr>
          <p:cNvSpPr/>
          <p:nvPr/>
        </p:nvSpPr>
        <p:spPr>
          <a:xfrm>
            <a:off x="535084" y="1048971"/>
            <a:ext cx="11121832" cy="722461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!CuadroTexto 1">
            <a:extLst>
              <a:ext uri="{FF2B5EF4-FFF2-40B4-BE49-F238E27FC236}">
                <a16:creationId xmlns:a16="http://schemas.microsoft.com/office/drawing/2014/main" id="{545C84F0-07B4-1DBC-D9BD-B7466EE17A2D}"/>
              </a:ext>
            </a:extLst>
          </p:cNvPr>
          <p:cNvSpPr txBox="1"/>
          <p:nvPr/>
        </p:nvSpPr>
        <p:spPr>
          <a:xfrm>
            <a:off x="535084" y="1056258"/>
            <a:ext cx="1112183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Vamos a comprobar, visualmente, como el área del cuadrado de lado a, es igual que el área de los cuadrados de lado b y de lado c.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94AF952E-9F8C-CA52-1162-E1EFBAAC7504}"/>
              </a:ext>
            </a:extLst>
          </p:cNvPr>
          <p:cNvSpPr/>
          <p:nvPr/>
        </p:nvSpPr>
        <p:spPr>
          <a:xfrm>
            <a:off x="4630483" y="2573296"/>
            <a:ext cx="1831331" cy="182917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!!Rectángulo a">
            <a:extLst>
              <a:ext uri="{FF2B5EF4-FFF2-40B4-BE49-F238E27FC236}">
                <a16:creationId xmlns:a16="http://schemas.microsoft.com/office/drawing/2014/main" id="{7D0B43C8-AA6E-1CAB-4A06-64A7B5B98AE1}"/>
              </a:ext>
            </a:extLst>
          </p:cNvPr>
          <p:cNvSpPr/>
          <p:nvPr/>
        </p:nvSpPr>
        <p:spPr>
          <a:xfrm rot="1980000">
            <a:off x="4885660" y="2829362"/>
            <a:ext cx="1322722" cy="1322450"/>
          </a:xfrm>
          <a:prstGeom prst="rect">
            <a:avLst/>
          </a:prstGeom>
          <a:solidFill>
            <a:srgbClr val="EEFBEF"/>
          </a:solidFill>
          <a:ln w="9525" cap="rnd">
            <a:solidFill>
              <a:schemeClr val="bg2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!!Triángulo isósceles 1">
            <a:extLst>
              <a:ext uri="{FF2B5EF4-FFF2-40B4-BE49-F238E27FC236}">
                <a16:creationId xmlns:a16="http://schemas.microsoft.com/office/drawing/2014/main" id="{AAC0C739-38B2-E443-DE54-3FC489561761}"/>
              </a:ext>
            </a:extLst>
          </p:cNvPr>
          <p:cNvSpPr/>
          <p:nvPr/>
        </p:nvSpPr>
        <p:spPr>
          <a:xfrm rot="5400000">
            <a:off x="4441653" y="2762126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662F315-71BC-CDE8-2DA9-03950373AE81}"/>
              </a:ext>
            </a:extLst>
          </p:cNvPr>
          <p:cNvSpPr txBox="1"/>
          <p:nvPr/>
        </p:nvSpPr>
        <p:spPr>
          <a:xfrm>
            <a:off x="4234266" y="2922553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A6E6A733-CBDB-76DF-35E0-20E22F47DDAC}"/>
              </a:ext>
            </a:extLst>
          </p:cNvPr>
          <p:cNvSpPr txBox="1"/>
          <p:nvPr/>
        </p:nvSpPr>
        <p:spPr>
          <a:xfrm>
            <a:off x="4765491" y="223067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DC0BDB1C-86CC-BF00-5161-C9D51B4539A3}"/>
              </a:ext>
            </a:extLst>
          </p:cNvPr>
          <p:cNvSpPr txBox="1"/>
          <p:nvPr/>
        </p:nvSpPr>
        <p:spPr>
          <a:xfrm>
            <a:off x="4861210" y="301705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9" name="!!Triángulo isósceles 2">
            <a:extLst>
              <a:ext uri="{FF2B5EF4-FFF2-40B4-BE49-F238E27FC236}">
                <a16:creationId xmlns:a16="http://schemas.microsoft.com/office/drawing/2014/main" id="{BD6DC9B2-8B70-2EE3-0DB4-1F6BFC63CA53}"/>
              </a:ext>
            </a:extLst>
          </p:cNvPr>
          <p:cNvSpPr/>
          <p:nvPr/>
        </p:nvSpPr>
        <p:spPr>
          <a:xfrm rot="10800000">
            <a:off x="5365204" y="2573296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CD26CDC2-EF2F-F568-C2F8-687739175FBD}"/>
              </a:ext>
            </a:extLst>
          </p:cNvPr>
          <p:cNvSpPr txBox="1"/>
          <p:nvPr/>
        </p:nvSpPr>
        <p:spPr>
          <a:xfrm>
            <a:off x="6418805" y="269494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51348006-0D24-ECE8-B3AF-57A7CC9B50A9}"/>
              </a:ext>
            </a:extLst>
          </p:cNvPr>
          <p:cNvSpPr txBox="1"/>
          <p:nvPr/>
        </p:nvSpPr>
        <p:spPr>
          <a:xfrm>
            <a:off x="5734710" y="2230675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87A1062-F39F-0B09-92DF-3C85261A956B}"/>
              </a:ext>
            </a:extLst>
          </p:cNvPr>
          <p:cNvSpPr txBox="1"/>
          <p:nvPr/>
        </p:nvSpPr>
        <p:spPr>
          <a:xfrm>
            <a:off x="5649272" y="2894664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0" name="!!Triángulo isósceles 3">
            <a:extLst>
              <a:ext uri="{FF2B5EF4-FFF2-40B4-BE49-F238E27FC236}">
                <a16:creationId xmlns:a16="http://schemas.microsoft.com/office/drawing/2014/main" id="{10D39C61-98C0-CCBB-BE3E-ABCE0E1BC598}"/>
              </a:ext>
            </a:extLst>
          </p:cNvPr>
          <p:cNvSpPr/>
          <p:nvPr/>
        </p:nvSpPr>
        <p:spPr>
          <a:xfrm rot="16200000">
            <a:off x="5554034" y="3488210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2537464-4115-FD0C-B4BF-113152DF669A}"/>
              </a:ext>
            </a:extLst>
          </p:cNvPr>
          <p:cNvSpPr txBox="1"/>
          <p:nvPr/>
        </p:nvSpPr>
        <p:spPr>
          <a:xfrm>
            <a:off x="5891924" y="436480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B7A8041-E29F-65B5-362E-C92C0E5C222D}"/>
              </a:ext>
            </a:extLst>
          </p:cNvPr>
          <p:cNvSpPr txBox="1"/>
          <p:nvPr/>
        </p:nvSpPr>
        <p:spPr>
          <a:xfrm>
            <a:off x="6421834" y="3745326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15D0F988-2BF3-8C6F-D80A-8C4561340DCA}"/>
              </a:ext>
            </a:extLst>
          </p:cNvPr>
          <p:cNvSpPr txBox="1"/>
          <p:nvPr/>
        </p:nvSpPr>
        <p:spPr>
          <a:xfrm>
            <a:off x="5776808" y="3509297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11" name="!!Triángulo isósceles 4">
            <a:extLst>
              <a:ext uri="{FF2B5EF4-FFF2-40B4-BE49-F238E27FC236}">
                <a16:creationId xmlns:a16="http://schemas.microsoft.com/office/drawing/2014/main" id="{8231E796-5D7C-5744-DCD2-3570D6E3CEAB}"/>
              </a:ext>
            </a:extLst>
          </p:cNvPr>
          <p:cNvSpPr/>
          <p:nvPr/>
        </p:nvSpPr>
        <p:spPr>
          <a:xfrm>
            <a:off x="4630483" y="3675249"/>
            <a:ext cx="1104877" cy="727217"/>
          </a:xfrm>
          <a:prstGeom prst="triangle">
            <a:avLst>
              <a:gd name="adj" fmla="val 0"/>
            </a:avLst>
          </a:prstGeom>
          <a:solidFill>
            <a:srgbClr val="D0B0E7"/>
          </a:solidFill>
          <a:ln w="12700" cap="rnd">
            <a:solidFill>
              <a:schemeClr val="tx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BD1FAE46-3BA8-93BC-F319-44DC3D9BB9E3}"/>
              </a:ext>
            </a:extLst>
          </p:cNvPr>
          <p:cNvSpPr txBox="1"/>
          <p:nvPr/>
        </p:nvSpPr>
        <p:spPr>
          <a:xfrm>
            <a:off x="4234266" y="387687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c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DCB7945-F053-546D-C27C-E9AC701B4E3C}"/>
              </a:ext>
            </a:extLst>
          </p:cNvPr>
          <p:cNvSpPr txBox="1"/>
          <p:nvPr/>
        </p:nvSpPr>
        <p:spPr>
          <a:xfrm>
            <a:off x="4880014" y="4364802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b</a:t>
            </a:r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26F9C278-C859-AE93-F9E8-D3FBBEE3CFFC}"/>
              </a:ext>
            </a:extLst>
          </p:cNvPr>
          <p:cNvSpPr txBox="1"/>
          <p:nvPr/>
        </p:nvSpPr>
        <p:spPr>
          <a:xfrm>
            <a:off x="5009464" y="3664391"/>
            <a:ext cx="45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dirty="0"/>
              <a:t>a</a:t>
            </a:r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6CC85FFB-B91F-CDF9-0E94-C8314827D276}"/>
              </a:ext>
            </a:extLst>
          </p:cNvPr>
          <p:cNvSpPr txBox="1"/>
          <p:nvPr/>
        </p:nvSpPr>
        <p:spPr>
          <a:xfrm>
            <a:off x="5325434" y="3263996"/>
            <a:ext cx="457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a</a:t>
            </a:r>
            <a:r>
              <a:rPr lang="es-ES" sz="2000" b="1" baseline="30000" dirty="0">
                <a:solidFill>
                  <a:schemeClr val="accent3">
                    <a:lumMod val="40000"/>
                    <a:lumOff val="60000"/>
                  </a:schemeClr>
                </a:solidFill>
              </a:rPr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6026FE35-B4F3-8C3F-AB62-97BE52C5DBDC}"/>
                  </a:ext>
                </a:extLst>
              </p:cNvPr>
              <p:cNvSpPr txBox="1"/>
              <p:nvPr/>
            </p:nvSpPr>
            <p:spPr>
              <a:xfrm>
                <a:off x="3556778" y="4814088"/>
                <a:ext cx="4093041" cy="408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b="1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b="1" i="1" smtClean="0">
                              <a:solidFill>
                                <a:schemeClr val="accent3">
                                  <a:lumMod val="60000"/>
                                  <a:lumOff val="4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1" i="1" smtClean="0">
                              <a:solidFill>
                                <a:srgbClr val="EF424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solidFill>
                                <a:srgbClr val="EF4246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b="1" i="1" smtClean="0">
                              <a:solidFill>
                                <a:srgbClr val="EF4246"/>
                              </a:solidFill>
                              <a:latin typeface="Cambria Math" panose="02040503050406030204" pitchFamily="18" charset="0"/>
                            </a:rPr>
                            <m:t>𝒄𝒖𝒂𝒅𝒓𝒂𝒅𝒐</m:t>
                          </m:r>
                        </m:sub>
                      </m:sSub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𝒕𝒓𝒊</m:t>
                          </m:r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𝒏𝒈𝒖𝒍𝒐𝒔</m:t>
                          </m:r>
                        </m:sub>
                      </m:sSub>
                    </m:oMath>
                  </m:oMathPara>
                </a14:m>
                <a:endParaRPr lang="es-ES" b="1" dirty="0"/>
              </a:p>
            </p:txBody>
          </p:sp>
        </mc:Choice>
        <mc:Fallback xmlns="">
          <p:sp>
            <p:nvSpPr>
              <p:cNvPr id="17" name="CuadroTexto 16">
                <a:extLst>
                  <a:ext uri="{FF2B5EF4-FFF2-40B4-BE49-F238E27FC236}">
                    <a16:creationId xmlns:a16="http://schemas.microsoft.com/office/drawing/2014/main" id="{6026FE35-B4F3-8C3F-AB62-97BE52C5DB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778" y="4814088"/>
                <a:ext cx="4093041" cy="408189"/>
              </a:xfrm>
              <a:prstGeom prst="rect">
                <a:avLst/>
              </a:prstGeom>
              <a:blipFill>
                <a:blip r:embed="rId6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8C8D49B0-8C83-012E-34F4-DCE588C54313}"/>
                  </a:ext>
                </a:extLst>
              </p:cNvPr>
              <p:cNvSpPr txBox="1"/>
              <p:nvPr/>
            </p:nvSpPr>
            <p:spPr>
              <a:xfrm>
                <a:off x="7649819" y="4814088"/>
                <a:ext cx="3694690" cy="408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b="1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s-ES" b="1" i="1" smtClean="0">
                            <a:solidFill>
                              <a:srgbClr val="EF4246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smtClean="0">
                            <a:solidFill>
                              <a:srgbClr val="EF4246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s-ES" b="1" i="1" smtClean="0">
                            <a:solidFill>
                              <a:srgbClr val="EF4246"/>
                            </a:solidFill>
                            <a:latin typeface="Cambria Math" panose="02040503050406030204" pitchFamily="18" charset="0"/>
                          </a:rPr>
                          <m:t>𝒄𝒖𝒂𝒅𝒓𝒂𝒅𝒐</m:t>
                        </m:r>
                      </m:sub>
                    </m:sSub>
                    <m:r>
                      <a:rPr lang="es-ES" b="1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s-ES" b="1" i="1" smtClean="0">
                            <a:solidFill>
                              <a:srgbClr val="D0B0E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s-ES" b="1" i="1" smtClean="0">
                            <a:solidFill>
                              <a:srgbClr val="D0B0E7"/>
                            </a:solidFill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  <m:sub>
                        <m:r>
                          <a:rPr lang="es-ES" b="1" i="1" smtClean="0">
                            <a:solidFill>
                              <a:srgbClr val="D0B0E7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r>
                          <a:rPr lang="es-ES" b="1" i="1" smtClean="0">
                            <a:solidFill>
                              <a:srgbClr val="D0B0E7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s-ES" b="1" i="1" smtClean="0">
                            <a:solidFill>
                              <a:srgbClr val="D0B0E7"/>
                            </a:solidFill>
                            <a:latin typeface="Cambria Math" panose="02040503050406030204" pitchFamily="18" charset="0"/>
                          </a:rPr>
                          <m:t>𝒕𝒓𝒊</m:t>
                        </m:r>
                        <m:r>
                          <a:rPr lang="es-ES" b="1" i="1" smtClean="0">
                            <a:solidFill>
                              <a:srgbClr val="D0B0E7"/>
                            </a:solidFill>
                            <a:latin typeface="Cambria Math" panose="02040503050406030204" pitchFamily="18" charset="0"/>
                          </a:rPr>
                          <m:t>á</m:t>
                        </m:r>
                        <m:r>
                          <a:rPr lang="es-ES" b="1" i="1" smtClean="0">
                            <a:solidFill>
                              <a:srgbClr val="D0B0E7"/>
                            </a:solidFill>
                            <a:latin typeface="Cambria Math" panose="02040503050406030204" pitchFamily="18" charset="0"/>
                          </a:rPr>
                          <m:t>𝒏𝒈𝒖𝒍𝒐𝒔</m:t>
                        </m:r>
                      </m:sub>
                    </m:sSub>
                  </m:oMath>
                </a14:m>
                <a:r>
                  <a:rPr lang="es-ES" b="1" dirty="0"/>
                  <a:t> </a:t>
                </a:r>
              </a:p>
            </p:txBody>
          </p:sp>
        </mc:Choice>
        <mc:Fallback xmlns="">
          <p:sp>
            <p:nvSpPr>
              <p:cNvPr id="18" name="CuadroTexto 17">
                <a:extLst>
                  <a:ext uri="{FF2B5EF4-FFF2-40B4-BE49-F238E27FC236}">
                    <a16:creationId xmlns:a16="http://schemas.microsoft.com/office/drawing/2014/main" id="{8C8D49B0-8C83-012E-34F4-DCE588C543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9819" y="4814088"/>
                <a:ext cx="3694690" cy="408189"/>
              </a:xfrm>
              <a:prstGeom prst="rect">
                <a:avLst/>
              </a:prstGeom>
              <a:blipFill>
                <a:blip r:embed="rId7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4990A895-3457-0827-8220-C53F028D9B39}"/>
                  </a:ext>
                </a:extLst>
              </p:cNvPr>
              <p:cNvSpPr txBox="1"/>
              <p:nvPr/>
            </p:nvSpPr>
            <p:spPr>
              <a:xfrm>
                <a:off x="2152768" y="5637613"/>
                <a:ext cx="4093041" cy="4081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s-ES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  <m:sup>
                          <m:r>
                            <a:rPr lang="es-ES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s-ES" b="1" i="1" smtClean="0">
                              <a:solidFill>
                                <a:srgbClr val="EF424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solidFill>
                                <a:srgbClr val="EF4246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b="1" i="1" smtClean="0">
                              <a:solidFill>
                                <a:srgbClr val="EF4246"/>
                              </a:solidFill>
                              <a:latin typeface="Cambria Math" panose="02040503050406030204" pitchFamily="18" charset="0"/>
                            </a:rPr>
                            <m:t>𝒄𝒖𝒂𝒅𝒓𝒂𝒅𝒐</m:t>
                          </m:r>
                        </m:sub>
                      </m:sSub>
                      <m:r>
                        <a:rPr lang="es-ES" b="1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𝒕𝒓𝒊</m:t>
                          </m:r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á</m:t>
                          </m:r>
                          <m:r>
                            <a:rPr lang="es-ES" b="1" i="1" smtClean="0">
                              <a:solidFill>
                                <a:srgbClr val="D0B0E7"/>
                              </a:solidFill>
                              <a:latin typeface="Cambria Math" panose="02040503050406030204" pitchFamily="18" charset="0"/>
                            </a:rPr>
                            <m:t>𝒏𝒈𝒖𝒍𝒐𝒔</m:t>
                          </m:r>
                        </m:sub>
                      </m:sSub>
                    </m:oMath>
                  </m:oMathPara>
                </a14:m>
                <a:endParaRPr lang="es-ES" b="1" dirty="0"/>
              </a:p>
            </p:txBody>
          </p:sp>
        </mc:Choice>
        <mc:Fallback xmlns="">
          <p:sp>
            <p:nvSpPr>
              <p:cNvPr id="23" name="CuadroTexto 22">
                <a:extLst>
                  <a:ext uri="{FF2B5EF4-FFF2-40B4-BE49-F238E27FC236}">
                    <a16:creationId xmlns:a16="http://schemas.microsoft.com/office/drawing/2014/main" id="{4990A895-3457-0827-8220-C53F028D9B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2768" y="5637613"/>
                <a:ext cx="4093041" cy="408189"/>
              </a:xfrm>
              <a:prstGeom prst="rect">
                <a:avLst/>
              </a:prstGeom>
              <a:blipFill>
                <a:blip r:embed="rId8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brir llave 23">
            <a:extLst>
              <a:ext uri="{FF2B5EF4-FFF2-40B4-BE49-F238E27FC236}">
                <a16:creationId xmlns:a16="http://schemas.microsoft.com/office/drawing/2014/main" id="{216883EE-5FE9-48E2-F6AA-0AE86649BB2A}"/>
              </a:ext>
            </a:extLst>
          </p:cNvPr>
          <p:cNvSpPr/>
          <p:nvPr/>
        </p:nvSpPr>
        <p:spPr>
          <a:xfrm rot="5400000">
            <a:off x="4383737" y="4388977"/>
            <a:ext cx="176502" cy="2443163"/>
          </a:xfrm>
          <a:prstGeom prst="leftBrace">
            <a:avLst>
              <a:gd name="adj1" fmla="val 82086"/>
              <a:gd name="adj2" fmla="val 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Forma libre: forma 24">
            <a:extLst>
              <a:ext uri="{FF2B5EF4-FFF2-40B4-BE49-F238E27FC236}">
                <a16:creationId xmlns:a16="http://schemas.microsoft.com/office/drawing/2014/main" id="{6AECA331-9933-051A-7A75-D3A0426A8786}"/>
              </a:ext>
            </a:extLst>
          </p:cNvPr>
          <p:cNvSpPr/>
          <p:nvPr/>
        </p:nvSpPr>
        <p:spPr>
          <a:xfrm>
            <a:off x="4540250" y="5226050"/>
            <a:ext cx="3613150" cy="267179"/>
          </a:xfrm>
          <a:custGeom>
            <a:avLst/>
            <a:gdLst>
              <a:gd name="connsiteX0" fmla="*/ 0 w 3613150"/>
              <a:gd name="connsiteY0" fmla="*/ 241300 h 267179"/>
              <a:gd name="connsiteX1" fmla="*/ 1035050 w 3613150"/>
              <a:gd name="connsiteY1" fmla="*/ 69850 h 267179"/>
              <a:gd name="connsiteX2" fmla="*/ 3117850 w 3613150"/>
              <a:gd name="connsiteY2" fmla="*/ 266700 h 267179"/>
              <a:gd name="connsiteX3" fmla="*/ 3613150 w 3613150"/>
              <a:gd name="connsiteY3" fmla="*/ 0 h 267179"/>
              <a:gd name="connsiteX4" fmla="*/ 3613150 w 3613150"/>
              <a:gd name="connsiteY4" fmla="*/ 0 h 2671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13150" h="267179">
                <a:moveTo>
                  <a:pt x="0" y="241300"/>
                </a:moveTo>
                <a:cubicBezTo>
                  <a:pt x="257704" y="153458"/>
                  <a:pt x="515408" y="65617"/>
                  <a:pt x="1035050" y="69850"/>
                </a:cubicBezTo>
                <a:cubicBezTo>
                  <a:pt x="1554692" y="74083"/>
                  <a:pt x="2688167" y="278342"/>
                  <a:pt x="3117850" y="266700"/>
                </a:cubicBezTo>
                <a:cubicBezTo>
                  <a:pt x="3547533" y="255058"/>
                  <a:pt x="3613150" y="0"/>
                  <a:pt x="3613150" y="0"/>
                </a:cubicBezTo>
                <a:lnTo>
                  <a:pt x="3613150" y="0"/>
                </a:lnTo>
              </a:path>
            </a:pathLst>
          </a:custGeom>
          <a:noFill/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69B85D5A-C737-F9B4-D97F-E4C3711C458E}"/>
              </a:ext>
            </a:extLst>
          </p:cNvPr>
          <p:cNvCxnSpPr/>
          <p:nvPr/>
        </p:nvCxnSpPr>
        <p:spPr>
          <a:xfrm>
            <a:off x="5817393" y="5848351"/>
            <a:ext cx="57815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C2AEBB92-06C9-FBA6-9149-5BA6919838B2}"/>
                  </a:ext>
                </a:extLst>
              </p:cNvPr>
              <p:cNvSpPr txBox="1"/>
              <p:nvPr/>
            </p:nvSpPr>
            <p:spPr>
              <a:xfrm>
                <a:off x="6436178" y="5653931"/>
                <a:ext cx="1669047" cy="375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s-ES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s-ES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ES" b="1" dirty="0"/>
                  <a:t> </a:t>
                </a:r>
              </a:p>
            </p:txBody>
          </p:sp>
        </mc:Choice>
        <mc:Fallback xmlns="">
          <p:sp>
            <p:nvSpPr>
              <p:cNvPr id="28" name="CuadroTexto 27">
                <a:extLst>
                  <a:ext uri="{FF2B5EF4-FFF2-40B4-BE49-F238E27FC236}">
                    <a16:creationId xmlns:a16="http://schemas.microsoft.com/office/drawing/2014/main" id="{C2AEBB92-06C9-FBA6-9149-5BA691983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6178" y="5653931"/>
                <a:ext cx="1669047" cy="37555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ángulo 4">
            <a:extLst>
              <a:ext uri="{FF2B5EF4-FFF2-40B4-BE49-F238E27FC236}">
                <a16:creationId xmlns:a16="http://schemas.microsoft.com/office/drawing/2014/main" id="{570C68EA-9243-12F0-3567-889EC13CA2A1}"/>
              </a:ext>
            </a:extLst>
          </p:cNvPr>
          <p:cNvSpPr/>
          <p:nvPr/>
        </p:nvSpPr>
        <p:spPr>
          <a:xfrm>
            <a:off x="4630482" y="2571973"/>
            <a:ext cx="1838835" cy="1833367"/>
          </a:xfrm>
          <a:prstGeom prst="rect">
            <a:avLst/>
          </a:prstGeom>
          <a:noFill/>
          <a:ln w="28575">
            <a:solidFill>
              <a:srgbClr val="EF42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DAFE538-ED5E-F6EA-7FCC-794B1DD791B9}"/>
              </a:ext>
            </a:extLst>
          </p:cNvPr>
          <p:cNvSpPr/>
          <p:nvPr/>
        </p:nvSpPr>
        <p:spPr>
          <a:xfrm>
            <a:off x="8521185" y="2567860"/>
            <a:ext cx="1838835" cy="1833367"/>
          </a:xfrm>
          <a:prstGeom prst="rect">
            <a:avLst/>
          </a:prstGeom>
          <a:noFill/>
          <a:ln w="28575">
            <a:solidFill>
              <a:srgbClr val="EF424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CE1BA94-D0C7-CF31-AB48-76487265E862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11EC04C-87E7-D51B-36EF-4AF7F92CF170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07245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200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2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25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89" grpId="0"/>
      <p:bldP spid="90" grpId="0"/>
      <p:bldP spid="17" grpId="0"/>
      <p:bldP spid="18" grpId="0"/>
      <p:bldP spid="23" grpId="0"/>
      <p:bldP spid="24" grpId="0" animBg="1"/>
      <p:bldP spid="25" grpId="0" animBg="1"/>
      <p:bldP spid="28" grpId="0"/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!Marco 10">
            <a:extLst>
              <a:ext uri="{FF2B5EF4-FFF2-40B4-BE49-F238E27FC236}">
                <a16:creationId xmlns:a16="http://schemas.microsoft.com/office/drawing/2014/main" id="{D5A06BA5-F930-7A24-D76A-CD1C2C25D69E}"/>
              </a:ext>
            </a:extLst>
          </p:cNvPr>
          <p:cNvSpPr/>
          <p:nvPr/>
        </p:nvSpPr>
        <p:spPr>
          <a:xfrm>
            <a:off x="535084" y="1048971"/>
            <a:ext cx="11121832" cy="494079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!CuadroTexto 1">
            <a:extLst>
              <a:ext uri="{FF2B5EF4-FFF2-40B4-BE49-F238E27FC236}">
                <a16:creationId xmlns:a16="http://schemas.microsoft.com/office/drawing/2014/main" id="{545C84F0-07B4-1DBC-D9BD-B7466EE17A2D}"/>
              </a:ext>
            </a:extLst>
          </p:cNvPr>
          <p:cNvSpPr txBox="1"/>
          <p:nvPr/>
        </p:nvSpPr>
        <p:spPr>
          <a:xfrm>
            <a:off x="535084" y="109595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Conociendo el valor de los catetos podremos hallar la hipotenusa de la siguiente forma: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599264D-0E24-CD50-F6A0-C9EC1C71F2A2}"/>
                  </a:ext>
                </a:extLst>
              </p:cNvPr>
              <p:cNvSpPr txBox="1"/>
              <p:nvPr/>
            </p:nvSpPr>
            <p:spPr>
              <a:xfrm>
                <a:off x="4271835" y="1788628"/>
                <a:ext cx="3648330" cy="4775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𝒂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599264D-0E24-CD50-F6A0-C9EC1C71F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1835" y="1788628"/>
                <a:ext cx="3648330" cy="47750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7EAB90C7-10FB-21F8-C8E7-2AABE626C2FC}"/>
              </a:ext>
            </a:extLst>
          </p:cNvPr>
          <p:cNvSpPr/>
          <p:nvPr/>
        </p:nvSpPr>
        <p:spPr>
          <a:xfrm>
            <a:off x="1834184" y="3104341"/>
            <a:ext cx="2046632" cy="1534974"/>
          </a:xfrm>
          <a:prstGeom prst="triangle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131675-A6DD-1F45-784B-293E60992663}"/>
              </a:ext>
            </a:extLst>
          </p:cNvPr>
          <p:cNvSpPr txBox="1"/>
          <p:nvPr/>
        </p:nvSpPr>
        <p:spPr>
          <a:xfrm>
            <a:off x="2516505" y="4639315"/>
            <a:ext cx="514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06807E4-7B68-73DC-FAA4-CFA3C42FD83C}"/>
              </a:ext>
            </a:extLst>
          </p:cNvPr>
          <p:cNvSpPr txBox="1"/>
          <p:nvPr/>
        </p:nvSpPr>
        <p:spPr>
          <a:xfrm>
            <a:off x="1342694" y="3763015"/>
            <a:ext cx="514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3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B000CFE-2DF7-FB00-AA6F-E203FA769B86}"/>
              </a:ext>
            </a:extLst>
          </p:cNvPr>
          <p:cNvSpPr txBox="1"/>
          <p:nvPr/>
        </p:nvSpPr>
        <p:spPr>
          <a:xfrm>
            <a:off x="2773680" y="3482947"/>
            <a:ext cx="514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B03027D-419A-EE54-5A46-62AC0BC60791}"/>
              </a:ext>
            </a:extLst>
          </p:cNvPr>
          <p:cNvSpPr txBox="1"/>
          <p:nvPr/>
        </p:nvSpPr>
        <p:spPr>
          <a:xfrm>
            <a:off x="535084" y="2452977"/>
            <a:ext cx="1394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2D934B8-116F-4476-2B89-9F4FCAF1285A}"/>
                  </a:ext>
                </a:extLst>
              </p:cNvPr>
              <p:cNvSpPr txBox="1"/>
              <p:nvPr/>
            </p:nvSpPr>
            <p:spPr>
              <a:xfrm>
                <a:off x="4711726" y="3482947"/>
                <a:ext cx="5289523" cy="55451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𝒂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ES" sz="2400" b="1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  <m:sup>
                              <m: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𝟏𝟔</m:t>
                          </m:r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𝟐𝟓</m:t>
                          </m:r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𝟓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2D934B8-116F-4476-2B89-9F4FCAF12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1726" y="3482947"/>
                <a:ext cx="5289523" cy="55451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ángulo 2">
            <a:extLst>
              <a:ext uri="{FF2B5EF4-FFF2-40B4-BE49-F238E27FC236}">
                <a16:creationId xmlns:a16="http://schemas.microsoft.com/office/drawing/2014/main" id="{32B243C8-04D0-DF63-BF46-A85AA3C45C85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1E4DBE1-5A79-6161-296B-B600569AFFAE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9358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75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/>
      <p:bldP spid="4" grpId="0"/>
      <p:bldP spid="5" grpId="0" animBg="1"/>
      <p:bldP spid="6" grpId="0"/>
      <p:bldP spid="7" grpId="0"/>
      <p:bldP spid="13" grpId="0"/>
      <p:bldP spid="14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!Marco 10">
            <a:extLst>
              <a:ext uri="{FF2B5EF4-FFF2-40B4-BE49-F238E27FC236}">
                <a16:creationId xmlns:a16="http://schemas.microsoft.com/office/drawing/2014/main" id="{D5A06BA5-F930-7A24-D76A-CD1C2C25D69E}"/>
              </a:ext>
            </a:extLst>
          </p:cNvPr>
          <p:cNvSpPr/>
          <p:nvPr/>
        </p:nvSpPr>
        <p:spPr>
          <a:xfrm>
            <a:off x="535084" y="1048971"/>
            <a:ext cx="11121832" cy="494079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!CuadroTexto 1">
            <a:extLst>
              <a:ext uri="{FF2B5EF4-FFF2-40B4-BE49-F238E27FC236}">
                <a16:creationId xmlns:a16="http://schemas.microsoft.com/office/drawing/2014/main" id="{545C84F0-07B4-1DBC-D9BD-B7466EE17A2D}"/>
              </a:ext>
            </a:extLst>
          </p:cNvPr>
          <p:cNvSpPr txBox="1"/>
          <p:nvPr/>
        </p:nvSpPr>
        <p:spPr>
          <a:xfrm>
            <a:off x="535084" y="109595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Conociendo el valor de un cateto y de la hipotenusa podremos hallar el otro cateto.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599264D-0E24-CD50-F6A0-C9EC1C71F2A2}"/>
                  </a:ext>
                </a:extLst>
              </p:cNvPr>
              <p:cNvSpPr txBox="1"/>
              <p:nvPr/>
            </p:nvSpPr>
            <p:spPr>
              <a:xfrm>
                <a:off x="4548060" y="2235836"/>
                <a:ext cx="3648330" cy="444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599264D-0E24-CD50-F6A0-C9EC1C71F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060" y="2235836"/>
                <a:ext cx="3648330" cy="4442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7EAB90C7-10FB-21F8-C8E7-2AABE626C2FC}"/>
              </a:ext>
            </a:extLst>
          </p:cNvPr>
          <p:cNvSpPr/>
          <p:nvPr/>
        </p:nvSpPr>
        <p:spPr>
          <a:xfrm>
            <a:off x="1834184" y="3361516"/>
            <a:ext cx="2046632" cy="1534974"/>
          </a:xfrm>
          <a:prstGeom prst="triangle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131675-A6DD-1F45-784B-293E60992663}"/>
              </a:ext>
            </a:extLst>
          </p:cNvPr>
          <p:cNvSpPr txBox="1"/>
          <p:nvPr/>
        </p:nvSpPr>
        <p:spPr>
          <a:xfrm>
            <a:off x="2516505" y="4896490"/>
            <a:ext cx="514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4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06807E4-7B68-73DC-FAA4-CFA3C42FD83C}"/>
              </a:ext>
            </a:extLst>
          </p:cNvPr>
          <p:cNvSpPr txBox="1"/>
          <p:nvPr/>
        </p:nvSpPr>
        <p:spPr>
          <a:xfrm>
            <a:off x="1342694" y="4020190"/>
            <a:ext cx="514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B000CFE-2DF7-FB00-AA6F-E203FA769B86}"/>
              </a:ext>
            </a:extLst>
          </p:cNvPr>
          <p:cNvSpPr txBox="1"/>
          <p:nvPr/>
        </p:nvSpPr>
        <p:spPr>
          <a:xfrm>
            <a:off x="2773680" y="3740122"/>
            <a:ext cx="514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5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B03027D-419A-EE54-5A46-62AC0BC60791}"/>
              </a:ext>
            </a:extLst>
          </p:cNvPr>
          <p:cNvSpPr txBox="1"/>
          <p:nvPr/>
        </p:nvSpPr>
        <p:spPr>
          <a:xfrm>
            <a:off x="535084" y="2710152"/>
            <a:ext cx="1394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2D934B8-116F-4476-2B89-9F4FCAF1285A}"/>
                  </a:ext>
                </a:extLst>
              </p:cNvPr>
              <p:cNvSpPr txBox="1"/>
              <p:nvPr/>
            </p:nvSpPr>
            <p:spPr>
              <a:xfrm>
                <a:off x="4797452" y="3295511"/>
                <a:ext cx="5289523" cy="557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𝒃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  <m:sup>
                              <m: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𝟒</m:t>
                              </m:r>
                            </m:e>
                            <m:sup>
                              <m: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𝟐𝟓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𝟏𝟔</m:t>
                          </m:r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15" name="CuadroTexto 14">
                <a:extLst>
                  <a:ext uri="{FF2B5EF4-FFF2-40B4-BE49-F238E27FC236}">
                    <a16:creationId xmlns:a16="http://schemas.microsoft.com/office/drawing/2014/main" id="{42D934B8-116F-4476-2B89-9F4FCAF128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452" y="3295511"/>
                <a:ext cx="5289523" cy="5575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C03CFC3-9F93-671C-7950-3545EC7D20D1}"/>
                  </a:ext>
                </a:extLst>
              </p:cNvPr>
              <p:cNvSpPr txBox="1"/>
              <p:nvPr/>
            </p:nvSpPr>
            <p:spPr>
              <a:xfrm>
                <a:off x="4548060" y="1715111"/>
                <a:ext cx="3648330" cy="444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C03CFC3-9F93-671C-7950-3545EC7D2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060" y="1715111"/>
                <a:ext cx="3648330" cy="4442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ángulo 7">
            <a:extLst>
              <a:ext uri="{FF2B5EF4-FFF2-40B4-BE49-F238E27FC236}">
                <a16:creationId xmlns:a16="http://schemas.microsoft.com/office/drawing/2014/main" id="{13FE3A0A-64BB-9099-3BF6-AC8A5C79F40E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3314AF8-F441-3A88-B2C0-A73D11E2DCD7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6026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8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" dur="2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00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45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2" grpId="0"/>
      <p:bldP spid="4" grpId="0"/>
      <p:bldP spid="5" grpId="0" animBg="1"/>
      <p:bldP spid="6" grpId="0"/>
      <p:bldP spid="7" grpId="0"/>
      <p:bldP spid="13" grpId="0"/>
      <p:bldP spid="14" grpId="0"/>
      <p:bldP spid="15" grpId="0"/>
      <p:bldP spid="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!Marco 10">
            <a:extLst>
              <a:ext uri="{FF2B5EF4-FFF2-40B4-BE49-F238E27FC236}">
                <a16:creationId xmlns:a16="http://schemas.microsoft.com/office/drawing/2014/main" id="{D5A06BA5-F930-7A24-D76A-CD1C2C25D69E}"/>
              </a:ext>
            </a:extLst>
          </p:cNvPr>
          <p:cNvSpPr/>
          <p:nvPr/>
        </p:nvSpPr>
        <p:spPr>
          <a:xfrm>
            <a:off x="535084" y="1048971"/>
            <a:ext cx="11121832" cy="494079"/>
          </a:xfrm>
          <a:prstGeom prst="rect">
            <a:avLst/>
          </a:prstGeom>
          <a:noFill/>
          <a:ln w="38100"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92" name="!CuadroTexto 1">
            <a:extLst>
              <a:ext uri="{FF2B5EF4-FFF2-40B4-BE49-F238E27FC236}">
                <a16:creationId xmlns:a16="http://schemas.microsoft.com/office/drawing/2014/main" id="{545C84F0-07B4-1DBC-D9BD-B7466EE17A2D}"/>
              </a:ext>
            </a:extLst>
          </p:cNvPr>
          <p:cNvSpPr txBox="1"/>
          <p:nvPr/>
        </p:nvSpPr>
        <p:spPr>
          <a:xfrm>
            <a:off x="535084" y="1095955"/>
            <a:ext cx="1112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/>
              <a:t>Conociendo el valor de un cateto y de la hipotenusa podremos hallar el otro cateto.</a:t>
            </a:r>
            <a:endParaRPr lang="es-ES" sz="28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599264D-0E24-CD50-F6A0-C9EC1C71F2A2}"/>
                  </a:ext>
                </a:extLst>
              </p:cNvPr>
              <p:cNvSpPr txBox="1"/>
              <p:nvPr/>
            </p:nvSpPr>
            <p:spPr>
              <a:xfrm>
                <a:off x="4548060" y="2235836"/>
                <a:ext cx="3648330" cy="444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𝒄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𝒃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D599264D-0E24-CD50-F6A0-C9EC1C71F2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060" y="2235836"/>
                <a:ext cx="3648330" cy="4442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riángulo isósceles 4">
            <a:extLst>
              <a:ext uri="{FF2B5EF4-FFF2-40B4-BE49-F238E27FC236}">
                <a16:creationId xmlns:a16="http://schemas.microsoft.com/office/drawing/2014/main" id="{7EAB90C7-10FB-21F8-C8E7-2AABE626C2FC}"/>
              </a:ext>
            </a:extLst>
          </p:cNvPr>
          <p:cNvSpPr/>
          <p:nvPr/>
        </p:nvSpPr>
        <p:spPr>
          <a:xfrm>
            <a:off x="1834184" y="3361516"/>
            <a:ext cx="2046632" cy="1534974"/>
          </a:xfrm>
          <a:prstGeom prst="triangle">
            <a:avLst>
              <a:gd name="adj" fmla="val 0"/>
            </a:avLst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131675-A6DD-1F45-784B-293E60992663}"/>
              </a:ext>
            </a:extLst>
          </p:cNvPr>
          <p:cNvSpPr txBox="1"/>
          <p:nvPr/>
        </p:nvSpPr>
        <p:spPr>
          <a:xfrm>
            <a:off x="2516505" y="4896490"/>
            <a:ext cx="514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c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06807E4-7B68-73DC-FAA4-CFA3C42FD83C}"/>
              </a:ext>
            </a:extLst>
          </p:cNvPr>
          <p:cNvSpPr txBox="1"/>
          <p:nvPr/>
        </p:nvSpPr>
        <p:spPr>
          <a:xfrm>
            <a:off x="1342694" y="4020190"/>
            <a:ext cx="514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3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B000CFE-2DF7-FB00-AA6F-E203FA769B86}"/>
              </a:ext>
            </a:extLst>
          </p:cNvPr>
          <p:cNvSpPr txBox="1"/>
          <p:nvPr/>
        </p:nvSpPr>
        <p:spPr>
          <a:xfrm>
            <a:off x="2773680" y="3740122"/>
            <a:ext cx="5143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dirty="0"/>
              <a:t>5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B03027D-419A-EE54-5A46-62AC0BC60791}"/>
              </a:ext>
            </a:extLst>
          </p:cNvPr>
          <p:cNvSpPr txBox="1"/>
          <p:nvPr/>
        </p:nvSpPr>
        <p:spPr>
          <a:xfrm>
            <a:off x="535084" y="2710152"/>
            <a:ext cx="1394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EJEMPLO: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C03CFC3-9F93-671C-7950-3545EC7D20D1}"/>
                  </a:ext>
                </a:extLst>
              </p:cNvPr>
              <p:cNvSpPr txBox="1"/>
              <p:nvPr/>
            </p:nvSpPr>
            <p:spPr>
              <a:xfrm>
                <a:off x="4548060" y="1715111"/>
                <a:ext cx="3648330" cy="4442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s-ES" sz="20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s-ES" sz="20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𝒄</m:t>
                        </m:r>
                      </m:e>
                      <m:sup>
                        <m:r>
                          <a:rPr lang="es-ES" sz="200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𝒃</m:t>
                    </m:r>
                    <m:r>
                      <a:rPr lang="es-E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ES" sz="20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  <m:r>
                          <a:rPr lang="es-ES" sz="20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s-ES" sz="20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s-ES" sz="2000" b="1" i="1" smtClean="0">
                                <a:latin typeface="Cambria Math" panose="02040503050406030204" pitchFamily="18" charset="0"/>
                              </a:rPr>
                              <m:t>𝒄</m:t>
                            </m:r>
                          </m:e>
                          <m:sup>
                            <m:r>
                              <a:rPr lang="es-ES" sz="2000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rad>
                  </m:oMath>
                </a14:m>
                <a:r>
                  <a:rPr lang="es-ES" sz="2000" b="1" dirty="0"/>
                  <a:t> </a:t>
                </a: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7C03CFC3-9F93-671C-7950-3545EC7D20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8060" y="1715111"/>
                <a:ext cx="3648330" cy="44428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1A66161-DE9F-88C1-EB7F-690165604245}"/>
                  </a:ext>
                </a:extLst>
              </p:cNvPr>
              <p:cNvSpPr txBox="1"/>
              <p:nvPr/>
            </p:nvSpPr>
            <p:spPr>
              <a:xfrm>
                <a:off x="4797452" y="3289300"/>
                <a:ext cx="5289523" cy="557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𝒄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𝟓</m:t>
                              </m:r>
                            </m:e>
                            <m:sup>
                              <m: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  <m:r>
                            <a:rPr lang="es-ES" sz="24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s-ES" sz="2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ES" sz="2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  <m:sup>
                              <m:r>
                                <a:rPr lang="es-ES" sz="2400" b="1" i="1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𝟐𝟓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𝟗</m:t>
                          </m:r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s-ES" sz="24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𝟏𝟔</m:t>
                          </m:r>
                        </m:e>
                      </m:rad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s-ES" sz="24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𝟒</m:t>
                      </m:r>
                    </m:oMath>
                  </m:oMathPara>
                </a14:m>
                <a:endParaRPr lang="es-ES" sz="2400" b="1" dirty="0"/>
              </a:p>
            </p:txBody>
          </p:sp>
        </mc:Choice>
        <mc:Fallback xmlns="">
          <p:sp>
            <p:nvSpPr>
              <p:cNvPr id="8" name="CuadroTexto 7">
                <a:extLst>
                  <a:ext uri="{FF2B5EF4-FFF2-40B4-BE49-F238E27FC236}">
                    <a16:creationId xmlns:a16="http://schemas.microsoft.com/office/drawing/2014/main" id="{71A66161-DE9F-88C1-EB7F-690165604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7452" y="3289300"/>
                <a:ext cx="5289523" cy="55758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E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8">
            <a:extLst>
              <a:ext uri="{FF2B5EF4-FFF2-40B4-BE49-F238E27FC236}">
                <a16:creationId xmlns:a16="http://schemas.microsoft.com/office/drawing/2014/main" id="{16EC105F-A7B5-C400-840A-5B51BE21A548}"/>
              </a:ext>
            </a:extLst>
          </p:cNvPr>
          <p:cNvSpPr/>
          <p:nvPr/>
        </p:nvSpPr>
        <p:spPr>
          <a:xfrm>
            <a:off x="0" y="1"/>
            <a:ext cx="12192000" cy="803392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FC59A35-60BB-90F8-ED6A-BBCA8ADBFE89}"/>
              </a:ext>
            </a:extLst>
          </p:cNvPr>
          <p:cNvSpPr txBox="1"/>
          <p:nvPr/>
        </p:nvSpPr>
        <p:spPr>
          <a:xfrm>
            <a:off x="3601" y="33951"/>
            <a:ext cx="1182084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SF Fedora" panose="00000400000000000000" pitchFamily="2" charset="0"/>
                <a:cs typeface="SF Fedora" panose="00000400000000000000" pitchFamily="2" charset="0"/>
              </a:rPr>
              <a:t>TEMA 9: </a:t>
            </a:r>
            <a:r>
              <a:rPr lang="es-ES" sz="4400" dirty="0">
                <a:latin typeface="SF Fedora" panose="00000400000000000000" pitchFamily="2" charset="0"/>
                <a:cs typeface="SF Fedora" panose="00000400000000000000" pitchFamily="2" charset="0"/>
              </a:rPr>
              <a:t>Problemas Métricos en el Plano</a:t>
            </a:r>
            <a:endParaRPr lang="es-ES" sz="4000" dirty="0">
              <a:latin typeface="SF Fedora" panose="00000400000000000000" pitchFamily="2" charset="0"/>
              <a:cs typeface="SF Fedora" panose="000004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06480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LMS_API_VERSION" val="SCORM 2004 (4th edition)"/>
  <p:tag name="ISPRING_ULTRA_SCORM_COURSE_ID" val="F282B2D7-DFDC-45D5-8D4E-D480B71BBF49"/>
  <p:tag name="ISPRING_CMI5_LAUNCH_METHOD" val="any window"/>
  <p:tag name="ISPRING_SCORM_RATE_SLIDES" val="1"/>
  <p:tag name="ISPRINGCLOUDFOLDERID" val="1"/>
  <p:tag name="ISPRINGONLINEFOLDERID" val="1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free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FALSE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wordSettings&quot;:{&quot;printCopies&quot;:1},&quot;studioSettings&quot;:{&quot;onlineDestinationFolderId&quot;:&quot;1&quot;,&quot;uploadSources&quot;:true}}"/>
  <p:tag name="ISPRING_SCORM_PASSING_SCORE" val="100.000000"/>
  <p:tag name="ISPRING_PRESENTATION_TITLE" val="1. Teorema de Pitágoras"/>
  <p:tag name="ISPRING_FIRST_PUBLISH" val="1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OUTPUT_FOLDER" val="[[&quot;\uFFFD\/\uFFFD\uFFFD{21D528DD-60A0-4F5B-BB24-A0E5BDBD4B43}&quot;,&quot;C:\\Users\\34717\\Desktop\\Apuntes\\3 ESO\\9. Problemas métricos en el plano&quot;]]"/>
  <p:tag name="ISPRING_SCORM_RATE_QUIZZES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2B82CA8-B35D-4D0A-9E5C-FEF5BE93C820}:25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7D98F29A-7535-4DA3-99AE-52D8F07E9A61}:26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2FFA8DB8-B404-4661-A1A5-D678C212E0CA}:26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58FA1951-9B2D-4505-B168-BA81C3B94321}:25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61EDABC-5C76-4DDC-898B-8960A1C0EC1C}:26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A60DE801-BEF6-4323-9D51-21C8A4E36379}:26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01300A89-A950-4391-A729-FBC7AA45E3CA}:26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D5E96633-DB57-463F-8300-4EA675D39F6A}:26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157F3F08-7DA1-4BA4-A08A-E8D36790EFC4}:26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SLIDE_UID" val="{8778851A-2A9C-4C51-AD49-84A90C098AE1}:267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ersonalizado 1">
      <a:majorFont>
        <a:latin typeface="SF Fedora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655</Words>
  <Application>Microsoft Office PowerPoint</Application>
  <PresentationFormat>Panorámica</PresentationFormat>
  <Paragraphs>181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</vt:lpstr>
      <vt:lpstr>Arial</vt:lpstr>
      <vt:lpstr>Cambria Math</vt:lpstr>
      <vt:lpstr>Century Gothic</vt:lpstr>
      <vt:lpstr>SF Fedora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Teorema de Pitágoras</dc:title>
  <dc:creator>Illán Linos Souto</dc:creator>
  <cp:lastModifiedBy>Illán Linos</cp:lastModifiedBy>
  <cp:revision>65</cp:revision>
  <dcterms:created xsi:type="dcterms:W3CDTF">2024-08-18T18:48:07Z</dcterms:created>
  <dcterms:modified xsi:type="dcterms:W3CDTF">2025-11-20T22:19:10Z</dcterms:modified>
</cp:coreProperties>
</file>