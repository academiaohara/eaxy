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EEFB"/>
    <a:srgbClr val="A7FFE9"/>
    <a:srgbClr val="DB96FF"/>
    <a:srgbClr val="FFE249"/>
    <a:srgbClr val="BCEAFA"/>
    <a:srgbClr val="B4E8FA"/>
    <a:srgbClr val="C9EEFB"/>
    <a:srgbClr val="A2E1F8"/>
    <a:srgbClr val="EF4246"/>
    <a:srgbClr val="BCC6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6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B6DBE-1D4C-4109-B004-13A544731143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4BF45-98EA-425E-9AC0-5A4D03F947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49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04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8570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La ecuación </a:t>
            </a:r>
            <a:r>
              <a:rPr lang="es-ES" sz="2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= </a:t>
            </a:r>
            <a:r>
              <a:rPr lang="es-ES" sz="2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mx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+ </a:t>
            </a:r>
            <a:r>
              <a:rPr lang="es-ES" sz="2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</a:t>
            </a:r>
            <a:r>
              <a:rPr lang="es-ES" sz="2000" b="1" i="1" dirty="0"/>
              <a:t> </a:t>
            </a:r>
            <a:r>
              <a:rPr lang="es-ES" sz="2000" b="1" dirty="0"/>
              <a:t>se representa mediante una recta de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pendiente</a:t>
            </a:r>
            <a:r>
              <a:rPr lang="es-ES" sz="2000" b="1" dirty="0"/>
              <a:t> </a:t>
            </a:r>
            <a:r>
              <a:rPr lang="es-ES" sz="2000" b="1" i="1" dirty="0"/>
              <a:t>m </a:t>
            </a:r>
            <a:r>
              <a:rPr lang="es-ES" sz="2000" b="1" dirty="0"/>
              <a:t>que corta al eje </a:t>
            </a:r>
            <a:r>
              <a:rPr lang="es-ES" sz="2000" b="1" i="1" dirty="0"/>
              <a:t>Y </a:t>
            </a:r>
            <a:r>
              <a:rPr lang="es-ES" sz="2000" b="1" dirty="0"/>
              <a:t>en el punto (0, </a:t>
            </a:r>
            <a:r>
              <a:rPr lang="es-ES" sz="2000" b="1" i="1" dirty="0"/>
              <a:t>n</a:t>
            </a:r>
            <a:r>
              <a:rPr lang="es-ES" sz="2000" b="1" dirty="0"/>
              <a:t>).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AF0D1B50-38B6-8F54-2C95-0561C03E4969}"/>
              </a:ext>
            </a:extLst>
          </p:cNvPr>
          <p:cNvSpPr/>
          <p:nvPr/>
        </p:nvSpPr>
        <p:spPr>
          <a:xfrm>
            <a:off x="535084" y="1899154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3A6211F1-5755-CF0B-7259-BA3D66A3E4A7}"/>
              </a:ext>
            </a:extLst>
          </p:cNvPr>
          <p:cNvSpPr txBox="1"/>
          <p:nvPr/>
        </p:nvSpPr>
        <p:spPr>
          <a:xfrm>
            <a:off x="535084" y="1906441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i="1" dirty="0"/>
              <a:t>n </a:t>
            </a:r>
            <a:r>
              <a:rPr lang="es-ES" sz="2000" b="1" dirty="0"/>
              <a:t>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ordenada en el origen</a:t>
            </a:r>
            <a:r>
              <a:rPr lang="es-ES" sz="2000" b="1" dirty="0"/>
              <a:t>.</a:t>
            </a:r>
            <a:endParaRPr lang="es-ES" sz="4800" b="1" dirty="0"/>
          </a:p>
        </p:txBody>
      </p:sp>
      <p:sp>
        <p:nvSpPr>
          <p:cNvPr id="13" name="!Marco 10">
            <a:extLst>
              <a:ext uri="{FF2B5EF4-FFF2-40B4-BE49-F238E27FC236}">
                <a16:creationId xmlns:a16="http://schemas.microsoft.com/office/drawing/2014/main" id="{1836387B-3138-A937-7E16-9CB44D67FDBE}"/>
              </a:ext>
            </a:extLst>
          </p:cNvPr>
          <p:cNvSpPr/>
          <p:nvPr/>
        </p:nvSpPr>
        <p:spPr>
          <a:xfrm>
            <a:off x="535084" y="2434273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!CuadroTexto 1">
            <a:extLst>
              <a:ext uri="{FF2B5EF4-FFF2-40B4-BE49-F238E27FC236}">
                <a16:creationId xmlns:a16="http://schemas.microsoft.com/office/drawing/2014/main" id="{4F092549-B956-3805-61A5-865D637A3B9E}"/>
              </a:ext>
            </a:extLst>
          </p:cNvPr>
          <p:cNvSpPr txBox="1"/>
          <p:nvPr/>
        </p:nvSpPr>
        <p:spPr>
          <a:xfrm>
            <a:off x="535084" y="2437916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Dos ecuaciones con la misma pendiente se representan mediante rectas paralelas.</a:t>
            </a:r>
            <a:endParaRPr lang="es-ES" sz="5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!Marco 10">
            <a:extLst>
              <a:ext uri="{FF2B5EF4-FFF2-40B4-BE49-F238E27FC236}">
                <a16:creationId xmlns:a16="http://schemas.microsoft.com/office/drawing/2014/main" id="{8532A0FF-8258-87F2-D5C4-AAB97EF5B009}"/>
              </a:ext>
            </a:extLst>
          </p:cNvPr>
          <p:cNvSpPr/>
          <p:nvPr/>
        </p:nvSpPr>
        <p:spPr>
          <a:xfrm>
            <a:off x="535084" y="2969392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!CuadroTexto 1">
            <a:extLst>
              <a:ext uri="{FF2B5EF4-FFF2-40B4-BE49-F238E27FC236}">
                <a16:creationId xmlns:a16="http://schemas.microsoft.com/office/drawing/2014/main" id="{C16CE600-1B85-6A2E-D9A1-A40E8AC7F264}"/>
              </a:ext>
            </a:extLst>
          </p:cNvPr>
          <p:cNvSpPr txBox="1"/>
          <p:nvPr/>
        </p:nvSpPr>
        <p:spPr>
          <a:xfrm>
            <a:off x="535084" y="2969392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Las funciones </a:t>
            </a:r>
            <a:r>
              <a:rPr lang="es-ES" sz="2000" b="1" i="1" dirty="0"/>
              <a:t>y </a:t>
            </a:r>
            <a:r>
              <a:rPr lang="es-ES" sz="2000" b="1" dirty="0"/>
              <a:t>= </a:t>
            </a:r>
            <a:r>
              <a:rPr lang="es-ES" sz="2000" b="1" i="1" dirty="0"/>
              <a:t>mx </a:t>
            </a:r>
            <a:r>
              <a:rPr lang="es-ES" sz="2000" b="1" dirty="0"/>
              <a:t>+ </a:t>
            </a:r>
            <a:r>
              <a:rPr lang="es-ES" sz="2000" b="1" i="1" dirty="0"/>
              <a:t>n </a:t>
            </a:r>
            <a:r>
              <a:rPr lang="es-ES" sz="2000" b="1" dirty="0"/>
              <a:t>se llaman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funciones lineales</a:t>
            </a:r>
            <a:r>
              <a:rPr lang="es-ES" sz="2000" b="1" dirty="0"/>
              <a:t>. </a:t>
            </a:r>
          </a:p>
          <a:p>
            <a:r>
              <a:rPr lang="es-ES" sz="2000" b="1" dirty="0"/>
              <a:t>Cuando </a:t>
            </a:r>
            <a:r>
              <a:rPr lang="es-ES" sz="2000" b="1" i="1" dirty="0"/>
              <a:t>n </a:t>
            </a:r>
            <a:r>
              <a:rPr lang="es-ES" sz="2000" b="1" dirty="0"/>
              <a:t>= 0 se trata de una función de proporcionalidad, </a:t>
            </a:r>
            <a:r>
              <a:rPr lang="es-ES" sz="2000" b="1" i="1" dirty="0"/>
              <a:t>y </a:t>
            </a:r>
            <a:r>
              <a:rPr lang="es-ES" sz="2000" b="1" dirty="0"/>
              <a:t>= </a:t>
            </a:r>
            <a:r>
              <a:rPr lang="es-ES" sz="2000" b="1" i="1" dirty="0"/>
              <a:t>mx</a:t>
            </a:r>
            <a:r>
              <a:rPr lang="es-ES" sz="2000" b="1" dirty="0"/>
              <a:t>.</a:t>
            </a:r>
          </a:p>
        </p:txBody>
      </p: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4FF2D367-2D22-B860-1262-69530352FA86}"/>
              </a:ext>
            </a:extLst>
          </p:cNvPr>
          <p:cNvCxnSpPr>
            <a:cxnSpLocks/>
          </p:cNvCxnSpPr>
          <p:nvPr/>
        </p:nvCxnSpPr>
        <p:spPr>
          <a:xfrm flipV="1">
            <a:off x="5353399" y="5497114"/>
            <a:ext cx="2142778" cy="1066893"/>
          </a:xfrm>
          <a:prstGeom prst="line">
            <a:avLst/>
          </a:prstGeom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10F421E2-FBE6-D692-152D-6096E0121471}"/>
              </a:ext>
            </a:extLst>
          </p:cNvPr>
          <p:cNvCxnSpPr>
            <a:cxnSpLocks/>
          </p:cNvCxnSpPr>
          <p:nvPr/>
        </p:nvCxnSpPr>
        <p:spPr>
          <a:xfrm flipV="1">
            <a:off x="4930626" y="4538492"/>
            <a:ext cx="2552295" cy="1270792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77EC624-08C9-B8D6-4BA2-C72918721271}"/>
              </a:ext>
            </a:extLst>
          </p:cNvPr>
          <p:cNvCxnSpPr>
            <a:cxnSpLocks/>
          </p:cNvCxnSpPr>
          <p:nvPr/>
        </p:nvCxnSpPr>
        <p:spPr>
          <a:xfrm flipV="1">
            <a:off x="4870450" y="3936163"/>
            <a:ext cx="1916310" cy="917876"/>
          </a:xfrm>
          <a:prstGeom prst="line">
            <a:avLst/>
          </a:prstGeom>
          <a:ln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3" name="Grupo 112">
            <a:extLst>
              <a:ext uri="{FF2B5EF4-FFF2-40B4-BE49-F238E27FC236}">
                <a16:creationId xmlns:a16="http://schemas.microsoft.com/office/drawing/2014/main" id="{73E0C498-6C41-0908-0BCD-BB8F2703AD6E}"/>
              </a:ext>
            </a:extLst>
          </p:cNvPr>
          <p:cNvGrpSpPr/>
          <p:nvPr/>
        </p:nvGrpSpPr>
        <p:grpSpPr>
          <a:xfrm>
            <a:off x="4930626" y="3929891"/>
            <a:ext cx="2562373" cy="2817787"/>
            <a:chOff x="4930626" y="3929891"/>
            <a:chExt cx="2562373" cy="2817787"/>
          </a:xfrm>
        </p:grpSpPr>
        <p:cxnSp>
          <p:nvCxnSpPr>
            <p:cNvPr id="100" name="Conector recto 99">
              <a:extLst>
                <a:ext uri="{FF2B5EF4-FFF2-40B4-BE49-F238E27FC236}">
                  <a16:creationId xmlns:a16="http://schemas.microsoft.com/office/drawing/2014/main" id="{5EAA0295-2F3A-0922-A0C3-0F575076AA3D}"/>
                </a:ext>
              </a:extLst>
            </p:cNvPr>
            <p:cNvCxnSpPr>
              <a:cxnSpLocks/>
            </p:cNvCxnSpPr>
            <p:nvPr/>
          </p:nvCxnSpPr>
          <p:spPr>
            <a:xfrm>
              <a:off x="5338850" y="6568461"/>
              <a:ext cx="2150971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70F7C934-2267-A41B-09C2-DE84CEDBC8A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09821" y="526158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12621722-53A5-C0AE-1D31-0FBB3204F22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477327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87715245-A25F-4859-8468-809D9D13020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4530388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39B83473-A14D-AE9E-EB91-8654B7D36D5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428749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8ABDFE03-9963-A09E-348B-A459ADFDDDF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404461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A8D142CA-718C-1A69-E193-F6D30B5C595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380172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01F36BCB-9EB4-8234-4B03-46102F0D2CE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355883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6EA9F8A3-17E5-0F05-FA27-327F31BE21E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331594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2E5E1775-A433-0394-D531-6A0C37625F4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307305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82C357BF-D18E-7700-FAFA-49AEC048F89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501616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624E4721-CF03-8677-D222-476B26E726BD}"/>
                </a:ext>
              </a:extLst>
            </p:cNvPr>
            <p:cNvCxnSpPr>
              <a:cxnSpLocks/>
            </p:cNvCxnSpPr>
            <p:nvPr/>
          </p:nvCxnSpPr>
          <p:spPr>
            <a:xfrm>
              <a:off x="5575887" y="3936164"/>
              <a:ext cx="0" cy="262784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A853622A-8368-9A0D-9BF9-2CD3E7F2CEBA}"/>
                </a:ext>
              </a:extLst>
            </p:cNvPr>
            <p:cNvCxnSpPr>
              <a:cxnSpLocks/>
            </p:cNvCxnSpPr>
            <p:nvPr/>
          </p:nvCxnSpPr>
          <p:spPr>
            <a:xfrm>
              <a:off x="5818775" y="3936164"/>
              <a:ext cx="0" cy="262784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8F266EDB-F1B9-59FF-5E2E-7C9D6BB54BF1}"/>
                </a:ext>
              </a:extLst>
            </p:cNvPr>
            <p:cNvCxnSpPr>
              <a:cxnSpLocks/>
            </p:cNvCxnSpPr>
            <p:nvPr/>
          </p:nvCxnSpPr>
          <p:spPr>
            <a:xfrm>
              <a:off x="6061664" y="3936164"/>
              <a:ext cx="0" cy="262784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EBD51884-6A85-B80F-F9C0-2C6C1AB58268}"/>
                </a:ext>
              </a:extLst>
            </p:cNvPr>
            <p:cNvCxnSpPr>
              <a:cxnSpLocks/>
            </p:cNvCxnSpPr>
            <p:nvPr/>
          </p:nvCxnSpPr>
          <p:spPr>
            <a:xfrm>
              <a:off x="6304553" y="3936164"/>
              <a:ext cx="0" cy="262784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5FBC8E1F-75A9-5815-AC57-CADB55CE9CC5}"/>
                </a:ext>
              </a:extLst>
            </p:cNvPr>
            <p:cNvCxnSpPr>
              <a:cxnSpLocks/>
            </p:cNvCxnSpPr>
            <p:nvPr/>
          </p:nvCxnSpPr>
          <p:spPr>
            <a:xfrm>
              <a:off x="6547442" y="3936164"/>
              <a:ext cx="0" cy="262784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3A189FE8-8A0E-B067-1B71-E935A1343291}"/>
                </a:ext>
              </a:extLst>
            </p:cNvPr>
            <p:cNvCxnSpPr>
              <a:cxnSpLocks/>
            </p:cNvCxnSpPr>
            <p:nvPr/>
          </p:nvCxnSpPr>
          <p:spPr>
            <a:xfrm>
              <a:off x="6790331" y="3936164"/>
              <a:ext cx="0" cy="262784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7AE3BFD8-DB0F-AF88-05A1-727B5DA41495}"/>
                </a:ext>
              </a:extLst>
            </p:cNvPr>
            <p:cNvCxnSpPr>
              <a:cxnSpLocks/>
            </p:cNvCxnSpPr>
            <p:nvPr/>
          </p:nvCxnSpPr>
          <p:spPr>
            <a:xfrm>
              <a:off x="7033220" y="3936164"/>
              <a:ext cx="0" cy="262784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26BE96F1-92C4-EF7A-4A05-30A15DE89496}"/>
                </a:ext>
              </a:extLst>
            </p:cNvPr>
            <p:cNvCxnSpPr>
              <a:cxnSpLocks/>
            </p:cNvCxnSpPr>
            <p:nvPr/>
          </p:nvCxnSpPr>
          <p:spPr>
            <a:xfrm>
              <a:off x="7276107" y="3936164"/>
              <a:ext cx="0" cy="262784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27DF842C-0003-E494-5966-0361F85D73E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284989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2FBE9566-D202-4A2F-AC41-49467625C83A}"/>
                </a:ext>
              </a:extLst>
            </p:cNvPr>
            <p:cNvCxnSpPr>
              <a:cxnSpLocks/>
            </p:cNvCxnSpPr>
            <p:nvPr/>
          </p:nvCxnSpPr>
          <p:spPr>
            <a:xfrm>
              <a:off x="7492999" y="3936164"/>
              <a:ext cx="0" cy="262784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056FB316-DFA9-FCBF-7A9A-565605461928}"/>
                </a:ext>
              </a:extLst>
            </p:cNvPr>
            <p:cNvSpPr txBox="1"/>
            <p:nvPr/>
          </p:nvSpPr>
          <p:spPr>
            <a:xfrm>
              <a:off x="5742574" y="6070168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30545AF0-D51C-F289-A9EB-F1E426A2CF4B}"/>
                </a:ext>
              </a:extLst>
            </p:cNvPr>
            <p:cNvSpPr txBox="1"/>
            <p:nvPr/>
          </p:nvSpPr>
          <p:spPr>
            <a:xfrm>
              <a:off x="6228354" y="6070168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723C5312-1CFF-CC98-3DA7-33B987F7CC9C}"/>
                </a:ext>
              </a:extLst>
            </p:cNvPr>
            <p:cNvSpPr txBox="1"/>
            <p:nvPr/>
          </p:nvSpPr>
          <p:spPr>
            <a:xfrm>
              <a:off x="6714130" y="6070168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CD9EC0CC-A2F9-CD49-D9A3-DEF4F56FC5A1}"/>
                </a:ext>
              </a:extLst>
            </p:cNvPr>
            <p:cNvSpPr txBox="1"/>
            <p:nvPr/>
          </p:nvSpPr>
          <p:spPr>
            <a:xfrm>
              <a:off x="7199906" y="6070168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A3E2831D-FE8E-449F-EE57-8F4AB2792D48}"/>
                </a:ext>
              </a:extLst>
            </p:cNvPr>
            <p:cNvCxnSpPr>
              <a:cxnSpLocks/>
            </p:cNvCxnSpPr>
            <p:nvPr/>
          </p:nvCxnSpPr>
          <p:spPr>
            <a:xfrm>
              <a:off x="5818774" y="604098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DD77AE5B-0790-7149-997F-745A67BD5E02}"/>
                </a:ext>
              </a:extLst>
            </p:cNvPr>
            <p:cNvCxnSpPr>
              <a:cxnSpLocks/>
            </p:cNvCxnSpPr>
            <p:nvPr/>
          </p:nvCxnSpPr>
          <p:spPr>
            <a:xfrm>
              <a:off x="7276106" y="604098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AE979AFF-2780-99DD-DA20-B2378A4F8647}"/>
                </a:ext>
              </a:extLst>
            </p:cNvPr>
            <p:cNvCxnSpPr>
              <a:cxnSpLocks/>
            </p:cNvCxnSpPr>
            <p:nvPr/>
          </p:nvCxnSpPr>
          <p:spPr>
            <a:xfrm>
              <a:off x="6304553" y="604098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B9E1611C-C378-7CD8-ADCF-4FC2755F6291}"/>
                </a:ext>
              </a:extLst>
            </p:cNvPr>
            <p:cNvCxnSpPr>
              <a:cxnSpLocks/>
            </p:cNvCxnSpPr>
            <p:nvPr/>
          </p:nvCxnSpPr>
          <p:spPr>
            <a:xfrm>
              <a:off x="6790330" y="604098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E9D803D3-54A0-E3E1-F7FB-992670AAF43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329821" y="410286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6BDF610C-E5E9-B3A8-9BDA-EEF92034157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329821" y="5560196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DDA9100E-3264-03E6-DEE9-6DF3E0950A9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329821" y="4588643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5F573F6-9F88-52F1-419E-7D32E85DE1D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329821" y="5074420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12D484FE-D590-19FF-9710-A0EA3CDF52E4}"/>
                </a:ext>
              </a:extLst>
            </p:cNvPr>
            <p:cNvSpPr txBox="1"/>
            <p:nvPr/>
          </p:nvSpPr>
          <p:spPr>
            <a:xfrm>
              <a:off x="5112942" y="542071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45E07A9E-1D6C-03A8-C0B7-49DCCDDA7581}"/>
                </a:ext>
              </a:extLst>
            </p:cNvPr>
            <p:cNvSpPr txBox="1"/>
            <p:nvPr/>
          </p:nvSpPr>
          <p:spPr>
            <a:xfrm>
              <a:off x="5113918" y="4934940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4FBE374A-9B69-B156-261B-78072BCF2E6C}"/>
                </a:ext>
              </a:extLst>
            </p:cNvPr>
            <p:cNvSpPr txBox="1"/>
            <p:nvPr/>
          </p:nvSpPr>
          <p:spPr>
            <a:xfrm>
              <a:off x="5112942" y="4449161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20B9E77C-DAE0-3F60-3881-1E5BC7F5650F}"/>
                </a:ext>
              </a:extLst>
            </p:cNvPr>
            <p:cNvSpPr txBox="1"/>
            <p:nvPr/>
          </p:nvSpPr>
          <p:spPr>
            <a:xfrm>
              <a:off x="5120086" y="396338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EB656437-F4AD-74B8-02F2-CE45FCB5BCCE}"/>
                </a:ext>
              </a:extLst>
            </p:cNvPr>
            <p:cNvCxnSpPr>
              <a:cxnSpLocks/>
            </p:cNvCxnSpPr>
            <p:nvPr/>
          </p:nvCxnSpPr>
          <p:spPr>
            <a:xfrm>
              <a:off x="5332999" y="3936164"/>
              <a:ext cx="0" cy="2657346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8BB95573-00C7-62F1-3C07-58868E65A589}"/>
                </a:ext>
              </a:extLst>
            </p:cNvPr>
            <p:cNvCxnSpPr>
              <a:cxnSpLocks/>
            </p:cNvCxnSpPr>
            <p:nvPr/>
          </p:nvCxnSpPr>
          <p:spPr>
            <a:xfrm>
              <a:off x="4930626" y="6096164"/>
              <a:ext cx="2562373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CuadroTexto 97">
              <a:extLst>
                <a:ext uri="{FF2B5EF4-FFF2-40B4-BE49-F238E27FC236}">
                  <a16:creationId xmlns:a16="http://schemas.microsoft.com/office/drawing/2014/main" id="{01622EE6-EAE9-E58B-D8C6-5696A91DF5E2}"/>
                </a:ext>
              </a:extLst>
            </p:cNvPr>
            <p:cNvSpPr txBox="1"/>
            <p:nvPr/>
          </p:nvSpPr>
          <p:spPr>
            <a:xfrm>
              <a:off x="4930626" y="6378346"/>
              <a:ext cx="418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-1</a:t>
              </a:r>
            </a:p>
          </p:txBody>
        </p: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FDA2532A-4A91-E616-BF32-879A1CDA0DB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336178" y="651181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Rectángulo: esquinas redondeadas 113">
                <a:extLst>
                  <a:ext uri="{FF2B5EF4-FFF2-40B4-BE49-F238E27FC236}">
                    <a16:creationId xmlns:a16="http://schemas.microsoft.com/office/drawing/2014/main" id="{B7800FDD-E87A-6269-0A36-BB264E650EAD}"/>
                  </a:ext>
                </a:extLst>
              </p:cNvPr>
              <p:cNvSpPr/>
              <p:nvPr/>
            </p:nvSpPr>
            <p:spPr>
              <a:xfrm>
                <a:off x="6866531" y="3805714"/>
                <a:ext cx="1437845" cy="488136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s-E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4" name="Rectángulo: esquinas redondeadas 113">
                <a:extLst>
                  <a:ext uri="{FF2B5EF4-FFF2-40B4-BE49-F238E27FC236}">
                    <a16:creationId xmlns:a16="http://schemas.microsoft.com/office/drawing/2014/main" id="{B7800FDD-E87A-6269-0A36-BB264E650E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531" y="3805714"/>
                <a:ext cx="1437845" cy="488136"/>
              </a:xfrm>
              <a:prstGeom prst="roundRect">
                <a:avLst>
                  <a:gd name="adj" fmla="val 29710"/>
                </a:avLst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Rectángulo: esquinas redondeadas 114">
                <a:extLst>
                  <a:ext uri="{FF2B5EF4-FFF2-40B4-BE49-F238E27FC236}">
                    <a16:creationId xmlns:a16="http://schemas.microsoft.com/office/drawing/2014/main" id="{0293645C-55DA-1963-58A0-7257D35E64E6}"/>
                  </a:ext>
                </a:extLst>
              </p:cNvPr>
              <p:cNvSpPr/>
              <p:nvPr/>
            </p:nvSpPr>
            <p:spPr>
              <a:xfrm>
                <a:off x="7560655" y="4448768"/>
                <a:ext cx="1437845" cy="488136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s-E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5" name="Rectángulo: esquinas redondeadas 114">
                <a:extLst>
                  <a:ext uri="{FF2B5EF4-FFF2-40B4-BE49-F238E27FC236}">
                    <a16:creationId xmlns:a16="http://schemas.microsoft.com/office/drawing/2014/main" id="{0293645C-55DA-1963-58A0-7257D35E6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655" y="4448768"/>
                <a:ext cx="1437845" cy="488136"/>
              </a:xfrm>
              <a:prstGeom prst="roundRect">
                <a:avLst>
                  <a:gd name="adj" fmla="val 29710"/>
                </a:avLst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ectángulo: esquinas redondeadas 115">
                <a:extLst>
                  <a:ext uri="{FF2B5EF4-FFF2-40B4-BE49-F238E27FC236}">
                    <a16:creationId xmlns:a16="http://schemas.microsoft.com/office/drawing/2014/main" id="{BE3CC571-607F-26CF-C7E9-ED28F5521A3A}"/>
                  </a:ext>
                </a:extLst>
              </p:cNvPr>
              <p:cNvSpPr/>
              <p:nvPr/>
            </p:nvSpPr>
            <p:spPr>
              <a:xfrm>
                <a:off x="7560655" y="5250085"/>
                <a:ext cx="1437845" cy="488136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6" name="Rectángulo: esquinas redondeadas 115">
                <a:extLst>
                  <a:ext uri="{FF2B5EF4-FFF2-40B4-BE49-F238E27FC236}">
                    <a16:creationId xmlns:a16="http://schemas.microsoft.com/office/drawing/2014/main" id="{BE3CC571-607F-26CF-C7E9-ED28F5521A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655" y="5250085"/>
                <a:ext cx="1437845" cy="488136"/>
              </a:xfrm>
              <a:prstGeom prst="roundRect">
                <a:avLst>
                  <a:gd name="adj" fmla="val 29710"/>
                </a:avLst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2CCABBFA-7AC9-E724-1F9D-C8FEFF020FC7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F8F2F2D-93C2-C3BA-4FE3-169DE578354D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Funciones Lineales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431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3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3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3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975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9475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975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7" grpId="0" animBg="1"/>
      <p:bldP spid="10" grpId="0"/>
      <p:bldP spid="13" grpId="0" animBg="1"/>
      <p:bldP spid="14" grpId="0"/>
      <p:bldP spid="17" grpId="0" animBg="1"/>
      <p:bldP spid="18" grpId="0"/>
      <p:bldP spid="114" grpId="0" animBg="1"/>
      <p:bldP spid="115" grpId="0" animBg="1"/>
      <p:bldP spid="1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D01F90C0-E573-DD58-2D7E-1961399FCEE5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964188" y="2600326"/>
            <a:ext cx="2170050" cy="2106120"/>
          </a:xfrm>
          <a:prstGeom prst="line">
            <a:avLst/>
          </a:prstGeom>
          <a:ln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3" name="Grupo 72">
            <a:extLst>
              <a:ext uri="{FF2B5EF4-FFF2-40B4-BE49-F238E27FC236}">
                <a16:creationId xmlns:a16="http://schemas.microsoft.com/office/drawing/2014/main" id="{EA62A7DF-90C3-89A2-9996-00AA9D309CD3}"/>
              </a:ext>
            </a:extLst>
          </p:cNvPr>
          <p:cNvGrpSpPr/>
          <p:nvPr/>
        </p:nvGrpSpPr>
        <p:grpSpPr>
          <a:xfrm>
            <a:off x="760901" y="2406501"/>
            <a:ext cx="2380174" cy="3328480"/>
            <a:chOff x="760901" y="2406501"/>
            <a:chExt cx="2380174" cy="3328480"/>
          </a:xfrm>
        </p:grpSpPr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D27D213A-F99C-1683-F31C-0F9E6F5961B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4239" y="195013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6D8E58DC-BC84-E3B7-A758-4E5156CFBE3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4" y="171397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4AB1D605-8384-DA43-09F2-C1DF1269CAC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4" y="1511168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1F4EBAAD-6E9D-4C77-F4D3-8E5BC89802B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407548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001367A6-5355-CE07-7B81-C650A6077B8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839338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E2B77028-34B3-BEE7-0A3F-C3A57E1B8E0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60318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9D7A27D0-2C00-D0BE-9E4F-E80EAA0195C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36703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A05ADDD7-DE2D-A6AF-7302-8268C50C684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13088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3C6AD844-66B0-663A-8349-15FEE2CD81D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89473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C3BA993E-92A7-FE3E-A1B0-62C8FE6D006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65858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AAFB59F3-35BD-0373-1E1F-39EC16029DE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42243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87BDC6F6-EDFA-7E3D-95F4-C148F886BA2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431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9CC6F5CF-1BC6-D207-DBB4-738160F7A6BE}"/>
                </a:ext>
              </a:extLst>
            </p:cNvPr>
            <p:cNvCxnSpPr>
              <a:cxnSpLocks/>
            </p:cNvCxnSpPr>
            <p:nvPr/>
          </p:nvCxnSpPr>
          <p:spPr>
            <a:xfrm>
              <a:off x="1223963" y="2557827"/>
              <a:ext cx="0" cy="283381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22CF43B1-EE92-14C9-5FF6-FA10C25FD9E3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1" y="2557827"/>
              <a:ext cx="0" cy="283381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D81D9968-03CD-B5DA-3E5A-8C373EC536A0}"/>
                </a:ext>
              </a:extLst>
            </p:cNvPr>
            <p:cNvCxnSpPr>
              <a:cxnSpLocks/>
            </p:cNvCxnSpPr>
            <p:nvPr/>
          </p:nvCxnSpPr>
          <p:spPr>
            <a:xfrm>
              <a:off x="1709740" y="2557827"/>
              <a:ext cx="0" cy="283381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3DB66687-E7CB-0399-1AAE-08B76DB25A2E}"/>
                </a:ext>
              </a:extLst>
            </p:cNvPr>
            <p:cNvCxnSpPr>
              <a:cxnSpLocks/>
            </p:cNvCxnSpPr>
            <p:nvPr/>
          </p:nvCxnSpPr>
          <p:spPr>
            <a:xfrm>
              <a:off x="1952629" y="2557827"/>
              <a:ext cx="0" cy="283381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925202C2-8DAC-92F7-21AA-F761F20A402F}"/>
                </a:ext>
              </a:extLst>
            </p:cNvPr>
            <p:cNvCxnSpPr>
              <a:cxnSpLocks/>
            </p:cNvCxnSpPr>
            <p:nvPr/>
          </p:nvCxnSpPr>
          <p:spPr>
            <a:xfrm>
              <a:off x="2195518" y="2557827"/>
              <a:ext cx="0" cy="283381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4018E73D-8192-099C-B61D-ED35BFAE49D8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7" y="2557827"/>
              <a:ext cx="0" cy="283381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DC2B35A6-D6C4-FC1D-13E8-D8BA544236F0}"/>
                </a:ext>
              </a:extLst>
            </p:cNvPr>
            <p:cNvCxnSpPr>
              <a:cxnSpLocks/>
            </p:cNvCxnSpPr>
            <p:nvPr/>
          </p:nvCxnSpPr>
          <p:spPr>
            <a:xfrm>
              <a:off x="2681296" y="2557827"/>
              <a:ext cx="0" cy="283381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51198E9C-4732-AA77-4374-AD87A37C6840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83" y="2557827"/>
              <a:ext cx="0" cy="283381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ECFFA108-2598-F978-B07B-0F8A2AE878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18628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56161D17-E503-A327-D32A-7F99C4834465}"/>
                </a:ext>
              </a:extLst>
            </p:cNvPr>
            <p:cNvCxnSpPr>
              <a:cxnSpLocks/>
            </p:cNvCxnSpPr>
            <p:nvPr/>
          </p:nvCxnSpPr>
          <p:spPr>
            <a:xfrm>
              <a:off x="3141075" y="2557827"/>
              <a:ext cx="0" cy="283381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6D83B62E-6E08-296A-ED0F-134C6191B253}"/>
                </a:ext>
              </a:extLst>
            </p:cNvPr>
            <p:cNvSpPr txBox="1"/>
            <p:nvPr/>
          </p:nvSpPr>
          <p:spPr>
            <a:xfrm>
              <a:off x="1390650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64A9EC5A-B1F6-2935-1069-203F1040CD1D}"/>
                </a:ext>
              </a:extLst>
            </p:cNvPr>
            <p:cNvSpPr txBox="1"/>
            <p:nvPr/>
          </p:nvSpPr>
          <p:spPr>
            <a:xfrm>
              <a:off x="1876430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2F8EBDDB-7947-54DD-99D2-39BE2732A0B3}"/>
                </a:ext>
              </a:extLst>
            </p:cNvPr>
            <p:cNvSpPr txBox="1"/>
            <p:nvPr/>
          </p:nvSpPr>
          <p:spPr>
            <a:xfrm>
              <a:off x="2362206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CA066F0D-62F1-F51C-87D0-F7DD7C83AB3C}"/>
                </a:ext>
              </a:extLst>
            </p:cNvPr>
            <p:cNvSpPr txBox="1"/>
            <p:nvPr/>
          </p:nvSpPr>
          <p:spPr>
            <a:xfrm>
              <a:off x="2847982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B357B772-C161-3ADC-5A97-AA2FC2968A5D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0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6DFAF815-2B45-F48A-9658-30B0DD6E08F0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82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44B3010-E260-C4A5-D421-2CF7C3AA9803}"/>
                </a:ext>
              </a:extLst>
            </p:cNvPr>
            <p:cNvCxnSpPr>
              <a:cxnSpLocks/>
            </p:cNvCxnSpPr>
            <p:nvPr/>
          </p:nvCxnSpPr>
          <p:spPr>
            <a:xfrm>
              <a:off x="1952629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3F462482-1572-3B68-6838-7647CDF147C4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6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0694A27C-6451-406A-E65A-8A86EE76CDD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345311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B9F87A41-5A40-48A3-930F-A2437AA5BAA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4872346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37F3B5A1-6F04-646B-424A-3F1254744D6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392222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06B4C93E-A32E-CDAC-1184-55B619751AA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439847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05D066BA-38C3-FD58-4ACF-EDA4D8AC01C1}"/>
                </a:ext>
              </a:extLst>
            </p:cNvPr>
            <p:cNvSpPr txBox="1"/>
            <p:nvPr/>
          </p:nvSpPr>
          <p:spPr>
            <a:xfrm>
              <a:off x="761018" y="4735250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B2ED0880-AC79-4412-61D5-D354F658C3ED}"/>
                </a:ext>
              </a:extLst>
            </p:cNvPr>
            <p:cNvSpPr txBox="1"/>
            <p:nvPr/>
          </p:nvSpPr>
          <p:spPr>
            <a:xfrm>
              <a:off x="761994" y="4249471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2D0288FF-39CF-95ED-EBF2-762CCD33EFFA}"/>
                </a:ext>
              </a:extLst>
            </p:cNvPr>
            <p:cNvSpPr txBox="1"/>
            <p:nvPr/>
          </p:nvSpPr>
          <p:spPr>
            <a:xfrm>
              <a:off x="761018" y="376369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C886AA09-C5A5-F190-4650-3713D4591CBB}"/>
                </a:ext>
              </a:extLst>
            </p:cNvPr>
            <p:cNvSpPr txBox="1"/>
            <p:nvPr/>
          </p:nvSpPr>
          <p:spPr>
            <a:xfrm>
              <a:off x="768162" y="3277913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0CD79C2F-9DD3-40D6-C3D9-DE804BE990F9}"/>
                </a:ext>
              </a:extLst>
            </p:cNvPr>
            <p:cNvCxnSpPr>
              <a:cxnSpLocks/>
            </p:cNvCxnSpPr>
            <p:nvPr/>
          </p:nvCxnSpPr>
          <p:spPr>
            <a:xfrm>
              <a:off x="981075" y="2557827"/>
              <a:ext cx="0" cy="2833818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32BB86BE-874F-DC55-6C3B-97B65F9F6EAD}"/>
                </a:ext>
              </a:extLst>
            </p:cNvPr>
            <p:cNvCxnSpPr>
              <a:cxnSpLocks/>
            </p:cNvCxnSpPr>
            <p:nvPr/>
          </p:nvCxnSpPr>
          <p:spPr>
            <a:xfrm>
              <a:off x="981075" y="5391645"/>
              <a:ext cx="2160000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F6A3671B-32F6-07B8-0B3A-720A5C27A80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297973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004358F8-EF00-F3AF-5793-7B7CF8D4DAE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254574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F836E4E2-43CC-FC09-BAB9-D082C0202C4F}"/>
                </a:ext>
              </a:extLst>
            </p:cNvPr>
            <p:cNvSpPr txBox="1"/>
            <p:nvPr/>
          </p:nvSpPr>
          <p:spPr>
            <a:xfrm>
              <a:off x="760901" y="2406501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6</a:t>
              </a:r>
            </a:p>
          </p:txBody>
        </p: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4F9862D6-5A2A-577A-A6C4-7D05895F2082}"/>
                </a:ext>
              </a:extLst>
            </p:cNvPr>
            <p:cNvSpPr txBox="1"/>
            <p:nvPr/>
          </p:nvSpPr>
          <p:spPr>
            <a:xfrm>
              <a:off x="762168" y="2822151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5</a:t>
              </a:r>
            </a:p>
          </p:txBody>
        </p:sp>
      </p:grpSp>
      <p:sp>
        <p:nvSpPr>
          <p:cNvPr id="3" name="!CuadroTexto 1">
            <a:extLst>
              <a:ext uri="{FF2B5EF4-FFF2-40B4-BE49-F238E27FC236}">
                <a16:creationId xmlns:a16="http://schemas.microsoft.com/office/drawing/2014/main" id="{4EC89F19-5836-867A-0120-90B845C33FE3}"/>
              </a:ext>
            </a:extLst>
          </p:cNvPr>
          <p:cNvSpPr txBox="1"/>
          <p:nvPr/>
        </p:nvSpPr>
        <p:spPr>
          <a:xfrm>
            <a:off x="538628" y="1034135"/>
            <a:ext cx="11121832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dirty="0"/>
              <a:t>El alquiler de una canoa cuesta 1 € cada hora. Pero, previamente, hemos de</a:t>
            </a:r>
          </a:p>
          <a:p>
            <a:r>
              <a:rPr lang="es-ES" sz="2000" dirty="0"/>
              <a:t>pagar 1,50 € para entrar en el recinto donde se encuentran. Por tanto, el coste de un </a:t>
            </a:r>
          </a:p>
          <a:p>
            <a:r>
              <a:rPr lang="es-ES" sz="2000" dirty="0"/>
              <a:t>paseo en canoa, en función del tiempo que estemos, es:</a:t>
            </a:r>
            <a:endParaRPr lang="es-E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78" name="Tabla 7">
            <a:extLst>
              <a:ext uri="{FF2B5EF4-FFF2-40B4-BE49-F238E27FC236}">
                <a16:creationId xmlns:a16="http://schemas.microsoft.com/office/drawing/2014/main" id="{C3D5E426-1226-3D80-3B5A-695523E98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017918"/>
              </p:ext>
            </p:extLst>
          </p:nvPr>
        </p:nvGraphicFramePr>
        <p:xfrm>
          <a:off x="3937514" y="4420080"/>
          <a:ext cx="5522639" cy="7315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82283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54524693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046788839"/>
                    </a:ext>
                  </a:extLst>
                </a:gridCol>
              </a:tblGrid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Tiempo (h)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Coste (€)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1,5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2,5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3,5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4,5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5,5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x + 1,5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sp>
        <p:nvSpPr>
          <p:cNvPr id="81" name="CuadroTexto 80">
            <a:extLst>
              <a:ext uri="{FF2B5EF4-FFF2-40B4-BE49-F238E27FC236}">
                <a16:creationId xmlns:a16="http://schemas.microsoft.com/office/drawing/2014/main" id="{51272F45-AAB7-1342-E299-A0EF66B69C39}"/>
              </a:ext>
            </a:extLst>
          </p:cNvPr>
          <p:cNvSpPr txBox="1"/>
          <p:nvPr/>
        </p:nvSpPr>
        <p:spPr>
          <a:xfrm>
            <a:off x="5687171" y="4027144"/>
            <a:ext cx="202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CANOA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ángulo: esquinas redondeadas 85">
                <a:extLst>
                  <a:ext uri="{FF2B5EF4-FFF2-40B4-BE49-F238E27FC236}">
                    <a16:creationId xmlns:a16="http://schemas.microsoft.com/office/drawing/2014/main" id="{09E91CDC-C123-13FC-915F-60EA73B83E0C}"/>
                  </a:ext>
                </a:extLst>
              </p:cNvPr>
              <p:cNvSpPr/>
              <p:nvPr/>
            </p:nvSpPr>
            <p:spPr>
              <a:xfrm>
                <a:off x="9685330" y="4574928"/>
                <a:ext cx="1522416" cy="356938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+1,5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Rectángulo: esquinas redondeadas 85">
                <a:extLst>
                  <a:ext uri="{FF2B5EF4-FFF2-40B4-BE49-F238E27FC236}">
                    <a16:creationId xmlns:a16="http://schemas.microsoft.com/office/drawing/2014/main" id="{09E91CDC-C123-13FC-915F-60EA73B83E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330" y="4574928"/>
                <a:ext cx="1522416" cy="356938"/>
              </a:xfrm>
              <a:prstGeom prst="roundRect">
                <a:avLst>
                  <a:gd name="adj" fmla="val 29710"/>
                </a:avLst>
              </a:prstGeom>
              <a:blipFill>
                <a:blip r:embed="rId7"/>
                <a:stretch>
                  <a:fillRect b="-8065"/>
                </a:stretch>
              </a:blip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Elipse 86">
            <a:extLst>
              <a:ext uri="{FF2B5EF4-FFF2-40B4-BE49-F238E27FC236}">
                <a16:creationId xmlns:a16="http://schemas.microsoft.com/office/drawing/2014/main" id="{AE44687F-7549-5ED6-D8BD-47D8E2D0DFE3}"/>
              </a:ext>
            </a:extLst>
          </p:cNvPr>
          <p:cNvSpPr/>
          <p:nvPr/>
        </p:nvSpPr>
        <p:spPr>
          <a:xfrm>
            <a:off x="1439649" y="4188519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9C6C751E-1F11-19D0-8302-C5EED266912B}"/>
              </a:ext>
            </a:extLst>
          </p:cNvPr>
          <p:cNvSpPr/>
          <p:nvPr/>
        </p:nvSpPr>
        <p:spPr>
          <a:xfrm>
            <a:off x="1923703" y="3714407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DC377C4C-40B4-F37F-508F-4C828EFC785D}"/>
              </a:ext>
            </a:extLst>
          </p:cNvPr>
          <p:cNvSpPr/>
          <p:nvPr/>
        </p:nvSpPr>
        <p:spPr>
          <a:xfrm>
            <a:off x="2895804" y="2765395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5" name="Elipse 94">
            <a:extLst>
              <a:ext uri="{FF2B5EF4-FFF2-40B4-BE49-F238E27FC236}">
                <a16:creationId xmlns:a16="http://schemas.microsoft.com/office/drawing/2014/main" id="{57CC3716-81E6-8CFD-145B-9433F1AEE391}"/>
              </a:ext>
            </a:extLst>
          </p:cNvPr>
          <p:cNvSpPr/>
          <p:nvPr/>
        </p:nvSpPr>
        <p:spPr>
          <a:xfrm>
            <a:off x="2410027" y="3243158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C74B8BC-78B1-F12E-C240-B9DBE3AA9BF2}"/>
                  </a:ext>
                </a:extLst>
              </p:cNvPr>
              <p:cNvSpPr txBox="1"/>
              <p:nvPr/>
            </p:nvSpPr>
            <p:spPr>
              <a:xfrm>
                <a:off x="3937514" y="2282029"/>
                <a:ext cx="3244927" cy="15388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0 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h𝑜𝑟𝑎𝑠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→1,5€</m:t>
                    </m:r>
                  </m:oMath>
                </a14:m>
                <a:r>
                  <a:rPr lang="es-ES" sz="2000" b="0" dirty="0"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h𝑜𝑟𝑎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→1,5+1=2,5€</m:t>
                    </m:r>
                  </m:oMath>
                </a14:m>
                <a:r>
                  <a:rPr lang="es-ES" sz="2000" b="0" dirty="0"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s-ES" sz="20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h𝑜𝑟𝑎𝑠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1,5+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2∙</m:t>
                    </m:r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1=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,5€</m:t>
                    </m:r>
                  </m:oMath>
                </a14:m>
                <a:r>
                  <a:rPr lang="es-ES" sz="2000" b="0" dirty="0"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s-ES" sz="20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h𝑜𝑟𝑎𝑠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1,5+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∙1=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,5€</m:t>
                    </m:r>
                  </m:oMath>
                </a14:m>
                <a:r>
                  <a:rPr lang="es-ES" sz="2000" b="0" dirty="0"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s-ES" sz="20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h𝑜𝑟𝑎𝑠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1,5+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∙1=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,5€</m:t>
                    </m:r>
                  </m:oMath>
                </a14:m>
                <a:r>
                  <a:rPr lang="es-ES" sz="2000" dirty="0"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C74B8BC-78B1-F12E-C240-B9DBE3AA9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514" y="2282029"/>
                <a:ext cx="3244927" cy="1538883"/>
              </a:xfrm>
              <a:prstGeom prst="rect">
                <a:avLst/>
              </a:prstGeom>
              <a:blipFill>
                <a:blip r:embed="rId8"/>
                <a:stretch>
                  <a:fillRect l="-2820" b="-118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Elipse 74">
            <a:extLst>
              <a:ext uri="{FF2B5EF4-FFF2-40B4-BE49-F238E27FC236}">
                <a16:creationId xmlns:a16="http://schemas.microsoft.com/office/drawing/2014/main" id="{DAD0B148-D125-E39C-4C52-85A539FC3596}"/>
              </a:ext>
            </a:extLst>
          </p:cNvPr>
          <p:cNvSpPr/>
          <p:nvPr/>
        </p:nvSpPr>
        <p:spPr>
          <a:xfrm>
            <a:off x="955876" y="4658002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B9FEB8FE-5FD5-55D4-E8DC-A361F73B9592}"/>
              </a:ext>
            </a:extLst>
          </p:cNvPr>
          <p:cNvSpPr txBox="1"/>
          <p:nvPr/>
        </p:nvSpPr>
        <p:spPr>
          <a:xfrm>
            <a:off x="80614" y="2171286"/>
            <a:ext cx="1496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COSTE (€)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E39AE7E7-6DE0-3A3F-B551-0131F5AACA16}"/>
              </a:ext>
            </a:extLst>
          </p:cNvPr>
          <p:cNvSpPr txBox="1"/>
          <p:nvPr/>
        </p:nvSpPr>
        <p:spPr>
          <a:xfrm>
            <a:off x="3134238" y="5424129"/>
            <a:ext cx="1496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TIEMPO (h)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D622D21-2CAC-A85D-5209-3835B949E01D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4C1D17C-ABAE-C1F0-442C-64BFAEFDC12F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Funciones Lineales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624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1" grpId="0"/>
      <p:bldP spid="86" grpId="0" animBg="1"/>
      <p:bldP spid="87" grpId="0" animBg="1"/>
      <p:bldP spid="92" grpId="0" animBg="1"/>
      <p:bldP spid="94" grpId="0" animBg="1"/>
      <p:bldP spid="95" grpId="0" animBg="1"/>
      <p:bldP spid="4" grpId="0" uiExpand="1" build="p"/>
      <p:bldP spid="75" grpId="0" animBg="1"/>
      <p:bldP spid="77" grpId="0"/>
      <p:bldP spid="8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E7F0890F-EFD7-4BFF-AFCF-CDB5A65472CA"/>
  <p:tag name="ISPRING_CMI5_LAUNCH_METHOD" val="any window"/>
  <p:tag name="ISPRING_SCORM_RATE_SLIDES" val="1"/>
  <p:tag name="ISPRINGCLOUDFOLDERID" val="1"/>
  <p:tag name="ISPRINGONLINEFOLDERID" val="1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FIRST_PUBLISH" val="1"/>
  <p:tag name="ISPRING_OUTPUT_FOLDER" val="[[&quot;\uFFFD\/\uFFFD\uFFFD{21D528DD-60A0-4F5B-BB24-A0E5BDBD4B43}&quot;,&quot;C:\\Users\\34717\\Desktop\\Apuntes\\3 ESO\\8. Funciones lineales&quot;]]"/>
  <p:tag name="ISPRING_ULTRA_SCORM_COURCE_TITLE" val="2. y=mx+n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  <p:tag name="ISPRING_PRESENTATION_TITLE" val="2. y=mx+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1F09D72-1553-4917-8EE4-0C2A1FC128FD}:25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C4BFCDD-3F2B-4338-AFD5-DA1751074B88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251</Words>
  <Application>Microsoft Office PowerPoint</Application>
  <PresentationFormat>Panorámica</PresentationFormat>
  <Paragraphs>59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y=mx+n</dc:title>
  <dc:creator>Illán Linos Souto</dc:creator>
  <cp:lastModifiedBy>Illán Linos</cp:lastModifiedBy>
  <cp:revision>86</cp:revision>
  <dcterms:created xsi:type="dcterms:W3CDTF">2024-08-18T18:48:07Z</dcterms:created>
  <dcterms:modified xsi:type="dcterms:W3CDTF">2025-11-20T18:36:13Z</dcterms:modified>
</cp:coreProperties>
</file>