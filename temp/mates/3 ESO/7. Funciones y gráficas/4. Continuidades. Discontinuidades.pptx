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C6957-0905-4B54-AA63-896057003A5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DC3A2-63D0-4377-B189-02D9D6A197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1479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DC3A2-63D0-4377-B189-02D9D6A197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3399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52614"/>
            <a:ext cx="11121832" cy="72667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función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continua</a:t>
            </a:r>
            <a:r>
              <a:rPr lang="es-ES" sz="2000" b="1" dirty="0"/>
              <a:t> cuando no presenta discontinuidad de ningún tipo. Por tanto, su gráfica se puede trazar sin levantar el lápiz del papel.</a:t>
            </a:r>
            <a:endParaRPr lang="es-ES" sz="2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337E83D4-72D9-58CA-0988-721D91EAF58B}"/>
              </a:ext>
            </a:extLst>
          </p:cNvPr>
          <p:cNvGrpSpPr/>
          <p:nvPr/>
        </p:nvGrpSpPr>
        <p:grpSpPr>
          <a:xfrm>
            <a:off x="1127311" y="3056965"/>
            <a:ext cx="2483224" cy="2043953"/>
            <a:chOff x="1013011" y="2323540"/>
            <a:chExt cx="2483224" cy="2043953"/>
          </a:xfrm>
        </p:grpSpPr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3E0E1152-BC5F-0601-5A72-CA5E73863671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11" y="2323540"/>
              <a:ext cx="0" cy="204395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A8D0414E-3DBF-4E93-8AB3-A9600B569029}"/>
                </a:ext>
              </a:extLst>
            </p:cNvPr>
            <p:cNvCxnSpPr/>
            <p:nvPr/>
          </p:nvCxnSpPr>
          <p:spPr>
            <a:xfrm>
              <a:off x="1013011" y="4367493"/>
              <a:ext cx="2483224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EEACE0D2-47F6-7B0F-320B-A6D946B7D107}"/>
                </a:ext>
              </a:extLst>
            </p:cNvPr>
            <p:cNvSpPr/>
            <p:nvPr/>
          </p:nvSpPr>
          <p:spPr>
            <a:xfrm>
              <a:off x="1013011" y="2816494"/>
              <a:ext cx="2349314" cy="1024161"/>
            </a:xfrm>
            <a:custGeom>
              <a:avLst/>
              <a:gdLst>
                <a:gd name="connsiteX0" fmla="*/ 0 w 2085975"/>
                <a:gd name="connsiteY0" fmla="*/ 536306 h 1024161"/>
                <a:gd name="connsiteX1" fmla="*/ 457200 w 2085975"/>
                <a:gd name="connsiteY1" fmla="*/ 12431 h 1024161"/>
                <a:gd name="connsiteX2" fmla="*/ 1362075 w 2085975"/>
                <a:gd name="connsiteY2" fmla="*/ 1003031 h 1024161"/>
                <a:gd name="connsiteX3" fmla="*/ 2085975 w 2085975"/>
                <a:gd name="connsiteY3" fmla="*/ 593456 h 1024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5975" h="1024161">
                  <a:moveTo>
                    <a:pt x="0" y="536306"/>
                  </a:moveTo>
                  <a:cubicBezTo>
                    <a:pt x="115094" y="235475"/>
                    <a:pt x="230188" y="-65356"/>
                    <a:pt x="457200" y="12431"/>
                  </a:cubicBezTo>
                  <a:cubicBezTo>
                    <a:pt x="684212" y="90218"/>
                    <a:pt x="1090613" y="906194"/>
                    <a:pt x="1362075" y="1003031"/>
                  </a:cubicBezTo>
                  <a:cubicBezTo>
                    <a:pt x="1633538" y="1099869"/>
                    <a:pt x="1859756" y="846662"/>
                    <a:pt x="2085975" y="593456"/>
                  </a:cubicBezTo>
                </a:path>
              </a:pathLst>
            </a:cu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81" name="Grupo 80">
            <a:extLst>
              <a:ext uri="{FF2B5EF4-FFF2-40B4-BE49-F238E27FC236}">
                <a16:creationId xmlns:a16="http://schemas.microsoft.com/office/drawing/2014/main" id="{F75D0101-D7EE-61E3-05A6-D88BDB806C55}"/>
              </a:ext>
            </a:extLst>
          </p:cNvPr>
          <p:cNvGrpSpPr/>
          <p:nvPr/>
        </p:nvGrpSpPr>
        <p:grpSpPr>
          <a:xfrm>
            <a:off x="4854388" y="3056965"/>
            <a:ext cx="2483224" cy="2043953"/>
            <a:chOff x="4854388" y="3056965"/>
            <a:chExt cx="2483224" cy="2043953"/>
          </a:xfrm>
        </p:grpSpPr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33A31196-230F-4BE8-FAC7-B5D8E12D6853}"/>
                </a:ext>
              </a:extLst>
            </p:cNvPr>
            <p:cNvCxnSpPr>
              <a:cxnSpLocks/>
            </p:cNvCxnSpPr>
            <p:nvPr/>
          </p:nvCxnSpPr>
          <p:spPr>
            <a:xfrm>
              <a:off x="4854388" y="3056965"/>
              <a:ext cx="0" cy="204395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F6D78C2A-95A3-E7AF-3B04-5E711BA1D202}"/>
                </a:ext>
              </a:extLst>
            </p:cNvPr>
            <p:cNvCxnSpPr/>
            <p:nvPr/>
          </p:nvCxnSpPr>
          <p:spPr>
            <a:xfrm>
              <a:off x="4854388" y="5100918"/>
              <a:ext cx="2483224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ED5B8D30-4330-1454-58BC-F3DEA0A9E04D}"/>
                </a:ext>
              </a:extLst>
            </p:cNvPr>
            <p:cNvSpPr/>
            <p:nvPr/>
          </p:nvSpPr>
          <p:spPr>
            <a:xfrm flipH="1" flipV="1">
              <a:off x="5041905" y="4327530"/>
              <a:ext cx="96510" cy="9651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A75E042A-CB1E-C987-7C1B-9A648555155F}"/>
                </a:ext>
              </a:extLst>
            </p:cNvPr>
            <p:cNvSpPr/>
            <p:nvPr/>
          </p:nvSpPr>
          <p:spPr>
            <a:xfrm flipH="1" flipV="1">
              <a:off x="5353875" y="4076769"/>
              <a:ext cx="96510" cy="9651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3FA4681F-26CC-954D-D7EA-D4A81CC545F7}"/>
                </a:ext>
              </a:extLst>
            </p:cNvPr>
            <p:cNvSpPr/>
            <p:nvPr/>
          </p:nvSpPr>
          <p:spPr>
            <a:xfrm flipH="1" flipV="1">
              <a:off x="5719635" y="3878289"/>
              <a:ext cx="96510" cy="9651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E714F518-C865-9AC6-06FD-91164CF4450B}"/>
                </a:ext>
              </a:extLst>
            </p:cNvPr>
            <p:cNvSpPr/>
            <p:nvPr/>
          </p:nvSpPr>
          <p:spPr>
            <a:xfrm flipH="1" flipV="1">
              <a:off x="6047745" y="3725891"/>
              <a:ext cx="96510" cy="9651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8F9D1C91-EF17-E3B0-6DAD-77DB173387B4}"/>
                </a:ext>
              </a:extLst>
            </p:cNvPr>
            <p:cNvSpPr/>
            <p:nvPr/>
          </p:nvSpPr>
          <p:spPr>
            <a:xfrm flipH="1" flipV="1">
              <a:off x="6404148" y="3577863"/>
              <a:ext cx="96510" cy="9651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94354E1E-FAFF-608B-CFD1-7560F28697AF}"/>
                </a:ext>
              </a:extLst>
            </p:cNvPr>
            <p:cNvSpPr/>
            <p:nvPr/>
          </p:nvSpPr>
          <p:spPr>
            <a:xfrm flipH="1" flipV="1">
              <a:off x="6772325" y="3481353"/>
              <a:ext cx="96510" cy="9651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5" name="!Marco 10">
            <a:extLst>
              <a:ext uri="{FF2B5EF4-FFF2-40B4-BE49-F238E27FC236}">
                <a16:creationId xmlns:a16="http://schemas.microsoft.com/office/drawing/2014/main" id="{B164A067-F8D5-3C3F-3743-256DCD96DA72}"/>
              </a:ext>
            </a:extLst>
          </p:cNvPr>
          <p:cNvSpPr/>
          <p:nvPr/>
        </p:nvSpPr>
        <p:spPr>
          <a:xfrm>
            <a:off x="535084" y="1912461"/>
            <a:ext cx="11121832" cy="72667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9" name="!CuadroTexto 1">
            <a:extLst>
              <a:ext uri="{FF2B5EF4-FFF2-40B4-BE49-F238E27FC236}">
                <a16:creationId xmlns:a16="http://schemas.microsoft.com/office/drawing/2014/main" id="{9C160E3B-699E-C64B-E688-E94F2C9EC8AD}"/>
              </a:ext>
            </a:extLst>
          </p:cNvPr>
          <p:cNvSpPr txBox="1"/>
          <p:nvPr/>
        </p:nvSpPr>
        <p:spPr>
          <a:xfrm>
            <a:off x="535084" y="191246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También se puede decir de una función que 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continua en un tramo</a:t>
            </a:r>
            <a:r>
              <a:rPr lang="es-ES" sz="2000" b="1" dirty="0"/>
              <a:t>, aunque</a:t>
            </a:r>
          </a:p>
          <a:p>
            <a:r>
              <a:rPr lang="es-ES" sz="2000" b="1" dirty="0"/>
              <a:t>tenga discontinuidades en otros lugares.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93" name="Grupo 92">
            <a:extLst>
              <a:ext uri="{FF2B5EF4-FFF2-40B4-BE49-F238E27FC236}">
                <a16:creationId xmlns:a16="http://schemas.microsoft.com/office/drawing/2014/main" id="{5A0920C6-EDAC-3345-7254-66975CC69204}"/>
              </a:ext>
            </a:extLst>
          </p:cNvPr>
          <p:cNvGrpSpPr/>
          <p:nvPr/>
        </p:nvGrpSpPr>
        <p:grpSpPr>
          <a:xfrm>
            <a:off x="8438590" y="3056965"/>
            <a:ext cx="2483224" cy="2043953"/>
            <a:chOff x="8438590" y="3056965"/>
            <a:chExt cx="2483224" cy="2043953"/>
          </a:xfrm>
        </p:grpSpPr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71DED93B-6B7C-FCA5-BE40-08423B9AD423}"/>
                </a:ext>
              </a:extLst>
            </p:cNvPr>
            <p:cNvCxnSpPr>
              <a:cxnSpLocks/>
            </p:cNvCxnSpPr>
            <p:nvPr/>
          </p:nvCxnSpPr>
          <p:spPr>
            <a:xfrm>
              <a:off x="8438590" y="3056965"/>
              <a:ext cx="0" cy="2043953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099E12CF-D410-D1C2-6387-F5660248B258}"/>
                </a:ext>
              </a:extLst>
            </p:cNvPr>
            <p:cNvCxnSpPr/>
            <p:nvPr/>
          </p:nvCxnSpPr>
          <p:spPr>
            <a:xfrm>
              <a:off x="8438590" y="5100918"/>
              <a:ext cx="2483224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3772EDF1-7448-2AF1-8564-154553C967EF}"/>
                </a:ext>
              </a:extLst>
            </p:cNvPr>
            <p:cNvCxnSpPr/>
            <p:nvPr/>
          </p:nvCxnSpPr>
          <p:spPr>
            <a:xfrm>
              <a:off x="8438590" y="4585965"/>
              <a:ext cx="361950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1B11DEF0-BE4C-ADE2-D59F-6F93DF2175B6}"/>
                </a:ext>
              </a:extLst>
            </p:cNvPr>
            <p:cNvCxnSpPr/>
            <p:nvPr/>
          </p:nvCxnSpPr>
          <p:spPr>
            <a:xfrm>
              <a:off x="8800540" y="4225413"/>
              <a:ext cx="361950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1BB244D8-09FC-FDB7-F0A5-3C65C55C5015}"/>
                </a:ext>
              </a:extLst>
            </p:cNvPr>
            <p:cNvCxnSpPr/>
            <p:nvPr/>
          </p:nvCxnSpPr>
          <p:spPr>
            <a:xfrm>
              <a:off x="9152965" y="3894914"/>
              <a:ext cx="361950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85">
              <a:extLst>
                <a:ext uri="{FF2B5EF4-FFF2-40B4-BE49-F238E27FC236}">
                  <a16:creationId xmlns:a16="http://schemas.microsoft.com/office/drawing/2014/main" id="{3E204EC0-9513-FA9E-A8D1-3FBBDF98DD4B}"/>
                </a:ext>
              </a:extLst>
            </p:cNvPr>
            <p:cNvCxnSpPr/>
            <p:nvPr/>
          </p:nvCxnSpPr>
          <p:spPr>
            <a:xfrm>
              <a:off x="9514915" y="3576603"/>
              <a:ext cx="361950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0BB956A8-57B8-50AD-815A-0809D9DD190F}"/>
                </a:ext>
              </a:extLst>
            </p:cNvPr>
            <p:cNvCxnSpPr/>
            <p:nvPr/>
          </p:nvCxnSpPr>
          <p:spPr>
            <a:xfrm>
              <a:off x="9886390" y="3300378"/>
              <a:ext cx="361950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CuadroTexto 93">
            <a:extLst>
              <a:ext uri="{FF2B5EF4-FFF2-40B4-BE49-F238E27FC236}">
                <a16:creationId xmlns:a16="http://schemas.microsoft.com/office/drawing/2014/main" id="{8CECEED9-6091-6B20-2193-BCDEFF569685}"/>
              </a:ext>
            </a:extLst>
          </p:cNvPr>
          <p:cNvSpPr txBox="1"/>
          <p:nvPr/>
        </p:nvSpPr>
        <p:spPr>
          <a:xfrm>
            <a:off x="884703" y="5419725"/>
            <a:ext cx="296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Función continua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54BF1B8E-F026-E392-6D41-EC67E6D78475}"/>
              </a:ext>
            </a:extLst>
          </p:cNvPr>
          <p:cNvSpPr txBox="1"/>
          <p:nvPr/>
        </p:nvSpPr>
        <p:spPr>
          <a:xfrm>
            <a:off x="4611780" y="5419725"/>
            <a:ext cx="296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Función discontinua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D72A8DC8-39C7-7251-9880-1BC5915F7A8E}"/>
              </a:ext>
            </a:extLst>
          </p:cNvPr>
          <p:cNvSpPr txBox="1"/>
          <p:nvPr/>
        </p:nvSpPr>
        <p:spPr>
          <a:xfrm>
            <a:off x="8030695" y="5420702"/>
            <a:ext cx="296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Función discontinua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375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875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25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25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125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5" grpId="0" animBg="1"/>
      <p:bldP spid="79" grpId="0"/>
      <p:bldP spid="94" grpId="0"/>
      <p:bldP spid="96" grpId="0"/>
      <p:bldP spid="9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AD677A6B-53BD-4BE9-BB51-7236CFC009B7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3 ESO\\7. Funciones y gráfica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4. Continuidades. Discontinuidade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33A155E-BC13-40B9-91E5-3FC795F73355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</TotalTime>
  <Words>60</Words>
  <Application>Microsoft Office PowerPoint</Application>
  <PresentationFormat>Panorámica</PresentationFormat>
  <Paragraphs>8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Continuidades. Discontinuidades</dc:title>
  <dc:creator>Illán Linos Souto</dc:creator>
  <cp:lastModifiedBy>Illán Linos</cp:lastModifiedBy>
  <cp:revision>100</cp:revision>
  <dcterms:created xsi:type="dcterms:W3CDTF">2024-08-18T18:48:07Z</dcterms:created>
  <dcterms:modified xsi:type="dcterms:W3CDTF">2025-11-20T18:32:04Z</dcterms:modified>
</cp:coreProperties>
</file>