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custDataLst>
    <p:tags r:id="rId5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CC3124-8986-482E-8051-E21D53BE01AB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FA18D0-2A44-4711-AFAF-A124B21DABA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87621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FA18D0-2A44-4711-AFAF-A124B21DABA1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24647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FA18D0-2A44-4711-AFAF-A124B21DABA1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0014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7: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Funciones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052614"/>
            <a:ext cx="11121832" cy="1015662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535084" y="1052614"/>
            <a:ext cx="11121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Hay funciones en las que, aunque solo conozcamos un trozo de ellas, podemos predecir cómo se comportarán lejos del intervalo en que han sido estudiadas, porque tienen una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tendencia</a:t>
            </a:r>
            <a:r>
              <a:rPr lang="es-ES" sz="2000" b="1" dirty="0"/>
              <a:t> muy clara.</a:t>
            </a:r>
            <a:endParaRPr lang="es-ES" sz="24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36ABFCF-BF0E-FF83-AD84-39B3C466E41C}"/>
              </a:ext>
            </a:extLst>
          </p:cNvPr>
          <p:cNvSpPr txBox="1"/>
          <p:nvPr/>
        </p:nvSpPr>
        <p:spPr>
          <a:xfrm>
            <a:off x="535084" y="2235201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 </a:t>
            </a:r>
            <a:r>
              <a:rPr lang="es-ES" sz="2000" b="0" i="0" u="none" strike="noStrike" baseline="0" dirty="0">
                <a:solidFill>
                  <a:srgbClr val="464547"/>
                </a:solidFill>
              </a:rPr>
              <a:t>Dejamos enfriar una olla de agua hirviendo en una habitación a 20 °C.</a:t>
            </a:r>
            <a:endParaRPr lang="es-ES" sz="20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53D6968C-AE74-94F4-1707-2F2176136623}"/>
              </a:ext>
            </a:extLst>
          </p:cNvPr>
          <p:cNvGrpSpPr/>
          <p:nvPr/>
        </p:nvGrpSpPr>
        <p:grpSpPr>
          <a:xfrm>
            <a:off x="1284031" y="3191668"/>
            <a:ext cx="2168851" cy="2572160"/>
            <a:chOff x="864262" y="3428998"/>
            <a:chExt cx="2168851" cy="2572160"/>
          </a:xfrm>
        </p:grpSpPr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3AD8532F-0ECD-713E-06CA-1562ABEB462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44262" y="2559643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891D36F2-65A7-FD12-9BDF-FBAA1DFA608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51098" y="4685002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A932E12F-E89C-97DA-94FC-79BAC6C9AC8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51098" y="4448851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581A5567-934D-B7DB-AB13-C7B2327E193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51098" y="4212700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250A82EE-211C-B298-AA24-9776644C9B5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51098" y="3976549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87AE4126-9AA6-75D9-2A8A-F4E04FD4D0B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51098" y="3740398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4AEC9467-6D19-82A3-8241-F1DF9C64948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51098" y="3504247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1B80593C-D3C8-9028-2ED1-7560518C584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51098" y="3268096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F73C4429-A7EB-FB2A-DBBA-C13BF14D2C3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51098" y="30319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0F0D81E9-CD1B-96F9-1274-73B93511C3C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51098" y="4921158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C00937EC-F426-F762-DF93-667CE3F4ACC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51098" y="2795794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DD271710-7D38-1BC1-B641-9B2D09B85BF1}"/>
                </a:ext>
              </a:extLst>
            </p:cNvPr>
            <p:cNvCxnSpPr>
              <a:cxnSpLocks/>
            </p:cNvCxnSpPr>
            <p:nvPr/>
          </p:nvCxnSpPr>
          <p:spPr>
            <a:xfrm>
              <a:off x="1113986" y="3428998"/>
              <a:ext cx="0" cy="2572159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B6F51D79-7456-58E8-8E90-51D5FB748B74}"/>
                </a:ext>
              </a:extLst>
            </p:cNvPr>
            <p:cNvCxnSpPr>
              <a:cxnSpLocks/>
            </p:cNvCxnSpPr>
            <p:nvPr/>
          </p:nvCxnSpPr>
          <p:spPr>
            <a:xfrm>
              <a:off x="1356874" y="3428998"/>
              <a:ext cx="0" cy="2572159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01135C28-E3A5-23BA-3814-11BEDCF84007}"/>
                </a:ext>
              </a:extLst>
            </p:cNvPr>
            <p:cNvCxnSpPr>
              <a:cxnSpLocks/>
            </p:cNvCxnSpPr>
            <p:nvPr/>
          </p:nvCxnSpPr>
          <p:spPr>
            <a:xfrm>
              <a:off x="1599763" y="3428998"/>
              <a:ext cx="0" cy="2572159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8FD84527-ED17-BB94-831E-C260DCE087AA}"/>
                </a:ext>
              </a:extLst>
            </p:cNvPr>
            <p:cNvCxnSpPr>
              <a:cxnSpLocks/>
            </p:cNvCxnSpPr>
            <p:nvPr/>
          </p:nvCxnSpPr>
          <p:spPr>
            <a:xfrm>
              <a:off x="1842652" y="3428998"/>
              <a:ext cx="0" cy="2572159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EF27AB81-F933-1E28-3497-5858A689A75F}"/>
                </a:ext>
              </a:extLst>
            </p:cNvPr>
            <p:cNvCxnSpPr>
              <a:cxnSpLocks/>
            </p:cNvCxnSpPr>
            <p:nvPr/>
          </p:nvCxnSpPr>
          <p:spPr>
            <a:xfrm>
              <a:off x="2085541" y="3428998"/>
              <a:ext cx="0" cy="2572159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3B7C5C78-B407-3E38-3325-4CFF0389CCC8}"/>
                </a:ext>
              </a:extLst>
            </p:cNvPr>
            <p:cNvCxnSpPr>
              <a:cxnSpLocks/>
            </p:cNvCxnSpPr>
            <p:nvPr/>
          </p:nvCxnSpPr>
          <p:spPr>
            <a:xfrm>
              <a:off x="2328430" y="3428998"/>
              <a:ext cx="0" cy="2572159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44DB5D50-1CEA-61BE-8A3E-EED4276FF7CD}"/>
                </a:ext>
              </a:extLst>
            </p:cNvPr>
            <p:cNvCxnSpPr>
              <a:cxnSpLocks/>
            </p:cNvCxnSpPr>
            <p:nvPr/>
          </p:nvCxnSpPr>
          <p:spPr>
            <a:xfrm>
              <a:off x="2571319" y="3428998"/>
              <a:ext cx="0" cy="2572159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B59BA879-6CA7-4AC6-C3B1-4DE05120CB7C}"/>
                </a:ext>
              </a:extLst>
            </p:cNvPr>
            <p:cNvCxnSpPr>
              <a:cxnSpLocks/>
            </p:cNvCxnSpPr>
            <p:nvPr/>
          </p:nvCxnSpPr>
          <p:spPr>
            <a:xfrm>
              <a:off x="2814206" y="3428998"/>
              <a:ext cx="0" cy="2572159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6B86B454-964F-3AD7-E6B9-3A2642F50D5F}"/>
                </a:ext>
              </a:extLst>
            </p:cNvPr>
            <p:cNvCxnSpPr>
              <a:cxnSpLocks/>
            </p:cNvCxnSpPr>
            <p:nvPr/>
          </p:nvCxnSpPr>
          <p:spPr>
            <a:xfrm>
              <a:off x="3031098" y="3428998"/>
              <a:ext cx="0" cy="2572159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FEFFFE33-0218-240C-4097-96DCA549886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53113" y="4217006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CuadroTexto 35">
            <a:extLst>
              <a:ext uri="{FF2B5EF4-FFF2-40B4-BE49-F238E27FC236}">
                <a16:creationId xmlns:a16="http://schemas.microsoft.com/office/drawing/2014/main" id="{1D229D12-02F1-E0DE-258D-0A8E3EC3BD2F}"/>
              </a:ext>
            </a:extLst>
          </p:cNvPr>
          <p:cNvSpPr txBox="1"/>
          <p:nvPr/>
        </p:nvSpPr>
        <p:spPr>
          <a:xfrm>
            <a:off x="535084" y="2763945"/>
            <a:ext cx="23307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TEMPERATURA (ºC)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722A5AA0-A460-5EFD-5801-69996C126332}"/>
              </a:ext>
            </a:extLst>
          </p:cNvPr>
          <p:cNvSpPr txBox="1"/>
          <p:nvPr/>
        </p:nvSpPr>
        <p:spPr>
          <a:xfrm>
            <a:off x="3444030" y="5893640"/>
            <a:ext cx="1496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TIEMPO (h)</a:t>
            </a:r>
          </a:p>
        </p:txBody>
      </p:sp>
      <p:grpSp>
        <p:nvGrpSpPr>
          <p:cNvPr id="48" name="Grupo 47">
            <a:extLst>
              <a:ext uri="{FF2B5EF4-FFF2-40B4-BE49-F238E27FC236}">
                <a16:creationId xmlns:a16="http://schemas.microsoft.com/office/drawing/2014/main" id="{74E54AC2-B60C-C341-6D5D-C8625FD9A283}"/>
              </a:ext>
            </a:extLst>
          </p:cNvPr>
          <p:cNvGrpSpPr/>
          <p:nvPr/>
        </p:nvGrpSpPr>
        <p:grpSpPr>
          <a:xfrm>
            <a:off x="705521" y="3191670"/>
            <a:ext cx="2745346" cy="2915494"/>
            <a:chOff x="285752" y="3429000"/>
            <a:chExt cx="2745346" cy="2915494"/>
          </a:xfrm>
        </p:grpSpPr>
        <p:sp>
          <p:nvSpPr>
            <p:cNvPr id="49" name="CuadroTexto 48">
              <a:extLst>
                <a:ext uri="{FF2B5EF4-FFF2-40B4-BE49-F238E27FC236}">
                  <a16:creationId xmlns:a16="http://schemas.microsoft.com/office/drawing/2014/main" id="{2A93C27C-763A-C400-24F1-A634C6D5D380}"/>
                </a:ext>
              </a:extLst>
            </p:cNvPr>
            <p:cNvSpPr txBox="1"/>
            <p:nvPr/>
          </p:nvSpPr>
          <p:spPr>
            <a:xfrm>
              <a:off x="1280673" y="5975162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1</a:t>
              </a:r>
            </a:p>
          </p:txBody>
        </p:sp>
        <p:sp>
          <p:nvSpPr>
            <p:cNvPr id="50" name="CuadroTexto 49">
              <a:extLst>
                <a:ext uri="{FF2B5EF4-FFF2-40B4-BE49-F238E27FC236}">
                  <a16:creationId xmlns:a16="http://schemas.microsoft.com/office/drawing/2014/main" id="{40442A7A-286B-FD49-25E4-37DCBA8FD85A}"/>
                </a:ext>
              </a:extLst>
            </p:cNvPr>
            <p:cNvSpPr txBox="1"/>
            <p:nvPr/>
          </p:nvSpPr>
          <p:spPr>
            <a:xfrm>
              <a:off x="1766453" y="5975162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2</a:t>
              </a:r>
            </a:p>
          </p:txBody>
        </p:sp>
        <p:sp>
          <p:nvSpPr>
            <p:cNvPr id="51" name="CuadroTexto 50">
              <a:extLst>
                <a:ext uri="{FF2B5EF4-FFF2-40B4-BE49-F238E27FC236}">
                  <a16:creationId xmlns:a16="http://schemas.microsoft.com/office/drawing/2014/main" id="{B4AA7E7E-7700-61A1-4A58-18BC91017696}"/>
                </a:ext>
              </a:extLst>
            </p:cNvPr>
            <p:cNvSpPr txBox="1"/>
            <p:nvPr/>
          </p:nvSpPr>
          <p:spPr>
            <a:xfrm>
              <a:off x="2252229" y="5975162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3</a:t>
              </a:r>
            </a:p>
          </p:txBody>
        </p:sp>
        <p:sp>
          <p:nvSpPr>
            <p:cNvPr id="52" name="CuadroTexto 51">
              <a:extLst>
                <a:ext uri="{FF2B5EF4-FFF2-40B4-BE49-F238E27FC236}">
                  <a16:creationId xmlns:a16="http://schemas.microsoft.com/office/drawing/2014/main" id="{80AEBB22-7F11-C813-8387-4C45C28BD2DC}"/>
                </a:ext>
              </a:extLst>
            </p:cNvPr>
            <p:cNvSpPr txBox="1"/>
            <p:nvPr/>
          </p:nvSpPr>
          <p:spPr>
            <a:xfrm>
              <a:off x="2738005" y="5975162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4</a:t>
              </a:r>
            </a:p>
          </p:txBody>
        </p: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6C47A0FD-40FA-0333-8B84-69D1874DB732}"/>
                </a:ext>
              </a:extLst>
            </p:cNvPr>
            <p:cNvCxnSpPr>
              <a:cxnSpLocks/>
            </p:cNvCxnSpPr>
            <p:nvPr/>
          </p:nvCxnSpPr>
          <p:spPr>
            <a:xfrm>
              <a:off x="1356873" y="5945975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E9FD09FA-70AC-F5FB-B831-2793C44F5A7F}"/>
                </a:ext>
              </a:extLst>
            </p:cNvPr>
            <p:cNvCxnSpPr>
              <a:cxnSpLocks/>
            </p:cNvCxnSpPr>
            <p:nvPr/>
          </p:nvCxnSpPr>
          <p:spPr>
            <a:xfrm>
              <a:off x="2814205" y="5945975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22C3BBB3-108E-09AF-0FA4-0A826F1102DE}"/>
                </a:ext>
              </a:extLst>
            </p:cNvPr>
            <p:cNvCxnSpPr>
              <a:cxnSpLocks/>
            </p:cNvCxnSpPr>
            <p:nvPr/>
          </p:nvCxnSpPr>
          <p:spPr>
            <a:xfrm>
              <a:off x="1842652" y="5945975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recto 59">
              <a:extLst>
                <a:ext uri="{FF2B5EF4-FFF2-40B4-BE49-F238E27FC236}">
                  <a16:creationId xmlns:a16="http://schemas.microsoft.com/office/drawing/2014/main" id="{B72093E0-C06B-0A4F-DA90-C1D14CC9BDF5}"/>
                </a:ext>
              </a:extLst>
            </p:cNvPr>
            <p:cNvCxnSpPr>
              <a:cxnSpLocks/>
            </p:cNvCxnSpPr>
            <p:nvPr/>
          </p:nvCxnSpPr>
          <p:spPr>
            <a:xfrm>
              <a:off x="2328429" y="5945975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ector recto 61">
              <a:extLst>
                <a:ext uri="{FF2B5EF4-FFF2-40B4-BE49-F238E27FC236}">
                  <a16:creationId xmlns:a16="http://schemas.microsoft.com/office/drawing/2014/main" id="{0CA96CB8-AAD5-BB01-E7F7-B5D776EFE4B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67920" y="5011950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ector recto 62">
              <a:extLst>
                <a:ext uri="{FF2B5EF4-FFF2-40B4-BE49-F238E27FC236}">
                  <a16:creationId xmlns:a16="http://schemas.microsoft.com/office/drawing/2014/main" id="{79C8DDF1-F317-F656-9E46-D12623F1DAF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67920" y="5719984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ector recto 63">
              <a:extLst>
                <a:ext uri="{FF2B5EF4-FFF2-40B4-BE49-F238E27FC236}">
                  <a16:creationId xmlns:a16="http://schemas.microsoft.com/office/drawing/2014/main" id="{6D4D5ADA-DB46-61BB-FEAD-504B8A0903F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67920" y="5477888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CuadroTexto 67">
              <a:extLst>
                <a:ext uri="{FF2B5EF4-FFF2-40B4-BE49-F238E27FC236}">
                  <a16:creationId xmlns:a16="http://schemas.microsoft.com/office/drawing/2014/main" id="{CBFB0D22-C5A4-75D5-7E26-E4268602D436}"/>
                </a:ext>
              </a:extLst>
            </p:cNvPr>
            <p:cNvSpPr txBox="1"/>
            <p:nvPr/>
          </p:nvSpPr>
          <p:spPr>
            <a:xfrm>
              <a:off x="409758" y="5365169"/>
              <a:ext cx="42165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600" b="1" dirty="0"/>
                <a:t>20</a:t>
              </a:r>
            </a:p>
          </p:txBody>
        </p:sp>
        <p:cxnSp>
          <p:nvCxnSpPr>
            <p:cNvPr id="72" name="Conector recto 71">
              <a:extLst>
                <a:ext uri="{FF2B5EF4-FFF2-40B4-BE49-F238E27FC236}">
                  <a16:creationId xmlns:a16="http://schemas.microsoft.com/office/drawing/2014/main" id="{D5F17CF6-81EB-BF8F-4CE1-D57A620079A4}"/>
                </a:ext>
              </a:extLst>
            </p:cNvPr>
            <p:cNvCxnSpPr>
              <a:cxnSpLocks/>
            </p:cNvCxnSpPr>
            <p:nvPr/>
          </p:nvCxnSpPr>
          <p:spPr>
            <a:xfrm>
              <a:off x="871098" y="6001158"/>
              <a:ext cx="2160000" cy="0"/>
            </a:xfrm>
            <a:prstGeom prst="line">
              <a:avLst/>
            </a:prstGeom>
            <a:ln w="2857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CuadroTexto 72">
              <a:extLst>
                <a:ext uri="{FF2B5EF4-FFF2-40B4-BE49-F238E27FC236}">
                  <a16:creationId xmlns:a16="http://schemas.microsoft.com/office/drawing/2014/main" id="{66281971-B516-74E4-2C9A-730FD3FC810C}"/>
                </a:ext>
              </a:extLst>
            </p:cNvPr>
            <p:cNvSpPr txBox="1"/>
            <p:nvPr/>
          </p:nvSpPr>
          <p:spPr>
            <a:xfrm>
              <a:off x="429602" y="4647126"/>
              <a:ext cx="42165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600" b="1" dirty="0"/>
                <a:t>50</a:t>
              </a:r>
            </a:p>
          </p:txBody>
        </p:sp>
        <p:cxnSp>
          <p:nvCxnSpPr>
            <p:cNvPr id="76" name="Conector recto 75">
              <a:extLst>
                <a:ext uri="{FF2B5EF4-FFF2-40B4-BE49-F238E27FC236}">
                  <a16:creationId xmlns:a16="http://schemas.microsoft.com/office/drawing/2014/main" id="{30CE465C-0880-BAD5-556F-9BA68C35C5B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62579" y="3829916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ector recto 76">
              <a:extLst>
                <a:ext uri="{FF2B5EF4-FFF2-40B4-BE49-F238E27FC236}">
                  <a16:creationId xmlns:a16="http://schemas.microsoft.com/office/drawing/2014/main" id="{DBDB8416-F8C9-D184-D0ED-22DC7B0EE79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62579" y="4537950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ector recto 77">
              <a:extLst>
                <a:ext uri="{FF2B5EF4-FFF2-40B4-BE49-F238E27FC236}">
                  <a16:creationId xmlns:a16="http://schemas.microsoft.com/office/drawing/2014/main" id="{66EE0335-FDF1-D4A0-9252-9F34C08BA77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62579" y="4060901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ector recto 79">
              <a:extLst>
                <a:ext uri="{FF2B5EF4-FFF2-40B4-BE49-F238E27FC236}">
                  <a16:creationId xmlns:a16="http://schemas.microsoft.com/office/drawing/2014/main" id="{DEBF63ED-8B0A-F7DD-CE8F-60DB0B841BD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62579" y="4295854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CuadroTexto 87">
              <a:extLst>
                <a:ext uri="{FF2B5EF4-FFF2-40B4-BE49-F238E27FC236}">
                  <a16:creationId xmlns:a16="http://schemas.microsoft.com/office/drawing/2014/main" id="{CCC74473-1C86-AFA4-9F38-F0789A7309B3}"/>
                </a:ext>
              </a:extLst>
            </p:cNvPr>
            <p:cNvSpPr txBox="1"/>
            <p:nvPr/>
          </p:nvSpPr>
          <p:spPr>
            <a:xfrm>
              <a:off x="285752" y="3460840"/>
              <a:ext cx="5919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600" b="1" dirty="0"/>
                <a:t>100</a:t>
              </a:r>
            </a:p>
          </p:txBody>
        </p:sp>
        <p:cxnSp>
          <p:nvCxnSpPr>
            <p:cNvPr id="89" name="Conector recto 88">
              <a:extLst>
                <a:ext uri="{FF2B5EF4-FFF2-40B4-BE49-F238E27FC236}">
                  <a16:creationId xmlns:a16="http://schemas.microsoft.com/office/drawing/2014/main" id="{00E4A942-7C97-A2E2-FD66-FF7CA07C29B4}"/>
                </a:ext>
              </a:extLst>
            </p:cNvPr>
            <p:cNvCxnSpPr>
              <a:cxnSpLocks/>
            </p:cNvCxnSpPr>
            <p:nvPr/>
          </p:nvCxnSpPr>
          <p:spPr>
            <a:xfrm>
              <a:off x="871098" y="3429000"/>
              <a:ext cx="0" cy="2572158"/>
            </a:xfrm>
            <a:prstGeom prst="line">
              <a:avLst/>
            </a:prstGeom>
            <a:ln w="2857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ector recto 89">
              <a:extLst>
                <a:ext uri="{FF2B5EF4-FFF2-40B4-BE49-F238E27FC236}">
                  <a16:creationId xmlns:a16="http://schemas.microsoft.com/office/drawing/2014/main" id="{A09BC987-0DB4-0AD4-1379-DDB1C2B8232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62579" y="3588310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ector recto 90">
              <a:extLst>
                <a:ext uri="{FF2B5EF4-FFF2-40B4-BE49-F238E27FC236}">
                  <a16:creationId xmlns:a16="http://schemas.microsoft.com/office/drawing/2014/main" id="{45F3A5F6-E2C3-BD34-D989-1422A4EA9E0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67920" y="4770344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ector recto 91">
              <a:extLst>
                <a:ext uri="{FF2B5EF4-FFF2-40B4-BE49-F238E27FC236}">
                  <a16:creationId xmlns:a16="http://schemas.microsoft.com/office/drawing/2014/main" id="{71CE64E5-9501-3AAF-5291-A3EB8D29CD8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67920" y="5242935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Arco 94">
            <a:extLst>
              <a:ext uri="{FF2B5EF4-FFF2-40B4-BE49-F238E27FC236}">
                <a16:creationId xmlns:a16="http://schemas.microsoft.com/office/drawing/2014/main" id="{ECBF44CF-DD55-5887-DC74-714FB3449E86}"/>
              </a:ext>
            </a:extLst>
          </p:cNvPr>
          <p:cNvSpPr/>
          <p:nvPr/>
        </p:nvSpPr>
        <p:spPr>
          <a:xfrm>
            <a:off x="1297467" y="1572422"/>
            <a:ext cx="5002949" cy="3713155"/>
          </a:xfrm>
          <a:prstGeom prst="arc">
            <a:avLst>
              <a:gd name="adj1" fmla="val 6059480"/>
              <a:gd name="adj2" fmla="val 10838407"/>
            </a:avLst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7" name="CuadroTexto 96">
            <a:extLst>
              <a:ext uri="{FF2B5EF4-FFF2-40B4-BE49-F238E27FC236}">
                <a16:creationId xmlns:a16="http://schemas.microsoft.com/office/drawing/2014/main" id="{B1C12A6F-3F55-F8E1-A15F-1EA091BFAC96}"/>
              </a:ext>
            </a:extLst>
          </p:cNvPr>
          <p:cNvSpPr txBox="1"/>
          <p:nvPr/>
        </p:nvSpPr>
        <p:spPr>
          <a:xfrm>
            <a:off x="3798941" y="3377588"/>
            <a:ext cx="78579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b="0" i="0" u="none" strike="noStrike" baseline="0" dirty="0">
                <a:solidFill>
                  <a:srgbClr val="464547"/>
                </a:solidFill>
              </a:rPr>
              <a:t>Es claro que, al pasar el tiempo, la temperatura del agua se acerca</a:t>
            </a:r>
          </a:p>
          <a:p>
            <a:pPr algn="l"/>
            <a:r>
              <a:rPr lang="es-ES" b="0" i="0" u="none" strike="noStrike" baseline="0" dirty="0">
                <a:solidFill>
                  <a:srgbClr val="464547"/>
                </a:solidFill>
              </a:rPr>
              <a:t>a la temperatura ambiente, 20 °C. Decimos que la temperatura del </a:t>
            </a:r>
          </a:p>
          <a:p>
            <a:pPr algn="l"/>
            <a:r>
              <a:rPr lang="es-ES" b="0" i="0" u="none" strike="noStrike" baseline="0" dirty="0">
                <a:solidFill>
                  <a:srgbClr val="464547"/>
                </a:solidFill>
              </a:rPr>
              <a:t>agua </a:t>
            </a:r>
            <a:r>
              <a:rPr lang="es-ES" i="0" u="none" strike="noStrike" baseline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tiende</a:t>
            </a:r>
            <a:r>
              <a:rPr lang="es-ES" b="1" i="0" u="none" strike="noStrike" baseline="0" dirty="0">
                <a:solidFill>
                  <a:srgbClr val="464547"/>
                </a:solidFill>
              </a:rPr>
              <a:t> </a:t>
            </a:r>
            <a:r>
              <a:rPr lang="es-ES" b="0" i="0" u="none" strike="noStrike" baseline="0" dirty="0">
                <a:solidFill>
                  <a:srgbClr val="464547"/>
                </a:solidFill>
              </a:rPr>
              <a:t>a 20 °C con el transcurso del tiempo.</a:t>
            </a:r>
            <a:endParaRPr lang="es-E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25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2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75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3" grpId="0"/>
      <p:bldP spid="36" grpId="0"/>
      <p:bldP spid="37" grpId="0"/>
      <p:bldP spid="95" grpId="0" animBg="1"/>
      <p:bldP spid="97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n 23" descr="Gráfico, Gráfico de líneas&#10;&#10;Descripción generada automáticamente">
            <a:extLst>
              <a:ext uri="{FF2B5EF4-FFF2-40B4-BE49-F238E27FC236}">
                <a16:creationId xmlns:a16="http://schemas.microsoft.com/office/drawing/2014/main" id="{FDEB29F5-0A8C-58FE-A1B2-B3F34DA031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0" t="23150" b="26373"/>
          <a:stretch/>
        </p:blipFill>
        <p:spPr>
          <a:xfrm>
            <a:off x="816652" y="2826104"/>
            <a:ext cx="10558696" cy="2568342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7: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Funciones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052614"/>
            <a:ext cx="11121832" cy="1015662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535084" y="1052614"/>
            <a:ext cx="11121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Funciones periódicas </a:t>
            </a:r>
            <a:r>
              <a:rPr lang="es-ES" sz="2000" b="1" dirty="0"/>
              <a:t>son aquellas cuyo comportamiento se va repitiendo cada vez que la variable independiente recorre un cierto intervalo. A la longitud de ese intervalo se le llama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periodo</a:t>
            </a:r>
            <a:r>
              <a:rPr lang="es-ES" sz="2000" b="1" dirty="0"/>
              <a:t>.</a:t>
            </a:r>
            <a:endParaRPr lang="es-ES" sz="28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36ABFCF-BF0E-FF83-AD84-39B3C466E41C}"/>
              </a:ext>
            </a:extLst>
          </p:cNvPr>
          <p:cNvSpPr txBox="1"/>
          <p:nvPr/>
        </p:nvSpPr>
        <p:spPr>
          <a:xfrm>
            <a:off x="535084" y="2235201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 </a:t>
            </a:r>
            <a:r>
              <a:rPr lang="es-ES" sz="2000" b="0" i="0" u="none" strike="noStrike" baseline="0" dirty="0">
                <a:solidFill>
                  <a:srgbClr val="464547"/>
                </a:solidFill>
              </a:rPr>
              <a:t>Función</a:t>
            </a:r>
            <a:r>
              <a:rPr lang="es-ES" sz="2000" b="0" i="0" u="none" strike="noStrike" dirty="0">
                <a:solidFill>
                  <a:srgbClr val="464547"/>
                </a:solidFill>
              </a:rPr>
              <a:t> seno de un ángulo</a:t>
            </a:r>
            <a:endParaRPr lang="es-ES" sz="20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7" name="CuadroTexto 96">
            <a:extLst>
              <a:ext uri="{FF2B5EF4-FFF2-40B4-BE49-F238E27FC236}">
                <a16:creationId xmlns:a16="http://schemas.microsoft.com/office/drawing/2014/main" id="{B1C12A6F-3F55-F8E1-A15F-1EA091BFAC96}"/>
              </a:ext>
            </a:extLst>
          </p:cNvPr>
          <p:cNvSpPr txBox="1"/>
          <p:nvPr/>
        </p:nvSpPr>
        <p:spPr>
          <a:xfrm>
            <a:off x="667592" y="5482220"/>
            <a:ext cx="96947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b="0" i="0" u="none" strike="noStrike" baseline="0" dirty="0">
                <a:solidFill>
                  <a:srgbClr val="464547"/>
                </a:solidFill>
              </a:rPr>
              <a:t>La función seno toma valores entre 0 y 1, es </a:t>
            </a:r>
            <a:r>
              <a:rPr lang="es-ES" dirty="0">
                <a:solidFill>
                  <a:srgbClr val="464547"/>
                </a:solidFill>
              </a:rPr>
              <a:t>una función periódica con un periodo </a:t>
            </a:r>
          </a:p>
          <a:p>
            <a:pPr algn="l"/>
            <a:r>
              <a:rPr lang="es-ES" dirty="0">
                <a:solidFill>
                  <a:srgbClr val="464547"/>
                </a:solidFill>
              </a:rPr>
              <a:t>de 360º (</a:t>
            </a:r>
            <a:r>
              <a:rPr lang="el-GR" dirty="0">
                <a:solidFill>
                  <a:srgbClr val="464547"/>
                </a:solidFill>
              </a:rPr>
              <a:t>π</a:t>
            </a:r>
            <a:r>
              <a:rPr lang="es-ES" dirty="0">
                <a:solidFill>
                  <a:srgbClr val="464547"/>
                </a:solidFill>
              </a:rPr>
              <a:t>).</a:t>
            </a:r>
            <a:endParaRPr lang="es-E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8EC17E69-8A04-A7F6-999B-7C5ADC5E694B}"/>
                  </a:ext>
                </a:extLst>
              </p:cNvPr>
              <p:cNvSpPr txBox="1"/>
              <p:nvPr/>
            </p:nvSpPr>
            <p:spPr>
              <a:xfrm>
                <a:off x="1429307" y="2738330"/>
                <a:ext cx="82323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𝑠𝑒𝑛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" sz="2000" dirty="0"/>
              </a:p>
            </p:txBody>
          </p:sp>
        </mc:Choice>
        <mc:Fallback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8EC17E69-8A04-A7F6-999B-7C5ADC5E6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9307" y="2738330"/>
                <a:ext cx="823239" cy="307777"/>
              </a:xfrm>
              <a:prstGeom prst="rect">
                <a:avLst/>
              </a:prstGeom>
              <a:blipFill>
                <a:blip r:embed="rId5"/>
                <a:stretch>
                  <a:fillRect l="-2941" r="-8824" b="-3725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280555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3" grpId="0"/>
      <p:bldP spid="97" grpId="0" uiExpand="1" build="p"/>
      <p:bldP spid="3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E93AADE5-F92C-4B01-B25C-C9CE1A89CAF3"/>
  <p:tag name="ISPRING_CMI5_LAUNCH_METHOD" val="any window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SLIDES" val="1"/>
  <p:tag name="ISPRINGCLOUDFOLDERID" val="1"/>
  <p:tag name="ISPRINGONLINEFOLDERID" val="1"/>
  <p:tag name="ISPRING_OUTPUT_FOLDER" val="[[&quot;\uFFFD\/\uFFFD\uFFFD{21D528DD-60A0-4F5B-BB24-A0E5BDBD4B43}&quot;,&quot;C:\\Users\\34717\\Desktop\\Apuntes\\3 ESO\\7. Funciones y gráfica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RATE_QUIZZES" val="0"/>
  <p:tag name="ISPRING_SCORM_PASSING_SCORE" val="100.000000"/>
  <p:tag name="ISPRING_PRESENTATION_TITLE" val="3. Tendencias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2B474788-961C-4F13-A1A7-AF1ECD49EF44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C351963B-0704-44F2-9288-A19DB4CE1A29}:258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1009</TotalTime>
  <Words>182</Words>
  <Application>Microsoft Office PowerPoint</Application>
  <PresentationFormat>Panorámica</PresentationFormat>
  <Paragraphs>23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8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 Tendencias</dc:title>
  <dc:creator>Illán Linos Souto</dc:creator>
  <cp:lastModifiedBy>Illán Linos</cp:lastModifiedBy>
  <cp:revision>98</cp:revision>
  <dcterms:created xsi:type="dcterms:W3CDTF">2024-08-18T18:48:07Z</dcterms:created>
  <dcterms:modified xsi:type="dcterms:W3CDTF">2025-11-20T18:32:37Z</dcterms:modified>
</cp:coreProperties>
</file>