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5201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4717\Desktop\Apuntes\Temari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07667820236103"/>
          <c:y val="5.0925925925925923E-2"/>
          <c:w val="0.85959010100766498"/>
          <c:h val="0.74387357830271217"/>
        </c:manualLayout>
      </c:layout>
      <c:scatterChart>
        <c:scatterStyle val="lineMarker"/>
        <c:varyColors val="0"/>
        <c:ser>
          <c:idx val="0"/>
          <c:order val="0"/>
          <c:tx>
            <c:v>x+y=50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Hoja1!$B$2:$B$6</c:f>
              <c:numCache>
                <c:formatCode>General</c:formatCode>
                <c:ptCount val="5"/>
                <c:pt idx="0">
                  <c:v>0</c:v>
                </c:pt>
                <c:pt idx="4">
                  <c:v>50</c:v>
                </c:pt>
              </c:numCache>
            </c:numRef>
          </c:xVal>
          <c:yVal>
            <c:numRef>
              <c:f>Hoja1!$C$2:$C$6</c:f>
              <c:numCache>
                <c:formatCode>General</c:formatCode>
                <c:ptCount val="5"/>
                <c:pt idx="0">
                  <c:v>50</c:v>
                </c:pt>
                <c:pt idx="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9E0-448F-A686-30073619FE91}"/>
            </c:ext>
          </c:extLst>
        </c:ser>
        <c:ser>
          <c:idx val="1"/>
          <c:order val="1"/>
          <c:tx>
            <c:v>x=y+10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Hoja1!$E$2:$E$3</c:f>
              <c:numCache>
                <c:formatCode>General</c:formatCode>
                <c:ptCount val="2"/>
                <c:pt idx="0">
                  <c:v>10</c:v>
                </c:pt>
                <c:pt idx="1">
                  <c:v>70</c:v>
                </c:pt>
              </c:numCache>
            </c:numRef>
          </c:xVal>
          <c:yVal>
            <c:numRef>
              <c:f>Hoja1!$F$2:$F$3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9E0-448F-A686-30073619FE91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7222222222222221E-2"/>
                  <c:y val="-0.111111111111111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9E0-448F-A686-30073619FE9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Hoja1!$H$2</c:f>
              <c:numCache>
                <c:formatCode>General</c:formatCode>
                <c:ptCount val="1"/>
                <c:pt idx="0">
                  <c:v>30</c:v>
                </c:pt>
              </c:numCache>
            </c:numRef>
          </c:xVal>
          <c:yVal>
            <c:numRef>
              <c:f>Hoja1!$I$2</c:f>
              <c:numCache>
                <c:formatCode>General</c:formatCode>
                <c:ptCount val="1"/>
                <c:pt idx="0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9E0-448F-A686-30073619FE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827440"/>
        <c:axId val="1196810160"/>
      </c:scatterChart>
      <c:valAx>
        <c:axId val="1196827440"/>
        <c:scaling>
          <c:orientation val="minMax"/>
          <c:max val="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Edad de Alba</a:t>
                </a:r>
              </a:p>
            </c:rich>
          </c:tx>
          <c:layout>
            <c:manualLayout>
              <c:xMode val="edge"/>
              <c:yMode val="edge"/>
              <c:x val="0.44155442476275458"/>
              <c:y val="0.896867162438028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10160"/>
        <c:crosses val="autoZero"/>
        <c:crossBetween val="midCat"/>
      </c:valAx>
      <c:valAx>
        <c:axId val="1196810160"/>
        <c:scaling>
          <c:orientation val="minMax"/>
          <c:max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/>
                  <a:t>Edad de Mario</a:t>
                </a:r>
              </a:p>
            </c:rich>
          </c:tx>
          <c:layout>
            <c:manualLayout>
              <c:xMode val="edge"/>
              <c:yMode val="edge"/>
              <c:x val="1.3055029683311035E-3"/>
              <c:y val="0.2414738261883931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27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10D0-0E56-43BA-BA5C-CE2A3FA949BD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271C5-8B79-419E-A3A4-620317F9CE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271C5-8B79-419E-A3A4-620317F9CEB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7333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271C5-8B79-419E-A3A4-620317F9CEB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5971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271C5-8B79-419E-A3A4-620317F9CEB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840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21/11/2025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0153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ecuaciones lineales forman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 sistema de ecuaciones.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560420"/>
            <a:ext cx="11121832" cy="41468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56770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solución del sistema </a:t>
            </a:r>
            <a:r>
              <a:rPr lang="es-ES" sz="2000" b="1" dirty="0"/>
              <a:t>es la solución común a ambas ecuaciones.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393C0810-FC15-BA05-552E-E37D542CCD59}"/>
              </a:ext>
            </a:extLst>
          </p:cNvPr>
          <p:cNvSpPr txBox="1"/>
          <p:nvPr/>
        </p:nvSpPr>
        <p:spPr>
          <a:xfrm>
            <a:off x="535084" y="219399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Además, sabemos que Alba tiene</a:t>
            </a:r>
          </a:p>
          <a:p>
            <a:r>
              <a:rPr lang="es-ES" sz="2000" dirty="0"/>
              <a:t>10 años más que Mario. ¿Qué edad tiene cada uno?</a:t>
            </a:r>
            <a:endParaRPr lang="es-ES" sz="3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B2AC461-A173-0B4F-8F44-B559843542AA}"/>
              </a:ext>
            </a:extLst>
          </p:cNvPr>
          <p:cNvSpPr txBox="1"/>
          <p:nvPr/>
        </p:nvSpPr>
        <p:spPr>
          <a:xfrm>
            <a:off x="723900" y="2995214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16402F-C53F-6F86-254B-B7C73E614B2A}"/>
              </a:ext>
            </a:extLst>
          </p:cNvPr>
          <p:cNvSpPr txBox="1"/>
          <p:nvPr/>
        </p:nvSpPr>
        <p:spPr>
          <a:xfrm>
            <a:off x="723900" y="3392797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4568CD3-8108-1610-658E-6D847219B024}"/>
                  </a:ext>
                </a:extLst>
              </p:cNvPr>
              <p:cNvSpPr txBox="1"/>
              <p:nvPr/>
            </p:nvSpPr>
            <p:spPr>
              <a:xfrm>
                <a:off x="5320948" y="3059668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4568CD3-8108-1610-658E-6D847219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059668"/>
                <a:ext cx="1550104" cy="369332"/>
              </a:xfrm>
              <a:prstGeom prst="rect">
                <a:avLst/>
              </a:prstGeom>
              <a:blipFill>
                <a:blip r:embed="rId6"/>
                <a:stretch>
                  <a:fillRect l="-1969" r="-3937" b="-278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C4214AA-35AB-80A9-475E-F25DCAA0A76D}"/>
                  </a:ext>
                </a:extLst>
              </p:cNvPr>
              <p:cNvSpPr txBox="1"/>
              <p:nvPr/>
            </p:nvSpPr>
            <p:spPr>
              <a:xfrm>
                <a:off x="5320948" y="3561032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C4214AA-35AB-80A9-475E-F25DCAA0A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561032"/>
                <a:ext cx="1550104" cy="369332"/>
              </a:xfrm>
              <a:prstGeom prst="rect">
                <a:avLst/>
              </a:prstGeom>
              <a:blipFill>
                <a:blip r:embed="rId7"/>
                <a:stretch>
                  <a:fillRect l="-1969" r="-3937" b="-295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2855428E-2CF1-8039-5836-4CD7D3367811}"/>
              </a:ext>
            </a:extLst>
          </p:cNvPr>
          <p:cNvSpPr txBox="1"/>
          <p:nvPr/>
        </p:nvSpPr>
        <p:spPr>
          <a:xfrm>
            <a:off x="7141464" y="3059668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2212A37-2A07-915F-2C20-5A627EEBAF27}"/>
              </a:ext>
            </a:extLst>
          </p:cNvPr>
          <p:cNvSpPr txBox="1"/>
          <p:nvPr/>
        </p:nvSpPr>
        <p:spPr>
          <a:xfrm>
            <a:off x="7141464" y="3559476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(2)</a:t>
            </a:r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23FC9D67-9BFD-6212-F520-68C871211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6245865"/>
              </p:ext>
            </p:extLst>
          </p:nvPr>
        </p:nvGraphicFramePr>
        <p:xfrm>
          <a:off x="828675" y="4045010"/>
          <a:ext cx="49758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1605B5B-4F7B-71AC-703B-435AD6B41468}"/>
              </a:ext>
            </a:extLst>
          </p:cNvPr>
          <p:cNvCxnSpPr/>
          <p:nvPr/>
        </p:nvCxnSpPr>
        <p:spPr>
          <a:xfrm>
            <a:off x="7757160" y="3244334"/>
            <a:ext cx="510540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0B99F02-D112-3004-5FF1-6CCBA11BFD9C}"/>
              </a:ext>
            </a:extLst>
          </p:cNvPr>
          <p:cNvCxnSpPr/>
          <p:nvPr/>
        </p:nvCxnSpPr>
        <p:spPr>
          <a:xfrm>
            <a:off x="7757160" y="3771408"/>
            <a:ext cx="51054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CD6EE9B-EE44-AF58-187E-6B1962671D20}"/>
              </a:ext>
            </a:extLst>
          </p:cNvPr>
          <p:cNvSpPr txBox="1"/>
          <p:nvPr/>
        </p:nvSpPr>
        <p:spPr>
          <a:xfrm>
            <a:off x="7141464" y="4711328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x = 30 años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D116C5A-EDCC-E3FB-1D20-B36AAEEB0298}"/>
              </a:ext>
            </a:extLst>
          </p:cNvPr>
          <p:cNvSpPr txBox="1"/>
          <p:nvPr/>
        </p:nvSpPr>
        <p:spPr>
          <a:xfrm>
            <a:off x="7141464" y="5250691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= 20 años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443F7CC-4E59-5EDC-63A8-1F3CC71509F3}"/>
              </a:ext>
            </a:extLst>
          </p:cNvPr>
          <p:cNvCxnSpPr/>
          <p:nvPr/>
        </p:nvCxnSpPr>
        <p:spPr>
          <a:xfrm>
            <a:off x="6135624" y="5237001"/>
            <a:ext cx="10058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brir llave 33">
            <a:extLst>
              <a:ext uri="{FF2B5EF4-FFF2-40B4-BE49-F238E27FC236}">
                <a16:creationId xmlns:a16="http://schemas.microsoft.com/office/drawing/2014/main" id="{FEE332BD-A09F-28D3-A375-2E4AA9F5C6AB}"/>
              </a:ext>
            </a:extLst>
          </p:cNvPr>
          <p:cNvSpPr/>
          <p:nvPr/>
        </p:nvSpPr>
        <p:spPr>
          <a:xfrm>
            <a:off x="7278624" y="4761646"/>
            <a:ext cx="193929" cy="950710"/>
          </a:xfrm>
          <a:prstGeom prst="leftBrace">
            <a:avLst>
              <a:gd name="adj1" fmla="val 4844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8" grpId="0" uiExpand="1" build="p"/>
      <p:bldP spid="9" grpId="0"/>
      <p:bldP spid="12" grpId="0"/>
      <p:bldP spid="14" grpId="0"/>
      <p:bldP spid="16" grpId="0"/>
      <p:bldP spid="17" grpId="0"/>
      <p:bldP spid="18" grpId="0"/>
      <p:bldGraphic spid="20" grpId="0" uiExpand="1">
        <p:bldSub>
          <a:bldChart bld="series"/>
        </p:bldSub>
      </p:bldGraphic>
      <p:bldP spid="29" grpId="0"/>
      <p:bldP spid="30" grpId="0"/>
      <p:bldP spid="3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0153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forma de resolver un sistema de ecuaciones es con 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método de sustitución.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F74F6888-7C79-CB8F-DBCC-868D3C01B782}"/>
              </a:ext>
            </a:extLst>
          </p:cNvPr>
          <p:cNvSpPr/>
          <p:nvPr/>
        </p:nvSpPr>
        <p:spPr>
          <a:xfrm>
            <a:off x="535084" y="1595072"/>
            <a:ext cx="11121832" cy="71517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0DF99F1E-1327-D096-8CD7-1F4BCD086CB9}"/>
              </a:ext>
            </a:extLst>
          </p:cNvPr>
          <p:cNvSpPr txBox="1"/>
          <p:nvPr/>
        </p:nvSpPr>
        <p:spPr>
          <a:xfrm>
            <a:off x="535084" y="1602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despeja una incógnita en una de las ecuaciones y la expresión obtenida se</a:t>
            </a:r>
          </a:p>
          <a:p>
            <a:r>
              <a:rPr lang="es-ES" sz="2000" b="1" dirty="0"/>
              <a:t>sustituye en la otra ecuación.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F4D93FB1-A4EA-C605-C1FD-E9164B36C7E1}"/>
              </a:ext>
            </a:extLst>
          </p:cNvPr>
          <p:cNvSpPr txBox="1"/>
          <p:nvPr/>
        </p:nvSpPr>
        <p:spPr>
          <a:xfrm>
            <a:off x="535084" y="244894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Además, sabemos que Alba tiene</a:t>
            </a:r>
          </a:p>
          <a:p>
            <a:r>
              <a:rPr lang="es-ES" sz="2000" dirty="0"/>
              <a:t>10 años más que Mario. ¿Qué edad tiene cada uno?</a:t>
            </a:r>
            <a:endParaRPr lang="es-ES" sz="3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7E5078-0BC0-1758-8448-C82319631F9A}"/>
              </a:ext>
            </a:extLst>
          </p:cNvPr>
          <p:cNvSpPr txBox="1"/>
          <p:nvPr/>
        </p:nvSpPr>
        <p:spPr>
          <a:xfrm>
            <a:off x="723900" y="3250165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5AE33A-B708-0F77-8095-0A37DAD6BBF5}"/>
              </a:ext>
            </a:extLst>
          </p:cNvPr>
          <p:cNvSpPr txBox="1"/>
          <p:nvPr/>
        </p:nvSpPr>
        <p:spPr>
          <a:xfrm>
            <a:off x="723900" y="3647748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219021E-DF67-AB9C-122C-849577AB8B5F}"/>
                  </a:ext>
                </a:extLst>
              </p:cNvPr>
              <p:cNvSpPr txBox="1"/>
              <p:nvPr/>
            </p:nvSpPr>
            <p:spPr>
              <a:xfrm>
                <a:off x="5320948" y="3314619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219021E-DF67-AB9C-122C-849577AB8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314619"/>
                <a:ext cx="1550104" cy="369332"/>
              </a:xfrm>
              <a:prstGeom prst="rect">
                <a:avLst/>
              </a:prstGeom>
              <a:blipFill>
                <a:blip r:embed="rId6"/>
                <a:stretch>
                  <a:fillRect l="-1969" r="-3937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8D68DA0-BA00-C15E-BCB3-1530761FCE5B}"/>
                  </a:ext>
                </a:extLst>
              </p:cNvPr>
              <p:cNvSpPr txBox="1"/>
              <p:nvPr/>
            </p:nvSpPr>
            <p:spPr>
              <a:xfrm>
                <a:off x="5320948" y="3815983"/>
                <a:ext cx="15501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8D68DA0-BA00-C15E-BCB3-1530761FC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948" y="3815983"/>
                <a:ext cx="1550104" cy="369332"/>
              </a:xfrm>
              <a:prstGeom prst="rect">
                <a:avLst/>
              </a:prstGeom>
              <a:blipFill>
                <a:blip r:embed="rId7"/>
                <a:stretch>
                  <a:fillRect l="-1969" r="-3937" b="-278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EE980236-4C8A-97AB-8B41-3861278052F1}"/>
              </a:ext>
            </a:extLst>
          </p:cNvPr>
          <p:cNvSpPr txBox="1"/>
          <p:nvPr/>
        </p:nvSpPr>
        <p:spPr>
          <a:xfrm>
            <a:off x="7141464" y="3314619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(1)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EE37244-AB9D-E333-C792-BF904EDBF497}"/>
              </a:ext>
            </a:extLst>
          </p:cNvPr>
          <p:cNvSpPr txBox="1"/>
          <p:nvPr/>
        </p:nvSpPr>
        <p:spPr>
          <a:xfrm>
            <a:off x="7141464" y="3814427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6AA8ED6-448F-0FE8-A798-62136C819799}"/>
              </a:ext>
            </a:extLst>
          </p:cNvPr>
          <p:cNvSpPr txBox="1"/>
          <p:nvPr/>
        </p:nvSpPr>
        <p:spPr>
          <a:xfrm>
            <a:off x="723900" y="4589514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8771C0A-651E-07EB-2936-41E0F51B3A94}"/>
                  </a:ext>
                </a:extLst>
              </p:cNvPr>
              <p:cNvSpPr txBox="1"/>
              <p:nvPr/>
            </p:nvSpPr>
            <p:spPr>
              <a:xfrm>
                <a:off x="1281684" y="4595360"/>
                <a:ext cx="34763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s-ES" sz="2400" b="1" dirty="0"/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8771C0A-651E-07EB-2936-41E0F51B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84" y="4595360"/>
                <a:ext cx="3476336" cy="369332"/>
              </a:xfrm>
              <a:prstGeom prst="rect">
                <a:avLst/>
              </a:prstGeom>
              <a:blipFill>
                <a:blip r:embed="rId8"/>
                <a:stretch>
                  <a:fillRect l="-2277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uadroTexto 31">
            <a:extLst>
              <a:ext uri="{FF2B5EF4-FFF2-40B4-BE49-F238E27FC236}">
                <a16:creationId xmlns:a16="http://schemas.microsoft.com/office/drawing/2014/main" id="{E690CEE7-F607-3A59-95ED-1A205E87BBB7}"/>
              </a:ext>
            </a:extLst>
          </p:cNvPr>
          <p:cNvSpPr txBox="1"/>
          <p:nvPr/>
        </p:nvSpPr>
        <p:spPr>
          <a:xfrm>
            <a:off x="723900" y="5255642"/>
            <a:ext cx="55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E005F9-4399-7BA4-A5B0-FBFC243E2F46}"/>
                  </a:ext>
                </a:extLst>
              </p:cNvPr>
              <p:cNvSpPr txBox="1"/>
              <p:nvPr/>
            </p:nvSpPr>
            <p:spPr>
              <a:xfrm>
                <a:off x="1281684" y="5253588"/>
                <a:ext cx="15677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s-E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s-ES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" sz="2400" b="1" dirty="0"/>
                  <a:t> 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E005F9-4399-7BA4-A5B0-FBFC243E2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84" y="5253588"/>
                <a:ext cx="1567737" cy="369332"/>
              </a:xfrm>
              <a:prstGeom prst="rect">
                <a:avLst/>
              </a:prstGeom>
              <a:blipFill>
                <a:blip r:embed="rId9"/>
                <a:stretch>
                  <a:fillRect l="-5058" r="-1167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F0B23C-0571-933E-0829-260B4DE3DC42}"/>
                  </a:ext>
                </a:extLst>
              </p:cNvPr>
              <p:cNvSpPr txBox="1"/>
              <p:nvPr/>
            </p:nvSpPr>
            <p:spPr>
              <a:xfrm>
                <a:off x="4758020" y="4589514"/>
                <a:ext cx="35003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s-ES" sz="24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" sz="2400" b="1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F0B23C-0571-933E-0829-260B4DE3D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020" y="4589514"/>
                <a:ext cx="3500317" cy="369332"/>
              </a:xfrm>
              <a:prstGeom prst="rect">
                <a:avLst/>
              </a:prstGeom>
              <a:blipFill>
                <a:blip r:embed="rId10"/>
                <a:stretch>
                  <a:fillRect l="-2265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9ABFBFF-C33E-AFEB-7BEC-1CD71F567041}"/>
                  </a:ext>
                </a:extLst>
              </p:cNvPr>
              <p:cNvSpPr txBox="1"/>
              <p:nvPr/>
            </p:nvSpPr>
            <p:spPr>
              <a:xfrm>
                <a:off x="2849421" y="5176265"/>
                <a:ext cx="7123553" cy="53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s-E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𝟓𝟎</m:t>
                        </m:r>
                        <m: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400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𝟔𝟎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s-E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s-E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4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s-ES" sz="24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s-ES" sz="2400" b="1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9ABFBFF-C33E-AFEB-7BEC-1CD71F567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421" y="5176265"/>
                <a:ext cx="7123553" cy="5317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orma libre: forma 47">
            <a:extLst>
              <a:ext uri="{FF2B5EF4-FFF2-40B4-BE49-F238E27FC236}">
                <a16:creationId xmlns:a16="http://schemas.microsoft.com/office/drawing/2014/main" id="{DD1A0B20-C19C-290A-AA3B-62E375E79579}"/>
              </a:ext>
            </a:extLst>
          </p:cNvPr>
          <p:cNvSpPr/>
          <p:nvPr/>
        </p:nvSpPr>
        <p:spPr>
          <a:xfrm>
            <a:off x="2700338" y="4953000"/>
            <a:ext cx="1604962" cy="361950"/>
          </a:xfrm>
          <a:custGeom>
            <a:avLst/>
            <a:gdLst>
              <a:gd name="connsiteX0" fmla="*/ 0 w 1604962"/>
              <a:gd name="connsiteY0" fmla="*/ 361950 h 361950"/>
              <a:gd name="connsiteX1" fmla="*/ 476250 w 1604962"/>
              <a:gd name="connsiteY1" fmla="*/ 109538 h 361950"/>
              <a:gd name="connsiteX2" fmla="*/ 1366837 w 1604962"/>
              <a:gd name="connsiteY2" fmla="*/ 147638 h 361950"/>
              <a:gd name="connsiteX3" fmla="*/ 1604962 w 1604962"/>
              <a:gd name="connsiteY3" fmla="*/ 0 h 361950"/>
              <a:gd name="connsiteX4" fmla="*/ 1604962 w 1604962"/>
              <a:gd name="connsiteY4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4962" h="361950">
                <a:moveTo>
                  <a:pt x="0" y="361950"/>
                </a:moveTo>
                <a:cubicBezTo>
                  <a:pt x="124222" y="253603"/>
                  <a:pt x="248444" y="145257"/>
                  <a:pt x="476250" y="109538"/>
                </a:cubicBezTo>
                <a:cubicBezTo>
                  <a:pt x="704056" y="73819"/>
                  <a:pt x="1178718" y="165894"/>
                  <a:pt x="1366837" y="147638"/>
                </a:cubicBezTo>
                <a:cubicBezTo>
                  <a:pt x="1554956" y="129382"/>
                  <a:pt x="1604962" y="0"/>
                  <a:pt x="1604962" y="0"/>
                </a:cubicBezTo>
                <a:lnTo>
                  <a:pt x="1604962" y="0"/>
                </a:ln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93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10" grpId="0"/>
      <p:bldP spid="11" grpId="0"/>
      <p:bldP spid="13" grpId="0"/>
      <p:bldP spid="15" grpId="0"/>
      <p:bldP spid="19" grpId="0"/>
      <p:bldP spid="21" grpId="0"/>
      <p:bldP spid="22" grpId="0"/>
      <p:bldP spid="23" grpId="0"/>
      <p:bldP spid="26" grpId="0"/>
      <p:bldP spid="31" grpId="0"/>
      <p:bldP spid="32" grpId="0"/>
      <p:bldP spid="35" grpId="0"/>
      <p:bldP spid="38" grpId="0"/>
      <p:bldP spid="39" grpId="0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6E7FD8EA-5ECE-6842-C45A-3D951C9B6B67}"/>
              </a:ext>
            </a:extLst>
          </p:cNvPr>
          <p:cNvCxnSpPr>
            <a:cxnSpLocks/>
          </p:cNvCxnSpPr>
          <p:nvPr/>
        </p:nvCxnSpPr>
        <p:spPr>
          <a:xfrm flipV="1">
            <a:off x="3356705" y="3990844"/>
            <a:ext cx="1220444" cy="1200142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6: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Existen 2 casos especiales: </a:t>
            </a:r>
            <a:r>
              <a:rPr lang="es-ES" sz="2000" b="1" dirty="0">
                <a:solidFill>
                  <a:srgbClr val="4E95D9"/>
                </a:solidFill>
              </a:rPr>
              <a:t>sistemas incompatibles </a:t>
            </a:r>
            <a:r>
              <a:rPr lang="es-ES" sz="2000" b="1" dirty="0"/>
              <a:t>(sin solución) 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sistemas indeterminados </a:t>
            </a:r>
            <a:r>
              <a:rPr lang="es-ES" sz="2000" b="1" dirty="0"/>
              <a:t>(infinitas soluciones) 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099C7877-4A58-56A4-AE70-3D600D3D5ED4}"/>
              </a:ext>
            </a:extLst>
          </p:cNvPr>
          <p:cNvSpPr/>
          <p:nvPr/>
        </p:nvSpPr>
        <p:spPr>
          <a:xfrm>
            <a:off x="535084" y="1886016"/>
            <a:ext cx="11121832" cy="40739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AD8FAB7F-44DA-937E-9DDF-457FD1B30017}"/>
              </a:ext>
            </a:extLst>
          </p:cNvPr>
          <p:cNvSpPr txBox="1"/>
          <p:nvPr/>
        </p:nvSpPr>
        <p:spPr>
          <a:xfrm>
            <a:off x="535084" y="188965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los sistemas incompatibles las rectas </a:t>
            </a:r>
            <a:r>
              <a:rPr lang="es-ES" sz="2000" b="1" dirty="0">
                <a:solidFill>
                  <a:srgbClr val="4E95D9"/>
                </a:solidFill>
              </a:rPr>
              <a:t>son paralelas</a:t>
            </a:r>
            <a:r>
              <a:rPr lang="es-ES" sz="2000" b="1" dirty="0"/>
              <a:t>, nunca se llegan a cortar.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!Marco 10">
            <a:extLst>
              <a:ext uri="{FF2B5EF4-FFF2-40B4-BE49-F238E27FC236}">
                <a16:creationId xmlns:a16="http://schemas.microsoft.com/office/drawing/2014/main" id="{FB0D5B30-3EBB-2D00-7C8A-30DAED0BE868}"/>
              </a:ext>
            </a:extLst>
          </p:cNvPr>
          <p:cNvSpPr/>
          <p:nvPr/>
        </p:nvSpPr>
        <p:spPr>
          <a:xfrm>
            <a:off x="535084" y="2411641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762EF099-9F7A-3D3F-A663-BD7550F6103F}"/>
              </a:ext>
            </a:extLst>
          </p:cNvPr>
          <p:cNvSpPr txBox="1"/>
          <p:nvPr/>
        </p:nvSpPr>
        <p:spPr>
          <a:xfrm>
            <a:off x="535084" y="241528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los sistemas indeterminados las ecuaciones son equivalentes, las rectas </a:t>
            </a:r>
            <a:r>
              <a:rPr lang="es-ES" sz="2000" b="1" dirty="0">
                <a:solidFill>
                  <a:srgbClr val="4E95D9"/>
                </a:solidFill>
              </a:rPr>
              <a:t>se superponen</a:t>
            </a:r>
            <a:r>
              <a:rPr lang="es-ES" sz="2000" b="1" dirty="0"/>
              <a:t>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8E61CC88-4702-8507-CC5D-9B57C5F48CC2}"/>
              </a:ext>
            </a:extLst>
          </p:cNvPr>
          <p:cNvCxnSpPr>
            <a:cxnSpLocks/>
          </p:cNvCxnSpPr>
          <p:nvPr/>
        </p:nvCxnSpPr>
        <p:spPr>
          <a:xfrm flipV="1">
            <a:off x="3357310" y="3994734"/>
            <a:ext cx="2163178" cy="2163891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6CA3A5DA-B2F4-D247-D5CC-EF26B842591E}"/>
              </a:ext>
            </a:extLst>
          </p:cNvPr>
          <p:cNvGrpSpPr/>
          <p:nvPr/>
        </p:nvGrpSpPr>
        <p:grpSpPr>
          <a:xfrm>
            <a:off x="3142812" y="3988461"/>
            <a:ext cx="2380057" cy="2509609"/>
            <a:chOff x="761018" y="3225372"/>
            <a:chExt cx="2380057" cy="2509609"/>
          </a:xfrm>
        </p:grpSpPr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6AA26C76-F680-22C4-3DDB-CD5C4FA8E7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6875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9556E8F5-C915-167D-8C7D-87C3ABC5A8A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2586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517A9898-6314-5AE0-4DC9-BD129B9654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58298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C3200AF6-F504-4CD5-C894-046449A5542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400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9024168E-89F4-E197-720B-6C4B1BA19C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0972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57DC7AE2-A355-4B6D-E1FF-AF2D48D36C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5431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98B2B654-6D85-FFAA-5206-3588ED8C753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1142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8A1013DC-8773-FB92-1322-B7D292762E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36853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CBBE671E-9DAC-BBF7-25EB-547904BFE2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025074D3-A7F9-E8BD-073C-80658A4F1481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53F4DB01-A1EF-7EB1-E503-6B03A9371E70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300E6F26-2F1D-D25C-2DC8-4FE2AAB9853F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E7A28589-7798-1733-D3D7-E1EC27C93A00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E2FFEDA1-4928-39AC-FACF-26E023CF6ECD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1E67BAC6-EA12-1AB1-81E0-6E86B5DEE25A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4EDF2EB6-2BB6-074D-97DE-A2ACC3A68F17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23B3EBDF-4D08-91A7-C4FF-B77FDCF1199D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E1E9C5EB-EC7E-F42B-DD85-07232FEBF2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453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530C28FD-40BA-B0DE-A779-F41B54A1F539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A191C98A-83F2-8226-F23D-611DD01982B6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B7C28E9C-0749-0553-D240-8A8F3C381E21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CB2B4B47-498C-43AC-4E8A-D76CA5DB1EDA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42457732-90CF-E77D-4E88-435D7A0D65A1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687B19FB-0A16-26A9-A926-75DDAE4F5C05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CC649737-EDFE-0AAC-9118-42ED9D33335D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2609276D-A87C-A5CD-EE5E-BB65FB40C369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3ABB94A2-E889-582A-4423-7E345B36742F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51A6F2B1-06DF-2868-E258-562D033629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39834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2441E900-4C50-3D50-CFFA-5A03D25801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55677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9129C5F8-5358-F80F-9F3D-B62137CCDA4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8841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D47C553C-00D5-DFAD-C6DA-863E886471F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69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645C13C1-EDEA-5456-BB19-260BCB831C35}"/>
                </a:ext>
              </a:extLst>
            </p:cNvPr>
            <p:cNvSpPr txBox="1"/>
            <p:nvPr/>
          </p:nvSpPr>
          <p:spPr>
            <a:xfrm>
              <a:off x="761018" y="471620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F6DC9015-5628-4CB8-5831-A560BB48286A}"/>
                </a:ext>
              </a:extLst>
            </p:cNvPr>
            <p:cNvSpPr txBox="1"/>
            <p:nvPr/>
          </p:nvSpPr>
          <p:spPr>
            <a:xfrm>
              <a:off x="761994" y="423042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9257A0A1-AD2F-7059-4D8D-811D4A6713A3}"/>
                </a:ext>
              </a:extLst>
            </p:cNvPr>
            <p:cNvSpPr txBox="1"/>
            <p:nvPr/>
          </p:nvSpPr>
          <p:spPr>
            <a:xfrm>
              <a:off x="761018" y="374464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B888751-44B0-06E0-3DF4-0DA2E8C875D1}"/>
                </a:ext>
              </a:extLst>
            </p:cNvPr>
            <p:cNvSpPr txBox="1"/>
            <p:nvPr/>
          </p:nvSpPr>
          <p:spPr>
            <a:xfrm>
              <a:off x="768162" y="325886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27455FA0-6F54-F35E-64F9-B03601C55BBB}"/>
                </a:ext>
              </a:extLst>
            </p:cNvPr>
            <p:cNvCxnSpPr/>
            <p:nvPr/>
          </p:nvCxnSpPr>
          <p:spPr>
            <a:xfrm>
              <a:off x="981075" y="3231645"/>
              <a:ext cx="0" cy="216000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F08225C1-A8F6-1138-20CE-7120A070B797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Elipse 106">
            <a:extLst>
              <a:ext uri="{FF2B5EF4-FFF2-40B4-BE49-F238E27FC236}">
                <a16:creationId xmlns:a16="http://schemas.microsoft.com/office/drawing/2014/main" id="{AF12147F-CD02-A9DB-D5B9-A95BC77B9FD5}"/>
              </a:ext>
            </a:extLst>
          </p:cNvPr>
          <p:cNvSpPr/>
          <p:nvPr/>
        </p:nvSpPr>
        <p:spPr>
          <a:xfrm>
            <a:off x="3821443" y="564058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Elipse 110">
            <a:extLst>
              <a:ext uri="{FF2B5EF4-FFF2-40B4-BE49-F238E27FC236}">
                <a16:creationId xmlns:a16="http://schemas.microsoft.com/office/drawing/2014/main" id="{E71E0203-CD97-53E6-E69B-F19730B4DA98}"/>
              </a:ext>
            </a:extLst>
          </p:cNvPr>
          <p:cNvSpPr/>
          <p:nvPr/>
        </p:nvSpPr>
        <p:spPr>
          <a:xfrm>
            <a:off x="4305497" y="515217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3" name="Elipse 112">
            <a:extLst>
              <a:ext uri="{FF2B5EF4-FFF2-40B4-BE49-F238E27FC236}">
                <a16:creationId xmlns:a16="http://schemas.microsoft.com/office/drawing/2014/main" id="{491E0578-9747-AA71-90CE-C4B54A9040EC}"/>
              </a:ext>
            </a:extLst>
          </p:cNvPr>
          <p:cNvSpPr/>
          <p:nvPr/>
        </p:nvSpPr>
        <p:spPr>
          <a:xfrm>
            <a:off x="5277598" y="417935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4" name="Elipse 113">
            <a:extLst>
              <a:ext uri="{FF2B5EF4-FFF2-40B4-BE49-F238E27FC236}">
                <a16:creationId xmlns:a16="http://schemas.microsoft.com/office/drawing/2014/main" id="{44422D52-B5E0-2790-46C2-BBA723A5BB5D}"/>
              </a:ext>
            </a:extLst>
          </p:cNvPr>
          <p:cNvSpPr/>
          <p:nvPr/>
        </p:nvSpPr>
        <p:spPr>
          <a:xfrm>
            <a:off x="4791821" y="4671405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6" name="Elipse 165">
            <a:extLst>
              <a:ext uri="{FF2B5EF4-FFF2-40B4-BE49-F238E27FC236}">
                <a16:creationId xmlns:a16="http://schemas.microsoft.com/office/drawing/2014/main" id="{D34F27E3-F005-2D5E-1A97-BCC0ED2A65FF}"/>
              </a:ext>
            </a:extLst>
          </p:cNvPr>
          <p:cNvSpPr/>
          <p:nvPr/>
        </p:nvSpPr>
        <p:spPr>
          <a:xfrm>
            <a:off x="3814488" y="46729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7" name="Elipse 166">
            <a:extLst>
              <a:ext uri="{FF2B5EF4-FFF2-40B4-BE49-F238E27FC236}">
                <a16:creationId xmlns:a16="http://schemas.microsoft.com/office/drawing/2014/main" id="{22A810BE-4793-5F74-C6DE-7AC42055C640}"/>
              </a:ext>
            </a:extLst>
          </p:cNvPr>
          <p:cNvSpPr/>
          <p:nvPr/>
        </p:nvSpPr>
        <p:spPr>
          <a:xfrm>
            <a:off x="4306043" y="419105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2" name="!CuadroTexto 1">
            <a:extLst>
              <a:ext uri="{FF2B5EF4-FFF2-40B4-BE49-F238E27FC236}">
                <a16:creationId xmlns:a16="http://schemas.microsoft.com/office/drawing/2014/main" id="{9A30ED8D-EECB-A313-78E3-A2C2E7765654}"/>
              </a:ext>
            </a:extLst>
          </p:cNvPr>
          <p:cNvSpPr txBox="1"/>
          <p:nvPr/>
        </p:nvSpPr>
        <p:spPr>
          <a:xfrm>
            <a:off x="1319400" y="3358897"/>
            <a:ext cx="3140982" cy="400110"/>
          </a:xfrm>
          <a:prstGeom prst="rect">
            <a:avLst/>
          </a:prstGeom>
          <a:noFill/>
          <a:ln w="28575"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4E95D9"/>
                </a:solidFill>
              </a:rPr>
              <a:t>SISTEMA INCOMPATIBLE</a:t>
            </a:r>
            <a:endParaRPr lang="es-ES" sz="3600" dirty="0">
              <a:solidFill>
                <a:srgbClr val="4E95D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1F4C9BF7-C409-5E04-3D05-CD501F960981}"/>
                  </a:ext>
                </a:extLst>
              </p:cNvPr>
              <p:cNvSpPr txBox="1"/>
              <p:nvPr/>
            </p:nvSpPr>
            <p:spPr>
              <a:xfrm>
                <a:off x="1085491" y="4555372"/>
                <a:ext cx="8153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1F4C9BF7-C409-5E04-3D05-CD501F960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491" y="4555372"/>
                <a:ext cx="815351" cy="369332"/>
              </a:xfrm>
              <a:prstGeom prst="rect">
                <a:avLst/>
              </a:prstGeom>
              <a:blipFill>
                <a:blip r:embed="rId6"/>
                <a:stretch>
                  <a:fillRect l="-3731" r="-8209" b="-295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CuadroTexto 173">
                <a:extLst>
                  <a:ext uri="{FF2B5EF4-FFF2-40B4-BE49-F238E27FC236}">
                    <a16:creationId xmlns:a16="http://schemas.microsoft.com/office/drawing/2014/main" id="{6CEDE04E-8B2B-C00D-BAB7-EAD0D9D470BE}"/>
                  </a:ext>
                </a:extLst>
              </p:cNvPr>
              <p:cNvSpPr txBox="1"/>
              <p:nvPr/>
            </p:nvSpPr>
            <p:spPr>
              <a:xfrm>
                <a:off x="535084" y="5056736"/>
                <a:ext cx="13657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74" name="CuadroTexto 173">
                <a:extLst>
                  <a:ext uri="{FF2B5EF4-FFF2-40B4-BE49-F238E27FC236}">
                    <a16:creationId xmlns:a16="http://schemas.microsoft.com/office/drawing/2014/main" id="{6CEDE04E-8B2B-C00D-BAB7-EAD0D9D47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5056736"/>
                <a:ext cx="1365758" cy="369332"/>
              </a:xfrm>
              <a:prstGeom prst="rect">
                <a:avLst/>
              </a:prstGeom>
              <a:blipFill>
                <a:blip r:embed="rId7"/>
                <a:stretch>
                  <a:fillRect l="-2232" r="-4018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438B9B81-317E-D24A-34B9-991547449994}"/>
              </a:ext>
            </a:extLst>
          </p:cNvPr>
          <p:cNvCxnSpPr>
            <a:cxnSpLocks/>
          </p:cNvCxnSpPr>
          <p:nvPr/>
        </p:nvCxnSpPr>
        <p:spPr>
          <a:xfrm>
            <a:off x="2018796" y="4778138"/>
            <a:ext cx="510540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recto 177">
            <a:extLst>
              <a:ext uri="{FF2B5EF4-FFF2-40B4-BE49-F238E27FC236}">
                <a16:creationId xmlns:a16="http://schemas.microsoft.com/office/drawing/2014/main" id="{0075C23C-D1B9-38FC-5CFF-8F3E2D2015BD}"/>
              </a:ext>
            </a:extLst>
          </p:cNvPr>
          <p:cNvCxnSpPr>
            <a:cxnSpLocks/>
          </p:cNvCxnSpPr>
          <p:nvPr/>
        </p:nvCxnSpPr>
        <p:spPr>
          <a:xfrm>
            <a:off x="2018796" y="5267112"/>
            <a:ext cx="510540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!CuadroTexto 1">
            <a:extLst>
              <a:ext uri="{FF2B5EF4-FFF2-40B4-BE49-F238E27FC236}">
                <a16:creationId xmlns:a16="http://schemas.microsoft.com/office/drawing/2014/main" id="{8BCC306D-DFDD-322C-8336-F93674C7F872}"/>
              </a:ext>
            </a:extLst>
          </p:cNvPr>
          <p:cNvSpPr txBox="1"/>
          <p:nvPr/>
        </p:nvSpPr>
        <p:spPr>
          <a:xfrm>
            <a:off x="7223619" y="3358897"/>
            <a:ext cx="3355887" cy="400110"/>
          </a:xfrm>
          <a:prstGeom prst="rect">
            <a:avLst/>
          </a:prstGeom>
          <a:noFill/>
          <a:ln w="28575"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4E95D9"/>
                </a:solidFill>
              </a:rPr>
              <a:t>SISTEMA INDETERMINADO</a:t>
            </a:r>
            <a:endParaRPr lang="es-ES" sz="3600" dirty="0">
              <a:solidFill>
                <a:srgbClr val="4E95D9"/>
              </a:solidFill>
            </a:endParaRPr>
          </a:p>
        </p:txBody>
      </p: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D70C7DD4-55DC-1F65-4583-4928F664E97D}"/>
              </a:ext>
            </a:extLst>
          </p:cNvPr>
          <p:cNvCxnSpPr>
            <a:cxnSpLocks/>
          </p:cNvCxnSpPr>
          <p:nvPr/>
        </p:nvCxnSpPr>
        <p:spPr>
          <a:xfrm flipV="1">
            <a:off x="8707041" y="3994734"/>
            <a:ext cx="2163178" cy="2163891"/>
          </a:xfrm>
          <a:prstGeom prst="line">
            <a:avLst/>
          </a:prstGeom>
          <a:ln w="1905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63A7AEF0-CB36-46D7-7C5F-0A2C8DEDFD25}"/>
              </a:ext>
            </a:extLst>
          </p:cNvPr>
          <p:cNvCxnSpPr>
            <a:cxnSpLocks/>
          </p:cNvCxnSpPr>
          <p:nvPr/>
        </p:nvCxnSpPr>
        <p:spPr>
          <a:xfrm flipV="1">
            <a:off x="8707041" y="3994734"/>
            <a:ext cx="2163178" cy="2163891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AC83D1EC-C55F-B40A-7EE2-68A519AC528B}"/>
              </a:ext>
            </a:extLst>
          </p:cNvPr>
          <p:cNvGrpSpPr/>
          <p:nvPr/>
        </p:nvGrpSpPr>
        <p:grpSpPr>
          <a:xfrm>
            <a:off x="8492543" y="3988461"/>
            <a:ext cx="2380057" cy="2509609"/>
            <a:chOff x="761018" y="3225372"/>
            <a:chExt cx="2380057" cy="2509609"/>
          </a:xfrm>
        </p:grpSpPr>
        <p:cxnSp>
          <p:nvCxnSpPr>
            <p:cNvPr id="183" name="Conector recto 182">
              <a:extLst>
                <a:ext uri="{FF2B5EF4-FFF2-40B4-BE49-F238E27FC236}">
                  <a16:creationId xmlns:a16="http://schemas.microsoft.com/office/drawing/2014/main" id="{D767393F-2780-46AE-D448-7FBCE055C9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06875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ector recto 183">
              <a:extLst>
                <a:ext uri="{FF2B5EF4-FFF2-40B4-BE49-F238E27FC236}">
                  <a16:creationId xmlns:a16="http://schemas.microsoft.com/office/drawing/2014/main" id="{16D47D29-37BA-B531-4272-3C47F7D9CC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82586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ector recto 184">
              <a:extLst>
                <a:ext uri="{FF2B5EF4-FFF2-40B4-BE49-F238E27FC236}">
                  <a16:creationId xmlns:a16="http://schemas.microsoft.com/office/drawing/2014/main" id="{930611A1-F430-FC94-FB2B-08FFF3C73CE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58298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ector recto 185">
              <a:extLst>
                <a:ext uri="{FF2B5EF4-FFF2-40B4-BE49-F238E27FC236}">
                  <a16:creationId xmlns:a16="http://schemas.microsoft.com/office/drawing/2014/main" id="{430FBB13-1235-9692-8FD0-9155AD36FC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34009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ector recto 186">
              <a:extLst>
                <a:ext uri="{FF2B5EF4-FFF2-40B4-BE49-F238E27FC236}">
                  <a16:creationId xmlns:a16="http://schemas.microsoft.com/office/drawing/2014/main" id="{41F05419-DA1C-1373-7232-36EA94B900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30972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ector recto 187">
              <a:extLst>
                <a:ext uri="{FF2B5EF4-FFF2-40B4-BE49-F238E27FC236}">
                  <a16:creationId xmlns:a16="http://schemas.microsoft.com/office/drawing/2014/main" id="{8E27F5B8-36D7-EA0A-9760-0FAB956201D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85431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ector recto 188">
              <a:extLst>
                <a:ext uri="{FF2B5EF4-FFF2-40B4-BE49-F238E27FC236}">
                  <a16:creationId xmlns:a16="http://schemas.microsoft.com/office/drawing/2014/main" id="{FFBD113E-65F0-04A4-7D9C-F370BF68E7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61142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ector recto 189">
              <a:extLst>
                <a:ext uri="{FF2B5EF4-FFF2-40B4-BE49-F238E27FC236}">
                  <a16:creationId xmlns:a16="http://schemas.microsoft.com/office/drawing/2014/main" id="{BAC0CE0F-DE14-0777-F39B-8C520C47F2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36853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ector recto 190">
              <a:extLst>
                <a:ext uri="{FF2B5EF4-FFF2-40B4-BE49-F238E27FC236}">
                  <a16:creationId xmlns:a16="http://schemas.microsoft.com/office/drawing/2014/main" id="{CB61607F-85E1-CAC5-B791-3D786AA336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431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ector recto 191">
              <a:extLst>
                <a:ext uri="{FF2B5EF4-FFF2-40B4-BE49-F238E27FC236}">
                  <a16:creationId xmlns:a16="http://schemas.microsoft.com/office/drawing/2014/main" id="{F61377ED-3C95-184E-F1AA-256B6F3B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22396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ector recto 192">
              <a:extLst>
                <a:ext uri="{FF2B5EF4-FFF2-40B4-BE49-F238E27FC236}">
                  <a16:creationId xmlns:a16="http://schemas.microsoft.com/office/drawing/2014/main" id="{3BDE987C-B213-5407-430E-E3B0A7AFFB41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1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ector recto 193">
              <a:extLst>
                <a:ext uri="{FF2B5EF4-FFF2-40B4-BE49-F238E27FC236}">
                  <a16:creationId xmlns:a16="http://schemas.microsoft.com/office/drawing/2014/main" id="{A7C3BED1-A6EE-4B4B-F174-DA9D0A4418CA}"/>
                </a:ext>
              </a:extLst>
            </p:cNvPr>
            <p:cNvCxnSpPr>
              <a:cxnSpLocks/>
            </p:cNvCxnSpPr>
            <p:nvPr/>
          </p:nvCxnSpPr>
          <p:spPr>
            <a:xfrm>
              <a:off x="1709740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ector recto 194">
              <a:extLst>
                <a:ext uri="{FF2B5EF4-FFF2-40B4-BE49-F238E27FC236}">
                  <a16:creationId xmlns:a16="http://schemas.microsoft.com/office/drawing/2014/main" id="{EBB18B90-AC46-C7C2-02A1-6E5FC2274ECC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ector recto 195">
              <a:extLst>
                <a:ext uri="{FF2B5EF4-FFF2-40B4-BE49-F238E27FC236}">
                  <a16:creationId xmlns:a16="http://schemas.microsoft.com/office/drawing/2014/main" id="{E37D81E5-2460-8150-59F8-A673D9F3D0C5}"/>
                </a:ext>
              </a:extLst>
            </p:cNvPr>
            <p:cNvCxnSpPr>
              <a:cxnSpLocks/>
            </p:cNvCxnSpPr>
            <p:nvPr/>
          </p:nvCxnSpPr>
          <p:spPr>
            <a:xfrm>
              <a:off x="2195518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ector recto 196">
              <a:extLst>
                <a:ext uri="{FF2B5EF4-FFF2-40B4-BE49-F238E27FC236}">
                  <a16:creationId xmlns:a16="http://schemas.microsoft.com/office/drawing/2014/main" id="{79ABD77E-2F16-2683-885E-E0070CDD0025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7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ector recto 197">
              <a:extLst>
                <a:ext uri="{FF2B5EF4-FFF2-40B4-BE49-F238E27FC236}">
                  <a16:creationId xmlns:a16="http://schemas.microsoft.com/office/drawing/2014/main" id="{98244FC4-4AC9-3270-80EF-9CB131BD625C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96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ector recto 198">
              <a:extLst>
                <a:ext uri="{FF2B5EF4-FFF2-40B4-BE49-F238E27FC236}">
                  <a16:creationId xmlns:a16="http://schemas.microsoft.com/office/drawing/2014/main" id="{43F5E4A3-C751-B3BB-6483-29A154E4ED58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3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ector recto 199">
              <a:extLst>
                <a:ext uri="{FF2B5EF4-FFF2-40B4-BE49-F238E27FC236}">
                  <a16:creationId xmlns:a16="http://schemas.microsoft.com/office/drawing/2014/main" id="{AC61ACC5-4D99-784F-8984-262E64FA8C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61075" y="21453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ector recto 200">
              <a:extLst>
                <a:ext uri="{FF2B5EF4-FFF2-40B4-BE49-F238E27FC236}">
                  <a16:creationId xmlns:a16="http://schemas.microsoft.com/office/drawing/2014/main" id="{A4EC2389-D49D-9141-EC43-A43C3230BC6C}"/>
                </a:ext>
              </a:extLst>
            </p:cNvPr>
            <p:cNvCxnSpPr>
              <a:cxnSpLocks/>
            </p:cNvCxnSpPr>
            <p:nvPr/>
          </p:nvCxnSpPr>
          <p:spPr>
            <a:xfrm>
              <a:off x="3141075" y="32316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CuadroTexto 201">
              <a:extLst>
                <a:ext uri="{FF2B5EF4-FFF2-40B4-BE49-F238E27FC236}">
                  <a16:creationId xmlns:a16="http://schemas.microsoft.com/office/drawing/2014/main" id="{5344B863-DA31-A9F6-CB06-3E08E7075AF9}"/>
                </a:ext>
              </a:extLst>
            </p:cNvPr>
            <p:cNvSpPr txBox="1"/>
            <p:nvPr/>
          </p:nvSpPr>
          <p:spPr>
            <a:xfrm>
              <a:off x="139065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203" name="CuadroTexto 202">
              <a:extLst>
                <a:ext uri="{FF2B5EF4-FFF2-40B4-BE49-F238E27FC236}">
                  <a16:creationId xmlns:a16="http://schemas.microsoft.com/office/drawing/2014/main" id="{52C52875-2050-5C70-E372-EB1B115BE074}"/>
                </a:ext>
              </a:extLst>
            </p:cNvPr>
            <p:cNvSpPr txBox="1"/>
            <p:nvPr/>
          </p:nvSpPr>
          <p:spPr>
            <a:xfrm>
              <a:off x="1876430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204" name="CuadroTexto 203">
              <a:extLst>
                <a:ext uri="{FF2B5EF4-FFF2-40B4-BE49-F238E27FC236}">
                  <a16:creationId xmlns:a16="http://schemas.microsoft.com/office/drawing/2014/main" id="{3B1BC2AF-7F42-4F22-E9E5-BD670BB0102D}"/>
                </a:ext>
              </a:extLst>
            </p:cNvPr>
            <p:cNvSpPr txBox="1"/>
            <p:nvPr/>
          </p:nvSpPr>
          <p:spPr>
            <a:xfrm>
              <a:off x="2362206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00C15A49-63CC-3637-E106-0582EEA6833E}"/>
                </a:ext>
              </a:extLst>
            </p:cNvPr>
            <p:cNvSpPr txBox="1"/>
            <p:nvPr/>
          </p:nvSpPr>
          <p:spPr>
            <a:xfrm>
              <a:off x="2847982" y="536564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206" name="Conector recto 205">
              <a:extLst>
                <a:ext uri="{FF2B5EF4-FFF2-40B4-BE49-F238E27FC236}">
                  <a16:creationId xmlns:a16="http://schemas.microsoft.com/office/drawing/2014/main" id="{1F140C45-816D-00A7-4235-8EFF19634997}"/>
                </a:ext>
              </a:extLst>
            </p:cNvPr>
            <p:cNvCxnSpPr>
              <a:cxnSpLocks/>
            </p:cNvCxnSpPr>
            <p:nvPr/>
          </p:nvCxnSpPr>
          <p:spPr>
            <a:xfrm>
              <a:off x="1466850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ector recto 206">
              <a:extLst>
                <a:ext uri="{FF2B5EF4-FFF2-40B4-BE49-F238E27FC236}">
                  <a16:creationId xmlns:a16="http://schemas.microsoft.com/office/drawing/2014/main" id="{EE2FB8FF-CC35-AFF5-AE74-B7393DE44541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82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ector recto 207">
              <a:extLst>
                <a:ext uri="{FF2B5EF4-FFF2-40B4-BE49-F238E27FC236}">
                  <a16:creationId xmlns:a16="http://schemas.microsoft.com/office/drawing/2014/main" id="{2562D6F0-30E6-27BF-256F-70B1D481ED81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9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ector recto 208">
              <a:extLst>
                <a:ext uri="{FF2B5EF4-FFF2-40B4-BE49-F238E27FC236}">
                  <a16:creationId xmlns:a16="http://schemas.microsoft.com/office/drawing/2014/main" id="{79EDD14B-81F1-5FF1-BC42-6159CE9D064D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6" y="533646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ector recto 209">
              <a:extLst>
                <a:ext uri="{FF2B5EF4-FFF2-40B4-BE49-F238E27FC236}">
                  <a16:creationId xmlns:a16="http://schemas.microsoft.com/office/drawing/2014/main" id="{E017A0B9-3B58-0B00-113E-B55DA53984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39834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ector recto 210">
              <a:extLst>
                <a:ext uri="{FF2B5EF4-FFF2-40B4-BE49-F238E27FC236}">
                  <a16:creationId xmlns:a16="http://schemas.microsoft.com/office/drawing/2014/main" id="{E5E7B4EA-F1D8-DD5E-C8A7-C1272B5460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855677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ector recto 211">
              <a:extLst>
                <a:ext uri="{FF2B5EF4-FFF2-40B4-BE49-F238E27FC236}">
                  <a16:creationId xmlns:a16="http://schemas.microsoft.com/office/drawing/2014/main" id="{3EAF245B-FFF2-997F-3F3E-301F0A8644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38841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ector recto 212">
              <a:extLst>
                <a:ext uri="{FF2B5EF4-FFF2-40B4-BE49-F238E27FC236}">
                  <a16:creationId xmlns:a16="http://schemas.microsoft.com/office/drawing/2014/main" id="{D1A3749E-D4C8-43BF-9EBB-9AD3C2D0D5B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7897" y="4369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A749BDF9-E739-1E33-0DB6-36E7BF1FF8EE}"/>
                </a:ext>
              </a:extLst>
            </p:cNvPr>
            <p:cNvSpPr txBox="1"/>
            <p:nvPr/>
          </p:nvSpPr>
          <p:spPr>
            <a:xfrm>
              <a:off x="761018" y="471620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D705B86D-AD6D-4035-F918-AEB2DEA8FFB0}"/>
                </a:ext>
              </a:extLst>
            </p:cNvPr>
            <p:cNvSpPr txBox="1"/>
            <p:nvPr/>
          </p:nvSpPr>
          <p:spPr>
            <a:xfrm>
              <a:off x="761994" y="4230421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216" name="CuadroTexto 215">
              <a:extLst>
                <a:ext uri="{FF2B5EF4-FFF2-40B4-BE49-F238E27FC236}">
                  <a16:creationId xmlns:a16="http://schemas.microsoft.com/office/drawing/2014/main" id="{0147CCE9-8D3E-A9B1-A381-999D4B928659}"/>
                </a:ext>
              </a:extLst>
            </p:cNvPr>
            <p:cNvSpPr txBox="1"/>
            <p:nvPr/>
          </p:nvSpPr>
          <p:spPr>
            <a:xfrm>
              <a:off x="761018" y="374464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217" name="CuadroTexto 216">
              <a:extLst>
                <a:ext uri="{FF2B5EF4-FFF2-40B4-BE49-F238E27FC236}">
                  <a16:creationId xmlns:a16="http://schemas.microsoft.com/office/drawing/2014/main" id="{57016632-978C-2713-0096-D772F571D054}"/>
                </a:ext>
              </a:extLst>
            </p:cNvPr>
            <p:cNvSpPr txBox="1"/>
            <p:nvPr/>
          </p:nvSpPr>
          <p:spPr>
            <a:xfrm>
              <a:off x="768162" y="3258863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218" name="Conector recto 217">
              <a:extLst>
                <a:ext uri="{FF2B5EF4-FFF2-40B4-BE49-F238E27FC236}">
                  <a16:creationId xmlns:a16="http://schemas.microsoft.com/office/drawing/2014/main" id="{ED16435B-283C-2C0E-B9A2-0C4D79080388}"/>
                </a:ext>
              </a:extLst>
            </p:cNvPr>
            <p:cNvCxnSpPr/>
            <p:nvPr/>
          </p:nvCxnSpPr>
          <p:spPr>
            <a:xfrm>
              <a:off x="981075" y="3231645"/>
              <a:ext cx="0" cy="216000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ector recto 218">
              <a:extLst>
                <a:ext uri="{FF2B5EF4-FFF2-40B4-BE49-F238E27FC236}">
                  <a16:creationId xmlns:a16="http://schemas.microsoft.com/office/drawing/2014/main" id="{BAE569D6-E932-2612-CC39-0BE2BD4F9762}"/>
                </a:ext>
              </a:extLst>
            </p:cNvPr>
            <p:cNvCxnSpPr>
              <a:cxnSpLocks/>
            </p:cNvCxnSpPr>
            <p:nvPr/>
          </p:nvCxnSpPr>
          <p:spPr>
            <a:xfrm>
              <a:off x="981075" y="5391645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0" name="Elipse 219">
            <a:extLst>
              <a:ext uri="{FF2B5EF4-FFF2-40B4-BE49-F238E27FC236}">
                <a16:creationId xmlns:a16="http://schemas.microsoft.com/office/drawing/2014/main" id="{F83030A6-D29D-705C-3747-1FAD394D0C01}"/>
              </a:ext>
            </a:extLst>
          </p:cNvPr>
          <p:cNvSpPr/>
          <p:nvPr/>
        </p:nvSpPr>
        <p:spPr>
          <a:xfrm>
            <a:off x="9171174" y="564058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1" name="Elipse 220">
            <a:extLst>
              <a:ext uri="{FF2B5EF4-FFF2-40B4-BE49-F238E27FC236}">
                <a16:creationId xmlns:a16="http://schemas.microsoft.com/office/drawing/2014/main" id="{4A96D8BE-5D71-778F-C2BA-6A887B5DB404}"/>
              </a:ext>
            </a:extLst>
          </p:cNvPr>
          <p:cNvSpPr/>
          <p:nvPr/>
        </p:nvSpPr>
        <p:spPr>
          <a:xfrm>
            <a:off x="9655228" y="515217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2" name="Elipse 221">
            <a:extLst>
              <a:ext uri="{FF2B5EF4-FFF2-40B4-BE49-F238E27FC236}">
                <a16:creationId xmlns:a16="http://schemas.microsoft.com/office/drawing/2014/main" id="{0461A408-46B1-3FB9-4390-2B3AD13228AD}"/>
              </a:ext>
            </a:extLst>
          </p:cNvPr>
          <p:cNvSpPr/>
          <p:nvPr/>
        </p:nvSpPr>
        <p:spPr>
          <a:xfrm>
            <a:off x="10627329" y="4179356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3" name="Elipse 222">
            <a:extLst>
              <a:ext uri="{FF2B5EF4-FFF2-40B4-BE49-F238E27FC236}">
                <a16:creationId xmlns:a16="http://schemas.microsoft.com/office/drawing/2014/main" id="{A0CDB5F2-6505-13AC-C899-958005E55C37}"/>
              </a:ext>
            </a:extLst>
          </p:cNvPr>
          <p:cNvSpPr/>
          <p:nvPr/>
        </p:nvSpPr>
        <p:spPr>
          <a:xfrm>
            <a:off x="10141552" y="4671405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CuadroTexto 225">
                <a:extLst>
                  <a:ext uri="{FF2B5EF4-FFF2-40B4-BE49-F238E27FC236}">
                    <a16:creationId xmlns:a16="http://schemas.microsoft.com/office/drawing/2014/main" id="{7AD3F972-1A3E-65C9-5DB9-04534D633EED}"/>
                  </a:ext>
                </a:extLst>
              </p:cNvPr>
              <p:cNvSpPr txBox="1"/>
              <p:nvPr/>
            </p:nvSpPr>
            <p:spPr>
              <a:xfrm>
                <a:off x="6827107" y="4555372"/>
                <a:ext cx="8153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6" name="CuadroTexto 225">
                <a:extLst>
                  <a:ext uri="{FF2B5EF4-FFF2-40B4-BE49-F238E27FC236}">
                    <a16:creationId xmlns:a16="http://schemas.microsoft.com/office/drawing/2014/main" id="{7AD3F972-1A3E-65C9-5DB9-04534D63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107" y="4555372"/>
                <a:ext cx="815351" cy="369332"/>
              </a:xfrm>
              <a:prstGeom prst="rect">
                <a:avLst/>
              </a:prstGeom>
              <a:blipFill>
                <a:blip r:embed="rId8"/>
                <a:stretch>
                  <a:fillRect l="-3731" r="-7463" b="-295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CuadroTexto 226">
                <a:extLst>
                  <a:ext uri="{FF2B5EF4-FFF2-40B4-BE49-F238E27FC236}">
                    <a16:creationId xmlns:a16="http://schemas.microsoft.com/office/drawing/2014/main" id="{CA29B62A-2292-1821-65CD-74EC9E40EC36}"/>
                  </a:ext>
                </a:extLst>
              </p:cNvPr>
              <p:cNvSpPr txBox="1"/>
              <p:nvPr/>
            </p:nvSpPr>
            <p:spPr>
              <a:xfrm>
                <a:off x="6458416" y="5056736"/>
                <a:ext cx="11840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𝟐𝐱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𝟐𝐲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7" name="CuadroTexto 226">
                <a:extLst>
                  <a:ext uri="{FF2B5EF4-FFF2-40B4-BE49-F238E27FC236}">
                    <a16:creationId xmlns:a16="http://schemas.microsoft.com/office/drawing/2014/main" id="{CA29B62A-2292-1821-65CD-74EC9E40E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416" y="5056736"/>
                <a:ext cx="1184042" cy="369332"/>
              </a:xfrm>
              <a:prstGeom prst="rect">
                <a:avLst/>
              </a:prstGeom>
              <a:blipFill>
                <a:blip r:embed="rId9"/>
                <a:stretch>
                  <a:fillRect l="-4615" r="-7179" b="-3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Conector recto 227">
            <a:extLst>
              <a:ext uri="{FF2B5EF4-FFF2-40B4-BE49-F238E27FC236}">
                <a16:creationId xmlns:a16="http://schemas.microsoft.com/office/drawing/2014/main" id="{75234A9A-FAAC-ADD3-56D4-5C4D4797133F}"/>
              </a:ext>
            </a:extLst>
          </p:cNvPr>
          <p:cNvCxnSpPr>
            <a:cxnSpLocks/>
          </p:cNvCxnSpPr>
          <p:nvPr/>
        </p:nvCxnSpPr>
        <p:spPr>
          <a:xfrm>
            <a:off x="7760412" y="4778138"/>
            <a:ext cx="510540" cy="0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ector recto 228">
            <a:extLst>
              <a:ext uri="{FF2B5EF4-FFF2-40B4-BE49-F238E27FC236}">
                <a16:creationId xmlns:a16="http://schemas.microsoft.com/office/drawing/2014/main" id="{EA4AE4D9-493E-BE01-CFC3-0EC93531BBAA}"/>
              </a:ext>
            </a:extLst>
          </p:cNvPr>
          <p:cNvCxnSpPr>
            <a:cxnSpLocks/>
          </p:cNvCxnSpPr>
          <p:nvPr/>
        </p:nvCxnSpPr>
        <p:spPr>
          <a:xfrm>
            <a:off x="7760412" y="5267112"/>
            <a:ext cx="510540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1102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7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"/>
                            </p:stCondLst>
                            <p:childTnLst>
                              <p:par>
                                <p:cTn id="1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500"/>
                            </p:stCondLst>
                            <p:childTnLst>
                              <p:par>
                                <p:cTn id="1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0"/>
                            </p:stCondLst>
                            <p:childTnLst>
                              <p:par>
                                <p:cTn id="1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  <p:bldP spid="11" grpId="0"/>
      <p:bldP spid="12" grpId="0" animBg="1"/>
      <p:bldP spid="13" grpId="0"/>
      <p:bldP spid="107" grpId="0" animBg="1"/>
      <p:bldP spid="111" grpId="0" animBg="1"/>
      <p:bldP spid="113" grpId="0" animBg="1"/>
      <p:bldP spid="114" grpId="0" animBg="1"/>
      <p:bldP spid="166" grpId="0" animBg="1"/>
      <p:bldP spid="167" grpId="0" animBg="1"/>
      <p:bldP spid="172" grpId="0" animBg="1"/>
      <p:bldP spid="173" grpId="0"/>
      <p:bldP spid="174" grpId="0"/>
      <p:bldP spid="179" grpId="0" animBg="1"/>
      <p:bldP spid="220" grpId="0" animBg="1"/>
      <p:bldP spid="221" grpId="0" animBg="1"/>
      <p:bldP spid="222" grpId="0" animBg="1"/>
      <p:bldP spid="223" grpId="0" animBg="1"/>
      <p:bldP spid="226" grpId="0"/>
      <p:bldP spid="2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E35C62D-C3E8-4809-ADC7-AFC12945ACEC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2. Sistemas de ecuaciones"/>
  <p:tag name="ISPRING_FIRST_PUBLISH" val="1"/>
  <p:tag name="ISPRING_UUID" val="{29D26EF5-1095-4F6B-9B67-A70209FB315F}"/>
  <p:tag name="ISPRING_RESOURCE_FOLDER" val="C:\Users\34717\Desktop\Apuntes\3 ESO\6. Sistemas de ecuaciones\2. Sistemas de ecuaciones\"/>
  <p:tag name="ISPRING_PRESENTATION_PATH" val="C:\Users\34717\Desktop\Apuntes\3 ESO\6. Sistemas de ecuaciones\2. Sistemas de ecuaciones.pptx"/>
  <p:tag name="ISPRING_PROJECT_VERSION" val="9.32"/>
  <p:tag name="ISPRING_PROJECT_FOLDER_UPDATED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6. Sistemas de ecua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F8E799D-1F0A-4E08-B014-FC3287E7ECA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D28983C-D37B-4736-BC92-3641E2ECE4F7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9C0778D-BE54-47BD-9913-11CEE62CBC59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341</Words>
  <Application>Microsoft Office PowerPoint</Application>
  <PresentationFormat>Panorámica</PresentationFormat>
  <Paragraphs>63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Sistemas de ecuaciones</dc:title>
  <dc:creator>Illán Linos Souto</dc:creator>
  <cp:lastModifiedBy>Illán Linos</cp:lastModifiedBy>
  <cp:revision>70</cp:revision>
  <dcterms:created xsi:type="dcterms:W3CDTF">2024-08-18T18:48:07Z</dcterms:created>
  <dcterms:modified xsi:type="dcterms:W3CDTF">2025-11-21T10:45:16Z</dcterms:modified>
</cp:coreProperties>
</file>