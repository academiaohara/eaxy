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custDataLst>
    <p:tags r:id="rId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91C6"/>
    <a:srgbClr val="A5AED5"/>
    <a:srgbClr val="F6A924"/>
    <a:srgbClr val="C59203"/>
    <a:srgbClr val="B58603"/>
    <a:srgbClr val="F2B404"/>
    <a:srgbClr val="F8B43F"/>
    <a:srgbClr val="F9C468"/>
    <a:srgbClr val="FFFFFF"/>
    <a:srgbClr val="BCE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66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B6DBE-1D4C-4109-B004-13A544731143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4BF45-98EA-425E-9AC0-5A4D03F947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5496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304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Medida del Volumen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Si tenemos un prisma y una pirámide con la misma base y la misma altura, el volumen de la pirámide será 1/3 que el del prisma.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CuadroTexto 101">
                <a:extLst>
                  <a:ext uri="{FF2B5EF4-FFF2-40B4-BE49-F238E27FC236}">
                    <a16:creationId xmlns:a16="http://schemas.microsoft.com/office/drawing/2014/main" id="{7EB51C1C-790E-B87B-D243-DA1B646B452B}"/>
                  </a:ext>
                </a:extLst>
              </p:cNvPr>
              <p:cNvSpPr txBox="1"/>
              <p:nvPr/>
            </p:nvSpPr>
            <p:spPr>
              <a:xfrm>
                <a:off x="7395687" y="3441846"/>
                <a:ext cx="2483757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𝐕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  <m:sub>
                          <m:r>
                            <a:rPr lang="es-ES" sz="2000" b="1" i="0">
                              <a:latin typeface="Cambria Math" panose="02040503050406030204" pitchFamily="18" charset="0"/>
                            </a:rPr>
                            <m:t>𝐛𝐚𝐬𝐞</m:t>
                          </m:r>
                        </m:sub>
                      </m:sSub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𝐀𝐥𝐭𝐮𝐫𝐚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02" name="CuadroTexto 101">
                <a:extLst>
                  <a:ext uri="{FF2B5EF4-FFF2-40B4-BE49-F238E27FC236}">
                    <a16:creationId xmlns:a16="http://schemas.microsoft.com/office/drawing/2014/main" id="{7EB51C1C-790E-B87B-D243-DA1B646B4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687" y="3441846"/>
                <a:ext cx="2483757" cy="5782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!Marco 10">
            <a:extLst>
              <a:ext uri="{FF2B5EF4-FFF2-40B4-BE49-F238E27FC236}">
                <a16:creationId xmlns:a16="http://schemas.microsoft.com/office/drawing/2014/main" id="{47B2171F-66AA-801C-EDCF-E2A14D89B1BA}"/>
              </a:ext>
            </a:extLst>
          </p:cNvPr>
          <p:cNvSpPr/>
          <p:nvPr/>
        </p:nvSpPr>
        <p:spPr>
          <a:xfrm>
            <a:off x="535084" y="1946190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F92447F7-AAA6-E207-2EF1-DCEDD5894260}"/>
              </a:ext>
            </a:extLst>
          </p:cNvPr>
          <p:cNvSpPr txBox="1"/>
          <p:nvPr/>
        </p:nvSpPr>
        <p:spPr>
          <a:xfrm>
            <a:off x="535084" y="1953477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Si tenemos un cilindro y un cono con la misma base y la misma altura, el volumen del cono será 1/3 que el del cilindro.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02054D41-BDF9-FF56-9B89-FEC9DF581FAE}"/>
              </a:ext>
            </a:extLst>
          </p:cNvPr>
          <p:cNvGrpSpPr/>
          <p:nvPr/>
        </p:nvGrpSpPr>
        <p:grpSpPr>
          <a:xfrm>
            <a:off x="811020" y="2994418"/>
            <a:ext cx="2461972" cy="3325815"/>
            <a:chOff x="2594443" y="2508249"/>
            <a:chExt cx="2461972" cy="3325815"/>
          </a:xfrm>
        </p:grpSpPr>
        <p:sp>
          <p:nvSpPr>
            <p:cNvPr id="12" name="Triángulo isósceles 49">
              <a:extLst>
                <a:ext uri="{FF2B5EF4-FFF2-40B4-BE49-F238E27FC236}">
                  <a16:creationId xmlns:a16="http://schemas.microsoft.com/office/drawing/2014/main" id="{BBEB27CF-ABD4-E376-D54C-073B33E29403}"/>
                </a:ext>
              </a:extLst>
            </p:cNvPr>
            <p:cNvSpPr/>
            <p:nvPr/>
          </p:nvSpPr>
          <p:spPr>
            <a:xfrm rot="18928796" flipH="1">
              <a:off x="3087010" y="2892050"/>
              <a:ext cx="1969405" cy="2619798"/>
            </a:xfrm>
            <a:custGeom>
              <a:avLst/>
              <a:gdLst>
                <a:gd name="connsiteX0" fmla="*/ 0 w 604837"/>
                <a:gd name="connsiteY0" fmla="*/ 2495549 h 2495549"/>
                <a:gd name="connsiteX1" fmla="*/ 0 w 604837"/>
                <a:gd name="connsiteY1" fmla="*/ 0 h 2495549"/>
                <a:gd name="connsiteX2" fmla="*/ 604837 w 604837"/>
                <a:gd name="connsiteY2" fmla="*/ 2495549 h 2495549"/>
                <a:gd name="connsiteX3" fmla="*/ 0 w 604837"/>
                <a:gd name="connsiteY3" fmla="*/ 2495549 h 2495549"/>
                <a:gd name="connsiteX0" fmla="*/ 1265382 w 1870219"/>
                <a:gd name="connsiteY0" fmla="*/ 2600444 h 2600444"/>
                <a:gd name="connsiteX1" fmla="*/ 0 w 1870219"/>
                <a:gd name="connsiteY1" fmla="*/ 0 h 2600444"/>
                <a:gd name="connsiteX2" fmla="*/ 1870219 w 1870219"/>
                <a:gd name="connsiteY2" fmla="*/ 2600444 h 2600444"/>
                <a:gd name="connsiteX3" fmla="*/ 1265382 w 1870219"/>
                <a:gd name="connsiteY3" fmla="*/ 2600444 h 2600444"/>
                <a:gd name="connsiteX0" fmla="*/ 1265382 w 1892636"/>
                <a:gd name="connsiteY0" fmla="*/ 2600444 h 2738708"/>
                <a:gd name="connsiteX1" fmla="*/ 0 w 1892636"/>
                <a:gd name="connsiteY1" fmla="*/ 0 h 2738708"/>
                <a:gd name="connsiteX2" fmla="*/ 1892636 w 1892636"/>
                <a:gd name="connsiteY2" fmla="*/ 2738708 h 2738708"/>
                <a:gd name="connsiteX3" fmla="*/ 1265382 w 1892636"/>
                <a:gd name="connsiteY3" fmla="*/ 2600444 h 2738708"/>
                <a:gd name="connsiteX0" fmla="*/ 1277154 w 1904408"/>
                <a:gd name="connsiteY0" fmla="*/ 2602227 h 2740491"/>
                <a:gd name="connsiteX1" fmla="*/ 0 w 1904408"/>
                <a:gd name="connsiteY1" fmla="*/ 0 h 2740491"/>
                <a:gd name="connsiteX2" fmla="*/ 1904408 w 1904408"/>
                <a:gd name="connsiteY2" fmla="*/ 2740491 h 2740491"/>
                <a:gd name="connsiteX3" fmla="*/ 1277154 w 1904408"/>
                <a:gd name="connsiteY3" fmla="*/ 2602227 h 2740491"/>
                <a:gd name="connsiteX0" fmla="*/ 1342236 w 1969490"/>
                <a:gd name="connsiteY0" fmla="*/ 2471431 h 2609695"/>
                <a:gd name="connsiteX1" fmla="*/ 0 w 1969490"/>
                <a:gd name="connsiteY1" fmla="*/ 0 h 2609695"/>
                <a:gd name="connsiteX2" fmla="*/ 1969490 w 1969490"/>
                <a:gd name="connsiteY2" fmla="*/ 2609695 h 2609695"/>
                <a:gd name="connsiteX3" fmla="*/ 1342236 w 1969490"/>
                <a:gd name="connsiteY3" fmla="*/ 2471431 h 2609695"/>
                <a:gd name="connsiteX0" fmla="*/ 1338924 w 1969490"/>
                <a:gd name="connsiteY0" fmla="*/ 2464668 h 2609695"/>
                <a:gd name="connsiteX1" fmla="*/ 0 w 1969490"/>
                <a:gd name="connsiteY1" fmla="*/ 0 h 2609695"/>
                <a:gd name="connsiteX2" fmla="*/ 1969490 w 1969490"/>
                <a:gd name="connsiteY2" fmla="*/ 2609695 h 2609695"/>
                <a:gd name="connsiteX3" fmla="*/ 1338924 w 1969490"/>
                <a:gd name="connsiteY3" fmla="*/ 2464668 h 2609695"/>
                <a:gd name="connsiteX0" fmla="*/ 1338924 w 1969405"/>
                <a:gd name="connsiteY0" fmla="*/ 2464668 h 2619798"/>
                <a:gd name="connsiteX1" fmla="*/ 0 w 1969405"/>
                <a:gd name="connsiteY1" fmla="*/ 0 h 2619798"/>
                <a:gd name="connsiteX2" fmla="*/ 1969405 w 1969405"/>
                <a:gd name="connsiteY2" fmla="*/ 2619798 h 2619798"/>
                <a:gd name="connsiteX3" fmla="*/ 1338924 w 1969405"/>
                <a:gd name="connsiteY3" fmla="*/ 2464668 h 2619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9405" h="2619798">
                  <a:moveTo>
                    <a:pt x="1338924" y="2464668"/>
                  </a:moveTo>
                  <a:lnTo>
                    <a:pt x="0" y="0"/>
                  </a:lnTo>
                  <a:lnTo>
                    <a:pt x="1969405" y="2619798"/>
                  </a:lnTo>
                  <a:lnTo>
                    <a:pt x="1338924" y="2464668"/>
                  </a:lnTo>
                  <a:close/>
                </a:path>
              </a:pathLst>
            </a:custGeom>
            <a:solidFill>
              <a:srgbClr val="A5AE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Triángulo isósceles 12">
              <a:extLst>
                <a:ext uri="{FF2B5EF4-FFF2-40B4-BE49-F238E27FC236}">
                  <a16:creationId xmlns:a16="http://schemas.microsoft.com/office/drawing/2014/main" id="{7E6F47A6-11BE-6B19-CB1A-0AF5D1618D9A}"/>
                </a:ext>
              </a:extLst>
            </p:cNvPr>
            <p:cNvSpPr/>
            <p:nvPr/>
          </p:nvSpPr>
          <p:spPr>
            <a:xfrm>
              <a:off x="3273105" y="2544787"/>
              <a:ext cx="1000071" cy="3289277"/>
            </a:xfrm>
            <a:prstGeom prst="triangle">
              <a:avLst>
                <a:gd name="adj" fmla="val 56191"/>
              </a:avLst>
            </a:prstGeom>
            <a:solidFill>
              <a:srgbClr val="B1BA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Triángulo isósceles 49">
              <a:extLst>
                <a:ext uri="{FF2B5EF4-FFF2-40B4-BE49-F238E27FC236}">
                  <a16:creationId xmlns:a16="http://schemas.microsoft.com/office/drawing/2014/main" id="{21D82139-5BC7-4F76-5F32-AF1A7C3086CE}"/>
                </a:ext>
              </a:extLst>
            </p:cNvPr>
            <p:cNvSpPr/>
            <p:nvPr/>
          </p:nvSpPr>
          <p:spPr>
            <a:xfrm rot="2671204">
              <a:off x="2594443" y="2811749"/>
              <a:ext cx="1904408" cy="2740491"/>
            </a:xfrm>
            <a:custGeom>
              <a:avLst/>
              <a:gdLst>
                <a:gd name="connsiteX0" fmla="*/ 0 w 604837"/>
                <a:gd name="connsiteY0" fmla="*/ 2495549 h 2495549"/>
                <a:gd name="connsiteX1" fmla="*/ 0 w 604837"/>
                <a:gd name="connsiteY1" fmla="*/ 0 h 2495549"/>
                <a:gd name="connsiteX2" fmla="*/ 604837 w 604837"/>
                <a:gd name="connsiteY2" fmla="*/ 2495549 h 2495549"/>
                <a:gd name="connsiteX3" fmla="*/ 0 w 604837"/>
                <a:gd name="connsiteY3" fmla="*/ 2495549 h 2495549"/>
                <a:gd name="connsiteX0" fmla="*/ 1265382 w 1870219"/>
                <a:gd name="connsiteY0" fmla="*/ 2600444 h 2600444"/>
                <a:gd name="connsiteX1" fmla="*/ 0 w 1870219"/>
                <a:gd name="connsiteY1" fmla="*/ 0 h 2600444"/>
                <a:gd name="connsiteX2" fmla="*/ 1870219 w 1870219"/>
                <a:gd name="connsiteY2" fmla="*/ 2600444 h 2600444"/>
                <a:gd name="connsiteX3" fmla="*/ 1265382 w 1870219"/>
                <a:gd name="connsiteY3" fmla="*/ 2600444 h 2600444"/>
                <a:gd name="connsiteX0" fmla="*/ 1265382 w 1892636"/>
                <a:gd name="connsiteY0" fmla="*/ 2600444 h 2738708"/>
                <a:gd name="connsiteX1" fmla="*/ 0 w 1892636"/>
                <a:gd name="connsiteY1" fmla="*/ 0 h 2738708"/>
                <a:gd name="connsiteX2" fmla="*/ 1892636 w 1892636"/>
                <a:gd name="connsiteY2" fmla="*/ 2738708 h 2738708"/>
                <a:gd name="connsiteX3" fmla="*/ 1265382 w 1892636"/>
                <a:gd name="connsiteY3" fmla="*/ 2600444 h 2738708"/>
                <a:gd name="connsiteX0" fmla="*/ 1277154 w 1904408"/>
                <a:gd name="connsiteY0" fmla="*/ 2602227 h 2740491"/>
                <a:gd name="connsiteX1" fmla="*/ 0 w 1904408"/>
                <a:gd name="connsiteY1" fmla="*/ 0 h 2740491"/>
                <a:gd name="connsiteX2" fmla="*/ 1904408 w 1904408"/>
                <a:gd name="connsiteY2" fmla="*/ 2740491 h 2740491"/>
                <a:gd name="connsiteX3" fmla="*/ 1277154 w 1904408"/>
                <a:gd name="connsiteY3" fmla="*/ 2602227 h 274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408" h="2740491">
                  <a:moveTo>
                    <a:pt x="1277154" y="2602227"/>
                  </a:moveTo>
                  <a:lnTo>
                    <a:pt x="0" y="0"/>
                  </a:lnTo>
                  <a:lnTo>
                    <a:pt x="1904408" y="2740491"/>
                  </a:lnTo>
                  <a:lnTo>
                    <a:pt x="1277154" y="2602227"/>
                  </a:lnTo>
                  <a:close/>
                </a:path>
              </a:pathLst>
            </a:custGeom>
            <a:solidFill>
              <a:srgbClr val="BCC6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9EDA10FF-4C36-F3FB-DCFC-879E997D1A40}"/>
                </a:ext>
              </a:extLst>
            </p:cNvPr>
            <p:cNvCxnSpPr>
              <a:cxnSpLocks/>
            </p:cNvCxnSpPr>
            <p:nvPr/>
          </p:nvCxnSpPr>
          <p:spPr>
            <a:xfrm>
              <a:off x="3835400" y="2508250"/>
              <a:ext cx="450850" cy="3325813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46AD78A1-1E04-C32B-DE09-83746C45BB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65487" y="2508250"/>
              <a:ext cx="569913" cy="3325813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D8C7DFF2-9A41-EF1C-F165-6924571542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4650" y="2508250"/>
              <a:ext cx="920750" cy="278526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41686DB5-9DE1-83A1-2B7C-FB4910AB21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35273" y="2508249"/>
              <a:ext cx="793877" cy="2768601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3F28AD19-3115-A881-6B18-1CDC5CF840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86250" y="5276850"/>
              <a:ext cx="342900" cy="557213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519CEF01-D1B2-977B-3D9F-81559D1A2951}"/>
                </a:ext>
              </a:extLst>
            </p:cNvPr>
            <p:cNvCxnSpPr>
              <a:cxnSpLocks/>
            </p:cNvCxnSpPr>
            <p:nvPr/>
          </p:nvCxnSpPr>
          <p:spPr>
            <a:xfrm>
              <a:off x="2914650" y="5293519"/>
              <a:ext cx="350837" cy="540544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D1C9D99A-02C7-8EA0-5FDF-93972B88A329}"/>
                </a:ext>
              </a:extLst>
            </p:cNvPr>
            <p:cNvCxnSpPr>
              <a:cxnSpLocks/>
            </p:cNvCxnSpPr>
            <p:nvPr/>
          </p:nvCxnSpPr>
          <p:spPr>
            <a:xfrm>
              <a:off x="3261519" y="5834063"/>
              <a:ext cx="1024731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A24E9712-00B1-DACA-6729-90B67019CD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4650" y="4952409"/>
              <a:ext cx="920623" cy="341110"/>
            </a:xfrm>
            <a:prstGeom prst="line">
              <a:avLst/>
            </a:prstGeom>
            <a:ln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D5CDF01F-637F-4D7C-8ACE-785016C4BE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35273" y="4952409"/>
              <a:ext cx="793877" cy="327016"/>
            </a:xfrm>
            <a:prstGeom prst="line">
              <a:avLst/>
            </a:prstGeom>
            <a:ln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EE2CA4EA-8420-6634-9611-A178363113C7}"/>
                </a:ext>
              </a:extLst>
            </p:cNvPr>
            <p:cNvCxnSpPr>
              <a:cxnSpLocks/>
            </p:cNvCxnSpPr>
            <p:nvPr/>
          </p:nvCxnSpPr>
          <p:spPr>
            <a:xfrm>
              <a:off x="3835273" y="2559844"/>
              <a:ext cx="0" cy="2399002"/>
            </a:xfrm>
            <a:prstGeom prst="line">
              <a:avLst/>
            </a:prstGeom>
            <a:ln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upo 92">
            <a:extLst>
              <a:ext uri="{FF2B5EF4-FFF2-40B4-BE49-F238E27FC236}">
                <a16:creationId xmlns:a16="http://schemas.microsoft.com/office/drawing/2014/main" id="{4920D8F1-1EDA-28C1-2037-1421EDC093DF}"/>
              </a:ext>
            </a:extLst>
          </p:cNvPr>
          <p:cNvGrpSpPr/>
          <p:nvPr/>
        </p:nvGrpSpPr>
        <p:grpSpPr>
          <a:xfrm>
            <a:off x="3568204" y="3112673"/>
            <a:ext cx="1711634" cy="3238961"/>
            <a:chOff x="3568204" y="3112673"/>
            <a:chExt cx="1711634" cy="3238961"/>
          </a:xfrm>
        </p:grpSpPr>
        <p:sp>
          <p:nvSpPr>
            <p:cNvPr id="76" name="Forma libre: forma 75">
              <a:extLst>
                <a:ext uri="{FF2B5EF4-FFF2-40B4-BE49-F238E27FC236}">
                  <a16:creationId xmlns:a16="http://schemas.microsoft.com/office/drawing/2014/main" id="{C788450C-A874-7C79-DCA5-6910441E36D8}"/>
                </a:ext>
              </a:extLst>
            </p:cNvPr>
            <p:cNvSpPr/>
            <p:nvPr/>
          </p:nvSpPr>
          <p:spPr>
            <a:xfrm>
              <a:off x="3568204" y="3140823"/>
              <a:ext cx="1711634" cy="3198111"/>
            </a:xfrm>
            <a:custGeom>
              <a:avLst/>
              <a:gdLst>
                <a:gd name="connsiteX0" fmla="*/ 927395 w 1711634"/>
                <a:gd name="connsiteY0" fmla="*/ 0 h 3198111"/>
                <a:gd name="connsiteX1" fmla="*/ 1663976 w 1711634"/>
                <a:gd name="connsiteY1" fmla="*/ 2570995 h 3198111"/>
                <a:gd name="connsiteX2" fmla="*/ 1673158 w 1711634"/>
                <a:gd name="connsiteY2" fmla="*/ 2584852 h 3198111"/>
                <a:gd name="connsiteX3" fmla="*/ 1711634 w 1711634"/>
                <a:gd name="connsiteY3" fmla="*/ 2725417 h 3198111"/>
                <a:gd name="connsiteX4" fmla="*/ 855817 w 1711634"/>
                <a:gd name="connsiteY4" fmla="*/ 3198111 h 3198111"/>
                <a:gd name="connsiteX5" fmla="*/ 0 w 1711634"/>
                <a:gd name="connsiteY5" fmla="*/ 2725417 h 3198111"/>
                <a:gd name="connsiteX6" fmla="*/ 17387 w 1711634"/>
                <a:gd name="connsiteY6" fmla="*/ 2630153 h 3198111"/>
                <a:gd name="connsiteX7" fmla="*/ 38432 w 1711634"/>
                <a:gd name="connsiteY7" fmla="*/ 2584946 h 319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1634" h="3198111">
                  <a:moveTo>
                    <a:pt x="927395" y="0"/>
                  </a:moveTo>
                  <a:lnTo>
                    <a:pt x="1663976" y="2570995"/>
                  </a:lnTo>
                  <a:lnTo>
                    <a:pt x="1673158" y="2584852"/>
                  </a:lnTo>
                  <a:cubicBezTo>
                    <a:pt x="1698164" y="2629257"/>
                    <a:pt x="1711634" y="2676468"/>
                    <a:pt x="1711634" y="2725417"/>
                  </a:cubicBezTo>
                  <a:cubicBezTo>
                    <a:pt x="1711634" y="2986479"/>
                    <a:pt x="1328472" y="3198111"/>
                    <a:pt x="855817" y="3198111"/>
                  </a:cubicBezTo>
                  <a:cubicBezTo>
                    <a:pt x="383162" y="3198111"/>
                    <a:pt x="0" y="2986479"/>
                    <a:pt x="0" y="2725417"/>
                  </a:cubicBezTo>
                  <a:cubicBezTo>
                    <a:pt x="0" y="2692785"/>
                    <a:pt x="5987" y="2660924"/>
                    <a:pt x="17387" y="2630153"/>
                  </a:cubicBezTo>
                  <a:lnTo>
                    <a:pt x="38432" y="258494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60000"/>
                  </a:schemeClr>
                </a:gs>
                <a:gs pos="70000">
                  <a:schemeClr val="accent1">
                    <a:lumMod val="45000"/>
                    <a:lumOff val="55000"/>
                    <a:alpha val="78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47" name="Arco 46">
              <a:extLst>
                <a:ext uri="{FF2B5EF4-FFF2-40B4-BE49-F238E27FC236}">
                  <a16:creationId xmlns:a16="http://schemas.microsoft.com/office/drawing/2014/main" id="{724C18BC-DA0F-8156-E87D-02CDEE3B0B8E}"/>
                </a:ext>
              </a:extLst>
            </p:cNvPr>
            <p:cNvSpPr/>
            <p:nvPr/>
          </p:nvSpPr>
          <p:spPr>
            <a:xfrm>
              <a:off x="3568204" y="5400834"/>
              <a:ext cx="1711633" cy="945388"/>
            </a:xfrm>
            <a:prstGeom prst="arc">
              <a:avLst>
                <a:gd name="adj1" fmla="val 11133510"/>
                <a:gd name="adj2" fmla="val 0"/>
              </a:avLst>
            </a:prstGeom>
            <a:noFill/>
            <a:ln cap="rnd">
              <a:prstDash val="dash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4B017005-BCA1-65F6-C3FC-84D97086F8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86040" y="3118652"/>
              <a:ext cx="908902" cy="2653498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3191B7EB-28AE-AB0D-7673-AC9A5C9141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4942" y="3112673"/>
              <a:ext cx="762358" cy="265868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Arco 71">
              <a:extLst>
                <a:ext uri="{FF2B5EF4-FFF2-40B4-BE49-F238E27FC236}">
                  <a16:creationId xmlns:a16="http://schemas.microsoft.com/office/drawing/2014/main" id="{26C16323-A426-80CD-88DA-8D37C87FE191}"/>
                </a:ext>
              </a:extLst>
            </p:cNvPr>
            <p:cNvSpPr/>
            <p:nvPr/>
          </p:nvSpPr>
          <p:spPr>
            <a:xfrm>
              <a:off x="3568204" y="5406246"/>
              <a:ext cx="1711633" cy="945388"/>
            </a:xfrm>
            <a:prstGeom prst="arc">
              <a:avLst>
                <a:gd name="adj1" fmla="val 21213424"/>
                <a:gd name="adj2" fmla="val 11277812"/>
              </a:avLst>
            </a:prstGeom>
            <a:noFill/>
            <a:ln cap="rnd"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F157ADA9-7F16-54EA-29D0-612EA9F9E670}"/>
                  </a:ext>
                </a:extLst>
              </p:cNvPr>
              <p:cNvSpPr txBox="1"/>
              <p:nvPr/>
            </p:nvSpPr>
            <p:spPr>
              <a:xfrm>
                <a:off x="6277496" y="4644081"/>
                <a:ext cx="4085349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𝐕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  <m:sub>
                          <m:r>
                            <a:rPr lang="es-ES" sz="2000" b="1" i="0">
                              <a:latin typeface="Cambria Math" panose="02040503050406030204" pitchFamily="18" charset="0"/>
                            </a:rPr>
                            <m:t>𝐛𝐚𝐬𝐞</m:t>
                          </m:r>
                        </m:sub>
                      </m:sSub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𝐀𝐥𝐭𝐮𝐫𝐚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s-E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𝛑</m:t>
                      </m:r>
                      <m:r>
                        <a:rPr lang="es-ES" sz="20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𝐫</m:t>
                          </m:r>
                        </m:e>
                        <m:sup>
                          <m:r>
                            <a:rPr lang="es-E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𝐚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F157ADA9-7F16-54EA-29D0-612EA9F9E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7496" y="4644081"/>
                <a:ext cx="4085349" cy="5782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CuadroTexto 80">
            <a:extLst>
              <a:ext uri="{FF2B5EF4-FFF2-40B4-BE49-F238E27FC236}">
                <a16:creationId xmlns:a16="http://schemas.microsoft.com/office/drawing/2014/main" id="{8168BE1D-67B0-B0A2-B56E-674B22FC0708}"/>
              </a:ext>
            </a:extLst>
          </p:cNvPr>
          <p:cNvSpPr txBox="1"/>
          <p:nvPr/>
        </p:nvSpPr>
        <p:spPr>
          <a:xfrm>
            <a:off x="6997878" y="2975308"/>
            <a:ext cx="3279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8491C6"/>
                </a:solidFill>
              </a:rPr>
              <a:t>Volumen de la pirámide</a:t>
            </a:r>
          </a:p>
        </p:txBody>
      </p: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46272F91-A9AA-8E38-1CA5-547D3CE79C04}"/>
              </a:ext>
            </a:extLst>
          </p:cNvPr>
          <p:cNvCxnSpPr>
            <a:cxnSpLocks/>
          </p:cNvCxnSpPr>
          <p:nvPr/>
        </p:nvCxnSpPr>
        <p:spPr>
          <a:xfrm>
            <a:off x="7075118" y="3340061"/>
            <a:ext cx="3124895" cy="0"/>
          </a:xfrm>
          <a:prstGeom prst="line">
            <a:avLst/>
          </a:prstGeom>
          <a:ln w="38100" cap="rnd">
            <a:solidFill>
              <a:srgbClr val="8491C6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CuadroTexto 82">
            <a:extLst>
              <a:ext uri="{FF2B5EF4-FFF2-40B4-BE49-F238E27FC236}">
                <a16:creationId xmlns:a16="http://schemas.microsoft.com/office/drawing/2014/main" id="{82D1AAB9-A61E-4593-9ED0-901781947F92}"/>
              </a:ext>
            </a:extLst>
          </p:cNvPr>
          <p:cNvSpPr txBox="1"/>
          <p:nvPr/>
        </p:nvSpPr>
        <p:spPr>
          <a:xfrm>
            <a:off x="7208584" y="4178560"/>
            <a:ext cx="2857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F6A924"/>
                </a:solidFill>
              </a:rPr>
              <a:t>Volumen del cono</a:t>
            </a:r>
          </a:p>
        </p:txBody>
      </p: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0C1FC103-5A35-D091-35BF-3BD5FC64D7EE}"/>
              </a:ext>
            </a:extLst>
          </p:cNvPr>
          <p:cNvCxnSpPr>
            <a:cxnSpLocks/>
          </p:cNvCxnSpPr>
          <p:nvPr/>
        </p:nvCxnSpPr>
        <p:spPr>
          <a:xfrm>
            <a:off x="7365978" y="4533089"/>
            <a:ext cx="2543175" cy="0"/>
          </a:xfrm>
          <a:prstGeom prst="line">
            <a:avLst/>
          </a:prstGeom>
          <a:ln w="38100" cap="rnd">
            <a:solidFill>
              <a:srgbClr val="F6A924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F0A6A8AA-F4CD-0786-7DE8-EF28EF2C8E81}"/>
              </a:ext>
            </a:extLst>
          </p:cNvPr>
          <p:cNvCxnSpPr>
            <a:cxnSpLocks/>
          </p:cNvCxnSpPr>
          <p:nvPr/>
        </p:nvCxnSpPr>
        <p:spPr>
          <a:xfrm>
            <a:off x="5486400" y="3140823"/>
            <a:ext cx="0" cy="274870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CuadroTexto 91">
            <a:extLst>
              <a:ext uri="{FF2B5EF4-FFF2-40B4-BE49-F238E27FC236}">
                <a16:creationId xmlns:a16="http://schemas.microsoft.com/office/drawing/2014/main" id="{E18D1301-3336-8D8B-A1A6-A5169638D324}"/>
              </a:ext>
            </a:extLst>
          </p:cNvPr>
          <p:cNvSpPr txBox="1"/>
          <p:nvPr/>
        </p:nvSpPr>
        <p:spPr>
          <a:xfrm>
            <a:off x="5173674" y="4189350"/>
            <a:ext cx="263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4315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75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6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100"/>
                            </p:stCondLst>
                            <p:childTnLst>
                              <p:par>
                                <p:cTn id="4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6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102" grpId="0"/>
      <p:bldP spid="9" grpId="0" animBg="1"/>
      <p:bldP spid="10" grpId="0"/>
      <p:bldP spid="80" grpId="0"/>
      <p:bldP spid="81" grpId="0"/>
      <p:bldP spid="83" grpId="0"/>
      <p:bldP spid="9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FD622817-D178-4A42-9FC3-AE1BC7E90163"/>
  <p:tag name="ISPRING_CMI5_LAUNCH_METHOD" val="any window"/>
  <p:tag name="ISPRING_SCORM_RATE_SLIDES" val="1"/>
  <p:tag name="ISPRINGCLOUDFOLDERID" val="1"/>
  <p:tag name="ISPRINGONLINEFOLDERID" val="1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PASSING_SCORE" val="100.000000"/>
  <p:tag name="ISPRING_FIRST_PUBLISH" val="1"/>
  <p:tag name="ISPRING_OUTPUT_FOLDER" val="[[&quot;\uFFFD\/\uFFFD\uFFFD{21D528DD-60A0-4F5B-BB24-A0E5BDBD4B43}&quot;,&quot;C:\\Users\\34717\\Desktop\\Apuntes\\3 ESO\\10. Cuerpos geométricos&quot;]]"/>
  <p:tag name="ISPRING_ULTRA_SCORM_COURCE_TITLE" val="4. Pirámide y cono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  <p:tag name="ISPRING_PRESENTATION_TITLE" val="4. Pirámide y cono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2270655-AC60-4887-9FB3-BD882857C854}:258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</TotalTime>
  <Words>92</Words>
  <Application>Microsoft Office PowerPoint</Application>
  <PresentationFormat>Panorámica</PresentationFormat>
  <Paragraphs>9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Pirámide y cono</dc:title>
  <dc:creator>Illán Linos Souto</dc:creator>
  <cp:lastModifiedBy>Illán Linos</cp:lastModifiedBy>
  <cp:revision>76</cp:revision>
  <dcterms:created xsi:type="dcterms:W3CDTF">2024-08-18T18:48:07Z</dcterms:created>
  <dcterms:modified xsi:type="dcterms:W3CDTF">2025-11-20T22:38:22Z</dcterms:modified>
</cp:coreProperties>
</file>