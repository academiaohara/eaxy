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5" d="100"/>
          <a:sy n="105" d="100"/>
        </p:scale>
        <p:origin x="1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05/11/2024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7/06/relationships/model3d" Target="../media/model3d1.glb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17/06/relationships/model3d" Target="../media/model3d2.glb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03511152"/>
                  </p:ext>
                </p:extLst>
              </p:nvPr>
            </p:nvGraphicFramePr>
            <p:xfrm>
              <a:off x="545068" y="3640437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3640437"/>
                <a:ext cx="34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54F5365F-030C-6924-C5E3-9C4F1D0E4AB9}"/>
              </a:ext>
            </a:extLst>
          </p:cNvPr>
          <p:cNvSpPr txBox="1"/>
          <p:nvPr/>
        </p:nvSpPr>
        <p:spPr>
          <a:xfrm>
            <a:off x="861140" y="42255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RAÍCES Y RADICALES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DB21E1-C19E-8367-7D5E-D2372B5FC4CA}"/>
              </a:ext>
            </a:extLst>
          </p:cNvPr>
          <p:cNvSpPr txBox="1"/>
          <p:nvPr/>
        </p:nvSpPr>
        <p:spPr>
          <a:xfrm>
            <a:off x="858596" y="485126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PROPIEDADES DE LAS RAÍCES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3022054"/>
                  </p:ext>
                </p:extLst>
              </p:nvPr>
            </p:nvGraphicFramePr>
            <p:xfrm>
              <a:off x="545068" y="4270486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281CF13F-6788-410B-4E74-134488BA76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270486"/>
                <a:ext cx="342798" cy="43183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19" name="Rectángulo 5">
            <a:extLst>
              <a:ext uri="{FF2B5EF4-FFF2-40B4-BE49-F238E27FC236}">
                <a16:creationId xmlns:a16="http://schemas.microsoft.com/office/drawing/2014/main" id="{76196033-A31A-9487-601B-C89F02221C62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9851D408-100F-15D0-FA04-0501972564EB}"/>
              </a:ext>
            </a:extLst>
          </p:cNvPr>
          <p:cNvSpPr/>
          <p:nvPr/>
        </p:nvSpPr>
        <p:spPr>
          <a:xfrm>
            <a:off x="9870430" y="3303186"/>
            <a:ext cx="254649" cy="787674"/>
          </a:xfrm>
          <a:custGeom>
            <a:avLst/>
            <a:gdLst>
              <a:gd name="connsiteX0" fmla="*/ 201687 w 245124"/>
              <a:gd name="connsiteY0" fmla="*/ 704 h 787674"/>
              <a:gd name="connsiteX1" fmla="*/ 245124 w 245124"/>
              <a:gd name="connsiteY1" fmla="*/ 21036 h 787674"/>
              <a:gd name="connsiteX2" fmla="*/ 110668 w 245124"/>
              <a:gd name="connsiteY2" fmla="*/ 758429 h 787674"/>
              <a:gd name="connsiteX3" fmla="*/ 22636 w 245124"/>
              <a:gd name="connsiteY3" fmla="*/ 787674 h 787674"/>
              <a:gd name="connsiteX4" fmla="*/ 0 w 245124"/>
              <a:gd name="connsiteY4" fmla="*/ 784709 h 787674"/>
              <a:gd name="connsiteX5" fmla="*/ 0 w 245124"/>
              <a:gd name="connsiteY5" fmla="*/ 19584 h 787674"/>
              <a:gd name="connsiteX6" fmla="*/ 10655 w 245124"/>
              <a:gd name="connsiteY6" fmla="*/ 24540 h 787674"/>
              <a:gd name="connsiteX7" fmla="*/ 201687 w 245124"/>
              <a:gd name="connsiteY7" fmla="*/ 704 h 787674"/>
              <a:gd name="connsiteX0" fmla="*/ 211212 w 254649"/>
              <a:gd name="connsiteY0" fmla="*/ 704 h 787674"/>
              <a:gd name="connsiteX1" fmla="*/ 254649 w 254649"/>
              <a:gd name="connsiteY1" fmla="*/ 21036 h 787674"/>
              <a:gd name="connsiteX2" fmla="*/ 120193 w 254649"/>
              <a:gd name="connsiteY2" fmla="*/ 758429 h 787674"/>
              <a:gd name="connsiteX3" fmla="*/ 32161 w 254649"/>
              <a:gd name="connsiteY3" fmla="*/ 787674 h 787674"/>
              <a:gd name="connsiteX4" fmla="*/ 9525 w 254649"/>
              <a:gd name="connsiteY4" fmla="*/ 784709 h 787674"/>
              <a:gd name="connsiteX5" fmla="*/ 0 w 254649"/>
              <a:gd name="connsiteY5" fmla="*/ 17203 h 787674"/>
              <a:gd name="connsiteX6" fmla="*/ 20180 w 254649"/>
              <a:gd name="connsiteY6" fmla="*/ 24540 h 787674"/>
              <a:gd name="connsiteX7" fmla="*/ 211212 w 254649"/>
              <a:gd name="connsiteY7" fmla="*/ 704 h 787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4649" h="787674">
                <a:moveTo>
                  <a:pt x="211212" y="704"/>
                </a:moveTo>
                <a:cubicBezTo>
                  <a:pt x="232438" y="-1944"/>
                  <a:pt x="248604" y="2477"/>
                  <a:pt x="254649" y="21036"/>
                </a:cubicBezTo>
                <a:cubicBezTo>
                  <a:pt x="188399" y="302553"/>
                  <a:pt x="303123" y="505487"/>
                  <a:pt x="120193" y="758429"/>
                </a:cubicBezTo>
                <a:cubicBezTo>
                  <a:pt x="87252" y="777677"/>
                  <a:pt x="58479" y="785912"/>
                  <a:pt x="32161" y="787674"/>
                </a:cubicBezTo>
                <a:lnTo>
                  <a:pt x="9525" y="784709"/>
                </a:lnTo>
                <a:lnTo>
                  <a:pt x="0" y="17203"/>
                </a:lnTo>
                <a:cubicBezTo>
                  <a:pt x="3552" y="18855"/>
                  <a:pt x="16628" y="22888"/>
                  <a:pt x="20180" y="24540"/>
                </a:cubicBezTo>
                <a:cubicBezTo>
                  <a:pt x="38316" y="80219"/>
                  <a:pt x="147535" y="8650"/>
                  <a:pt x="211212" y="70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823531"/>
                  </p:ext>
                </p:extLst>
              </p:nvPr>
            </p:nvGraphicFramePr>
            <p:xfrm>
              <a:off x="545068" y="3015524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3015524"/>
                <a:ext cx="342798" cy="431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8825944"/>
                  </p:ext>
                </p:extLst>
              </p:nvPr>
            </p:nvGraphicFramePr>
            <p:xfrm>
              <a:off x="545068" y="4897966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0032D165-EFCA-CFD9-D9D3-FD4CDB66C9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489796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2348215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IRRACIONALES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297397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NÚMEROS REALES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00867534"/>
                  </p:ext>
                </p:extLst>
              </p:nvPr>
            </p:nvGraphicFramePr>
            <p:xfrm>
              <a:off x="545068" y="2390611"/>
              <a:ext cx="342798" cy="43183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5068" y="2390611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359973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INTERVALOS Y SEMIRRECTAS</a:t>
            </a:r>
          </a:p>
        </p:txBody>
      </p:sp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50"/>
                            </p:stCondLst>
                            <p:childTnLst>
                              <p:par>
                                <p:cTn id="57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4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2" grpId="0"/>
      <p:bldP spid="3" grpId="0"/>
      <p:bldP spid="19" grpId="0" animBg="1"/>
      <p:bldP spid="18" grpId="0" animBg="1"/>
      <p:bldP spid="16" grpId="0"/>
      <p:bldP spid="17" grpId="0"/>
      <p:bldP spid="21" grpId="0"/>
      <p:bldP spid="2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18" name="!Marco 10">
            <a:extLst>
              <a:ext uri="{FF2B5EF4-FFF2-40B4-BE49-F238E27FC236}">
                <a16:creationId xmlns:a16="http://schemas.microsoft.com/office/drawing/2014/main" id="{A0187FB5-3AAD-B8E4-ED26-816AAEADD21C}"/>
              </a:ext>
            </a:extLst>
          </p:cNvPr>
          <p:cNvSpPr/>
          <p:nvPr/>
        </p:nvSpPr>
        <p:spPr>
          <a:xfrm>
            <a:off x="535084" y="143834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B0404A15-C7E9-32A5-DE79-132293F0A600}"/>
              </a:ext>
            </a:extLst>
          </p:cNvPr>
          <p:cNvSpPr txBox="1"/>
          <p:nvPr/>
        </p:nvSpPr>
        <p:spPr>
          <a:xfrm>
            <a:off x="535084" y="144562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abierto (a, b)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sin incluir ni a ni b.</a:t>
            </a:r>
            <a:endParaRPr lang="es-ES" sz="32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D328C37-2A0C-0C87-7333-250DDAEDB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714C0D6C-B63A-BE74-15FB-DA74808E8A46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EB50E424-E0D5-F97F-B7CA-A659A14ED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6EDEA7B-509F-53A3-C7AB-FD4A7073B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BF80DDBD-C7A4-B1A9-90AE-6F72C74DFA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1FF4E0E-556C-E7AF-CE49-3996A458D740}"/>
              </a:ext>
            </a:extLst>
          </p:cNvPr>
          <p:cNvSpPr txBox="1"/>
          <p:nvPr/>
        </p:nvSpPr>
        <p:spPr>
          <a:xfrm>
            <a:off x="535084" y="959418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INTERVALO ABIERTO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5660539-A32B-9626-8CAC-9DBBBDAEB619}"/>
                  </a:ext>
                </a:extLst>
              </p:cNvPr>
              <p:cNvSpPr txBox="1"/>
              <p:nvPr/>
            </p:nvSpPr>
            <p:spPr>
              <a:xfrm>
                <a:off x="4824072" y="2998113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5660539-A32B-9626-8CAC-9DBBBDAEB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2998113"/>
                <a:ext cx="25414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C43D5C9A-0696-308D-D86D-CEE66EAD2346}"/>
              </a:ext>
            </a:extLst>
          </p:cNvPr>
          <p:cNvGrpSpPr/>
          <p:nvPr/>
        </p:nvGrpSpPr>
        <p:grpSpPr>
          <a:xfrm>
            <a:off x="4867669" y="2355334"/>
            <a:ext cx="2438801" cy="719098"/>
            <a:chOff x="4867669" y="2355334"/>
            <a:chExt cx="2438801" cy="719098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6715308A-9464-2707-9F03-B10E139D14B0}"/>
                </a:ext>
              </a:extLst>
            </p:cNvPr>
            <p:cNvCxnSpPr/>
            <p:nvPr/>
          </p:nvCxnSpPr>
          <p:spPr>
            <a:xfrm flipV="1">
              <a:off x="4958951" y="2540000"/>
              <a:ext cx="0" cy="458113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77E465BB-5B0A-ADF4-5D83-D21A5E772F27}"/>
                </a:ext>
              </a:extLst>
            </p:cNvPr>
            <p:cNvCxnSpPr>
              <a:cxnSpLocks/>
            </p:cNvCxnSpPr>
            <p:nvPr/>
          </p:nvCxnSpPr>
          <p:spPr>
            <a:xfrm>
              <a:off x="4958951" y="2540000"/>
              <a:ext cx="2258222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5E9E6268-EA43-7866-9F88-62C65BA33D67}"/>
                </a:ext>
              </a:extLst>
            </p:cNvPr>
            <p:cNvCxnSpPr/>
            <p:nvPr/>
          </p:nvCxnSpPr>
          <p:spPr>
            <a:xfrm flipV="1">
              <a:off x="7217173" y="2540000"/>
              <a:ext cx="0" cy="458113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F199740B-C6A3-F433-EA96-98E9BE167FBC}"/>
                </a:ext>
              </a:extLst>
            </p:cNvPr>
            <p:cNvGrpSpPr/>
            <p:nvPr/>
          </p:nvGrpSpPr>
          <p:grpSpPr>
            <a:xfrm>
              <a:off x="4867669" y="2998113"/>
              <a:ext cx="183356" cy="76319"/>
              <a:chOff x="4867669" y="2998113"/>
              <a:chExt cx="183356" cy="76319"/>
            </a:xfrm>
          </p:grpSpPr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A0DD834F-BEA6-E3DA-436B-CE558B6806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663B6F01-DC59-F9D7-E566-37DB4CEB5A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82D57E6-04BA-DC75-7107-06B86BF2B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53ACA725-7F16-22AE-3949-D86A8CC0B6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14" y="2995851"/>
              <a:ext cx="0" cy="76319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0E70AEB9-0527-3EC2-277D-D1A4E92F37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470" y="2995851"/>
              <a:ext cx="0" cy="76319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A71AB53-7B60-2F12-019C-50E45688A268}"/>
                </a:ext>
              </a:extLst>
            </p:cNvPr>
            <p:cNvCxnSpPr>
              <a:cxnSpLocks/>
            </p:cNvCxnSpPr>
            <p:nvPr/>
          </p:nvCxnSpPr>
          <p:spPr>
            <a:xfrm>
              <a:off x="7123114" y="2995851"/>
              <a:ext cx="183356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573985B-49AE-AB5B-043E-938472A36BAC}"/>
                </a:ext>
              </a:extLst>
            </p:cNvPr>
            <p:cNvSpPr txBox="1"/>
            <p:nvPr/>
          </p:nvSpPr>
          <p:spPr>
            <a:xfrm>
              <a:off x="5462587" y="2355334"/>
              <a:ext cx="125095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latin typeface="Agency FB" panose="020B0503020202020204" pitchFamily="34" charset="0"/>
                </a:rPr>
                <a:t>CONJUNTO DE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3D23F1E0-0EB0-BAA1-1704-F6CDF6DBA750}"/>
              </a:ext>
            </a:extLst>
          </p:cNvPr>
          <p:cNvGrpSpPr/>
          <p:nvPr/>
        </p:nvGrpSpPr>
        <p:grpSpPr>
          <a:xfrm>
            <a:off x="3989655" y="3423259"/>
            <a:ext cx="1289576" cy="693335"/>
            <a:chOff x="3989655" y="3423259"/>
            <a:chExt cx="1289576" cy="693335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945A188F-7E79-A77A-F3F1-0318DA8FB982}"/>
                </a:ext>
              </a:extLst>
            </p:cNvPr>
            <p:cNvGrpSpPr/>
            <p:nvPr/>
          </p:nvGrpSpPr>
          <p:grpSpPr>
            <a:xfrm rot="10800000">
              <a:off x="5080398" y="3423259"/>
              <a:ext cx="198833" cy="76319"/>
              <a:chOff x="4867669" y="2998113"/>
              <a:chExt cx="183356" cy="76319"/>
            </a:xfrm>
          </p:grpSpPr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184B337C-B72C-72A8-C11A-9CB079C56B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406DE177-1DD8-6DD5-6E47-50AD42A404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0B54C66C-FE5B-14BC-F796-2D300614FD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E7C5C9E0-8196-49C5-F486-5DB2C8E7775A}"/>
                </a:ext>
              </a:extLst>
            </p:cNvPr>
            <p:cNvSpPr txBox="1"/>
            <p:nvPr/>
          </p:nvSpPr>
          <p:spPr>
            <a:xfrm>
              <a:off x="3989655" y="3778040"/>
              <a:ext cx="885824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Números x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3BF2C6CC-5F8D-46FF-9BC7-2B5B73D8FCDF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V="1">
              <a:off x="4432567" y="3497997"/>
              <a:ext cx="776380" cy="280043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1EE05B5-B1BE-B99E-6F4F-E6A07D0EBB50}"/>
              </a:ext>
            </a:extLst>
          </p:cNvPr>
          <p:cNvGrpSpPr/>
          <p:nvPr/>
        </p:nvGrpSpPr>
        <p:grpSpPr>
          <a:xfrm>
            <a:off x="5004864" y="3421679"/>
            <a:ext cx="776379" cy="694915"/>
            <a:chOff x="5004864" y="3421679"/>
            <a:chExt cx="776379" cy="694915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5B609B85-0933-8801-AFA6-E58B44D81A41}"/>
                </a:ext>
              </a:extLst>
            </p:cNvPr>
            <p:cNvGrpSpPr/>
            <p:nvPr/>
          </p:nvGrpSpPr>
          <p:grpSpPr>
            <a:xfrm rot="10800000">
              <a:off x="5335126" y="3421679"/>
              <a:ext cx="198833" cy="76319"/>
              <a:chOff x="4867669" y="2998113"/>
              <a:chExt cx="183356" cy="76319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6EBA7FE4-83A4-4D49-C80C-B7D818061B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5F9642D0-7468-BB6E-8EDB-8854EC050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046632CF-D9A9-409F-A738-521BD8E3B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1041BE9F-8CEC-9D71-6A5F-6958A763BFA1}"/>
                </a:ext>
              </a:extLst>
            </p:cNvPr>
            <p:cNvSpPr txBox="1"/>
            <p:nvPr/>
          </p:nvSpPr>
          <p:spPr>
            <a:xfrm>
              <a:off x="5004864" y="3778040"/>
              <a:ext cx="77637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tales que</a:t>
              </a:r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1BDD198-5F44-1EFD-E6DC-467AD36C7E49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5393054" y="3497997"/>
              <a:ext cx="54722" cy="280043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C1C7875-C769-E832-28EB-FCB88E339188}"/>
              </a:ext>
            </a:extLst>
          </p:cNvPr>
          <p:cNvGrpSpPr/>
          <p:nvPr/>
        </p:nvGrpSpPr>
        <p:grpSpPr>
          <a:xfrm>
            <a:off x="5589854" y="3421679"/>
            <a:ext cx="1337200" cy="941136"/>
            <a:chOff x="5589854" y="3421679"/>
            <a:chExt cx="1337200" cy="941136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2BD3EF94-885D-7461-A010-E667C0848C27}"/>
                </a:ext>
              </a:extLst>
            </p:cNvPr>
            <p:cNvGrpSpPr/>
            <p:nvPr/>
          </p:nvGrpSpPr>
          <p:grpSpPr>
            <a:xfrm rot="10800000">
              <a:off x="5589854" y="3421679"/>
              <a:ext cx="922732" cy="76319"/>
              <a:chOff x="4867669" y="2998113"/>
              <a:chExt cx="183356" cy="76319"/>
            </a:xfrm>
          </p:grpSpPr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FB2A724F-9AF4-4529-7A14-94F09CEED1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E493E3A7-5D51-E6A3-01AF-2E75A7CFE2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2DCF43C1-CCFD-3080-6A5D-0F92A488B1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FCE959FC-D38A-FBA8-023D-700BC261DA4D}"/>
                </a:ext>
              </a:extLst>
            </p:cNvPr>
            <p:cNvSpPr txBox="1"/>
            <p:nvPr/>
          </p:nvSpPr>
          <p:spPr>
            <a:xfrm>
              <a:off x="5895065" y="3778040"/>
              <a:ext cx="1031989" cy="5847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son mayores que a</a:t>
              </a:r>
            </a:p>
          </p:txBody>
        </p: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38829774-EAC1-290D-2BB4-ACECE4B0371B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H="1" flipV="1">
              <a:off x="6017419" y="3497997"/>
              <a:ext cx="393641" cy="2800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F327D6E0-340C-1EC6-B7A5-815BA2DFBCA0}"/>
              </a:ext>
            </a:extLst>
          </p:cNvPr>
          <p:cNvGrpSpPr/>
          <p:nvPr/>
        </p:nvGrpSpPr>
        <p:grpSpPr>
          <a:xfrm>
            <a:off x="6294441" y="3420934"/>
            <a:ext cx="1846655" cy="927958"/>
            <a:chOff x="6294441" y="3420934"/>
            <a:chExt cx="1846655" cy="927958"/>
          </a:xfrm>
        </p:grpSpPr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E7D57CDD-A441-E274-2E3D-A25B08C09DED}"/>
                </a:ext>
              </a:extLst>
            </p:cNvPr>
            <p:cNvGrpSpPr/>
            <p:nvPr/>
          </p:nvGrpSpPr>
          <p:grpSpPr>
            <a:xfrm rot="10800000">
              <a:off x="6294441" y="3420934"/>
              <a:ext cx="865977" cy="138001"/>
              <a:chOff x="4867669" y="2998113"/>
              <a:chExt cx="183356" cy="76319"/>
            </a:xfrm>
          </p:grpSpPr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F9D8BE72-AE73-6483-2BA3-292B419D10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E6226E28-6A55-ED4F-DB7A-877BD4D87B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CA3784E2-29EB-E763-5509-603D8A210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3DD4B6A0-A163-4EDB-8846-2B06F77DABA1}"/>
                </a:ext>
              </a:extLst>
            </p:cNvPr>
            <p:cNvSpPr txBox="1"/>
            <p:nvPr/>
          </p:nvSpPr>
          <p:spPr>
            <a:xfrm>
              <a:off x="7109107" y="3764117"/>
              <a:ext cx="1031989" cy="5847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son menores que b</a:t>
              </a:r>
            </a:p>
          </p:txBody>
        </p: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BEC8F92E-F2E3-191A-F161-20FBAC18C880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H="1" flipV="1">
              <a:off x="6762750" y="3551492"/>
              <a:ext cx="862352" cy="212625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4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F4C8B-FAFF-3849-3A35-C45A94E6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49EE434-BC51-368D-0CDF-9964C04E00D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D290BCC-1050-9001-B106-A0B8E6ACF92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18" name="!Marco 10">
            <a:extLst>
              <a:ext uri="{FF2B5EF4-FFF2-40B4-BE49-F238E27FC236}">
                <a16:creationId xmlns:a16="http://schemas.microsoft.com/office/drawing/2014/main" id="{FE714FCD-ED8F-F459-5036-9C330AC6D44D}"/>
              </a:ext>
            </a:extLst>
          </p:cNvPr>
          <p:cNvSpPr/>
          <p:nvPr/>
        </p:nvSpPr>
        <p:spPr>
          <a:xfrm>
            <a:off x="535084" y="143834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AE6F5FDD-9576-C732-009B-1220EEACC9DD}"/>
              </a:ext>
            </a:extLst>
          </p:cNvPr>
          <p:cNvSpPr txBox="1"/>
          <p:nvPr/>
        </p:nvSpPr>
        <p:spPr>
          <a:xfrm>
            <a:off x="535084" y="144562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abierto (a, b)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sin incluir ni a ni b.</a:t>
            </a:r>
            <a:endParaRPr lang="es-ES" sz="32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98549DEE-A5A2-7C0C-E013-411026EE4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1B32EBB-3231-96AB-F3DF-9CE40759E32E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F61054CE-2F5C-80F2-4E73-99D2D1C901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39F936D-45F2-2BBB-00FA-1CEF797A5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B273FEC-523D-E3DC-9C1B-D8DB6D892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26D199E-474E-8439-B530-16E30321AC41}"/>
              </a:ext>
            </a:extLst>
          </p:cNvPr>
          <p:cNvSpPr txBox="1"/>
          <p:nvPr/>
        </p:nvSpPr>
        <p:spPr>
          <a:xfrm>
            <a:off x="535084" y="959418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INTERVALO ABIERTO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8258256-FF04-A41C-5840-33457EEAEF29}"/>
                  </a:ext>
                </a:extLst>
              </p:cNvPr>
              <p:cNvSpPr txBox="1"/>
              <p:nvPr/>
            </p:nvSpPr>
            <p:spPr>
              <a:xfrm>
                <a:off x="4824072" y="2998113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18258256-FF04-A41C-5840-33457EEAE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2998113"/>
                <a:ext cx="25414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o 3">
            <a:extLst>
              <a:ext uri="{FF2B5EF4-FFF2-40B4-BE49-F238E27FC236}">
                <a16:creationId xmlns:a16="http://schemas.microsoft.com/office/drawing/2014/main" id="{E63783FB-985D-6558-E6B8-951EEFBB1E31}"/>
              </a:ext>
            </a:extLst>
          </p:cNvPr>
          <p:cNvGrpSpPr/>
          <p:nvPr/>
        </p:nvGrpSpPr>
        <p:grpSpPr>
          <a:xfrm>
            <a:off x="4867669" y="2355334"/>
            <a:ext cx="2438801" cy="719098"/>
            <a:chOff x="4867669" y="2355334"/>
            <a:chExt cx="2438801" cy="719098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1A64388-183E-3D7A-0BD0-141F3A17DD4C}"/>
                </a:ext>
              </a:extLst>
            </p:cNvPr>
            <p:cNvCxnSpPr/>
            <p:nvPr/>
          </p:nvCxnSpPr>
          <p:spPr>
            <a:xfrm flipV="1">
              <a:off x="4958951" y="2540000"/>
              <a:ext cx="0" cy="458113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39DFCE3C-D52F-CFA8-1D9B-FD3291DCDD72}"/>
                </a:ext>
              </a:extLst>
            </p:cNvPr>
            <p:cNvCxnSpPr>
              <a:cxnSpLocks/>
            </p:cNvCxnSpPr>
            <p:nvPr/>
          </p:nvCxnSpPr>
          <p:spPr>
            <a:xfrm>
              <a:off x="4958951" y="2540000"/>
              <a:ext cx="2258222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EE6AD6C-B1AC-DBFF-9A51-B919484A4E5B}"/>
                </a:ext>
              </a:extLst>
            </p:cNvPr>
            <p:cNvCxnSpPr/>
            <p:nvPr/>
          </p:nvCxnSpPr>
          <p:spPr>
            <a:xfrm flipV="1">
              <a:off x="7217173" y="2540000"/>
              <a:ext cx="0" cy="458113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3C9A0398-4A30-AF23-6148-3500312D3162}"/>
                </a:ext>
              </a:extLst>
            </p:cNvPr>
            <p:cNvGrpSpPr/>
            <p:nvPr/>
          </p:nvGrpSpPr>
          <p:grpSpPr>
            <a:xfrm>
              <a:off x="4867669" y="2998113"/>
              <a:ext cx="183356" cy="76319"/>
              <a:chOff x="4867669" y="2998113"/>
              <a:chExt cx="183356" cy="76319"/>
            </a:xfrm>
          </p:grpSpPr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D837B0EF-6827-5DD0-B682-8FB2F4AF9C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73C68FAE-86E3-8674-9FC8-B4FC419E4E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22E5ED2A-2B12-98B9-CB80-91A61C345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5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9FAF7EEB-2593-BE2F-D9EE-01DC7C617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114" y="2995851"/>
              <a:ext cx="0" cy="76319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1416EC4E-2775-CA7E-3488-0401331B52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470" y="2995851"/>
              <a:ext cx="0" cy="76319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C1DD0D4D-8E74-9832-B520-43AF2D5F8B03}"/>
                </a:ext>
              </a:extLst>
            </p:cNvPr>
            <p:cNvCxnSpPr>
              <a:cxnSpLocks/>
            </p:cNvCxnSpPr>
            <p:nvPr/>
          </p:nvCxnSpPr>
          <p:spPr>
            <a:xfrm>
              <a:off x="7123114" y="2995851"/>
              <a:ext cx="183356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5A8EDF24-039E-624B-6C1D-249CF255838F}"/>
                </a:ext>
              </a:extLst>
            </p:cNvPr>
            <p:cNvSpPr txBox="1"/>
            <p:nvPr/>
          </p:nvSpPr>
          <p:spPr>
            <a:xfrm>
              <a:off x="5462587" y="2355334"/>
              <a:ext cx="1250950" cy="3693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>
                  <a:latin typeface="Agency FB" panose="020B0503020202020204" pitchFamily="34" charset="0"/>
                </a:rPr>
                <a:t>CONJUNTO DE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205B715A-6673-FED1-E117-C03D81EE3734}"/>
              </a:ext>
            </a:extLst>
          </p:cNvPr>
          <p:cNvGrpSpPr/>
          <p:nvPr/>
        </p:nvGrpSpPr>
        <p:grpSpPr>
          <a:xfrm>
            <a:off x="3989655" y="3423259"/>
            <a:ext cx="1289576" cy="693335"/>
            <a:chOff x="3989655" y="3423259"/>
            <a:chExt cx="1289576" cy="693335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362A28AB-A0F0-B7ED-81F9-2E2A8AF5A4E9}"/>
                </a:ext>
              </a:extLst>
            </p:cNvPr>
            <p:cNvGrpSpPr/>
            <p:nvPr/>
          </p:nvGrpSpPr>
          <p:grpSpPr>
            <a:xfrm rot="10800000">
              <a:off x="5080398" y="3423259"/>
              <a:ext cx="198833" cy="76319"/>
              <a:chOff x="4867669" y="2998113"/>
              <a:chExt cx="183356" cy="76319"/>
            </a:xfrm>
          </p:grpSpPr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C7D2DC34-60E9-AB47-4937-BC3F42129F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8A0233F4-7E4E-5D16-5AA2-AB6406F83A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1D0B21B1-C268-0A36-B163-6E37C1683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3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A70389D4-DC12-93A0-D7F0-A12DB53E6ABF}"/>
                </a:ext>
              </a:extLst>
            </p:cNvPr>
            <p:cNvSpPr txBox="1"/>
            <p:nvPr/>
          </p:nvSpPr>
          <p:spPr>
            <a:xfrm>
              <a:off x="3989655" y="3778040"/>
              <a:ext cx="885824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3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Números x</a:t>
              </a:r>
            </a:p>
          </p:txBody>
        </p:sp>
        <p:cxnSp>
          <p:nvCxnSpPr>
            <p:cNvPr id="74" name="Conector recto 73">
              <a:extLst>
                <a:ext uri="{FF2B5EF4-FFF2-40B4-BE49-F238E27FC236}">
                  <a16:creationId xmlns:a16="http://schemas.microsoft.com/office/drawing/2014/main" id="{23A143FB-28FE-2F10-377F-C45360C29561}"/>
                </a:ext>
              </a:extLst>
            </p:cNvPr>
            <p:cNvCxnSpPr>
              <a:cxnSpLocks/>
              <a:stCxn id="72" idx="0"/>
            </p:cNvCxnSpPr>
            <p:nvPr/>
          </p:nvCxnSpPr>
          <p:spPr>
            <a:xfrm flipV="1">
              <a:off x="4432567" y="3497997"/>
              <a:ext cx="776380" cy="280043"/>
            </a:xfrm>
            <a:prstGeom prst="line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04AACFF-3B48-47E4-28F0-B635255F7681}"/>
              </a:ext>
            </a:extLst>
          </p:cNvPr>
          <p:cNvGrpSpPr/>
          <p:nvPr/>
        </p:nvGrpSpPr>
        <p:grpSpPr>
          <a:xfrm>
            <a:off x="5004864" y="3421679"/>
            <a:ext cx="776379" cy="694915"/>
            <a:chOff x="5004864" y="3421679"/>
            <a:chExt cx="776379" cy="694915"/>
          </a:xfrm>
        </p:grpSpPr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D1833DCD-6299-14A3-F83B-7916DB2DAA8E}"/>
                </a:ext>
              </a:extLst>
            </p:cNvPr>
            <p:cNvGrpSpPr/>
            <p:nvPr/>
          </p:nvGrpSpPr>
          <p:grpSpPr>
            <a:xfrm rot="10800000">
              <a:off x="5335126" y="3421679"/>
              <a:ext cx="198833" cy="76319"/>
              <a:chOff x="4867669" y="2998113"/>
              <a:chExt cx="183356" cy="76319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7924685E-BBB9-01C8-406B-69BAB601C1C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1E636E9E-AAED-DDD1-9E24-869EFBD6B6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22301A4E-7491-866F-DE68-B1E350A0D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5">
                    <a:lumMod val="7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FDD5C37E-AC46-5C2A-C5B7-767D874CB5BC}"/>
                </a:ext>
              </a:extLst>
            </p:cNvPr>
            <p:cNvSpPr txBox="1"/>
            <p:nvPr/>
          </p:nvSpPr>
          <p:spPr>
            <a:xfrm>
              <a:off x="5004864" y="3778040"/>
              <a:ext cx="776379" cy="33855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tales que</a:t>
              </a:r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97987422-41AC-5734-E1DD-F73250476151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5393054" y="3497997"/>
              <a:ext cx="54722" cy="280043"/>
            </a:xfrm>
            <a:prstGeom prst="line">
              <a:avLst/>
            </a:prstGeom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1C865F4-69D1-9129-9AB0-6622983F8F48}"/>
              </a:ext>
            </a:extLst>
          </p:cNvPr>
          <p:cNvGrpSpPr/>
          <p:nvPr/>
        </p:nvGrpSpPr>
        <p:grpSpPr>
          <a:xfrm>
            <a:off x="5589854" y="3421679"/>
            <a:ext cx="1337200" cy="941136"/>
            <a:chOff x="5589854" y="3421679"/>
            <a:chExt cx="1337200" cy="941136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9953D1CB-0403-521B-FE98-A21A1A6C5F7A}"/>
                </a:ext>
              </a:extLst>
            </p:cNvPr>
            <p:cNvGrpSpPr/>
            <p:nvPr/>
          </p:nvGrpSpPr>
          <p:grpSpPr>
            <a:xfrm rot="10800000">
              <a:off x="5589854" y="3421679"/>
              <a:ext cx="922732" cy="76319"/>
              <a:chOff x="4867669" y="2998113"/>
              <a:chExt cx="183356" cy="76319"/>
            </a:xfrm>
          </p:grpSpPr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8557F13F-6068-B206-8D59-8515396F0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353EB565-ADCB-0828-E321-F9B0DF97DF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2CAFE9F4-0680-DDFD-455F-D27F379AD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1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F27B1497-188E-2A87-C8A2-DCA378552689}"/>
                </a:ext>
              </a:extLst>
            </p:cNvPr>
            <p:cNvSpPr txBox="1"/>
            <p:nvPr/>
          </p:nvSpPr>
          <p:spPr>
            <a:xfrm>
              <a:off x="5895065" y="3778040"/>
              <a:ext cx="1031989" cy="5847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son mayores que a</a:t>
              </a:r>
            </a:p>
          </p:txBody>
        </p: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EFC7791C-BFDC-53DD-3D62-892E12D45920}"/>
                </a:ext>
              </a:extLst>
            </p:cNvPr>
            <p:cNvCxnSpPr>
              <a:cxnSpLocks/>
              <a:stCxn id="82" idx="0"/>
            </p:cNvCxnSpPr>
            <p:nvPr/>
          </p:nvCxnSpPr>
          <p:spPr>
            <a:xfrm flipH="1" flipV="1">
              <a:off x="6017419" y="3497997"/>
              <a:ext cx="393641" cy="280043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CC9F8913-E461-16AF-3EFE-CB36E74249CB}"/>
              </a:ext>
            </a:extLst>
          </p:cNvPr>
          <p:cNvGrpSpPr/>
          <p:nvPr/>
        </p:nvGrpSpPr>
        <p:grpSpPr>
          <a:xfrm>
            <a:off x="6294441" y="3420934"/>
            <a:ext cx="1846655" cy="927958"/>
            <a:chOff x="6294441" y="3420934"/>
            <a:chExt cx="1846655" cy="927958"/>
          </a:xfrm>
        </p:grpSpPr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772E1BF7-E650-DA46-CB2A-67A7D0EF91F3}"/>
                </a:ext>
              </a:extLst>
            </p:cNvPr>
            <p:cNvGrpSpPr/>
            <p:nvPr/>
          </p:nvGrpSpPr>
          <p:grpSpPr>
            <a:xfrm rot="10800000">
              <a:off x="6294441" y="3420934"/>
              <a:ext cx="865977" cy="138001"/>
              <a:chOff x="4867669" y="2998113"/>
              <a:chExt cx="183356" cy="76319"/>
            </a:xfrm>
          </p:grpSpPr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E7355C78-0333-3183-5B32-55E7CDE0AE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67669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ector recto 64">
                <a:extLst>
                  <a:ext uri="{FF2B5EF4-FFF2-40B4-BE49-F238E27FC236}">
                    <a16:creationId xmlns:a16="http://schemas.microsoft.com/office/drawing/2014/main" id="{B6A2F17A-1FEE-5601-CF55-7DBF1A7DB0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51025" y="2998113"/>
                <a:ext cx="0" cy="76319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DCDDF2E6-4352-7EA6-8404-9154C97342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7669" y="2998113"/>
                <a:ext cx="183356" cy="0"/>
              </a:xfrm>
              <a:prstGeom prst="line">
                <a:avLst/>
              </a:prstGeom>
              <a:ln cap="rnd">
                <a:solidFill>
                  <a:schemeClr val="accent2">
                    <a:lumMod val="60000"/>
                    <a:lumOff val="4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1F51C264-8DF9-EC9B-2436-0D3A7EEFC2EB}"/>
                </a:ext>
              </a:extLst>
            </p:cNvPr>
            <p:cNvSpPr txBox="1"/>
            <p:nvPr/>
          </p:nvSpPr>
          <p:spPr>
            <a:xfrm>
              <a:off x="7109107" y="3764117"/>
              <a:ext cx="1031989" cy="5847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>
                  <a:latin typeface="Agency FB" panose="020B0503020202020204" pitchFamily="34" charset="0"/>
                </a:rPr>
                <a:t>son menores que b</a:t>
              </a:r>
            </a:p>
          </p:txBody>
        </p: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10E36542-6BE0-4308-E794-B14AD6EA4A8F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flipH="1" flipV="1">
              <a:off x="6762750" y="3551492"/>
              <a:ext cx="862352" cy="212625"/>
            </a:xfrm>
            <a:prstGeom prst="line">
              <a:avLst/>
            </a:prstGeom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964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C88C2-A9BC-F907-248D-F5EB987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ABB825F-F0FF-62D7-CA90-A04ADA47193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170191FB-1384-7916-1577-75D8E661CAC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18" name="!Marco 10">
            <a:extLst>
              <a:ext uri="{FF2B5EF4-FFF2-40B4-BE49-F238E27FC236}">
                <a16:creationId xmlns:a16="http://schemas.microsoft.com/office/drawing/2014/main" id="{115EACCC-F209-3D6E-750F-FB71779CB475}"/>
              </a:ext>
            </a:extLst>
          </p:cNvPr>
          <p:cNvSpPr/>
          <p:nvPr/>
        </p:nvSpPr>
        <p:spPr>
          <a:xfrm>
            <a:off x="535084" y="143834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7FD79E4A-DD5C-D2AD-5996-1D73D59972C1}"/>
              </a:ext>
            </a:extLst>
          </p:cNvPr>
          <p:cNvSpPr txBox="1"/>
          <p:nvPr/>
        </p:nvSpPr>
        <p:spPr>
          <a:xfrm>
            <a:off x="535084" y="144562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abierto (a, b)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sin incluir ni a ni b.</a:t>
            </a:r>
            <a:endParaRPr lang="es-ES" sz="3200" b="1" dirty="0"/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622BCD5A-E717-2057-C8F1-76BB3853D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B3CC4AB-B92F-5BEB-8381-D312F53A53A1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9D91E0CD-193F-974A-9C82-BA480BECA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299C91F6-A83A-22B0-4F2E-257D1D6F2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3DA7726-4FD0-558B-7377-6C1F5D6DB5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C4D079F-74C7-DD37-0DA5-6C40B1C1516B}"/>
              </a:ext>
            </a:extLst>
          </p:cNvPr>
          <p:cNvSpPr txBox="1"/>
          <p:nvPr/>
        </p:nvSpPr>
        <p:spPr>
          <a:xfrm>
            <a:off x="535084" y="959418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INTERVALO ABIERTO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000C3F0-A831-0F24-ED38-159457B3067B}"/>
                  </a:ext>
                </a:extLst>
              </p:cNvPr>
              <p:cNvSpPr txBox="1"/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000C3F0-A831-0F24-ED38-159457B30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8FA7956-86C2-8BC8-F2E1-393A937F89C6}"/>
              </a:ext>
            </a:extLst>
          </p:cNvPr>
          <p:cNvCxnSpPr>
            <a:cxnSpLocks/>
          </p:cNvCxnSpPr>
          <p:nvPr/>
        </p:nvCxnSpPr>
        <p:spPr>
          <a:xfrm>
            <a:off x="2714625" y="3581400"/>
            <a:ext cx="6667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6BFA9AE-BE8C-6B15-5519-1198A6E9BAD1}"/>
              </a:ext>
            </a:extLst>
          </p:cNvPr>
          <p:cNvCxnSpPr>
            <a:cxnSpLocks/>
          </p:cNvCxnSpPr>
          <p:nvPr/>
        </p:nvCxnSpPr>
        <p:spPr>
          <a:xfrm>
            <a:off x="3943350" y="3581400"/>
            <a:ext cx="3905250" cy="0"/>
          </a:xfrm>
          <a:prstGeom prst="line">
            <a:avLst/>
          </a:prstGeom>
          <a:ln w="38100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28C25DE5-660D-95E9-5D9D-1F18D8EE9AF0}"/>
              </a:ext>
            </a:extLst>
          </p:cNvPr>
          <p:cNvSpPr/>
          <p:nvPr/>
        </p:nvSpPr>
        <p:spPr>
          <a:xfrm>
            <a:off x="3879056" y="3517106"/>
            <a:ext cx="128588" cy="1285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79DFD37-1500-A2A3-78F7-7F13A359F212}"/>
              </a:ext>
            </a:extLst>
          </p:cNvPr>
          <p:cNvSpPr/>
          <p:nvPr/>
        </p:nvSpPr>
        <p:spPr>
          <a:xfrm>
            <a:off x="7774781" y="3517106"/>
            <a:ext cx="128588" cy="1285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7DD1DF1-88AD-8ADE-23FA-B8AABBF2C084}"/>
              </a:ext>
            </a:extLst>
          </p:cNvPr>
          <p:cNvSpPr txBox="1"/>
          <p:nvPr/>
        </p:nvSpPr>
        <p:spPr>
          <a:xfrm>
            <a:off x="3843337" y="3109674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C23634B-2CAE-A70A-70BF-87411C42498C}"/>
              </a:ext>
            </a:extLst>
          </p:cNvPr>
          <p:cNvSpPr txBox="1"/>
          <p:nvPr/>
        </p:nvSpPr>
        <p:spPr>
          <a:xfrm>
            <a:off x="7724775" y="3109674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DC22B88-AA03-AB2D-1271-4F828889C0B3}"/>
              </a:ext>
            </a:extLst>
          </p:cNvPr>
          <p:cNvSpPr txBox="1"/>
          <p:nvPr/>
        </p:nvSpPr>
        <p:spPr>
          <a:xfrm>
            <a:off x="535084" y="392261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EJEMPLO: </a:t>
            </a:r>
            <a:r>
              <a:rPr lang="es-ES" sz="2000" dirty="0"/>
              <a:t>El intervalo (–2, 1) es el conjunto de todos los números comprendidos entre –2</a:t>
            </a:r>
          </a:p>
          <a:p>
            <a:r>
              <a:rPr lang="es-ES" sz="2000" dirty="0"/>
              <a:t>y 1, sin incluir ni –2 ni 1: {x / –2 &lt; x &lt; 1}.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223AB5E-D755-FA79-8D78-ED5D544F9B5A}"/>
              </a:ext>
            </a:extLst>
          </p:cNvPr>
          <p:cNvCxnSpPr>
            <a:cxnSpLocks/>
          </p:cNvCxnSpPr>
          <p:nvPr/>
        </p:nvCxnSpPr>
        <p:spPr>
          <a:xfrm>
            <a:off x="2714891" y="5571366"/>
            <a:ext cx="6667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2205FF6-9E1A-AFA3-68E8-6C316162CB7B}"/>
              </a:ext>
            </a:extLst>
          </p:cNvPr>
          <p:cNvCxnSpPr>
            <a:cxnSpLocks/>
          </p:cNvCxnSpPr>
          <p:nvPr/>
        </p:nvCxnSpPr>
        <p:spPr>
          <a:xfrm>
            <a:off x="3943616" y="5571366"/>
            <a:ext cx="3905250" cy="0"/>
          </a:xfrm>
          <a:prstGeom prst="line">
            <a:avLst/>
          </a:prstGeom>
          <a:ln w="38100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49C637AA-9EFF-D05A-2B59-D2A049723046}"/>
              </a:ext>
            </a:extLst>
          </p:cNvPr>
          <p:cNvSpPr/>
          <p:nvPr/>
        </p:nvSpPr>
        <p:spPr>
          <a:xfrm>
            <a:off x="3879322" y="5507072"/>
            <a:ext cx="128588" cy="1285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A189BB19-7F16-0E89-D68F-CF2762EF97E9}"/>
              </a:ext>
            </a:extLst>
          </p:cNvPr>
          <p:cNvSpPr/>
          <p:nvPr/>
        </p:nvSpPr>
        <p:spPr>
          <a:xfrm>
            <a:off x="7775047" y="5507072"/>
            <a:ext cx="128588" cy="128588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2902A94-5EA8-1308-6960-B97E1B7DA419}"/>
              </a:ext>
            </a:extLst>
          </p:cNvPr>
          <p:cNvSpPr txBox="1"/>
          <p:nvPr/>
        </p:nvSpPr>
        <p:spPr>
          <a:xfrm>
            <a:off x="3716998" y="5099640"/>
            <a:ext cx="452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-2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C389FFC-DDAF-77F2-2EBF-F0C420DED4E8}"/>
              </a:ext>
            </a:extLst>
          </p:cNvPr>
          <p:cNvSpPr txBox="1"/>
          <p:nvPr/>
        </p:nvSpPr>
        <p:spPr>
          <a:xfrm>
            <a:off x="7725041" y="5099640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61130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7" grpId="0"/>
      <p:bldP spid="20" grpId="0" uiExpand="1" build="p"/>
      <p:bldP spid="23" grpId="0" animBg="1"/>
      <p:bldP spid="24" grpId="0" animBg="1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B7551-810D-F798-2B2B-6A3EC614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03238BD-5F2D-57CF-6999-A59BF687B3F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6D3238E-93D1-A062-B48A-CF295758EED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CE9934AC-EC08-6965-E32F-3E0A9FD10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86AAAFA-2AAD-A326-0F1B-EBDAE550511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5EC33009-E019-B109-DA3A-1789E122B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315E25C6-30E6-C0C5-2982-B42F9431B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0524C524-225E-9F2A-E7C1-459A35F327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B1DD3F2-4456-A6ED-8D4D-305C6F28A27D}"/>
                  </a:ext>
                </a:extLst>
              </p:cNvPr>
              <p:cNvSpPr txBox="1"/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B1DD3F2-4456-A6ED-8D4D-305C6F28A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Marco 10">
            <a:extLst>
              <a:ext uri="{FF2B5EF4-FFF2-40B4-BE49-F238E27FC236}">
                <a16:creationId xmlns:a16="http://schemas.microsoft.com/office/drawing/2014/main" id="{50B661B9-F64A-E986-90ED-090633B281C0}"/>
              </a:ext>
            </a:extLst>
          </p:cNvPr>
          <p:cNvSpPr/>
          <p:nvPr/>
        </p:nvSpPr>
        <p:spPr>
          <a:xfrm>
            <a:off x="535084" y="143834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142F512C-A674-9904-D66A-341CAA4768D1}"/>
              </a:ext>
            </a:extLst>
          </p:cNvPr>
          <p:cNvSpPr txBox="1"/>
          <p:nvPr/>
        </p:nvSpPr>
        <p:spPr>
          <a:xfrm>
            <a:off x="535084" y="144562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cerrado [a, b]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ambos incluidos.</a:t>
            </a:r>
            <a:endParaRPr lang="es-ES" sz="3200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48D3FB5-9F1E-EF71-7208-07B9DD77E4A0}"/>
              </a:ext>
            </a:extLst>
          </p:cNvPr>
          <p:cNvSpPr txBox="1"/>
          <p:nvPr/>
        </p:nvSpPr>
        <p:spPr>
          <a:xfrm>
            <a:off x="535084" y="959418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INTERVALO CERRADO</a:t>
            </a: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2E921E7C-B125-C1A0-EB66-B0F3DA8E81B6}"/>
              </a:ext>
            </a:extLst>
          </p:cNvPr>
          <p:cNvCxnSpPr>
            <a:cxnSpLocks/>
          </p:cNvCxnSpPr>
          <p:nvPr/>
        </p:nvCxnSpPr>
        <p:spPr>
          <a:xfrm>
            <a:off x="2714625" y="3581400"/>
            <a:ext cx="6667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7116D578-5718-B1F7-7197-19D344DBC3A9}"/>
              </a:ext>
            </a:extLst>
          </p:cNvPr>
          <p:cNvCxnSpPr>
            <a:cxnSpLocks/>
          </p:cNvCxnSpPr>
          <p:nvPr/>
        </p:nvCxnSpPr>
        <p:spPr>
          <a:xfrm>
            <a:off x="3943350" y="3581400"/>
            <a:ext cx="3905250" cy="0"/>
          </a:xfrm>
          <a:prstGeom prst="line">
            <a:avLst/>
          </a:prstGeom>
          <a:ln w="38100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6645A8E-8510-4F33-8D9C-39D99FB222BE}"/>
              </a:ext>
            </a:extLst>
          </p:cNvPr>
          <p:cNvSpPr txBox="1"/>
          <p:nvPr/>
        </p:nvSpPr>
        <p:spPr>
          <a:xfrm>
            <a:off x="3843337" y="3109674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a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CF3FDA4-CAC4-30C0-A4A7-D8EAF6BFCE3D}"/>
              </a:ext>
            </a:extLst>
          </p:cNvPr>
          <p:cNvSpPr txBox="1"/>
          <p:nvPr/>
        </p:nvSpPr>
        <p:spPr>
          <a:xfrm>
            <a:off x="7724775" y="3109674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D1DD0199-0716-C9DF-8808-9B3BA5E04E02}"/>
                  </a:ext>
                </a:extLst>
              </p:cNvPr>
              <p:cNvSpPr txBox="1"/>
              <p:nvPr/>
            </p:nvSpPr>
            <p:spPr>
              <a:xfrm>
                <a:off x="535084" y="3922611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rgbClr val="4E95D9"/>
                    </a:solidFill>
                  </a:rPr>
                  <a:t>EJEMPLO: </a:t>
                </a:r>
                <a:r>
                  <a:rPr lang="es-ES" sz="2000" dirty="0"/>
                  <a:t>El intervalo [–2, 1] es el conjunto de todos los números comprendidos entre –2</a:t>
                </a:r>
              </a:p>
              <a:p>
                <a:r>
                  <a:rPr lang="es-ES" sz="2000" dirty="0"/>
                  <a:t>y 1, incluyendo –2 y 1: {x / –2 </a:t>
                </a:r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ES" sz="2000" dirty="0"/>
                  <a:t> x </a:t>
                </a:r>
                <a14:m>
                  <m:oMath xmlns:m="http://schemas.openxmlformats.org/officeDocument/2006/math">
                    <m:r>
                      <a:rPr lang="es-E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s-ES" sz="2000" dirty="0"/>
                  <a:t> 1}.</a:t>
                </a:r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D1DD0199-0716-C9DF-8808-9B3BA5E04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922611"/>
                <a:ext cx="11121832" cy="707886"/>
              </a:xfrm>
              <a:prstGeom prst="rect">
                <a:avLst/>
              </a:prstGeom>
              <a:blipFill>
                <a:blip r:embed="rId7"/>
                <a:stretch>
                  <a:fillRect l="-603" t="-4274" b="-136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698F31B4-3622-44E5-DE9E-E765402A3EA2}"/>
              </a:ext>
            </a:extLst>
          </p:cNvPr>
          <p:cNvCxnSpPr>
            <a:cxnSpLocks/>
          </p:cNvCxnSpPr>
          <p:nvPr/>
        </p:nvCxnSpPr>
        <p:spPr>
          <a:xfrm>
            <a:off x="2714891" y="5571366"/>
            <a:ext cx="66675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54823FA4-4EE0-2A86-F092-DFA02FC1B1E7}"/>
              </a:ext>
            </a:extLst>
          </p:cNvPr>
          <p:cNvCxnSpPr>
            <a:cxnSpLocks/>
          </p:cNvCxnSpPr>
          <p:nvPr/>
        </p:nvCxnSpPr>
        <p:spPr>
          <a:xfrm>
            <a:off x="3943616" y="5571366"/>
            <a:ext cx="3905250" cy="0"/>
          </a:xfrm>
          <a:prstGeom prst="line">
            <a:avLst/>
          </a:prstGeom>
          <a:ln w="38100">
            <a:solidFill>
              <a:srgbClr val="EF4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A57BA31-8DDB-CF19-C03D-3AAE02145DA2}"/>
              </a:ext>
            </a:extLst>
          </p:cNvPr>
          <p:cNvSpPr txBox="1"/>
          <p:nvPr/>
        </p:nvSpPr>
        <p:spPr>
          <a:xfrm>
            <a:off x="3716998" y="5099640"/>
            <a:ext cx="452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-2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AB2932E3-26D9-F18F-7ABC-2DE632A91846}"/>
              </a:ext>
            </a:extLst>
          </p:cNvPr>
          <p:cNvSpPr txBox="1"/>
          <p:nvPr/>
        </p:nvSpPr>
        <p:spPr>
          <a:xfrm>
            <a:off x="7725041" y="5099640"/>
            <a:ext cx="219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i="1" dirty="0"/>
              <a:t>1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4A254553-615F-7A41-6B50-263A4F755A49}"/>
              </a:ext>
            </a:extLst>
          </p:cNvPr>
          <p:cNvCxnSpPr/>
          <p:nvPr/>
        </p:nvCxnSpPr>
        <p:spPr>
          <a:xfrm>
            <a:off x="7848600" y="3512254"/>
            <a:ext cx="0" cy="138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8FA9AAC4-4D44-C084-CD44-2340040403A9}"/>
              </a:ext>
            </a:extLst>
          </p:cNvPr>
          <p:cNvCxnSpPr/>
          <p:nvPr/>
        </p:nvCxnSpPr>
        <p:spPr>
          <a:xfrm>
            <a:off x="3938578" y="3509784"/>
            <a:ext cx="0" cy="138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3FCEC668-2902-14F9-4176-41FCFAF67E14}"/>
              </a:ext>
            </a:extLst>
          </p:cNvPr>
          <p:cNvCxnSpPr/>
          <p:nvPr/>
        </p:nvCxnSpPr>
        <p:spPr>
          <a:xfrm>
            <a:off x="7862878" y="5501357"/>
            <a:ext cx="0" cy="138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4E5AD33-E63C-863C-5EE4-09CF35FA9AAD}"/>
              </a:ext>
            </a:extLst>
          </p:cNvPr>
          <p:cNvCxnSpPr/>
          <p:nvPr/>
        </p:nvCxnSpPr>
        <p:spPr>
          <a:xfrm>
            <a:off x="3952856" y="5498887"/>
            <a:ext cx="0" cy="1382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50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42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 animBg="1"/>
      <p:bldP spid="13" grpId="0"/>
      <p:bldP spid="27" grpId="0"/>
      <p:bldP spid="53" grpId="0"/>
      <p:bldP spid="54" grpId="0"/>
      <p:bldP spid="55" grpId="0" uiExpand="1" build="p"/>
      <p:bldP spid="60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60C97-A12B-DA5C-E3DD-D086BEDD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119730-333B-65B1-C423-FD518B427C7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410C5775-5CBB-8131-E8E6-E27589922A5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Números Reales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1B7C8377-4CC8-F030-FA12-481AED215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F428D2B-D9BD-D6E3-1197-FC5CF325F2E1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D5F3C556-DD0E-75DA-5B6B-772F5DB35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9BF630EE-8794-29A6-1B27-AEDC9B74B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D3395A1-2A41-00AD-A9BF-5D0AA9137F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BD8A6F9-06B6-498A-786C-28B5E1CF2CA2}"/>
                  </a:ext>
                </a:extLst>
              </p:cNvPr>
              <p:cNvSpPr txBox="1"/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BD8A6F9-06B6-498A-786C-28B5E1CF2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2359485"/>
                <a:ext cx="254140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Marco 10">
            <a:extLst>
              <a:ext uri="{FF2B5EF4-FFF2-40B4-BE49-F238E27FC236}">
                <a16:creationId xmlns:a16="http://schemas.microsoft.com/office/drawing/2014/main" id="{3F1E0E28-9672-987C-CBC3-3DE3840AA283}"/>
              </a:ext>
            </a:extLst>
          </p:cNvPr>
          <p:cNvSpPr/>
          <p:nvPr/>
        </p:nvSpPr>
        <p:spPr>
          <a:xfrm>
            <a:off x="535084" y="1438340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AA7DD493-F259-8ED5-6A21-638DAF3C00AC}"/>
              </a:ext>
            </a:extLst>
          </p:cNvPr>
          <p:cNvSpPr txBox="1"/>
          <p:nvPr/>
        </p:nvSpPr>
        <p:spPr>
          <a:xfrm>
            <a:off x="535084" y="144562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semiabierto (a, b]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incluyendo b, pero no a.</a:t>
            </a:r>
            <a:endParaRPr lang="es-ES" sz="3200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49D6789-E8AF-15BF-1BB6-E10F9357BF56}"/>
              </a:ext>
            </a:extLst>
          </p:cNvPr>
          <p:cNvSpPr txBox="1"/>
          <p:nvPr/>
        </p:nvSpPr>
        <p:spPr>
          <a:xfrm>
            <a:off x="535084" y="959418"/>
            <a:ext cx="6121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</a:rPr>
              <a:t>INTERVALO SEMIABIERTO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73BE6D9F-E051-1C3E-A19B-F67CF9A6DDCA}"/>
              </a:ext>
            </a:extLst>
          </p:cNvPr>
          <p:cNvGrpSpPr/>
          <p:nvPr/>
        </p:nvGrpSpPr>
        <p:grpSpPr>
          <a:xfrm>
            <a:off x="2714625" y="5309949"/>
            <a:ext cx="6667500" cy="538401"/>
            <a:chOff x="2714625" y="5309949"/>
            <a:chExt cx="6667500" cy="538401"/>
          </a:xfrm>
        </p:grpSpPr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8E75ACC8-F481-C0A5-2B50-30AB9AC680A7}"/>
                </a:ext>
              </a:extLst>
            </p:cNvPr>
            <p:cNvCxnSpPr>
              <a:cxnSpLocks/>
            </p:cNvCxnSpPr>
            <p:nvPr/>
          </p:nvCxnSpPr>
          <p:spPr>
            <a:xfrm>
              <a:off x="2714625" y="5781675"/>
              <a:ext cx="66675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DF726450-47E5-74DA-74D6-D639299AD4E9}"/>
                </a:ext>
              </a:extLst>
            </p:cNvPr>
            <p:cNvCxnSpPr>
              <a:cxnSpLocks/>
            </p:cNvCxnSpPr>
            <p:nvPr/>
          </p:nvCxnSpPr>
          <p:spPr>
            <a:xfrm>
              <a:off x="3943350" y="5781675"/>
              <a:ext cx="3905250" cy="0"/>
            </a:xfrm>
            <a:prstGeom prst="line">
              <a:avLst/>
            </a:prstGeom>
            <a:ln w="38100">
              <a:solidFill>
                <a:srgbClr val="EF424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86609A8-D0A9-D4CF-C922-EBD208212F9B}"/>
                </a:ext>
              </a:extLst>
            </p:cNvPr>
            <p:cNvSpPr txBox="1"/>
            <p:nvPr/>
          </p:nvSpPr>
          <p:spPr>
            <a:xfrm>
              <a:off x="3843337" y="5309949"/>
              <a:ext cx="219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i="1" dirty="0"/>
                <a:t>a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156159A1-11E6-8FAE-7AC3-4657AD7D0502}"/>
                </a:ext>
              </a:extLst>
            </p:cNvPr>
            <p:cNvSpPr txBox="1"/>
            <p:nvPr/>
          </p:nvSpPr>
          <p:spPr>
            <a:xfrm>
              <a:off x="7724775" y="5309949"/>
              <a:ext cx="219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i="1" dirty="0"/>
                <a:t>b</a:t>
              </a:r>
            </a:p>
          </p:txBody>
        </p: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08F5290E-6C63-C6BC-9BA5-8E0AE396FEB8}"/>
                </a:ext>
              </a:extLst>
            </p:cNvPr>
            <p:cNvCxnSpPr/>
            <p:nvPr/>
          </p:nvCxnSpPr>
          <p:spPr>
            <a:xfrm>
              <a:off x="3938578" y="5710059"/>
              <a:ext cx="0" cy="1382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EBE98055-B3E6-EC33-D9DA-AC3928C171AC}"/>
                </a:ext>
              </a:extLst>
            </p:cNvPr>
            <p:cNvSpPr/>
            <p:nvPr/>
          </p:nvSpPr>
          <p:spPr>
            <a:xfrm>
              <a:off x="7774781" y="5717381"/>
              <a:ext cx="128588" cy="1285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B39F916A-6173-379E-AABB-4B1BE769BEB5}"/>
                  </a:ext>
                </a:extLst>
              </p:cNvPr>
              <p:cNvSpPr txBox="1"/>
              <p:nvPr/>
            </p:nvSpPr>
            <p:spPr>
              <a:xfrm>
                <a:off x="4824072" y="4748914"/>
                <a:ext cx="254140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E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s-E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s-ES" sz="28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B39F916A-6173-379E-AABB-4B1BE769B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072" y="4748914"/>
                <a:ext cx="254140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!Marco 10">
            <a:extLst>
              <a:ext uri="{FF2B5EF4-FFF2-40B4-BE49-F238E27FC236}">
                <a16:creationId xmlns:a16="http://schemas.microsoft.com/office/drawing/2014/main" id="{0A17A12D-9C99-14A7-F7C5-00EFDA891E17}"/>
              </a:ext>
            </a:extLst>
          </p:cNvPr>
          <p:cNvSpPr/>
          <p:nvPr/>
        </p:nvSpPr>
        <p:spPr>
          <a:xfrm>
            <a:off x="535084" y="3726204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!CuadroTexto 1">
            <a:extLst>
              <a:ext uri="{FF2B5EF4-FFF2-40B4-BE49-F238E27FC236}">
                <a16:creationId xmlns:a16="http://schemas.microsoft.com/office/drawing/2014/main" id="{0C21C3BD-F58A-9F84-2771-41B125CCA7AE}"/>
              </a:ext>
            </a:extLst>
          </p:cNvPr>
          <p:cNvSpPr txBox="1"/>
          <p:nvPr/>
        </p:nvSpPr>
        <p:spPr>
          <a:xfrm>
            <a:off x="535084" y="373349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intervalo semiabierto (a, b] </a:t>
            </a:r>
            <a:r>
              <a:rPr lang="es-ES" sz="2000" b="1" dirty="0"/>
              <a:t>es el conjunto de todos los números comprendidos</a:t>
            </a:r>
          </a:p>
          <a:p>
            <a:r>
              <a:rPr lang="es-ES" sz="2000" b="1" dirty="0"/>
              <a:t>entre a y b, incluyendo b, pero no a.</a:t>
            </a:r>
            <a:endParaRPr lang="es-ES" sz="3200" b="1" dirty="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1F20B601-EDE0-B9C2-F789-9A921780D113}"/>
              </a:ext>
            </a:extLst>
          </p:cNvPr>
          <p:cNvGrpSpPr/>
          <p:nvPr/>
        </p:nvGrpSpPr>
        <p:grpSpPr>
          <a:xfrm>
            <a:off x="2714625" y="2835313"/>
            <a:ext cx="6667500" cy="536262"/>
            <a:chOff x="2714625" y="2835313"/>
            <a:chExt cx="6667500" cy="536262"/>
          </a:xfrm>
        </p:grpSpPr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C44BE497-A442-23E7-8124-F985E5B742D0}"/>
                </a:ext>
              </a:extLst>
            </p:cNvPr>
            <p:cNvCxnSpPr>
              <a:cxnSpLocks/>
            </p:cNvCxnSpPr>
            <p:nvPr/>
          </p:nvCxnSpPr>
          <p:spPr>
            <a:xfrm>
              <a:off x="2714625" y="3307039"/>
              <a:ext cx="66675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4C74DC82-9086-C44E-C826-A95E5859FDE2}"/>
                </a:ext>
              </a:extLst>
            </p:cNvPr>
            <p:cNvCxnSpPr>
              <a:cxnSpLocks/>
            </p:cNvCxnSpPr>
            <p:nvPr/>
          </p:nvCxnSpPr>
          <p:spPr>
            <a:xfrm>
              <a:off x="3943350" y="3307039"/>
              <a:ext cx="3905250" cy="0"/>
            </a:xfrm>
            <a:prstGeom prst="line">
              <a:avLst/>
            </a:prstGeom>
            <a:ln w="38100">
              <a:solidFill>
                <a:srgbClr val="EF424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B0315874-A0AB-087F-0CC7-73BDE071055A}"/>
                </a:ext>
              </a:extLst>
            </p:cNvPr>
            <p:cNvSpPr txBox="1"/>
            <p:nvPr/>
          </p:nvSpPr>
          <p:spPr>
            <a:xfrm>
              <a:off x="3843337" y="2835313"/>
              <a:ext cx="219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i="1" dirty="0"/>
                <a:t>a</a:t>
              </a: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B507EE08-DEF8-5570-059A-F6436F2EA946}"/>
                </a:ext>
              </a:extLst>
            </p:cNvPr>
            <p:cNvSpPr txBox="1"/>
            <p:nvPr/>
          </p:nvSpPr>
          <p:spPr>
            <a:xfrm>
              <a:off x="7724775" y="2835313"/>
              <a:ext cx="219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i="1" dirty="0"/>
                <a:t>b</a:t>
              </a:r>
            </a:p>
          </p:txBody>
        </p: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44342E3-2504-86B5-4CA1-696BBF30D7DA}"/>
                </a:ext>
              </a:extLst>
            </p:cNvPr>
            <p:cNvCxnSpPr>
              <a:cxnSpLocks/>
            </p:cNvCxnSpPr>
            <p:nvPr/>
          </p:nvCxnSpPr>
          <p:spPr>
            <a:xfrm>
              <a:off x="7849543" y="3233284"/>
              <a:ext cx="0" cy="13829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52C14811-1813-2F7B-289D-922735E45F43}"/>
                </a:ext>
              </a:extLst>
            </p:cNvPr>
            <p:cNvSpPr/>
            <p:nvPr/>
          </p:nvSpPr>
          <p:spPr>
            <a:xfrm>
              <a:off x="3879322" y="3240122"/>
              <a:ext cx="128588" cy="12858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0020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6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" grpId="0" animBg="1"/>
      <p:bldP spid="13" grpId="0"/>
      <p:bldP spid="27" grpId="0"/>
      <p:bldP spid="36" grpId="0"/>
      <p:bldP spid="41" grpId="0" animBg="1"/>
      <p:bldP spid="4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346</Words>
  <Application>Microsoft Office PowerPoint</Application>
  <PresentationFormat>Panorámica</PresentationFormat>
  <Paragraphs>61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Agency FB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73</cp:revision>
  <dcterms:created xsi:type="dcterms:W3CDTF">2024-08-18T18:48:07Z</dcterms:created>
  <dcterms:modified xsi:type="dcterms:W3CDTF">2024-11-05T20:11:01Z</dcterms:modified>
</cp:coreProperties>
</file>