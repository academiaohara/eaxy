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4E95D9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29/10/2024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0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9516569"/>
                  </p:ext>
                </p:extLst>
              </p:nvPr>
            </p:nvGraphicFramePr>
            <p:xfrm>
              <a:off x="544238" y="3691941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4238" y="3691941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0687732"/>
                  </p:ext>
                </p:extLst>
              </p:nvPr>
            </p:nvGraphicFramePr>
            <p:xfrm>
              <a:off x="543440" y="4317784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3440" y="4317784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30205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ECUACIONES DE SEGUNDO GRADO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64633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OTROS TIPOS DE ECUACIONES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2419477"/>
                  </p:ext>
                </p:extLst>
              </p:nvPr>
            </p:nvGraphicFramePr>
            <p:xfrm>
              <a:off x="545068" y="306296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62965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7209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SISTEMAS DE ECUACIONES LINEALES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A97E52-B3A1-17D3-CF9C-A347A6C03AD3}"/>
              </a:ext>
            </a:extLst>
          </p:cNvPr>
          <p:cNvSpPr txBox="1"/>
          <p:nvPr/>
        </p:nvSpPr>
        <p:spPr>
          <a:xfrm>
            <a:off x="861140" y="48986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SISTEMAS DE ECUACIONES NO LINEALES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3828104"/>
                  </p:ext>
                </p:extLst>
              </p:nvPr>
            </p:nvGraphicFramePr>
            <p:xfrm>
              <a:off x="545068" y="4943586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943586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221B8F0F-C152-B624-272E-D36B389DCBB6}"/>
              </a:ext>
            </a:extLst>
          </p:cNvPr>
          <p:cNvSpPr txBox="1"/>
          <p:nvPr/>
        </p:nvSpPr>
        <p:spPr>
          <a:xfrm>
            <a:off x="858596" y="5523697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INECUACIONES DE PRIMER GRADO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00C9799C-9BAC-B79A-77CA-3EED2AC30A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53828104"/>
                  </p:ext>
                </p:extLst>
              </p:nvPr>
            </p:nvGraphicFramePr>
            <p:xfrm>
              <a:off x="542524" y="5568682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Modelo 3D 3" descr="Pirámide gris tetragonal">
                <a:extLst>
                  <a:ext uri="{FF2B5EF4-FFF2-40B4-BE49-F238E27FC236}">
                    <a16:creationId xmlns:a16="http://schemas.microsoft.com/office/drawing/2014/main" id="{00C9799C-9BAC-B79A-77CA-3EED2AC30A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2524" y="5568682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250"/>
                            </p:stCondLst>
                            <p:childTnLst>
                              <p:par>
                                <p:cTn id="5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5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17" grpId="0"/>
      <p:bldP spid="17" grpId="1"/>
      <p:bldP spid="21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75D65971-1AEB-A63B-2744-36B17A9529E4}"/>
              </a:ext>
            </a:extLst>
          </p:cNvPr>
          <p:cNvSpPr txBox="1"/>
          <p:nvPr/>
        </p:nvSpPr>
        <p:spPr>
          <a:xfrm>
            <a:off x="535084" y="1067760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FACTORIZADAS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48876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4960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resolver un producto de varios factores igualado a cero,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igualamos a cero cada uno de los factores</a:t>
            </a:r>
            <a:r>
              <a:rPr lang="es-ES" sz="2000" b="1" dirty="0"/>
              <a:t> y resolvemos las correspondientes ecuaciones.</a:t>
            </a:r>
            <a:endParaRPr lang="es-ES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2A6E4E-D310-9144-648D-CF9DB11C1B7C}"/>
              </a:ext>
            </a:extLst>
          </p:cNvPr>
          <p:cNvSpPr txBox="1"/>
          <p:nvPr/>
        </p:nvSpPr>
        <p:spPr>
          <a:xfrm>
            <a:off x="535084" y="2358564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DD2CBA-0587-EC5D-4938-37E4FEEB5B39}"/>
                  </a:ext>
                </a:extLst>
              </p:cNvPr>
              <p:cNvSpPr txBox="1"/>
              <p:nvPr/>
            </p:nvSpPr>
            <p:spPr>
              <a:xfrm>
                <a:off x="2163673" y="3011330"/>
                <a:ext cx="35655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s-E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d>
                        <m:dPr>
                          <m:ctrlPr>
                            <a:rPr lang="es-ES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0DDD2CBA-0587-EC5D-4938-37E4FEEB5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673" y="3011330"/>
                <a:ext cx="356550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FF17557-5A25-8F7E-301C-0D0836FA57FD}"/>
                  </a:ext>
                </a:extLst>
              </p:cNvPr>
              <p:cNvSpPr txBox="1"/>
              <p:nvPr/>
            </p:nvSpPr>
            <p:spPr>
              <a:xfrm>
                <a:off x="5729177" y="2543230"/>
                <a:ext cx="19077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FF17557-5A25-8F7E-301C-0D0836FA5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177" y="2543230"/>
                <a:ext cx="1907701" cy="400110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398F5694-8E68-6EBE-FD73-B98CC57DA863}"/>
              </a:ext>
            </a:extLst>
          </p:cNvPr>
          <p:cNvGrpSpPr/>
          <p:nvPr/>
        </p:nvGrpSpPr>
        <p:grpSpPr>
          <a:xfrm>
            <a:off x="5473171" y="2743285"/>
            <a:ext cx="256006" cy="1026011"/>
            <a:chOff x="5473171" y="2743285"/>
            <a:chExt cx="256006" cy="1026011"/>
          </a:xfrm>
        </p:grpSpPr>
        <p:sp>
          <p:nvSpPr>
            <p:cNvPr id="10" name="Abrir llave 9">
              <a:extLst>
                <a:ext uri="{FF2B5EF4-FFF2-40B4-BE49-F238E27FC236}">
                  <a16:creationId xmlns:a16="http://schemas.microsoft.com/office/drawing/2014/main" id="{FC421EA6-C299-6E91-7887-3DF76E564032}"/>
                </a:ext>
              </a:extLst>
            </p:cNvPr>
            <p:cNvSpPr/>
            <p:nvPr/>
          </p:nvSpPr>
          <p:spPr>
            <a:xfrm>
              <a:off x="5473171" y="2743285"/>
              <a:ext cx="256006" cy="1026011"/>
            </a:xfrm>
            <a:prstGeom prst="leftBrace">
              <a:avLst>
                <a:gd name="adj1" fmla="val 0"/>
                <a:gd name="adj2" fmla="val 47892"/>
              </a:avLst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CE3C6C48-1A6C-6B44-B60E-FCAD649148B8}"/>
                </a:ext>
              </a:extLst>
            </p:cNvPr>
            <p:cNvCxnSpPr/>
            <p:nvPr/>
          </p:nvCxnSpPr>
          <p:spPr>
            <a:xfrm>
              <a:off x="5504574" y="3234855"/>
              <a:ext cx="202726" cy="0"/>
            </a:xfrm>
            <a:prstGeom prst="lin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2664129-07C8-BDC3-6433-91F3293355A1}"/>
                  </a:ext>
                </a:extLst>
              </p:cNvPr>
              <p:cNvSpPr txBox="1"/>
              <p:nvPr/>
            </p:nvSpPr>
            <p:spPr>
              <a:xfrm>
                <a:off x="5729176" y="3011330"/>
                <a:ext cx="26972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−1=0→</m:t>
                    </m:r>
                    <m:sSub>
                      <m:sSubPr>
                        <m:ctrlP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62664129-07C8-BDC3-6433-91F329335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176" y="3011330"/>
                <a:ext cx="2697274" cy="400110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FAC7B1A-877D-F7A3-F6F9-53C167CDCD7D}"/>
                  </a:ext>
                </a:extLst>
              </p:cNvPr>
              <p:cNvSpPr txBox="1"/>
              <p:nvPr/>
            </p:nvSpPr>
            <p:spPr>
              <a:xfrm>
                <a:off x="5729176" y="3569241"/>
                <a:ext cx="22019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−5</m:t>
                    </m:r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+6=0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8FAC7B1A-877D-F7A3-F6F9-53C167CDC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176" y="3569241"/>
                <a:ext cx="22019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brir llave 15">
            <a:extLst>
              <a:ext uri="{FF2B5EF4-FFF2-40B4-BE49-F238E27FC236}">
                <a16:creationId xmlns:a16="http://schemas.microsoft.com/office/drawing/2014/main" id="{80086B75-0710-2EC5-E7B2-9A9F5223C314}"/>
              </a:ext>
            </a:extLst>
          </p:cNvPr>
          <p:cNvSpPr/>
          <p:nvPr/>
        </p:nvSpPr>
        <p:spPr>
          <a:xfrm>
            <a:off x="7630657" y="3563133"/>
            <a:ext cx="200329" cy="462778"/>
          </a:xfrm>
          <a:prstGeom prst="leftBrace">
            <a:avLst>
              <a:gd name="adj1" fmla="val 0"/>
              <a:gd name="adj2" fmla="val 47892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72A29FA-83E8-CE5A-0CD3-60D0A44F794D}"/>
                  </a:ext>
                </a:extLst>
              </p:cNvPr>
              <p:cNvSpPr txBox="1"/>
              <p:nvPr/>
            </p:nvSpPr>
            <p:spPr>
              <a:xfrm>
                <a:off x="7837207" y="3351560"/>
                <a:ext cx="22019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0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72A29FA-83E8-CE5A-0CD3-60D0A44F7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207" y="3351560"/>
                <a:ext cx="2201974" cy="400110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C97814-BB85-DEA9-AA4B-2A390AB80D5C}"/>
                  </a:ext>
                </a:extLst>
              </p:cNvPr>
              <p:cNvSpPr txBox="1"/>
              <p:nvPr/>
            </p:nvSpPr>
            <p:spPr>
              <a:xfrm>
                <a:off x="7830986" y="3794522"/>
                <a:ext cx="22019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ES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2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DC97814-BB85-DEA9-AA4B-2A390AB80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986" y="3794522"/>
                <a:ext cx="2201974" cy="40011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4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 animBg="1"/>
      <p:bldP spid="66" grpId="0"/>
      <p:bldP spid="4" grpId="0"/>
      <p:bldP spid="5" grpId="0"/>
      <p:bldP spid="11" grpId="0"/>
      <p:bldP spid="14" grpId="0"/>
      <p:bldP spid="15" grpId="0"/>
      <p:bldP spid="16" grpId="0" animBg="1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D94740-0E52-66D8-20DF-02BA3B48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F6EF49B-60A6-16D7-4608-C68D8A3D70C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86556A0-AF96-C334-5002-0F4C43BDAA22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1F24B3BE-98D7-ACB9-5944-C6C24D69F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93ADC7F-1A11-E773-7801-91AF08A626C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CB2FCCD6-81D2-A43C-2701-DEA450FC0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23FBDC1-2BA0-0046-B8DC-426804257A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8894882-E857-2E84-390C-29F6A4F56F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DE63A746-D5C4-F360-4F30-B66801A685A5}"/>
              </a:ext>
            </a:extLst>
          </p:cNvPr>
          <p:cNvSpPr txBox="1"/>
          <p:nvPr/>
        </p:nvSpPr>
        <p:spPr>
          <a:xfrm>
            <a:off x="535084" y="1067760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CON RADICALES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BA17D888-9139-8BFB-44B5-3B448926AB25}"/>
              </a:ext>
            </a:extLst>
          </p:cNvPr>
          <p:cNvSpPr/>
          <p:nvPr/>
        </p:nvSpPr>
        <p:spPr>
          <a:xfrm>
            <a:off x="535084" y="148876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02AAF7B8-B2CC-FB4D-52BD-B902DEA572FD}"/>
              </a:ext>
            </a:extLst>
          </p:cNvPr>
          <p:cNvSpPr txBox="1"/>
          <p:nvPr/>
        </p:nvSpPr>
        <p:spPr>
          <a:xfrm>
            <a:off x="535084" y="14960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Aislamos el radical en un miembro, pasamos el resto al otro miembro. Luego elevamos los 2 miembros al cuadrado para deshacer el radical.</a:t>
            </a:r>
            <a:endParaRPr lang="es-ES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F877C4-625D-A15F-D9B8-1448338408B7}"/>
              </a:ext>
            </a:extLst>
          </p:cNvPr>
          <p:cNvSpPr txBox="1"/>
          <p:nvPr/>
        </p:nvSpPr>
        <p:spPr>
          <a:xfrm>
            <a:off x="535084" y="2358564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3358A19-B7A1-F50D-D47A-DCEBA49C3DE3}"/>
                  </a:ext>
                </a:extLst>
              </p:cNvPr>
              <p:cNvSpPr txBox="1"/>
              <p:nvPr/>
            </p:nvSpPr>
            <p:spPr>
              <a:xfrm>
                <a:off x="935317" y="2817543"/>
                <a:ext cx="10321366" cy="615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rad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+2=2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ad>
                        <m:radPr>
                          <m:degHide m:val="on"/>
                          <m:ctrlPr>
                            <a:rPr lang="es-ES" sz="20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rad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s-E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s-ES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sz="20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s-ES" sz="20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s-ES" sz="2000" i="1" dirty="0">
                                      <a:latin typeface="Cambria Math" panose="02040503050406030204" pitchFamily="18" charset="0"/>
                                    </a:rPr>
                                    <m:t>+7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3358A19-B7A1-F50D-D47A-DCEBA49C3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17" y="2817543"/>
                <a:ext cx="10321366" cy="6156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BAD62F-F4D9-E56E-DF53-8DC229B1510B}"/>
                  </a:ext>
                </a:extLst>
              </p:cNvPr>
              <p:cNvSpPr txBox="1"/>
              <p:nvPr/>
            </p:nvSpPr>
            <p:spPr>
              <a:xfrm>
                <a:off x="935317" y="3604134"/>
                <a:ext cx="78590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i="1" dirty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+4→</m:t>
                      </m:r>
                      <m:sSup>
                        <m:sSupPr>
                          <m:ctrlP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−8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8BAD62F-F4D9-E56E-DF53-8DC229B15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17" y="3604134"/>
                <a:ext cx="785905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49B21260-42A3-65A6-4CCB-776436AB09FA}"/>
              </a:ext>
            </a:extLst>
          </p:cNvPr>
          <p:cNvSpPr/>
          <p:nvPr/>
        </p:nvSpPr>
        <p:spPr>
          <a:xfrm>
            <a:off x="6499412" y="3604134"/>
            <a:ext cx="2026023" cy="4001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D680F68-F2CE-2C13-64B5-93AF466CE1A0}"/>
              </a:ext>
            </a:extLst>
          </p:cNvPr>
          <p:cNvSpPr txBox="1"/>
          <p:nvPr/>
        </p:nvSpPr>
        <p:spPr>
          <a:xfrm>
            <a:off x="8455212" y="3619523"/>
            <a:ext cx="25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Ec. Segundo grado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7BCCE3E-0F5E-3A29-8EFF-DA76183F6916}"/>
                  </a:ext>
                </a:extLst>
              </p:cNvPr>
              <p:cNvSpPr txBox="1"/>
              <p:nvPr/>
            </p:nvSpPr>
            <p:spPr>
              <a:xfrm>
                <a:off x="1857596" y="4432214"/>
                <a:ext cx="8476808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64−4∙3∙(−3)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∙3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37BCCE3E-0F5E-3A29-8EFF-DA76183F6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596" y="4432214"/>
                <a:ext cx="8476808" cy="884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156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 animBg="1"/>
      <p:bldP spid="66" grpId="0"/>
      <p:bldP spid="4" grpId="0"/>
      <p:bldP spid="17" grpId="0"/>
      <p:bldP spid="5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2032D-70BD-AD75-7EDC-81FFAAD3A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634EAB6-DDFD-2BBD-E168-23A3DA605D3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449DD4D-ACAE-ACDA-70F9-9BF15C92732B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414CCF13-C078-C1CD-A711-CBF74FBF1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6434FFB-F024-ADDC-B55A-D1DF88DA7CC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E25773B-5572-FDD7-63A5-FC0CDD4FB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DA4C74F8-1FF3-8EE6-3EC3-C18EFAC861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F8CA8A11-E753-AF1A-39DF-EC1EC0A4E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4CB88DCA-B374-72A6-376B-F10560E9261A}"/>
              </a:ext>
            </a:extLst>
          </p:cNvPr>
          <p:cNvSpPr txBox="1"/>
          <p:nvPr/>
        </p:nvSpPr>
        <p:spPr>
          <a:xfrm>
            <a:off x="535084" y="1067760"/>
            <a:ext cx="521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CON X EN EL DENOMINADOR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BF7F0CF5-5D4F-B833-F74D-6AF4F1196C57}"/>
              </a:ext>
            </a:extLst>
          </p:cNvPr>
          <p:cNvSpPr/>
          <p:nvPr/>
        </p:nvSpPr>
        <p:spPr>
          <a:xfrm>
            <a:off x="535084" y="148876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74DB4287-F89C-7C7A-7FED-E7BB935478D3}"/>
              </a:ext>
            </a:extLst>
          </p:cNvPr>
          <p:cNvSpPr txBox="1"/>
          <p:nvPr/>
        </p:nvSpPr>
        <p:spPr>
          <a:xfrm>
            <a:off x="535084" y="14960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Multiplicamos a ambos miembros por el producto de los polinomios de los denominadores.</a:t>
            </a:r>
            <a:endParaRPr lang="es-ES" sz="32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C6E313-6579-54FE-915B-A415C4AE9433}"/>
              </a:ext>
            </a:extLst>
          </p:cNvPr>
          <p:cNvSpPr txBox="1"/>
          <p:nvPr/>
        </p:nvSpPr>
        <p:spPr>
          <a:xfrm>
            <a:off x="535084" y="2358564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167E66D-A523-FC37-B1A2-C983F74DD850}"/>
                  </a:ext>
                </a:extLst>
              </p:cNvPr>
              <p:cNvSpPr txBox="1"/>
              <p:nvPr/>
            </p:nvSpPr>
            <p:spPr>
              <a:xfrm>
                <a:off x="2278528" y="2800280"/>
                <a:ext cx="7634943" cy="783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+5=</m:t>
                      </m:r>
                      <m:f>
                        <m:f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num>
                            <m:den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b="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b="0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dirty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num>
                            <m:den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den>
                          </m:f>
                        </m:e>
                      </m:d>
                      <m:r>
                        <a:rPr lang="es-E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 dirty="0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i="1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 dirty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B167E66D-A523-FC37-B1A2-C983F74DD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528" y="2800280"/>
                <a:ext cx="7634943" cy="7838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E10A8CA-6457-89B3-84F2-C9CE9DD225E5}"/>
                  </a:ext>
                </a:extLst>
              </p:cNvPr>
              <p:cNvSpPr txBox="1"/>
              <p:nvPr/>
            </p:nvSpPr>
            <p:spPr>
              <a:xfrm>
                <a:off x="1560230" y="3780378"/>
                <a:ext cx="90715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200∙</m:t>
                      </m:r>
                      <m:d>
                        <m:d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E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+5</m:t>
                      </m:r>
                      <m:r>
                        <a:rPr lang="es-E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=200∙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→200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−400+5</m:t>
                      </m:r>
                      <m:sSup>
                        <m:sSup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=200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E10A8CA-6457-89B3-84F2-C9CE9DD22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230" y="3780378"/>
                <a:ext cx="907153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1E6E1A0-427E-FEFD-8909-C05FAF8C1DBB}"/>
                  </a:ext>
                </a:extLst>
              </p:cNvPr>
              <p:cNvSpPr txBox="1"/>
              <p:nvPr/>
            </p:nvSpPr>
            <p:spPr>
              <a:xfrm>
                <a:off x="72090" y="4358636"/>
                <a:ext cx="90715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−10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−400=</m:t>
                      </m:r>
                      <m:r>
                        <a:rPr lang="es-ES" sz="20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−80=0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31E6E1A0-427E-FEFD-8909-C05FAF8C1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0" y="4358636"/>
                <a:ext cx="907153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id="{B50771B4-D76B-CD25-4E81-48B552ECD14C}"/>
              </a:ext>
            </a:extLst>
          </p:cNvPr>
          <p:cNvSpPr/>
          <p:nvPr/>
        </p:nvSpPr>
        <p:spPr>
          <a:xfrm>
            <a:off x="4939553" y="4359301"/>
            <a:ext cx="2061883" cy="4001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73FDF4A-43C1-071B-8B15-58E276F6D129}"/>
              </a:ext>
            </a:extLst>
          </p:cNvPr>
          <p:cNvSpPr txBox="1"/>
          <p:nvPr/>
        </p:nvSpPr>
        <p:spPr>
          <a:xfrm>
            <a:off x="7064188" y="4355582"/>
            <a:ext cx="25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Ec. Segundo grado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295F462-7419-147C-A3A2-FC404CBE2FC3}"/>
                  </a:ext>
                </a:extLst>
              </p:cNvPr>
              <p:cNvSpPr txBox="1"/>
              <p:nvPr/>
            </p:nvSpPr>
            <p:spPr>
              <a:xfrm>
                <a:off x="1910430" y="5177352"/>
                <a:ext cx="8371138" cy="6642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4−4∙1∙(−80)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324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295F462-7419-147C-A3A2-FC404CBE2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430" y="5177352"/>
                <a:ext cx="8371138" cy="6642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202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7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 animBg="1"/>
      <p:bldP spid="66" grpId="0"/>
      <p:bldP spid="4" grpId="0"/>
      <p:bldP spid="17" grpId="0"/>
      <p:bldP spid="13" grpId="0"/>
      <p:bldP spid="14" grpId="0"/>
      <p:bldP spid="15" grpId="0" animBg="1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A6A40-AAA2-78B9-E150-F2862897E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505346C-AD66-6C4C-8EDA-FEC9B5A5412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E32CD9A-7079-C2C6-58EA-929B2ADE9EA4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Ecuaciones, Inecuaciones y Sistemas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2D722468-9E5B-437E-5DE5-D81224410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4AFB278-A383-39FC-3397-0BBF68444F39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ACB60F8-76A2-3980-5493-ADF640741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90C6308-6686-6EF5-3456-FE787B477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69F147FE-B8BF-E423-E566-F2D114384C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E8F83868-2D1B-B3F6-C05C-C363CA1FB468}"/>
              </a:ext>
            </a:extLst>
          </p:cNvPr>
          <p:cNvSpPr txBox="1"/>
          <p:nvPr/>
        </p:nvSpPr>
        <p:spPr>
          <a:xfrm>
            <a:off x="535084" y="1067760"/>
            <a:ext cx="521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ECUACIONES BICUADRADAS</a:t>
            </a:r>
          </a:p>
        </p:txBody>
      </p:sp>
      <p:sp>
        <p:nvSpPr>
          <p:cNvPr id="65" name="!Marco 10">
            <a:extLst>
              <a:ext uri="{FF2B5EF4-FFF2-40B4-BE49-F238E27FC236}">
                <a16:creationId xmlns:a16="http://schemas.microsoft.com/office/drawing/2014/main" id="{FEC5E2B3-043A-19DC-9862-F90F7EE5F1D7}"/>
              </a:ext>
            </a:extLst>
          </p:cNvPr>
          <p:cNvSpPr/>
          <p:nvPr/>
        </p:nvSpPr>
        <p:spPr>
          <a:xfrm>
            <a:off x="535084" y="1488768"/>
            <a:ext cx="11121832" cy="71517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8EA1138-EE08-B68D-7B77-91A55BAB8A61}"/>
                  </a:ext>
                </a:extLst>
              </p:cNvPr>
              <p:cNvSpPr txBox="1"/>
              <p:nvPr/>
            </p:nvSpPr>
            <p:spPr>
              <a:xfrm>
                <a:off x="535084" y="1496055"/>
                <a:ext cx="11121832" cy="714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Son ecuaciones de 4.° grado sin términos de grado impar. Para resolverlas, hacemos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s-ES" sz="2000" b="1" dirty="0"/>
                  <a:t> y, por tanto,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s-E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ES" sz="3200" b="1" dirty="0"/>
              </a:p>
            </p:txBody>
          </p:sp>
        </mc:Choice>
        <mc:Fallback xmlns="">
          <p:sp>
            <p:nvSpPr>
              <p:cNvPr id="66" name="!CuadroTexto 1">
                <a:extLst>
                  <a:ext uri="{FF2B5EF4-FFF2-40B4-BE49-F238E27FC236}">
                    <a16:creationId xmlns:a16="http://schemas.microsoft.com/office/drawing/2014/main" id="{98EA1138-EE08-B68D-7B77-91A55BAB8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496055"/>
                <a:ext cx="11121832" cy="714876"/>
              </a:xfrm>
              <a:prstGeom prst="rect">
                <a:avLst/>
              </a:prstGeom>
              <a:blipFill>
                <a:blip r:embed="rId6"/>
                <a:stretch>
                  <a:fillRect l="-603" t="-4237" b="-1355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D959A1E4-3DCE-D71B-1445-EB95FAE78F18}"/>
              </a:ext>
            </a:extLst>
          </p:cNvPr>
          <p:cNvSpPr txBox="1"/>
          <p:nvPr/>
        </p:nvSpPr>
        <p:spPr>
          <a:xfrm>
            <a:off x="535084" y="2851622"/>
            <a:ext cx="356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5116DF8-88BE-90F8-A111-9829144288BD}"/>
                  </a:ext>
                </a:extLst>
              </p:cNvPr>
              <p:cNvSpPr txBox="1"/>
              <p:nvPr/>
            </p:nvSpPr>
            <p:spPr>
              <a:xfrm>
                <a:off x="1319304" y="3293338"/>
                <a:ext cx="76349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s-E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−13</m:t>
                      </m:r>
                      <m:sSup>
                        <m:sSupPr>
                          <m:ctrlPr>
                            <a:rPr lang="es-E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</a:rPr>
                        <m:t>+36=0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s-E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−13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s-E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+36=0</m:t>
                      </m:r>
                    </m:oMath>
                  </m:oMathPara>
                </a14:m>
                <a:endParaRPr lang="es-E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5116DF8-88BE-90F8-A111-982914428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04" y="3293338"/>
                <a:ext cx="763494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DA85DE50-2C62-5F42-FF45-0AD3E0361F66}"/>
              </a:ext>
            </a:extLst>
          </p:cNvPr>
          <p:cNvSpPr txBox="1"/>
          <p:nvPr/>
        </p:nvSpPr>
        <p:spPr>
          <a:xfrm>
            <a:off x="7503459" y="3330947"/>
            <a:ext cx="2542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Ec. Segundo grado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F596B53-4C08-6B26-8D47-16A7D5A2C805}"/>
                  </a:ext>
                </a:extLst>
              </p:cNvPr>
              <p:cNvSpPr txBox="1"/>
              <p:nvPr/>
            </p:nvSpPr>
            <p:spPr>
              <a:xfrm>
                <a:off x="1828646" y="4079424"/>
                <a:ext cx="8534708" cy="6627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169−4∙1∙36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</m:t>
                          </m:r>
                        </m:den>
                      </m:f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25</m:t>
                              </m:r>
                            </m:e>
                          </m:rad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F596B53-4C08-6B26-8D47-16A7D5A2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646" y="4079424"/>
                <a:ext cx="8534708" cy="6627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!Marco 10">
            <a:extLst>
              <a:ext uri="{FF2B5EF4-FFF2-40B4-BE49-F238E27FC236}">
                <a16:creationId xmlns:a16="http://schemas.microsoft.com/office/drawing/2014/main" id="{A487D69C-F35C-802D-4529-3515D6F2984F}"/>
              </a:ext>
            </a:extLst>
          </p:cNvPr>
          <p:cNvSpPr/>
          <p:nvPr/>
        </p:nvSpPr>
        <p:spPr>
          <a:xfrm>
            <a:off x="535084" y="2332238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22DCF528-9448-66BF-1350-301428578FC4}"/>
              </a:ext>
            </a:extLst>
          </p:cNvPr>
          <p:cNvSpPr txBox="1"/>
          <p:nvPr/>
        </p:nvSpPr>
        <p:spPr>
          <a:xfrm>
            <a:off x="535084" y="233952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obtiene así una ecuación de segundo grado cuya incógnita es z:</a:t>
            </a:r>
            <a:endParaRPr lang="es-ES" sz="3200" b="1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23B901-2A34-BC09-35C3-7F876D0248F1}"/>
              </a:ext>
            </a:extLst>
          </p:cNvPr>
          <p:cNvSpPr/>
          <p:nvPr/>
        </p:nvSpPr>
        <p:spPr>
          <a:xfrm>
            <a:off x="5351928" y="3317840"/>
            <a:ext cx="2151531" cy="4001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025C3C2-FB5F-15A2-108C-A7170F1E7CD4}"/>
                  </a:ext>
                </a:extLst>
              </p:cNvPr>
              <p:cNvSpPr txBox="1"/>
              <p:nvPr/>
            </p:nvSpPr>
            <p:spPr>
              <a:xfrm>
                <a:off x="2988218" y="4964358"/>
                <a:ext cx="6217022" cy="1439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=9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</m:t>
                              </m:r>
                              <m:rad>
                                <m:radPr>
                                  <m:degHide m:val="on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rad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=3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=±</m:t>
                              </m:r>
                              <m:rad>
                                <m:radPr>
                                  <m:degHide m:val="on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rad>
                              <m:r>
                                <a:rPr lang="es-E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{"/>
                                  <m:endChr m:val=""/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E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ES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</m:sSub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s-ES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025C3C2-FB5F-15A2-108C-A7170F1E7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218" y="4964358"/>
                <a:ext cx="6217022" cy="14396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234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725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7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 animBg="1"/>
      <p:bldP spid="66" grpId="0"/>
      <p:bldP spid="4" grpId="0"/>
      <p:bldP spid="17" grpId="0"/>
      <p:bldP spid="16" grpId="0"/>
      <p:bldP spid="18" grpId="0"/>
      <p:bldP spid="5" grpId="0" animBg="1"/>
      <p:bldP spid="10" grpId="0"/>
      <p:bldP spid="11" grpId="0" animBg="1"/>
      <p:bldP spid="1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374</Words>
  <Application>Microsoft Office PowerPoint</Application>
  <PresentationFormat>Panorámica</PresentationFormat>
  <Paragraphs>44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84</cp:revision>
  <dcterms:created xsi:type="dcterms:W3CDTF">2024-08-18T18:48:07Z</dcterms:created>
  <dcterms:modified xsi:type="dcterms:W3CDTF">2024-10-29T15:43:37Z</dcterms:modified>
</cp:coreProperties>
</file>