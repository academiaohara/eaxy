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13/11/2024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996338"/>
                  </p:ext>
                </p:extLst>
              </p:nvPr>
            </p:nvGraphicFramePr>
            <p:xfrm>
              <a:off x="556199" y="3190399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199" y="3190399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4" name="!!Codo">
            <a:extLst>
              <a:ext uri="{FF2B5EF4-FFF2-40B4-BE49-F238E27FC236}">
                <a16:creationId xmlns:a16="http://schemas.microsoft.com/office/drawing/2014/main" id="{9851D408-100F-15D0-FA04-0501972564EB}"/>
              </a:ext>
            </a:extLst>
          </p:cNvPr>
          <p:cNvSpPr/>
          <p:nvPr/>
        </p:nvSpPr>
        <p:spPr>
          <a:xfrm>
            <a:off x="9866457" y="3325657"/>
            <a:ext cx="254649" cy="787674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3452439"/>
                  </p:ext>
                </p:extLst>
              </p:nvPr>
            </p:nvGraphicFramePr>
            <p:xfrm>
              <a:off x="556199" y="24581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6199" y="24581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4124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DIAGRAMA DE ÁRBOL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31404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COMBINACIONES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4" grpId="0" animBg="1"/>
      <p:bldP spid="16" grpId="0"/>
      <p:bldP spid="21" grpId="0"/>
      <p:bldP spid="2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!!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11" name="!!Codo">
            <a:extLst>
              <a:ext uri="{FF2B5EF4-FFF2-40B4-BE49-F238E27FC236}">
                <a16:creationId xmlns:a16="http://schemas.microsoft.com/office/drawing/2014/main" id="{F5CB5C92-6906-8D29-3719-AD3FF502A706}"/>
              </a:ext>
            </a:extLst>
          </p:cNvPr>
          <p:cNvSpPr/>
          <p:nvPr/>
        </p:nvSpPr>
        <p:spPr>
          <a:xfrm flipH="1">
            <a:off x="11396019" y="5764120"/>
            <a:ext cx="130520" cy="329497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024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038291"/>
            <a:ext cx="11121832" cy="107085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6AEAE22-6430-E549-E88F-8B69E34BF2C4}"/>
                  </a:ext>
                </a:extLst>
              </p:cNvPr>
              <p:cNvSpPr txBox="1"/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Disponemos de m elementos. Se llaman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combinaciones</a:t>
                </a:r>
                <a:r>
                  <a:rPr lang="es-ES" sz="2000" b="1" dirty="0"/>
                  <a:t> a las distintas agrupaciones</a:t>
                </a:r>
              </a:p>
              <a:p>
                <a:r>
                  <a:rPr lang="es-ES" sz="2000" b="1" dirty="0"/>
                  <a:t>que podemos formar tomando n de ellos, sin que importe el orden en que aparezcan y sin que puedan repetirse. Su número se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6AEAE22-6430-E549-E88F-8B69E34BF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blipFill>
                <a:blip r:embed="rId6"/>
                <a:stretch>
                  <a:fillRect l="-603" t="-3550" b="-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!CuadroTexto 1">
            <a:extLst>
              <a:ext uri="{FF2B5EF4-FFF2-40B4-BE49-F238E27FC236}">
                <a16:creationId xmlns:a16="http://schemas.microsoft.com/office/drawing/2014/main" id="{7592F2EB-9CB9-D8A6-0A97-480FD83732D2}"/>
              </a:ext>
            </a:extLst>
          </p:cNvPr>
          <p:cNvSpPr txBox="1"/>
          <p:nvPr/>
        </p:nvSpPr>
        <p:spPr>
          <a:xfrm>
            <a:off x="535000" y="3141739"/>
            <a:ext cx="111218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¿Cuántos partidos han de jugar 4 amigos si deciden enfrentarse cada uno contra</a:t>
            </a:r>
          </a:p>
          <a:p>
            <a:r>
              <a:rPr lang="es-ES" dirty="0"/>
              <a:t>todos los demás?</a:t>
            </a:r>
            <a:endParaRPr lang="es-E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6A1057E-1F20-985C-F8AE-C89E482605FE}"/>
                  </a:ext>
                </a:extLst>
              </p:cNvPr>
              <p:cNvSpPr txBox="1"/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… 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… 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3∙2∙1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6A1057E-1F20-985C-F8AE-C89E4826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7705973-5972-2851-583D-4A9E81004FA7}"/>
                  </a:ext>
                </a:extLst>
              </p:cNvPr>
              <p:cNvSpPr txBox="1"/>
              <p:nvPr/>
            </p:nvSpPr>
            <p:spPr>
              <a:xfrm>
                <a:off x="3625912" y="3979974"/>
                <a:ext cx="4940007" cy="64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4,   2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4−1</m:t>
                              </m:r>
                            </m:e>
                          </m:d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7705973-5972-2851-583D-4A9E8100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912" y="3979974"/>
                <a:ext cx="4940007" cy="649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D9CFB20C-38A9-BBA5-B61E-0021091D358F}"/>
              </a:ext>
            </a:extLst>
          </p:cNvPr>
          <p:cNvGrpSpPr/>
          <p:nvPr/>
        </p:nvGrpSpPr>
        <p:grpSpPr>
          <a:xfrm>
            <a:off x="6296025" y="2246733"/>
            <a:ext cx="4922834" cy="369332"/>
            <a:chOff x="6296025" y="2246733"/>
            <a:chExt cx="4922834" cy="369332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D84B4CEF-0972-2365-F66A-5E2492749785}"/>
                </a:ext>
              </a:extLst>
            </p:cNvPr>
            <p:cNvSpPr txBox="1"/>
            <p:nvPr/>
          </p:nvSpPr>
          <p:spPr>
            <a:xfrm>
              <a:off x="6836070" y="2246733"/>
              <a:ext cx="4382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n factores decrecientes</a:t>
              </a:r>
            </a:p>
          </p:txBody>
        </p: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C4EA9C61-3A9C-A838-B9C1-7F417A8E53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6025" y="2447624"/>
              <a:ext cx="540000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5E98B09A-6C20-3453-B8E0-5C8D5C29BA3A}"/>
              </a:ext>
            </a:extLst>
          </p:cNvPr>
          <p:cNvGrpSpPr/>
          <p:nvPr/>
        </p:nvGrpSpPr>
        <p:grpSpPr>
          <a:xfrm>
            <a:off x="6296025" y="2611280"/>
            <a:ext cx="4922789" cy="369332"/>
            <a:chOff x="6296025" y="2611280"/>
            <a:chExt cx="4922789" cy="369332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A06C4F5-B7FD-DBAB-0E57-2160DB81186B}"/>
                </a:ext>
              </a:extLst>
            </p:cNvPr>
            <p:cNvSpPr txBox="1"/>
            <p:nvPr/>
          </p:nvSpPr>
          <p:spPr>
            <a:xfrm>
              <a:off x="6836025" y="2611280"/>
              <a:ext cx="4382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n factorial</a:t>
              </a:r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49C0DD37-D074-8426-09C8-BE09D6E0D2E3}"/>
                </a:ext>
              </a:extLst>
            </p:cNvPr>
            <p:cNvCxnSpPr/>
            <p:nvPr/>
          </p:nvCxnSpPr>
          <p:spPr>
            <a:xfrm flipH="1">
              <a:off x="6296025" y="2819483"/>
              <a:ext cx="540047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2FA59C3-1155-31BD-CA86-772FE2B220CC}"/>
                  </a:ext>
                </a:extLst>
              </p:cNvPr>
              <p:cNvSpPr txBox="1"/>
              <p:nvPr/>
            </p:nvSpPr>
            <p:spPr>
              <a:xfrm>
                <a:off x="916579" y="3988141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2FA59C3-1155-31BD-CA86-772FE2B22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3988141"/>
                <a:ext cx="1026771" cy="307777"/>
              </a:xfrm>
              <a:prstGeom prst="rect">
                <a:avLst/>
              </a:prstGeom>
              <a:blipFill>
                <a:blip r:embed="rId9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C2432C61-AECE-5198-5E9E-15B9AE34DAC1}"/>
                  </a:ext>
                </a:extLst>
              </p:cNvPr>
              <p:cNvSpPr txBox="1"/>
              <p:nvPr/>
            </p:nvSpPr>
            <p:spPr>
              <a:xfrm>
                <a:off x="916579" y="4425057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C2432C61-AECE-5198-5E9E-15B9AE34D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4425057"/>
                <a:ext cx="10267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2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2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425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10" grpId="0"/>
      <p:bldP spid="6" grpId="0"/>
      <p:bldP spid="14" grpId="0"/>
      <p:bldP spid="36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013F0-9FE9-98B4-F01E-C6065DF2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D6B2083-444E-44E2-1A6B-DA68A0DB54D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!!CuadroTexto 60">
            <a:extLst>
              <a:ext uri="{FF2B5EF4-FFF2-40B4-BE49-F238E27FC236}">
                <a16:creationId xmlns:a16="http://schemas.microsoft.com/office/drawing/2014/main" id="{AB2779F1-5310-C627-0B43-CB9AF604E61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75960C34-E822-C338-4885-54D922453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11" name="!!Codo">
            <a:extLst>
              <a:ext uri="{FF2B5EF4-FFF2-40B4-BE49-F238E27FC236}">
                <a16:creationId xmlns:a16="http://schemas.microsoft.com/office/drawing/2014/main" id="{B7F6D685-6419-0068-E222-ADBA31A8D91F}"/>
              </a:ext>
            </a:extLst>
          </p:cNvPr>
          <p:cNvSpPr/>
          <p:nvPr/>
        </p:nvSpPr>
        <p:spPr>
          <a:xfrm flipH="1">
            <a:off x="11396019" y="5764120"/>
            <a:ext cx="130520" cy="329497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DAADE52-3490-3665-CBA5-320B917BE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F136FCBB-3C38-6069-040C-DC82DCFE3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548107A-37DB-23CD-6CB9-44A7E6453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024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148AD58D-58C1-FEBA-BC43-36FBF54610D5}"/>
              </a:ext>
            </a:extLst>
          </p:cNvPr>
          <p:cNvSpPr/>
          <p:nvPr/>
        </p:nvSpPr>
        <p:spPr>
          <a:xfrm>
            <a:off x="535084" y="1038291"/>
            <a:ext cx="11121832" cy="107085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DC00AC9D-D63D-3665-94CC-1F98B38EA2A1}"/>
                  </a:ext>
                </a:extLst>
              </p:cNvPr>
              <p:cNvSpPr txBox="1"/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Disponemos de m elementos. Se llaman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combinaciones</a:t>
                </a:r>
                <a:r>
                  <a:rPr lang="es-ES" sz="2000" b="1" dirty="0"/>
                  <a:t> a las distintas agrupaciones</a:t>
                </a:r>
              </a:p>
              <a:p>
                <a:r>
                  <a:rPr lang="es-ES" sz="2000" b="1" dirty="0"/>
                  <a:t>que podemos formar tomando n de ellos, sin que importe el orden en que aparezcan y sin que puedan repetirse. Su número se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DC00AC9D-D63D-3665-94CC-1F98B38EA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blipFill>
                <a:blip r:embed="rId6"/>
                <a:stretch>
                  <a:fillRect l="-603" t="-3550" b="-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!CuadroTexto 1">
            <a:extLst>
              <a:ext uri="{FF2B5EF4-FFF2-40B4-BE49-F238E27FC236}">
                <a16:creationId xmlns:a16="http://schemas.microsoft.com/office/drawing/2014/main" id="{B19C4DA9-8B18-1450-1B4B-A16493195CAF}"/>
              </a:ext>
            </a:extLst>
          </p:cNvPr>
          <p:cNvSpPr txBox="1"/>
          <p:nvPr/>
        </p:nvSpPr>
        <p:spPr>
          <a:xfrm>
            <a:off x="535000" y="314173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i="1" dirty="0"/>
              <a:t>¿Cuántos apretones de mano se darán 10 amigos que se encuentran?</a:t>
            </a:r>
            <a:endParaRPr lang="es-E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426E267-1D79-9666-DF41-67FFABADB949}"/>
                  </a:ext>
                </a:extLst>
              </p:cNvPr>
              <p:cNvSpPr txBox="1"/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… 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… 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3∙2∙1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426E267-1D79-9666-DF41-67FFABADB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125D22E-AE46-1179-3BC7-63F90181AD2C}"/>
                  </a:ext>
                </a:extLst>
              </p:cNvPr>
              <p:cNvSpPr txBox="1"/>
              <p:nvPr/>
            </p:nvSpPr>
            <p:spPr>
              <a:xfrm>
                <a:off x="3302169" y="3864104"/>
                <a:ext cx="5587493" cy="6476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10,   2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10−1</m:t>
                              </m:r>
                            </m:e>
                          </m:d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∙9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125D22E-AE46-1179-3BC7-63F90181A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169" y="3864104"/>
                <a:ext cx="5587493" cy="6476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C35A3E99-1BB2-C818-8689-508FB5510861}"/>
              </a:ext>
            </a:extLst>
          </p:cNvPr>
          <p:cNvSpPr txBox="1"/>
          <p:nvPr/>
        </p:nvSpPr>
        <p:spPr>
          <a:xfrm>
            <a:off x="6836070" y="2246733"/>
            <a:ext cx="438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 factores decrecientes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96F0989-7CAD-7AAB-5057-50D336D5344A}"/>
              </a:ext>
            </a:extLst>
          </p:cNvPr>
          <p:cNvSpPr txBox="1"/>
          <p:nvPr/>
        </p:nvSpPr>
        <p:spPr>
          <a:xfrm>
            <a:off x="6836025" y="2611280"/>
            <a:ext cx="438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factorial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3C43A5B-60AC-01DC-272C-4D9C5E88E248}"/>
              </a:ext>
            </a:extLst>
          </p:cNvPr>
          <p:cNvCxnSpPr>
            <a:cxnSpLocks/>
          </p:cNvCxnSpPr>
          <p:nvPr/>
        </p:nvCxnSpPr>
        <p:spPr>
          <a:xfrm flipH="1">
            <a:off x="6296025" y="2447624"/>
            <a:ext cx="540000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0064B3C-771A-D311-026F-10DB7C9742E4}"/>
              </a:ext>
            </a:extLst>
          </p:cNvPr>
          <p:cNvCxnSpPr/>
          <p:nvPr/>
        </p:nvCxnSpPr>
        <p:spPr>
          <a:xfrm flipH="1">
            <a:off x="6296025" y="2819483"/>
            <a:ext cx="540047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1EBB4EC-23A3-6548-D65B-072387E1652D}"/>
                  </a:ext>
                </a:extLst>
              </p:cNvPr>
              <p:cNvSpPr txBox="1"/>
              <p:nvPr/>
            </p:nvSpPr>
            <p:spPr>
              <a:xfrm>
                <a:off x="916579" y="3844705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1EBB4EC-23A3-6548-D65B-072387E16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3844705"/>
                <a:ext cx="10267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CDED052C-4915-9752-2E63-46C6973510E4}"/>
                  </a:ext>
                </a:extLst>
              </p:cNvPr>
              <p:cNvSpPr txBox="1"/>
              <p:nvPr/>
            </p:nvSpPr>
            <p:spPr>
              <a:xfrm>
                <a:off x="916579" y="4281621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CDED052C-4915-9752-2E63-46C697351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4281621"/>
                <a:ext cx="1026771" cy="307777"/>
              </a:xfrm>
              <a:prstGeom prst="rect">
                <a:avLst/>
              </a:prstGeom>
              <a:blipFill>
                <a:blip r:embed="rId10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7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7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75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75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6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68317-5242-649F-B62F-9D5649E0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EE4F125-7C6B-58F2-C7C2-478C8342087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!!CuadroTexto 60">
            <a:extLst>
              <a:ext uri="{FF2B5EF4-FFF2-40B4-BE49-F238E27FC236}">
                <a16:creationId xmlns:a16="http://schemas.microsoft.com/office/drawing/2014/main" id="{C553F5D7-FAB7-2F9B-AE8C-18656E950B7F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BA9C606B-8DFD-CFD6-E889-5182C84EF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11" name="!!Codo">
            <a:extLst>
              <a:ext uri="{FF2B5EF4-FFF2-40B4-BE49-F238E27FC236}">
                <a16:creationId xmlns:a16="http://schemas.microsoft.com/office/drawing/2014/main" id="{FFB319C2-FDD5-1A69-C281-DCE5CCD13CD4}"/>
              </a:ext>
            </a:extLst>
          </p:cNvPr>
          <p:cNvSpPr/>
          <p:nvPr/>
        </p:nvSpPr>
        <p:spPr>
          <a:xfrm flipH="1">
            <a:off x="11396019" y="5764120"/>
            <a:ext cx="130520" cy="329497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2B805F5F-6196-62D6-6325-0CE6FC61D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7EE6858-D968-38BA-A7E5-1F2E70154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30E86751-E205-AE14-8067-CD7D430A67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024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BBAD7855-5405-90B9-7A34-3F377A250403}"/>
              </a:ext>
            </a:extLst>
          </p:cNvPr>
          <p:cNvSpPr/>
          <p:nvPr/>
        </p:nvSpPr>
        <p:spPr>
          <a:xfrm>
            <a:off x="535084" y="1038291"/>
            <a:ext cx="11121832" cy="107085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D548FD52-388E-C315-8488-8CAB19E39BC3}"/>
                  </a:ext>
                </a:extLst>
              </p:cNvPr>
              <p:cNvSpPr txBox="1"/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Disponemos de m elementos. Se llaman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combinaciones</a:t>
                </a:r>
                <a:r>
                  <a:rPr lang="es-ES" sz="2000" b="1" dirty="0"/>
                  <a:t> a las distintas agrupaciones</a:t>
                </a:r>
              </a:p>
              <a:p>
                <a:r>
                  <a:rPr lang="es-ES" sz="2000" b="1" dirty="0"/>
                  <a:t>que podemos formar tomando n de ellos, sin que importe el orden en que aparezcan y sin que puedan repetirse. Su número se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D548FD52-388E-C315-8488-8CAB19E39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65886"/>
                <a:ext cx="11121832" cy="1029064"/>
              </a:xfrm>
              <a:prstGeom prst="rect">
                <a:avLst/>
              </a:prstGeom>
              <a:blipFill>
                <a:blip r:embed="rId6"/>
                <a:stretch>
                  <a:fillRect l="-603" t="-3550" b="-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!CuadroTexto 1">
            <a:extLst>
              <a:ext uri="{FF2B5EF4-FFF2-40B4-BE49-F238E27FC236}">
                <a16:creationId xmlns:a16="http://schemas.microsoft.com/office/drawing/2014/main" id="{48F950F8-D6A1-BC8D-A6F5-D54C1F0A0EEB}"/>
              </a:ext>
            </a:extLst>
          </p:cNvPr>
          <p:cNvSpPr txBox="1"/>
          <p:nvPr/>
        </p:nvSpPr>
        <p:spPr>
          <a:xfrm>
            <a:off x="535000" y="3141739"/>
            <a:ext cx="111218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i="1" dirty="0"/>
              <a:t>En un colectivo de 10 personas, ¿de cuántas formas se pueden elegir los 3 representantes que acudirán a una cierta reunión?</a:t>
            </a:r>
            <a:endParaRPr lang="es-E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93BA49-2426-0A18-DA91-438132F313FB}"/>
                  </a:ext>
                </a:extLst>
              </p:cNvPr>
              <p:cNvSpPr txBox="1"/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… 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… 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3∙2∙1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93BA49-2426-0A18-DA91-438132F3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938" y="2300833"/>
                <a:ext cx="4940007" cy="649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23DCFF6-C2A3-C7F8-7EB2-0488A2379AE5}"/>
                  </a:ext>
                </a:extLst>
              </p:cNvPr>
              <p:cNvSpPr txBox="1"/>
              <p:nvPr/>
            </p:nvSpPr>
            <p:spPr>
              <a:xfrm>
                <a:off x="2396481" y="4181130"/>
                <a:ext cx="7398870" cy="64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10,   3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10−1</m:t>
                              </m:r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10−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∙9∙8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720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=120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23DCFF6-C2A3-C7F8-7EB2-0488A2379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481" y="4181130"/>
                <a:ext cx="7398870" cy="649217"/>
              </a:xfrm>
              <a:prstGeom prst="rect">
                <a:avLst/>
              </a:prstGeom>
              <a:blipFill>
                <a:blip r:embed="rId8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08FA23BE-99C7-B6C8-0199-B68371E70075}"/>
              </a:ext>
            </a:extLst>
          </p:cNvPr>
          <p:cNvSpPr txBox="1"/>
          <p:nvPr/>
        </p:nvSpPr>
        <p:spPr>
          <a:xfrm>
            <a:off x="6836070" y="2246733"/>
            <a:ext cx="438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 factores decrecientes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BC1DB60-CEC8-A089-C8FE-280B583503BD}"/>
              </a:ext>
            </a:extLst>
          </p:cNvPr>
          <p:cNvSpPr txBox="1"/>
          <p:nvPr/>
        </p:nvSpPr>
        <p:spPr>
          <a:xfrm>
            <a:off x="6836025" y="2611280"/>
            <a:ext cx="438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factorial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4177668-D545-55D5-9E6C-367CB64CD6E5}"/>
              </a:ext>
            </a:extLst>
          </p:cNvPr>
          <p:cNvCxnSpPr>
            <a:cxnSpLocks/>
          </p:cNvCxnSpPr>
          <p:nvPr/>
        </p:nvCxnSpPr>
        <p:spPr>
          <a:xfrm flipH="1">
            <a:off x="6296025" y="2447624"/>
            <a:ext cx="540000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3A43531-565B-9B49-9E9C-D83F0486AF1D}"/>
              </a:ext>
            </a:extLst>
          </p:cNvPr>
          <p:cNvCxnSpPr/>
          <p:nvPr/>
        </p:nvCxnSpPr>
        <p:spPr>
          <a:xfrm flipH="1">
            <a:off x="6296025" y="2819483"/>
            <a:ext cx="540047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A54504B-E673-3881-81BA-479ADD4DFBA5}"/>
                  </a:ext>
                </a:extLst>
              </p:cNvPr>
              <p:cNvSpPr txBox="1"/>
              <p:nvPr/>
            </p:nvSpPr>
            <p:spPr>
              <a:xfrm>
                <a:off x="916579" y="4068823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A54504B-E673-3881-81BA-479ADD4DF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4068823"/>
                <a:ext cx="1026771" cy="307777"/>
              </a:xfrm>
              <a:prstGeom prst="rect">
                <a:avLst/>
              </a:prstGeom>
              <a:blipFill>
                <a:blip r:embed="rId9"/>
                <a:stretch>
                  <a:fillRect l="-5917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B7201F39-8CE7-0ABA-865A-F863DA8D4380}"/>
                  </a:ext>
                </a:extLst>
              </p:cNvPr>
              <p:cNvSpPr txBox="1"/>
              <p:nvPr/>
            </p:nvSpPr>
            <p:spPr>
              <a:xfrm>
                <a:off x="916579" y="4505739"/>
                <a:ext cx="10267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B7201F39-8CE7-0ABA-865A-F863DA8D4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9" y="4505739"/>
                <a:ext cx="1026771" cy="307777"/>
              </a:xfrm>
              <a:prstGeom prst="rect">
                <a:avLst/>
              </a:prstGeom>
              <a:blipFill>
                <a:blip r:embed="rId10"/>
                <a:stretch>
                  <a:fillRect l="-5917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82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6" grpId="0"/>
      <p:bldP spid="38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282</Words>
  <Application>Microsoft Office PowerPoint</Application>
  <PresentationFormat>Panorámica</PresentationFormat>
  <Paragraphs>35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104</cp:revision>
  <dcterms:created xsi:type="dcterms:W3CDTF">2024-08-18T18:48:07Z</dcterms:created>
  <dcterms:modified xsi:type="dcterms:W3CDTF">2024-11-13T11:48:41Z</dcterms:modified>
</cp:coreProperties>
</file>