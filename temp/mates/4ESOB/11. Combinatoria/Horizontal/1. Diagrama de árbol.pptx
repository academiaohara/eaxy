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>
        <p:scale>
          <a:sx n="75" d="100"/>
          <a:sy n="75" d="100"/>
        </p:scale>
        <p:origin x="191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08/11/2024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6.png"/><Relationship Id="rId5" Type="http://schemas.openxmlformats.org/officeDocument/2006/relationships/image" Target="../media/image6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11908080"/>
                  </p:ext>
                </p:extLst>
              </p:nvPr>
            </p:nvGraphicFramePr>
            <p:xfrm>
              <a:off x="543440" y="2457514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440" y="2457514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4" name="!!Codo">
            <a:extLst>
              <a:ext uri="{FF2B5EF4-FFF2-40B4-BE49-F238E27FC236}">
                <a16:creationId xmlns:a16="http://schemas.microsoft.com/office/drawing/2014/main" id="{9851D408-100F-15D0-FA04-0501972564EB}"/>
              </a:ext>
            </a:extLst>
          </p:cNvPr>
          <p:cNvSpPr/>
          <p:nvPr/>
        </p:nvSpPr>
        <p:spPr>
          <a:xfrm>
            <a:off x="9866457" y="3325657"/>
            <a:ext cx="254649" cy="787674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2610926"/>
                  </p:ext>
                </p:extLst>
              </p:nvPr>
            </p:nvGraphicFramePr>
            <p:xfrm>
              <a:off x="543440" y="318609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318609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4124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DIAGRAMA DE ÁRBOL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31404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COMBINACIONES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4" grpId="0" animBg="1"/>
      <p:bldP spid="16" grpId="0"/>
      <p:bldP spid="16" grpId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!!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11" name="!!Codo">
            <a:extLst>
              <a:ext uri="{FF2B5EF4-FFF2-40B4-BE49-F238E27FC236}">
                <a16:creationId xmlns:a16="http://schemas.microsoft.com/office/drawing/2014/main" id="{F5CB5C92-6906-8D29-3719-AD3FF502A706}"/>
              </a:ext>
            </a:extLst>
          </p:cNvPr>
          <p:cNvSpPr/>
          <p:nvPr/>
        </p:nvSpPr>
        <p:spPr>
          <a:xfrm flipH="1">
            <a:off x="11396019" y="5764120"/>
            <a:ext cx="130520" cy="329497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024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0382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0455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rgbClr val="4E95D9"/>
                </a:solidFill>
              </a:rPr>
              <a:t>combinatoria</a:t>
            </a:r>
            <a:r>
              <a:rPr lang="es-ES" sz="2000" b="1" dirty="0"/>
              <a:t> ayuda a contar todas las maneras posibles de hacer algo, como elegir equipos o formar secuencias.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F5EC5F8C-A41D-9C8F-6549-774C8BFFDFEB}"/>
              </a:ext>
            </a:extLst>
          </p:cNvPr>
          <p:cNvSpPr/>
          <p:nvPr/>
        </p:nvSpPr>
        <p:spPr>
          <a:xfrm>
            <a:off x="535084" y="196396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9C180902-1E1B-8816-0CA5-A0A6D473E42C}"/>
              </a:ext>
            </a:extLst>
          </p:cNvPr>
          <p:cNvSpPr txBox="1"/>
          <p:nvPr/>
        </p:nvSpPr>
        <p:spPr>
          <a:xfrm>
            <a:off x="535084" y="197125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el </a:t>
            </a:r>
            <a:r>
              <a:rPr lang="es-ES" sz="2000" b="1" dirty="0">
                <a:solidFill>
                  <a:srgbClr val="4E95D9"/>
                </a:solidFill>
              </a:rPr>
              <a:t>diagrama en árbol </a:t>
            </a:r>
            <a:r>
              <a:rPr lang="es-ES" sz="2000" b="1" dirty="0"/>
              <a:t>se puede pensar paso a paso y permite ver cuáles son las distintas posibilidades que se dan en cada uno de esos pasos.</a:t>
            </a:r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7592F2EB-9CB9-D8A6-0A97-480FD83732D2}"/>
              </a:ext>
            </a:extLst>
          </p:cNvPr>
          <p:cNvSpPr txBox="1"/>
          <p:nvPr/>
        </p:nvSpPr>
        <p:spPr>
          <a:xfrm>
            <a:off x="535001" y="28044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¿Cuántas combinaciones posibles tiene una quiniela?</a:t>
            </a:r>
            <a:endParaRPr lang="es-ES" sz="20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98E3C8C-53F9-DF27-FBAF-9DDEA7A13F38}"/>
              </a:ext>
            </a:extLst>
          </p:cNvPr>
          <p:cNvCxnSpPr/>
          <p:nvPr/>
        </p:nvCxnSpPr>
        <p:spPr>
          <a:xfrm flipV="1">
            <a:off x="1994535" y="4126308"/>
            <a:ext cx="1009650" cy="32385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3EDF170-79C1-4F20-51A6-7C53CD965463}"/>
              </a:ext>
            </a:extLst>
          </p:cNvPr>
          <p:cNvCxnSpPr>
            <a:cxnSpLocks/>
          </p:cNvCxnSpPr>
          <p:nvPr/>
        </p:nvCxnSpPr>
        <p:spPr>
          <a:xfrm>
            <a:off x="1994535" y="4742143"/>
            <a:ext cx="1009650" cy="32385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2143D91-C8E9-1C2C-DA48-3F58A186C16E}"/>
              </a:ext>
            </a:extLst>
          </p:cNvPr>
          <p:cNvCxnSpPr/>
          <p:nvPr/>
        </p:nvCxnSpPr>
        <p:spPr>
          <a:xfrm>
            <a:off x="1994535" y="4592452"/>
            <a:ext cx="100965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5924897-8F43-6900-C151-0468CA7AA336}"/>
              </a:ext>
            </a:extLst>
          </p:cNvPr>
          <p:cNvSpPr txBox="1"/>
          <p:nvPr/>
        </p:nvSpPr>
        <p:spPr>
          <a:xfrm>
            <a:off x="3139440" y="3899768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807CC27-00E0-969E-66C3-BE9A25FB3AA7}"/>
              </a:ext>
            </a:extLst>
          </p:cNvPr>
          <p:cNvSpPr txBox="1"/>
          <p:nvPr/>
        </p:nvSpPr>
        <p:spPr>
          <a:xfrm>
            <a:off x="3139440" y="4407786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1FC0FD6-88C6-BFBD-63BA-B56DEBB2CAC5}"/>
              </a:ext>
            </a:extLst>
          </p:cNvPr>
          <p:cNvSpPr txBox="1"/>
          <p:nvPr/>
        </p:nvSpPr>
        <p:spPr>
          <a:xfrm>
            <a:off x="3139440" y="4904068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D3C7B08-B990-503A-2722-7A22E2A70F9C}"/>
              </a:ext>
            </a:extLst>
          </p:cNvPr>
          <p:cNvSpPr txBox="1"/>
          <p:nvPr/>
        </p:nvSpPr>
        <p:spPr>
          <a:xfrm>
            <a:off x="1651895" y="4424947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447B34-F8D5-5CE4-02A4-E736E336B45F}"/>
              </a:ext>
            </a:extLst>
          </p:cNvPr>
          <p:cNvSpPr txBox="1"/>
          <p:nvPr/>
        </p:nvSpPr>
        <p:spPr>
          <a:xfrm>
            <a:off x="1651895" y="4984700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C1D18E-CFAD-DBC5-51BB-D24E0549D172}"/>
              </a:ext>
            </a:extLst>
          </p:cNvPr>
          <p:cNvSpPr txBox="1"/>
          <p:nvPr/>
        </p:nvSpPr>
        <p:spPr>
          <a:xfrm>
            <a:off x="1651895" y="5561614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1C80014-B253-1516-01FF-3D12A755917D}"/>
              </a:ext>
            </a:extLst>
          </p:cNvPr>
          <p:cNvCxnSpPr/>
          <p:nvPr/>
        </p:nvCxnSpPr>
        <p:spPr>
          <a:xfrm>
            <a:off x="3552825" y="4084434"/>
            <a:ext cx="6477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AE4C4425-CC72-633A-D83C-7E2578774FAA}"/>
              </a:ext>
            </a:extLst>
          </p:cNvPr>
          <p:cNvCxnSpPr/>
          <p:nvPr/>
        </p:nvCxnSpPr>
        <p:spPr>
          <a:xfrm>
            <a:off x="3562350" y="4609613"/>
            <a:ext cx="64770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8A1DAED-EC56-0DA0-D9BD-BC2DCCE33C1E}"/>
              </a:ext>
            </a:extLst>
          </p:cNvPr>
          <p:cNvCxnSpPr/>
          <p:nvPr/>
        </p:nvCxnSpPr>
        <p:spPr>
          <a:xfrm>
            <a:off x="3552825" y="5088734"/>
            <a:ext cx="64770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upo 56">
            <a:extLst>
              <a:ext uri="{FF2B5EF4-FFF2-40B4-BE49-F238E27FC236}">
                <a16:creationId xmlns:a16="http://schemas.microsoft.com/office/drawing/2014/main" id="{065BB031-5C1A-0D25-D69A-87F8B7E28D1B}"/>
              </a:ext>
            </a:extLst>
          </p:cNvPr>
          <p:cNvGrpSpPr/>
          <p:nvPr/>
        </p:nvGrpSpPr>
        <p:grpSpPr>
          <a:xfrm>
            <a:off x="4419600" y="3899768"/>
            <a:ext cx="724535" cy="1454262"/>
            <a:chOff x="4419600" y="3899768"/>
            <a:chExt cx="724535" cy="1454262"/>
          </a:xfrm>
        </p:grpSpPr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CBBE07EC-EFC4-3D05-0723-9024A8C703E3}"/>
                </a:ext>
              </a:extLst>
            </p:cNvPr>
            <p:cNvSpPr/>
            <p:nvPr/>
          </p:nvSpPr>
          <p:spPr>
            <a:xfrm>
              <a:off x="4419600" y="3899768"/>
              <a:ext cx="361950" cy="1454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38E4ABB2-8A3C-0A9A-93FD-18A8326215EC}"/>
                </a:ext>
              </a:extLst>
            </p:cNvPr>
            <p:cNvSpPr/>
            <p:nvPr/>
          </p:nvSpPr>
          <p:spPr>
            <a:xfrm>
              <a:off x="4782185" y="3899768"/>
              <a:ext cx="361950" cy="1454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491F915D-F23B-9D29-228B-F3B7A94A5300}"/>
                </a:ext>
              </a:extLst>
            </p:cNvPr>
            <p:cNvSpPr txBox="1"/>
            <p:nvPr/>
          </p:nvSpPr>
          <p:spPr>
            <a:xfrm>
              <a:off x="4490085" y="390993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85F7D26A-4CCB-F8BE-748F-39485BD90FC6}"/>
                </a:ext>
              </a:extLst>
            </p:cNvPr>
            <p:cNvSpPr txBox="1"/>
            <p:nvPr/>
          </p:nvSpPr>
          <p:spPr>
            <a:xfrm>
              <a:off x="4490085" y="4442233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2F13991-65D5-D84B-4462-B237DE215A7D}"/>
                </a:ext>
              </a:extLst>
            </p:cNvPr>
            <p:cNvSpPr txBox="1"/>
            <p:nvPr/>
          </p:nvSpPr>
          <p:spPr>
            <a:xfrm>
              <a:off x="4490085" y="4904068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D67409F3-6AC0-7B5C-0FF7-A7A33D1DAB45}"/>
                </a:ext>
              </a:extLst>
            </p:cNvPr>
            <p:cNvSpPr txBox="1"/>
            <p:nvPr/>
          </p:nvSpPr>
          <p:spPr>
            <a:xfrm>
              <a:off x="4853940" y="3912945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6FAEBBA7-2EBE-6CDA-94D3-295D16400822}"/>
                </a:ext>
              </a:extLst>
            </p:cNvPr>
            <p:cNvSpPr txBox="1"/>
            <p:nvPr/>
          </p:nvSpPr>
          <p:spPr>
            <a:xfrm>
              <a:off x="4853940" y="444523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95C191DD-7636-B171-E137-9161982779EC}"/>
                </a:ext>
              </a:extLst>
            </p:cNvPr>
            <p:cNvSpPr txBox="1"/>
            <p:nvPr/>
          </p:nvSpPr>
          <p:spPr>
            <a:xfrm>
              <a:off x="4853940" y="4907074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A48AA2B-C04D-E514-8765-067A12F7A628}"/>
              </a:ext>
            </a:extLst>
          </p:cNvPr>
          <p:cNvSpPr txBox="1"/>
          <p:nvPr/>
        </p:nvSpPr>
        <p:spPr>
          <a:xfrm>
            <a:off x="921645" y="3394932"/>
            <a:ext cx="168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1º partido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3FBC8BD-F791-B5B4-827B-0227818975E0}"/>
              </a:ext>
            </a:extLst>
          </p:cNvPr>
          <p:cNvSpPr txBox="1"/>
          <p:nvPr/>
        </p:nvSpPr>
        <p:spPr>
          <a:xfrm>
            <a:off x="2409190" y="3394932"/>
            <a:ext cx="168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2º partido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C16D4AD-AB54-4893-7969-2F1A37A2BB99}"/>
              </a:ext>
            </a:extLst>
          </p:cNvPr>
          <p:cNvSpPr txBox="1"/>
          <p:nvPr/>
        </p:nvSpPr>
        <p:spPr>
          <a:xfrm>
            <a:off x="7162800" y="3754472"/>
            <a:ext cx="2466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 PARTIDOS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C42C2CA6-19AB-9255-A0C5-1079C475AF80}"/>
                  </a:ext>
                </a:extLst>
              </p:cNvPr>
              <p:cNvSpPr txBox="1"/>
              <p:nvPr/>
            </p:nvSpPr>
            <p:spPr>
              <a:xfrm>
                <a:off x="6402151" y="4323706"/>
                <a:ext cx="39882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𝑪𝑶𝑴𝑩𝑰𝑵𝑨𝑪𝑰𝑶𝑵𝑬𝑺</m:t>
                      </m:r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C42C2CA6-19AB-9255-A0C5-1079C475A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151" y="4323706"/>
                <a:ext cx="3988271" cy="369332"/>
              </a:xfrm>
              <a:prstGeom prst="rect">
                <a:avLst/>
              </a:prstGeom>
              <a:blipFill>
                <a:blip r:embed="rId6"/>
                <a:stretch>
                  <a:fillRect l="-1070" r="-1223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7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75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7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75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4" grpId="0" animBg="1"/>
      <p:bldP spid="5" grpId="0"/>
      <p:bldP spid="10" grpId="0"/>
      <p:bldP spid="16" grpId="0"/>
      <p:bldP spid="17" grpId="0"/>
      <p:bldP spid="18" grpId="0"/>
      <p:bldP spid="23" grpId="0"/>
      <p:bldP spid="26" grpId="0"/>
      <p:bldP spid="29" grpId="0"/>
      <p:bldP spid="53" grpId="0"/>
      <p:bldP spid="54" grpId="0"/>
      <p:bldP spid="55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468D9-9340-DF83-09BD-A0BC39B9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F28FDDF-43BF-F7DC-ABDE-727FCDF8826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8C413FB-E59A-097F-AA65-A7D3D867FCF6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7943E3FD-945E-C465-6FC1-41500E4AD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A63485C-7866-306F-18C8-7DED7B32537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28FCE831-1EFA-72F2-1000-6A2985A46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4F86525A-BD10-C431-47DD-4FEC93D1F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C4973DBD-464E-7719-A000-4915D8708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81E84DB7-4A11-2C8D-1A48-2D43E5FC54B9}"/>
              </a:ext>
            </a:extLst>
          </p:cNvPr>
          <p:cNvSpPr/>
          <p:nvPr/>
        </p:nvSpPr>
        <p:spPr>
          <a:xfrm>
            <a:off x="535084" y="10382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453C64D9-A89F-D508-0BDC-D9CFDB7E1019}"/>
              </a:ext>
            </a:extLst>
          </p:cNvPr>
          <p:cNvSpPr txBox="1"/>
          <p:nvPr/>
        </p:nvSpPr>
        <p:spPr>
          <a:xfrm>
            <a:off x="535084" y="10455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rgbClr val="4E95D9"/>
                </a:solidFill>
              </a:rPr>
              <a:t>combinatoria</a:t>
            </a:r>
            <a:r>
              <a:rPr lang="es-ES" sz="2000" b="1" dirty="0"/>
              <a:t> ayuda a contar todas las maneras posibles de hacer algo, como elegir equipos o formar secuencias.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DA9C059E-B687-8E80-825D-5027AE8DC05F}"/>
              </a:ext>
            </a:extLst>
          </p:cNvPr>
          <p:cNvSpPr/>
          <p:nvPr/>
        </p:nvSpPr>
        <p:spPr>
          <a:xfrm>
            <a:off x="535084" y="196396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ECC494C-6AFD-82DC-C8F4-6C06BA59D3FB}"/>
              </a:ext>
            </a:extLst>
          </p:cNvPr>
          <p:cNvSpPr txBox="1"/>
          <p:nvPr/>
        </p:nvSpPr>
        <p:spPr>
          <a:xfrm>
            <a:off x="535084" y="197125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el </a:t>
            </a:r>
            <a:r>
              <a:rPr lang="es-ES" sz="2000" b="1" dirty="0">
                <a:solidFill>
                  <a:srgbClr val="4E95D9"/>
                </a:solidFill>
              </a:rPr>
              <a:t>diagrama en árbol </a:t>
            </a:r>
            <a:r>
              <a:rPr lang="es-ES" sz="2000" b="1" dirty="0"/>
              <a:t>se puede pensar paso a paso y permite ver cuáles son las distintas posibilidades que se dan en cada uno de esos pasos.</a:t>
            </a:r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74FB66DD-0F93-3581-70EE-8457D65C1EFB}"/>
              </a:ext>
            </a:extLst>
          </p:cNvPr>
          <p:cNvSpPr txBox="1"/>
          <p:nvPr/>
        </p:nvSpPr>
        <p:spPr>
          <a:xfrm>
            <a:off x="535001" y="28044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¿Cuántas combinaciones posibles tiene una quiniela?</a:t>
            </a:r>
            <a:endParaRPr lang="es-ES" sz="20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3C6F554-1ACB-72BF-0498-0CEC86A7E318}"/>
              </a:ext>
            </a:extLst>
          </p:cNvPr>
          <p:cNvSpPr txBox="1"/>
          <p:nvPr/>
        </p:nvSpPr>
        <p:spPr>
          <a:xfrm>
            <a:off x="7600950" y="3754472"/>
            <a:ext cx="2466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 PARTIDOS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D84A096-B0A0-3913-E4DD-5019B44E2DB8}"/>
                  </a:ext>
                </a:extLst>
              </p:cNvPr>
              <p:cNvSpPr txBox="1"/>
              <p:nvPr/>
            </p:nvSpPr>
            <p:spPr>
              <a:xfrm>
                <a:off x="6840301" y="4323706"/>
                <a:ext cx="45803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𝑪𝑶𝑴𝑩𝑰𝑵𝑨𝑪𝑰𝑶𝑵𝑬𝑺</m:t>
                      </m:r>
                    </m:oMath>
                  </m:oMathPara>
                </a14:m>
                <a:endPara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D84A096-B0A0-3913-E4DD-5019B44E2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301" y="4323706"/>
                <a:ext cx="4580356" cy="369332"/>
              </a:xfrm>
              <a:prstGeom prst="rect">
                <a:avLst/>
              </a:prstGeom>
              <a:blipFill>
                <a:blip r:embed="rId6"/>
                <a:stretch>
                  <a:fillRect l="-799" r="-1065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upo 35">
            <a:extLst>
              <a:ext uri="{FF2B5EF4-FFF2-40B4-BE49-F238E27FC236}">
                <a16:creationId xmlns:a16="http://schemas.microsoft.com/office/drawing/2014/main" id="{5A493621-C175-95A8-9D13-E4F74185D3A1}"/>
              </a:ext>
            </a:extLst>
          </p:cNvPr>
          <p:cNvGrpSpPr/>
          <p:nvPr/>
        </p:nvGrpSpPr>
        <p:grpSpPr>
          <a:xfrm>
            <a:off x="314210" y="3394932"/>
            <a:ext cx="6079369" cy="3057746"/>
            <a:chOff x="314210" y="3394932"/>
            <a:chExt cx="6079369" cy="3057746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563EE39A-6925-01A2-391A-A1C19C699968}"/>
                </a:ext>
              </a:extLst>
            </p:cNvPr>
            <p:cNvCxnSpPr/>
            <p:nvPr/>
          </p:nvCxnSpPr>
          <p:spPr>
            <a:xfrm flipV="1">
              <a:off x="2880360" y="4126308"/>
              <a:ext cx="1009650" cy="32385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61B25C2-7160-9922-ABBB-9102CD5A6C5F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60" y="4742143"/>
              <a:ext cx="1009650" cy="32385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6D8D258-7E8D-3CA9-978B-3415F7C9035C}"/>
                </a:ext>
              </a:extLst>
            </p:cNvPr>
            <p:cNvCxnSpPr/>
            <p:nvPr/>
          </p:nvCxnSpPr>
          <p:spPr>
            <a:xfrm>
              <a:off x="2880360" y="4592452"/>
              <a:ext cx="1009650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F715411-EA9E-943B-70FF-80B7FE3215F6}"/>
                </a:ext>
              </a:extLst>
            </p:cNvPr>
            <p:cNvSpPr txBox="1"/>
            <p:nvPr/>
          </p:nvSpPr>
          <p:spPr>
            <a:xfrm>
              <a:off x="4025265" y="3899768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8635FE2-AEF3-D300-EE37-B0BFBFA4EF27}"/>
                </a:ext>
              </a:extLst>
            </p:cNvPr>
            <p:cNvSpPr txBox="1"/>
            <p:nvPr/>
          </p:nvSpPr>
          <p:spPr>
            <a:xfrm>
              <a:off x="4025265" y="4407786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E6337A0-5E95-104A-D4B9-9A2506725249}"/>
                </a:ext>
              </a:extLst>
            </p:cNvPr>
            <p:cNvSpPr txBox="1"/>
            <p:nvPr/>
          </p:nvSpPr>
          <p:spPr>
            <a:xfrm>
              <a:off x="4025265" y="4904068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D22084C-A962-C71F-90C7-55AA36CBA16E}"/>
                </a:ext>
              </a:extLst>
            </p:cNvPr>
            <p:cNvSpPr txBox="1"/>
            <p:nvPr/>
          </p:nvSpPr>
          <p:spPr>
            <a:xfrm>
              <a:off x="2537720" y="4424947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71374DC5-5D18-78A5-A5A1-B2A9ED5D01BD}"/>
                </a:ext>
              </a:extLst>
            </p:cNvPr>
            <p:cNvSpPr txBox="1"/>
            <p:nvPr/>
          </p:nvSpPr>
          <p:spPr>
            <a:xfrm>
              <a:off x="2537720" y="4927550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CC11EC7-E8AD-6DF9-F863-9775F76F5E07}"/>
                </a:ext>
              </a:extLst>
            </p:cNvPr>
            <p:cNvSpPr txBox="1"/>
            <p:nvPr/>
          </p:nvSpPr>
          <p:spPr>
            <a:xfrm>
              <a:off x="2537720" y="547588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422732CB-87E0-5BB9-A693-609D292E3DFA}"/>
                </a:ext>
              </a:extLst>
            </p:cNvPr>
            <p:cNvCxnSpPr/>
            <p:nvPr/>
          </p:nvCxnSpPr>
          <p:spPr>
            <a:xfrm>
              <a:off x="4438650" y="4084434"/>
              <a:ext cx="647700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313E1120-2D87-E79E-E6AC-5B57EA19DDC0}"/>
                </a:ext>
              </a:extLst>
            </p:cNvPr>
            <p:cNvCxnSpPr/>
            <p:nvPr/>
          </p:nvCxnSpPr>
          <p:spPr>
            <a:xfrm>
              <a:off x="4448175" y="4609613"/>
              <a:ext cx="647700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348A7700-C9B9-45B4-9924-D25309278A61}"/>
                </a:ext>
              </a:extLst>
            </p:cNvPr>
            <p:cNvCxnSpPr/>
            <p:nvPr/>
          </p:nvCxnSpPr>
          <p:spPr>
            <a:xfrm>
              <a:off x="4438650" y="5088734"/>
              <a:ext cx="647700" cy="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2C00037C-F3FF-6AE8-4473-B2DD910AE140}"/>
                </a:ext>
              </a:extLst>
            </p:cNvPr>
            <p:cNvSpPr/>
            <p:nvPr/>
          </p:nvSpPr>
          <p:spPr>
            <a:xfrm>
              <a:off x="5305425" y="3899768"/>
              <a:ext cx="361950" cy="1454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652259A4-8DC8-DEFC-4E12-C91ADD52BA99}"/>
                </a:ext>
              </a:extLst>
            </p:cNvPr>
            <p:cNvSpPr/>
            <p:nvPr/>
          </p:nvSpPr>
          <p:spPr>
            <a:xfrm>
              <a:off x="5668010" y="3899768"/>
              <a:ext cx="361950" cy="1454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8C41F42B-440D-4C5A-3A0B-ADCEF54FB432}"/>
                </a:ext>
              </a:extLst>
            </p:cNvPr>
            <p:cNvSpPr txBox="1"/>
            <p:nvPr/>
          </p:nvSpPr>
          <p:spPr>
            <a:xfrm>
              <a:off x="5375910" y="390993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4918AF5B-29CA-BE27-F0A4-61F430D5509F}"/>
                </a:ext>
              </a:extLst>
            </p:cNvPr>
            <p:cNvSpPr txBox="1"/>
            <p:nvPr/>
          </p:nvSpPr>
          <p:spPr>
            <a:xfrm>
              <a:off x="5375910" y="4442233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156861FB-95C8-1213-4166-D58DC3690BC2}"/>
                </a:ext>
              </a:extLst>
            </p:cNvPr>
            <p:cNvSpPr txBox="1"/>
            <p:nvPr/>
          </p:nvSpPr>
          <p:spPr>
            <a:xfrm>
              <a:off x="5375910" y="4904068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40AC5D20-65D3-BEB1-00CA-BAA2E901AC11}"/>
                </a:ext>
              </a:extLst>
            </p:cNvPr>
            <p:cNvSpPr txBox="1"/>
            <p:nvPr/>
          </p:nvSpPr>
          <p:spPr>
            <a:xfrm>
              <a:off x="5739765" y="3912945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E4AE0CFA-6FA4-8A52-8A39-AC274AB8F606}"/>
                </a:ext>
              </a:extLst>
            </p:cNvPr>
            <p:cNvSpPr txBox="1"/>
            <p:nvPr/>
          </p:nvSpPr>
          <p:spPr>
            <a:xfrm>
              <a:off x="5739765" y="444523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6AB97B77-D209-F2CE-9EAC-5203A9D315BA}"/>
                </a:ext>
              </a:extLst>
            </p:cNvPr>
            <p:cNvSpPr txBox="1"/>
            <p:nvPr/>
          </p:nvSpPr>
          <p:spPr>
            <a:xfrm>
              <a:off x="5739765" y="4907074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AF34365-89FE-BC3C-3F5A-E3373D535A13}"/>
                </a:ext>
              </a:extLst>
            </p:cNvPr>
            <p:cNvSpPr txBox="1"/>
            <p:nvPr/>
          </p:nvSpPr>
          <p:spPr>
            <a:xfrm>
              <a:off x="1807470" y="3394932"/>
              <a:ext cx="1681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2º partido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175F113D-C49C-F7A2-1C29-A42E3ED43A7B}"/>
                </a:ext>
              </a:extLst>
            </p:cNvPr>
            <p:cNvSpPr txBox="1"/>
            <p:nvPr/>
          </p:nvSpPr>
          <p:spPr>
            <a:xfrm>
              <a:off x="3295015" y="3394932"/>
              <a:ext cx="1681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3</a:t>
              </a:r>
              <a:r>
                <a:rPr lang="es-ES" baseline="30000" dirty="0"/>
                <a:t>er</a:t>
              </a:r>
              <a:r>
                <a:rPr lang="es-ES" dirty="0"/>
                <a:t> partido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F9F7D99-DEF8-AB31-A96C-A9EE15310BDF}"/>
                </a:ext>
              </a:extLst>
            </p:cNvPr>
            <p:cNvSpPr txBox="1"/>
            <p:nvPr/>
          </p:nvSpPr>
          <p:spPr>
            <a:xfrm>
              <a:off x="314210" y="3394932"/>
              <a:ext cx="1681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  <a:r>
                <a:rPr lang="es-ES" baseline="30000" dirty="0"/>
                <a:t>er</a:t>
              </a:r>
              <a:r>
                <a:rPr lang="es-ES" dirty="0"/>
                <a:t> partido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7EC7CEB9-42BA-A5B2-3126-DCCEEB8BDC65}"/>
                </a:ext>
              </a:extLst>
            </p:cNvPr>
            <p:cNvSpPr txBox="1"/>
            <p:nvPr/>
          </p:nvSpPr>
          <p:spPr>
            <a:xfrm>
              <a:off x="1050175" y="494667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9FD21F1-522D-8498-7BAD-D7AC2A6BD4D8}"/>
                </a:ext>
              </a:extLst>
            </p:cNvPr>
            <p:cNvSpPr txBox="1"/>
            <p:nvPr/>
          </p:nvSpPr>
          <p:spPr>
            <a:xfrm>
              <a:off x="1050175" y="5506432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48C586A-5702-FFA0-A36E-DBC6A146E940}"/>
                </a:ext>
              </a:extLst>
            </p:cNvPr>
            <p:cNvSpPr txBox="1"/>
            <p:nvPr/>
          </p:nvSpPr>
          <p:spPr>
            <a:xfrm>
              <a:off x="1050175" y="6083346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67BDCE1-481D-4454-3371-369DAD4F8341}"/>
                </a:ext>
              </a:extLst>
            </p:cNvPr>
            <p:cNvCxnSpPr/>
            <p:nvPr/>
          </p:nvCxnSpPr>
          <p:spPr>
            <a:xfrm flipV="1">
              <a:off x="1403740" y="4671601"/>
              <a:ext cx="1009650" cy="32385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27C303A9-498F-8515-6830-BBC93B41AB29}"/>
                </a:ext>
              </a:extLst>
            </p:cNvPr>
            <p:cNvCxnSpPr>
              <a:cxnSpLocks/>
            </p:cNvCxnSpPr>
            <p:nvPr/>
          </p:nvCxnSpPr>
          <p:spPr>
            <a:xfrm>
              <a:off x="1403740" y="5287436"/>
              <a:ext cx="1009650" cy="323850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19C74249-BD22-CF08-3128-ED305BDC8FCC}"/>
                </a:ext>
              </a:extLst>
            </p:cNvPr>
            <p:cNvCxnSpPr/>
            <p:nvPr/>
          </p:nvCxnSpPr>
          <p:spPr>
            <a:xfrm>
              <a:off x="1403740" y="5137745"/>
              <a:ext cx="1009650" cy="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097A88F1-AC84-8485-2A19-07423BCCB67E}"/>
                </a:ext>
              </a:extLst>
            </p:cNvPr>
            <p:cNvSpPr/>
            <p:nvPr/>
          </p:nvSpPr>
          <p:spPr>
            <a:xfrm>
              <a:off x="6031629" y="3899768"/>
              <a:ext cx="361950" cy="14542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7BDB131A-B129-8FCC-18D7-D911DC333224}"/>
                </a:ext>
              </a:extLst>
            </p:cNvPr>
            <p:cNvSpPr txBox="1"/>
            <p:nvPr/>
          </p:nvSpPr>
          <p:spPr>
            <a:xfrm>
              <a:off x="6103384" y="3912945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91D693F-E013-4D4D-D34B-915F06F0EEBD}"/>
                </a:ext>
              </a:extLst>
            </p:cNvPr>
            <p:cNvSpPr txBox="1"/>
            <p:nvPr/>
          </p:nvSpPr>
          <p:spPr>
            <a:xfrm>
              <a:off x="6103384" y="4445239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X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57C0BD3-8C92-4677-6096-521575717B3E}"/>
                </a:ext>
              </a:extLst>
            </p:cNvPr>
            <p:cNvSpPr txBox="1"/>
            <p:nvPr/>
          </p:nvSpPr>
          <p:spPr>
            <a:xfrm>
              <a:off x="6103384" y="4907074"/>
              <a:ext cx="220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242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54A1A-9F54-31FA-EDEC-0EB38133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28EB22-7284-4BE1-A801-B958E6BAA68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CF5FA5F-3BB1-C0B8-DC86-99014B9D6AA5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25CCF21-B3CE-6802-CC83-F53AF7317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82A09F2-4F7E-37F2-254C-742ABF9F051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65352586-0DA4-A28A-9064-DCCDBDE3C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1B3F491-1C8C-A787-96E4-EB1C0EA91D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AA01BEBF-4510-021C-5C3F-430EF14F5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911A72D-3A8B-79B3-7104-7196DF70F5CA}"/>
              </a:ext>
            </a:extLst>
          </p:cNvPr>
          <p:cNvSpPr/>
          <p:nvPr/>
        </p:nvSpPr>
        <p:spPr>
          <a:xfrm>
            <a:off x="535084" y="10382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E5F02E18-46F7-1CBA-9370-23922E503167}"/>
              </a:ext>
            </a:extLst>
          </p:cNvPr>
          <p:cNvSpPr txBox="1"/>
          <p:nvPr/>
        </p:nvSpPr>
        <p:spPr>
          <a:xfrm>
            <a:off x="535084" y="10455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Disponemos de </a:t>
            </a:r>
            <a:r>
              <a:rPr lang="es-ES" sz="2000" b="1" dirty="0">
                <a:solidFill>
                  <a:srgbClr val="4E95D9"/>
                </a:solidFill>
              </a:rPr>
              <a:t>m elementos</a:t>
            </a:r>
            <a:r>
              <a:rPr lang="es-ES" sz="2000" b="1" dirty="0"/>
              <a:t>. Formamos agrupaciones ordenadas (“tiras”) de n de ellos, repetidos o no.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1DDB0F7D-86B8-AF1C-9DAB-5B29C5AEBC02}"/>
              </a:ext>
            </a:extLst>
          </p:cNvPr>
          <p:cNvSpPr/>
          <p:nvPr/>
        </p:nvSpPr>
        <p:spPr>
          <a:xfrm>
            <a:off x="535084" y="196396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6921F24A-B159-85B6-8FC8-934C640EF9A0}"/>
                  </a:ext>
                </a:extLst>
              </p:cNvPr>
              <p:cNvSpPr txBox="1"/>
              <p:nvPr/>
            </p:nvSpPr>
            <p:spPr>
              <a:xfrm>
                <a:off x="535084" y="1971250"/>
                <a:ext cx="11121832" cy="72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A estas agrupaciones se las llama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variaciones con repetición </a:t>
                </a:r>
                <a:r>
                  <a:rPr lang="es-ES" sz="2000" b="1" dirty="0"/>
                  <a:t>de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m</a:t>
                </a:r>
                <a:r>
                  <a:rPr lang="es-ES" sz="2000" b="1" dirty="0"/>
                  <a:t> elementos tomados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n</a:t>
                </a:r>
                <a:r>
                  <a:rPr lang="es-ES" sz="2000" b="1" dirty="0"/>
                  <a:t> a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n</a:t>
                </a:r>
                <a:r>
                  <a:rPr lang="es-ES" sz="2000" b="1" dirty="0"/>
                  <a:t>. Al número de ellas se le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𝑽𝑹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s-ES" sz="2000" b="1" dirty="0"/>
              </a:p>
            </p:txBody>
          </p:sp>
        </mc:Choice>
        <mc:Fallback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6921F24A-B159-85B6-8FC8-934C640EF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971250"/>
                <a:ext cx="11121832" cy="721288"/>
              </a:xfrm>
              <a:prstGeom prst="rect">
                <a:avLst/>
              </a:prstGeom>
              <a:blipFill>
                <a:blip r:embed="rId6"/>
                <a:stretch>
                  <a:fillRect l="-603" t="-4202" b="-1092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!CuadroTexto 1">
            <a:extLst>
              <a:ext uri="{FF2B5EF4-FFF2-40B4-BE49-F238E27FC236}">
                <a16:creationId xmlns:a16="http://schemas.microsoft.com/office/drawing/2014/main" id="{B4341057-9FC7-98CA-96E5-9370B3A353A4}"/>
              </a:ext>
            </a:extLst>
          </p:cNvPr>
          <p:cNvSpPr txBox="1"/>
          <p:nvPr/>
        </p:nvSpPr>
        <p:spPr>
          <a:xfrm>
            <a:off x="535001" y="280440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¿Cuántas combinaciones posibles tiene una quiniela?</a:t>
            </a:r>
            <a:endParaRPr lang="es-E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07906E0-3D78-EBD2-71E7-5867096EBF7A}"/>
                  </a:ext>
                </a:extLst>
              </p:cNvPr>
              <p:cNvSpPr txBox="1"/>
              <p:nvPr/>
            </p:nvSpPr>
            <p:spPr>
              <a:xfrm>
                <a:off x="651542" y="3536719"/>
                <a:ext cx="2045895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𝑽𝑹</m:t>
                        </m:r>
                      </m:e>
                      <m:sub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E07906E0-3D78-EBD2-71E7-5867096E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2" y="3536719"/>
                <a:ext cx="2045895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EF41DB1-CE26-4ED4-1222-923BFE7D5D3E}"/>
                  </a:ext>
                </a:extLst>
              </p:cNvPr>
              <p:cNvSpPr txBox="1"/>
              <p:nvPr/>
            </p:nvSpPr>
            <p:spPr>
              <a:xfrm>
                <a:off x="651542" y="4082383"/>
                <a:ext cx="2466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EF41DB1-CE26-4ED4-1222-923BFE7D5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2" y="4082383"/>
                <a:ext cx="2466975" cy="400110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49D9CAE-4B45-893C-30F5-8A064489B9CB}"/>
                  </a:ext>
                </a:extLst>
              </p:cNvPr>
              <p:cNvSpPr txBox="1"/>
              <p:nvPr/>
            </p:nvSpPr>
            <p:spPr>
              <a:xfrm>
                <a:off x="651541" y="4564248"/>
                <a:ext cx="2466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𝒑𝒂𝒓𝒕𝒊𝒅𝒐𝒔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349D9CAE-4B45-893C-30F5-8A064489B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1" y="4564248"/>
                <a:ext cx="2466975" cy="400110"/>
              </a:xfrm>
              <a:prstGeom prst="rect">
                <a:avLst/>
              </a:prstGeom>
              <a:blipFill>
                <a:blip r:embed="rId9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ángulo 30">
            <a:extLst>
              <a:ext uri="{FF2B5EF4-FFF2-40B4-BE49-F238E27FC236}">
                <a16:creationId xmlns:a16="http://schemas.microsoft.com/office/drawing/2014/main" id="{0A39B045-90A9-968E-BA1F-FC7315BDAED9}"/>
              </a:ext>
            </a:extLst>
          </p:cNvPr>
          <p:cNvSpPr/>
          <p:nvPr/>
        </p:nvSpPr>
        <p:spPr>
          <a:xfrm>
            <a:off x="651541" y="3536719"/>
            <a:ext cx="1643424" cy="46166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E2D1F1D-67A4-2A3F-D0E4-6D12E69BD164}"/>
                  </a:ext>
                </a:extLst>
              </p:cNvPr>
              <p:cNvSpPr txBox="1"/>
              <p:nvPr/>
            </p:nvSpPr>
            <p:spPr>
              <a:xfrm>
                <a:off x="3679841" y="4028327"/>
                <a:ext cx="7176418" cy="50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𝑽𝑹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</m:t>
                          </m:r>
                        </m:sup>
                      </m:sSup>
                      <m:r>
                        <a:rPr lang="es-E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𝟑𝟒𝟖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𝟗𝟎𝟕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𝑪𝑶𝑴𝑩𝑰𝑵𝑨𝑪𝑰𝑶𝑵𝑬𝑺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E2D1F1D-67A4-2A3F-D0E4-6D12E69BD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841" y="4028327"/>
                <a:ext cx="7176418" cy="5002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08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76BE-D7C2-6D2F-C3EE-51C92F9C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8D45DCE-9A01-DB9D-5844-007F6AB6BA3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11DFCD6-F596-EFB4-4130-239461A0AE1D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C59DA96D-B558-97D1-08F9-8FE5D093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79C4385-8F0C-1A6A-9CF8-F027AFA0EC7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275CDEED-8D80-CEE6-7E9B-0158FEE88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3C705CC8-6300-4FF8-08BA-5C121A586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900579E8-45F0-583F-8287-BBE83ABF7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D3168135-D879-A8A6-491C-14D88E0C309F}"/>
              </a:ext>
            </a:extLst>
          </p:cNvPr>
          <p:cNvSpPr txBox="1"/>
          <p:nvPr/>
        </p:nvSpPr>
        <p:spPr>
          <a:xfrm>
            <a:off x="535001" y="2831295"/>
            <a:ext cx="11121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Antonio, Beatriz, Carmen y Darío juegan la fase final de un campeonato de pimpón. </a:t>
            </a:r>
            <a:r>
              <a:rPr lang="es-ES" i="1" dirty="0"/>
              <a:t>Hay una copa para el campeón y una placa para el subcampeón. </a:t>
            </a:r>
            <a:r>
              <a:rPr lang="es-ES" dirty="0"/>
              <a:t>¿</a:t>
            </a:r>
            <a:r>
              <a:rPr lang="es-ES" i="1" dirty="0"/>
              <a:t>De cuántas formas pueden adjudicarse los trofeos</a:t>
            </a:r>
            <a:r>
              <a:rPr lang="es-ES" dirty="0"/>
              <a:t>?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99BE694-8EC6-C1D9-BF74-83026570F4C1}"/>
              </a:ext>
            </a:extLst>
          </p:cNvPr>
          <p:cNvSpPr txBox="1"/>
          <p:nvPr/>
        </p:nvSpPr>
        <p:spPr>
          <a:xfrm>
            <a:off x="1323873" y="4328765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5FF867D-4DB8-BE5B-6B6C-4B38A5A6A921}"/>
              </a:ext>
            </a:extLst>
          </p:cNvPr>
          <p:cNvSpPr txBox="1"/>
          <p:nvPr/>
        </p:nvSpPr>
        <p:spPr>
          <a:xfrm>
            <a:off x="1323873" y="4981599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049054E-5AA7-CE4D-5B51-E0204CE8EA17}"/>
              </a:ext>
            </a:extLst>
          </p:cNvPr>
          <p:cNvSpPr txBox="1"/>
          <p:nvPr/>
        </p:nvSpPr>
        <p:spPr>
          <a:xfrm>
            <a:off x="1323872" y="5634433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CEA35A9-014B-88C7-392F-24924473E1D2}"/>
              </a:ext>
            </a:extLst>
          </p:cNvPr>
          <p:cNvCxnSpPr>
            <a:cxnSpLocks/>
          </p:cNvCxnSpPr>
          <p:nvPr/>
        </p:nvCxnSpPr>
        <p:spPr>
          <a:xfrm flipV="1">
            <a:off x="1657400" y="4717976"/>
            <a:ext cx="1009650" cy="32385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B89AF746-53AC-7F2E-6CAD-E87C733BC0DD}"/>
              </a:ext>
            </a:extLst>
          </p:cNvPr>
          <p:cNvCxnSpPr>
            <a:cxnSpLocks/>
          </p:cNvCxnSpPr>
          <p:nvPr/>
        </p:nvCxnSpPr>
        <p:spPr>
          <a:xfrm>
            <a:off x="1657400" y="5333811"/>
            <a:ext cx="1009650" cy="32385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2463B46-CC0B-83C8-8868-7A7A976B97A1}"/>
              </a:ext>
            </a:extLst>
          </p:cNvPr>
          <p:cNvCxnSpPr/>
          <p:nvPr/>
        </p:nvCxnSpPr>
        <p:spPr>
          <a:xfrm>
            <a:off x="1657400" y="5184120"/>
            <a:ext cx="100965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9056B34-00FB-3AD5-D4A3-C2D014B8A8DA}"/>
              </a:ext>
            </a:extLst>
          </p:cNvPr>
          <p:cNvSpPr txBox="1"/>
          <p:nvPr/>
        </p:nvSpPr>
        <p:spPr>
          <a:xfrm>
            <a:off x="1323872" y="6287266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7D0704E-E5FA-5D42-DB29-AAC769564A34}"/>
              </a:ext>
            </a:extLst>
          </p:cNvPr>
          <p:cNvSpPr txBox="1"/>
          <p:nvPr/>
        </p:nvSpPr>
        <p:spPr>
          <a:xfrm>
            <a:off x="2736642" y="4513432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9CADB42-9B18-8868-FDE6-A79C7D3ACD52}"/>
              </a:ext>
            </a:extLst>
          </p:cNvPr>
          <p:cNvSpPr txBox="1"/>
          <p:nvPr/>
        </p:nvSpPr>
        <p:spPr>
          <a:xfrm>
            <a:off x="2736641" y="4998316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AEC4453-2C21-18EB-CE3E-BC82CCEC1AFC}"/>
              </a:ext>
            </a:extLst>
          </p:cNvPr>
          <p:cNvSpPr txBox="1"/>
          <p:nvPr/>
        </p:nvSpPr>
        <p:spPr>
          <a:xfrm>
            <a:off x="2736641" y="5473868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BB07C68F-3D4F-B08E-EFFC-F340A995337A}"/>
              </a:ext>
            </a:extLst>
          </p:cNvPr>
          <p:cNvSpPr txBox="1"/>
          <p:nvPr/>
        </p:nvSpPr>
        <p:spPr>
          <a:xfrm>
            <a:off x="1235560" y="3911489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1º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E642A2FD-6EA6-F591-5D70-7FE73ECAE8D9}"/>
              </a:ext>
            </a:extLst>
          </p:cNvPr>
          <p:cNvSpPr txBox="1"/>
          <p:nvPr/>
        </p:nvSpPr>
        <p:spPr>
          <a:xfrm>
            <a:off x="2648329" y="3911489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2E7B1AE-9072-237A-6A03-71894C1D9303}"/>
                  </a:ext>
                </a:extLst>
              </p:cNvPr>
              <p:cNvSpPr txBox="1"/>
              <p:nvPr/>
            </p:nvSpPr>
            <p:spPr>
              <a:xfrm>
                <a:off x="4331522" y="4460531"/>
                <a:ext cx="47244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0" i="1" dirty="0">
                    <a:latin typeface="Cambria Math" panose="02040503050406030204" pitchFamily="18" charset="0"/>
                  </a:rPr>
                  <a:t>El número de combinaciones es: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∙3=</m:t>
                    </m:r>
                    <m:r>
                      <a:rPr lang="es-E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s-ES" sz="2400" dirty="0"/>
                  <a:t> </a:t>
                </a:r>
              </a:p>
            </p:txBody>
          </p:sp>
        </mc:Choice>
        <mc:Fallback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2E7B1AE-9072-237A-6A03-71894C1D9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522" y="4460531"/>
                <a:ext cx="4724400" cy="830997"/>
              </a:xfrm>
              <a:prstGeom prst="rect">
                <a:avLst/>
              </a:prstGeom>
              <a:blipFill>
                <a:blip r:embed="rId6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13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6" grpId="0"/>
      <p:bldP spid="37" grpId="0"/>
      <p:bldP spid="38" grpId="0"/>
      <p:bldP spid="42" grpId="0"/>
      <p:bldP spid="44" grpId="0"/>
      <p:bldP spid="45" grpId="0"/>
      <p:bldP spid="46" grpId="0"/>
      <p:bldP spid="74" grpId="0"/>
      <p:bldP spid="76" grpId="0"/>
      <p:bldP spid="7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BAB7-E5EE-3E08-B5A6-C62787AD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1630045-F4F0-0CA3-FBF3-22554CBF77D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353BC4F-B0A0-B834-1481-4A8C00EC9C6C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E4384C34-7C6A-ED33-62F8-F99D5B26E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46559CD-9ADC-4EA9-8B01-6E85C9147D8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B28C5DB2-7CC6-9C64-4F0D-D98DE5CEF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620BE0E7-E395-7EC1-1E55-59FC5D556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49C9F2D-C163-EA88-8039-9F0BF421D3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B7C86134-3514-C702-B63B-E15B0E54F1D8}"/>
              </a:ext>
            </a:extLst>
          </p:cNvPr>
          <p:cNvSpPr/>
          <p:nvPr/>
        </p:nvSpPr>
        <p:spPr>
          <a:xfrm>
            <a:off x="535084" y="10382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2284E65-0C67-2816-222A-49B62927DE0E}"/>
              </a:ext>
            </a:extLst>
          </p:cNvPr>
          <p:cNvSpPr txBox="1"/>
          <p:nvPr/>
        </p:nvSpPr>
        <p:spPr>
          <a:xfrm>
            <a:off x="535084" y="10455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distintas formas en que se pueden ordenar los </a:t>
            </a:r>
            <a:r>
              <a:rPr lang="es-ES" sz="2000" b="1" dirty="0">
                <a:solidFill>
                  <a:srgbClr val="4E95D9"/>
                </a:solidFill>
              </a:rPr>
              <a:t>m</a:t>
            </a:r>
            <a:r>
              <a:rPr lang="es-ES" sz="2000" b="1" dirty="0"/>
              <a:t> elementos de un conjunto se llaman </a:t>
            </a:r>
            <a:r>
              <a:rPr lang="es-ES" sz="2000" b="1" dirty="0">
                <a:solidFill>
                  <a:srgbClr val="4E95D9"/>
                </a:solidFill>
              </a:rPr>
              <a:t>permutaciones</a:t>
            </a:r>
            <a:r>
              <a:rPr lang="es-ES" sz="2000" b="1" dirty="0"/>
              <a:t>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0B20E4FF-8A78-5C75-E2D0-D36C152435AB}"/>
              </a:ext>
            </a:extLst>
          </p:cNvPr>
          <p:cNvSpPr/>
          <p:nvPr/>
        </p:nvSpPr>
        <p:spPr>
          <a:xfrm>
            <a:off x="535084" y="196396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A2CDF0AE-A799-50CE-370C-E10D6A36CBFB}"/>
                  </a:ext>
                </a:extLst>
              </p:cNvPr>
              <p:cNvSpPr txBox="1"/>
              <p:nvPr/>
            </p:nvSpPr>
            <p:spPr>
              <a:xfrm>
                <a:off x="535084" y="1971250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Su número se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s-ES" sz="2000" b="1" dirty="0"/>
                  <a:t> y es igual al número de variaciones de m elementos tomados m a m.</a:t>
                </a:r>
              </a:p>
            </p:txBody>
          </p:sp>
        </mc:Choice>
        <mc:Fallback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A2CDF0AE-A799-50CE-370C-E10D6A36C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971250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4310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DE4259-17E0-2D27-567A-DFF6C86CC9FC}"/>
                  </a:ext>
                </a:extLst>
              </p:cNvPr>
              <p:cNvSpPr txBox="1"/>
              <p:nvPr/>
            </p:nvSpPr>
            <p:spPr>
              <a:xfrm>
                <a:off x="4592887" y="3831790"/>
                <a:ext cx="300605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/>
                  <a:t>…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DE4259-17E0-2D27-567A-DFF6C86CC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887" y="3831790"/>
                <a:ext cx="3006059" cy="413511"/>
              </a:xfrm>
              <a:prstGeom prst="rect">
                <a:avLst/>
              </a:prstGeom>
              <a:blipFill>
                <a:blip r:embed="rId7"/>
                <a:stretch>
                  <a:fillRect t="-10448" b="-2238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FB7C5E7-043F-9244-6D06-FDC34EDC7A01}"/>
                  </a:ext>
                </a:extLst>
              </p:cNvPr>
              <p:cNvSpPr txBox="1"/>
              <p:nvPr/>
            </p:nvSpPr>
            <p:spPr>
              <a:xfrm>
                <a:off x="770752" y="3965294"/>
                <a:ext cx="2466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AFB7C5E7-043F-9244-6D06-FDC34EDC7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52" y="3965294"/>
                <a:ext cx="246697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!CuadroTexto 1">
            <a:extLst>
              <a:ext uri="{FF2B5EF4-FFF2-40B4-BE49-F238E27FC236}">
                <a16:creationId xmlns:a16="http://schemas.microsoft.com/office/drawing/2014/main" id="{810DD810-8D1F-BDE8-F6DE-7CCE37072912}"/>
              </a:ext>
            </a:extLst>
          </p:cNvPr>
          <p:cNvSpPr txBox="1"/>
          <p:nvPr/>
        </p:nvSpPr>
        <p:spPr>
          <a:xfrm>
            <a:off x="535001" y="2831295"/>
            <a:ext cx="11121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Antonio, Beatriz, Carmen y Darío juegan la fase final de un campeonato de pimpón. </a:t>
            </a:r>
            <a:r>
              <a:rPr lang="es-ES" i="1" dirty="0"/>
              <a:t>Hay una copa para el campeón y una placa para el subcampeón. </a:t>
            </a:r>
            <a:r>
              <a:rPr lang="es-ES" dirty="0"/>
              <a:t>¿</a:t>
            </a:r>
            <a:r>
              <a:rPr lang="es-ES" i="1" dirty="0"/>
              <a:t>De cuántas formas pueden adjudicarse los trofeos</a:t>
            </a:r>
            <a:r>
              <a:rPr lang="es-ES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01B5A80-E084-D1BC-49EB-2AF4174D1EEE}"/>
                  </a:ext>
                </a:extLst>
              </p:cNvPr>
              <p:cNvSpPr txBox="1"/>
              <p:nvPr/>
            </p:nvSpPr>
            <p:spPr>
              <a:xfrm>
                <a:off x="770752" y="4394587"/>
                <a:ext cx="2466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01B5A80-E084-D1BC-49EB-2AF4174D1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52" y="4394587"/>
                <a:ext cx="246697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FB3CACE-5D57-1FD1-D631-DA4593301F14}"/>
                  </a:ext>
                </a:extLst>
              </p:cNvPr>
              <p:cNvSpPr txBox="1"/>
              <p:nvPr/>
            </p:nvSpPr>
            <p:spPr>
              <a:xfrm>
                <a:off x="2481699" y="4935085"/>
                <a:ext cx="7228434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s-ES" sz="2000" b="1" dirty="0"/>
                  <a:t>  </a:t>
                </a:r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2FB3CACE-5D57-1FD1-D631-DA4593301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699" y="4935085"/>
                <a:ext cx="7228434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brir llave 23">
            <a:extLst>
              <a:ext uri="{FF2B5EF4-FFF2-40B4-BE49-F238E27FC236}">
                <a16:creationId xmlns:a16="http://schemas.microsoft.com/office/drawing/2014/main" id="{8F119F79-B0CC-8869-62D7-9833B04A1187}"/>
              </a:ext>
            </a:extLst>
          </p:cNvPr>
          <p:cNvSpPr/>
          <p:nvPr/>
        </p:nvSpPr>
        <p:spPr>
          <a:xfrm rot="16200000">
            <a:off x="6462819" y="3422532"/>
            <a:ext cx="147431" cy="1738312"/>
          </a:xfrm>
          <a:prstGeom prst="leftBrace">
            <a:avLst>
              <a:gd name="adj1" fmla="val 30650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E9B28AC-029B-3FFB-FE7E-019812412AAA}"/>
              </a:ext>
            </a:extLst>
          </p:cNvPr>
          <p:cNvSpPr txBox="1"/>
          <p:nvPr/>
        </p:nvSpPr>
        <p:spPr>
          <a:xfrm>
            <a:off x="5008460" y="4355083"/>
            <a:ext cx="305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n factores decrecientes</a:t>
            </a:r>
          </a:p>
        </p:txBody>
      </p:sp>
    </p:spTree>
    <p:extLst>
      <p:ext uri="{BB962C8B-B14F-4D97-AF65-F5344CB8AC3E}">
        <p14:creationId xmlns:p14="http://schemas.microsoft.com/office/powerpoint/2010/main" val="2749646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EC6AE-C8BE-FFCD-794F-33889B60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49C5E7-E587-C22C-E621-8FCDE0B9886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8746082-9F93-B850-5527-CB180D54A905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8D5D41AB-E952-34D1-5095-4B40832A4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AE17D6C-5AEA-0ADE-39A7-B2C96570457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AA4D7AC9-D982-3185-6B0B-D932CFC72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8807820C-BA57-81CD-C8BC-531CE1759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B006110-AB2E-DE64-49A4-057762AFA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!CuadroTexto 1">
            <a:extLst>
              <a:ext uri="{FF2B5EF4-FFF2-40B4-BE49-F238E27FC236}">
                <a16:creationId xmlns:a16="http://schemas.microsoft.com/office/drawing/2014/main" id="{D3B002D8-22B7-42B7-6CED-F2128F53A00C}"/>
              </a:ext>
            </a:extLst>
          </p:cNvPr>
          <p:cNvSpPr txBox="1"/>
          <p:nvPr/>
        </p:nvSpPr>
        <p:spPr>
          <a:xfrm>
            <a:off x="535001" y="2804401"/>
            <a:ext cx="111218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Antonio, Beatriz, Carmen y Darío juegan la fase final de un campeonato de pimpón.</a:t>
            </a:r>
          </a:p>
          <a:p>
            <a:r>
              <a:rPr lang="es-ES" dirty="0"/>
              <a:t>¿Cuántas posibles clasificaciones hay?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4B85258-51BA-BFF6-C260-B30BDFD4756F}"/>
              </a:ext>
            </a:extLst>
          </p:cNvPr>
          <p:cNvSpPr txBox="1"/>
          <p:nvPr/>
        </p:nvSpPr>
        <p:spPr>
          <a:xfrm>
            <a:off x="1059288" y="4306184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63D7F69-3D24-F215-4074-6ABFBE806589}"/>
              </a:ext>
            </a:extLst>
          </p:cNvPr>
          <p:cNvSpPr txBox="1"/>
          <p:nvPr/>
        </p:nvSpPr>
        <p:spPr>
          <a:xfrm>
            <a:off x="1059288" y="4959018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8AAA02D-5CBB-4C28-7107-D05F058AD918}"/>
              </a:ext>
            </a:extLst>
          </p:cNvPr>
          <p:cNvSpPr txBox="1"/>
          <p:nvPr/>
        </p:nvSpPr>
        <p:spPr>
          <a:xfrm>
            <a:off x="1059287" y="5611852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28A947C-8CF7-FE4D-689D-42A716112E82}"/>
              </a:ext>
            </a:extLst>
          </p:cNvPr>
          <p:cNvCxnSpPr>
            <a:cxnSpLocks/>
          </p:cNvCxnSpPr>
          <p:nvPr/>
        </p:nvCxnSpPr>
        <p:spPr>
          <a:xfrm flipV="1">
            <a:off x="1392815" y="4695395"/>
            <a:ext cx="1009650" cy="32385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2B1B7702-0C19-8187-A591-A6AF5F4F44E6}"/>
              </a:ext>
            </a:extLst>
          </p:cNvPr>
          <p:cNvCxnSpPr>
            <a:cxnSpLocks/>
          </p:cNvCxnSpPr>
          <p:nvPr/>
        </p:nvCxnSpPr>
        <p:spPr>
          <a:xfrm>
            <a:off x="1392815" y="5311230"/>
            <a:ext cx="1009650" cy="32385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38E34EA-F245-8357-4246-F66AD1CFABB8}"/>
              </a:ext>
            </a:extLst>
          </p:cNvPr>
          <p:cNvCxnSpPr/>
          <p:nvPr/>
        </p:nvCxnSpPr>
        <p:spPr>
          <a:xfrm>
            <a:off x="1392815" y="5161539"/>
            <a:ext cx="100965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C63DECC-E6BD-8798-93F8-26677ACB2729}"/>
              </a:ext>
            </a:extLst>
          </p:cNvPr>
          <p:cNvSpPr txBox="1"/>
          <p:nvPr/>
        </p:nvSpPr>
        <p:spPr>
          <a:xfrm>
            <a:off x="1059287" y="6264685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63309AD-A716-578E-9439-C66E46079093}"/>
              </a:ext>
            </a:extLst>
          </p:cNvPr>
          <p:cNvSpPr txBox="1"/>
          <p:nvPr/>
        </p:nvSpPr>
        <p:spPr>
          <a:xfrm>
            <a:off x="2472057" y="4490851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E9ECA6-EE96-FDA9-8462-CAA6A7AC0E2D}"/>
              </a:ext>
            </a:extLst>
          </p:cNvPr>
          <p:cNvSpPr txBox="1"/>
          <p:nvPr/>
        </p:nvSpPr>
        <p:spPr>
          <a:xfrm>
            <a:off x="2472056" y="4975735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663EC90-EC8E-E27D-04FF-2940260B6905}"/>
              </a:ext>
            </a:extLst>
          </p:cNvPr>
          <p:cNvSpPr txBox="1"/>
          <p:nvPr/>
        </p:nvSpPr>
        <p:spPr>
          <a:xfrm>
            <a:off x="2472056" y="5451287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BA5CA49-C48F-D030-CEA2-4578E48A44E6}"/>
              </a:ext>
            </a:extLst>
          </p:cNvPr>
          <p:cNvCxnSpPr>
            <a:cxnSpLocks/>
          </p:cNvCxnSpPr>
          <p:nvPr/>
        </p:nvCxnSpPr>
        <p:spPr>
          <a:xfrm flipV="1">
            <a:off x="2762629" y="4229251"/>
            <a:ext cx="1009650" cy="32385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94C26251-A0FE-50C5-25CB-4AFB81BB8838}"/>
              </a:ext>
            </a:extLst>
          </p:cNvPr>
          <p:cNvCxnSpPr/>
          <p:nvPr/>
        </p:nvCxnSpPr>
        <p:spPr>
          <a:xfrm>
            <a:off x="2762629" y="4695395"/>
            <a:ext cx="100965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AC5A203-7347-8064-C1AC-77026B9D4142}"/>
              </a:ext>
            </a:extLst>
          </p:cNvPr>
          <p:cNvSpPr txBox="1"/>
          <p:nvPr/>
        </p:nvSpPr>
        <p:spPr>
          <a:xfrm>
            <a:off x="3841871" y="4024707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7123A6B-9D88-9CBD-7CE2-9C1E7EE218C8}"/>
              </a:ext>
            </a:extLst>
          </p:cNvPr>
          <p:cNvSpPr txBox="1"/>
          <p:nvPr/>
        </p:nvSpPr>
        <p:spPr>
          <a:xfrm>
            <a:off x="3841870" y="4509591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51BB0367-C0EE-63A7-6EC6-8DC677DBAADA}"/>
              </a:ext>
            </a:extLst>
          </p:cNvPr>
          <p:cNvCxnSpPr/>
          <p:nvPr/>
        </p:nvCxnSpPr>
        <p:spPr>
          <a:xfrm>
            <a:off x="4162403" y="4206932"/>
            <a:ext cx="100965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2C9390D-1888-8EEB-C1E1-445ED2FABD18}"/>
              </a:ext>
            </a:extLst>
          </p:cNvPr>
          <p:cNvSpPr txBox="1"/>
          <p:nvPr/>
        </p:nvSpPr>
        <p:spPr>
          <a:xfrm>
            <a:off x="5241644" y="4021128"/>
            <a:ext cx="22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302F777-C641-E016-8D6B-86108D28D6F2}"/>
              </a:ext>
            </a:extLst>
          </p:cNvPr>
          <p:cNvSpPr txBox="1"/>
          <p:nvPr/>
        </p:nvSpPr>
        <p:spPr>
          <a:xfrm>
            <a:off x="935115" y="3637894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1º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32EF527-8F8E-6425-A91E-63B603719DF3}"/>
              </a:ext>
            </a:extLst>
          </p:cNvPr>
          <p:cNvSpPr txBox="1"/>
          <p:nvPr/>
        </p:nvSpPr>
        <p:spPr>
          <a:xfrm>
            <a:off x="2347884" y="3637894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2º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21B8F8E-F51C-7A80-9135-E914A4F2E9DC}"/>
              </a:ext>
            </a:extLst>
          </p:cNvPr>
          <p:cNvSpPr txBox="1"/>
          <p:nvPr/>
        </p:nvSpPr>
        <p:spPr>
          <a:xfrm>
            <a:off x="3723823" y="3637894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3º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9997B487-C430-E81F-15CE-BD6F446AC28C}"/>
              </a:ext>
            </a:extLst>
          </p:cNvPr>
          <p:cNvSpPr txBox="1"/>
          <p:nvPr/>
        </p:nvSpPr>
        <p:spPr>
          <a:xfrm>
            <a:off x="5117472" y="3632550"/>
            <a:ext cx="46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4º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3F155171-FAE0-DB7E-1445-FB147689C066}"/>
                  </a:ext>
                </a:extLst>
              </p:cNvPr>
              <p:cNvSpPr txBox="1"/>
              <p:nvPr/>
            </p:nvSpPr>
            <p:spPr>
              <a:xfrm>
                <a:off x="6232040" y="3813752"/>
                <a:ext cx="47244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0" i="1" dirty="0">
                    <a:latin typeface="Cambria Math" panose="02040503050406030204" pitchFamily="18" charset="0"/>
                  </a:rPr>
                  <a:t>El número de combinaciones es: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∙3∙2∙1=24</m:t>
                    </m:r>
                  </m:oMath>
                </a14:m>
                <a:r>
                  <a:rPr lang="es-ES" sz="2400" dirty="0"/>
                  <a:t> </a:t>
                </a:r>
              </a:p>
            </p:txBody>
          </p:sp>
        </mc:Choice>
        <mc:Fallback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3F155171-FAE0-DB7E-1445-FB147689C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040" y="3813752"/>
                <a:ext cx="4724400" cy="830997"/>
              </a:xfrm>
              <a:prstGeom prst="rect">
                <a:avLst/>
              </a:prstGeom>
              <a:blipFill>
                <a:blip r:embed="rId6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73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2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36" grpId="0"/>
      <p:bldP spid="37" grpId="0"/>
      <p:bldP spid="38" grpId="0"/>
      <p:bldP spid="42" grpId="0"/>
      <p:bldP spid="44" grpId="0"/>
      <p:bldP spid="45" grpId="0"/>
      <p:bldP spid="46" grpId="0"/>
      <p:bldP spid="49" grpId="0"/>
      <p:bldP spid="50" grpId="0"/>
      <p:bldP spid="52" grpId="0"/>
      <p:bldP spid="74" grpId="0"/>
      <p:bldP spid="76" grpId="0"/>
      <p:bldP spid="77" grpId="0"/>
      <p:bldP spid="78" grpId="0"/>
      <p:bldP spid="7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70D1A-50A2-9D8F-ACB3-C3E90BB8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9C91B3-91FE-1879-1FDD-951730BAA9E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FFB30AB-BF8E-4587-4E6C-221201CAFAD5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Combinatoria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E882158C-0887-3781-CFEF-C49D26974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CEBD542-A128-2B19-5009-AA867016DE32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D021B1A-733C-BC95-BAFC-E5A938E35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FDC1F292-C04F-A2CE-35FA-E0A9043CA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D59A6EB9-22D0-D8C1-CE61-510ECD5A9F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B8B4BBBE-84EF-FB49-3461-1237073CA54E}"/>
              </a:ext>
            </a:extLst>
          </p:cNvPr>
          <p:cNvSpPr/>
          <p:nvPr/>
        </p:nvSpPr>
        <p:spPr>
          <a:xfrm>
            <a:off x="535084" y="103829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B363056D-A215-45D0-8924-F8A3E5379715}"/>
              </a:ext>
            </a:extLst>
          </p:cNvPr>
          <p:cNvSpPr txBox="1"/>
          <p:nvPr/>
        </p:nvSpPr>
        <p:spPr>
          <a:xfrm>
            <a:off x="535084" y="104557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distintas formas en que se pueden ordenar los </a:t>
            </a:r>
            <a:r>
              <a:rPr lang="es-ES" sz="2000" b="1" dirty="0">
                <a:solidFill>
                  <a:srgbClr val="4E95D9"/>
                </a:solidFill>
              </a:rPr>
              <a:t>m</a:t>
            </a:r>
            <a:r>
              <a:rPr lang="es-ES" sz="2000" b="1" dirty="0"/>
              <a:t> elementos de un conjunto se llaman </a:t>
            </a:r>
            <a:r>
              <a:rPr lang="es-ES" sz="2000" b="1" dirty="0">
                <a:solidFill>
                  <a:srgbClr val="4E95D9"/>
                </a:solidFill>
              </a:rPr>
              <a:t>permutaciones</a:t>
            </a:r>
            <a:r>
              <a:rPr lang="es-ES" sz="2000" b="1" dirty="0"/>
              <a:t>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9DEA4EF5-D4BE-7A2F-2396-A57DBE8EAA7A}"/>
              </a:ext>
            </a:extLst>
          </p:cNvPr>
          <p:cNvSpPr/>
          <p:nvPr/>
        </p:nvSpPr>
        <p:spPr>
          <a:xfrm>
            <a:off x="535084" y="196396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AB8607D7-AD11-54DC-C135-16E577845DA3}"/>
                  </a:ext>
                </a:extLst>
              </p:cNvPr>
              <p:cNvSpPr txBox="1"/>
              <p:nvPr/>
            </p:nvSpPr>
            <p:spPr>
              <a:xfrm>
                <a:off x="535084" y="1971250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Su número se designa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s-ES" sz="2000" b="1" dirty="0"/>
                  <a:t> y es igual al número de variaciones de m elementos tomados m a m.</a:t>
                </a:r>
              </a:p>
            </p:txBody>
          </p:sp>
        </mc:Choice>
        <mc:Fallback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AB8607D7-AD11-54DC-C135-16E577845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971250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4310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!CuadroTexto 1">
            <a:extLst>
              <a:ext uri="{FF2B5EF4-FFF2-40B4-BE49-F238E27FC236}">
                <a16:creationId xmlns:a16="http://schemas.microsoft.com/office/drawing/2014/main" id="{3BF58C9C-D27F-5EE9-A1EB-5628F68E5210}"/>
              </a:ext>
            </a:extLst>
          </p:cNvPr>
          <p:cNvSpPr txBox="1"/>
          <p:nvPr/>
        </p:nvSpPr>
        <p:spPr>
          <a:xfrm>
            <a:off x="535001" y="2804401"/>
            <a:ext cx="111218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dirty="0"/>
              <a:t>Antonio, Beatriz, Carmen y Darío juegan la fase final de un campeonato de pimpón.</a:t>
            </a:r>
          </a:p>
          <a:p>
            <a:r>
              <a:rPr lang="es-ES" dirty="0"/>
              <a:t>¿Cuántas posibles clasificaciones hay?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F306F09-C84D-EE36-6E26-33DE3DE1DC82}"/>
                  </a:ext>
                </a:extLst>
              </p:cNvPr>
              <p:cNvSpPr txBox="1"/>
              <p:nvPr/>
            </p:nvSpPr>
            <p:spPr>
              <a:xfrm>
                <a:off x="651540" y="3650442"/>
                <a:ext cx="7228434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dirty="0"/>
                  <a:t>…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s-ES" sz="2000" b="1" i="1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</m:oMath>
                </a14:m>
                <a:endParaRPr lang="es-ES" sz="2000" b="1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0F306F09-C84D-EE36-6E26-33DE3DE1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0" y="3650442"/>
                <a:ext cx="7228434" cy="413511"/>
              </a:xfrm>
              <a:prstGeom prst="rect">
                <a:avLst/>
              </a:prstGeom>
              <a:blipFill>
                <a:blip r:embed="rId7"/>
                <a:stretch>
                  <a:fillRect t="-10294" b="-2058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86A4056-A658-E1FE-90EA-C0CA14169F91}"/>
                  </a:ext>
                </a:extLst>
              </p:cNvPr>
              <p:cNvSpPr txBox="1"/>
              <p:nvPr/>
            </p:nvSpPr>
            <p:spPr>
              <a:xfrm>
                <a:off x="651540" y="4256964"/>
                <a:ext cx="24669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686A4056-A658-E1FE-90EA-C0CA14169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40" y="4256964"/>
                <a:ext cx="246697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ángulo 13">
            <a:extLst>
              <a:ext uri="{FF2B5EF4-FFF2-40B4-BE49-F238E27FC236}">
                <a16:creationId xmlns:a16="http://schemas.microsoft.com/office/drawing/2014/main" id="{5500FA48-6B2A-46BC-42B6-AEA080007342}"/>
              </a:ext>
            </a:extLst>
          </p:cNvPr>
          <p:cNvSpPr/>
          <p:nvPr/>
        </p:nvSpPr>
        <p:spPr>
          <a:xfrm>
            <a:off x="651540" y="3626366"/>
            <a:ext cx="4467307" cy="46166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171C16C-AA0E-81EB-6A2C-78A28F92716B}"/>
                  </a:ext>
                </a:extLst>
              </p:cNvPr>
              <p:cNvSpPr txBox="1"/>
              <p:nvPr/>
            </p:nvSpPr>
            <p:spPr>
              <a:xfrm>
                <a:off x="2417587" y="4264434"/>
                <a:ext cx="7228434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𝟐𝟒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171C16C-AA0E-81EB-6A2C-78A28F927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587" y="4264434"/>
                <a:ext cx="7228434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1CEBB7F4-FC36-1163-8C4C-F5C550E7F45E}"/>
              </a:ext>
            </a:extLst>
          </p:cNvPr>
          <p:cNvSpPr txBox="1"/>
          <p:nvPr/>
        </p:nvSpPr>
        <p:spPr>
          <a:xfrm>
            <a:off x="651540" y="4798506"/>
            <a:ext cx="9855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dirty="0"/>
              <a:t>Un número factorial es el producto de todos los números naturales desde ese número hasta 1, se representa con el número seguido de 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E376AC0-96CA-538A-92DB-5F7AA56C9CFE}"/>
                  </a:ext>
                </a:extLst>
              </p:cNvPr>
              <p:cNvSpPr txBox="1"/>
              <p:nvPr/>
            </p:nvSpPr>
            <p:spPr>
              <a:xfrm>
                <a:off x="770001" y="5595028"/>
                <a:ext cx="2199234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E376AC0-96CA-538A-92DB-5F7AA56C9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01" y="5595028"/>
                <a:ext cx="2199234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E37F8DE-3307-3978-CEEC-5E8DF13E7885}"/>
                  </a:ext>
                </a:extLst>
              </p:cNvPr>
              <p:cNvSpPr txBox="1"/>
              <p:nvPr/>
            </p:nvSpPr>
            <p:spPr>
              <a:xfrm>
                <a:off x="3360331" y="5595027"/>
                <a:ext cx="2199234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E37F8DE-3307-3978-CEEC-5E8DF13E7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331" y="5595027"/>
                <a:ext cx="2199234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EC5D665-FBA0-9853-F8F2-868C51421F9A}"/>
                  </a:ext>
                </a:extLst>
              </p:cNvPr>
              <p:cNvSpPr txBox="1"/>
              <p:nvPr/>
            </p:nvSpPr>
            <p:spPr>
              <a:xfrm>
                <a:off x="6191569" y="5601727"/>
                <a:ext cx="24369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EC5D665-FBA0-9853-F8F2-868C51421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569" y="5601727"/>
                <a:ext cx="243696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FF75ECD-6E34-8740-FDDE-E293442715D7}"/>
                  </a:ext>
                </a:extLst>
              </p:cNvPr>
              <p:cNvSpPr txBox="1"/>
              <p:nvPr/>
            </p:nvSpPr>
            <p:spPr>
              <a:xfrm>
                <a:off x="770000" y="6177732"/>
                <a:ext cx="43488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𝟓𝟎𝟒𝟎</m:t>
                    </m:r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FF75ECD-6E34-8740-FDDE-E29344271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00" y="6177732"/>
                <a:ext cx="434884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86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2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679</Words>
  <Application>Microsoft Office PowerPoint</Application>
  <PresentationFormat>Panorámica</PresentationFormat>
  <Paragraphs>113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101</cp:revision>
  <dcterms:created xsi:type="dcterms:W3CDTF">2024-08-18T18:48:07Z</dcterms:created>
  <dcterms:modified xsi:type="dcterms:W3CDTF">2024-11-08T16:28:55Z</dcterms:modified>
</cp:coreProperties>
</file>