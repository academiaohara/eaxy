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F4246"/>
    <a:srgbClr val="960119"/>
    <a:srgbClr val="FE8A9D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86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2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28/10/2024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7/06/relationships/model3d" Target="../media/model3d1.glb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17/06/relationships/model3d" Target="../media/model3d2.glb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2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911673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</a:t>
            </a:r>
          </a:p>
          <a:p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66740692"/>
                  </p:ext>
                </p:extLst>
              </p:nvPr>
            </p:nvGraphicFramePr>
            <p:xfrm>
              <a:off x="545068" y="4945576"/>
              <a:ext cx="342000" cy="43200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42000" cy="43200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8102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o 3D 7" descr="Pirámide roja tetragonal">
                <a:extLst>
                  <a:ext uri="{FF2B5EF4-FFF2-40B4-BE49-F238E27FC236}">
                    <a16:creationId xmlns:a16="http://schemas.microsoft.com/office/drawing/2014/main" id="{BDC228AA-8F5F-FD3D-FFFA-2FF684901F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5068" y="4945576"/>
                <a:ext cx="342000" cy="43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!!1">
            <a:extLst>
              <a:ext uri="{FF2B5EF4-FFF2-40B4-BE49-F238E27FC236}">
                <a16:creationId xmlns:a16="http://schemas.microsoft.com/office/drawing/2014/main" id="{7BC3C1B2-47DF-D395-2549-C1865E2D90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77F6EEA-3D47-CF72-DBFF-353B69A645FB}"/>
              </a:ext>
            </a:extLst>
          </p:cNvPr>
          <p:cNvSpPr/>
          <p:nvPr/>
        </p:nvSpPr>
        <p:spPr>
          <a:xfrm>
            <a:off x="9772650" y="3196371"/>
            <a:ext cx="438150" cy="8219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!!2">
            <a:extLst>
              <a:ext uri="{FF2B5EF4-FFF2-40B4-BE49-F238E27FC236}">
                <a16:creationId xmlns:a16="http://schemas.microsoft.com/office/drawing/2014/main" id="{CB3732CC-67F9-3321-B21A-AEBB61ADAB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0" name="!!3">
            <a:extLst>
              <a:ext uri="{FF2B5EF4-FFF2-40B4-BE49-F238E27FC236}">
                <a16:creationId xmlns:a16="http://schemas.microsoft.com/office/drawing/2014/main" id="{F3EF4A45-382F-1D99-BF65-152A2BA65C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8" y="466806"/>
            <a:ext cx="3029373" cy="6287377"/>
          </a:xfrm>
          <a:prstGeom prst="rect">
            <a:avLst/>
          </a:prstGeom>
        </p:spPr>
      </p:pic>
      <p:pic>
        <p:nvPicPr>
          <p:cNvPr id="11" name="!!4">
            <a:extLst>
              <a:ext uri="{FF2B5EF4-FFF2-40B4-BE49-F238E27FC236}">
                <a16:creationId xmlns:a16="http://schemas.microsoft.com/office/drawing/2014/main" id="{D2F4685D-E9D0-B992-D69A-6AD53D90B7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28023" y="466806"/>
            <a:ext cx="3029373" cy="6287377"/>
          </a:xfrm>
          <a:prstGeom prst="rect">
            <a:avLst/>
          </a:prstGeom>
        </p:spPr>
      </p:pic>
      <p:sp>
        <p:nvSpPr>
          <p:cNvPr id="12" name="Elipse 11">
            <a:extLst>
              <a:ext uri="{FF2B5EF4-FFF2-40B4-BE49-F238E27FC236}">
                <a16:creationId xmlns:a16="http://schemas.microsoft.com/office/drawing/2014/main" id="{3D873195-389B-F3F1-3D78-7C9F39F2EAAE}"/>
              </a:ext>
            </a:extLst>
          </p:cNvPr>
          <p:cNvSpPr/>
          <p:nvPr/>
        </p:nvSpPr>
        <p:spPr>
          <a:xfrm>
            <a:off x="7361499" y="2037144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3A48F03A-9935-7607-08EC-E68B03447160}"/>
              </a:ext>
            </a:extLst>
          </p:cNvPr>
          <p:cNvSpPr/>
          <p:nvPr/>
        </p:nvSpPr>
        <p:spPr>
          <a:xfrm>
            <a:off x="7336286" y="4016375"/>
            <a:ext cx="324091" cy="37039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46890187"/>
                  </p:ext>
                </p:extLst>
              </p:nvPr>
            </p:nvGraphicFramePr>
            <p:xfrm>
              <a:off x="545068" y="3691649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Modelo 3D 13" descr="Pirámide gris tetragonal">
                <a:extLst>
                  <a:ext uri="{FF2B5EF4-FFF2-40B4-BE49-F238E27FC236}">
                    <a16:creationId xmlns:a16="http://schemas.microsoft.com/office/drawing/2014/main" id="{EA6B823D-072B-0CC2-10E9-B19FC3ADD89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691649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014081C4-D3ED-A383-D535-E7AFCA285ACC}"/>
              </a:ext>
            </a:extLst>
          </p:cNvPr>
          <p:cNvSpPr txBox="1"/>
          <p:nvPr/>
        </p:nvSpPr>
        <p:spPr>
          <a:xfrm>
            <a:off x="858596" y="3020569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OPERACIONES CON POLINOMIOS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6771BA-0FC2-03A4-AA75-21D94F9EBDF5}"/>
              </a:ext>
            </a:extLst>
          </p:cNvPr>
          <p:cNvSpPr txBox="1"/>
          <p:nvPr/>
        </p:nvSpPr>
        <p:spPr>
          <a:xfrm>
            <a:off x="861140" y="364633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REGLA DE RUFFINI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2419477"/>
                  </p:ext>
                </p:extLst>
              </p:nvPr>
            </p:nvGraphicFramePr>
            <p:xfrm>
              <a:off x="545068" y="3062965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Modelo 3D 19" descr="Pirámide gris tetragonal">
                <a:extLst>
                  <a:ext uri="{FF2B5EF4-FFF2-40B4-BE49-F238E27FC236}">
                    <a16:creationId xmlns:a16="http://schemas.microsoft.com/office/drawing/2014/main" id="{E72D875E-9D0C-539D-4BD4-65C07E2CE3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3062965"/>
                <a:ext cx="342798" cy="431838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CuadroTexto 20">
            <a:extLst>
              <a:ext uri="{FF2B5EF4-FFF2-40B4-BE49-F238E27FC236}">
                <a16:creationId xmlns:a16="http://schemas.microsoft.com/office/drawing/2014/main" id="{ADD50B0B-3468-DE46-1306-14DE7B9B2D53}"/>
              </a:ext>
            </a:extLst>
          </p:cNvPr>
          <p:cNvSpPr txBox="1"/>
          <p:nvPr/>
        </p:nvSpPr>
        <p:spPr>
          <a:xfrm>
            <a:off x="858596" y="4272093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FACTORIZACIÓN DE POLINOMIOS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AA97E52-B3A1-17D3-CF9C-A347A6C03AD3}"/>
              </a:ext>
            </a:extLst>
          </p:cNvPr>
          <p:cNvSpPr txBox="1"/>
          <p:nvPr/>
        </p:nvSpPr>
        <p:spPr>
          <a:xfrm>
            <a:off x="861140" y="4898601"/>
            <a:ext cx="76292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FRACCIONES ALGEBRAICAS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4299310D-7CC3-F6E0-09BE-DA229D86931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1857069"/>
                  </p:ext>
                </p:extLst>
              </p:nvPr>
            </p:nvGraphicFramePr>
            <p:xfrm>
              <a:off x="545068" y="4317784"/>
              <a:ext cx="342798" cy="431838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342798" cy="431838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57847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Modelo 3D 4" descr="Pirámide gris tetragonal">
                <a:extLst>
                  <a:ext uri="{FF2B5EF4-FFF2-40B4-BE49-F238E27FC236}">
                    <a16:creationId xmlns:a16="http://schemas.microsoft.com/office/drawing/2014/main" id="{4299310D-7CC3-F6E0-09BE-DA229D86931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5068" y="4317784"/>
                <a:ext cx="342798" cy="4318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50"/>
                            </p:stCondLst>
                            <p:childTnLst>
                              <p:par>
                                <p:cTn id="47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4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4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7" grpId="0" animBg="1"/>
      <p:bldP spid="16" grpId="0"/>
      <p:bldP spid="21" grpId="0"/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3223EB-0CF2-14FE-DAC9-4CDE2680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CE7AD5D-1225-9D32-4116-6734860FAE5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52F6D413-B4EC-9E88-E67F-0D0AC471E358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F15641F0-AF95-CAE0-80E8-BC832291A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5C6B9E4-660A-6226-B53B-E9303BD96F08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0DDB3DE6-623C-8E77-D702-D76C3559C4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A1D4A9B3-0DA2-2FB6-6583-DA6986530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E6F76D59-B9ED-A221-50BC-8491CCDE4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65" name="!Marco 10">
            <a:extLst>
              <a:ext uri="{FF2B5EF4-FFF2-40B4-BE49-F238E27FC236}">
                <a16:creationId xmlns:a16="http://schemas.microsoft.com/office/drawing/2014/main" id="{341EAFE4-A8E6-8082-39E1-CF402F77B721}"/>
              </a:ext>
            </a:extLst>
          </p:cNvPr>
          <p:cNvSpPr/>
          <p:nvPr/>
        </p:nvSpPr>
        <p:spPr>
          <a:xfrm>
            <a:off x="535084" y="1067426"/>
            <a:ext cx="11121832" cy="407397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6" name="!CuadroTexto 1">
            <a:extLst>
              <a:ext uri="{FF2B5EF4-FFF2-40B4-BE49-F238E27FC236}">
                <a16:creationId xmlns:a16="http://schemas.microsoft.com/office/drawing/2014/main" id="{96AEAE22-6430-E549-E88F-8B69E34BF2C4}"/>
              </a:ext>
            </a:extLst>
          </p:cNvPr>
          <p:cNvSpPr txBox="1"/>
          <p:nvPr/>
        </p:nvSpPr>
        <p:spPr>
          <a:xfrm>
            <a:off x="535084" y="1074713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fracción algebraica</a:t>
            </a:r>
            <a:r>
              <a:rPr lang="es-ES" sz="2000" b="1" dirty="0"/>
              <a:t> al cociente indicado de dos polinomios.</a:t>
            </a:r>
            <a:endParaRPr lang="es-ES" sz="3200" b="1" dirty="0"/>
          </a:p>
        </p:txBody>
      </p:sp>
      <p:sp>
        <p:nvSpPr>
          <p:cNvPr id="14" name="!Marco 10">
            <a:extLst>
              <a:ext uri="{FF2B5EF4-FFF2-40B4-BE49-F238E27FC236}">
                <a16:creationId xmlns:a16="http://schemas.microsoft.com/office/drawing/2014/main" id="{218496F7-54A9-A234-231F-62DA1EF04830}"/>
              </a:ext>
            </a:extLst>
          </p:cNvPr>
          <p:cNvSpPr/>
          <p:nvPr/>
        </p:nvSpPr>
        <p:spPr>
          <a:xfrm>
            <a:off x="535084" y="2008722"/>
            <a:ext cx="11121832" cy="73033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!CuadroTexto 1">
            <a:extLst>
              <a:ext uri="{FF2B5EF4-FFF2-40B4-BE49-F238E27FC236}">
                <a16:creationId xmlns:a16="http://schemas.microsoft.com/office/drawing/2014/main" id="{5DD3F536-B7DD-319E-6C3F-5F4E513AA6B0}"/>
              </a:ext>
            </a:extLst>
          </p:cNvPr>
          <p:cNvSpPr txBox="1"/>
          <p:nvPr/>
        </p:nvSpPr>
        <p:spPr>
          <a:xfrm>
            <a:off x="535084" y="2016009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simplificar una fracción, se dividen el numerador y el denominador por uno</a:t>
            </a:r>
          </a:p>
          <a:p>
            <a:r>
              <a:rPr lang="es-ES" sz="2000" b="1" dirty="0"/>
              <a:t>o más factores comunes a ambos. Se obtiene así otra fracción equivalente.</a:t>
            </a:r>
            <a:endParaRPr lang="es-ES" sz="32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2BA001C-FDA2-BE02-CAA3-6EF6705F4FD3}"/>
              </a:ext>
            </a:extLst>
          </p:cNvPr>
          <p:cNvSpPr txBox="1"/>
          <p:nvPr/>
        </p:nvSpPr>
        <p:spPr>
          <a:xfrm>
            <a:off x="535084" y="1581957"/>
            <a:ext cx="260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SIMPLIFICACIÓN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0533BFB-B4E3-2F57-D886-937FDE297F79}"/>
              </a:ext>
            </a:extLst>
          </p:cNvPr>
          <p:cNvSpPr txBox="1"/>
          <p:nvPr/>
        </p:nvSpPr>
        <p:spPr>
          <a:xfrm>
            <a:off x="535084" y="2890257"/>
            <a:ext cx="260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s-ES" dirty="0"/>
              <a:t>EJEMPLO: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14AB5DA-8FA0-C0A8-CC89-88A9150F38C7}"/>
                  </a:ext>
                </a:extLst>
              </p:cNvPr>
              <p:cNvSpPr txBox="1"/>
              <p:nvPr/>
            </p:nvSpPr>
            <p:spPr>
              <a:xfrm>
                <a:off x="3198732" y="3259589"/>
                <a:ext cx="5794535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sz="2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2000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e>
                            <m:sup>
                              <m: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sz="2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sSup>
                            <m:sSupPr>
                              <m:ctrlP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s-ES" sz="2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∙2∙</m:t>
                          </m:r>
                          <m:sSup>
                            <m:sSupPr>
                              <m:ctrlP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514AB5DA-8FA0-C0A8-CC89-88A9150F3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732" y="3259589"/>
                <a:ext cx="5794535" cy="6721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!Marco 10">
            <a:extLst>
              <a:ext uri="{FF2B5EF4-FFF2-40B4-BE49-F238E27FC236}">
                <a16:creationId xmlns:a16="http://schemas.microsoft.com/office/drawing/2014/main" id="{A9364126-4C1D-66A9-C7CD-537BF8D477CC}"/>
              </a:ext>
            </a:extLst>
          </p:cNvPr>
          <p:cNvSpPr/>
          <p:nvPr/>
        </p:nvSpPr>
        <p:spPr>
          <a:xfrm>
            <a:off x="535084" y="4501463"/>
            <a:ext cx="10683614" cy="73033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!CuadroTexto 1">
            <a:extLst>
              <a:ext uri="{FF2B5EF4-FFF2-40B4-BE49-F238E27FC236}">
                <a16:creationId xmlns:a16="http://schemas.microsoft.com/office/drawing/2014/main" id="{C61D5D40-49B5-7E45-B0A8-A8182B8A40FA}"/>
              </a:ext>
            </a:extLst>
          </p:cNvPr>
          <p:cNvSpPr txBox="1"/>
          <p:nvPr/>
        </p:nvSpPr>
        <p:spPr>
          <a:xfrm>
            <a:off x="535084" y="4508750"/>
            <a:ext cx="10683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reducir varias fracciones a común denominador, se sustituye cada fracción</a:t>
            </a:r>
          </a:p>
          <a:p>
            <a:r>
              <a:rPr lang="es-ES" sz="2000" b="1" dirty="0"/>
              <a:t>por otra equivalente, de modo que todas tengan el mismo denominador.</a:t>
            </a:r>
            <a:endParaRPr lang="es-ES" sz="3200" b="1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487F1EB-BB04-CC82-A512-538C54BC9ADC}"/>
              </a:ext>
            </a:extLst>
          </p:cNvPr>
          <p:cNvSpPr txBox="1"/>
          <p:nvPr/>
        </p:nvSpPr>
        <p:spPr>
          <a:xfrm>
            <a:off x="535083" y="4074698"/>
            <a:ext cx="1112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REDUCCIÓN A COMÚN DENOMINADOR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0AE8E46-FD8D-89EB-4774-28E9B67E6075}"/>
              </a:ext>
            </a:extLst>
          </p:cNvPr>
          <p:cNvSpPr txBox="1"/>
          <p:nvPr/>
        </p:nvSpPr>
        <p:spPr>
          <a:xfrm>
            <a:off x="535084" y="5382998"/>
            <a:ext cx="260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s-ES" dirty="0"/>
              <a:t>EJEMPLO: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B5201EA0-1155-3B50-21F3-F2EC07D87937}"/>
                  </a:ext>
                </a:extLst>
              </p:cNvPr>
              <p:cNvSpPr txBox="1"/>
              <p:nvPr/>
            </p:nvSpPr>
            <p:spPr>
              <a:xfrm>
                <a:off x="3976283" y="5674792"/>
                <a:ext cx="4239430" cy="6408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−2)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−2)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s-E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−2)∙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B5201EA0-1155-3B50-21F3-F2EC07D87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283" y="5674792"/>
                <a:ext cx="4239430" cy="64081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071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9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45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75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375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  <p:bldP spid="14" grpId="0" animBg="1"/>
      <p:bldP spid="15" grpId="0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F63AF-AE4F-8609-0691-DBA3D83B1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0C2C669-ED4A-110E-99A4-CFBDC3AAF65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1CF015A-E1ED-B4D4-B0EB-C59FF44CE423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128754D0-94BD-CF78-99E1-01F353D49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3CCB46E-8436-F4D4-7F64-8A7C49AB873C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C7D79340-1249-4536-B16C-E565846FCF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7C87805E-3E42-EB28-6899-FBD3E4D4CD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6B18B0F6-4503-5E5F-8312-30962FAC63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4" name="!Marco 10">
            <a:extLst>
              <a:ext uri="{FF2B5EF4-FFF2-40B4-BE49-F238E27FC236}">
                <a16:creationId xmlns:a16="http://schemas.microsoft.com/office/drawing/2014/main" id="{609CADB4-53FC-CFCE-38DC-66FC9C31F13F}"/>
              </a:ext>
            </a:extLst>
          </p:cNvPr>
          <p:cNvSpPr/>
          <p:nvPr/>
        </p:nvSpPr>
        <p:spPr>
          <a:xfrm>
            <a:off x="535084" y="1434978"/>
            <a:ext cx="11121832" cy="73033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!CuadroTexto 1">
            <a:extLst>
              <a:ext uri="{FF2B5EF4-FFF2-40B4-BE49-F238E27FC236}">
                <a16:creationId xmlns:a16="http://schemas.microsoft.com/office/drawing/2014/main" id="{98F79049-6DE5-637F-702C-4371368C8EC9}"/>
              </a:ext>
            </a:extLst>
          </p:cNvPr>
          <p:cNvSpPr txBox="1"/>
          <p:nvPr/>
        </p:nvSpPr>
        <p:spPr>
          <a:xfrm>
            <a:off x="535084" y="144226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sumar o restar fracciones algebraicas, se reducen a común denominador y se suman o se restan los numeradores, dejando el mismo denominador común.</a:t>
            </a:r>
            <a:endParaRPr lang="es-ES" sz="32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0B6F60E-67EF-83A3-C643-4573975E5FB1}"/>
              </a:ext>
            </a:extLst>
          </p:cNvPr>
          <p:cNvSpPr txBox="1"/>
          <p:nvPr/>
        </p:nvSpPr>
        <p:spPr>
          <a:xfrm>
            <a:off x="535084" y="1008213"/>
            <a:ext cx="260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SUMA Y RESTA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23CB0BC-6B25-20E0-C178-42F4BFE3A011}"/>
              </a:ext>
            </a:extLst>
          </p:cNvPr>
          <p:cNvSpPr txBox="1"/>
          <p:nvPr/>
        </p:nvSpPr>
        <p:spPr>
          <a:xfrm>
            <a:off x="535084" y="2316513"/>
            <a:ext cx="260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s-ES" dirty="0"/>
              <a:t>EJEMPLO: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94C1A91-198B-A729-F512-F3761E66EB15}"/>
                  </a:ext>
                </a:extLst>
              </p:cNvPr>
              <p:cNvSpPr txBox="1"/>
              <p:nvPr/>
            </p:nvSpPr>
            <p:spPr>
              <a:xfrm>
                <a:off x="1358260" y="2765772"/>
                <a:ext cx="9146350" cy="653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−2)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−2)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s-E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−2)∙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ctrlPr>
                                <a:rPr lang="es-E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+5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−2)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−6+5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−2)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sSup>
                            <m:sSupPr>
                              <m:ctrlP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94C1A91-198B-A729-F512-F3761E66E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260" y="2765772"/>
                <a:ext cx="9146350" cy="6536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!Marco 10">
            <a:extLst>
              <a:ext uri="{FF2B5EF4-FFF2-40B4-BE49-F238E27FC236}">
                <a16:creationId xmlns:a16="http://schemas.microsoft.com/office/drawing/2014/main" id="{2A66C41B-1448-10E2-8D4A-F74F93451EBD}"/>
              </a:ext>
            </a:extLst>
          </p:cNvPr>
          <p:cNvSpPr/>
          <p:nvPr/>
        </p:nvSpPr>
        <p:spPr>
          <a:xfrm>
            <a:off x="535084" y="3977517"/>
            <a:ext cx="11121832" cy="73033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CuadroTexto 1">
            <a:extLst>
              <a:ext uri="{FF2B5EF4-FFF2-40B4-BE49-F238E27FC236}">
                <a16:creationId xmlns:a16="http://schemas.microsoft.com/office/drawing/2014/main" id="{BA03A954-6A2C-7269-B7CF-6DA232A689C6}"/>
              </a:ext>
            </a:extLst>
          </p:cNvPr>
          <p:cNvSpPr txBox="1"/>
          <p:nvPr/>
        </p:nvSpPr>
        <p:spPr>
          <a:xfrm>
            <a:off x="535084" y="398480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producto de dos fracciones algebraicas es el producto de sus numeradores partido por el producto de sus denominadores.</a:t>
            </a:r>
            <a:endParaRPr lang="es-ES" sz="3200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ACFD4D7-F56E-66DD-B931-A28E9243C6A2}"/>
              </a:ext>
            </a:extLst>
          </p:cNvPr>
          <p:cNvSpPr txBox="1"/>
          <p:nvPr/>
        </p:nvSpPr>
        <p:spPr>
          <a:xfrm>
            <a:off x="535084" y="3550752"/>
            <a:ext cx="260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PRODUCTO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1973175-4653-7F35-3EE1-ECA49E42EC2C}"/>
              </a:ext>
            </a:extLst>
          </p:cNvPr>
          <p:cNvSpPr txBox="1"/>
          <p:nvPr/>
        </p:nvSpPr>
        <p:spPr>
          <a:xfrm>
            <a:off x="535084" y="4859052"/>
            <a:ext cx="260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s-ES" dirty="0"/>
              <a:t>EJEMPLO: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345F0E6-7AF5-CDED-5FDA-C936919A9D52}"/>
                  </a:ext>
                </a:extLst>
              </p:cNvPr>
              <p:cNvSpPr txBox="1"/>
              <p:nvPr/>
            </p:nvSpPr>
            <p:spPr>
              <a:xfrm>
                <a:off x="3077609" y="5219687"/>
                <a:ext cx="6036781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−3)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s-ES" sz="2000" b="0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p>
                            <m:sSupPr>
                              <m:ctrlP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  <m:sSup>
                            <m:sSupPr>
                              <m:ctrlP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0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</m:num>
                        <m:den>
                          <m:sSup>
                            <m:sSupPr>
                              <m:ctrlPr>
                                <a:rPr lang="es-E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s-E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F345F0E6-7AF5-CDED-5FDA-C936919A9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609" y="5219687"/>
                <a:ext cx="6036781" cy="6721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1681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17" grpId="0"/>
      <p:bldP spid="4" grpId="0"/>
      <p:bldP spid="5" grpId="0" animBg="1"/>
      <p:bldP spid="10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2E9F5-7D7F-9262-DCDC-A02D258B2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7924CA4-49AA-D99F-238A-B7F67EAD947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33EFB3F-F337-3F49-2CFD-8CBFF3B33A54}"/>
              </a:ext>
            </a:extLst>
          </p:cNvPr>
          <p:cNvSpPr txBox="1"/>
          <p:nvPr/>
        </p:nvSpPr>
        <p:spPr>
          <a:xfrm>
            <a:off x="3601" y="33951"/>
            <a:ext cx="1218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Polinomios y Fracciones Algebraicas</a:t>
            </a:r>
          </a:p>
        </p:txBody>
      </p:sp>
      <p:pic>
        <p:nvPicPr>
          <p:cNvPr id="3" name="!!1">
            <a:extLst>
              <a:ext uri="{FF2B5EF4-FFF2-40B4-BE49-F238E27FC236}">
                <a16:creationId xmlns:a16="http://schemas.microsoft.com/office/drawing/2014/main" id="{A721361F-ECCB-7FD0-58E6-AB1BFAEBD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933C995-107B-F0AB-5FED-77692FFE17F5}"/>
              </a:ext>
            </a:extLst>
          </p:cNvPr>
          <p:cNvSpPr/>
          <p:nvPr/>
        </p:nvSpPr>
        <p:spPr>
          <a:xfrm>
            <a:off x="11410444" y="5637178"/>
            <a:ext cx="246472" cy="462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!!2">
            <a:extLst>
              <a:ext uri="{FF2B5EF4-FFF2-40B4-BE49-F238E27FC236}">
                <a16:creationId xmlns:a16="http://schemas.microsoft.com/office/drawing/2014/main" id="{3D8C3135-1305-9CE9-FA9C-60C55ADF4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8" name="!!3">
            <a:extLst>
              <a:ext uri="{FF2B5EF4-FFF2-40B4-BE49-F238E27FC236}">
                <a16:creationId xmlns:a16="http://schemas.microsoft.com/office/drawing/2014/main" id="{BEF28525-02CF-FF5E-FFAA-BC6330B4C4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358"/>
            <a:ext cx="876108" cy="1818339"/>
          </a:xfrm>
          <a:prstGeom prst="rect">
            <a:avLst/>
          </a:prstGeom>
        </p:spPr>
      </p:pic>
      <p:pic>
        <p:nvPicPr>
          <p:cNvPr id="9" name="!!4">
            <a:extLst>
              <a:ext uri="{FF2B5EF4-FFF2-40B4-BE49-F238E27FC236}">
                <a16:creationId xmlns:a16="http://schemas.microsoft.com/office/drawing/2014/main" id="{7A8601DF-DCA5-EFB2-39D8-C7BB8BB907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8861" y="4964699"/>
            <a:ext cx="875945" cy="1817998"/>
          </a:xfrm>
          <a:prstGeom prst="rect">
            <a:avLst/>
          </a:prstGeom>
        </p:spPr>
      </p:pic>
      <p:sp>
        <p:nvSpPr>
          <p:cNvPr id="14" name="!Marco 10">
            <a:extLst>
              <a:ext uri="{FF2B5EF4-FFF2-40B4-BE49-F238E27FC236}">
                <a16:creationId xmlns:a16="http://schemas.microsoft.com/office/drawing/2014/main" id="{CF2F1CFD-3678-F081-6511-9FA00FB271DE}"/>
              </a:ext>
            </a:extLst>
          </p:cNvPr>
          <p:cNvSpPr/>
          <p:nvPr/>
        </p:nvSpPr>
        <p:spPr>
          <a:xfrm>
            <a:off x="535084" y="1434978"/>
            <a:ext cx="11121832" cy="730333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!CuadroTexto 1">
            <a:extLst>
              <a:ext uri="{FF2B5EF4-FFF2-40B4-BE49-F238E27FC236}">
                <a16:creationId xmlns:a16="http://schemas.microsoft.com/office/drawing/2014/main" id="{53AF932A-88EA-789F-ADE9-D097AF0F2FEC}"/>
              </a:ext>
            </a:extLst>
          </p:cNvPr>
          <p:cNvSpPr txBox="1"/>
          <p:nvPr/>
        </p:nvSpPr>
        <p:spPr>
          <a:xfrm>
            <a:off x="535084" y="144226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cociente de dos fracciones algebraicas es el producto de la primera por la inversa</a:t>
            </a:r>
          </a:p>
          <a:p>
            <a:r>
              <a:rPr lang="es-ES" sz="2000" b="1" dirty="0"/>
              <a:t>de la segunda (producto cruzado de términos).</a:t>
            </a:r>
            <a:endParaRPr lang="es-ES" sz="3200" b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CAFFC42-4E2B-1BA2-910C-BC772BB9DC90}"/>
              </a:ext>
            </a:extLst>
          </p:cNvPr>
          <p:cNvSpPr txBox="1"/>
          <p:nvPr/>
        </p:nvSpPr>
        <p:spPr>
          <a:xfrm>
            <a:off x="535084" y="1008213"/>
            <a:ext cx="260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COCIENTE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CE2BDD9-8717-F197-5AC7-44A0D398563C}"/>
              </a:ext>
            </a:extLst>
          </p:cNvPr>
          <p:cNvSpPr txBox="1"/>
          <p:nvPr/>
        </p:nvSpPr>
        <p:spPr>
          <a:xfrm>
            <a:off x="535084" y="2316513"/>
            <a:ext cx="2608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s-ES" dirty="0"/>
              <a:t>EJEMPLO: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960EC7E-5F12-3462-6FC5-EDD7B53F1BA8}"/>
                  </a:ext>
                </a:extLst>
              </p:cNvPr>
              <p:cNvSpPr txBox="1"/>
              <p:nvPr/>
            </p:nvSpPr>
            <p:spPr>
              <a:xfrm>
                <a:off x="4284222" y="2685845"/>
                <a:ext cx="3623556" cy="58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∙(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2)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s-E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+6</m:t>
                          </m:r>
                        </m:num>
                        <m:den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  <m:r>
                            <a:rPr lang="es-E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s-ES" sz="200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960EC7E-5F12-3462-6FC5-EDD7B53F1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222" y="2685845"/>
                <a:ext cx="3623556" cy="5862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041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17" grpId="0"/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237</Words>
  <Application>Microsoft Office PowerPoint</Application>
  <PresentationFormat>Panorámica</PresentationFormat>
  <Paragraphs>33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Illán Linos Souto</dc:creator>
  <cp:lastModifiedBy>Illán Linos Souto</cp:lastModifiedBy>
  <cp:revision>83</cp:revision>
  <dcterms:created xsi:type="dcterms:W3CDTF">2024-08-18T18:48:07Z</dcterms:created>
  <dcterms:modified xsi:type="dcterms:W3CDTF">2024-10-28T16:16:45Z</dcterms:modified>
</cp:coreProperties>
</file>