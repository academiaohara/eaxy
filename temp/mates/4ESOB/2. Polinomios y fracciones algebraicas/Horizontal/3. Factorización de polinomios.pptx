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4246"/>
    <a:srgbClr val="4E95D9"/>
    <a:srgbClr val="960119"/>
    <a:srgbClr val="FE8A9D"/>
    <a:srgbClr val="156082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86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23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28/10/2024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28/10/2024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28/10/2024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28/10/2024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28/10/2024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28/10/2024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28/10/2024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28/10/2024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28/10/2024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28/10/2024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28/10/2024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28/10/2024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17/06/relationships/model3d" Target="../media/model3d1.glb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microsoft.com/office/2017/06/relationships/model3d" Target="../media/model3d2.glb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21" Type="http://schemas.openxmlformats.org/officeDocument/2006/relationships/image" Target="../media/image24.png"/><Relationship Id="rId34" Type="http://schemas.openxmlformats.org/officeDocument/2006/relationships/image" Target="../media/image37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33" Type="http://schemas.openxmlformats.org/officeDocument/2006/relationships/image" Target="../media/image36.png"/><Relationship Id="rId38" Type="http://schemas.openxmlformats.org/officeDocument/2006/relationships/image" Target="../media/image41.png"/><Relationship Id="rId2" Type="http://schemas.openxmlformats.org/officeDocument/2006/relationships/image" Target="../media/image3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32" Type="http://schemas.openxmlformats.org/officeDocument/2006/relationships/image" Target="../media/image35.png"/><Relationship Id="rId37" Type="http://schemas.openxmlformats.org/officeDocument/2006/relationships/image" Target="../media/image40.png"/><Relationship Id="rId5" Type="http://schemas.openxmlformats.org/officeDocument/2006/relationships/image" Target="../media/image6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36" Type="http://schemas.openxmlformats.org/officeDocument/2006/relationships/image" Target="../media/image39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31" Type="http://schemas.openxmlformats.org/officeDocument/2006/relationships/image" Target="../media/image34.png"/><Relationship Id="rId4" Type="http://schemas.openxmlformats.org/officeDocument/2006/relationships/image" Target="../media/image5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3.png"/><Relationship Id="rId35" Type="http://schemas.openxmlformats.org/officeDocument/2006/relationships/image" Target="../media/image38.png"/><Relationship Id="rId8" Type="http://schemas.openxmlformats.org/officeDocument/2006/relationships/image" Target="../media/image11.png"/><Relationship Id="rId3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3" Type="http://schemas.openxmlformats.org/officeDocument/2006/relationships/image" Target="../media/image4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" Type="http://schemas.openxmlformats.org/officeDocument/2006/relationships/image" Target="../media/image3.png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6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4" Type="http://schemas.openxmlformats.org/officeDocument/2006/relationships/image" Target="../media/image5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58.png"/><Relationship Id="rId18" Type="http://schemas.openxmlformats.org/officeDocument/2006/relationships/image" Target="../media/image63.png"/><Relationship Id="rId3" Type="http://schemas.openxmlformats.org/officeDocument/2006/relationships/image" Target="../media/image4.png"/><Relationship Id="rId21" Type="http://schemas.openxmlformats.org/officeDocument/2006/relationships/image" Target="../media/image64.png"/><Relationship Id="rId7" Type="http://schemas.openxmlformats.org/officeDocument/2006/relationships/image" Target="../media/image57.png"/><Relationship Id="rId12" Type="http://schemas.openxmlformats.org/officeDocument/2006/relationships/image" Target="../media/image48.png"/><Relationship Id="rId17" Type="http://schemas.openxmlformats.org/officeDocument/2006/relationships/image" Target="../media/image62.png"/><Relationship Id="rId2" Type="http://schemas.openxmlformats.org/officeDocument/2006/relationships/image" Target="../media/image3.png"/><Relationship Id="rId16" Type="http://schemas.openxmlformats.org/officeDocument/2006/relationships/image" Target="../media/image61.png"/><Relationship Id="rId20" Type="http://schemas.openxmlformats.org/officeDocument/2006/relationships/image" Target="../media/image5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6.png"/><Relationship Id="rId15" Type="http://schemas.openxmlformats.org/officeDocument/2006/relationships/image" Target="../media/image60.png"/><Relationship Id="rId10" Type="http://schemas.openxmlformats.org/officeDocument/2006/relationships/image" Target="../media/image46.png"/><Relationship Id="rId19" Type="http://schemas.openxmlformats.org/officeDocument/2006/relationships/image" Target="../media/image550.png"/><Relationship Id="rId4" Type="http://schemas.openxmlformats.org/officeDocument/2006/relationships/image" Target="../media/image5.png"/><Relationship Id="rId9" Type="http://schemas.openxmlformats.org/officeDocument/2006/relationships/image" Target="../media/image45.png"/><Relationship Id="rId14" Type="http://schemas.openxmlformats.org/officeDocument/2006/relationships/image" Target="../media/image5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4.png"/><Relationship Id="rId7" Type="http://schemas.openxmlformats.org/officeDocument/2006/relationships/image" Target="../media/image6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2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9116737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</a:t>
            </a:r>
          </a:p>
          <a:p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Polinomios y Fracciones Algebraicas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328313654"/>
                  </p:ext>
                </p:extLst>
              </p:nvPr>
            </p:nvGraphicFramePr>
            <p:xfrm>
              <a:off x="545068" y="4318099"/>
              <a:ext cx="342000" cy="4320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42000" cy="43200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8102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5068" y="4318099"/>
                <a:ext cx="342000" cy="432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!!1">
            <a:extLst>
              <a:ext uri="{FF2B5EF4-FFF2-40B4-BE49-F238E27FC236}">
                <a16:creationId xmlns:a16="http://schemas.microsoft.com/office/drawing/2014/main" id="{7BC3C1B2-47DF-D395-2549-C1865E2D90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77F6EEA-3D47-CF72-DBFF-353B69A645FB}"/>
              </a:ext>
            </a:extLst>
          </p:cNvPr>
          <p:cNvSpPr/>
          <p:nvPr/>
        </p:nvSpPr>
        <p:spPr>
          <a:xfrm>
            <a:off x="9772650" y="3196371"/>
            <a:ext cx="438150" cy="821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!!2">
            <a:extLst>
              <a:ext uri="{FF2B5EF4-FFF2-40B4-BE49-F238E27FC236}">
                <a16:creationId xmlns:a16="http://schemas.microsoft.com/office/drawing/2014/main" id="{CB3732CC-67F9-3321-B21A-AEBB61ADAB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0" name="!!3">
            <a:extLst>
              <a:ext uri="{FF2B5EF4-FFF2-40B4-BE49-F238E27FC236}">
                <a16:creationId xmlns:a16="http://schemas.microsoft.com/office/drawing/2014/main" id="{F3EF4A45-382F-1D99-BF65-152A2BA65C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1" name="!!4">
            <a:extLst>
              <a:ext uri="{FF2B5EF4-FFF2-40B4-BE49-F238E27FC236}">
                <a16:creationId xmlns:a16="http://schemas.microsoft.com/office/drawing/2014/main" id="{D2F4685D-E9D0-B992-D69A-6AD53D90B7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3" y="466806"/>
            <a:ext cx="3029373" cy="6287377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3D873195-389B-F3F1-3D78-7C9F39F2EAAE}"/>
              </a:ext>
            </a:extLst>
          </p:cNvPr>
          <p:cNvSpPr/>
          <p:nvPr/>
        </p:nvSpPr>
        <p:spPr>
          <a:xfrm>
            <a:off x="7361499" y="2037144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A48F03A-9935-7607-08EC-E68B03447160}"/>
              </a:ext>
            </a:extLst>
          </p:cNvPr>
          <p:cNvSpPr/>
          <p:nvPr/>
        </p:nvSpPr>
        <p:spPr>
          <a:xfrm>
            <a:off x="7336286" y="4016375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46890187"/>
                  </p:ext>
                </p:extLst>
              </p:nvPr>
            </p:nvGraphicFramePr>
            <p:xfrm>
              <a:off x="545068" y="3691649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5068" y="3691649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014081C4-D3ED-A383-D535-E7AFCA285ACC}"/>
              </a:ext>
            </a:extLst>
          </p:cNvPr>
          <p:cNvSpPr txBox="1"/>
          <p:nvPr/>
        </p:nvSpPr>
        <p:spPr>
          <a:xfrm>
            <a:off x="858596" y="3020569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OPERACIONES CON POLINOMIOS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06771BA-0FC2-03A4-AA75-21D94F9EBDF5}"/>
              </a:ext>
            </a:extLst>
          </p:cNvPr>
          <p:cNvSpPr txBox="1"/>
          <p:nvPr/>
        </p:nvSpPr>
        <p:spPr>
          <a:xfrm>
            <a:off x="861140" y="3646331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REGLA DE RUFFINI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0" name="Modelo 3D 19" descr="Pirámide gris tetragonal">
                <a:extLst>
                  <a:ext uri="{FF2B5EF4-FFF2-40B4-BE49-F238E27FC236}">
                    <a16:creationId xmlns:a16="http://schemas.microsoft.com/office/drawing/2014/main" id="{E72D875E-9D0C-539D-4BD4-65C07E2CE34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72419477"/>
                  </p:ext>
                </p:extLst>
              </p:nvPr>
            </p:nvGraphicFramePr>
            <p:xfrm>
              <a:off x="545068" y="3062965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0" name="Modelo 3D 19" descr="Pirámide gris tetragonal">
                <a:extLst>
                  <a:ext uri="{FF2B5EF4-FFF2-40B4-BE49-F238E27FC236}">
                    <a16:creationId xmlns:a16="http://schemas.microsoft.com/office/drawing/2014/main" id="{E72D875E-9D0C-539D-4BD4-65C07E2CE3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5068" y="3062965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CuadroTexto 20">
            <a:extLst>
              <a:ext uri="{FF2B5EF4-FFF2-40B4-BE49-F238E27FC236}">
                <a16:creationId xmlns:a16="http://schemas.microsoft.com/office/drawing/2014/main" id="{ADD50B0B-3468-DE46-1306-14DE7B9B2D53}"/>
              </a:ext>
            </a:extLst>
          </p:cNvPr>
          <p:cNvSpPr txBox="1"/>
          <p:nvPr/>
        </p:nvSpPr>
        <p:spPr>
          <a:xfrm>
            <a:off x="858596" y="4272093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FACTORIZACIÓN DE POLINOMIOS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AA97E52-B3A1-17D3-CF9C-A347A6C03AD3}"/>
              </a:ext>
            </a:extLst>
          </p:cNvPr>
          <p:cNvSpPr txBox="1"/>
          <p:nvPr/>
        </p:nvSpPr>
        <p:spPr>
          <a:xfrm>
            <a:off x="861140" y="4898601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FRACCIONES ALGEBRAICAS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Modelo 3D 4" descr="Pirámide gris tetragonal">
                <a:extLst>
                  <a:ext uri="{FF2B5EF4-FFF2-40B4-BE49-F238E27FC236}">
                    <a16:creationId xmlns:a16="http://schemas.microsoft.com/office/drawing/2014/main" id="{4299310D-7CC3-F6E0-09BE-DA229D86931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02763673"/>
                  </p:ext>
                </p:extLst>
              </p:nvPr>
            </p:nvGraphicFramePr>
            <p:xfrm>
              <a:off x="545068" y="4943586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Modelo 3D 4" descr="Pirámide gris tetragonal">
                <a:extLst>
                  <a:ext uri="{FF2B5EF4-FFF2-40B4-BE49-F238E27FC236}">
                    <a16:creationId xmlns:a16="http://schemas.microsoft.com/office/drawing/2014/main" id="{4299310D-7CC3-F6E0-09BE-DA229D86931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5068" y="4943586"/>
                <a:ext cx="342798" cy="4318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250"/>
                            </p:stCondLst>
                            <p:childTnLst>
                              <p:par>
                                <p:cTn id="47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4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4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4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5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6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7" grpId="0" animBg="1"/>
      <p:bldP spid="16" grpId="0"/>
      <p:bldP spid="21" grpId="0"/>
      <p:bldP spid="21" grpId="1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3223EB-0CF2-14FE-DAC9-4CDE26800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CE7AD5D-1225-9D32-4116-6734860FAE56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52F6D413-B4EC-9E88-E67F-0D0AC471E358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Polinomios y Fracciones Algebraicas</a:t>
            </a: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F15641F0-AF95-CAE0-80E8-BC832291A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5C6B9E4-660A-6226-B53B-E9303BD96F08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0DDB3DE6-623C-8E77-D702-D76C3559C4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A1D4A9B3-0DA2-2FB6-6583-DA6986530C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E6F76D59-B9ED-A221-50BC-8491CCDE4E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65" name="!Marco 10">
            <a:extLst>
              <a:ext uri="{FF2B5EF4-FFF2-40B4-BE49-F238E27FC236}">
                <a16:creationId xmlns:a16="http://schemas.microsoft.com/office/drawing/2014/main" id="{341EAFE4-A8E6-8082-39E1-CF402F77B721}"/>
              </a:ext>
            </a:extLst>
          </p:cNvPr>
          <p:cNvSpPr/>
          <p:nvPr/>
        </p:nvSpPr>
        <p:spPr>
          <a:xfrm>
            <a:off x="535084" y="1479804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96AEAE22-6430-E549-E88F-8B69E34BF2C4}"/>
              </a:ext>
            </a:extLst>
          </p:cNvPr>
          <p:cNvSpPr txBox="1"/>
          <p:nvPr/>
        </p:nvSpPr>
        <p:spPr>
          <a:xfrm>
            <a:off x="535084" y="1487091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número a se llama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raíz</a:t>
            </a:r>
            <a:r>
              <a:rPr lang="es-ES" sz="2000" b="1" dirty="0"/>
              <a:t> de un polinomio P(x) si P(a) = 0. Las raíces de un polinomio son las soluciones de la ecuación P(x) = 0.</a:t>
            </a:r>
            <a:endParaRPr lang="es-ES" sz="3200" b="1" dirty="0"/>
          </a:p>
        </p:txBody>
      </p:sp>
      <p:sp>
        <p:nvSpPr>
          <p:cNvPr id="4" name="!CuadroTexto 1">
            <a:extLst>
              <a:ext uri="{FF2B5EF4-FFF2-40B4-BE49-F238E27FC236}">
                <a16:creationId xmlns:a16="http://schemas.microsoft.com/office/drawing/2014/main" id="{A63FB12C-258F-F20C-BFD1-3BDE27361677}"/>
              </a:ext>
            </a:extLst>
          </p:cNvPr>
          <p:cNvSpPr txBox="1"/>
          <p:nvPr/>
        </p:nvSpPr>
        <p:spPr>
          <a:xfrm>
            <a:off x="535084" y="992717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RAÍCES DE UN POLINOMIO</a:t>
            </a:r>
            <a:endParaRPr lang="es-ES" sz="32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!Marco 10">
            <a:extLst>
              <a:ext uri="{FF2B5EF4-FFF2-40B4-BE49-F238E27FC236}">
                <a16:creationId xmlns:a16="http://schemas.microsoft.com/office/drawing/2014/main" id="{FB87FFD0-56DC-668A-96B7-25273742A5CB}"/>
              </a:ext>
            </a:extLst>
          </p:cNvPr>
          <p:cNvSpPr/>
          <p:nvPr/>
        </p:nvSpPr>
        <p:spPr>
          <a:xfrm>
            <a:off x="535084" y="2344066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!CuadroTexto 1">
            <a:extLst>
              <a:ext uri="{FF2B5EF4-FFF2-40B4-BE49-F238E27FC236}">
                <a16:creationId xmlns:a16="http://schemas.microsoft.com/office/drawing/2014/main" id="{DAAF23E7-704D-48A2-B36A-91C467F08145}"/>
              </a:ext>
            </a:extLst>
          </p:cNvPr>
          <p:cNvSpPr txBox="1"/>
          <p:nvPr/>
        </p:nvSpPr>
        <p:spPr>
          <a:xfrm>
            <a:off x="535084" y="2351353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localizar las raíces enteras de un polinomio, probaremos con los divisores</a:t>
            </a:r>
          </a:p>
          <a:p>
            <a:r>
              <a:rPr lang="es-ES" sz="2000" b="1" dirty="0"/>
              <a:t>(positivos y negativos) de su término independiente.</a:t>
            </a:r>
            <a:endParaRPr lang="es-ES" sz="3200" b="1" dirty="0"/>
          </a:p>
        </p:txBody>
      </p:sp>
      <p:sp>
        <p:nvSpPr>
          <p:cNvPr id="11" name="!Marco 10">
            <a:extLst>
              <a:ext uri="{FF2B5EF4-FFF2-40B4-BE49-F238E27FC236}">
                <a16:creationId xmlns:a16="http://schemas.microsoft.com/office/drawing/2014/main" id="{47C0F2F4-BB34-7677-C351-4D4130959B54}"/>
              </a:ext>
            </a:extLst>
          </p:cNvPr>
          <p:cNvSpPr/>
          <p:nvPr/>
        </p:nvSpPr>
        <p:spPr>
          <a:xfrm>
            <a:off x="535084" y="3192673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!CuadroTexto 1">
                <a:extLst>
                  <a:ext uri="{FF2B5EF4-FFF2-40B4-BE49-F238E27FC236}">
                    <a16:creationId xmlns:a16="http://schemas.microsoft.com/office/drawing/2014/main" id="{2CEED67E-11B0-66E8-EDA2-65825914691F}"/>
                  </a:ext>
                </a:extLst>
              </p:cNvPr>
              <p:cNvSpPr txBox="1"/>
              <p:nvPr/>
            </p:nvSpPr>
            <p:spPr>
              <a:xfrm>
                <a:off x="535084" y="3199960"/>
                <a:ext cx="1112183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/>
                  <a:t>Una vez localizada una raíz, a, puesto que P(x) es divisible por x – a, podremos ponerlo así: </a:t>
                </a:r>
                <a14:m>
                  <m:oMath xmlns:m="http://schemas.openxmlformats.org/officeDocument/2006/math">
                    <m:r>
                      <a:rPr lang="es-ES" sz="2000" b="1" i="1" dirty="0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s-ES" sz="20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sz="20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s-ES" sz="2000" b="1" i="1" dirty="0" smtClean="0">
                        <a:latin typeface="Cambria Math" panose="02040503050406030204" pitchFamily="18" charset="0"/>
                      </a:rPr>
                      <m:t>) = (</m:t>
                    </m:r>
                    <m:r>
                      <a:rPr lang="es-ES" sz="20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s-ES" sz="2000" b="1" i="1" dirty="0" smtClean="0">
                        <a:latin typeface="Cambria Math" panose="02040503050406030204" pitchFamily="18" charset="0"/>
                      </a:rPr>
                      <m:t> – </m:t>
                    </m:r>
                    <m:r>
                      <a:rPr lang="es-ES" sz="2000" b="1" i="1" dirty="0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s-ES" sz="2000" b="1" i="1" dirty="0" smtClean="0">
                        <a:latin typeface="Cambria Math" panose="02040503050406030204" pitchFamily="18" charset="0"/>
                      </a:rPr>
                      <m:t>) ∙ </m:t>
                    </m:r>
                    <m:sSub>
                      <m:sSubPr>
                        <m:ctrlPr>
                          <a:rPr lang="es-ES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1" i="1" dirty="0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s-ES" sz="20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s-ES" sz="20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sz="20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s-ES" sz="20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" sz="2000" b="1" dirty="0"/>
                  <a:t>. Las restantes raíces las buscaremos 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1" i="1" dirty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s-ES" sz="2000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s-ES" sz="2000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sz="2000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s-ES" sz="2000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" sz="2000" b="1" dirty="0"/>
                  <a:t>.</a:t>
                </a:r>
                <a:endParaRPr lang="es-ES" sz="3200" b="1" dirty="0"/>
              </a:p>
            </p:txBody>
          </p:sp>
        </mc:Choice>
        <mc:Fallback xmlns="">
          <p:sp>
            <p:nvSpPr>
              <p:cNvPr id="12" name="!CuadroTexto 1">
                <a:extLst>
                  <a:ext uri="{FF2B5EF4-FFF2-40B4-BE49-F238E27FC236}">
                    <a16:creationId xmlns:a16="http://schemas.microsoft.com/office/drawing/2014/main" id="{2CEED67E-11B0-66E8-EDA2-6582591469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3199960"/>
                <a:ext cx="11121832" cy="707886"/>
              </a:xfrm>
              <a:prstGeom prst="rect">
                <a:avLst/>
              </a:prstGeom>
              <a:blipFill>
                <a:blip r:embed="rId6"/>
                <a:stretch>
                  <a:fillRect l="-603" t="-5172" b="-1465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0714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/>
      <p:bldP spid="4" grpId="0"/>
      <p:bldP spid="5" grpId="0" animBg="1"/>
      <p:bldP spid="10" grpId="0"/>
      <p:bldP spid="11" grpId="0" animBg="1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83C9D9-5614-FAEE-F7F3-9FD4D2E00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F759D77-2739-1836-77A8-2C637DB6710B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F09FF642-729B-7C96-28A0-8BB077C17C9A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Polinomios y Fracciones Algebraicas</a:t>
            </a: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FBD60F97-43D7-F25C-D28C-4E3A7263B4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FCAC6509-97DE-A4DB-2703-F8244A307358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F0F30A8-44FB-2A3E-0558-A083D19235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5CAE46C8-4090-A725-A66B-E39B539530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8E4DD10C-42F1-A641-42BF-5C2BFF190D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65" name="!Marco 10">
            <a:extLst>
              <a:ext uri="{FF2B5EF4-FFF2-40B4-BE49-F238E27FC236}">
                <a16:creationId xmlns:a16="http://schemas.microsoft.com/office/drawing/2014/main" id="{42FE7C6D-F3A7-7EF9-E530-ACDD470111B2}"/>
              </a:ext>
            </a:extLst>
          </p:cNvPr>
          <p:cNvSpPr/>
          <p:nvPr/>
        </p:nvSpPr>
        <p:spPr>
          <a:xfrm>
            <a:off x="535084" y="1479804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E75E4EBF-A416-A06B-89E5-92DD23BD0952}"/>
              </a:ext>
            </a:extLst>
          </p:cNvPr>
          <p:cNvSpPr txBox="1"/>
          <p:nvPr/>
        </p:nvSpPr>
        <p:spPr>
          <a:xfrm>
            <a:off x="535084" y="1487091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Factorizar </a:t>
            </a:r>
            <a:r>
              <a:rPr lang="es-ES" sz="2000" b="1" dirty="0"/>
              <a:t>un polinomio es descomponerlo en producto de polinomios (factores) del menor grado posible.</a:t>
            </a:r>
          </a:p>
        </p:txBody>
      </p:sp>
      <p:sp>
        <p:nvSpPr>
          <p:cNvPr id="4" name="!CuadroTexto 1">
            <a:extLst>
              <a:ext uri="{FF2B5EF4-FFF2-40B4-BE49-F238E27FC236}">
                <a16:creationId xmlns:a16="http://schemas.microsoft.com/office/drawing/2014/main" id="{22FFA749-DAB0-5BF4-EBA6-A652B28E7991}"/>
              </a:ext>
            </a:extLst>
          </p:cNvPr>
          <p:cNvSpPr txBox="1"/>
          <p:nvPr/>
        </p:nvSpPr>
        <p:spPr>
          <a:xfrm>
            <a:off x="535084" y="992717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PROCEDIMIENTO PARA FACTORIZAR UN POLINOMIO</a:t>
            </a:r>
            <a:endParaRPr lang="es-ES" sz="32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!CuadroTexto 1">
                <a:extLst>
                  <a:ext uri="{FF2B5EF4-FFF2-40B4-BE49-F238E27FC236}">
                    <a16:creationId xmlns:a16="http://schemas.microsoft.com/office/drawing/2014/main" id="{C034C696-3667-E9B9-2A4A-CD7F84900B96}"/>
                  </a:ext>
                </a:extLst>
              </p:cNvPr>
              <p:cNvSpPr txBox="1"/>
              <p:nvPr/>
            </p:nvSpPr>
            <p:spPr>
              <a:xfrm>
                <a:off x="535084" y="2336482"/>
                <a:ext cx="11121832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EJEMPLO: </a:t>
                </a:r>
                <a:r>
                  <a:rPr lang="es-ES" sz="2000" dirty="0">
                    <a:solidFill>
                      <a:schemeClr val="tx1"/>
                    </a:solidFill>
                  </a:rPr>
                  <a:t>Factorizar </a:t>
                </a:r>
                <a14:m>
                  <m:oMath xmlns:m="http://schemas.openxmlformats.org/officeDocument/2006/math"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s-E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s-E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s-E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s-E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s-E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endParaRPr lang="es-ES" sz="3200" dirty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!CuadroTexto 1">
                <a:extLst>
                  <a:ext uri="{FF2B5EF4-FFF2-40B4-BE49-F238E27FC236}">
                    <a16:creationId xmlns:a16="http://schemas.microsoft.com/office/drawing/2014/main" id="{C034C696-3667-E9B9-2A4A-CD7F84900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2336482"/>
                <a:ext cx="11121832" cy="407099"/>
              </a:xfrm>
              <a:prstGeom prst="rect">
                <a:avLst/>
              </a:prstGeom>
              <a:blipFill>
                <a:blip r:embed="rId6"/>
                <a:stretch>
                  <a:fillRect l="-603" t="-7463" b="-2388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!CuadroTexto 1">
            <a:extLst>
              <a:ext uri="{FF2B5EF4-FFF2-40B4-BE49-F238E27FC236}">
                <a16:creationId xmlns:a16="http://schemas.microsoft.com/office/drawing/2014/main" id="{79C6A4E9-2C88-B68F-3D92-9F616426E842}"/>
              </a:ext>
            </a:extLst>
          </p:cNvPr>
          <p:cNvSpPr txBox="1"/>
          <p:nvPr/>
        </p:nvSpPr>
        <p:spPr>
          <a:xfrm>
            <a:off x="535001" y="2867456"/>
            <a:ext cx="11121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Para localizar las raíces de P(x), iremos probando con los divisores (positivos y negativos) de 2. Empecemos por 1 y por –1:</a:t>
            </a:r>
            <a:endParaRPr lang="es-ES" sz="2800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AC49A479-D731-7191-E41D-BE96D925F765}"/>
              </a:ext>
            </a:extLst>
          </p:cNvPr>
          <p:cNvCxnSpPr>
            <a:cxnSpLocks/>
          </p:cNvCxnSpPr>
          <p:nvPr/>
        </p:nvCxnSpPr>
        <p:spPr>
          <a:xfrm>
            <a:off x="1117057" y="4476499"/>
            <a:ext cx="43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D0B68E2-1941-6834-7300-FE4280256FCD}"/>
              </a:ext>
            </a:extLst>
          </p:cNvPr>
          <p:cNvCxnSpPr>
            <a:cxnSpLocks/>
          </p:cNvCxnSpPr>
          <p:nvPr/>
        </p:nvCxnSpPr>
        <p:spPr>
          <a:xfrm>
            <a:off x="1466681" y="3573790"/>
            <a:ext cx="0" cy="13905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F20E2B0A-C221-819D-FB04-D31FFACD3A78}"/>
                  </a:ext>
                </a:extLst>
              </p:cNvPr>
              <p:cNvSpPr txBox="1"/>
              <p:nvPr/>
            </p:nvSpPr>
            <p:spPr>
              <a:xfrm>
                <a:off x="1068210" y="4078365"/>
                <a:ext cx="479152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F20E2B0A-C221-819D-FB04-D31FFACD3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210" y="4078365"/>
                <a:ext cx="479152" cy="4070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FFE1E5EA-BAD1-4367-D6A1-A18D3EE18885}"/>
                  </a:ext>
                </a:extLst>
              </p:cNvPr>
              <p:cNvSpPr txBox="1"/>
              <p:nvPr/>
            </p:nvSpPr>
            <p:spPr>
              <a:xfrm>
                <a:off x="1672564" y="3573790"/>
                <a:ext cx="479152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FFE1E5EA-BAD1-4367-D6A1-A18D3EE18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2564" y="3573790"/>
                <a:ext cx="479152" cy="4070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C84C972E-B7EB-6EBA-FE3B-9DF9781EE3A8}"/>
                  </a:ext>
                </a:extLst>
              </p:cNvPr>
              <p:cNvSpPr txBox="1"/>
              <p:nvPr/>
            </p:nvSpPr>
            <p:spPr>
              <a:xfrm>
                <a:off x="2242828" y="3573789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C84C972E-B7EB-6EBA-FE3B-9DF9781EE3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28" y="3573789"/>
                <a:ext cx="685033" cy="4070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B132A944-62F0-9900-E0F5-7D8B92413DE9}"/>
                  </a:ext>
                </a:extLst>
              </p:cNvPr>
              <p:cNvSpPr txBox="1"/>
              <p:nvPr/>
            </p:nvSpPr>
            <p:spPr>
              <a:xfrm>
                <a:off x="3074393" y="3573788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B132A944-62F0-9900-E0F5-7D8B92413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93" y="3573788"/>
                <a:ext cx="685033" cy="4070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32DBECFB-A201-1080-CB2E-68EACB867650}"/>
                  </a:ext>
                </a:extLst>
              </p:cNvPr>
              <p:cNvSpPr txBox="1"/>
              <p:nvPr/>
            </p:nvSpPr>
            <p:spPr>
              <a:xfrm>
                <a:off x="3776648" y="3573787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32DBECFB-A201-1080-CB2E-68EACB867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6648" y="3573787"/>
                <a:ext cx="685033" cy="4070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069C1BEC-6B74-8DB9-F917-3D0053A9D4D4}"/>
                  </a:ext>
                </a:extLst>
              </p:cNvPr>
              <p:cNvSpPr txBox="1"/>
              <p:nvPr/>
            </p:nvSpPr>
            <p:spPr>
              <a:xfrm>
                <a:off x="4571268" y="3573787"/>
                <a:ext cx="68503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069C1BEC-6B74-8DB9-F917-3D0053A9D4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268" y="3573787"/>
                <a:ext cx="685033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7396C59A-A68E-B0A4-CA4A-3E4C8A8497E6}"/>
                  </a:ext>
                </a:extLst>
              </p:cNvPr>
              <p:cNvSpPr txBox="1"/>
              <p:nvPr/>
            </p:nvSpPr>
            <p:spPr>
              <a:xfrm>
                <a:off x="1672564" y="4481041"/>
                <a:ext cx="479152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7396C59A-A68E-B0A4-CA4A-3E4C8A849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2564" y="4481041"/>
                <a:ext cx="479152" cy="4070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B1D24A4B-0637-6144-E391-5D6A40C7B8D6}"/>
                  </a:ext>
                </a:extLst>
              </p:cNvPr>
              <p:cNvSpPr txBox="1"/>
              <p:nvPr/>
            </p:nvSpPr>
            <p:spPr>
              <a:xfrm>
                <a:off x="2242828" y="4481040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B1D24A4B-0637-6144-E391-5D6A40C7B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28" y="4481040"/>
                <a:ext cx="685033" cy="4070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B560301C-A0D4-FDB2-E05A-CD8323FC8FDD}"/>
                  </a:ext>
                </a:extLst>
              </p:cNvPr>
              <p:cNvSpPr txBox="1"/>
              <p:nvPr/>
            </p:nvSpPr>
            <p:spPr>
              <a:xfrm>
                <a:off x="3074393" y="4481039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B560301C-A0D4-FDB2-E05A-CD8323FC8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93" y="4481039"/>
                <a:ext cx="685033" cy="4070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C2C1DA05-9B44-2C65-0CE8-BA6C09F73D11}"/>
                  </a:ext>
                </a:extLst>
              </p:cNvPr>
              <p:cNvSpPr txBox="1"/>
              <p:nvPr/>
            </p:nvSpPr>
            <p:spPr>
              <a:xfrm>
                <a:off x="3776648" y="4481038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C2C1DA05-9B44-2C65-0CE8-BA6C09F73D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6648" y="4481038"/>
                <a:ext cx="685033" cy="4070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D0F75AE1-B89A-058B-17C0-90F1AA2D09AC}"/>
                  </a:ext>
                </a:extLst>
              </p:cNvPr>
              <p:cNvSpPr txBox="1"/>
              <p:nvPr/>
            </p:nvSpPr>
            <p:spPr>
              <a:xfrm>
                <a:off x="4571268" y="4481038"/>
                <a:ext cx="68503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s-E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D0F75AE1-B89A-058B-17C0-90F1AA2D0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268" y="4481038"/>
                <a:ext cx="685033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79AC483A-F0E6-C67F-1C48-6FE72C1D5FA7}"/>
                  </a:ext>
                </a:extLst>
              </p:cNvPr>
              <p:cNvSpPr txBox="1"/>
              <p:nvPr/>
            </p:nvSpPr>
            <p:spPr>
              <a:xfrm>
                <a:off x="2242828" y="4020977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79AC483A-F0E6-C67F-1C48-6FE72C1D5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28" y="4020977"/>
                <a:ext cx="685033" cy="4070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4C56DDAF-46B7-4C26-25C1-515525369A50}"/>
                  </a:ext>
                </a:extLst>
              </p:cNvPr>
              <p:cNvSpPr txBox="1"/>
              <p:nvPr/>
            </p:nvSpPr>
            <p:spPr>
              <a:xfrm>
                <a:off x="3074393" y="4020976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4C56DDAF-46B7-4C26-25C1-515525369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93" y="4020976"/>
                <a:ext cx="685033" cy="4070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E8524E76-4614-2542-4E34-B6559553CB94}"/>
                  </a:ext>
                </a:extLst>
              </p:cNvPr>
              <p:cNvSpPr txBox="1"/>
              <p:nvPr/>
            </p:nvSpPr>
            <p:spPr>
              <a:xfrm>
                <a:off x="3776648" y="4020975"/>
                <a:ext cx="68503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E8524E76-4614-2542-4E34-B6559553C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6648" y="4020975"/>
                <a:ext cx="685033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CC74EBF8-9ADB-0F83-2A59-374F320F10B0}"/>
                  </a:ext>
                </a:extLst>
              </p:cNvPr>
              <p:cNvSpPr txBox="1"/>
              <p:nvPr/>
            </p:nvSpPr>
            <p:spPr>
              <a:xfrm>
                <a:off x="4571268" y="4020975"/>
                <a:ext cx="68503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CC74EBF8-9ADB-0F83-2A59-374F320F1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268" y="4020975"/>
                <a:ext cx="685033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FC003427-E62A-D964-85BE-FA87EFE4DE38}"/>
              </a:ext>
            </a:extLst>
          </p:cNvPr>
          <p:cNvCxnSpPr>
            <a:cxnSpLocks/>
          </p:cNvCxnSpPr>
          <p:nvPr/>
        </p:nvCxnSpPr>
        <p:spPr>
          <a:xfrm>
            <a:off x="5690959" y="4476499"/>
            <a:ext cx="44524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86DF96BD-B745-A794-FE39-C73F22E3E1AF}"/>
              </a:ext>
            </a:extLst>
          </p:cNvPr>
          <p:cNvCxnSpPr>
            <a:cxnSpLocks/>
          </p:cNvCxnSpPr>
          <p:nvPr/>
        </p:nvCxnSpPr>
        <p:spPr>
          <a:xfrm>
            <a:off x="6179077" y="3573790"/>
            <a:ext cx="0" cy="13905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DF186A38-EDB2-A5FA-360B-E611C0053C7B}"/>
                  </a:ext>
                </a:extLst>
              </p:cNvPr>
              <p:cNvSpPr txBox="1"/>
              <p:nvPr/>
            </p:nvSpPr>
            <p:spPr>
              <a:xfrm>
                <a:off x="5690959" y="4078365"/>
                <a:ext cx="479152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DF186A38-EDB2-A5FA-360B-E611C0053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0959" y="4078365"/>
                <a:ext cx="479152" cy="407099"/>
              </a:xfrm>
              <a:prstGeom prst="rect">
                <a:avLst/>
              </a:prstGeom>
              <a:blipFill>
                <a:blip r:embed="rId22"/>
                <a:stretch>
                  <a:fillRect r="-897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uadroTexto 54">
                <a:extLst>
                  <a:ext uri="{FF2B5EF4-FFF2-40B4-BE49-F238E27FC236}">
                    <a16:creationId xmlns:a16="http://schemas.microsoft.com/office/drawing/2014/main" id="{AEF3E9EE-C6C5-7BC9-C8FF-9B474CAD367B}"/>
                  </a:ext>
                </a:extLst>
              </p:cNvPr>
              <p:cNvSpPr txBox="1"/>
              <p:nvPr/>
            </p:nvSpPr>
            <p:spPr>
              <a:xfrm>
                <a:off x="6384960" y="3573790"/>
                <a:ext cx="479152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55" name="CuadroTexto 54">
                <a:extLst>
                  <a:ext uri="{FF2B5EF4-FFF2-40B4-BE49-F238E27FC236}">
                    <a16:creationId xmlns:a16="http://schemas.microsoft.com/office/drawing/2014/main" id="{AEF3E9EE-C6C5-7BC9-C8FF-9B474CAD3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960" y="3573790"/>
                <a:ext cx="479152" cy="40709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EED1657B-3114-4E7A-5959-FD50F44928BE}"/>
                  </a:ext>
                </a:extLst>
              </p:cNvPr>
              <p:cNvSpPr txBox="1"/>
              <p:nvPr/>
            </p:nvSpPr>
            <p:spPr>
              <a:xfrm>
                <a:off x="6955224" y="3573789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EED1657B-3114-4E7A-5959-FD50F4492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224" y="3573789"/>
                <a:ext cx="685033" cy="40709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uadroTexto 56">
                <a:extLst>
                  <a:ext uri="{FF2B5EF4-FFF2-40B4-BE49-F238E27FC236}">
                    <a16:creationId xmlns:a16="http://schemas.microsoft.com/office/drawing/2014/main" id="{F49F9CE0-8FCF-919F-646D-82D32E4FD27F}"/>
                  </a:ext>
                </a:extLst>
              </p:cNvPr>
              <p:cNvSpPr txBox="1"/>
              <p:nvPr/>
            </p:nvSpPr>
            <p:spPr>
              <a:xfrm>
                <a:off x="7786789" y="3573788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57" name="CuadroTexto 56">
                <a:extLst>
                  <a:ext uri="{FF2B5EF4-FFF2-40B4-BE49-F238E27FC236}">
                    <a16:creationId xmlns:a16="http://schemas.microsoft.com/office/drawing/2014/main" id="{F49F9CE0-8FCF-919F-646D-82D32E4FD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6789" y="3573788"/>
                <a:ext cx="685033" cy="40709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CuadroTexto 57">
                <a:extLst>
                  <a:ext uri="{FF2B5EF4-FFF2-40B4-BE49-F238E27FC236}">
                    <a16:creationId xmlns:a16="http://schemas.microsoft.com/office/drawing/2014/main" id="{BDFC3022-A169-1A39-3750-2D3F6554C26A}"/>
                  </a:ext>
                </a:extLst>
              </p:cNvPr>
              <p:cNvSpPr txBox="1"/>
              <p:nvPr/>
            </p:nvSpPr>
            <p:spPr>
              <a:xfrm>
                <a:off x="8489044" y="3573787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58" name="CuadroTexto 57">
                <a:extLst>
                  <a:ext uri="{FF2B5EF4-FFF2-40B4-BE49-F238E27FC236}">
                    <a16:creationId xmlns:a16="http://schemas.microsoft.com/office/drawing/2014/main" id="{BDFC3022-A169-1A39-3750-2D3F6554C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044" y="3573787"/>
                <a:ext cx="685033" cy="407099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CuadroTexto 58">
                <a:extLst>
                  <a:ext uri="{FF2B5EF4-FFF2-40B4-BE49-F238E27FC236}">
                    <a16:creationId xmlns:a16="http://schemas.microsoft.com/office/drawing/2014/main" id="{D6704B6D-5ACB-9771-DB27-C764AEF1EE31}"/>
                  </a:ext>
                </a:extLst>
              </p:cNvPr>
              <p:cNvSpPr txBox="1"/>
              <p:nvPr/>
            </p:nvSpPr>
            <p:spPr>
              <a:xfrm>
                <a:off x="9283664" y="3573787"/>
                <a:ext cx="68503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59" name="CuadroTexto 58">
                <a:extLst>
                  <a:ext uri="{FF2B5EF4-FFF2-40B4-BE49-F238E27FC236}">
                    <a16:creationId xmlns:a16="http://schemas.microsoft.com/office/drawing/2014/main" id="{D6704B6D-5ACB-9771-DB27-C764AEF1E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3664" y="3573787"/>
                <a:ext cx="685033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25CBEC4E-5DDC-18A9-A8D5-50ADEB194B8A}"/>
                  </a:ext>
                </a:extLst>
              </p:cNvPr>
              <p:cNvSpPr txBox="1"/>
              <p:nvPr/>
            </p:nvSpPr>
            <p:spPr>
              <a:xfrm>
                <a:off x="6384960" y="4481041"/>
                <a:ext cx="479152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25CBEC4E-5DDC-18A9-A8D5-50ADEB194B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960" y="4481041"/>
                <a:ext cx="479152" cy="407099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EE60A3D2-E324-3B66-F6CF-E5D913CD0612}"/>
                  </a:ext>
                </a:extLst>
              </p:cNvPr>
              <p:cNvSpPr txBox="1"/>
              <p:nvPr/>
            </p:nvSpPr>
            <p:spPr>
              <a:xfrm>
                <a:off x="6955224" y="4481040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EE60A3D2-E324-3B66-F6CF-E5D913CD0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224" y="4481040"/>
                <a:ext cx="685033" cy="40709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128BFE6F-D74D-6BEC-B01E-A11F8F7235C9}"/>
                  </a:ext>
                </a:extLst>
              </p:cNvPr>
              <p:cNvSpPr txBox="1"/>
              <p:nvPr/>
            </p:nvSpPr>
            <p:spPr>
              <a:xfrm>
                <a:off x="7786789" y="4481039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128BFE6F-D74D-6BEC-B01E-A11F8F723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6789" y="4481039"/>
                <a:ext cx="685033" cy="40709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27EEB093-32CC-E187-9812-AF0F8075615B}"/>
                  </a:ext>
                </a:extLst>
              </p:cNvPr>
              <p:cNvSpPr txBox="1"/>
              <p:nvPr/>
            </p:nvSpPr>
            <p:spPr>
              <a:xfrm>
                <a:off x="8489044" y="4481038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27EEB093-32CC-E187-9812-AF0F80756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044" y="4481038"/>
                <a:ext cx="685033" cy="40709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BA08683B-00FA-F597-A2C0-FAEAFFE4B8BC}"/>
                  </a:ext>
                </a:extLst>
              </p:cNvPr>
              <p:cNvSpPr txBox="1"/>
              <p:nvPr/>
            </p:nvSpPr>
            <p:spPr>
              <a:xfrm>
                <a:off x="9283664" y="4481038"/>
                <a:ext cx="68503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s-ES" sz="2000" b="1" dirty="0">
                  <a:solidFill>
                    <a:schemeClr val="accent3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BA08683B-00FA-F597-A2C0-FAEAFFE4B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3664" y="4481038"/>
                <a:ext cx="685033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AFB4677F-33F9-01E0-7003-FF2F482B1787}"/>
                  </a:ext>
                </a:extLst>
              </p:cNvPr>
              <p:cNvSpPr txBox="1"/>
              <p:nvPr/>
            </p:nvSpPr>
            <p:spPr>
              <a:xfrm>
                <a:off x="6955224" y="4020977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AFB4677F-33F9-01E0-7003-FF2F482B1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224" y="4020977"/>
                <a:ext cx="685033" cy="407099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B08BD40E-B693-5466-6C3B-EC3B144F4330}"/>
                  </a:ext>
                </a:extLst>
              </p:cNvPr>
              <p:cNvSpPr txBox="1"/>
              <p:nvPr/>
            </p:nvSpPr>
            <p:spPr>
              <a:xfrm>
                <a:off x="7786789" y="4020976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B08BD40E-B693-5466-6C3B-EC3B144F43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6789" y="4020976"/>
                <a:ext cx="685033" cy="407099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34C8C1D4-DD3E-B488-DE1E-B5E0662719ED}"/>
                  </a:ext>
                </a:extLst>
              </p:cNvPr>
              <p:cNvSpPr txBox="1"/>
              <p:nvPr/>
            </p:nvSpPr>
            <p:spPr>
              <a:xfrm>
                <a:off x="8489044" y="4020975"/>
                <a:ext cx="68503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34C8C1D4-DD3E-B488-DE1E-B5E0662719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044" y="4020975"/>
                <a:ext cx="685033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EC1B4A0B-B04D-6B90-59A1-028CE6D8D21C}"/>
                  </a:ext>
                </a:extLst>
              </p:cNvPr>
              <p:cNvSpPr txBox="1"/>
              <p:nvPr/>
            </p:nvSpPr>
            <p:spPr>
              <a:xfrm>
                <a:off x="9283664" y="4020975"/>
                <a:ext cx="68503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EC1B4A0B-B04D-6B90-59A1-028CE6D8D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3664" y="4020975"/>
                <a:ext cx="685033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CuadroTexto 72">
            <a:extLst>
              <a:ext uri="{FF2B5EF4-FFF2-40B4-BE49-F238E27FC236}">
                <a16:creationId xmlns:a16="http://schemas.microsoft.com/office/drawing/2014/main" id="{A8CADED1-677A-D918-8A40-C88C2F487EED}"/>
              </a:ext>
            </a:extLst>
          </p:cNvPr>
          <p:cNvSpPr txBox="1"/>
          <p:nvPr/>
        </p:nvSpPr>
        <p:spPr>
          <a:xfrm>
            <a:off x="2494204" y="5069880"/>
            <a:ext cx="1845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1 no es raíz</a:t>
            </a: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DCFE96B6-81D9-E7CD-3987-5B9EFF4FD4B0}"/>
              </a:ext>
            </a:extLst>
          </p:cNvPr>
          <p:cNvSpPr txBox="1"/>
          <p:nvPr/>
        </p:nvSpPr>
        <p:spPr>
          <a:xfrm>
            <a:off x="7206600" y="5069880"/>
            <a:ext cx="1845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-1 sí es raíz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!CuadroTexto 1">
                <a:extLst>
                  <a:ext uri="{FF2B5EF4-FFF2-40B4-BE49-F238E27FC236}">
                    <a16:creationId xmlns:a16="http://schemas.microsoft.com/office/drawing/2014/main" id="{9A804C80-6D35-E6FC-151A-5E1BBD0A8689}"/>
                  </a:ext>
                </a:extLst>
              </p:cNvPr>
              <p:cNvSpPr txBox="1"/>
              <p:nvPr/>
            </p:nvSpPr>
            <p:spPr>
              <a:xfrm>
                <a:off x="1430714" y="5590951"/>
                <a:ext cx="899964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E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E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−(−1))∙(4</m:t>
                          </m:r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E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s-E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s-E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+2)</m:t>
                      </m:r>
                      <m:r>
                        <a:rPr lang="es-E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1)∙(4</m:t>
                          </m:r>
                          <m: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E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sz="2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+2)</m:t>
                      </m:r>
                    </m:oMath>
                  </m:oMathPara>
                </a14:m>
                <a:endParaRPr lang="es-ES" sz="3200" dirty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5" name="!CuadroTexto 1">
                <a:extLst>
                  <a:ext uri="{FF2B5EF4-FFF2-40B4-BE49-F238E27FC236}">
                    <a16:creationId xmlns:a16="http://schemas.microsoft.com/office/drawing/2014/main" id="{9A804C80-6D35-E6FC-151A-5E1BBD0A8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714" y="5590951"/>
                <a:ext cx="8999641" cy="400110"/>
              </a:xfrm>
              <a:prstGeom prst="rect">
                <a:avLst/>
              </a:prstGeom>
              <a:blipFill>
                <a:blip r:embed="rId37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361751DD-F6F9-95CF-0961-D93490585EB3}"/>
              </a:ext>
            </a:extLst>
          </p:cNvPr>
          <p:cNvCxnSpPr/>
          <p:nvPr/>
        </p:nvCxnSpPr>
        <p:spPr>
          <a:xfrm>
            <a:off x="7716457" y="6032573"/>
            <a:ext cx="2105025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!CuadroTexto 1">
                <a:extLst>
                  <a:ext uri="{FF2B5EF4-FFF2-40B4-BE49-F238E27FC236}">
                    <a16:creationId xmlns:a16="http://schemas.microsoft.com/office/drawing/2014/main" id="{A380D810-8A42-7D3F-6FB4-B41A8765C747}"/>
                  </a:ext>
                </a:extLst>
              </p:cNvPr>
              <p:cNvSpPr txBox="1"/>
              <p:nvPr/>
            </p:nvSpPr>
            <p:spPr>
              <a:xfrm>
                <a:off x="8330996" y="6065805"/>
                <a:ext cx="87594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s-ES" sz="32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8" name="!CuadroTexto 1">
                <a:extLst>
                  <a:ext uri="{FF2B5EF4-FFF2-40B4-BE49-F238E27FC236}">
                    <a16:creationId xmlns:a16="http://schemas.microsoft.com/office/drawing/2014/main" id="{A380D810-8A42-7D3F-6FB4-B41A8765C7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0996" y="6065805"/>
                <a:ext cx="875946" cy="400110"/>
              </a:xfrm>
              <a:prstGeom prst="rect">
                <a:avLst/>
              </a:prstGeom>
              <a:blipFill>
                <a:blip r:embed="rId38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519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175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625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8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3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8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3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8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3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8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2500"/>
                            </p:stCondLst>
                            <p:childTnLst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300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3500"/>
                            </p:stCondLst>
                            <p:childTnLst>
                              <p:par>
                                <p:cTn id="1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4000"/>
                            </p:stCondLst>
                            <p:childTnLst>
                              <p:par>
                                <p:cTn id="1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500"/>
                            </p:stCondLst>
                            <p:childTnLst>
                              <p:par>
                                <p:cTn id="18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1000"/>
                            </p:stCondLst>
                            <p:childTnLst>
                              <p:par>
                                <p:cTn id="1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2700"/>
                            </p:stCondLst>
                            <p:childTnLst>
                              <p:par>
                                <p:cTn id="1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3200"/>
                            </p:stCondLst>
                            <p:childTnLst>
                              <p:par>
                                <p:cTn id="2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/>
      <p:bldP spid="4" grpId="0"/>
      <p:bldP spid="13" grpId="0"/>
      <p:bldP spid="14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2" grpId="0"/>
      <p:bldP spid="63" grpId="0"/>
      <p:bldP spid="64" grpId="0"/>
      <p:bldP spid="67" grpId="0"/>
      <p:bldP spid="68" grpId="0"/>
      <p:bldP spid="69" grpId="0"/>
      <p:bldP spid="70" grpId="0"/>
      <p:bldP spid="71" grpId="0"/>
      <p:bldP spid="73" grpId="0"/>
      <p:bldP spid="74" grpId="0"/>
      <p:bldP spid="75" grpId="0"/>
      <p:bldP spid="7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3A0D59-50D2-F691-E76E-446E97C1B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B7D2564-D8FF-573E-8AE1-72F8B076C75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3909E763-9A24-42BB-5735-90F231F56EA9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Polinomios y Fracciones Algebraicas</a:t>
            </a: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618AF6D0-4697-D3E8-780E-EBB2C5B80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A0BDAF8C-A265-4C74-B9EE-548AECED999C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0186AFB1-F894-222B-A46F-94BD539F7A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46607B8-EB6B-CA37-5618-5245B998DC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DCDD38DF-A2F7-68DA-ABAB-4BF886A39E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65" name="!Marco 10">
            <a:extLst>
              <a:ext uri="{FF2B5EF4-FFF2-40B4-BE49-F238E27FC236}">
                <a16:creationId xmlns:a16="http://schemas.microsoft.com/office/drawing/2014/main" id="{FED0572E-C96B-6772-5475-D3AAC4E02851}"/>
              </a:ext>
            </a:extLst>
          </p:cNvPr>
          <p:cNvSpPr/>
          <p:nvPr/>
        </p:nvSpPr>
        <p:spPr>
          <a:xfrm>
            <a:off x="535084" y="1479804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BADD54EC-8AB9-6899-729B-6E7DD78234BA}"/>
              </a:ext>
            </a:extLst>
          </p:cNvPr>
          <p:cNvSpPr txBox="1"/>
          <p:nvPr/>
        </p:nvSpPr>
        <p:spPr>
          <a:xfrm>
            <a:off x="535084" y="1487091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Factorizar </a:t>
            </a:r>
            <a:r>
              <a:rPr lang="es-ES" sz="2000" b="1" dirty="0"/>
              <a:t>un polinomio es descomponerlo en producto de polinomios (factores) del menor grado posible.</a:t>
            </a:r>
          </a:p>
        </p:txBody>
      </p:sp>
      <p:sp>
        <p:nvSpPr>
          <p:cNvPr id="4" name="!CuadroTexto 1">
            <a:extLst>
              <a:ext uri="{FF2B5EF4-FFF2-40B4-BE49-F238E27FC236}">
                <a16:creationId xmlns:a16="http://schemas.microsoft.com/office/drawing/2014/main" id="{15F79BEF-3250-F269-AD56-98E5FED7EB26}"/>
              </a:ext>
            </a:extLst>
          </p:cNvPr>
          <p:cNvSpPr txBox="1"/>
          <p:nvPr/>
        </p:nvSpPr>
        <p:spPr>
          <a:xfrm>
            <a:off x="535084" y="992717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PROCEDIMIENTO </a:t>
            </a:r>
            <a:r>
              <a:rPr lang="es-ES" sz="2000" b="1">
                <a:solidFill>
                  <a:schemeClr val="tx2">
                    <a:lumMod val="50000"/>
                    <a:lumOff val="50000"/>
                  </a:schemeClr>
                </a:solidFill>
              </a:rPr>
              <a:t>PARA FACTORIZAR UN POLINOMIO</a:t>
            </a:r>
            <a:endParaRPr lang="es-ES" sz="32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!CuadroTexto 1">
                <a:extLst>
                  <a:ext uri="{FF2B5EF4-FFF2-40B4-BE49-F238E27FC236}">
                    <a16:creationId xmlns:a16="http://schemas.microsoft.com/office/drawing/2014/main" id="{78FD768A-2892-2BCB-E294-13E90B09F9E7}"/>
                  </a:ext>
                </a:extLst>
              </p:cNvPr>
              <p:cNvSpPr txBox="1"/>
              <p:nvPr/>
            </p:nvSpPr>
            <p:spPr>
              <a:xfrm>
                <a:off x="535084" y="2336482"/>
                <a:ext cx="11121832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EJEMPLO: </a:t>
                </a:r>
                <a:r>
                  <a:rPr lang="es-ES" sz="2000" dirty="0">
                    <a:solidFill>
                      <a:schemeClr val="tx1"/>
                    </a:solidFill>
                  </a:rPr>
                  <a:t>Factorizar </a:t>
                </a:r>
                <a14:m>
                  <m:oMath xmlns:m="http://schemas.openxmlformats.org/officeDocument/2006/math"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s-E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s-E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s-E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s-E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s-E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endParaRPr lang="es-ES" sz="3200" dirty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!CuadroTexto 1">
                <a:extLst>
                  <a:ext uri="{FF2B5EF4-FFF2-40B4-BE49-F238E27FC236}">
                    <a16:creationId xmlns:a16="http://schemas.microsoft.com/office/drawing/2014/main" id="{78FD768A-2892-2BCB-E294-13E90B09F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2336482"/>
                <a:ext cx="11121832" cy="407099"/>
              </a:xfrm>
              <a:prstGeom prst="rect">
                <a:avLst/>
              </a:prstGeom>
              <a:blipFill>
                <a:blip r:embed="rId6"/>
                <a:stretch>
                  <a:fillRect l="-603" t="-7463" b="-2388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!CuadroTexto 1">
            <a:extLst>
              <a:ext uri="{FF2B5EF4-FFF2-40B4-BE49-F238E27FC236}">
                <a16:creationId xmlns:a16="http://schemas.microsoft.com/office/drawing/2014/main" id="{49E57E94-84A5-8565-E749-16BD42A4B9FA}"/>
              </a:ext>
            </a:extLst>
          </p:cNvPr>
          <p:cNvSpPr txBox="1"/>
          <p:nvPr/>
        </p:nvSpPr>
        <p:spPr>
          <a:xfrm>
            <a:off x="468326" y="3559819"/>
            <a:ext cx="11121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Probamos de nuevo con -1 para saber si se trata de una raíz doble:</a:t>
            </a:r>
            <a:endParaRPr lang="es-ES" sz="2800" dirty="0"/>
          </a:p>
        </p:txBody>
      </p: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BFA89DE8-D156-995A-41D9-0C49B14BA105}"/>
              </a:ext>
            </a:extLst>
          </p:cNvPr>
          <p:cNvCxnSpPr>
            <a:cxnSpLocks/>
          </p:cNvCxnSpPr>
          <p:nvPr/>
        </p:nvCxnSpPr>
        <p:spPr>
          <a:xfrm>
            <a:off x="4386034" y="5083137"/>
            <a:ext cx="34831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74474494-064A-A0CB-DA19-3A1F12863D0B}"/>
              </a:ext>
            </a:extLst>
          </p:cNvPr>
          <p:cNvCxnSpPr>
            <a:cxnSpLocks/>
          </p:cNvCxnSpPr>
          <p:nvPr/>
        </p:nvCxnSpPr>
        <p:spPr>
          <a:xfrm>
            <a:off x="4874152" y="4180428"/>
            <a:ext cx="0" cy="13905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6B32ADF6-26F7-5BD6-A099-787A377CDA5F}"/>
                  </a:ext>
                </a:extLst>
              </p:cNvPr>
              <p:cNvSpPr txBox="1"/>
              <p:nvPr/>
            </p:nvSpPr>
            <p:spPr>
              <a:xfrm>
                <a:off x="4386034" y="4685003"/>
                <a:ext cx="479152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6B32ADF6-26F7-5BD6-A099-787A377CD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6034" y="4685003"/>
                <a:ext cx="479152" cy="407099"/>
              </a:xfrm>
              <a:prstGeom prst="rect">
                <a:avLst/>
              </a:prstGeom>
              <a:blipFill>
                <a:blip r:embed="rId7"/>
                <a:stretch>
                  <a:fillRect r="-886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uadroTexto 54">
                <a:extLst>
                  <a:ext uri="{FF2B5EF4-FFF2-40B4-BE49-F238E27FC236}">
                    <a16:creationId xmlns:a16="http://schemas.microsoft.com/office/drawing/2014/main" id="{C8E3BCC9-C1F7-5749-BE25-ED584AE0BF28}"/>
                  </a:ext>
                </a:extLst>
              </p:cNvPr>
              <p:cNvSpPr txBox="1"/>
              <p:nvPr/>
            </p:nvSpPr>
            <p:spPr>
              <a:xfrm>
                <a:off x="5080035" y="4180428"/>
                <a:ext cx="479152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55" name="CuadroTexto 54">
                <a:extLst>
                  <a:ext uri="{FF2B5EF4-FFF2-40B4-BE49-F238E27FC236}">
                    <a16:creationId xmlns:a16="http://schemas.microsoft.com/office/drawing/2014/main" id="{C8E3BCC9-C1F7-5749-BE25-ED584AE0B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35" y="4180428"/>
                <a:ext cx="479152" cy="4070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B43D4126-9E11-171B-D2D6-3017A492C1F1}"/>
                  </a:ext>
                </a:extLst>
              </p:cNvPr>
              <p:cNvSpPr txBox="1"/>
              <p:nvPr/>
            </p:nvSpPr>
            <p:spPr>
              <a:xfrm>
                <a:off x="5650299" y="4180427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B43D4126-9E11-171B-D2D6-3017A492C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299" y="4180427"/>
                <a:ext cx="685033" cy="4070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uadroTexto 56">
                <a:extLst>
                  <a:ext uri="{FF2B5EF4-FFF2-40B4-BE49-F238E27FC236}">
                    <a16:creationId xmlns:a16="http://schemas.microsoft.com/office/drawing/2014/main" id="{99D8FEF4-16C2-358C-FF3C-273334B970CA}"/>
                  </a:ext>
                </a:extLst>
              </p:cNvPr>
              <p:cNvSpPr txBox="1"/>
              <p:nvPr/>
            </p:nvSpPr>
            <p:spPr>
              <a:xfrm>
                <a:off x="6481864" y="4180426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57" name="CuadroTexto 56">
                <a:extLst>
                  <a:ext uri="{FF2B5EF4-FFF2-40B4-BE49-F238E27FC236}">
                    <a16:creationId xmlns:a16="http://schemas.microsoft.com/office/drawing/2014/main" id="{99D8FEF4-16C2-358C-FF3C-273334B97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1864" y="4180426"/>
                <a:ext cx="685033" cy="4070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CuadroTexto 57">
                <a:extLst>
                  <a:ext uri="{FF2B5EF4-FFF2-40B4-BE49-F238E27FC236}">
                    <a16:creationId xmlns:a16="http://schemas.microsoft.com/office/drawing/2014/main" id="{B4194803-ECD8-4CC5-82C1-5362E49FAA79}"/>
                  </a:ext>
                </a:extLst>
              </p:cNvPr>
              <p:cNvSpPr txBox="1"/>
              <p:nvPr/>
            </p:nvSpPr>
            <p:spPr>
              <a:xfrm>
                <a:off x="7184119" y="4180425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58" name="CuadroTexto 57">
                <a:extLst>
                  <a:ext uri="{FF2B5EF4-FFF2-40B4-BE49-F238E27FC236}">
                    <a16:creationId xmlns:a16="http://schemas.microsoft.com/office/drawing/2014/main" id="{B4194803-ECD8-4CC5-82C1-5362E49FA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4119" y="4180425"/>
                <a:ext cx="685033" cy="4070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CFB5A120-5F23-0FDF-E1C5-5829BD336C16}"/>
                  </a:ext>
                </a:extLst>
              </p:cNvPr>
              <p:cNvSpPr txBox="1"/>
              <p:nvPr/>
            </p:nvSpPr>
            <p:spPr>
              <a:xfrm>
                <a:off x="5080035" y="5087679"/>
                <a:ext cx="479152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CFB5A120-5F23-0FDF-E1C5-5829BD336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35" y="5087679"/>
                <a:ext cx="479152" cy="4070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AB53D3B3-7D3F-5990-BF34-C43C892557BD}"/>
                  </a:ext>
                </a:extLst>
              </p:cNvPr>
              <p:cNvSpPr txBox="1"/>
              <p:nvPr/>
            </p:nvSpPr>
            <p:spPr>
              <a:xfrm>
                <a:off x="5650299" y="5087678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AB53D3B3-7D3F-5990-BF34-C43C89255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299" y="5087678"/>
                <a:ext cx="685033" cy="4070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3EE5112E-4EDA-0EF1-3AED-0ED87DE1E530}"/>
                  </a:ext>
                </a:extLst>
              </p:cNvPr>
              <p:cNvSpPr txBox="1"/>
              <p:nvPr/>
            </p:nvSpPr>
            <p:spPr>
              <a:xfrm>
                <a:off x="6481864" y="5087677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𝟏𝟏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3EE5112E-4EDA-0EF1-3AED-0ED87DE1E5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1864" y="5087677"/>
                <a:ext cx="685033" cy="4070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08783DBC-6EA5-64EF-A172-5642CD75F22D}"/>
                  </a:ext>
                </a:extLst>
              </p:cNvPr>
              <p:cNvSpPr txBox="1"/>
              <p:nvPr/>
            </p:nvSpPr>
            <p:spPr>
              <a:xfrm>
                <a:off x="7184119" y="5087676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solidFill>
                            <a:srgbClr val="EF4246"/>
                          </a:solidFill>
                          <a:latin typeface="Cambria Math" panose="02040503050406030204" pitchFamily="18" charset="0"/>
                        </a:rPr>
                        <m:t>𝟏𝟑</m:t>
                      </m:r>
                    </m:oMath>
                  </m:oMathPara>
                </a14:m>
                <a:endParaRPr lang="es-ES" sz="2000" b="1" dirty="0">
                  <a:solidFill>
                    <a:srgbClr val="EF4246"/>
                  </a:solidFill>
                </a:endParaRPr>
              </a:p>
            </p:txBody>
          </p:sp>
        </mc:Choice>
        <mc:Fallback xmlns="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08783DBC-6EA5-64EF-A172-5642CD75F2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4119" y="5087676"/>
                <a:ext cx="685033" cy="4070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D7D9A74B-B9A4-C8D7-886B-73126328E1A9}"/>
                  </a:ext>
                </a:extLst>
              </p:cNvPr>
              <p:cNvSpPr txBox="1"/>
              <p:nvPr/>
            </p:nvSpPr>
            <p:spPr>
              <a:xfrm>
                <a:off x="5650299" y="4627615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D7D9A74B-B9A4-C8D7-886B-73126328E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299" y="4627615"/>
                <a:ext cx="685033" cy="4070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0498EF11-F3C3-6512-0495-704C2CF97AFF}"/>
                  </a:ext>
                </a:extLst>
              </p:cNvPr>
              <p:cNvSpPr txBox="1"/>
              <p:nvPr/>
            </p:nvSpPr>
            <p:spPr>
              <a:xfrm>
                <a:off x="6481864" y="4627614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0498EF11-F3C3-6512-0495-704C2CF97A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1864" y="4627614"/>
                <a:ext cx="685033" cy="4070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AB8E8E1D-1661-8C5A-D720-4150D2105582}"/>
                  </a:ext>
                </a:extLst>
              </p:cNvPr>
              <p:cNvSpPr txBox="1"/>
              <p:nvPr/>
            </p:nvSpPr>
            <p:spPr>
              <a:xfrm>
                <a:off x="7184119" y="4627613"/>
                <a:ext cx="68503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𝟏𝟏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AB8E8E1D-1661-8C5A-D720-4150D2105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4119" y="4627613"/>
                <a:ext cx="685033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CuadroTexto 73">
            <a:extLst>
              <a:ext uri="{FF2B5EF4-FFF2-40B4-BE49-F238E27FC236}">
                <a16:creationId xmlns:a16="http://schemas.microsoft.com/office/drawing/2014/main" id="{454D01EF-8D78-5F41-1124-E495DE114896}"/>
              </a:ext>
            </a:extLst>
          </p:cNvPr>
          <p:cNvSpPr txBox="1"/>
          <p:nvPr/>
        </p:nvSpPr>
        <p:spPr>
          <a:xfrm>
            <a:off x="5187300" y="5688861"/>
            <a:ext cx="2375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-1 no es raíz doble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2FD500C1-D4B6-2B42-2482-DE737A2291F1}"/>
              </a:ext>
            </a:extLst>
          </p:cNvPr>
          <p:cNvGrpSpPr/>
          <p:nvPr/>
        </p:nvGrpSpPr>
        <p:grpSpPr>
          <a:xfrm>
            <a:off x="3872894" y="2783670"/>
            <a:ext cx="4446211" cy="773792"/>
            <a:chOff x="3872894" y="2783670"/>
            <a:chExt cx="4446211" cy="77379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5" name="!CuadroTexto 1">
                  <a:extLst>
                    <a:ext uri="{FF2B5EF4-FFF2-40B4-BE49-F238E27FC236}">
                      <a16:creationId xmlns:a16="http://schemas.microsoft.com/office/drawing/2014/main" id="{03F6B9E8-30DA-0F5A-A631-B42FB1DF14AF}"/>
                    </a:ext>
                  </a:extLst>
                </p:cNvPr>
                <p:cNvSpPr txBox="1"/>
                <p:nvPr/>
              </p:nvSpPr>
              <p:spPr>
                <a:xfrm>
                  <a:off x="3872894" y="2783670"/>
                  <a:ext cx="444621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s-E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s-E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E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ES" sz="20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s-E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1)∙(4</m:t>
                            </m:r>
                            <m:r>
                              <a:rPr lang="es-E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E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s-E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s-E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s-E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E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ES" sz="20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E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+2)</m:t>
                        </m:r>
                      </m:oMath>
                    </m:oMathPara>
                  </a14:m>
                  <a:endParaRPr lang="es-ES" sz="32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75" name="!CuadroTexto 1">
                  <a:extLst>
                    <a:ext uri="{FF2B5EF4-FFF2-40B4-BE49-F238E27FC236}">
                      <a16:creationId xmlns:a16="http://schemas.microsoft.com/office/drawing/2014/main" id="{03F6B9E8-30DA-0F5A-A631-B42FB1DF14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2894" y="2783670"/>
                  <a:ext cx="4446211" cy="400110"/>
                </a:xfrm>
                <a:prstGeom prst="rect">
                  <a:avLst/>
                </a:prstGeom>
                <a:blipFill>
                  <a:blip r:embed="rId19"/>
                  <a:stretch>
                    <a:fillRect b="-18462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7" name="Conector recto 76">
              <a:extLst>
                <a:ext uri="{FF2B5EF4-FFF2-40B4-BE49-F238E27FC236}">
                  <a16:creationId xmlns:a16="http://schemas.microsoft.com/office/drawing/2014/main" id="{A578A5EB-F98A-AFEF-15CA-5AFF6643C0C6}"/>
                </a:ext>
              </a:extLst>
            </p:cNvPr>
            <p:cNvCxnSpPr/>
            <p:nvPr/>
          </p:nvCxnSpPr>
          <p:spPr>
            <a:xfrm>
              <a:off x="5982907" y="3200320"/>
              <a:ext cx="2105025" cy="0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8" name="!CuadroTexto 1">
                  <a:extLst>
                    <a:ext uri="{FF2B5EF4-FFF2-40B4-BE49-F238E27FC236}">
                      <a16:creationId xmlns:a16="http://schemas.microsoft.com/office/drawing/2014/main" id="{0C678347-42A1-339D-7F48-F2F521D551EA}"/>
                    </a:ext>
                  </a:extLst>
                </p:cNvPr>
                <p:cNvSpPr txBox="1"/>
                <p:nvPr/>
              </p:nvSpPr>
              <p:spPr>
                <a:xfrm>
                  <a:off x="6597446" y="3157352"/>
                  <a:ext cx="87594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sz="2000" b="1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000" b="1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s-ES" sz="2000" b="1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d>
                          <m:dPr>
                            <m:ctrlPr>
                              <a:rPr lang="es-ES" sz="2000" b="1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sz="2000" b="1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oMath>
                    </m:oMathPara>
                  </a14:m>
                  <a:endParaRPr lang="es-ES" sz="32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78" name="!CuadroTexto 1">
                  <a:extLst>
                    <a:ext uri="{FF2B5EF4-FFF2-40B4-BE49-F238E27FC236}">
                      <a16:creationId xmlns:a16="http://schemas.microsoft.com/office/drawing/2014/main" id="{0C678347-42A1-339D-7F48-F2F521D551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7446" y="3157352"/>
                  <a:ext cx="875946" cy="400110"/>
                </a:xfrm>
                <a:prstGeom prst="rect">
                  <a:avLst/>
                </a:prstGeom>
                <a:blipFill>
                  <a:blip r:embed="rId20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242756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5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4" grpId="0"/>
      <p:bldP spid="55" grpId="0"/>
      <p:bldP spid="56" grpId="0"/>
      <p:bldP spid="57" grpId="0"/>
      <p:bldP spid="58" grpId="0"/>
      <p:bldP spid="60" grpId="0"/>
      <p:bldP spid="62" grpId="0"/>
      <p:bldP spid="63" grpId="0"/>
      <p:bldP spid="64" grpId="0"/>
      <p:bldP spid="68" grpId="0"/>
      <p:bldP spid="69" grpId="0"/>
      <p:bldP spid="70" grpId="0"/>
      <p:bldP spid="7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728A42-7EED-3B86-4ECB-A0B02AF73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DDD04DF-9927-9DCD-486E-9EF0D95CE9E0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8027DF42-1C86-2087-6897-B1281FD74D22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Polinomios y Fracciones Algebraicas</a:t>
            </a: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4449BFF5-0F8F-FED9-4D85-F786978073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D35B9B71-09E3-F09B-9289-64A988AE5AB4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AE14DE3-A676-2875-48FC-D1D112AACE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04FE755C-8405-4AAB-F143-B3A0AF0F5C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EC86EDAE-1676-C1AE-A8F0-6F231E4419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65" name="!Marco 10">
            <a:extLst>
              <a:ext uri="{FF2B5EF4-FFF2-40B4-BE49-F238E27FC236}">
                <a16:creationId xmlns:a16="http://schemas.microsoft.com/office/drawing/2014/main" id="{D1917A89-0136-5591-27F9-8285FC9896F8}"/>
              </a:ext>
            </a:extLst>
          </p:cNvPr>
          <p:cNvSpPr/>
          <p:nvPr/>
        </p:nvSpPr>
        <p:spPr>
          <a:xfrm>
            <a:off x="535084" y="1479804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8A55BB4C-B63B-00E9-422C-9DF06833FD8F}"/>
              </a:ext>
            </a:extLst>
          </p:cNvPr>
          <p:cNvSpPr txBox="1"/>
          <p:nvPr/>
        </p:nvSpPr>
        <p:spPr>
          <a:xfrm>
            <a:off x="535084" y="1487091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Factorizar </a:t>
            </a:r>
            <a:r>
              <a:rPr lang="es-ES" sz="2000" b="1" dirty="0"/>
              <a:t>un polinomio es descomponerlo en producto de polinomios (factores) del menor grado posible.</a:t>
            </a:r>
          </a:p>
        </p:txBody>
      </p:sp>
      <p:sp>
        <p:nvSpPr>
          <p:cNvPr id="4" name="!CuadroTexto 1">
            <a:extLst>
              <a:ext uri="{FF2B5EF4-FFF2-40B4-BE49-F238E27FC236}">
                <a16:creationId xmlns:a16="http://schemas.microsoft.com/office/drawing/2014/main" id="{7F0C7040-CAC5-1640-8F05-CAAF3DEFD842}"/>
              </a:ext>
            </a:extLst>
          </p:cNvPr>
          <p:cNvSpPr txBox="1"/>
          <p:nvPr/>
        </p:nvSpPr>
        <p:spPr>
          <a:xfrm>
            <a:off x="535084" y="992717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PROCEDIMIENTO </a:t>
            </a:r>
            <a:r>
              <a:rPr lang="es-ES" sz="2000" b="1">
                <a:solidFill>
                  <a:schemeClr val="tx2">
                    <a:lumMod val="50000"/>
                    <a:lumOff val="50000"/>
                  </a:schemeClr>
                </a:solidFill>
              </a:rPr>
              <a:t>PARA FACTORIZAR UN POLINOMIO</a:t>
            </a:r>
            <a:endParaRPr lang="es-ES" sz="32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!CuadroTexto 1">
                <a:extLst>
                  <a:ext uri="{FF2B5EF4-FFF2-40B4-BE49-F238E27FC236}">
                    <a16:creationId xmlns:a16="http://schemas.microsoft.com/office/drawing/2014/main" id="{47D34C61-5F2B-3D8B-0C4A-34226E7A680C}"/>
                  </a:ext>
                </a:extLst>
              </p:cNvPr>
              <p:cNvSpPr txBox="1"/>
              <p:nvPr/>
            </p:nvSpPr>
            <p:spPr>
              <a:xfrm>
                <a:off x="535084" y="2336482"/>
                <a:ext cx="11121832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EJEMPLO: </a:t>
                </a:r>
                <a:r>
                  <a:rPr lang="es-ES" sz="2000" dirty="0">
                    <a:solidFill>
                      <a:schemeClr val="tx1"/>
                    </a:solidFill>
                  </a:rPr>
                  <a:t>Factorizar </a:t>
                </a:r>
                <a14:m>
                  <m:oMath xmlns:m="http://schemas.openxmlformats.org/officeDocument/2006/math"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s-E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s-E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s-E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s-E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s-E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endParaRPr lang="es-ES" sz="3200" dirty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!CuadroTexto 1">
                <a:extLst>
                  <a:ext uri="{FF2B5EF4-FFF2-40B4-BE49-F238E27FC236}">
                    <a16:creationId xmlns:a16="http://schemas.microsoft.com/office/drawing/2014/main" id="{47D34C61-5F2B-3D8B-0C4A-34226E7A6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2336482"/>
                <a:ext cx="11121832" cy="407099"/>
              </a:xfrm>
              <a:prstGeom prst="rect">
                <a:avLst/>
              </a:prstGeom>
              <a:blipFill>
                <a:blip r:embed="rId6"/>
                <a:stretch>
                  <a:fillRect l="-603" t="-7463" b="-2388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!CuadroTexto 1">
            <a:extLst>
              <a:ext uri="{FF2B5EF4-FFF2-40B4-BE49-F238E27FC236}">
                <a16:creationId xmlns:a16="http://schemas.microsoft.com/office/drawing/2014/main" id="{C228894D-9198-871D-C8CC-C87805027A2E}"/>
              </a:ext>
            </a:extLst>
          </p:cNvPr>
          <p:cNvSpPr txBox="1"/>
          <p:nvPr/>
        </p:nvSpPr>
        <p:spPr>
          <a:xfrm>
            <a:off x="468326" y="3559819"/>
            <a:ext cx="11121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Ahora, que ya hemos probado con -1 y 1, probaremos con 2:</a:t>
            </a:r>
            <a:endParaRPr lang="es-ES" sz="2800" dirty="0"/>
          </a:p>
        </p:txBody>
      </p: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66576B23-8298-506B-6659-39D5D46D4710}"/>
              </a:ext>
            </a:extLst>
          </p:cNvPr>
          <p:cNvCxnSpPr>
            <a:cxnSpLocks/>
          </p:cNvCxnSpPr>
          <p:nvPr/>
        </p:nvCxnSpPr>
        <p:spPr>
          <a:xfrm>
            <a:off x="4386034" y="5083137"/>
            <a:ext cx="34831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492F6D7C-4730-68A3-C22A-F4339BEC86D9}"/>
              </a:ext>
            </a:extLst>
          </p:cNvPr>
          <p:cNvCxnSpPr>
            <a:cxnSpLocks/>
          </p:cNvCxnSpPr>
          <p:nvPr/>
        </p:nvCxnSpPr>
        <p:spPr>
          <a:xfrm>
            <a:off x="4874152" y="4180428"/>
            <a:ext cx="0" cy="13905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E847E58C-C72C-DE48-BBB8-9D9F5C12F9E2}"/>
                  </a:ext>
                </a:extLst>
              </p:cNvPr>
              <p:cNvSpPr txBox="1"/>
              <p:nvPr/>
            </p:nvSpPr>
            <p:spPr>
              <a:xfrm>
                <a:off x="4386034" y="4685003"/>
                <a:ext cx="4791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E847E58C-C72C-DE48-BBB8-9D9F5C12F9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6034" y="4685003"/>
                <a:ext cx="479152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uadroTexto 54">
                <a:extLst>
                  <a:ext uri="{FF2B5EF4-FFF2-40B4-BE49-F238E27FC236}">
                    <a16:creationId xmlns:a16="http://schemas.microsoft.com/office/drawing/2014/main" id="{DA6E4404-AE1D-0C35-E17B-A47B27D3B5B5}"/>
                  </a:ext>
                </a:extLst>
              </p:cNvPr>
              <p:cNvSpPr txBox="1"/>
              <p:nvPr/>
            </p:nvSpPr>
            <p:spPr>
              <a:xfrm>
                <a:off x="5080035" y="4180428"/>
                <a:ext cx="479152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55" name="CuadroTexto 54">
                <a:extLst>
                  <a:ext uri="{FF2B5EF4-FFF2-40B4-BE49-F238E27FC236}">
                    <a16:creationId xmlns:a16="http://schemas.microsoft.com/office/drawing/2014/main" id="{DA6E4404-AE1D-0C35-E17B-A47B27D3B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35" y="4180428"/>
                <a:ext cx="479152" cy="4070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3D32616E-EE67-1F94-6D4B-88C092F9D877}"/>
                  </a:ext>
                </a:extLst>
              </p:cNvPr>
              <p:cNvSpPr txBox="1"/>
              <p:nvPr/>
            </p:nvSpPr>
            <p:spPr>
              <a:xfrm>
                <a:off x="5650299" y="4180427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3D32616E-EE67-1F94-6D4B-88C092F9D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299" y="4180427"/>
                <a:ext cx="685033" cy="4070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uadroTexto 56">
                <a:extLst>
                  <a:ext uri="{FF2B5EF4-FFF2-40B4-BE49-F238E27FC236}">
                    <a16:creationId xmlns:a16="http://schemas.microsoft.com/office/drawing/2014/main" id="{0718920C-9AC3-7D86-56D1-9F6E7863AE2D}"/>
                  </a:ext>
                </a:extLst>
              </p:cNvPr>
              <p:cNvSpPr txBox="1"/>
              <p:nvPr/>
            </p:nvSpPr>
            <p:spPr>
              <a:xfrm>
                <a:off x="6481864" y="4180426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57" name="CuadroTexto 56">
                <a:extLst>
                  <a:ext uri="{FF2B5EF4-FFF2-40B4-BE49-F238E27FC236}">
                    <a16:creationId xmlns:a16="http://schemas.microsoft.com/office/drawing/2014/main" id="{0718920C-9AC3-7D86-56D1-9F6E7863A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1864" y="4180426"/>
                <a:ext cx="685033" cy="4070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CuadroTexto 57">
                <a:extLst>
                  <a:ext uri="{FF2B5EF4-FFF2-40B4-BE49-F238E27FC236}">
                    <a16:creationId xmlns:a16="http://schemas.microsoft.com/office/drawing/2014/main" id="{B01137CC-BFA9-C6B2-7258-A28A9381193C}"/>
                  </a:ext>
                </a:extLst>
              </p:cNvPr>
              <p:cNvSpPr txBox="1"/>
              <p:nvPr/>
            </p:nvSpPr>
            <p:spPr>
              <a:xfrm>
                <a:off x="7184119" y="4180425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58" name="CuadroTexto 57">
                <a:extLst>
                  <a:ext uri="{FF2B5EF4-FFF2-40B4-BE49-F238E27FC236}">
                    <a16:creationId xmlns:a16="http://schemas.microsoft.com/office/drawing/2014/main" id="{B01137CC-BFA9-C6B2-7258-A28A93811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4119" y="4180425"/>
                <a:ext cx="685033" cy="4070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B2CD4385-E17C-2868-7E0F-3E87211AB3FC}"/>
                  </a:ext>
                </a:extLst>
              </p:cNvPr>
              <p:cNvSpPr txBox="1"/>
              <p:nvPr/>
            </p:nvSpPr>
            <p:spPr>
              <a:xfrm>
                <a:off x="5080035" y="5087679"/>
                <a:ext cx="479152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B2CD4385-E17C-2868-7E0F-3E87211AB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35" y="5087679"/>
                <a:ext cx="479152" cy="4070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B97E03EF-2536-5CA1-99FF-FD245B8BD354}"/>
                  </a:ext>
                </a:extLst>
              </p:cNvPr>
              <p:cNvSpPr txBox="1"/>
              <p:nvPr/>
            </p:nvSpPr>
            <p:spPr>
              <a:xfrm>
                <a:off x="5650299" y="5087678"/>
                <a:ext cx="68503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B97E03EF-2536-5CA1-99FF-FD245B8BD3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299" y="5087678"/>
                <a:ext cx="685033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42186B1C-7F26-8E4E-E89E-48B3DE05369D}"/>
                  </a:ext>
                </a:extLst>
              </p:cNvPr>
              <p:cNvSpPr txBox="1"/>
              <p:nvPr/>
            </p:nvSpPr>
            <p:spPr>
              <a:xfrm>
                <a:off x="6481864" y="5087677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42186B1C-7F26-8E4E-E89E-48B3DE053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1864" y="5087677"/>
                <a:ext cx="685033" cy="4070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4FB89EC4-3D49-F209-CB53-EA70208D0241}"/>
                  </a:ext>
                </a:extLst>
              </p:cNvPr>
              <p:cNvSpPr txBox="1"/>
              <p:nvPr/>
            </p:nvSpPr>
            <p:spPr>
              <a:xfrm>
                <a:off x="7184119" y="5087676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s-ES" sz="2000" b="1" dirty="0">
                  <a:solidFill>
                    <a:schemeClr val="accent3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4FB89EC4-3D49-F209-CB53-EA70208D0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4119" y="5087676"/>
                <a:ext cx="685033" cy="4070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52C2E627-0288-F0F4-CA9F-69CD58286FD1}"/>
                  </a:ext>
                </a:extLst>
              </p:cNvPr>
              <p:cNvSpPr txBox="1"/>
              <p:nvPr/>
            </p:nvSpPr>
            <p:spPr>
              <a:xfrm>
                <a:off x="5650299" y="4627615"/>
                <a:ext cx="68503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52C2E627-0288-F0F4-CA9F-69CD58286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299" y="4627615"/>
                <a:ext cx="685033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13FCDBE0-E9B9-0DAA-724F-B917CCF30097}"/>
                  </a:ext>
                </a:extLst>
              </p:cNvPr>
              <p:cNvSpPr txBox="1"/>
              <p:nvPr/>
            </p:nvSpPr>
            <p:spPr>
              <a:xfrm>
                <a:off x="6481864" y="4627614"/>
                <a:ext cx="68503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13FCDBE0-E9B9-0DAA-724F-B917CCF30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1864" y="4627614"/>
                <a:ext cx="685033" cy="4070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0447CBB8-7EAF-728B-68CB-03AC321AF9DD}"/>
                  </a:ext>
                </a:extLst>
              </p:cNvPr>
              <p:cNvSpPr txBox="1"/>
              <p:nvPr/>
            </p:nvSpPr>
            <p:spPr>
              <a:xfrm>
                <a:off x="7184119" y="4627613"/>
                <a:ext cx="68503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0447CBB8-7EAF-728B-68CB-03AC321AF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4119" y="4627613"/>
                <a:ext cx="685033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CuadroTexto 73">
            <a:extLst>
              <a:ext uri="{FF2B5EF4-FFF2-40B4-BE49-F238E27FC236}">
                <a16:creationId xmlns:a16="http://schemas.microsoft.com/office/drawing/2014/main" id="{3533E8DD-F34B-1A99-4501-E50DF38BD31C}"/>
              </a:ext>
            </a:extLst>
          </p:cNvPr>
          <p:cNvSpPr txBox="1"/>
          <p:nvPr/>
        </p:nvSpPr>
        <p:spPr>
          <a:xfrm>
            <a:off x="5187300" y="5688861"/>
            <a:ext cx="2375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2  es una raíz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!CuadroTexto 1">
                <a:extLst>
                  <a:ext uri="{FF2B5EF4-FFF2-40B4-BE49-F238E27FC236}">
                    <a16:creationId xmlns:a16="http://schemas.microsoft.com/office/drawing/2014/main" id="{A437BE50-4A32-0E23-9E5C-DC31486357F2}"/>
                  </a:ext>
                </a:extLst>
              </p:cNvPr>
              <p:cNvSpPr txBox="1"/>
              <p:nvPr/>
            </p:nvSpPr>
            <p:spPr>
              <a:xfrm>
                <a:off x="3872894" y="2783670"/>
                <a:ext cx="444621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E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E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1)∙(4</m:t>
                          </m:r>
                          <m: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E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sz="2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+2)</m:t>
                      </m:r>
                    </m:oMath>
                  </m:oMathPara>
                </a14:m>
                <a:endParaRPr lang="es-ES" sz="3200" dirty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5" name="!CuadroTexto 1">
                <a:extLst>
                  <a:ext uri="{FF2B5EF4-FFF2-40B4-BE49-F238E27FC236}">
                    <a16:creationId xmlns:a16="http://schemas.microsoft.com/office/drawing/2014/main" id="{A437BE50-4A32-0E23-9E5C-DC3148635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894" y="2783670"/>
                <a:ext cx="4446211" cy="400110"/>
              </a:xfrm>
              <a:prstGeom prst="rect">
                <a:avLst/>
              </a:prstGeom>
              <a:blipFill>
                <a:blip r:embed="rId19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1C794003-3CD2-7F13-F616-77968A8CE53C}"/>
              </a:ext>
            </a:extLst>
          </p:cNvPr>
          <p:cNvCxnSpPr/>
          <p:nvPr/>
        </p:nvCxnSpPr>
        <p:spPr>
          <a:xfrm>
            <a:off x="5982907" y="3200320"/>
            <a:ext cx="2105025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!CuadroTexto 1">
                <a:extLst>
                  <a:ext uri="{FF2B5EF4-FFF2-40B4-BE49-F238E27FC236}">
                    <a16:creationId xmlns:a16="http://schemas.microsoft.com/office/drawing/2014/main" id="{DC7F176C-4569-3487-A51B-81C335A126FA}"/>
                  </a:ext>
                </a:extLst>
              </p:cNvPr>
              <p:cNvSpPr txBox="1"/>
              <p:nvPr/>
            </p:nvSpPr>
            <p:spPr>
              <a:xfrm>
                <a:off x="6597446" y="3157352"/>
                <a:ext cx="87594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s-ES" sz="32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8" name="!CuadroTexto 1">
                <a:extLst>
                  <a:ext uri="{FF2B5EF4-FFF2-40B4-BE49-F238E27FC236}">
                    <a16:creationId xmlns:a16="http://schemas.microsoft.com/office/drawing/2014/main" id="{DC7F176C-4569-3487-A51B-81C335A12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7446" y="3157352"/>
                <a:ext cx="875946" cy="400110"/>
              </a:xfrm>
              <a:prstGeom prst="rect">
                <a:avLst/>
              </a:prstGeom>
              <a:blipFill>
                <a:blip r:embed="rId20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!CuadroTexto 1">
                <a:extLst>
                  <a:ext uri="{FF2B5EF4-FFF2-40B4-BE49-F238E27FC236}">
                    <a16:creationId xmlns:a16="http://schemas.microsoft.com/office/drawing/2014/main" id="{BA945699-5A89-C4B1-F9B4-0E4F5C7CA49F}"/>
                  </a:ext>
                </a:extLst>
              </p:cNvPr>
              <p:cNvSpPr txBox="1"/>
              <p:nvPr/>
            </p:nvSpPr>
            <p:spPr>
              <a:xfrm>
                <a:off x="1716464" y="6126793"/>
                <a:ext cx="8999641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s-E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E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−2)∙(4</m:t>
                          </m:r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s-E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!CuadroTexto 1">
                <a:extLst>
                  <a:ext uri="{FF2B5EF4-FFF2-40B4-BE49-F238E27FC236}">
                    <a16:creationId xmlns:a16="http://schemas.microsoft.com/office/drawing/2014/main" id="{BA945699-5A89-C4B1-F9B4-0E4F5C7CA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6464" y="6126793"/>
                <a:ext cx="8999641" cy="407099"/>
              </a:xfrm>
              <a:prstGeom prst="rect">
                <a:avLst/>
              </a:prstGeom>
              <a:blipFill>
                <a:blip r:embed="rId21"/>
                <a:stretch>
                  <a:fillRect b="-1641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1393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375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875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4" grpId="0"/>
      <p:bldP spid="55" grpId="0"/>
      <p:bldP spid="56" grpId="0"/>
      <p:bldP spid="57" grpId="0"/>
      <p:bldP spid="58" grpId="0"/>
      <p:bldP spid="60" grpId="0"/>
      <p:bldP spid="62" grpId="0"/>
      <p:bldP spid="63" grpId="0"/>
      <p:bldP spid="64" grpId="0"/>
      <p:bldP spid="68" grpId="0"/>
      <p:bldP spid="69" grpId="0"/>
      <p:bldP spid="70" grpId="0"/>
      <p:bldP spid="7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DF74D1-B6F5-A8FF-C74D-00FEDE664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D42732C-2B12-3ED7-508C-61FEC87166F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FBB6F579-A63D-206E-4E0B-10C490BFD9BF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Polinomios y Fracciones Algebraicas</a:t>
            </a: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483B2507-A7CB-A1BE-5A5C-B9EE9F4B17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C1B5FB4-D09B-1240-ACE2-125AAE1F0C58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BE7694E8-5339-4593-5189-D4DCA2E3AF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152579A3-35E2-3B74-A67A-2AA983157E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B6E6DF96-D4A6-1AD4-2227-AE1F54315C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65" name="!Marco 10">
            <a:extLst>
              <a:ext uri="{FF2B5EF4-FFF2-40B4-BE49-F238E27FC236}">
                <a16:creationId xmlns:a16="http://schemas.microsoft.com/office/drawing/2014/main" id="{A9D5D092-1AFB-D580-CB4B-DFC1B13CD5E5}"/>
              </a:ext>
            </a:extLst>
          </p:cNvPr>
          <p:cNvSpPr/>
          <p:nvPr/>
        </p:nvSpPr>
        <p:spPr>
          <a:xfrm>
            <a:off x="535084" y="1479804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DF0A7774-9F12-6ABF-A0F9-A3104BCFB594}"/>
              </a:ext>
            </a:extLst>
          </p:cNvPr>
          <p:cNvSpPr txBox="1"/>
          <p:nvPr/>
        </p:nvSpPr>
        <p:spPr>
          <a:xfrm>
            <a:off x="535084" y="1487091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Factorizar </a:t>
            </a:r>
            <a:r>
              <a:rPr lang="es-ES" sz="2000" b="1" dirty="0"/>
              <a:t>un polinomio es descomponerlo en producto de polinomios (factores) del menor grado posible.</a:t>
            </a:r>
          </a:p>
        </p:txBody>
      </p:sp>
      <p:sp>
        <p:nvSpPr>
          <p:cNvPr id="4" name="!CuadroTexto 1">
            <a:extLst>
              <a:ext uri="{FF2B5EF4-FFF2-40B4-BE49-F238E27FC236}">
                <a16:creationId xmlns:a16="http://schemas.microsoft.com/office/drawing/2014/main" id="{2048A2AF-AF84-C6E5-5512-2365055ABF64}"/>
              </a:ext>
            </a:extLst>
          </p:cNvPr>
          <p:cNvSpPr txBox="1"/>
          <p:nvPr/>
        </p:nvSpPr>
        <p:spPr>
          <a:xfrm>
            <a:off x="535084" y="992717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PROCEDIMIENTO </a:t>
            </a:r>
            <a:r>
              <a:rPr lang="es-ES" sz="2000" b="1">
                <a:solidFill>
                  <a:schemeClr val="tx2">
                    <a:lumMod val="50000"/>
                    <a:lumOff val="50000"/>
                  </a:schemeClr>
                </a:solidFill>
              </a:rPr>
              <a:t>PARA FACTORIZAR UN POLINOMIO</a:t>
            </a:r>
            <a:endParaRPr lang="es-ES" sz="32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!CuadroTexto 1">
                <a:extLst>
                  <a:ext uri="{FF2B5EF4-FFF2-40B4-BE49-F238E27FC236}">
                    <a16:creationId xmlns:a16="http://schemas.microsoft.com/office/drawing/2014/main" id="{F7EF92FE-7F53-B086-ED6A-6B48BF8EAAA8}"/>
                  </a:ext>
                </a:extLst>
              </p:cNvPr>
              <p:cNvSpPr txBox="1"/>
              <p:nvPr/>
            </p:nvSpPr>
            <p:spPr>
              <a:xfrm>
                <a:off x="535084" y="2336482"/>
                <a:ext cx="11121832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EJEMPLO: </a:t>
                </a:r>
                <a:r>
                  <a:rPr lang="es-ES" sz="2000" dirty="0">
                    <a:solidFill>
                      <a:schemeClr val="tx1"/>
                    </a:solidFill>
                  </a:rPr>
                  <a:t>Factorizar </a:t>
                </a:r>
                <a14:m>
                  <m:oMath xmlns:m="http://schemas.openxmlformats.org/officeDocument/2006/math"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s-E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s-E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s-E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s-E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s-E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endParaRPr lang="es-ES" sz="3200" dirty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!CuadroTexto 1">
                <a:extLst>
                  <a:ext uri="{FF2B5EF4-FFF2-40B4-BE49-F238E27FC236}">
                    <a16:creationId xmlns:a16="http://schemas.microsoft.com/office/drawing/2014/main" id="{F7EF92FE-7F53-B086-ED6A-6B48BF8EA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2336482"/>
                <a:ext cx="11121832" cy="407099"/>
              </a:xfrm>
              <a:prstGeom prst="rect">
                <a:avLst/>
              </a:prstGeom>
              <a:blipFill>
                <a:blip r:embed="rId6"/>
                <a:stretch>
                  <a:fillRect l="-603" t="-7463" b="-2388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!CuadroTexto 1">
            <a:extLst>
              <a:ext uri="{FF2B5EF4-FFF2-40B4-BE49-F238E27FC236}">
                <a16:creationId xmlns:a16="http://schemas.microsoft.com/office/drawing/2014/main" id="{A9DAAFD4-98B5-57FB-77AB-F8811D7E761A}"/>
              </a:ext>
            </a:extLst>
          </p:cNvPr>
          <p:cNvSpPr txBox="1"/>
          <p:nvPr/>
        </p:nvSpPr>
        <p:spPr>
          <a:xfrm>
            <a:off x="535084" y="3515877"/>
            <a:ext cx="11121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Cuando queda un polinomio cuyas raíces se pueden localizar por otros medios, al hacerlo se concluye el proceso.</a:t>
            </a:r>
            <a:endParaRPr lang="es-E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!CuadroTexto 1">
                <a:extLst>
                  <a:ext uri="{FF2B5EF4-FFF2-40B4-BE49-F238E27FC236}">
                    <a16:creationId xmlns:a16="http://schemas.microsoft.com/office/drawing/2014/main" id="{F73A9308-5283-AB4F-49CD-A2291C822492}"/>
                  </a:ext>
                </a:extLst>
              </p:cNvPr>
              <p:cNvSpPr txBox="1"/>
              <p:nvPr/>
            </p:nvSpPr>
            <p:spPr>
              <a:xfrm>
                <a:off x="3872894" y="2834016"/>
                <a:ext cx="444621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E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E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1)∙</m:t>
                      </m:r>
                      <m:sSup>
                        <m:sSup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−2)∙(4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sz="2000" i="1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s-ES" sz="3200" dirty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5" name="!CuadroTexto 1">
                <a:extLst>
                  <a:ext uri="{FF2B5EF4-FFF2-40B4-BE49-F238E27FC236}">
                    <a16:creationId xmlns:a16="http://schemas.microsoft.com/office/drawing/2014/main" id="{F73A9308-5283-AB4F-49CD-A2291C8224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894" y="2834016"/>
                <a:ext cx="4446211" cy="400110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!CuadroTexto 1">
                <a:extLst>
                  <a:ext uri="{FF2B5EF4-FFF2-40B4-BE49-F238E27FC236}">
                    <a16:creationId xmlns:a16="http://schemas.microsoft.com/office/drawing/2014/main" id="{EAC70054-58B0-10F2-5C7A-34A25E1AA108}"/>
                  </a:ext>
                </a:extLst>
              </p:cNvPr>
              <p:cNvSpPr txBox="1"/>
              <p:nvPr/>
            </p:nvSpPr>
            <p:spPr>
              <a:xfrm>
                <a:off x="1542130" y="4109701"/>
                <a:ext cx="9107737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(4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sz="2000" i="1">
                          <a:latin typeface="Cambria Math" panose="02040503050406030204" pitchFamily="18" charset="0"/>
                        </a:rPr>
                        <m:t>−1)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s-ES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s-ES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r>
                        <a:rPr lang="es-ES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ES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)∙</m:t>
                      </m:r>
                      <m:r>
                        <a:rPr lang="es-E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E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r>
                        <a:rPr lang="es-E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s-ES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</m:t>
                      </m:r>
                      <m:r>
                        <a:rPr lang="es-E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r>
                        <a:rPr lang="es-E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)∙(</m:t>
                      </m:r>
                      <m:r>
                        <a:rPr lang="es-E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" sz="3200" dirty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!CuadroTexto 1">
                <a:extLst>
                  <a:ext uri="{FF2B5EF4-FFF2-40B4-BE49-F238E27FC236}">
                    <a16:creationId xmlns:a16="http://schemas.microsoft.com/office/drawing/2014/main" id="{EAC70054-58B0-10F2-5C7A-34A25E1AA1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130" y="4109701"/>
                <a:ext cx="9107737" cy="66851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!CuadroTexto 1">
                <a:extLst>
                  <a:ext uri="{FF2B5EF4-FFF2-40B4-BE49-F238E27FC236}">
                    <a16:creationId xmlns:a16="http://schemas.microsoft.com/office/drawing/2014/main" id="{C9FF166C-E791-58E6-505C-0897CACB69A2}"/>
                  </a:ext>
                </a:extLst>
              </p:cNvPr>
              <p:cNvSpPr txBox="1"/>
              <p:nvPr/>
            </p:nvSpPr>
            <p:spPr>
              <a:xfrm>
                <a:off x="3228513" y="5043938"/>
                <a:ext cx="5734970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E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E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4∙</m:t>
                      </m:r>
                      <m:r>
                        <a:rPr lang="es-E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ES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s-ES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s-E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s-ES" sz="2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E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)∙(</m:t>
                      </m:r>
                      <m:r>
                        <a:rPr lang="es-E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" sz="3200" dirty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!CuadroTexto 1">
                <a:extLst>
                  <a:ext uri="{FF2B5EF4-FFF2-40B4-BE49-F238E27FC236}">
                    <a16:creationId xmlns:a16="http://schemas.microsoft.com/office/drawing/2014/main" id="{C9FF166C-E791-58E6-505C-0897CACB6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8513" y="5043938"/>
                <a:ext cx="5734970" cy="66851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09874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75" grpId="0"/>
      <p:bldP spid="10" grpId="0"/>
      <p:bldP spid="12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938</TotalTime>
  <Words>626</Words>
  <Application>Microsoft Office PowerPoint</Application>
  <PresentationFormat>Panorámica</PresentationFormat>
  <Paragraphs>100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Illán Linos Souto</dc:creator>
  <cp:lastModifiedBy>Illán Linos Souto</cp:lastModifiedBy>
  <cp:revision>81</cp:revision>
  <dcterms:created xsi:type="dcterms:W3CDTF">2024-08-18T18:48:07Z</dcterms:created>
  <dcterms:modified xsi:type="dcterms:W3CDTF">2024-10-28T15:46:09Z</dcterms:modified>
</cp:coreProperties>
</file>