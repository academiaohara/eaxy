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246"/>
    <a:srgbClr val="4E95D9"/>
    <a:srgbClr val="960119"/>
    <a:srgbClr val="FE8A9D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6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52934049"/>
                  </p:ext>
                </p:extLst>
              </p:nvPr>
            </p:nvGraphicFramePr>
            <p:xfrm>
              <a:off x="543440" y="2330514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3440" y="2330514"/>
                <a:ext cx="342000" cy="432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4070029"/>
                  </p:ext>
                </p:extLst>
              </p:nvPr>
            </p:nvGraphicFramePr>
            <p:xfrm>
              <a:off x="543440" y="4341046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3440" y="4341046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58596" y="2285461"/>
            <a:ext cx="76292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RAZONES TRIGONOMÉTRICAS EN ÁNGULOS AGUDOS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3303833"/>
            <a:ext cx="76292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RELACIONES TRIGONOMÉTRICAS FUNDAMENTALES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E72D875E-9D0C-539D-4BD4-65C07E2CE3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67938367"/>
                  </p:ext>
                </p:extLst>
              </p:nvPr>
            </p:nvGraphicFramePr>
            <p:xfrm>
              <a:off x="543440" y="3354019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E72D875E-9D0C-539D-4BD4-65C07E2CE3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3440" y="3354019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CuadroTexto 20">
            <a:extLst>
              <a:ext uri="{FF2B5EF4-FFF2-40B4-BE49-F238E27FC236}">
                <a16:creationId xmlns:a16="http://schemas.microsoft.com/office/drawing/2014/main" id="{ADD50B0B-3468-DE46-1306-14DE7B9B2D53}"/>
              </a:ext>
            </a:extLst>
          </p:cNvPr>
          <p:cNvSpPr txBox="1"/>
          <p:nvPr/>
        </p:nvSpPr>
        <p:spPr>
          <a:xfrm>
            <a:off x="858596" y="4295355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RESOLUCIÓN TRIÁNGULOS RECTÁNGULOS</a:t>
            </a:r>
          </a:p>
        </p:txBody>
      </p:sp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50"/>
                            </p:stCondLst>
                            <p:childTnLst>
                              <p:par>
                                <p:cTn id="44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1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7" grpId="0" animBg="1"/>
      <p:bldP spid="16" grpId="0"/>
      <p:bldP spid="16" grpId="1"/>
      <p:bldP spid="17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223EB-0CF2-14FE-DAC9-4CDE26800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CE7AD5D-1225-9D32-4116-6734860FAE5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2F6D413-B4EC-9E88-E67F-0D0AC471E358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F15641F0-AF95-CAE0-80E8-BC832291A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5C6B9E4-660A-6226-B53B-E9303BD96F08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0DDB3DE6-623C-8E77-D702-D76C3559C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A1D4A9B3-0DA2-2FB6-6583-DA6986530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E6F76D59-B9ED-A221-50BC-8491CCDE4E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341EAFE4-A8E6-8082-39E1-CF402F77B721}"/>
              </a:ext>
            </a:extLst>
          </p:cNvPr>
          <p:cNvSpPr/>
          <p:nvPr/>
        </p:nvSpPr>
        <p:spPr>
          <a:xfrm>
            <a:off x="535084" y="12287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96AEAE22-6430-E549-E88F-8B69E34BF2C4}"/>
              </a:ext>
            </a:extLst>
          </p:cNvPr>
          <p:cNvSpPr txBox="1"/>
          <p:nvPr/>
        </p:nvSpPr>
        <p:spPr>
          <a:xfrm>
            <a:off x="535084" y="12360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los triángulos rectángulos llamamos a cada lado de una forma: hipotenusa, cateto opuesto y cateto contiguo.</a:t>
            </a:r>
            <a:endParaRPr lang="es-ES" sz="3200" b="1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9006993-EED7-608D-B468-38B6DB69D1D6}"/>
              </a:ext>
            </a:extLst>
          </p:cNvPr>
          <p:cNvSpPr txBox="1"/>
          <p:nvPr/>
        </p:nvSpPr>
        <p:spPr>
          <a:xfrm>
            <a:off x="8247666" y="2938244"/>
            <a:ext cx="2017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Cateto opuesto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5BC0BF2-2B76-20B1-CCC0-E45AE5E560C4}"/>
              </a:ext>
            </a:extLst>
          </p:cNvPr>
          <p:cNvSpPr txBox="1"/>
          <p:nvPr/>
        </p:nvSpPr>
        <p:spPr>
          <a:xfrm>
            <a:off x="6043124" y="3593687"/>
            <a:ext cx="2130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Cateto contiguo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AD6D042-9145-B8C2-3C0E-247BF76637FF}"/>
              </a:ext>
            </a:extLst>
          </p:cNvPr>
          <p:cNvSpPr txBox="1"/>
          <p:nvPr/>
        </p:nvSpPr>
        <p:spPr>
          <a:xfrm rot="20100000">
            <a:off x="5894082" y="2622219"/>
            <a:ext cx="2017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Hipotenusa</a:t>
            </a:r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0AB034F9-B8C1-1838-7F3C-4E5474CDBBC4}"/>
              </a:ext>
            </a:extLst>
          </p:cNvPr>
          <p:cNvGrpSpPr/>
          <p:nvPr/>
        </p:nvGrpSpPr>
        <p:grpSpPr>
          <a:xfrm>
            <a:off x="5019098" y="2379959"/>
            <a:ext cx="3234780" cy="1804768"/>
            <a:chOff x="5019098" y="2379959"/>
            <a:chExt cx="3234780" cy="1804768"/>
          </a:xfrm>
        </p:grpSpPr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879B620E-DA7E-224D-CBCC-F99DCEEC3FAF}"/>
                </a:ext>
              </a:extLst>
            </p:cNvPr>
            <p:cNvSpPr/>
            <p:nvPr/>
          </p:nvSpPr>
          <p:spPr>
            <a:xfrm>
              <a:off x="8113128" y="3459149"/>
              <a:ext cx="134538" cy="13453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4" name="Arco 23">
              <a:extLst>
                <a:ext uri="{FF2B5EF4-FFF2-40B4-BE49-F238E27FC236}">
                  <a16:creationId xmlns:a16="http://schemas.microsoft.com/office/drawing/2014/main" id="{C271D623-9C51-D29C-47C8-3477724A7F87}"/>
                </a:ext>
              </a:extLst>
            </p:cNvPr>
            <p:cNvSpPr/>
            <p:nvPr/>
          </p:nvSpPr>
          <p:spPr>
            <a:xfrm>
              <a:off x="5019098" y="3010065"/>
              <a:ext cx="1174662" cy="1174662"/>
            </a:xfrm>
            <a:prstGeom prst="arc">
              <a:avLst>
                <a:gd name="adj1" fmla="val 20166089"/>
                <a:gd name="adj2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Triángulo isósceles 18">
              <a:extLst>
                <a:ext uri="{FF2B5EF4-FFF2-40B4-BE49-F238E27FC236}">
                  <a16:creationId xmlns:a16="http://schemas.microsoft.com/office/drawing/2014/main" id="{D3F8960D-5220-BEB5-147E-11D4C30AE648}"/>
                </a:ext>
              </a:extLst>
            </p:cNvPr>
            <p:cNvSpPr/>
            <p:nvPr/>
          </p:nvSpPr>
          <p:spPr>
            <a:xfrm>
              <a:off x="5606429" y="2379959"/>
              <a:ext cx="2647449" cy="1217437"/>
            </a:xfrm>
            <a:prstGeom prst="triangle">
              <a:avLst>
                <a:gd name="adj" fmla="val 100000"/>
              </a:avLst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05FED9F0-F2BD-55A0-4EF5-0F9524B11981}"/>
                    </a:ext>
                  </a:extLst>
                </p:cNvPr>
                <p:cNvSpPr txBox="1"/>
                <p:nvPr/>
              </p:nvSpPr>
              <p:spPr>
                <a:xfrm>
                  <a:off x="6265682" y="3264313"/>
                  <a:ext cx="23217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s-ES" sz="2000" dirty="0"/>
                </a:p>
              </p:txBody>
            </p:sp>
          </mc:Choice>
          <mc:Fallback xmlns=""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05FED9F0-F2BD-55A0-4EF5-0F9524B119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5682" y="3264313"/>
                  <a:ext cx="232179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13158" r="-7895" b="-1961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98354F7-1AA1-5231-6BEC-46576E67F8C0}"/>
              </a:ext>
            </a:extLst>
          </p:cNvPr>
          <p:cNvSpPr txBox="1"/>
          <p:nvPr/>
        </p:nvSpPr>
        <p:spPr>
          <a:xfrm>
            <a:off x="535083" y="2213298"/>
            <a:ext cx="42795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Hipotenusa:</a:t>
            </a:r>
          </a:p>
          <a:p>
            <a:r>
              <a:rPr lang="es-ES" dirty="0"/>
              <a:t>Lado opuesto al ángulo recto [90º].</a:t>
            </a:r>
          </a:p>
          <a:p>
            <a:r>
              <a:rPr lang="es-ES" dirty="0"/>
              <a:t>Es el lado más largo.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84C3964-0D37-BFCD-52F9-22E3C5B45B72}"/>
              </a:ext>
            </a:extLst>
          </p:cNvPr>
          <p:cNvSpPr txBox="1"/>
          <p:nvPr/>
        </p:nvSpPr>
        <p:spPr>
          <a:xfrm>
            <a:off x="8247666" y="4933966"/>
            <a:ext cx="222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Cateto contiguo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DBB9CECC-F206-DD87-EBA4-D566AF6E64AF}"/>
              </a:ext>
            </a:extLst>
          </p:cNvPr>
          <p:cNvSpPr txBox="1"/>
          <p:nvPr/>
        </p:nvSpPr>
        <p:spPr>
          <a:xfrm>
            <a:off x="6043124" y="5589409"/>
            <a:ext cx="2130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Cateto opuesto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B2B015E-5170-745B-33F6-B95B7F81DFB2}"/>
              </a:ext>
            </a:extLst>
          </p:cNvPr>
          <p:cNvSpPr txBox="1"/>
          <p:nvPr/>
        </p:nvSpPr>
        <p:spPr>
          <a:xfrm rot="20100000">
            <a:off x="5894082" y="4617941"/>
            <a:ext cx="2017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Hipotenusa</a:t>
            </a:r>
          </a:p>
        </p:txBody>
      </p:sp>
      <p:grpSp>
        <p:nvGrpSpPr>
          <p:cNvPr id="50" name="Grupo 49">
            <a:extLst>
              <a:ext uri="{FF2B5EF4-FFF2-40B4-BE49-F238E27FC236}">
                <a16:creationId xmlns:a16="http://schemas.microsoft.com/office/drawing/2014/main" id="{3A6805A1-730B-3F8D-9816-3F55080D04B2}"/>
              </a:ext>
            </a:extLst>
          </p:cNvPr>
          <p:cNvGrpSpPr/>
          <p:nvPr/>
        </p:nvGrpSpPr>
        <p:grpSpPr>
          <a:xfrm>
            <a:off x="5606429" y="4070764"/>
            <a:ext cx="2951550" cy="1522354"/>
            <a:chOff x="5606429" y="4070764"/>
            <a:chExt cx="2951550" cy="1522354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73084B4A-765F-40A9-0278-13ABFB83EDC1}"/>
                </a:ext>
              </a:extLst>
            </p:cNvPr>
            <p:cNvSpPr/>
            <p:nvPr/>
          </p:nvSpPr>
          <p:spPr>
            <a:xfrm>
              <a:off x="8113129" y="5454871"/>
              <a:ext cx="134538" cy="13453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Arco 37">
              <a:extLst>
                <a:ext uri="{FF2B5EF4-FFF2-40B4-BE49-F238E27FC236}">
                  <a16:creationId xmlns:a16="http://schemas.microsoft.com/office/drawing/2014/main" id="{3AD9A43A-8422-7191-3869-BC90874A44C0}"/>
                </a:ext>
              </a:extLst>
            </p:cNvPr>
            <p:cNvSpPr/>
            <p:nvPr/>
          </p:nvSpPr>
          <p:spPr>
            <a:xfrm>
              <a:off x="7937353" y="4070764"/>
              <a:ext cx="620626" cy="620626"/>
            </a:xfrm>
            <a:prstGeom prst="arc">
              <a:avLst>
                <a:gd name="adj1" fmla="val 5380150"/>
                <a:gd name="adj2" fmla="val 931369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9" name="Triángulo isósceles 38">
              <a:extLst>
                <a:ext uri="{FF2B5EF4-FFF2-40B4-BE49-F238E27FC236}">
                  <a16:creationId xmlns:a16="http://schemas.microsoft.com/office/drawing/2014/main" id="{274587CD-2232-CD06-ED02-18FB2391C4A4}"/>
                </a:ext>
              </a:extLst>
            </p:cNvPr>
            <p:cNvSpPr/>
            <p:nvPr/>
          </p:nvSpPr>
          <p:spPr>
            <a:xfrm>
              <a:off x="5606429" y="4375681"/>
              <a:ext cx="2647450" cy="1217437"/>
            </a:xfrm>
            <a:prstGeom prst="triangle">
              <a:avLst>
                <a:gd name="adj" fmla="val 100000"/>
              </a:avLst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AEFCBCAD-5919-CED9-71D1-22B4DC4B48BA}"/>
                    </a:ext>
                  </a:extLst>
                </p:cNvPr>
                <p:cNvSpPr txBox="1"/>
                <p:nvPr/>
              </p:nvSpPr>
              <p:spPr>
                <a:xfrm>
                  <a:off x="7880949" y="4604185"/>
                  <a:ext cx="23217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s-ES" sz="2000" dirty="0"/>
                </a:p>
              </p:txBody>
            </p:sp>
          </mc:Choice>
          <mc:Fallback xmlns="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AEFCBCAD-5919-CED9-71D1-22B4DC4B48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0949" y="4604185"/>
                  <a:ext cx="232179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13158" r="-7895" b="-1961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628C0B4-53E7-D7A0-557F-A296B328A9B3}"/>
                  </a:ext>
                </a:extLst>
              </p:cNvPr>
              <p:cNvSpPr txBox="1"/>
              <p:nvPr/>
            </p:nvSpPr>
            <p:spPr>
              <a:xfrm>
                <a:off x="535083" y="4020844"/>
                <a:ext cx="440375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Cateto contiguo:</a:t>
                </a:r>
              </a:p>
              <a:p>
                <a:r>
                  <a:rPr lang="es-ES" dirty="0"/>
                  <a:t>Es el lado que forma el ángulo (</a:t>
                </a:r>
                <a14:m>
                  <m:oMath xmlns:m="http://schemas.openxmlformats.org/officeDocument/2006/math">
                    <m:r>
                      <a:rPr lang="es-E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" dirty="0"/>
                  <a:t>)</a:t>
                </a:r>
              </a:p>
              <a:p>
                <a:r>
                  <a:rPr lang="es-ES" dirty="0"/>
                  <a:t>junto a la hipotenusa.</a:t>
                </a:r>
              </a:p>
              <a:p>
                <a:r>
                  <a:rPr lang="es-ES" dirty="0"/>
                  <a:t>También es el lado que forma el </a:t>
                </a:r>
              </a:p>
              <a:p>
                <a:r>
                  <a:rPr lang="es-ES" dirty="0"/>
                  <a:t>ángulo recto con el cateto contiguo.</a:t>
                </a:r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628C0B4-53E7-D7A0-557F-A296B328A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3" y="4020844"/>
                <a:ext cx="4403752" cy="1477328"/>
              </a:xfrm>
              <a:prstGeom prst="rect">
                <a:avLst/>
              </a:prstGeom>
              <a:blipFill>
                <a:blip r:embed="rId8"/>
                <a:stretch>
                  <a:fillRect l="-1247" t="-2479" b="-578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E2B675FE-92A0-DB8E-4BE0-490160898C65}"/>
                  </a:ext>
                </a:extLst>
              </p:cNvPr>
              <p:cNvSpPr txBox="1"/>
              <p:nvPr/>
            </p:nvSpPr>
            <p:spPr>
              <a:xfrm>
                <a:off x="535083" y="3254724"/>
                <a:ext cx="42795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b="1" dirty="0"/>
                  <a:t>Cateto opuesto:</a:t>
                </a:r>
              </a:p>
              <a:p>
                <a:r>
                  <a:rPr lang="es-ES" dirty="0"/>
                  <a:t>Es el lado opuesto al ángulo </a:t>
                </a:r>
                <a14:m>
                  <m:oMath xmlns:m="http://schemas.openxmlformats.org/officeDocument/2006/math">
                    <m:r>
                      <a:rPr lang="es-E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E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" dirty="0"/>
                  <a:t>).</a:t>
                </a:r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E2B675FE-92A0-DB8E-4BE0-490160898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3" y="3254724"/>
                <a:ext cx="4279513" cy="646331"/>
              </a:xfrm>
              <a:prstGeom prst="rect">
                <a:avLst/>
              </a:prstGeom>
              <a:blipFill>
                <a:blip r:embed="rId9"/>
                <a:stretch>
                  <a:fillRect l="-1282" t="-5660" b="-1415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714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625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125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5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75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5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5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75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75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25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75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75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25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  <p:bldP spid="20" grpId="0"/>
      <p:bldP spid="21" grpId="0"/>
      <p:bldP spid="22" grpId="0"/>
      <p:bldP spid="28" grpId="0" uiExpand="1" build="p"/>
      <p:bldP spid="40" grpId="0"/>
      <p:bldP spid="41" grpId="0"/>
      <p:bldP spid="42" grpId="0"/>
      <p:bldP spid="44" grpId="0" uiExpand="1" build="p"/>
      <p:bldP spid="4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760B3-CB53-33E9-6248-D32F23712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059980E-87E8-B018-AD5A-5F023613DD20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A6CC62AA-E715-D466-FC4F-642A5DEDF6C0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5733E19B-1F3F-D98D-261C-ECC2E4DAC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E3FB0B7-CD23-15AD-80FE-DA4742B1DB2F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75CDF26F-76F0-A130-892D-84F7583F4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E4CB880C-52DC-6E3C-F002-60752D6207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9909FD82-5ED3-83E4-207B-D5930B7CB4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D4A9147F-8392-F012-5715-2845C9E4C7E3}"/>
              </a:ext>
            </a:extLst>
          </p:cNvPr>
          <p:cNvSpPr/>
          <p:nvPr/>
        </p:nvSpPr>
        <p:spPr>
          <a:xfrm>
            <a:off x="535084" y="1228791"/>
            <a:ext cx="11121832" cy="458955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7616BEA7-C4E0-ABF6-DF88-0CC66E7DE23E}"/>
              </a:ext>
            </a:extLst>
          </p:cNvPr>
          <p:cNvSpPr txBox="1"/>
          <p:nvPr/>
        </p:nvSpPr>
        <p:spPr>
          <a:xfrm>
            <a:off x="535084" y="1217790"/>
            <a:ext cx="111218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Estas son las razones trigonométricas para un ángulo </a:t>
            </a:r>
            <a:r>
              <a:rPr lang="es-ES" sz="2200" b="1" dirty="0"/>
              <a:t>𝛼</a:t>
            </a:r>
            <a:r>
              <a:rPr lang="es-ES" sz="2000" b="1" dirty="0"/>
              <a:t> más básicas:</a:t>
            </a:r>
            <a:endParaRPr lang="es-ES" sz="3200" b="1" dirty="0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BED6B1B-E3E8-1F82-17D2-00128733CBE1}"/>
              </a:ext>
            </a:extLst>
          </p:cNvPr>
          <p:cNvGrpSpPr/>
          <p:nvPr/>
        </p:nvGrpSpPr>
        <p:grpSpPr>
          <a:xfrm>
            <a:off x="6411289" y="2229735"/>
            <a:ext cx="5245627" cy="1804768"/>
            <a:chOff x="6411289" y="2229735"/>
            <a:chExt cx="5245627" cy="1804768"/>
          </a:xfrm>
        </p:grpSpPr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A8B5B2B3-8C67-11A6-6B92-1EB5ACF0E56C}"/>
                </a:ext>
              </a:extLst>
            </p:cNvPr>
            <p:cNvSpPr txBox="1"/>
            <p:nvPr/>
          </p:nvSpPr>
          <p:spPr>
            <a:xfrm>
              <a:off x="9639857" y="2788020"/>
              <a:ext cx="20170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Cateto opuesto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39756F85-AC14-B43D-0EC0-018A8E4ABE72}"/>
                </a:ext>
              </a:extLst>
            </p:cNvPr>
            <p:cNvSpPr txBox="1"/>
            <p:nvPr/>
          </p:nvSpPr>
          <p:spPr>
            <a:xfrm>
              <a:off x="7435315" y="3443463"/>
              <a:ext cx="21304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Cateto contiguo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FBAEC032-1BE1-B361-2C03-A13AC43F62D3}"/>
                </a:ext>
              </a:extLst>
            </p:cNvPr>
            <p:cNvSpPr txBox="1"/>
            <p:nvPr/>
          </p:nvSpPr>
          <p:spPr>
            <a:xfrm rot="20100000">
              <a:off x="7286273" y="2471995"/>
              <a:ext cx="20170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Hipotenusa</a:t>
              </a:r>
            </a:p>
          </p:txBody>
        </p:sp>
        <p:grpSp>
          <p:nvGrpSpPr>
            <p:cNvPr id="49" name="Grupo 48">
              <a:extLst>
                <a:ext uri="{FF2B5EF4-FFF2-40B4-BE49-F238E27FC236}">
                  <a16:creationId xmlns:a16="http://schemas.microsoft.com/office/drawing/2014/main" id="{6446485B-8745-BDB8-77B5-F26E7E047164}"/>
                </a:ext>
              </a:extLst>
            </p:cNvPr>
            <p:cNvGrpSpPr/>
            <p:nvPr/>
          </p:nvGrpSpPr>
          <p:grpSpPr>
            <a:xfrm>
              <a:off x="6411289" y="2229735"/>
              <a:ext cx="3234780" cy="1804768"/>
              <a:chOff x="5019098" y="2379959"/>
              <a:chExt cx="3234780" cy="1804768"/>
            </a:xfrm>
          </p:grpSpPr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82C67B4E-831F-F384-DF88-3C3D35ABE386}"/>
                  </a:ext>
                </a:extLst>
              </p:cNvPr>
              <p:cNvSpPr/>
              <p:nvPr/>
            </p:nvSpPr>
            <p:spPr>
              <a:xfrm>
                <a:off x="8113128" y="3459149"/>
                <a:ext cx="134538" cy="1345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4" name="Arco 23">
                <a:extLst>
                  <a:ext uri="{FF2B5EF4-FFF2-40B4-BE49-F238E27FC236}">
                    <a16:creationId xmlns:a16="http://schemas.microsoft.com/office/drawing/2014/main" id="{4CC91D13-25A8-B1A0-4B7C-C4A6BDE91D15}"/>
                  </a:ext>
                </a:extLst>
              </p:cNvPr>
              <p:cNvSpPr/>
              <p:nvPr/>
            </p:nvSpPr>
            <p:spPr>
              <a:xfrm>
                <a:off x="5019098" y="3010065"/>
                <a:ext cx="1174662" cy="1174662"/>
              </a:xfrm>
              <a:prstGeom prst="arc">
                <a:avLst>
                  <a:gd name="adj1" fmla="val 20166089"/>
                  <a:gd name="adj2" fmla="val 0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9" name="Triángulo isósceles 18">
                <a:extLst>
                  <a:ext uri="{FF2B5EF4-FFF2-40B4-BE49-F238E27FC236}">
                    <a16:creationId xmlns:a16="http://schemas.microsoft.com/office/drawing/2014/main" id="{10FDE10C-EA52-B15A-77D7-DEEACA33B91F}"/>
                  </a:ext>
                </a:extLst>
              </p:cNvPr>
              <p:cNvSpPr/>
              <p:nvPr/>
            </p:nvSpPr>
            <p:spPr>
              <a:xfrm>
                <a:off x="5606429" y="2379959"/>
                <a:ext cx="2647449" cy="1217437"/>
              </a:xfrm>
              <a:prstGeom prst="triangle">
                <a:avLst>
                  <a:gd name="adj" fmla="val 100000"/>
                </a:avLst>
              </a:prstGeom>
              <a:noFill/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CuadroTexto 24">
                    <a:extLst>
                      <a:ext uri="{FF2B5EF4-FFF2-40B4-BE49-F238E27FC236}">
                        <a16:creationId xmlns:a16="http://schemas.microsoft.com/office/drawing/2014/main" id="{D933B19F-62C8-E932-4409-D1D238AD9D60}"/>
                      </a:ext>
                    </a:extLst>
                  </p:cNvPr>
                  <p:cNvSpPr txBox="1"/>
                  <p:nvPr/>
                </p:nvSpPr>
                <p:spPr>
                  <a:xfrm>
                    <a:off x="6265682" y="3264313"/>
                    <a:ext cx="232179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s-ES" sz="2000" dirty="0"/>
                  </a:p>
                </p:txBody>
              </p:sp>
            </mc:Choice>
            <mc:Fallback xmlns="">
              <p:sp>
                <p:nvSpPr>
                  <p:cNvPr id="25" name="CuadroTexto 24">
                    <a:extLst>
                      <a:ext uri="{FF2B5EF4-FFF2-40B4-BE49-F238E27FC236}">
                        <a16:creationId xmlns:a16="http://schemas.microsoft.com/office/drawing/2014/main" id="{D933B19F-62C8-E932-4409-D1D238AD9D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5682" y="3264313"/>
                    <a:ext cx="232179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0526" r="-10526" b="-2000"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2DA1DB2-2457-4D18-EC52-EECE7DEE2B35}"/>
                  </a:ext>
                </a:extLst>
              </p:cNvPr>
              <p:cNvSpPr txBox="1"/>
              <p:nvPr/>
            </p:nvSpPr>
            <p:spPr>
              <a:xfrm>
                <a:off x="777240" y="2126676"/>
                <a:ext cx="3231334" cy="630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𝑠𝑒𝑛𝑜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𝐶𝑎𝑡𝑒𝑡𝑜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𝑜𝑝𝑢𝑒𝑠𝑡𝑜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𝐻𝑖𝑝𝑜𝑡𝑒𝑛𝑢𝑠𝑎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2DA1DB2-2457-4D18-EC52-EECE7DEE2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2126676"/>
                <a:ext cx="3231334" cy="6300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D8CB5AC-D08F-B4B6-075B-415E9BFC5E7A}"/>
                  </a:ext>
                </a:extLst>
              </p:cNvPr>
              <p:cNvSpPr txBox="1"/>
              <p:nvPr/>
            </p:nvSpPr>
            <p:spPr>
              <a:xfrm>
                <a:off x="777240" y="2928777"/>
                <a:ext cx="3603230" cy="630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𝑐𝑜𝑠𝑒𝑛𝑜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𝐶𝑎𝑡𝑒𝑡𝑜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𝑐𝑜𝑛𝑡𝑖𝑔𝑢𝑜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𝐻𝑖𝑝𝑜𝑡𝑒𝑛𝑢𝑠𝑎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D8CB5AC-D08F-B4B6-075B-415E9BFC5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2928777"/>
                <a:ext cx="3603230" cy="6300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A69FB6E-1381-701E-0D3E-C74CC5C21D92}"/>
                  </a:ext>
                </a:extLst>
              </p:cNvPr>
              <p:cNvSpPr txBox="1"/>
              <p:nvPr/>
            </p:nvSpPr>
            <p:spPr>
              <a:xfrm>
                <a:off x="777240" y="3769304"/>
                <a:ext cx="3869328" cy="6321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𝑡𝑎𝑛𝑔𝑒𝑛𝑡𝑒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𝐶𝑎𝑡𝑒𝑡𝑜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𝑜𝑝𝑢𝑒𝑠𝑡𝑜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𝐶𝑎𝑡𝑒𝑡𝑜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𝑐𝑜𝑛𝑡𝑖𝑔𝑢𝑜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A69FB6E-1381-701E-0D3E-C74CC5C21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3769304"/>
                <a:ext cx="3869328" cy="6321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5826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  <p:bldP spid="4" grpId="0"/>
      <p:bldP spid="5" grpId="0"/>
      <p:bldP spid="10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148</Words>
  <Application>Microsoft Office PowerPoint</Application>
  <PresentationFormat>Panorámica</PresentationFormat>
  <Paragraphs>34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90</cp:revision>
  <dcterms:created xsi:type="dcterms:W3CDTF">2024-08-18T18:48:07Z</dcterms:created>
  <dcterms:modified xsi:type="dcterms:W3CDTF">2024-11-05T15:28:19Z</dcterms:modified>
</cp:coreProperties>
</file>