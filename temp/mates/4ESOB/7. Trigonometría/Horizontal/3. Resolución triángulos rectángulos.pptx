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F4246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2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1.png"/><Relationship Id="rId5" Type="http://schemas.openxmlformats.org/officeDocument/2006/relationships/image" Target="../media/image6.png"/><Relationship Id="rId10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12" Type="http://schemas.openxmlformats.org/officeDocument/2006/relationships/image" Target="../media/image200.png"/><Relationship Id="rId17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240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90.png"/><Relationship Id="rId5" Type="http://schemas.openxmlformats.org/officeDocument/2006/relationships/image" Target="../media/image6.png"/><Relationship Id="rId15" Type="http://schemas.openxmlformats.org/officeDocument/2006/relationships/image" Target="../media/image230.png"/><Relationship Id="rId10" Type="http://schemas.openxmlformats.org/officeDocument/2006/relationships/image" Target="../media/image180.png"/><Relationship Id="rId4" Type="http://schemas.openxmlformats.org/officeDocument/2006/relationships/image" Target="../media/image5.png"/><Relationship Id="rId9" Type="http://schemas.openxmlformats.org/officeDocument/2006/relationships/image" Target="../media/image170.png"/><Relationship Id="rId14" Type="http://schemas.openxmlformats.org/officeDocument/2006/relationships/image" Target="../media/image2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6.png"/><Relationship Id="rId10" Type="http://schemas.openxmlformats.org/officeDocument/2006/relationships/image" Target="../media/image29.png"/><Relationship Id="rId4" Type="http://schemas.openxmlformats.org/officeDocument/2006/relationships/image" Target="../media/image5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024227788"/>
                  </p:ext>
                </p:extLst>
              </p:nvPr>
            </p:nvGraphicFramePr>
            <p:xfrm>
              <a:off x="516591" y="4339597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6591" y="4339597"/>
                <a:ext cx="342000" cy="43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67651748"/>
                  </p:ext>
                </p:extLst>
              </p:nvPr>
            </p:nvGraphicFramePr>
            <p:xfrm>
              <a:off x="545068" y="3335623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335623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58596" y="2285461"/>
            <a:ext cx="76292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RAZONES TRIGONOMÉTRICAS EN ÁNGULOS AGUDOS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3303833"/>
            <a:ext cx="76292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RELACIONES TRIGONOMÉTRICAS FUNDAMENTALES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99274755"/>
                  </p:ext>
                </p:extLst>
              </p:nvPr>
            </p:nvGraphicFramePr>
            <p:xfrm>
              <a:off x="550265" y="2330676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0265" y="2330676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CuadroTexto 20">
            <a:extLst>
              <a:ext uri="{FF2B5EF4-FFF2-40B4-BE49-F238E27FC236}">
                <a16:creationId xmlns:a16="http://schemas.microsoft.com/office/drawing/2014/main" id="{ADD50B0B-3468-DE46-1306-14DE7B9B2D53}"/>
              </a:ext>
            </a:extLst>
          </p:cNvPr>
          <p:cNvSpPr txBox="1"/>
          <p:nvPr/>
        </p:nvSpPr>
        <p:spPr>
          <a:xfrm>
            <a:off x="858596" y="4295355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RESOLUCIÓN TRIÁNGULOS RECTÁNGULOS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50"/>
                            </p:stCondLst>
                            <p:childTnLst>
                              <p:par>
                                <p:cTn id="44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1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7" grpId="0" animBg="1"/>
      <p:bldP spid="16" grpId="0"/>
      <p:bldP spid="17" grpId="0"/>
      <p:bldP spid="21" grpId="0"/>
      <p:bldP spid="2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223EB-0CF2-14FE-DAC9-4CDE2680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rco 18">
            <a:extLst>
              <a:ext uri="{FF2B5EF4-FFF2-40B4-BE49-F238E27FC236}">
                <a16:creationId xmlns:a16="http://schemas.microsoft.com/office/drawing/2014/main" id="{AB81A799-4652-FD73-1ECD-39BDBF952907}"/>
              </a:ext>
            </a:extLst>
          </p:cNvPr>
          <p:cNvSpPr/>
          <p:nvPr/>
        </p:nvSpPr>
        <p:spPr>
          <a:xfrm flipH="1">
            <a:off x="663596" y="3080208"/>
            <a:ext cx="737860" cy="737860"/>
          </a:xfrm>
          <a:prstGeom prst="arc">
            <a:avLst>
              <a:gd name="adj1" fmla="val 5410210"/>
              <a:gd name="adj2" fmla="val 7856709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CE7AD5D-1225-9D32-4116-6734860FAE5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2F6D413-B4EC-9E88-E67F-0D0AC471E358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15641F0-AF95-CAE0-80E8-BC832291A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5C6B9E4-660A-6226-B53B-E9303BD96F0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DDB3DE6-623C-8E77-D702-D76C3559C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1D4A9B3-0DA2-2FB6-6583-DA6986530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6F76D59-B9ED-A221-50BC-8491CCDE4E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341EAFE4-A8E6-8082-39E1-CF402F77B721}"/>
              </a:ext>
            </a:extLst>
          </p:cNvPr>
          <p:cNvSpPr/>
          <p:nvPr/>
        </p:nvSpPr>
        <p:spPr>
          <a:xfrm>
            <a:off x="535084" y="1533592"/>
            <a:ext cx="11121832" cy="44531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96AEAE22-6430-E549-E88F-8B69E34BF2C4}"/>
              </a:ext>
            </a:extLst>
          </p:cNvPr>
          <p:cNvSpPr txBox="1"/>
          <p:nvPr/>
        </p:nvSpPr>
        <p:spPr>
          <a:xfrm>
            <a:off x="535084" y="154087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tercer lado se obtiene mediante el teorema de Pitágoras.</a:t>
            </a:r>
            <a:endParaRPr lang="es-ES" sz="3200" b="1" dirty="0"/>
          </a:p>
        </p:txBody>
      </p:sp>
      <p:sp>
        <p:nvSpPr>
          <p:cNvPr id="16" name="Arco 15">
            <a:extLst>
              <a:ext uri="{FF2B5EF4-FFF2-40B4-BE49-F238E27FC236}">
                <a16:creationId xmlns:a16="http://schemas.microsoft.com/office/drawing/2014/main" id="{6A5BCF21-370D-D5B4-23B2-5E84E8C7D13A}"/>
              </a:ext>
            </a:extLst>
          </p:cNvPr>
          <p:cNvSpPr/>
          <p:nvPr/>
        </p:nvSpPr>
        <p:spPr>
          <a:xfrm flipH="1">
            <a:off x="2300698" y="4847882"/>
            <a:ext cx="737860" cy="737860"/>
          </a:xfrm>
          <a:prstGeom prst="arc">
            <a:avLst>
              <a:gd name="adj1" fmla="val 18757590"/>
              <a:gd name="adj2" fmla="val 0"/>
            </a:avLst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1206C5C4-82BA-CF14-E132-6FC28FE1EB89}"/>
              </a:ext>
            </a:extLst>
          </p:cNvPr>
          <p:cNvGrpSpPr/>
          <p:nvPr/>
        </p:nvGrpSpPr>
        <p:grpSpPr>
          <a:xfrm>
            <a:off x="535084" y="3479452"/>
            <a:ext cx="2134381" cy="2142093"/>
            <a:chOff x="535084" y="3479452"/>
            <a:chExt cx="2134381" cy="2142093"/>
          </a:xfrm>
        </p:grpSpPr>
        <p:sp>
          <p:nvSpPr>
            <p:cNvPr id="12" name="Triángulo isósceles 11">
              <a:extLst>
                <a:ext uri="{FF2B5EF4-FFF2-40B4-BE49-F238E27FC236}">
                  <a16:creationId xmlns:a16="http://schemas.microsoft.com/office/drawing/2014/main" id="{FB74CB30-EA6B-C0CB-CD51-E6339B7996F3}"/>
                </a:ext>
              </a:extLst>
            </p:cNvPr>
            <p:cNvSpPr/>
            <p:nvPr/>
          </p:nvSpPr>
          <p:spPr>
            <a:xfrm flipH="1">
              <a:off x="1032689" y="3479452"/>
              <a:ext cx="1636776" cy="1737360"/>
            </a:xfrm>
            <a:prstGeom prst="triangle">
              <a:avLst>
                <a:gd name="adj" fmla="val 10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EE98DA60-D50F-4101-C3A6-D223977D6AF7}"/>
                </a:ext>
              </a:extLst>
            </p:cNvPr>
            <p:cNvSpPr txBox="1"/>
            <p:nvPr/>
          </p:nvSpPr>
          <p:spPr>
            <a:xfrm flipH="1">
              <a:off x="1423685" y="5252213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b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2C33CE99-CBEB-8B96-1588-41A4519A6747}"/>
                </a:ext>
              </a:extLst>
            </p:cNvPr>
            <p:cNvSpPr txBox="1"/>
            <p:nvPr/>
          </p:nvSpPr>
          <p:spPr>
            <a:xfrm flipH="1">
              <a:off x="1694030" y="4043314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c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479E9E07-F700-D628-9758-4E22B2BE048D}"/>
                </a:ext>
              </a:extLst>
            </p:cNvPr>
            <p:cNvSpPr txBox="1"/>
            <p:nvPr/>
          </p:nvSpPr>
          <p:spPr>
            <a:xfrm flipH="1">
              <a:off x="535084" y="4302578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a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59244C6D-5417-E4A5-A729-85D2CBE5C4F6}"/>
                    </a:ext>
                  </a:extLst>
                </p:cNvPr>
                <p:cNvSpPr txBox="1"/>
                <p:nvPr/>
              </p:nvSpPr>
              <p:spPr>
                <a:xfrm flipH="1">
                  <a:off x="2102890" y="4879421"/>
                  <a:ext cx="2089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59244C6D-5417-E4A5-A729-85D2CBE5C4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102890" y="4879421"/>
                  <a:ext cx="20896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4706" r="-11765" b="-2174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70D5E99-B67C-C6D0-7B27-31A60A6CCCBE}"/>
                </a:ext>
              </a:extLst>
            </p:cNvPr>
            <p:cNvSpPr txBox="1"/>
            <p:nvPr/>
          </p:nvSpPr>
          <p:spPr>
            <a:xfrm flipH="1">
              <a:off x="1142254" y="3834038"/>
              <a:ext cx="11281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l-GR" dirty="0"/>
                <a:t>β</a:t>
              </a:r>
              <a:endParaRPr lang="es-ES" dirty="0"/>
            </a:p>
          </p:txBody>
        </p:sp>
      </p:grpSp>
      <p:sp>
        <p:nvSpPr>
          <p:cNvPr id="21" name="!CuadroTexto 1">
            <a:extLst>
              <a:ext uri="{FF2B5EF4-FFF2-40B4-BE49-F238E27FC236}">
                <a16:creationId xmlns:a16="http://schemas.microsoft.com/office/drawing/2014/main" id="{B75B56F0-385F-A438-5B63-D959F1C7D1FF}"/>
              </a:ext>
            </a:extLst>
          </p:cNvPr>
          <p:cNvSpPr txBox="1"/>
          <p:nvPr/>
        </p:nvSpPr>
        <p:spPr>
          <a:xfrm>
            <a:off x="512967" y="105636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CONOCIENDO 2 LADOS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22" name="!Marco 10">
            <a:extLst>
              <a:ext uri="{FF2B5EF4-FFF2-40B4-BE49-F238E27FC236}">
                <a16:creationId xmlns:a16="http://schemas.microsoft.com/office/drawing/2014/main" id="{9B591764-A6AD-E917-A906-6FE03685B88B}"/>
              </a:ext>
            </a:extLst>
          </p:cNvPr>
          <p:cNvSpPr/>
          <p:nvPr/>
        </p:nvSpPr>
        <p:spPr>
          <a:xfrm>
            <a:off x="535084" y="2099913"/>
            <a:ext cx="11121832" cy="74671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ECCB62EE-90D2-84F5-43A7-B0423145D1E6}"/>
              </a:ext>
            </a:extLst>
          </p:cNvPr>
          <p:cNvSpPr txBox="1"/>
          <p:nvPr/>
        </p:nvSpPr>
        <p:spPr>
          <a:xfrm>
            <a:off x="535084" y="21072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Cada uno de los ángulos agudos se halla a partir de la razón trigonométrica</a:t>
            </a:r>
          </a:p>
          <a:p>
            <a:r>
              <a:rPr lang="es-ES" sz="2000" b="1" dirty="0"/>
              <a:t>que lo relaciona con los dos lados conocidos.</a:t>
            </a:r>
            <a:endParaRPr lang="es-E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5822342-14AB-D060-A71E-72C55D5C5905}"/>
                  </a:ext>
                </a:extLst>
              </p:cNvPr>
              <p:cNvSpPr txBox="1"/>
              <p:nvPr/>
            </p:nvSpPr>
            <p:spPr>
              <a:xfrm>
                <a:off x="2102890" y="3051189"/>
                <a:ext cx="1642116" cy="710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𝐷𝑎𝑡𝑜𝑠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95822342-14AB-D060-A71E-72C55D5C5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890" y="3051189"/>
                <a:ext cx="1642116" cy="7101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712A5749-0D73-94F6-40C3-6D7E8F9901BB}"/>
                  </a:ext>
                </a:extLst>
              </p:cNvPr>
              <p:cNvSpPr txBox="1"/>
              <p:nvPr/>
            </p:nvSpPr>
            <p:spPr>
              <a:xfrm>
                <a:off x="4143422" y="3160871"/>
                <a:ext cx="5583610" cy="403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712A5749-0D73-94F6-40C3-6D7E8F990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422" y="3160871"/>
                <a:ext cx="5583610" cy="4032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CCB88D0-612D-B9C2-AA03-56001E311178}"/>
                  </a:ext>
                </a:extLst>
              </p:cNvPr>
              <p:cNvSpPr txBox="1"/>
              <p:nvPr/>
            </p:nvSpPr>
            <p:spPr>
              <a:xfrm>
                <a:off x="3243358" y="3926019"/>
                <a:ext cx="30946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𝑃𝑎𝑟𝑎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𝑜𝑏𝑡𝑒𝑛𝑒𝑟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á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𝑛𝑔𝑢𝑙𝑜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CCB88D0-612D-B9C2-AA03-56001E311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58" y="3926019"/>
                <a:ext cx="3094689" cy="400110"/>
              </a:xfrm>
              <a:prstGeom prst="rect">
                <a:avLst/>
              </a:prstGeom>
              <a:blipFill>
                <a:blip r:embed="rId9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B78C6EC9-59CE-168E-4A09-9483605E1086}"/>
                  </a:ext>
                </a:extLst>
              </p:cNvPr>
              <p:cNvSpPr txBox="1"/>
              <p:nvPr/>
            </p:nvSpPr>
            <p:spPr>
              <a:xfrm>
                <a:off x="3382058" y="4487244"/>
                <a:ext cx="1032910" cy="4744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</m:fName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B78C6EC9-59CE-168E-4A09-9483605E1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058" y="4487244"/>
                <a:ext cx="1032910" cy="4744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2A12437D-D31D-09CA-C59E-05F7F2892829}"/>
                  </a:ext>
                </a:extLst>
              </p:cNvPr>
              <p:cNvSpPr txBox="1"/>
              <p:nvPr/>
            </p:nvSpPr>
            <p:spPr>
              <a:xfrm>
                <a:off x="5159944" y="4461435"/>
                <a:ext cx="1033103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2A12437D-D31D-09CA-C59E-05F7F2892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944" y="4461435"/>
                <a:ext cx="1033103" cy="52597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3DE3D0FA-C06C-E976-E77F-068D4804F6DF}"/>
                  </a:ext>
                </a:extLst>
              </p:cNvPr>
              <p:cNvSpPr txBox="1"/>
              <p:nvPr/>
            </p:nvSpPr>
            <p:spPr>
              <a:xfrm>
                <a:off x="6935227" y="4487308"/>
                <a:ext cx="875047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tg</m:t>
                          </m:r>
                        </m:fName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3DE3D0FA-C06C-E976-E77F-068D4804F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227" y="4487308"/>
                <a:ext cx="875047" cy="47436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6FF7967-4733-A81A-C80B-169FA1F57F45}"/>
                  </a:ext>
                </a:extLst>
              </p:cNvPr>
              <p:cNvSpPr txBox="1"/>
              <p:nvPr/>
            </p:nvSpPr>
            <p:spPr>
              <a:xfrm>
                <a:off x="3391583" y="5317121"/>
                <a:ext cx="2296911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tg</m:t>
                          </m:r>
                        </m:fName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=0,75→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6FF7967-4733-A81A-C80B-169FA1F57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583" y="5317121"/>
                <a:ext cx="2296911" cy="5203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DDD275A-6F4C-777E-66D5-981DAB312BB7}"/>
                  </a:ext>
                </a:extLst>
              </p:cNvPr>
              <p:cNvSpPr txBox="1"/>
              <p:nvPr/>
            </p:nvSpPr>
            <p:spPr>
              <a:xfrm>
                <a:off x="5628220" y="5457784"/>
                <a:ext cx="26503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arctg</m:t>
                          </m:r>
                        </m:fName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(0,75)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=36,87º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DDD275A-6F4C-777E-66D5-981DAB312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220" y="5457784"/>
                <a:ext cx="2650341" cy="276999"/>
              </a:xfrm>
              <a:prstGeom prst="rect">
                <a:avLst/>
              </a:prstGeom>
              <a:blipFill>
                <a:blip r:embed="rId14"/>
                <a:stretch>
                  <a:fillRect r="-1609" b="-369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upo 42">
            <a:extLst>
              <a:ext uri="{FF2B5EF4-FFF2-40B4-BE49-F238E27FC236}">
                <a16:creationId xmlns:a16="http://schemas.microsoft.com/office/drawing/2014/main" id="{AC53E05B-DEB0-78FB-5A3F-B2FAB29D8598}"/>
              </a:ext>
            </a:extLst>
          </p:cNvPr>
          <p:cNvGrpSpPr/>
          <p:nvPr/>
        </p:nvGrpSpPr>
        <p:grpSpPr>
          <a:xfrm>
            <a:off x="5758804" y="5848055"/>
            <a:ext cx="1558704" cy="342293"/>
            <a:chOff x="5755629" y="5956391"/>
            <a:chExt cx="1558704" cy="342293"/>
          </a:xfrm>
        </p:grpSpPr>
        <p:sp>
          <p:nvSpPr>
            <p:cNvPr id="36" name="Rectángulo: esquinas redondeadas 35">
              <a:extLst>
                <a:ext uri="{FF2B5EF4-FFF2-40B4-BE49-F238E27FC236}">
                  <a16:creationId xmlns:a16="http://schemas.microsoft.com/office/drawing/2014/main" id="{5311B931-121D-C914-E66A-89E67D345F1F}"/>
                </a:ext>
              </a:extLst>
            </p:cNvPr>
            <p:cNvSpPr/>
            <p:nvPr/>
          </p:nvSpPr>
          <p:spPr>
            <a:xfrm>
              <a:off x="5925146" y="5956391"/>
              <a:ext cx="401900" cy="340809"/>
            </a:xfrm>
            <a:prstGeom prst="roundRect">
              <a:avLst>
                <a:gd name="adj" fmla="val 30051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20370C3E-58F6-0720-C29B-E125F5A1763B}"/>
                </a:ext>
              </a:extLst>
            </p:cNvPr>
            <p:cNvSpPr txBox="1"/>
            <p:nvPr/>
          </p:nvSpPr>
          <p:spPr>
            <a:xfrm>
              <a:off x="5755629" y="5960130"/>
              <a:ext cx="740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SHIFT</a:t>
              </a:r>
            </a:p>
          </p:txBody>
        </p:sp>
        <p:sp>
          <p:nvSpPr>
            <p:cNvPr id="40" name="Rectángulo: esquinas redondeadas 39">
              <a:extLst>
                <a:ext uri="{FF2B5EF4-FFF2-40B4-BE49-F238E27FC236}">
                  <a16:creationId xmlns:a16="http://schemas.microsoft.com/office/drawing/2014/main" id="{374F1CEC-1A08-CA1C-7A49-F27FFB1C61F0}"/>
                </a:ext>
              </a:extLst>
            </p:cNvPr>
            <p:cNvSpPr/>
            <p:nvPr/>
          </p:nvSpPr>
          <p:spPr>
            <a:xfrm>
              <a:off x="6742916" y="5956391"/>
              <a:ext cx="401900" cy="340809"/>
            </a:xfrm>
            <a:prstGeom prst="roundRect">
              <a:avLst>
                <a:gd name="adj" fmla="val 30051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A2C8469D-1FFC-C808-5B2A-544798B5F9F6}"/>
                </a:ext>
              </a:extLst>
            </p:cNvPr>
            <p:cNvSpPr txBox="1"/>
            <p:nvPr/>
          </p:nvSpPr>
          <p:spPr>
            <a:xfrm>
              <a:off x="6573399" y="5960130"/>
              <a:ext cx="740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tan</a:t>
              </a:r>
            </a:p>
          </p:txBody>
        </p:sp>
        <p:sp>
          <p:nvSpPr>
            <p:cNvPr id="42" name="Signo más 41">
              <a:extLst>
                <a:ext uri="{FF2B5EF4-FFF2-40B4-BE49-F238E27FC236}">
                  <a16:creationId xmlns:a16="http://schemas.microsoft.com/office/drawing/2014/main" id="{D68308EF-1B5A-1F6F-535F-48982F1B66EE}"/>
                </a:ext>
              </a:extLst>
            </p:cNvPr>
            <p:cNvSpPr/>
            <p:nvPr/>
          </p:nvSpPr>
          <p:spPr>
            <a:xfrm>
              <a:off x="6428459" y="6037492"/>
              <a:ext cx="213043" cy="178605"/>
            </a:xfrm>
            <a:prstGeom prst="mathPlus">
              <a:avLst>
                <a:gd name="adj1" fmla="val 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040714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25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5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25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725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725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5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  <p:bldP spid="21" grpId="0"/>
      <p:bldP spid="22" grpId="0" animBg="1"/>
      <p:bldP spid="24" grpId="0"/>
      <p:bldP spid="25" grpId="0"/>
      <p:bldP spid="27" grpId="0"/>
      <p:bldP spid="28" grpId="0"/>
      <p:bldP spid="29" grpId="0"/>
      <p:bldP spid="32" grpId="0"/>
      <p:bldP spid="33" grpId="0"/>
      <p:bldP spid="34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07BE4-A5E0-DCFC-C011-9F22664B3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rco 18">
            <a:extLst>
              <a:ext uri="{FF2B5EF4-FFF2-40B4-BE49-F238E27FC236}">
                <a16:creationId xmlns:a16="http://schemas.microsoft.com/office/drawing/2014/main" id="{620E07E8-DFDE-A10C-F126-C30FF052EF4F}"/>
              </a:ext>
            </a:extLst>
          </p:cNvPr>
          <p:cNvSpPr/>
          <p:nvPr/>
        </p:nvSpPr>
        <p:spPr>
          <a:xfrm flipH="1">
            <a:off x="663596" y="3080208"/>
            <a:ext cx="737860" cy="737860"/>
          </a:xfrm>
          <a:prstGeom prst="arc">
            <a:avLst>
              <a:gd name="adj1" fmla="val 5410210"/>
              <a:gd name="adj2" fmla="val 7856709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9AF1150-93A4-DEC3-77B4-2D520E7FB20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4A6AE1B-B387-AC8A-8663-3130677A95F6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D15131A8-A8AE-F472-0DA4-398482E75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839F9A7-A1B1-3C03-5C6A-3AA88B4C37A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F71CF35B-B222-32B4-14F9-F81C66D85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69C9C7E1-AAED-425C-D22A-FB32209C8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7FDE0030-156D-B428-D518-5B8EB40DF9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77A793A8-48B3-966D-3672-8F469F1414CA}"/>
              </a:ext>
            </a:extLst>
          </p:cNvPr>
          <p:cNvSpPr/>
          <p:nvPr/>
        </p:nvSpPr>
        <p:spPr>
          <a:xfrm>
            <a:off x="535084" y="1533592"/>
            <a:ext cx="11121832" cy="44531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5C3550BA-9A01-C7F4-F2D1-7D2C6CB3B381}"/>
              </a:ext>
            </a:extLst>
          </p:cNvPr>
          <p:cNvSpPr txBox="1"/>
          <p:nvPr/>
        </p:nvSpPr>
        <p:spPr>
          <a:xfrm>
            <a:off x="535084" y="154087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tercer lado se obtiene mediante el teorema de Pitágoras.</a:t>
            </a:r>
            <a:endParaRPr lang="es-ES" sz="3200" b="1" dirty="0"/>
          </a:p>
        </p:txBody>
      </p:sp>
      <p:sp>
        <p:nvSpPr>
          <p:cNvPr id="16" name="Arco 15">
            <a:extLst>
              <a:ext uri="{FF2B5EF4-FFF2-40B4-BE49-F238E27FC236}">
                <a16:creationId xmlns:a16="http://schemas.microsoft.com/office/drawing/2014/main" id="{1003A586-7DB4-523C-A660-A89899919D14}"/>
              </a:ext>
            </a:extLst>
          </p:cNvPr>
          <p:cNvSpPr/>
          <p:nvPr/>
        </p:nvSpPr>
        <p:spPr>
          <a:xfrm flipH="1">
            <a:off x="2300698" y="4847882"/>
            <a:ext cx="737860" cy="737860"/>
          </a:xfrm>
          <a:prstGeom prst="arc">
            <a:avLst>
              <a:gd name="adj1" fmla="val 18757590"/>
              <a:gd name="adj2" fmla="val 0"/>
            </a:avLst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BC66BDB-74C4-57AE-96A5-C9AF4B7D54BF}"/>
              </a:ext>
            </a:extLst>
          </p:cNvPr>
          <p:cNvGrpSpPr/>
          <p:nvPr/>
        </p:nvGrpSpPr>
        <p:grpSpPr>
          <a:xfrm>
            <a:off x="535084" y="3479452"/>
            <a:ext cx="2134381" cy="2142093"/>
            <a:chOff x="535084" y="3479452"/>
            <a:chExt cx="2134381" cy="2142093"/>
          </a:xfrm>
        </p:grpSpPr>
        <p:sp>
          <p:nvSpPr>
            <p:cNvPr id="12" name="Triángulo isósceles 11">
              <a:extLst>
                <a:ext uri="{FF2B5EF4-FFF2-40B4-BE49-F238E27FC236}">
                  <a16:creationId xmlns:a16="http://schemas.microsoft.com/office/drawing/2014/main" id="{C15189ED-26A7-C25A-8F58-B97BB4AEA1EE}"/>
                </a:ext>
              </a:extLst>
            </p:cNvPr>
            <p:cNvSpPr/>
            <p:nvPr/>
          </p:nvSpPr>
          <p:spPr>
            <a:xfrm flipH="1">
              <a:off x="1032689" y="3479452"/>
              <a:ext cx="1636776" cy="1737360"/>
            </a:xfrm>
            <a:prstGeom prst="triangle">
              <a:avLst>
                <a:gd name="adj" fmla="val 10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B9845232-F617-FAE2-EB43-800ACB837D48}"/>
                </a:ext>
              </a:extLst>
            </p:cNvPr>
            <p:cNvSpPr txBox="1"/>
            <p:nvPr/>
          </p:nvSpPr>
          <p:spPr>
            <a:xfrm flipH="1">
              <a:off x="1423685" y="5252213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b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57FCC7DA-878A-3F2D-2AE7-277DEB7E39F7}"/>
                </a:ext>
              </a:extLst>
            </p:cNvPr>
            <p:cNvSpPr txBox="1"/>
            <p:nvPr/>
          </p:nvSpPr>
          <p:spPr>
            <a:xfrm flipH="1">
              <a:off x="1694030" y="4043314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c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AE3F683D-0453-4E25-D199-9477B90C3928}"/>
                </a:ext>
              </a:extLst>
            </p:cNvPr>
            <p:cNvSpPr txBox="1"/>
            <p:nvPr/>
          </p:nvSpPr>
          <p:spPr>
            <a:xfrm flipH="1">
              <a:off x="535084" y="4302578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a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EED202C5-0FB2-C3FA-2FC4-AF25F86B019C}"/>
                    </a:ext>
                  </a:extLst>
                </p:cNvPr>
                <p:cNvSpPr txBox="1"/>
                <p:nvPr/>
              </p:nvSpPr>
              <p:spPr>
                <a:xfrm flipH="1">
                  <a:off x="2102890" y="4879421"/>
                  <a:ext cx="2089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EED202C5-0FB2-C3FA-2FC4-AF25F86B01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102890" y="4879421"/>
                  <a:ext cx="20896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4706" r="-11765" b="-2174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A2EC3631-D5D8-D9AF-42FF-F46263BEAA39}"/>
                </a:ext>
              </a:extLst>
            </p:cNvPr>
            <p:cNvSpPr txBox="1"/>
            <p:nvPr/>
          </p:nvSpPr>
          <p:spPr>
            <a:xfrm flipH="1">
              <a:off x="1142254" y="3834038"/>
              <a:ext cx="11281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l-GR" dirty="0"/>
                <a:t>β</a:t>
              </a:r>
              <a:endParaRPr lang="es-ES" dirty="0"/>
            </a:p>
          </p:txBody>
        </p:sp>
      </p:grpSp>
      <p:sp>
        <p:nvSpPr>
          <p:cNvPr id="21" name="!CuadroTexto 1">
            <a:extLst>
              <a:ext uri="{FF2B5EF4-FFF2-40B4-BE49-F238E27FC236}">
                <a16:creationId xmlns:a16="http://schemas.microsoft.com/office/drawing/2014/main" id="{1ADCDE48-311A-68DA-A7FB-34DDFF55C26E}"/>
              </a:ext>
            </a:extLst>
          </p:cNvPr>
          <p:cNvSpPr txBox="1"/>
          <p:nvPr/>
        </p:nvSpPr>
        <p:spPr>
          <a:xfrm>
            <a:off x="512967" y="105636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CONOCIENDO 2 LADOS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22" name="!Marco 10">
            <a:extLst>
              <a:ext uri="{FF2B5EF4-FFF2-40B4-BE49-F238E27FC236}">
                <a16:creationId xmlns:a16="http://schemas.microsoft.com/office/drawing/2014/main" id="{130B0B61-89EA-4A44-12B1-F01DDD28FC14}"/>
              </a:ext>
            </a:extLst>
          </p:cNvPr>
          <p:cNvSpPr/>
          <p:nvPr/>
        </p:nvSpPr>
        <p:spPr>
          <a:xfrm>
            <a:off x="535084" y="2099913"/>
            <a:ext cx="11121832" cy="74671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0A1529F3-F1E6-9F33-EA49-72272C40C67E}"/>
              </a:ext>
            </a:extLst>
          </p:cNvPr>
          <p:cNvSpPr txBox="1"/>
          <p:nvPr/>
        </p:nvSpPr>
        <p:spPr>
          <a:xfrm>
            <a:off x="535084" y="21072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Cada uno de los ángulos agudos se halla a partir de la razón trigonométrica</a:t>
            </a:r>
          </a:p>
          <a:p>
            <a:r>
              <a:rPr lang="es-ES" sz="2000" b="1" dirty="0"/>
              <a:t>que lo relaciona con los dos lados conocidos.</a:t>
            </a:r>
            <a:endParaRPr lang="es-E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319004D9-8C2A-0277-2C1C-153F3013BDB6}"/>
                  </a:ext>
                </a:extLst>
              </p:cNvPr>
              <p:cNvSpPr txBox="1"/>
              <p:nvPr/>
            </p:nvSpPr>
            <p:spPr>
              <a:xfrm>
                <a:off x="2102890" y="3051189"/>
                <a:ext cx="1642116" cy="710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𝐷𝑎𝑡𝑜𝑠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319004D9-8C2A-0277-2C1C-153F3013B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890" y="3051189"/>
                <a:ext cx="1642116" cy="7101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707305E6-186D-199C-EF9C-F514B0DD11B0}"/>
                  </a:ext>
                </a:extLst>
              </p:cNvPr>
              <p:cNvSpPr txBox="1"/>
              <p:nvPr/>
            </p:nvSpPr>
            <p:spPr>
              <a:xfrm>
                <a:off x="4143422" y="3160871"/>
                <a:ext cx="5583610" cy="403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707305E6-186D-199C-EF9C-F514B0DD1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422" y="3160871"/>
                <a:ext cx="5583610" cy="4032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98F04B51-7ADD-4214-B0E2-7B65C41DC9E2}"/>
                  </a:ext>
                </a:extLst>
              </p:cNvPr>
              <p:cNvSpPr txBox="1"/>
              <p:nvPr/>
            </p:nvSpPr>
            <p:spPr>
              <a:xfrm>
                <a:off x="3243358" y="3926019"/>
                <a:ext cx="30946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𝑃𝑎𝑟𝑎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𝑜𝑏𝑡𝑒𝑛𝑒𝑟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á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𝑛𝑔𝑢𝑙𝑜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98F04B51-7ADD-4214-B0E2-7B65C41DC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58" y="3926019"/>
                <a:ext cx="3094689" cy="400110"/>
              </a:xfrm>
              <a:prstGeom prst="rect">
                <a:avLst/>
              </a:prstGeom>
              <a:blipFill>
                <a:blip r:embed="rId9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8926179C-C8F7-BEB4-8EC4-FA74F7A8053A}"/>
                  </a:ext>
                </a:extLst>
              </p:cNvPr>
              <p:cNvSpPr txBox="1"/>
              <p:nvPr/>
            </p:nvSpPr>
            <p:spPr>
              <a:xfrm>
                <a:off x="3382058" y="4487244"/>
                <a:ext cx="1032910" cy="4744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</m:fName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8926179C-C8F7-BEB4-8EC4-FA74F7A80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058" y="4487244"/>
                <a:ext cx="1032910" cy="4744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EE610F3D-841D-4967-12A3-664792FC228A}"/>
                  </a:ext>
                </a:extLst>
              </p:cNvPr>
              <p:cNvSpPr txBox="1"/>
              <p:nvPr/>
            </p:nvSpPr>
            <p:spPr>
              <a:xfrm>
                <a:off x="5159944" y="4461435"/>
                <a:ext cx="1033103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EE610F3D-841D-4967-12A3-664792FC2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944" y="4461435"/>
                <a:ext cx="1033103" cy="52597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3FF66ABA-8328-73BC-D369-D7EA8314390D}"/>
                  </a:ext>
                </a:extLst>
              </p:cNvPr>
              <p:cNvSpPr txBox="1"/>
              <p:nvPr/>
            </p:nvSpPr>
            <p:spPr>
              <a:xfrm>
                <a:off x="6935227" y="4487308"/>
                <a:ext cx="875047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tg</m:t>
                          </m:r>
                        </m:fName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3FF66ABA-8328-73BC-D369-D7EA83143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227" y="4487308"/>
                <a:ext cx="875047" cy="47436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E2B8D29-293C-AE19-040C-A56EF0E00FE5}"/>
                  </a:ext>
                </a:extLst>
              </p:cNvPr>
              <p:cNvSpPr txBox="1"/>
              <p:nvPr/>
            </p:nvSpPr>
            <p:spPr>
              <a:xfrm>
                <a:off x="3391583" y="5317121"/>
                <a:ext cx="2296911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tg</m:t>
                          </m:r>
                        </m:fName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=0,75→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E2B8D29-293C-AE19-040C-A56EF0E00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583" y="5317121"/>
                <a:ext cx="2296911" cy="5203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107BB1-BB0D-366B-A4E3-A2B3739331BB}"/>
                  </a:ext>
                </a:extLst>
              </p:cNvPr>
              <p:cNvSpPr txBox="1"/>
              <p:nvPr/>
            </p:nvSpPr>
            <p:spPr>
              <a:xfrm>
                <a:off x="5628220" y="5457784"/>
                <a:ext cx="26503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arctg</m:t>
                          </m:r>
                        </m:fName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(0,75)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=36,87º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4C107BB1-BB0D-366B-A4E3-A2B373933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220" y="5457784"/>
                <a:ext cx="2650341" cy="276999"/>
              </a:xfrm>
              <a:prstGeom prst="rect">
                <a:avLst/>
              </a:prstGeom>
              <a:blipFill>
                <a:blip r:embed="rId14"/>
                <a:stretch>
                  <a:fillRect r="-1609" b="-369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upo 42">
            <a:extLst>
              <a:ext uri="{FF2B5EF4-FFF2-40B4-BE49-F238E27FC236}">
                <a16:creationId xmlns:a16="http://schemas.microsoft.com/office/drawing/2014/main" id="{F78B8D17-E3E4-0253-B7C8-ED9D039D6F7D}"/>
              </a:ext>
            </a:extLst>
          </p:cNvPr>
          <p:cNvGrpSpPr/>
          <p:nvPr/>
        </p:nvGrpSpPr>
        <p:grpSpPr>
          <a:xfrm>
            <a:off x="5758804" y="5848055"/>
            <a:ext cx="1558704" cy="342293"/>
            <a:chOff x="5755629" y="5956391"/>
            <a:chExt cx="1558704" cy="342293"/>
          </a:xfrm>
        </p:grpSpPr>
        <p:sp>
          <p:nvSpPr>
            <p:cNvPr id="36" name="Rectángulo: esquinas redondeadas 35">
              <a:extLst>
                <a:ext uri="{FF2B5EF4-FFF2-40B4-BE49-F238E27FC236}">
                  <a16:creationId xmlns:a16="http://schemas.microsoft.com/office/drawing/2014/main" id="{8EF6A144-E9E1-CA21-7A3C-FAC53878D932}"/>
                </a:ext>
              </a:extLst>
            </p:cNvPr>
            <p:cNvSpPr/>
            <p:nvPr/>
          </p:nvSpPr>
          <p:spPr>
            <a:xfrm>
              <a:off x="5925146" y="5956391"/>
              <a:ext cx="401900" cy="340809"/>
            </a:xfrm>
            <a:prstGeom prst="roundRect">
              <a:avLst>
                <a:gd name="adj" fmla="val 30051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336E3D95-56F0-E189-C3A7-0E091AF50BDE}"/>
                </a:ext>
              </a:extLst>
            </p:cNvPr>
            <p:cNvSpPr txBox="1"/>
            <p:nvPr/>
          </p:nvSpPr>
          <p:spPr>
            <a:xfrm>
              <a:off x="5755629" y="5960130"/>
              <a:ext cx="740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SHIFT</a:t>
              </a:r>
            </a:p>
          </p:txBody>
        </p:sp>
        <p:sp>
          <p:nvSpPr>
            <p:cNvPr id="40" name="Rectángulo: esquinas redondeadas 39">
              <a:extLst>
                <a:ext uri="{FF2B5EF4-FFF2-40B4-BE49-F238E27FC236}">
                  <a16:creationId xmlns:a16="http://schemas.microsoft.com/office/drawing/2014/main" id="{D13A9A31-4419-92C9-8D0A-30732B555885}"/>
                </a:ext>
              </a:extLst>
            </p:cNvPr>
            <p:cNvSpPr/>
            <p:nvPr/>
          </p:nvSpPr>
          <p:spPr>
            <a:xfrm>
              <a:off x="6742916" y="5956391"/>
              <a:ext cx="401900" cy="340809"/>
            </a:xfrm>
            <a:prstGeom prst="roundRect">
              <a:avLst>
                <a:gd name="adj" fmla="val 30051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F81108C9-CE44-E972-55FE-0F8F17977A28}"/>
                </a:ext>
              </a:extLst>
            </p:cNvPr>
            <p:cNvSpPr txBox="1"/>
            <p:nvPr/>
          </p:nvSpPr>
          <p:spPr>
            <a:xfrm>
              <a:off x="6573399" y="5960130"/>
              <a:ext cx="740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tan</a:t>
              </a:r>
            </a:p>
          </p:txBody>
        </p:sp>
        <p:sp>
          <p:nvSpPr>
            <p:cNvPr id="42" name="Signo más 41">
              <a:extLst>
                <a:ext uri="{FF2B5EF4-FFF2-40B4-BE49-F238E27FC236}">
                  <a16:creationId xmlns:a16="http://schemas.microsoft.com/office/drawing/2014/main" id="{1B5D5B9A-E8DC-404D-820A-8AADEB091636}"/>
                </a:ext>
              </a:extLst>
            </p:cNvPr>
            <p:cNvSpPr/>
            <p:nvPr/>
          </p:nvSpPr>
          <p:spPr>
            <a:xfrm>
              <a:off x="6428459" y="6037492"/>
              <a:ext cx="213043" cy="178605"/>
            </a:xfrm>
            <a:prstGeom prst="mathPlus">
              <a:avLst>
                <a:gd name="adj1" fmla="val 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392883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0"/>
    </mc:Choice>
    <mc:Fallback>
      <p:transition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BD7B4-F6B2-7C57-FDB5-E4F7607AE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716B2EE-6B26-F813-0CAF-2092670F2F3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30E9B72-51EB-D428-271D-A36F04013BAA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013E8356-A680-BD82-DB3B-D9763E143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69812E08-351C-3305-4401-2154400A2974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8FA6F2A8-F97F-139E-3C72-112681094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524AE806-B486-2D67-9604-339D7DBE8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00A4FDF2-182F-76C5-7D12-05B98AEBE8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72C61086-7AFD-FF48-16BA-2AFA662DDBAE}"/>
              </a:ext>
            </a:extLst>
          </p:cNvPr>
          <p:cNvSpPr/>
          <p:nvPr/>
        </p:nvSpPr>
        <p:spPr>
          <a:xfrm>
            <a:off x="535084" y="1533592"/>
            <a:ext cx="11121832" cy="44531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F42D2CBE-9294-5C18-CD08-D3EED8490ED7}"/>
              </a:ext>
            </a:extLst>
          </p:cNvPr>
          <p:cNvSpPr txBox="1"/>
          <p:nvPr/>
        </p:nvSpPr>
        <p:spPr>
          <a:xfrm>
            <a:off x="535084" y="154087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tercer lado se obtiene mediante el teorema de Pitágoras.</a:t>
            </a:r>
            <a:endParaRPr lang="es-ES" sz="3200" b="1" dirty="0"/>
          </a:p>
        </p:txBody>
      </p:sp>
      <p:sp>
        <p:nvSpPr>
          <p:cNvPr id="21" name="!CuadroTexto 1">
            <a:extLst>
              <a:ext uri="{FF2B5EF4-FFF2-40B4-BE49-F238E27FC236}">
                <a16:creationId xmlns:a16="http://schemas.microsoft.com/office/drawing/2014/main" id="{FDDB852D-3E17-B830-AA03-31BCDED6A7E5}"/>
              </a:ext>
            </a:extLst>
          </p:cNvPr>
          <p:cNvSpPr txBox="1"/>
          <p:nvPr/>
        </p:nvSpPr>
        <p:spPr>
          <a:xfrm>
            <a:off x="512967" y="105636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CONOCIENDO 2 LADOS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22" name="!Marco 10">
            <a:extLst>
              <a:ext uri="{FF2B5EF4-FFF2-40B4-BE49-F238E27FC236}">
                <a16:creationId xmlns:a16="http://schemas.microsoft.com/office/drawing/2014/main" id="{3917E65F-6596-AAC1-8005-2E8872733AD7}"/>
              </a:ext>
            </a:extLst>
          </p:cNvPr>
          <p:cNvSpPr/>
          <p:nvPr/>
        </p:nvSpPr>
        <p:spPr>
          <a:xfrm>
            <a:off x="535084" y="2099913"/>
            <a:ext cx="11121832" cy="746712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CFF5BBE1-A5D0-F8B7-131A-38D6B8009B47}"/>
              </a:ext>
            </a:extLst>
          </p:cNvPr>
          <p:cNvSpPr txBox="1"/>
          <p:nvPr/>
        </p:nvSpPr>
        <p:spPr>
          <a:xfrm>
            <a:off x="535084" y="210720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Cada uno de los ángulos agudos se halla a partir de la razón trigonométrica</a:t>
            </a:r>
          </a:p>
          <a:p>
            <a:r>
              <a:rPr lang="es-ES" sz="2000" b="1" dirty="0"/>
              <a:t>que lo relaciona con los dos lados conocidos.</a:t>
            </a:r>
            <a:endParaRPr lang="es-E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5C0E2419-77E1-5B74-006A-562129374ED7}"/>
                  </a:ext>
                </a:extLst>
              </p:cNvPr>
              <p:cNvSpPr txBox="1"/>
              <p:nvPr/>
            </p:nvSpPr>
            <p:spPr>
              <a:xfrm>
                <a:off x="2102890" y="3051189"/>
                <a:ext cx="1642116" cy="710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𝐷𝑎𝑡𝑜𝑠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e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5C0E2419-77E1-5B74-006A-562129374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890" y="3051189"/>
                <a:ext cx="1642116" cy="7101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8CF73A5-6FC8-C081-C0DD-5D0177A4B451}"/>
                  </a:ext>
                </a:extLst>
              </p:cNvPr>
              <p:cNvSpPr txBox="1"/>
              <p:nvPr/>
            </p:nvSpPr>
            <p:spPr>
              <a:xfrm>
                <a:off x="4143422" y="3160871"/>
                <a:ext cx="5583610" cy="403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8CF73A5-6FC8-C081-C0DD-5D0177A4B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422" y="3160871"/>
                <a:ext cx="5583610" cy="4032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4691DA10-6176-C279-14C6-D54F23EF3540}"/>
                  </a:ext>
                </a:extLst>
              </p:cNvPr>
              <p:cNvSpPr txBox="1"/>
              <p:nvPr/>
            </p:nvSpPr>
            <p:spPr>
              <a:xfrm>
                <a:off x="3243358" y="4221294"/>
                <a:ext cx="30946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𝑃𝑎𝑟𝑎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𝑜𝑏𝑡𝑒𝑛𝑒𝑟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á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𝑛𝑔𝑢𝑙𝑜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</a:rPr>
                      <m:t>β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4691DA10-6176-C279-14C6-D54F23EF3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58" y="4221294"/>
                <a:ext cx="3094689" cy="400110"/>
              </a:xfrm>
              <a:prstGeom prst="rect">
                <a:avLst/>
              </a:prstGeom>
              <a:blipFill>
                <a:blip r:embed="rId9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AAF9686E-1C46-F8AF-F963-9E044263FBE0}"/>
                  </a:ext>
                </a:extLst>
              </p:cNvPr>
              <p:cNvSpPr txBox="1"/>
              <p:nvPr/>
            </p:nvSpPr>
            <p:spPr>
              <a:xfrm>
                <a:off x="3382058" y="4782519"/>
                <a:ext cx="1012520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AAF9686E-1C46-F8AF-F963-9E044263F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058" y="4782519"/>
                <a:ext cx="1012520" cy="5259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7BCFCEC5-BED5-F7E1-7971-0E739C4548B5}"/>
                  </a:ext>
                </a:extLst>
              </p:cNvPr>
              <p:cNvSpPr txBox="1"/>
              <p:nvPr/>
            </p:nvSpPr>
            <p:spPr>
              <a:xfrm>
                <a:off x="5145113" y="4831940"/>
                <a:ext cx="1039579" cy="4744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7BCFCEC5-BED5-F7E1-7971-0E739C454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113" y="4831940"/>
                <a:ext cx="1039579" cy="47442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76F4B4D-63C2-9F04-FC35-A11CCC49BE74}"/>
                  </a:ext>
                </a:extLst>
              </p:cNvPr>
              <p:cNvSpPr txBox="1"/>
              <p:nvPr/>
            </p:nvSpPr>
            <p:spPr>
              <a:xfrm>
                <a:off x="6935227" y="4780385"/>
                <a:ext cx="858440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tg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76F4B4D-63C2-9F04-FC35-A11CCC49B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227" y="4780385"/>
                <a:ext cx="858440" cy="5259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E5AD58C9-BFAE-CAAE-AEA7-D671CB1CD68D}"/>
                  </a:ext>
                </a:extLst>
              </p:cNvPr>
              <p:cNvSpPr txBox="1"/>
              <p:nvPr/>
            </p:nvSpPr>
            <p:spPr>
              <a:xfrm>
                <a:off x="4143422" y="3735669"/>
                <a:ext cx="26503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arctg</m:t>
                          </m:r>
                        </m:fName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(0,75)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=36,87º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E5AD58C9-BFAE-CAAE-AEA7-D671CB1CD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422" y="3735669"/>
                <a:ext cx="2650341" cy="276999"/>
              </a:xfrm>
              <a:prstGeom prst="rect">
                <a:avLst/>
              </a:prstGeom>
              <a:blipFill>
                <a:blip r:embed="rId13"/>
                <a:stretch>
                  <a:fillRect r="-1613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CE53A7C-360F-36ED-A038-1363BFE68FB8}"/>
                  </a:ext>
                </a:extLst>
              </p:cNvPr>
              <p:cNvSpPr txBox="1"/>
              <p:nvPr/>
            </p:nvSpPr>
            <p:spPr>
              <a:xfrm>
                <a:off x="3432156" y="5469612"/>
                <a:ext cx="1546129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tg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CE53A7C-360F-36ED-A038-1363BFE68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156" y="5469612"/>
                <a:ext cx="1546129" cy="5259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2BA53F9-3533-AAC7-4F85-60BC9A0B50C6}"/>
                  </a:ext>
                </a:extLst>
              </p:cNvPr>
              <p:cNvSpPr txBox="1"/>
              <p:nvPr/>
            </p:nvSpPr>
            <p:spPr>
              <a:xfrm>
                <a:off x="4990806" y="5468986"/>
                <a:ext cx="2352118" cy="5252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arctg</m:t>
                          </m:r>
                        </m:fName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=53,13º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2BA53F9-3533-AAC7-4F85-60BC9A0B5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806" y="5468986"/>
                <a:ext cx="2352118" cy="5252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o 9">
            <a:extLst>
              <a:ext uri="{FF2B5EF4-FFF2-40B4-BE49-F238E27FC236}">
                <a16:creationId xmlns:a16="http://schemas.microsoft.com/office/drawing/2014/main" id="{B1DD7C1C-80F5-862B-615C-391BD7F9424B}"/>
              </a:ext>
            </a:extLst>
          </p:cNvPr>
          <p:cNvGrpSpPr/>
          <p:nvPr/>
        </p:nvGrpSpPr>
        <p:grpSpPr>
          <a:xfrm>
            <a:off x="4990806" y="6153947"/>
            <a:ext cx="1558704" cy="342293"/>
            <a:chOff x="5755629" y="5956391"/>
            <a:chExt cx="1558704" cy="342293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5683682E-0041-2811-3C73-F9CF7BDC0AD9}"/>
                </a:ext>
              </a:extLst>
            </p:cNvPr>
            <p:cNvSpPr/>
            <p:nvPr/>
          </p:nvSpPr>
          <p:spPr>
            <a:xfrm>
              <a:off x="5925146" y="5956391"/>
              <a:ext cx="401900" cy="340809"/>
            </a:xfrm>
            <a:prstGeom prst="roundRect">
              <a:avLst>
                <a:gd name="adj" fmla="val 30051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2E98217-AA1A-F990-A941-6F1FA1CA6056}"/>
                </a:ext>
              </a:extLst>
            </p:cNvPr>
            <p:cNvSpPr txBox="1"/>
            <p:nvPr/>
          </p:nvSpPr>
          <p:spPr>
            <a:xfrm>
              <a:off x="5755629" y="5960130"/>
              <a:ext cx="740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SHIFT</a:t>
              </a:r>
            </a:p>
          </p:txBody>
        </p:sp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2288D9C4-6CD8-A48C-63EA-9C1FDEE3846B}"/>
                </a:ext>
              </a:extLst>
            </p:cNvPr>
            <p:cNvSpPr/>
            <p:nvPr/>
          </p:nvSpPr>
          <p:spPr>
            <a:xfrm>
              <a:off x="6742916" y="5956391"/>
              <a:ext cx="401900" cy="340809"/>
            </a:xfrm>
            <a:prstGeom prst="roundRect">
              <a:avLst>
                <a:gd name="adj" fmla="val 30051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1AA35840-56E4-323F-F20E-68F1D5AC3E53}"/>
                </a:ext>
              </a:extLst>
            </p:cNvPr>
            <p:cNvSpPr txBox="1"/>
            <p:nvPr/>
          </p:nvSpPr>
          <p:spPr>
            <a:xfrm>
              <a:off x="6573399" y="5960130"/>
              <a:ext cx="7409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tan</a:t>
              </a:r>
            </a:p>
          </p:txBody>
        </p:sp>
        <p:sp>
          <p:nvSpPr>
            <p:cNvPr id="30" name="Signo más 29">
              <a:extLst>
                <a:ext uri="{FF2B5EF4-FFF2-40B4-BE49-F238E27FC236}">
                  <a16:creationId xmlns:a16="http://schemas.microsoft.com/office/drawing/2014/main" id="{1EB4F5CD-B713-95FB-A342-026CC4DA2AEB}"/>
                </a:ext>
              </a:extLst>
            </p:cNvPr>
            <p:cNvSpPr/>
            <p:nvPr/>
          </p:nvSpPr>
          <p:spPr>
            <a:xfrm>
              <a:off x="6428459" y="6037492"/>
              <a:ext cx="213043" cy="178605"/>
            </a:xfrm>
            <a:prstGeom prst="mathPlus">
              <a:avLst>
                <a:gd name="adj1" fmla="val 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84935DF2-17DA-194C-31B3-903201FCC6F7}"/>
                  </a:ext>
                </a:extLst>
              </p:cNvPr>
              <p:cNvSpPr txBox="1"/>
              <p:nvPr/>
            </p:nvSpPr>
            <p:spPr>
              <a:xfrm>
                <a:off x="6338047" y="4286463"/>
                <a:ext cx="530457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β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+90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=180º→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β</m:t>
                    </m:r>
                    <m:r>
                      <a:rPr lang="es-ES" b="0" i="0" smtClean="0">
                        <a:latin typeface="Cambria Math" panose="02040503050406030204" pitchFamily="18" charset="0"/>
                      </a:rPr>
                      <m:t>=180−90−36,87=53,13º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84935DF2-17DA-194C-31B3-903201FCC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047" y="4286463"/>
                <a:ext cx="5304578" cy="276999"/>
              </a:xfrm>
              <a:prstGeom prst="rect">
                <a:avLst/>
              </a:prstGeom>
              <a:blipFill>
                <a:blip r:embed="rId16"/>
                <a:stretch>
                  <a:fillRect l="-1149" r="-920" b="-369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upo 30">
            <a:extLst>
              <a:ext uri="{FF2B5EF4-FFF2-40B4-BE49-F238E27FC236}">
                <a16:creationId xmlns:a16="http://schemas.microsoft.com/office/drawing/2014/main" id="{76857D14-E647-9B3D-CAD1-215441008F2D}"/>
              </a:ext>
            </a:extLst>
          </p:cNvPr>
          <p:cNvGrpSpPr/>
          <p:nvPr/>
        </p:nvGrpSpPr>
        <p:grpSpPr>
          <a:xfrm>
            <a:off x="535084" y="3479452"/>
            <a:ext cx="2134381" cy="2142093"/>
            <a:chOff x="535084" y="3479452"/>
            <a:chExt cx="2134381" cy="2142093"/>
          </a:xfrm>
        </p:grpSpPr>
        <p:sp>
          <p:nvSpPr>
            <p:cNvPr id="34" name="Triángulo isósceles 33">
              <a:extLst>
                <a:ext uri="{FF2B5EF4-FFF2-40B4-BE49-F238E27FC236}">
                  <a16:creationId xmlns:a16="http://schemas.microsoft.com/office/drawing/2014/main" id="{4B5B1811-C465-E795-3C8D-F6A9BB844BEC}"/>
                </a:ext>
              </a:extLst>
            </p:cNvPr>
            <p:cNvSpPr/>
            <p:nvPr/>
          </p:nvSpPr>
          <p:spPr>
            <a:xfrm flipH="1">
              <a:off x="1032689" y="3479452"/>
              <a:ext cx="1636776" cy="1737360"/>
            </a:xfrm>
            <a:prstGeom prst="triangle">
              <a:avLst>
                <a:gd name="adj" fmla="val 10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200F6D96-D9E4-0EA6-05F5-ED5DFC784211}"/>
                </a:ext>
              </a:extLst>
            </p:cNvPr>
            <p:cNvSpPr txBox="1"/>
            <p:nvPr/>
          </p:nvSpPr>
          <p:spPr>
            <a:xfrm flipH="1">
              <a:off x="1423685" y="5252213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b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5DB98776-4713-7FED-97C1-5BC8E585D8E2}"/>
                </a:ext>
              </a:extLst>
            </p:cNvPr>
            <p:cNvSpPr txBox="1"/>
            <p:nvPr/>
          </p:nvSpPr>
          <p:spPr>
            <a:xfrm flipH="1">
              <a:off x="1694030" y="4043314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c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263BFB1D-149D-2F95-C7F5-C1652F67A951}"/>
                </a:ext>
              </a:extLst>
            </p:cNvPr>
            <p:cNvSpPr txBox="1"/>
            <p:nvPr/>
          </p:nvSpPr>
          <p:spPr>
            <a:xfrm flipH="1">
              <a:off x="535084" y="4302578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a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A7D5F43C-E416-892D-F424-370647CDBA9A}"/>
                    </a:ext>
                  </a:extLst>
                </p:cNvPr>
                <p:cNvSpPr txBox="1"/>
                <p:nvPr/>
              </p:nvSpPr>
              <p:spPr>
                <a:xfrm flipH="1">
                  <a:off x="2102890" y="4879421"/>
                  <a:ext cx="2089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A7D5F43C-E416-892D-F424-370647CDB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102890" y="4879421"/>
                  <a:ext cx="208967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4706" r="-11765" b="-2174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A994A3C9-003C-2E80-3AE7-C7B559DD1CDB}"/>
                </a:ext>
              </a:extLst>
            </p:cNvPr>
            <p:cNvSpPr txBox="1"/>
            <p:nvPr/>
          </p:nvSpPr>
          <p:spPr>
            <a:xfrm flipH="1">
              <a:off x="1142254" y="3834038"/>
              <a:ext cx="11281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l-GR" dirty="0"/>
                <a:t>β</a:t>
              </a:r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1921822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2" grpId="0"/>
      <p:bldP spid="33" grpId="0"/>
      <p:bldP spid="4" grpId="0"/>
      <p:bldP spid="5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6AE595-EC36-24D4-2EA4-BF5A3BB7A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250376D-5B02-39AD-1BE4-24B33171303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45D91F1D-513F-BA41-CBB8-29B33812C1F6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7: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Trigonometría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08B4BC34-E2B3-47BB-D0F4-E647FAB1B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649E6EE-ADCA-70F2-1875-F12E59DDDC0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48CFF494-4CE5-ECEF-CF5E-47B7C1806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3496AF65-4680-925A-A7E0-1B8B1C557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3039434A-889F-C980-DEAB-DED4AAF581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21" name="!CuadroTexto 1">
            <a:extLst>
              <a:ext uri="{FF2B5EF4-FFF2-40B4-BE49-F238E27FC236}">
                <a16:creationId xmlns:a16="http://schemas.microsoft.com/office/drawing/2014/main" id="{FC765FE1-7481-2D7B-12E8-37EDEE1EA2F0}"/>
              </a:ext>
            </a:extLst>
          </p:cNvPr>
          <p:cNvSpPr txBox="1"/>
          <p:nvPr/>
        </p:nvSpPr>
        <p:spPr>
          <a:xfrm>
            <a:off x="512967" y="105636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CONOCIENDO 1 LADO Y 1 ÁNGULO AGUDO</a:t>
            </a:r>
            <a:endParaRPr lang="es-ES" sz="3200" b="1" dirty="0">
              <a:solidFill>
                <a:srgbClr val="4E95D9"/>
              </a:solidFill>
            </a:endParaRPr>
          </a:p>
        </p:txBody>
      </p:sp>
      <p:sp>
        <p:nvSpPr>
          <p:cNvPr id="22" name="!Marco 10">
            <a:extLst>
              <a:ext uri="{FF2B5EF4-FFF2-40B4-BE49-F238E27FC236}">
                <a16:creationId xmlns:a16="http://schemas.microsoft.com/office/drawing/2014/main" id="{4FBF7E3E-DE39-FE18-F1CC-10FF429F8C61}"/>
              </a:ext>
            </a:extLst>
          </p:cNvPr>
          <p:cNvSpPr/>
          <p:nvPr/>
        </p:nvSpPr>
        <p:spPr>
          <a:xfrm>
            <a:off x="535084" y="1585563"/>
            <a:ext cx="11121832" cy="44064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3DEB19A4-5DDC-56E5-DBA3-D86EED35CEBE}"/>
              </a:ext>
            </a:extLst>
          </p:cNvPr>
          <p:cNvSpPr txBox="1"/>
          <p:nvPr/>
        </p:nvSpPr>
        <p:spPr>
          <a:xfrm>
            <a:off x="535084" y="159285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tercer ángulo es el complementario a los otros 2.</a:t>
            </a:r>
            <a:endParaRPr lang="es-ES" sz="3200" b="1" dirty="0"/>
          </a:p>
        </p:txBody>
      </p:sp>
      <p:sp>
        <p:nvSpPr>
          <p:cNvPr id="31" name="!Marco 10">
            <a:extLst>
              <a:ext uri="{FF2B5EF4-FFF2-40B4-BE49-F238E27FC236}">
                <a16:creationId xmlns:a16="http://schemas.microsoft.com/office/drawing/2014/main" id="{BAA6C6F5-3E5F-F1D5-BD32-271744CCD4BF}"/>
              </a:ext>
            </a:extLst>
          </p:cNvPr>
          <p:cNvSpPr/>
          <p:nvPr/>
        </p:nvSpPr>
        <p:spPr>
          <a:xfrm>
            <a:off x="535084" y="2143192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!CuadroTexto 1">
            <a:extLst>
              <a:ext uri="{FF2B5EF4-FFF2-40B4-BE49-F238E27FC236}">
                <a16:creationId xmlns:a16="http://schemas.microsoft.com/office/drawing/2014/main" id="{3D8993F3-5B6F-665B-E4F0-68A3FECBABA6}"/>
              </a:ext>
            </a:extLst>
          </p:cNvPr>
          <p:cNvSpPr txBox="1"/>
          <p:nvPr/>
        </p:nvSpPr>
        <p:spPr>
          <a:xfrm>
            <a:off x="535084" y="215047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lados los obtendremos de sus razones trigonométricas.</a:t>
            </a:r>
            <a:endParaRPr lang="es-ES" sz="3200" b="1" dirty="0"/>
          </a:p>
        </p:txBody>
      </p:sp>
      <p:sp>
        <p:nvSpPr>
          <p:cNvPr id="37" name="Arco 36">
            <a:extLst>
              <a:ext uri="{FF2B5EF4-FFF2-40B4-BE49-F238E27FC236}">
                <a16:creationId xmlns:a16="http://schemas.microsoft.com/office/drawing/2014/main" id="{68C62B61-1EE5-A054-441D-3CA549C0EC4A}"/>
              </a:ext>
            </a:extLst>
          </p:cNvPr>
          <p:cNvSpPr/>
          <p:nvPr/>
        </p:nvSpPr>
        <p:spPr>
          <a:xfrm flipH="1">
            <a:off x="2201574" y="4120505"/>
            <a:ext cx="575744" cy="645672"/>
          </a:xfrm>
          <a:prstGeom prst="arc">
            <a:avLst>
              <a:gd name="adj1" fmla="val 19342075"/>
              <a:gd name="adj2" fmla="val 0"/>
            </a:avLst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27D839D-4206-5523-D201-145AB3A44E13}"/>
              </a:ext>
            </a:extLst>
          </p:cNvPr>
          <p:cNvGrpSpPr/>
          <p:nvPr/>
        </p:nvGrpSpPr>
        <p:grpSpPr>
          <a:xfrm>
            <a:off x="443527" y="3053447"/>
            <a:ext cx="2067426" cy="1751941"/>
            <a:chOff x="443527" y="3053447"/>
            <a:chExt cx="2067426" cy="1751941"/>
          </a:xfrm>
        </p:grpSpPr>
        <p:sp>
          <p:nvSpPr>
            <p:cNvPr id="36" name="Arco 35">
              <a:extLst>
                <a:ext uri="{FF2B5EF4-FFF2-40B4-BE49-F238E27FC236}">
                  <a16:creationId xmlns:a16="http://schemas.microsoft.com/office/drawing/2014/main" id="{872715A5-3DCA-15BC-5909-793D38C1F8C8}"/>
                </a:ext>
              </a:extLst>
            </p:cNvPr>
            <p:cNvSpPr/>
            <p:nvPr/>
          </p:nvSpPr>
          <p:spPr>
            <a:xfrm flipH="1">
              <a:off x="580771" y="3053447"/>
              <a:ext cx="586812" cy="532600"/>
            </a:xfrm>
            <a:prstGeom prst="arc">
              <a:avLst>
                <a:gd name="adj1" fmla="val 5410210"/>
                <a:gd name="adj2" fmla="val 8679259"/>
              </a:avLst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8" name="Triángulo isósceles 37">
              <a:extLst>
                <a:ext uri="{FF2B5EF4-FFF2-40B4-BE49-F238E27FC236}">
                  <a16:creationId xmlns:a16="http://schemas.microsoft.com/office/drawing/2014/main" id="{264AD5CA-AE8A-3358-8EF7-DB1E0F8D4078}"/>
                </a:ext>
              </a:extLst>
            </p:cNvPr>
            <p:cNvSpPr/>
            <p:nvPr/>
          </p:nvSpPr>
          <p:spPr>
            <a:xfrm flipH="1">
              <a:off x="874177" y="3307480"/>
              <a:ext cx="1636776" cy="1135862"/>
            </a:xfrm>
            <a:prstGeom prst="triangle">
              <a:avLst>
                <a:gd name="adj" fmla="val 10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29BEE204-EFE4-C680-D31D-BDB2FA56BF8C}"/>
                </a:ext>
              </a:extLst>
            </p:cNvPr>
            <p:cNvSpPr txBox="1"/>
            <p:nvPr/>
          </p:nvSpPr>
          <p:spPr>
            <a:xfrm flipH="1">
              <a:off x="1310492" y="4436056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b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00D6F7BE-284C-1DA9-2DC9-C5F3A789DAB5}"/>
                </a:ext>
              </a:extLst>
            </p:cNvPr>
            <p:cNvSpPr txBox="1"/>
            <p:nvPr/>
          </p:nvSpPr>
          <p:spPr>
            <a:xfrm flipH="1">
              <a:off x="1459230" y="3540798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c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ADA3E92A-6858-179F-BC7D-130EBE00E90A}"/>
                </a:ext>
              </a:extLst>
            </p:cNvPr>
            <p:cNvSpPr txBox="1"/>
            <p:nvPr/>
          </p:nvSpPr>
          <p:spPr>
            <a:xfrm flipH="1">
              <a:off x="443527" y="3758197"/>
              <a:ext cx="5850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a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FF4E7A9E-17A7-1238-236D-F3B2E76CD62E}"/>
                    </a:ext>
                  </a:extLst>
                </p:cNvPr>
                <p:cNvSpPr txBox="1"/>
                <p:nvPr/>
              </p:nvSpPr>
              <p:spPr>
                <a:xfrm flipH="1">
                  <a:off x="1997555" y="4153862"/>
                  <a:ext cx="20896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s-ES" dirty="0"/>
                </a:p>
              </p:txBody>
            </p:sp>
          </mc:Choice>
          <mc:Fallback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FF4E7A9E-17A7-1238-236D-F3B2E76CD6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997555" y="4153862"/>
                  <a:ext cx="20896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4706" r="-11765" b="-2174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8BD89D39-DF3D-F9B8-78D1-4B3CF4D766F5}"/>
                </a:ext>
              </a:extLst>
            </p:cNvPr>
            <p:cNvSpPr txBox="1"/>
            <p:nvPr/>
          </p:nvSpPr>
          <p:spPr>
            <a:xfrm flipH="1">
              <a:off x="986840" y="3579005"/>
              <a:ext cx="112813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l-GR" dirty="0"/>
                <a:t>β</a:t>
              </a:r>
              <a:endParaRPr lang="es-E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60CE8E00-AD5D-C9FE-D22E-7D0186020431}"/>
                  </a:ext>
                </a:extLst>
              </p:cNvPr>
              <p:cNvSpPr txBox="1"/>
              <p:nvPr/>
            </p:nvSpPr>
            <p:spPr>
              <a:xfrm>
                <a:off x="2102890" y="2736864"/>
                <a:ext cx="1868910" cy="710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𝐷𝑎𝑡𝑜𝑠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30º</m:t>
                              </m:r>
                            </m:e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60CE8E00-AD5D-C9FE-D22E-7D0186020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890" y="2736864"/>
                <a:ext cx="1868910" cy="7101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EB8C0C11-2D0A-DB4E-2AFC-DD372061BE33}"/>
                  </a:ext>
                </a:extLst>
              </p:cNvPr>
              <p:cNvSpPr txBox="1"/>
              <p:nvPr/>
            </p:nvSpPr>
            <p:spPr>
              <a:xfrm>
                <a:off x="3243358" y="3611694"/>
                <a:ext cx="30946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𝑃𝑎𝑟𝑎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𝑜𝑏𝑡𝑒𝑛𝑒𝑟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𝑙𝑎𝑑𝑜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EB8C0C11-2D0A-DB4E-2AFC-DD372061B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58" y="3611694"/>
                <a:ext cx="309468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A70A7C0C-8109-5A73-0455-F3F647641A78}"/>
                  </a:ext>
                </a:extLst>
              </p:cNvPr>
              <p:cNvSpPr txBox="1"/>
              <p:nvPr/>
            </p:nvSpPr>
            <p:spPr>
              <a:xfrm>
                <a:off x="3310527" y="4093855"/>
                <a:ext cx="4570931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</m:fName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sen</m:t>
                          </m:r>
                        </m:fName>
                        <m:e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30º</m:t>
                              </m:r>
                            </m:e>
                          </m:d>
                        </m:e>
                      </m:func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4∙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A70A7C0C-8109-5A73-0455-F3F647641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527" y="4093855"/>
                <a:ext cx="4570931" cy="5204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E8BF9204-06D0-DE69-3E5B-58FA28B40F5A}"/>
                  </a:ext>
                </a:extLst>
              </p:cNvPr>
              <p:cNvSpPr txBox="1"/>
              <p:nvPr/>
            </p:nvSpPr>
            <p:spPr>
              <a:xfrm>
                <a:off x="4755023" y="4269447"/>
                <a:ext cx="115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E8BF9204-06D0-DE69-3E5B-58FA28B40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023" y="4269447"/>
                <a:ext cx="115416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D2EE6C1F-2233-55AB-61A6-54DDC2FD5E7E}"/>
                  </a:ext>
                </a:extLst>
              </p:cNvPr>
              <p:cNvSpPr txBox="1"/>
              <p:nvPr/>
            </p:nvSpPr>
            <p:spPr>
              <a:xfrm>
                <a:off x="4282938" y="2922845"/>
                <a:ext cx="530457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β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+90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=180º→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β</m:t>
                    </m:r>
                    <m:r>
                      <a:rPr lang="es-ES" b="0" i="0" smtClean="0">
                        <a:latin typeface="Cambria Math" panose="02040503050406030204" pitchFamily="18" charset="0"/>
                      </a:rPr>
                      <m:t>=180−90−30=60º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D2EE6C1F-2233-55AB-61A6-54DDC2FD5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938" y="2922845"/>
                <a:ext cx="5304578" cy="276999"/>
              </a:xfrm>
              <a:prstGeom prst="rect">
                <a:avLst/>
              </a:prstGeom>
              <a:blipFill>
                <a:blip r:embed="rId11"/>
                <a:stretch>
                  <a:fillRect l="-1149" b="-369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18278693-881A-8FCE-D0FF-9EABA0E8180D}"/>
                  </a:ext>
                </a:extLst>
              </p:cNvPr>
              <p:cNvSpPr txBox="1"/>
              <p:nvPr/>
            </p:nvSpPr>
            <p:spPr>
              <a:xfrm>
                <a:off x="3243358" y="4684806"/>
                <a:ext cx="30946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𝑃𝑎𝑟𝑎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𝑜𝑏𝑡𝑒𝑛𝑒𝑟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𝑙𝑎𝑑𝑜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18278693-881A-8FCE-D0FF-9EABA0E8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58" y="4684806"/>
                <a:ext cx="309468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C5400442-FEF2-5B8B-5B21-E5A7F9F06B16}"/>
                  </a:ext>
                </a:extLst>
              </p:cNvPr>
              <p:cNvSpPr txBox="1"/>
              <p:nvPr/>
            </p:nvSpPr>
            <p:spPr>
              <a:xfrm>
                <a:off x="3243358" y="5084916"/>
                <a:ext cx="5071517" cy="582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30º</m:t>
                              </m:r>
                            </m:e>
                          </m:d>
                        </m:e>
                      </m:func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4∙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C5400442-FEF2-5B8B-5B21-E5A7F9F06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58" y="5084916"/>
                <a:ext cx="5071517" cy="5827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AE7C1D01-0B6B-7EE3-707E-2B6DA743B7FA}"/>
                  </a:ext>
                </a:extLst>
              </p:cNvPr>
              <p:cNvSpPr txBox="1"/>
              <p:nvPr/>
            </p:nvSpPr>
            <p:spPr>
              <a:xfrm>
                <a:off x="3310527" y="5782164"/>
                <a:ext cx="6510242" cy="406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16−4</m:t>
                        </m:r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AE7C1D01-0B6B-7EE3-707E-2B6DA743B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527" y="5782164"/>
                <a:ext cx="6510242" cy="40645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871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25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25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  <p:bldP spid="24" grpId="0"/>
      <p:bldP spid="31" grpId="0" animBg="1"/>
      <p:bldP spid="34" grpId="0"/>
      <p:bldP spid="44" grpId="0"/>
      <p:bldP spid="46" grpId="0"/>
      <p:bldP spid="47" grpId="0"/>
      <p:bldP spid="52" grpId="0"/>
      <p:bldP spid="60" grpId="0"/>
      <p:bldP spid="62" grpId="0"/>
      <p:bldP spid="63" grpId="0"/>
      <p:bldP spid="6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1243</TotalTime>
  <Words>423</Words>
  <Application>Microsoft Office PowerPoint</Application>
  <PresentationFormat>Panorámica</PresentationFormat>
  <Paragraphs>84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Agency FB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103</cp:revision>
  <dcterms:created xsi:type="dcterms:W3CDTF">2024-08-18T18:48:07Z</dcterms:created>
  <dcterms:modified xsi:type="dcterms:W3CDTF">2024-11-05T19:09:35Z</dcterms:modified>
</cp:coreProperties>
</file>