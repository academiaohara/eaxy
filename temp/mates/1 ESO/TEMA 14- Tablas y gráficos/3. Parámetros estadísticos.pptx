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custDataLst>
    <p:tags r:id="rId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6F1FE-0BD0-48BC-9FB1-FCE235B4664C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5DF7A0-57B2-492D-BEB6-C768B0F02A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255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DF7A0-57B2-492D-BEB6-C768B0F02AD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6426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DF7A0-57B2-492D-BEB6-C768B0F02AD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0875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DF7A0-57B2-492D-BEB6-C768B0F02AD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2384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DF7A0-57B2-492D-BEB6-C768B0F02AD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8436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17/06/relationships/model3d" Target="../media/model3d2.glb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86959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Tablas y Gráficos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4620133"/>
                  </p:ext>
                </p:extLst>
              </p:nvPr>
            </p:nvGraphicFramePr>
            <p:xfrm>
              <a:off x="475306" y="2459786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2459786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CuadroTexto 122">
            <a:extLst>
              <a:ext uri="{FF2B5EF4-FFF2-40B4-BE49-F238E27FC236}">
                <a16:creationId xmlns:a16="http://schemas.microsoft.com/office/drawing/2014/main" id="{11EB6959-DCB4-183D-2777-3FB76BB9132E}"/>
              </a:ext>
            </a:extLst>
          </p:cNvPr>
          <p:cNvSpPr txBox="1"/>
          <p:nvPr/>
        </p:nvSpPr>
        <p:spPr>
          <a:xfrm>
            <a:off x="996360" y="2416597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COORDENADAS CARTESIANAS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B37A2FE-1AD7-51E6-B562-8151DEE82E4C}"/>
              </a:ext>
            </a:extLst>
          </p:cNvPr>
          <p:cNvSpPr txBox="1"/>
          <p:nvPr/>
        </p:nvSpPr>
        <p:spPr>
          <a:xfrm>
            <a:off x="996360" y="3186519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GRÁFICAS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426813"/>
                  </p:ext>
                </p:extLst>
              </p:nvPr>
            </p:nvGraphicFramePr>
            <p:xfrm>
              <a:off x="465829" y="3954645"/>
              <a:ext cx="463450" cy="61613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63450" cy="61613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28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5829" y="3954645"/>
                <a:ext cx="463450" cy="6161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11701775"/>
                  </p:ext>
                </p:extLst>
              </p:nvPr>
            </p:nvGraphicFramePr>
            <p:xfrm>
              <a:off x="475306" y="3229708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229708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47762E2A-4553-6E26-EEB5-4C2E81B6A66A}"/>
              </a:ext>
            </a:extLst>
          </p:cNvPr>
          <p:cNvSpPr txBox="1"/>
          <p:nvPr/>
        </p:nvSpPr>
        <p:spPr>
          <a:xfrm>
            <a:off x="996360" y="3939545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PARÁMETROS ESTADÍSTICOS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3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3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3" grpId="0"/>
      <p:bldP spid="125" grpId="0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Tablas y Gráficos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30AB7010-CA22-9CE2-1155-D5B81617F324}"/>
              </a:ext>
            </a:extLst>
          </p:cNvPr>
          <p:cNvSpPr/>
          <p:nvPr/>
        </p:nvSpPr>
        <p:spPr>
          <a:xfrm>
            <a:off x="535084" y="971436"/>
            <a:ext cx="11121832" cy="707886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0A6F1C84-39BA-BF9B-680F-2ADEFB27209B}"/>
              </a:ext>
            </a:extLst>
          </p:cNvPr>
          <p:cNvSpPr txBox="1"/>
          <p:nvPr/>
        </p:nvSpPr>
        <p:spPr>
          <a:xfrm>
            <a:off x="535084" y="97143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media de varias cantidades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la suma de todos los valores dividida por el número de ellos que hay.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C3C192F-18E7-001D-C97B-FFD9B5B1B5AE}"/>
              </a:ext>
            </a:extLst>
          </p:cNvPr>
          <p:cNvSpPr txBox="1"/>
          <p:nvPr/>
        </p:nvSpPr>
        <p:spPr>
          <a:xfrm>
            <a:off x="535084" y="1837736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85D95A6-C925-E00B-797E-43E40B75FE1A}"/>
              </a:ext>
            </a:extLst>
          </p:cNvPr>
          <p:cNvSpPr txBox="1"/>
          <p:nvPr/>
        </p:nvSpPr>
        <p:spPr>
          <a:xfrm>
            <a:off x="1863140" y="1837736"/>
            <a:ext cx="662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Número de hermanos: 1, 3, 2, 0, 1, 3, 4, 2,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66DFF20-00D8-6B67-B03B-86752B159917}"/>
                  </a:ext>
                </a:extLst>
              </p:cNvPr>
              <p:cNvSpPr txBox="1"/>
              <p:nvPr/>
            </p:nvSpPr>
            <p:spPr>
              <a:xfrm>
                <a:off x="2996113" y="2465082"/>
                <a:ext cx="6199774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𝐌𝐄𝐃𝐈𝐀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66DFF20-00D8-6B67-B03B-86752B159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113" y="2465082"/>
                <a:ext cx="6199774" cy="5782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3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3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3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7" grpId="0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Tablas y Gráficos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30AB7010-CA22-9CE2-1155-D5B81617F324}"/>
              </a:ext>
            </a:extLst>
          </p:cNvPr>
          <p:cNvSpPr/>
          <p:nvPr/>
        </p:nvSpPr>
        <p:spPr>
          <a:xfrm>
            <a:off x="535084" y="971436"/>
            <a:ext cx="11121832" cy="707886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0A6F1C84-39BA-BF9B-680F-2ADEFB27209B}"/>
              </a:ext>
            </a:extLst>
          </p:cNvPr>
          <p:cNvSpPr txBox="1"/>
          <p:nvPr/>
        </p:nvSpPr>
        <p:spPr>
          <a:xfrm>
            <a:off x="535084" y="97143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Se llama mediana de un conjunto de datos numéricos ordenados al que ocupa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el valor central</a:t>
            </a:r>
            <a:r>
              <a:rPr lang="es-ES" sz="2000" b="1" dirty="0"/>
              <a:t>. Si hay un número par de datos, es el promedio de los dos centrales.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C3C192F-18E7-001D-C97B-FFD9B5B1B5AE}"/>
              </a:ext>
            </a:extLst>
          </p:cNvPr>
          <p:cNvSpPr txBox="1"/>
          <p:nvPr/>
        </p:nvSpPr>
        <p:spPr>
          <a:xfrm>
            <a:off x="535084" y="1837736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85D95A6-C925-E00B-797E-43E40B75FE1A}"/>
              </a:ext>
            </a:extLst>
          </p:cNvPr>
          <p:cNvSpPr txBox="1"/>
          <p:nvPr/>
        </p:nvSpPr>
        <p:spPr>
          <a:xfrm>
            <a:off x="1863140" y="1837736"/>
            <a:ext cx="662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Número de hermanos: 1, 3, 2, 0, 1, 3, 4, 2,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66DFF20-00D8-6B67-B03B-86752B159917}"/>
                  </a:ext>
                </a:extLst>
              </p:cNvPr>
              <p:cNvSpPr txBox="1"/>
              <p:nvPr/>
            </p:nvSpPr>
            <p:spPr>
              <a:xfrm>
                <a:off x="2996113" y="2465082"/>
                <a:ext cx="6199774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𝐌𝐄𝐃𝐈𝐀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66DFF20-00D8-6B67-B03B-86752B159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113" y="2465082"/>
                <a:ext cx="6199774" cy="5782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8D46D09A-A95A-6E5A-A081-73DEDAD57420}"/>
              </a:ext>
            </a:extLst>
          </p:cNvPr>
          <p:cNvSpPr txBox="1"/>
          <p:nvPr/>
        </p:nvSpPr>
        <p:spPr>
          <a:xfrm>
            <a:off x="2782294" y="3367293"/>
            <a:ext cx="662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0  1  1  2  2  2  3  3  4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AC8156F6-82BF-EEE5-2527-9E01D0A344BC}"/>
              </a:ext>
            </a:extLst>
          </p:cNvPr>
          <p:cNvGrpSpPr/>
          <p:nvPr/>
        </p:nvGrpSpPr>
        <p:grpSpPr>
          <a:xfrm>
            <a:off x="4807712" y="3814400"/>
            <a:ext cx="1028115" cy="400110"/>
            <a:chOff x="3858210" y="8394395"/>
            <a:chExt cx="1028115" cy="400110"/>
          </a:xfrm>
        </p:grpSpPr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72AADB24-3000-7D2C-FC16-68C6B35AD5E2}"/>
                </a:ext>
              </a:extLst>
            </p:cNvPr>
            <p:cNvCxnSpPr>
              <a:cxnSpLocks/>
            </p:cNvCxnSpPr>
            <p:nvPr/>
          </p:nvCxnSpPr>
          <p:spPr>
            <a:xfrm>
              <a:off x="3858210" y="8408953"/>
              <a:ext cx="1028115" cy="0"/>
            </a:xfrm>
            <a:prstGeom prst="line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28F62D11-1EDC-3B5E-6938-E659E85D4A08}"/>
                </a:ext>
              </a:extLst>
            </p:cNvPr>
            <p:cNvSpPr txBox="1"/>
            <p:nvPr/>
          </p:nvSpPr>
          <p:spPr>
            <a:xfrm>
              <a:off x="4162717" y="8394395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200DF21-890C-6DEB-B371-ACCA292FD754}"/>
              </a:ext>
            </a:extLst>
          </p:cNvPr>
          <p:cNvGrpSpPr/>
          <p:nvPr/>
        </p:nvGrpSpPr>
        <p:grpSpPr>
          <a:xfrm>
            <a:off x="6315252" y="3814125"/>
            <a:ext cx="1057860" cy="400110"/>
            <a:chOff x="5365750" y="8394120"/>
            <a:chExt cx="1057860" cy="400110"/>
          </a:xfrm>
        </p:grpSpPr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9B77D22F-E508-1932-FEA4-6AA10851B99B}"/>
                </a:ext>
              </a:extLst>
            </p:cNvPr>
            <p:cNvCxnSpPr>
              <a:cxnSpLocks/>
            </p:cNvCxnSpPr>
            <p:nvPr/>
          </p:nvCxnSpPr>
          <p:spPr>
            <a:xfrm>
              <a:off x="5365750" y="8408953"/>
              <a:ext cx="1057860" cy="0"/>
            </a:xfrm>
            <a:prstGeom prst="line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7C786C46-25AE-D240-A9A1-4FC74184902E}"/>
                </a:ext>
              </a:extLst>
            </p:cNvPr>
            <p:cNvSpPr txBox="1"/>
            <p:nvPr/>
          </p:nvSpPr>
          <p:spPr>
            <a:xfrm>
              <a:off x="5685130" y="8394120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</p:grpSp>
      <p:sp>
        <p:nvSpPr>
          <p:cNvPr id="24" name="Elipse 23">
            <a:extLst>
              <a:ext uri="{FF2B5EF4-FFF2-40B4-BE49-F238E27FC236}">
                <a16:creationId xmlns:a16="http://schemas.microsoft.com/office/drawing/2014/main" id="{8FFA2544-A474-BE89-C40C-FC4398962690}"/>
              </a:ext>
            </a:extLst>
          </p:cNvPr>
          <p:cNvSpPr>
            <a:spLocks noChangeAspect="1"/>
          </p:cNvSpPr>
          <p:nvPr/>
        </p:nvSpPr>
        <p:spPr>
          <a:xfrm>
            <a:off x="5923722" y="3409797"/>
            <a:ext cx="338556" cy="338556"/>
          </a:xfrm>
          <a:prstGeom prst="ellipse">
            <a:avLst/>
          </a:prstGeom>
          <a:noFill/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4E591F4-8BC1-6784-3035-803B78AD50F3}"/>
                  </a:ext>
                </a:extLst>
              </p:cNvPr>
              <p:cNvSpPr txBox="1"/>
              <p:nvPr/>
            </p:nvSpPr>
            <p:spPr>
              <a:xfrm>
                <a:off x="1307896" y="4193481"/>
                <a:ext cx="5143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𝐌𝐄𝐃𝐈𝐀𝐍𝐀</m:t>
                      </m:r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4E591F4-8BC1-6784-3035-803B78AD5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896" y="4193481"/>
                <a:ext cx="5143500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0521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4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4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14: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Tablas y Gráficos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30AB7010-CA22-9CE2-1155-D5B81617F324}"/>
              </a:ext>
            </a:extLst>
          </p:cNvPr>
          <p:cNvSpPr/>
          <p:nvPr/>
        </p:nvSpPr>
        <p:spPr>
          <a:xfrm>
            <a:off x="535084" y="971436"/>
            <a:ext cx="11121832" cy="44022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0A6F1C84-39BA-BF9B-680F-2ADEFB27209B}"/>
              </a:ext>
            </a:extLst>
          </p:cNvPr>
          <p:cNvSpPr txBox="1"/>
          <p:nvPr/>
        </p:nvSpPr>
        <p:spPr>
          <a:xfrm>
            <a:off x="535084" y="991492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 moda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es el dato </a:t>
            </a:r>
            <a:r>
              <a:rPr lang="es-ES" sz="2000" b="1" dirty="0"/>
              <a:t>con mayor frecuencia, es decir,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que se repite más veces</a:t>
            </a:r>
            <a:r>
              <a:rPr lang="es-ES" sz="2000" b="1" dirty="0"/>
              <a:t>.</a:t>
            </a:r>
            <a:endParaRPr lang="es-ES" sz="4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C3C192F-18E7-001D-C97B-FFD9B5B1B5AE}"/>
              </a:ext>
            </a:extLst>
          </p:cNvPr>
          <p:cNvSpPr txBox="1"/>
          <p:nvPr/>
        </p:nvSpPr>
        <p:spPr>
          <a:xfrm>
            <a:off x="535084" y="1837736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85D95A6-C925-E00B-797E-43E40B75FE1A}"/>
              </a:ext>
            </a:extLst>
          </p:cNvPr>
          <p:cNvSpPr txBox="1"/>
          <p:nvPr/>
        </p:nvSpPr>
        <p:spPr>
          <a:xfrm>
            <a:off x="1863140" y="1837736"/>
            <a:ext cx="662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Número de hermanos: 1, 3, 2, 0, 1, 3, 4, 2,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66DFF20-00D8-6B67-B03B-86752B159917}"/>
                  </a:ext>
                </a:extLst>
              </p:cNvPr>
              <p:cNvSpPr txBox="1"/>
              <p:nvPr/>
            </p:nvSpPr>
            <p:spPr>
              <a:xfrm>
                <a:off x="2996113" y="2465082"/>
                <a:ext cx="6199774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𝐌𝐄𝐃𝐈𝐀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num>
                        <m:den>
                          <m:r>
                            <a:rPr lang="es-ES" sz="2000" b="1" i="0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66DFF20-00D8-6B67-B03B-86752B159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113" y="2465082"/>
                <a:ext cx="6199774" cy="5782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4E591F4-8BC1-6784-3035-803B78AD50F3}"/>
                  </a:ext>
                </a:extLst>
              </p:cNvPr>
              <p:cNvSpPr txBox="1"/>
              <p:nvPr/>
            </p:nvSpPr>
            <p:spPr>
              <a:xfrm>
                <a:off x="1307896" y="4193481"/>
                <a:ext cx="5143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𝐌𝐄𝐃𝐈𝐀𝐍𝐀</m:t>
                      </m:r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4E591F4-8BC1-6784-3035-803B78AD5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896" y="4193481"/>
                <a:ext cx="5143500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CA187D2B-E83E-01D4-B5A8-4555E1E43721}"/>
              </a:ext>
            </a:extLst>
          </p:cNvPr>
          <p:cNvSpPr txBox="1"/>
          <p:nvPr/>
        </p:nvSpPr>
        <p:spPr>
          <a:xfrm>
            <a:off x="2781532" y="4558003"/>
            <a:ext cx="662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0  1  1  2  2  2  3  3  4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C7CFB55-39F9-8763-28E9-FDA8DCC31001}"/>
              </a:ext>
            </a:extLst>
          </p:cNvPr>
          <p:cNvGrpSpPr/>
          <p:nvPr/>
        </p:nvGrpSpPr>
        <p:grpSpPr>
          <a:xfrm>
            <a:off x="4732546" y="4952994"/>
            <a:ext cx="419100" cy="400110"/>
            <a:chOff x="3564735" y="11369482"/>
            <a:chExt cx="419100" cy="400110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713611C7-53EE-4B86-99CB-79405FEB8339}"/>
                </a:ext>
              </a:extLst>
            </p:cNvPr>
            <p:cNvCxnSpPr>
              <a:cxnSpLocks/>
            </p:cNvCxnSpPr>
            <p:nvPr/>
          </p:nvCxnSpPr>
          <p:spPr>
            <a:xfrm>
              <a:off x="3641989" y="11383538"/>
              <a:ext cx="265642" cy="0"/>
            </a:xfrm>
            <a:prstGeom prst="line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623C2CB4-2927-CDB6-DB12-279C6CDDA69F}"/>
                </a:ext>
              </a:extLst>
            </p:cNvPr>
            <p:cNvSpPr txBox="1"/>
            <p:nvPr/>
          </p:nvSpPr>
          <p:spPr>
            <a:xfrm>
              <a:off x="3564735" y="11369482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1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1A259779-2054-B99D-B6F4-11E624714578}"/>
              </a:ext>
            </a:extLst>
          </p:cNvPr>
          <p:cNvGrpSpPr/>
          <p:nvPr/>
        </p:nvGrpSpPr>
        <p:grpSpPr>
          <a:xfrm>
            <a:off x="7039183" y="4938419"/>
            <a:ext cx="419100" cy="400110"/>
            <a:chOff x="6330950" y="11354907"/>
            <a:chExt cx="419100" cy="400110"/>
          </a:xfrm>
        </p:grpSpPr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0B7B5BA0-7F2D-5902-0958-115AD25E0AD3}"/>
                </a:ext>
              </a:extLst>
            </p:cNvPr>
            <p:cNvCxnSpPr>
              <a:cxnSpLocks/>
            </p:cNvCxnSpPr>
            <p:nvPr/>
          </p:nvCxnSpPr>
          <p:spPr>
            <a:xfrm>
              <a:off x="6391275" y="11383538"/>
              <a:ext cx="298450" cy="0"/>
            </a:xfrm>
            <a:prstGeom prst="line">
              <a:avLst/>
            </a:prstGeom>
            <a:ln w="38100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D6380A20-BA8A-92D5-31E7-638F4B8F7A4E}"/>
                </a:ext>
              </a:extLst>
            </p:cNvPr>
            <p:cNvSpPr txBox="1"/>
            <p:nvPr/>
          </p:nvSpPr>
          <p:spPr>
            <a:xfrm>
              <a:off x="6330950" y="11354907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3">
                      <a:lumMod val="40000"/>
                      <a:lumOff val="60000"/>
                    </a:schemeClr>
                  </a:solidFill>
                </a:rPr>
                <a:t>1</a:t>
              </a: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3CD22FC-D7C2-67CF-2E73-2F7610460F33}"/>
              </a:ext>
            </a:extLst>
          </p:cNvPr>
          <p:cNvGrpSpPr/>
          <p:nvPr/>
        </p:nvGrpSpPr>
        <p:grpSpPr>
          <a:xfrm>
            <a:off x="6571788" y="4938419"/>
            <a:ext cx="486238" cy="400110"/>
            <a:chOff x="5705475" y="11354907"/>
            <a:chExt cx="585788" cy="400110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AFADF811-A2E1-FA4B-74EE-BC952B8E3C23}"/>
                </a:ext>
              </a:extLst>
            </p:cNvPr>
            <p:cNvCxnSpPr>
              <a:cxnSpLocks/>
            </p:cNvCxnSpPr>
            <p:nvPr/>
          </p:nvCxnSpPr>
          <p:spPr>
            <a:xfrm>
              <a:off x="5705475" y="11383538"/>
              <a:ext cx="585788" cy="0"/>
            </a:xfrm>
            <a:prstGeom prst="line">
              <a:avLst/>
            </a:prstGeom>
            <a:ln w="381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B01E7DB5-968F-A591-AD7E-8BA0737B68AD}"/>
                </a:ext>
              </a:extLst>
            </p:cNvPr>
            <p:cNvSpPr txBox="1"/>
            <p:nvPr/>
          </p:nvSpPr>
          <p:spPr>
            <a:xfrm>
              <a:off x="5788819" y="11354907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2</a:t>
              </a:r>
              <a:endParaRPr lang="es-ES" sz="2000" b="1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23B048D8-95D3-71A4-E001-AE06E028D550}"/>
              </a:ext>
            </a:extLst>
          </p:cNvPr>
          <p:cNvGrpSpPr/>
          <p:nvPr/>
        </p:nvGrpSpPr>
        <p:grpSpPr>
          <a:xfrm>
            <a:off x="5161170" y="4952994"/>
            <a:ext cx="430455" cy="400110"/>
            <a:chOff x="4046569" y="11369482"/>
            <a:chExt cx="430455" cy="400110"/>
          </a:xfrm>
        </p:grpSpPr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6DA175C1-54B6-3256-A840-09BF522FB323}"/>
                </a:ext>
              </a:extLst>
            </p:cNvPr>
            <p:cNvCxnSpPr>
              <a:cxnSpLocks/>
            </p:cNvCxnSpPr>
            <p:nvPr/>
          </p:nvCxnSpPr>
          <p:spPr>
            <a:xfrm>
              <a:off x="4046569" y="11383300"/>
              <a:ext cx="430455" cy="0"/>
            </a:xfrm>
            <a:prstGeom prst="line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3D92CC07-FBF6-CAE6-246D-28257A5E2825}"/>
                </a:ext>
              </a:extLst>
            </p:cNvPr>
            <p:cNvSpPr txBox="1"/>
            <p:nvPr/>
          </p:nvSpPr>
          <p:spPr>
            <a:xfrm>
              <a:off x="4053125" y="11369482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2</a:t>
              </a:r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E26EBFD5-61E5-C7A0-96D7-80261C0A3F0B}"/>
              </a:ext>
            </a:extLst>
          </p:cNvPr>
          <p:cNvGrpSpPr/>
          <p:nvPr/>
        </p:nvGrpSpPr>
        <p:grpSpPr>
          <a:xfrm>
            <a:off x="5717590" y="4938419"/>
            <a:ext cx="816560" cy="400110"/>
            <a:chOff x="4768850" y="11354907"/>
            <a:chExt cx="816560" cy="400110"/>
          </a:xfrm>
        </p:grpSpPr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F69BC3B4-A41A-C9C3-ACFE-8C12AB2DED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68850" y="11383300"/>
              <a:ext cx="816560" cy="238"/>
            </a:xfrm>
            <a:prstGeom prst="line">
              <a:avLst/>
            </a:prstGeom>
            <a:ln w="38100">
              <a:solidFill>
                <a:srgbClr val="9579E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C0734B11-7D0A-B407-E6C6-CC279592F60D}"/>
                </a:ext>
              </a:extLst>
            </p:cNvPr>
            <p:cNvSpPr txBox="1"/>
            <p:nvPr/>
          </p:nvSpPr>
          <p:spPr>
            <a:xfrm>
              <a:off x="4962230" y="11354907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rgbClr val="9579E3"/>
                  </a:solidFill>
                </a:rPr>
                <a:t>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BC200DF5-B92A-4A17-A61D-377D9DFC91E1}"/>
                  </a:ext>
                </a:extLst>
              </p:cNvPr>
              <p:cNvSpPr txBox="1"/>
              <p:nvPr/>
            </p:nvSpPr>
            <p:spPr>
              <a:xfrm>
                <a:off x="1278940" y="5416317"/>
                <a:ext cx="51435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𝐌𝐎𝐃𝐀</m:t>
                      </m:r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s-ES" sz="20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BC200DF5-B92A-4A17-A61D-377D9DFC9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940" y="5416317"/>
                <a:ext cx="514350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CuadroTexto 41">
            <a:extLst>
              <a:ext uri="{FF2B5EF4-FFF2-40B4-BE49-F238E27FC236}">
                <a16:creationId xmlns:a16="http://schemas.microsoft.com/office/drawing/2014/main" id="{04B8911D-06BF-BAA2-00C4-6601F040EBA6}"/>
              </a:ext>
            </a:extLst>
          </p:cNvPr>
          <p:cNvSpPr txBox="1"/>
          <p:nvPr/>
        </p:nvSpPr>
        <p:spPr>
          <a:xfrm>
            <a:off x="2782294" y="3367293"/>
            <a:ext cx="6621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0  1  1  2  2  2  3  3  4</a:t>
            </a: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4815C1C7-46B3-B6C6-4AA7-BF9BA11831B1}"/>
              </a:ext>
            </a:extLst>
          </p:cNvPr>
          <p:cNvGrpSpPr/>
          <p:nvPr/>
        </p:nvGrpSpPr>
        <p:grpSpPr>
          <a:xfrm>
            <a:off x="4807712" y="3814400"/>
            <a:ext cx="1028115" cy="400110"/>
            <a:chOff x="3858210" y="8394395"/>
            <a:chExt cx="1028115" cy="400110"/>
          </a:xfrm>
        </p:grpSpPr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22483F5D-612A-7EB9-203F-F0D150C9B61E}"/>
                </a:ext>
              </a:extLst>
            </p:cNvPr>
            <p:cNvCxnSpPr>
              <a:cxnSpLocks/>
            </p:cNvCxnSpPr>
            <p:nvPr/>
          </p:nvCxnSpPr>
          <p:spPr>
            <a:xfrm>
              <a:off x="3858210" y="8408953"/>
              <a:ext cx="1028115" cy="0"/>
            </a:xfrm>
            <a:prstGeom prst="line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C5C90271-01E1-DD20-B0FF-14273B0CDD4E}"/>
                </a:ext>
              </a:extLst>
            </p:cNvPr>
            <p:cNvSpPr txBox="1"/>
            <p:nvPr/>
          </p:nvSpPr>
          <p:spPr>
            <a:xfrm>
              <a:off x="4162717" y="8394395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</p:grpSp>
      <p:grpSp>
        <p:nvGrpSpPr>
          <p:cNvPr id="46" name="Grupo 45">
            <a:extLst>
              <a:ext uri="{FF2B5EF4-FFF2-40B4-BE49-F238E27FC236}">
                <a16:creationId xmlns:a16="http://schemas.microsoft.com/office/drawing/2014/main" id="{FE9164A6-D7DF-C9E2-9E2A-4AD31034E939}"/>
              </a:ext>
            </a:extLst>
          </p:cNvPr>
          <p:cNvGrpSpPr/>
          <p:nvPr/>
        </p:nvGrpSpPr>
        <p:grpSpPr>
          <a:xfrm>
            <a:off x="6315252" y="3814125"/>
            <a:ext cx="1057860" cy="400110"/>
            <a:chOff x="5365750" y="8394120"/>
            <a:chExt cx="1057860" cy="400110"/>
          </a:xfrm>
        </p:grpSpPr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069A4549-A4A9-C79E-692E-B8B2A673E3FA}"/>
                </a:ext>
              </a:extLst>
            </p:cNvPr>
            <p:cNvCxnSpPr>
              <a:cxnSpLocks/>
            </p:cNvCxnSpPr>
            <p:nvPr/>
          </p:nvCxnSpPr>
          <p:spPr>
            <a:xfrm>
              <a:off x="5365750" y="8408953"/>
              <a:ext cx="1057860" cy="0"/>
            </a:xfrm>
            <a:prstGeom prst="line">
              <a:avLst/>
            </a:prstGeom>
            <a:ln w="381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BDD9CA26-0193-DF64-F03B-B28613068510}"/>
                </a:ext>
              </a:extLst>
            </p:cNvPr>
            <p:cNvSpPr txBox="1"/>
            <p:nvPr/>
          </p:nvSpPr>
          <p:spPr>
            <a:xfrm>
              <a:off x="5685130" y="8394120"/>
              <a:ext cx="4191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4</a:t>
              </a:r>
            </a:p>
          </p:txBody>
        </p:sp>
      </p:grpSp>
      <p:sp>
        <p:nvSpPr>
          <p:cNvPr id="49" name="Elipse 48">
            <a:extLst>
              <a:ext uri="{FF2B5EF4-FFF2-40B4-BE49-F238E27FC236}">
                <a16:creationId xmlns:a16="http://schemas.microsoft.com/office/drawing/2014/main" id="{D06C2771-19DF-6309-6BF4-0DB87604DA61}"/>
              </a:ext>
            </a:extLst>
          </p:cNvPr>
          <p:cNvSpPr>
            <a:spLocks noChangeAspect="1"/>
          </p:cNvSpPr>
          <p:nvPr/>
        </p:nvSpPr>
        <p:spPr>
          <a:xfrm>
            <a:off x="5923722" y="3409797"/>
            <a:ext cx="338556" cy="338556"/>
          </a:xfrm>
          <a:prstGeom prst="ellipse">
            <a:avLst/>
          </a:prstGeom>
          <a:noFill/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349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3" grpId="0"/>
      <p:bldP spid="3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7296AF6-0419-490B-BCAA-BFBB802A1AF9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3. Parámetros estadístico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1 ESO\\TEMA 14- Tablas y gráfico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C5B88D2-1DE2-4CEC-8FFA-D3B89A819ED2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3665875-D9FD-4B3F-8C72-266DF68CB6FC}:2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5235ABA-8ED4-400C-B6E9-7B41B637BC80}:2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842AADD-0195-4831-A5FD-80FA472D4E7D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240</Words>
  <Application>Microsoft Office PowerPoint</Application>
  <PresentationFormat>Panorámica</PresentationFormat>
  <Paragraphs>39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Parámetros estadísticos</dc:title>
  <dc:creator>Illán Linos Souto</dc:creator>
  <cp:lastModifiedBy>Illán Linos</cp:lastModifiedBy>
  <cp:revision>58</cp:revision>
  <dcterms:created xsi:type="dcterms:W3CDTF">2024-08-18T18:48:07Z</dcterms:created>
  <dcterms:modified xsi:type="dcterms:W3CDTF">2025-11-17T11:57:25Z</dcterms:modified>
</cp:coreProperties>
</file>