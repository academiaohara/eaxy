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A7FFE9"/>
    <a:srgbClr val="DB96FF"/>
    <a:srgbClr val="FFE249"/>
    <a:srgbClr val="BCEAFA"/>
    <a:srgbClr val="B4E8FA"/>
    <a:srgbClr val="C9EEFB"/>
    <a:srgbClr val="A2E1F8"/>
    <a:srgbClr val="EF4246"/>
    <a:srgbClr val="BC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57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de proporcionalidad</a:t>
            </a:r>
            <a:r>
              <a:rPr lang="es-ES" sz="2000" b="1" dirty="0"/>
              <a:t> a la que relaciona dos valores directamente</a:t>
            </a:r>
          </a:p>
          <a:p>
            <a:r>
              <a:rPr lang="es-ES" sz="2000" b="1" dirty="0"/>
              <a:t>proporcionales.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AF0D1B50-38B6-8F54-2C95-0561C03E4969}"/>
              </a:ext>
            </a:extLst>
          </p:cNvPr>
          <p:cNvSpPr/>
          <p:nvPr/>
        </p:nvSpPr>
        <p:spPr>
          <a:xfrm>
            <a:off x="535084" y="1899154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A6211F1-5755-CF0B-7259-BA3D66A3E4A7}"/>
              </a:ext>
            </a:extLst>
          </p:cNvPr>
          <p:cNvSpPr txBox="1"/>
          <p:nvPr/>
        </p:nvSpPr>
        <p:spPr>
          <a:xfrm>
            <a:off x="535084" y="1906441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Tiene la ecuación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mx</a:t>
            </a:r>
            <a:r>
              <a:rPr lang="es-ES" sz="2000" b="1" dirty="0"/>
              <a:t>.</a:t>
            </a:r>
            <a:endParaRPr lang="es-ES" sz="4400" b="1" dirty="0"/>
          </a:p>
        </p:txBody>
      </p:sp>
      <p:sp>
        <p:nvSpPr>
          <p:cNvPr id="13" name="!Marco 10">
            <a:extLst>
              <a:ext uri="{FF2B5EF4-FFF2-40B4-BE49-F238E27FC236}">
                <a16:creationId xmlns:a16="http://schemas.microsoft.com/office/drawing/2014/main" id="{1836387B-3138-A937-7E16-9CB44D67FDBE}"/>
              </a:ext>
            </a:extLst>
          </p:cNvPr>
          <p:cNvSpPr/>
          <p:nvPr/>
        </p:nvSpPr>
        <p:spPr>
          <a:xfrm>
            <a:off x="535084" y="2434273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4F092549-B956-3805-61A5-865D637A3B9E}"/>
              </a:ext>
            </a:extLst>
          </p:cNvPr>
          <p:cNvSpPr txBox="1"/>
          <p:nvPr/>
        </p:nvSpPr>
        <p:spPr>
          <a:xfrm>
            <a:off x="535084" y="2437916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representa mediante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una recta </a:t>
            </a:r>
            <a:r>
              <a:rPr lang="es-ES" sz="2000" b="1" dirty="0"/>
              <a:t>que pasa por el punto (0, 0).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!Marco 10">
            <a:extLst>
              <a:ext uri="{FF2B5EF4-FFF2-40B4-BE49-F238E27FC236}">
                <a16:creationId xmlns:a16="http://schemas.microsoft.com/office/drawing/2014/main" id="{8532A0FF-8258-87F2-D5C4-AAB97EF5B009}"/>
              </a:ext>
            </a:extLst>
          </p:cNvPr>
          <p:cNvSpPr/>
          <p:nvPr/>
        </p:nvSpPr>
        <p:spPr>
          <a:xfrm>
            <a:off x="535084" y="296939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C16CE600-1B85-6A2E-D9A1-A40E8AC7F264}"/>
              </a:ext>
            </a:extLst>
          </p:cNvPr>
          <p:cNvSpPr txBox="1"/>
          <p:nvPr/>
        </p:nvSpPr>
        <p:spPr>
          <a:xfrm>
            <a:off x="535084" y="2969392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constante de proporcionalidad, </a:t>
            </a:r>
            <a:r>
              <a:rPr lang="es-ES" sz="2000" b="1" i="1" dirty="0"/>
              <a:t>m</a:t>
            </a:r>
            <a:r>
              <a:rPr lang="es-ES" sz="2000" b="1" dirty="0"/>
              <a:t>, puede ser positiva o negativa.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pendiente</a:t>
            </a:r>
            <a:r>
              <a:rPr lang="es-ES" sz="2000" b="1" dirty="0"/>
              <a:t> de la recta y tiene que ver con su inclinación.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D07C7F9-7428-E1C3-8100-0C248EBF13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08" t="27897" r="35052" b="27005"/>
          <a:stretch/>
        </p:blipFill>
        <p:spPr>
          <a:xfrm>
            <a:off x="3517910" y="3962622"/>
            <a:ext cx="5156180" cy="2719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BD8E87D4-390A-E7AE-2791-7CF7C77700CF}"/>
                  </a:ext>
                </a:extLst>
              </p:cNvPr>
              <p:cNvSpPr/>
              <p:nvPr/>
            </p:nvSpPr>
            <p:spPr>
              <a:xfrm>
                <a:off x="6677025" y="4006262"/>
                <a:ext cx="962025" cy="319087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rgbClr val="FFE2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BD8E87D4-390A-E7AE-2791-7CF7C7770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25" y="4006262"/>
                <a:ext cx="962025" cy="319087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14286"/>
                </a:stretch>
              </a:blipFill>
              <a:ln>
                <a:solidFill>
                  <a:srgbClr val="FFE249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ángulo: esquinas redondeadas 36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/>
              <p:nvPr/>
            </p:nvSpPr>
            <p:spPr>
              <a:xfrm>
                <a:off x="3681412" y="4321585"/>
                <a:ext cx="1014413" cy="319087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rgbClr val="DB96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ángulo: esquinas redondeadas 36">
                <a:extLst>
                  <a:ext uri="{FF2B5EF4-FFF2-40B4-BE49-F238E27FC236}">
                    <a16:creationId xmlns:a16="http://schemas.microsoft.com/office/drawing/2014/main" id="{B7800FDD-E87A-6269-0A36-BB264E650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412" y="4321585"/>
                <a:ext cx="1014413" cy="319087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16364"/>
                </a:stretch>
              </a:blipFill>
              <a:ln>
                <a:solidFill>
                  <a:srgbClr val="DB96FF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51A0E316-EBCE-CBEA-C677-623FC6B1EAD3}"/>
                  </a:ext>
                </a:extLst>
              </p:cNvPr>
              <p:cNvSpPr/>
              <p:nvPr/>
            </p:nvSpPr>
            <p:spPr>
              <a:xfrm>
                <a:off x="8320072" y="4640672"/>
                <a:ext cx="1035040" cy="554942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rgbClr val="A7FFE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51A0E316-EBCE-CBEA-C677-623FC6B1E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072" y="4640672"/>
                <a:ext cx="1035040" cy="554942"/>
              </a:xfrm>
              <a:prstGeom prst="roundRect">
                <a:avLst>
                  <a:gd name="adj" fmla="val 29710"/>
                </a:avLst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A7FFE9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2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3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325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3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8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3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8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3" grpId="0" animBg="1"/>
      <p:bldP spid="14" grpId="0"/>
      <p:bldP spid="17" grpId="0" animBg="1"/>
      <p:bldP spid="18" grpId="0"/>
      <p:bldP spid="34" grpId="0" animBg="1"/>
      <p:bldP spid="37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de proporcionalidad</a:t>
            </a:r>
            <a:r>
              <a:rPr lang="es-ES" sz="2000" b="1" dirty="0"/>
              <a:t> a la que relaciona dos valores directamente</a:t>
            </a:r>
          </a:p>
          <a:p>
            <a:r>
              <a:rPr lang="es-ES" sz="2000" b="1" dirty="0"/>
              <a:t>proporcionales.</a:t>
            </a:r>
            <a:endParaRPr lang="es-ES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4EC89F19-5836-867A-0120-90B845C33FE3}"/>
              </a:ext>
            </a:extLst>
          </p:cNvPr>
          <p:cNvSpPr txBox="1"/>
          <p:nvPr/>
        </p:nvSpPr>
        <p:spPr>
          <a:xfrm>
            <a:off x="535084" y="1899154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0" i="0" u="none" strike="noStrike" baseline="0" dirty="0"/>
              <a:t>En un parque público hay una tienda donde se alquilan patines, a 0,50 € la</a:t>
            </a:r>
          </a:p>
          <a:p>
            <a:pPr algn="l"/>
            <a:r>
              <a:rPr lang="es-ES" sz="2000" b="0" i="0" u="none" strike="noStrike" baseline="0" dirty="0"/>
              <a:t>hora; monopatines, a 1 €/h, y bicicletas, a 2 €/h.</a:t>
            </a:r>
            <a:endParaRPr lang="es-ES" sz="4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01F90C0-E573-DD58-2D7E-1961399FCEE5}"/>
              </a:ext>
            </a:extLst>
          </p:cNvPr>
          <p:cNvCxnSpPr>
            <a:cxnSpLocks/>
          </p:cNvCxnSpPr>
          <p:nvPr/>
        </p:nvCxnSpPr>
        <p:spPr>
          <a:xfrm flipV="1">
            <a:off x="975516" y="3231645"/>
            <a:ext cx="2163178" cy="216389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2E71777B-AFF3-630A-15DA-8D0608F51DF8}"/>
              </a:ext>
            </a:extLst>
          </p:cNvPr>
          <p:cNvCxnSpPr>
            <a:cxnSpLocks/>
          </p:cNvCxnSpPr>
          <p:nvPr/>
        </p:nvCxnSpPr>
        <p:spPr>
          <a:xfrm flipV="1">
            <a:off x="977896" y="3225372"/>
            <a:ext cx="1081590" cy="2160002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F4CDE961-4A8E-E8D6-993D-FE65CEEED208}"/>
              </a:ext>
            </a:extLst>
          </p:cNvPr>
          <p:cNvCxnSpPr>
            <a:cxnSpLocks/>
          </p:cNvCxnSpPr>
          <p:nvPr/>
        </p:nvCxnSpPr>
        <p:spPr>
          <a:xfrm flipV="1">
            <a:off x="984254" y="4321257"/>
            <a:ext cx="2156821" cy="1064117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4435E751-2BCE-FC32-51F7-A6163314B1C0}"/>
              </a:ext>
            </a:extLst>
          </p:cNvPr>
          <p:cNvGrpSpPr/>
          <p:nvPr/>
        </p:nvGrpSpPr>
        <p:grpSpPr>
          <a:xfrm>
            <a:off x="761018" y="3225372"/>
            <a:ext cx="2380057" cy="2509609"/>
            <a:chOff x="761018" y="3225372"/>
            <a:chExt cx="2380057" cy="2509609"/>
          </a:xfrm>
        </p:grpSpPr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4EBAAD-6E9D-4C77-F4D3-8E5BC89802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6875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01367A6-5355-CE07-7B81-C650A607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2586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2B77028-34B3-BEE7-0A3F-C3A57E1B8E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58298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9D7A27D0-2C00-D0BE-9E4F-E80EAA0195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400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05ADDD7-DE2D-A6AF-7302-8268C50C6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0972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C6AD844-66B0-663A-8349-15FEE2CD81D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5431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3BA993E-92A7-FE3E-A1B0-62C8FE6D00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1142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AFB59F3-35BD-0373-1E1F-39EC16029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36853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BDC6F6-EDFA-7E3D-95F4-C148F886BA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CC6F5CF-1BC6-D207-DBB4-738160F7A6BE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2CF43B1-EE92-14C9-5FF6-FA10C25FD9E3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81D9968-03CD-B5DA-3E5A-8C373EC536A0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DB66687-E7CB-0399-1AAE-08B76DB25A2E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5202C2-8DAC-92F7-21AA-F761F20A402F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018E73D-8192-099C-B61D-ED35BFAE49D8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C2B35A6-D6C4-FC1D-13E8-D8BA544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1198E9C-4732-AA77-4374-AD87A37C684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CFFA108-2598-F978-B07B-0F8A2AE878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453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6161D17-E503-A327-D32A-7F99C4834465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83B62E-6E08-296A-ED0F-134C6191B253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4A9EC5A-B1F6-2935-1069-203F1040CD1D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F8EBDDB-7947-54DD-99D2-39BE2732A0B3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A066F0D-62F1-F51C-87D0-F7DD7C83AB3C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357B772-C161-3ADC-5A97-AA2FC2968A5D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DFAF815-2B45-F48A-9658-30B0DD6E08F0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4B3010-E260-C4A5-D421-2CF7C3AA9803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462482-1572-3B68-6838-7647CDF147C4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4A27C-6451-406A-E65A-8A86EE76C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39834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9F87A41-5A40-48A3-930F-A2437AA5BA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55677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F3B5A1-6F04-646B-424A-3F1254744D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8841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6B4C93E-A32E-CDAC-1184-55B619751A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69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05D066BA-38C3-FD58-4ACF-EDA4D8AC01C1}"/>
                </a:ext>
              </a:extLst>
            </p:cNvPr>
            <p:cNvSpPr txBox="1"/>
            <p:nvPr/>
          </p:nvSpPr>
          <p:spPr>
            <a:xfrm>
              <a:off x="761018" y="471620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ED0880-AC79-4412-61D5-D354F658C3ED}"/>
                </a:ext>
              </a:extLst>
            </p:cNvPr>
            <p:cNvSpPr txBox="1"/>
            <p:nvPr/>
          </p:nvSpPr>
          <p:spPr>
            <a:xfrm>
              <a:off x="761994" y="423042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D0288FF-39CF-95ED-EBF2-762CCD33EFFA}"/>
                </a:ext>
              </a:extLst>
            </p:cNvPr>
            <p:cNvSpPr txBox="1"/>
            <p:nvPr/>
          </p:nvSpPr>
          <p:spPr>
            <a:xfrm>
              <a:off x="761018" y="374464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886AA09-C5A5-F190-4650-3713D4591CBB}"/>
                </a:ext>
              </a:extLst>
            </p:cNvPr>
            <p:cNvSpPr txBox="1"/>
            <p:nvPr/>
          </p:nvSpPr>
          <p:spPr>
            <a:xfrm>
              <a:off x="768162" y="325886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0CD79C2F-9DD3-40D6-C3D9-DE804BE990F9}"/>
                </a:ext>
              </a:extLst>
            </p:cNvPr>
            <p:cNvCxnSpPr/>
            <p:nvPr/>
          </p:nvCxnSpPr>
          <p:spPr>
            <a:xfrm>
              <a:off x="981075" y="3231645"/>
              <a:ext cx="0" cy="216000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2BB86BE-874F-DC55-6C3B-97B65F9F6EAD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8" name="Tabla 7">
            <a:extLst>
              <a:ext uri="{FF2B5EF4-FFF2-40B4-BE49-F238E27FC236}">
                <a16:creationId xmlns:a16="http://schemas.microsoft.com/office/drawing/2014/main" id="{C3D5E426-1226-3D80-3B5A-695523E9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954012"/>
              </p:ext>
            </p:extLst>
          </p:nvPr>
        </p:nvGraphicFramePr>
        <p:xfrm>
          <a:off x="4092014" y="3081494"/>
          <a:ext cx="5234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1,5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0,5x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79" name="Tabla 7">
            <a:extLst>
              <a:ext uri="{FF2B5EF4-FFF2-40B4-BE49-F238E27FC236}">
                <a16:creationId xmlns:a16="http://schemas.microsoft.com/office/drawing/2014/main" id="{384C5CC0-5559-8814-E3EA-986709063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3082"/>
              </p:ext>
            </p:extLst>
          </p:nvPr>
        </p:nvGraphicFramePr>
        <p:xfrm>
          <a:off x="4092014" y="4248045"/>
          <a:ext cx="5234645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graphicFrame>
        <p:nvGraphicFramePr>
          <p:cNvPr id="80" name="Tabla 7">
            <a:extLst>
              <a:ext uri="{FF2B5EF4-FFF2-40B4-BE49-F238E27FC236}">
                <a16:creationId xmlns:a16="http://schemas.microsoft.com/office/drawing/2014/main" id="{C8F56A24-F69B-ABC7-118D-5EBCCEDF9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93506"/>
              </p:ext>
            </p:extLst>
          </p:nvPr>
        </p:nvGraphicFramePr>
        <p:xfrm>
          <a:off x="4092014" y="5414596"/>
          <a:ext cx="5234645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7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2x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81" name="CuadroTexto 80">
            <a:extLst>
              <a:ext uri="{FF2B5EF4-FFF2-40B4-BE49-F238E27FC236}">
                <a16:creationId xmlns:a16="http://schemas.microsoft.com/office/drawing/2014/main" id="{51272F45-AAB7-1342-E299-A0EF66B69C39}"/>
              </a:ext>
            </a:extLst>
          </p:cNvPr>
          <p:cNvSpPr txBox="1"/>
          <p:nvPr/>
        </p:nvSpPr>
        <p:spPr>
          <a:xfrm>
            <a:off x="5896682" y="2705492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Patines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D23582C0-EED8-F151-0E79-F8E3A56C828C}"/>
              </a:ext>
            </a:extLst>
          </p:cNvPr>
          <p:cNvSpPr txBox="1"/>
          <p:nvPr/>
        </p:nvSpPr>
        <p:spPr>
          <a:xfrm>
            <a:off x="5896682" y="3871237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Monopatines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6BEDF40-C040-BAB5-D5D7-B13DA52340D5}"/>
              </a:ext>
            </a:extLst>
          </p:cNvPr>
          <p:cNvSpPr txBox="1"/>
          <p:nvPr/>
        </p:nvSpPr>
        <p:spPr>
          <a:xfrm>
            <a:off x="5896682" y="5068638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Bicicletas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ángulo: esquinas redondeadas 83">
                <a:extLst>
                  <a:ext uri="{FF2B5EF4-FFF2-40B4-BE49-F238E27FC236}">
                    <a16:creationId xmlns:a16="http://schemas.microsoft.com/office/drawing/2014/main" id="{906E488A-568D-6BA7-3515-F81A141C981D}"/>
                  </a:ext>
                </a:extLst>
              </p:cNvPr>
              <p:cNvSpPr/>
              <p:nvPr/>
            </p:nvSpPr>
            <p:spPr>
              <a:xfrm>
                <a:off x="9876304" y="5601887"/>
                <a:ext cx="96202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Rectángulo: esquinas redondeadas 83">
                <a:extLst>
                  <a:ext uri="{FF2B5EF4-FFF2-40B4-BE49-F238E27FC236}">
                    <a16:creationId xmlns:a16="http://schemas.microsoft.com/office/drawing/2014/main" id="{906E488A-568D-6BA7-3515-F81A141C9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4" y="5601887"/>
                <a:ext cx="96202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9836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ángulo: esquinas redondeadas 84">
                <a:extLst>
                  <a:ext uri="{FF2B5EF4-FFF2-40B4-BE49-F238E27FC236}">
                    <a16:creationId xmlns:a16="http://schemas.microsoft.com/office/drawing/2014/main" id="{575F385E-8AF1-6FFE-E9DB-E8E5E526EDB3}"/>
                  </a:ext>
                </a:extLst>
              </p:cNvPr>
              <p:cNvSpPr/>
              <p:nvPr/>
            </p:nvSpPr>
            <p:spPr>
              <a:xfrm>
                <a:off x="9876304" y="4415087"/>
                <a:ext cx="96202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Rectángulo: esquinas redondeadas 84">
                <a:extLst>
                  <a:ext uri="{FF2B5EF4-FFF2-40B4-BE49-F238E27FC236}">
                    <a16:creationId xmlns:a16="http://schemas.microsoft.com/office/drawing/2014/main" id="{575F385E-8AF1-6FFE-E9DB-E8E5E526E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4" y="4415087"/>
                <a:ext cx="96202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8065"/>
                </a:stretch>
              </a:blip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/>
              <p:nvPr/>
            </p:nvSpPr>
            <p:spPr>
              <a:xfrm>
                <a:off x="9876304" y="3265060"/>
                <a:ext cx="1262526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=0,5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4" y="3265060"/>
                <a:ext cx="1262526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8197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Elipse 86">
            <a:extLst>
              <a:ext uri="{FF2B5EF4-FFF2-40B4-BE49-F238E27FC236}">
                <a16:creationId xmlns:a16="http://schemas.microsoft.com/office/drawing/2014/main" id="{AE44687F-7549-5ED6-D8BD-47D8E2D0DFE3}"/>
              </a:ext>
            </a:extLst>
          </p:cNvPr>
          <p:cNvSpPr/>
          <p:nvPr/>
        </p:nvSpPr>
        <p:spPr>
          <a:xfrm>
            <a:off x="1439649" y="487749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3126302-7F59-D18F-6D63-DF4A87C0EC69}"/>
              </a:ext>
            </a:extLst>
          </p:cNvPr>
          <p:cNvSpPr/>
          <p:nvPr/>
        </p:nvSpPr>
        <p:spPr>
          <a:xfrm>
            <a:off x="1440434" y="43893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7FD3CF65-EF6D-ED73-09FE-66EDC200203C}"/>
              </a:ext>
            </a:extLst>
          </p:cNvPr>
          <p:cNvSpPr/>
          <p:nvPr/>
        </p:nvSpPr>
        <p:spPr>
          <a:xfrm>
            <a:off x="1440855" y="512248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CB2E9211-7DED-6F7F-BF41-37FD844C5581}"/>
              </a:ext>
            </a:extLst>
          </p:cNvPr>
          <p:cNvSpPr/>
          <p:nvPr/>
        </p:nvSpPr>
        <p:spPr>
          <a:xfrm>
            <a:off x="1924249" y="487511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C6C751E-1F11-19D0-8302-C5EED266912B}"/>
              </a:ext>
            </a:extLst>
          </p:cNvPr>
          <p:cNvSpPr/>
          <p:nvPr/>
        </p:nvSpPr>
        <p:spPr>
          <a:xfrm>
            <a:off x="1923703" y="438909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84DB9967-13E3-7C7E-90B5-1A4FBF406416}"/>
              </a:ext>
            </a:extLst>
          </p:cNvPr>
          <p:cNvSpPr/>
          <p:nvPr/>
        </p:nvSpPr>
        <p:spPr>
          <a:xfrm>
            <a:off x="1925144" y="3418118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C377C4C-40B4-F37F-508F-4C828EFC785D}"/>
              </a:ext>
            </a:extLst>
          </p:cNvPr>
          <p:cNvSpPr/>
          <p:nvPr/>
        </p:nvSpPr>
        <p:spPr>
          <a:xfrm>
            <a:off x="2895804" y="3416267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7CC3716-81E6-8CFD-145B-9433F1AEE391}"/>
              </a:ext>
            </a:extLst>
          </p:cNvPr>
          <p:cNvSpPr/>
          <p:nvPr/>
        </p:nvSpPr>
        <p:spPr>
          <a:xfrm>
            <a:off x="2410027" y="390831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801A5D29-5BF2-0463-1C22-75648901A85A}"/>
              </a:ext>
            </a:extLst>
          </p:cNvPr>
          <p:cNvSpPr/>
          <p:nvPr/>
        </p:nvSpPr>
        <p:spPr>
          <a:xfrm>
            <a:off x="2410838" y="463460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C3B04E7B-C68B-A16D-0DAE-25232B20AEE0}"/>
              </a:ext>
            </a:extLst>
          </p:cNvPr>
          <p:cNvSpPr/>
          <p:nvPr/>
        </p:nvSpPr>
        <p:spPr>
          <a:xfrm>
            <a:off x="2895840" y="439647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2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5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5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1" grpId="0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1A5BF17-B53A-44DD-B6A4-AE8A991C9469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1 - Fun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y=mx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9220108-29B1-4A0D-93E8-4F483794B599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02885C0-B6A2-4254-A748-78C9022C8FE3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224</Words>
  <Application>Microsoft Office PowerPoint</Application>
  <PresentationFormat>Panorámica</PresentationFormat>
  <Paragraphs>78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y=mx</dc:title>
  <dc:creator>Illán Linos Souto</dc:creator>
  <cp:lastModifiedBy>Illán Linos</cp:lastModifiedBy>
  <cp:revision>77</cp:revision>
  <dcterms:created xsi:type="dcterms:W3CDTF">2024-08-18T18:48:07Z</dcterms:created>
  <dcterms:modified xsi:type="dcterms:W3CDTF">2025-11-18T13:27:35Z</dcterms:modified>
</cp:coreProperties>
</file>