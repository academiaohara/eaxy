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21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D661E-D2DE-42A7-984B-1B078B32D3B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95CC9-B75B-4731-B74F-C62867143D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051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95CC9-B75B-4731-B74F-C62867143D4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898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95CC9-B75B-4731-B74F-C62867143D4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48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80339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9672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un aumento porcentual de un valor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multiplica dicho valor por el porcentaje y se le suma al valor inicial.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12D57B-AB97-C154-7DF1-45AA14044AE8}"/>
              </a:ext>
            </a:extLst>
          </p:cNvPr>
          <p:cNvSpPr txBox="1"/>
          <p:nvPr/>
        </p:nvSpPr>
        <p:spPr>
          <a:xfrm>
            <a:off x="535084" y="194613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u="none" strike="noStrike" baseline="0" dirty="0">
                <a:latin typeface="AGaramondPro-Italic"/>
              </a:rPr>
              <a:t>Un billete de avión a París costaba, el verano pasado, 460</a:t>
            </a:r>
            <a:r>
              <a:rPr lang="es-ES" sz="2000" b="1" dirty="0">
                <a:latin typeface="AGaramondPro-Italic"/>
              </a:rPr>
              <a:t>€</a:t>
            </a:r>
            <a:r>
              <a:rPr lang="es-ES" sz="2000" b="1" u="none" strike="noStrike" baseline="0" dirty="0">
                <a:latin typeface="AGaramondPro-Italic"/>
              </a:rPr>
              <a:t>, pero desde entonces ha subido un 20%. ¿Cuál es el precio actual del billete?</a:t>
            </a:r>
            <a:endParaRPr lang="es-E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/>
              <p:nvPr/>
            </p:nvSpPr>
            <p:spPr>
              <a:xfrm>
                <a:off x="535084" y="3279983"/>
                <a:ext cx="5560916" cy="978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𝑽𝑰𝑬𝑱𝑶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𝑨𝑼𝑴𝑬𝑵𝑻𝑶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𝑫𝑬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endParaRPr lang="es-ES" sz="2000" b="1" dirty="0">
                  <a:latin typeface="Cambia math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279983"/>
                <a:ext cx="5560916" cy="9783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/>
              <p:nvPr/>
            </p:nvSpPr>
            <p:spPr>
              <a:xfrm>
                <a:off x="535084" y="4335886"/>
                <a:ext cx="4827491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€+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𝟗𝟐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𝟓𝟓𝟐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4335886"/>
                <a:ext cx="4827491" cy="400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upo 117">
            <a:extLst>
              <a:ext uri="{FF2B5EF4-FFF2-40B4-BE49-F238E27FC236}">
                <a16:creationId xmlns:a16="http://schemas.microsoft.com/office/drawing/2014/main" id="{6CC116D5-A8E3-8D3A-FFE3-75A627ED00BA}"/>
              </a:ext>
            </a:extLst>
          </p:cNvPr>
          <p:cNvGrpSpPr/>
          <p:nvPr/>
        </p:nvGrpSpPr>
        <p:grpSpPr>
          <a:xfrm>
            <a:off x="2082828" y="2747797"/>
            <a:ext cx="8026343" cy="461665"/>
            <a:chOff x="1126530" y="6310894"/>
            <a:chExt cx="8026343" cy="461665"/>
          </a:xfrm>
        </p:grpSpPr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3B5E6712-4521-C946-DAC2-722C2FED2235}"/>
                </a:ext>
              </a:extLst>
            </p:cNvPr>
            <p:cNvSpPr txBox="1"/>
            <p:nvPr/>
          </p:nvSpPr>
          <p:spPr>
            <a:xfrm>
              <a:off x="1126530" y="6310894"/>
              <a:ext cx="80263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PRECIO NUEVO = PRECIO VIEJO + AUMENTO</a:t>
              </a:r>
              <a:endParaRPr lang="es-ES" sz="2400" b="1" dirty="0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A3268E8B-2796-070E-F5CE-88E37D5258B6}"/>
                </a:ext>
              </a:extLst>
            </p:cNvPr>
            <p:cNvSpPr/>
            <p:nvPr/>
          </p:nvSpPr>
          <p:spPr>
            <a:xfrm>
              <a:off x="1729752" y="6310894"/>
              <a:ext cx="6810375" cy="45248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46A469D8-D07D-981E-D0E7-B138208FD83B}"/>
              </a:ext>
            </a:extLst>
          </p:cNvPr>
          <p:cNvSpPr txBox="1"/>
          <p:nvPr/>
        </p:nvSpPr>
        <p:spPr>
          <a:xfrm>
            <a:off x="3190763" y="4761164"/>
            <a:ext cx="580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OTRA FORMA:</a:t>
            </a:r>
          </a:p>
        </p:txBody>
      </p: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C12EE7F-72E0-993A-772F-3797EF957C03}"/>
              </a:ext>
            </a:extLst>
          </p:cNvPr>
          <p:cNvGrpSpPr/>
          <p:nvPr/>
        </p:nvGrpSpPr>
        <p:grpSpPr>
          <a:xfrm>
            <a:off x="1865960" y="5292666"/>
            <a:ext cx="8450552" cy="523220"/>
            <a:chOff x="914424" y="10231124"/>
            <a:chExt cx="845055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/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PRECIO NUEVO = PRECIO VIEJO</a:t>
                  </a:r>
                  <a14:m>
                    <m:oMath xmlns:m="http://schemas.openxmlformats.org/officeDocument/2006/math">
                      <m:r>
                        <a:rPr lang="es-ES" sz="2400" b="1" i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</m:oMath>
                  </a14:m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(1 + AUMENTO)</a:t>
                  </a:r>
                  <a:endParaRPr lang="es-ES" sz="2400" b="1" dirty="0"/>
                </a:p>
              </p:txBody>
            </p:sp>
          </mc:Choice>
          <mc:Fallback xmlns="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F2AA0B28-9B3A-D93F-BE45-5D26638C94C9}"/>
                </a:ext>
              </a:extLst>
            </p:cNvPr>
            <p:cNvSpPr/>
            <p:nvPr/>
          </p:nvSpPr>
          <p:spPr>
            <a:xfrm>
              <a:off x="1560957" y="10231124"/>
              <a:ext cx="7157487" cy="523220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/>
              <p:nvPr/>
            </p:nvSpPr>
            <p:spPr>
              <a:xfrm>
                <a:off x="535084" y="5952445"/>
                <a:ext cx="5189894" cy="670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𝟒𝟔𝟎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𝟓𝟓𝟐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952445"/>
                <a:ext cx="5189894" cy="6706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ADC50AC4-6619-0037-1441-A9775408A50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B21C1C-4B9E-B327-467B-8C335EA3798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117" grpId="0"/>
      <p:bldP spid="121" grpId="0"/>
      <p:bldP spid="1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80339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9672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calcular una disminución porcentual de un valor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multiplica dicho valor por el porcentaje y se le resta al valor inicial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12D57B-AB97-C154-7DF1-45AA14044AE8}"/>
              </a:ext>
            </a:extLst>
          </p:cNvPr>
          <p:cNvSpPr txBox="1"/>
          <p:nvPr/>
        </p:nvSpPr>
        <p:spPr>
          <a:xfrm>
            <a:off x="535084" y="194613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Una tienda de electrodomésticos saca en oferta, con una rebaja del 15%, un televisor que antes costaba 900 €. ¿Cuánto cuesta, ahora, el televisor?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/>
              <p:nvPr/>
            </p:nvSpPr>
            <p:spPr>
              <a:xfrm>
                <a:off x="530320" y="3291545"/>
                <a:ext cx="5377421" cy="1004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𝑽𝑰𝑬𝑱𝑶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𝑹𝑬𝑩𝑨𝑱𝑨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𝑫𝑬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𝟏𝟑𝟓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endParaRPr lang="es-ES" sz="2000" b="1" dirty="0">
                  <a:latin typeface="Cambia math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2A0032F-3B92-ECAA-118B-CD260E949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0" y="3291545"/>
                <a:ext cx="5377421" cy="10048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/>
              <p:nvPr/>
            </p:nvSpPr>
            <p:spPr>
              <a:xfrm>
                <a:off x="535084" y="4335886"/>
                <a:ext cx="4960281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€−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𝟏𝟑𝟓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𝟕𝟔𝟓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17" name="CuadroTexto 116">
                <a:extLst>
                  <a:ext uri="{FF2B5EF4-FFF2-40B4-BE49-F238E27FC236}">
                    <a16:creationId xmlns:a16="http://schemas.microsoft.com/office/drawing/2014/main" id="{BBC96AEC-C344-0B87-E2F9-844B41228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4335886"/>
                <a:ext cx="4960281" cy="400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upo 117">
            <a:extLst>
              <a:ext uri="{FF2B5EF4-FFF2-40B4-BE49-F238E27FC236}">
                <a16:creationId xmlns:a16="http://schemas.microsoft.com/office/drawing/2014/main" id="{6CC116D5-A8E3-8D3A-FFE3-75A627ED00BA}"/>
              </a:ext>
            </a:extLst>
          </p:cNvPr>
          <p:cNvGrpSpPr/>
          <p:nvPr/>
        </p:nvGrpSpPr>
        <p:grpSpPr>
          <a:xfrm>
            <a:off x="2082828" y="2747797"/>
            <a:ext cx="8026343" cy="461665"/>
            <a:chOff x="1126530" y="6310894"/>
            <a:chExt cx="8026343" cy="461665"/>
          </a:xfrm>
        </p:grpSpPr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3B5E6712-4521-C946-DAC2-722C2FED2235}"/>
                </a:ext>
              </a:extLst>
            </p:cNvPr>
            <p:cNvSpPr txBox="1"/>
            <p:nvPr/>
          </p:nvSpPr>
          <p:spPr>
            <a:xfrm>
              <a:off x="1126530" y="6310894"/>
              <a:ext cx="80263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PRECIO NUEVO = PRECIO VIEJO - REBAJA</a:t>
              </a:r>
              <a:endParaRPr lang="es-ES" sz="2400" b="1" dirty="0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A3268E8B-2796-070E-F5CE-88E37D5258B6}"/>
                </a:ext>
              </a:extLst>
            </p:cNvPr>
            <p:cNvSpPr/>
            <p:nvPr/>
          </p:nvSpPr>
          <p:spPr>
            <a:xfrm>
              <a:off x="1729752" y="6310894"/>
              <a:ext cx="6810375" cy="452482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46A469D8-D07D-981E-D0E7-B138208FD83B}"/>
              </a:ext>
            </a:extLst>
          </p:cNvPr>
          <p:cNvSpPr txBox="1"/>
          <p:nvPr/>
        </p:nvSpPr>
        <p:spPr>
          <a:xfrm>
            <a:off x="3190763" y="4761164"/>
            <a:ext cx="5800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OTRA FORMA:</a:t>
            </a:r>
          </a:p>
        </p:txBody>
      </p: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C12EE7F-72E0-993A-772F-3797EF957C03}"/>
              </a:ext>
            </a:extLst>
          </p:cNvPr>
          <p:cNvGrpSpPr/>
          <p:nvPr/>
        </p:nvGrpSpPr>
        <p:grpSpPr>
          <a:xfrm>
            <a:off x="1865960" y="5292666"/>
            <a:ext cx="8450552" cy="523220"/>
            <a:chOff x="914424" y="10231124"/>
            <a:chExt cx="845055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/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PRECIO NUEVO = PRECIO VIEJO</a:t>
                  </a:r>
                  <a14:m>
                    <m:oMath xmlns:m="http://schemas.openxmlformats.org/officeDocument/2006/math">
                      <m:r>
                        <a:rPr lang="es-ES" sz="2400" b="1" i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</m:oMath>
                  </a14:m>
                  <a:r>
                    <a:rPr lang="es-ES" sz="24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(1 - REBAJA)</a:t>
                  </a:r>
                  <a:endParaRPr lang="es-ES" sz="2400" b="1" dirty="0"/>
                </a:p>
              </p:txBody>
            </p:sp>
          </mc:Choice>
          <mc:Fallback xmlns="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C3655371-5622-46C8-336C-4826F0F83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24" y="10261901"/>
                  <a:ext cx="8450552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F2AA0B28-9B3A-D93F-BE45-5D26638C94C9}"/>
                </a:ext>
              </a:extLst>
            </p:cNvPr>
            <p:cNvSpPr/>
            <p:nvPr/>
          </p:nvSpPr>
          <p:spPr>
            <a:xfrm>
              <a:off x="1560957" y="10231124"/>
              <a:ext cx="7157487" cy="523220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/>
              <p:nvPr/>
            </p:nvSpPr>
            <p:spPr>
              <a:xfrm>
                <a:off x="535084" y="5952445"/>
                <a:ext cx="5189894" cy="697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𝑷𝑹𝑬𝑪𝑰𝑶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𝑵𝑼𝑬𝑽𝑶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𝟗𝟎𝟎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s-ES" sz="20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𝟕𝟔𝟓</m:t>
                      </m:r>
                      <m:r>
                        <a:rPr lang="es-ES" sz="20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br>
                  <a:rPr lang="es-ES" sz="2000" b="1" dirty="0">
                    <a:solidFill>
                      <a:schemeClr val="accent5">
                        <a:lumMod val="75000"/>
                      </a:schemeClr>
                    </a:solidFill>
                    <a:latin typeface="Cambia math"/>
                  </a:rPr>
                </a:br>
                <a:endParaRPr lang="es-ES" sz="2000" b="1" dirty="0">
                  <a:solidFill>
                    <a:schemeClr val="accent5">
                      <a:lumMod val="75000"/>
                    </a:schemeClr>
                  </a:solidFill>
                  <a:latin typeface="Cambia math"/>
                </a:endParaRPr>
              </a:p>
            </p:txBody>
          </p:sp>
        </mc:Choice>
        <mc:Fallback xmlns="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5F7E825-5646-CC06-2CC6-5E280D946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952445"/>
                <a:ext cx="5189894" cy="6971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D8BC0E21-6812-28CE-5111-92F7C92FB38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81D79E-EDAA-0AB1-2DC1-A299A98689C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482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117" grpId="0"/>
      <p:bldP spid="121" grpId="0"/>
      <p:bldP spid="12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E864317-5388-419A-8368-205E69369A02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4. Aumentos y disminuciones porcentual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4 - Proporcionalidad y porcentaj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B1D7004-C496-4467-84CD-670F58D6B7F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F2D13BC-D34E-420C-88B6-1FA0692A2C74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255</Words>
  <Application>Microsoft Office PowerPoint</Application>
  <PresentationFormat>Panorámica</PresentationFormat>
  <Paragraphs>20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AGaramondPro-Italic</vt:lpstr>
      <vt:lpstr>Aptos</vt:lpstr>
      <vt:lpstr>Arial</vt:lpstr>
      <vt:lpstr>Cambia math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Aumentos y disminuciones porcentuales</dc:title>
  <dc:creator>Illán Linos Souto</dc:creator>
  <cp:lastModifiedBy>Illán Linos</cp:lastModifiedBy>
  <cp:revision>53</cp:revision>
  <dcterms:created xsi:type="dcterms:W3CDTF">2024-08-18T18:48:07Z</dcterms:created>
  <dcterms:modified xsi:type="dcterms:W3CDTF">2025-11-17T18:21:49Z</dcterms:modified>
</cp:coreProperties>
</file>