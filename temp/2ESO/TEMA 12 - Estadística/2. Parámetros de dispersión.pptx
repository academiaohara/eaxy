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8" r:id="rId2"/>
    <p:sldId id="260" r:id="rId3"/>
    <p:sldId id="259" r:id="rId4"/>
  </p:sldIdLst>
  <p:sldSz cx="12192000" cy="6858000"/>
  <p:notesSz cx="6858000" cy="9144000"/>
  <p:custDataLst>
    <p:tags r:id="rId6"/>
  </p:custData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CEAFA"/>
    <a:srgbClr val="B4E8FA"/>
    <a:srgbClr val="C9EEFB"/>
    <a:srgbClr val="A2E1F8"/>
    <a:srgbClr val="EF4246"/>
    <a:srgbClr val="BCC6E2"/>
    <a:srgbClr val="A5AED5"/>
    <a:srgbClr val="636EAD"/>
    <a:srgbClr val="383F6C"/>
    <a:srgbClr val="4F599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6247" autoAdjust="0"/>
  </p:normalViewPr>
  <p:slideViewPr>
    <p:cSldViewPr snapToGrid="0">
      <p:cViewPr varScale="1">
        <p:scale>
          <a:sx n="107" d="100"/>
          <a:sy n="107" d="100"/>
        </p:scale>
        <p:origin x="672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gs" Target="tags/tag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3B6DBE-1D4C-4109-B004-13A544731143}" type="datetimeFigureOut">
              <a:rPr lang="es-ES" smtClean="0"/>
              <a:t>18/11/2025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C4BF45-98EA-425E-9AC0-5A4D03F9479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45496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C4BF45-98EA-425E-9AC0-5A4D03F94793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423045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C4BF45-98EA-425E-9AC0-5A4D03F94793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379937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C4BF45-98EA-425E-9AC0-5A4D03F94793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57667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30CC69-0242-EE52-5289-975CBA271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F73D9F-B4D1-33D9-1D9E-271DC37A5E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B39749-7708-B233-4400-98CF8C501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6388BE-A95D-EE17-9576-0B1138379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3D0BC4-CBE6-D467-E4D6-D64D32A57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78896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030BAC-1FB0-491F-B603-3E5454500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D2B9C2-E0AD-3BBC-D8A3-47A4754CC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1FCF2C-2E83-F0B3-7C49-1FAAE1412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684B2A-CB3A-7102-BDD4-2F18AA9CC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8DB67A-C1BA-90FE-61D4-ECDD22E4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72848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DC9DC-72C3-F198-AFF4-787C9902F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4580639-1DFF-62A6-4B36-1388D36D2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1EF8A9-8072-80ED-8C3E-2612BB66F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F21A17-5845-AA5F-EF08-20FC40F70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DA33D3-04F5-0B1F-71C9-5784F3658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57462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A352E5-63E6-0BEF-532D-E52C8C5C1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0E9DDE-BBA1-199E-A343-07F0C4D637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1534CA-3C16-BC29-D85F-2DFF0D4AC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5BE418-589F-9F63-2F44-25C1FEC28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9955F2-ABB9-4947-BBFF-5D163FE48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C49642F-2057-D0A7-29F6-105C0BC44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30496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A2EB1B-6FEB-11D6-7747-C644CB42B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7A958E-B4E1-010E-7195-E2BBB2085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01E33A-EA12-5855-CF73-F53B369C3F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0888ACB-A13F-1F1E-6897-3B8D4972FC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F7CF691-1808-02B7-B038-046B7536E3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7277917-8322-4093-178F-A9DACEF58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4B37C16-BE58-1006-6656-85C156369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0F44860-CAA5-300E-EC8A-678764646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3863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B697BC-44BC-F6A3-3B3A-9061217A6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266EEE2-A47A-6360-2F03-FCB00E03D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C4E4590-3762-5D55-5414-FD37FCCC9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ABE1C9-EE22-D475-B974-B7FD86890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23595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5A1C9C2-287B-BFB5-6360-B6B9BF11D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2A85BED-F9C2-B7AA-F0C1-B4BBE23B3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BA57394-8137-0A52-85CD-7B5C04D76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64524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4E36CD-55FB-DE2E-9C92-ECB6F0128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189CA2-3ED8-7653-E541-3314D3E7C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234EC18-037F-C4BA-B572-E9717A54E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363633-E074-9B5A-A143-CED74E719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8EB83B-4105-2D5F-9E15-1089C67BC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634990F-A961-2D4E-817B-8363E47B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69154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DB6008-DB7C-3324-403B-7657B8176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2FD88B2-9A94-BDDB-FAF2-931DA13042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5A41C9A-1AEA-7DDD-D68F-E69F0B388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E954D82-C7F9-CAFF-7A53-9B8702713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78EE88-8582-855D-4C7A-80A0B6B1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7705F8-A957-7664-DD87-ADB5F3227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53732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58A047-3EF9-CD34-78AF-504143986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C4FC04D-A229-A68C-D470-62CFD3084A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F32C-D8D2-51BE-CEBE-3458EDBB7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1F469C-112A-DEC8-A016-1F623F919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90AE46-A55B-56FF-1006-2C0A6D79D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09212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F857533-87A5-755E-31C0-0F39BDFFA8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161402F-BC08-3B7E-9D9B-FB176E46CE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D70B13-29F6-BFB0-3110-5363018D9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110C1E-4D6E-44ED-E74C-E8B2893C7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609230-F255-4451-22E1-498837BDB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8114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A11EF0C-DF51-DDFE-8A88-2777D9AAB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2B8EC7-7A82-FD16-3D86-7F6E80B1F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CAE80F-9F6E-A95C-C6E1-E800DB8A5A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7CFB18-B5E6-AFA1-A378-83FC7C484D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426725-340B-BBCA-B44B-A0300BEA83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46405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9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12: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Estadística</a:t>
            </a:r>
          </a:p>
        </p:txBody>
      </p:sp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1"/>
            <a:ext cx="11121832" cy="722461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56258"/>
            <a:ext cx="11121832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ES" sz="2000" b="1" dirty="0"/>
              <a:t>Los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parámetros de dispersión </a:t>
            </a:r>
            <a:r>
              <a:rPr lang="es-ES" sz="2000" b="1" dirty="0"/>
              <a:t>son los parámetros que informan sobre el grado de dispersión de los datos.</a:t>
            </a:r>
            <a:endParaRPr lang="es-ES" sz="20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!Marco 10">
            <a:extLst>
              <a:ext uri="{FF2B5EF4-FFF2-40B4-BE49-F238E27FC236}">
                <a16:creationId xmlns:a16="http://schemas.microsoft.com/office/drawing/2014/main" id="{0533A7E1-D34E-8A10-771E-5178A0F43F4E}"/>
              </a:ext>
            </a:extLst>
          </p:cNvPr>
          <p:cNvSpPr/>
          <p:nvPr/>
        </p:nvSpPr>
        <p:spPr>
          <a:xfrm>
            <a:off x="535084" y="1899154"/>
            <a:ext cx="11121832" cy="722461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0" name="!CuadroTexto 1">
            <a:extLst>
              <a:ext uri="{FF2B5EF4-FFF2-40B4-BE49-F238E27FC236}">
                <a16:creationId xmlns:a16="http://schemas.microsoft.com/office/drawing/2014/main" id="{332B227D-DAD5-7B25-8684-DBA1C11708B7}"/>
              </a:ext>
            </a:extLst>
          </p:cNvPr>
          <p:cNvSpPr txBox="1"/>
          <p:nvPr/>
        </p:nvSpPr>
        <p:spPr>
          <a:xfrm>
            <a:off x="535084" y="1906441"/>
            <a:ext cx="11121832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ES" sz="2000" b="1" dirty="0"/>
              <a:t>El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recorrido</a:t>
            </a:r>
            <a:r>
              <a:rPr lang="es-ES" sz="2000" b="1" dirty="0"/>
              <a:t> de una distribución es la diferencia entre los valores extremos:</a:t>
            </a:r>
          </a:p>
          <a:p>
            <a:pPr algn="ctr"/>
            <a:r>
              <a:rPr lang="es-ES" sz="2000" b="1" dirty="0"/>
              <a:t>RECORRIDO = valor mayor – valor menor</a:t>
            </a:r>
            <a:endParaRPr lang="es-ES" sz="24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3" name="!Marco 10">
            <a:extLst>
              <a:ext uri="{FF2B5EF4-FFF2-40B4-BE49-F238E27FC236}">
                <a16:creationId xmlns:a16="http://schemas.microsoft.com/office/drawing/2014/main" id="{E486039A-43CB-FC1D-1552-8694A15D2F9D}"/>
              </a:ext>
            </a:extLst>
          </p:cNvPr>
          <p:cNvSpPr/>
          <p:nvPr/>
        </p:nvSpPr>
        <p:spPr>
          <a:xfrm>
            <a:off x="535084" y="2786681"/>
            <a:ext cx="11121832" cy="722461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4" name="!CuadroTexto 1">
            <a:extLst>
              <a:ext uri="{FF2B5EF4-FFF2-40B4-BE49-F238E27FC236}">
                <a16:creationId xmlns:a16="http://schemas.microsoft.com/office/drawing/2014/main" id="{EA55E11E-BDB8-D7B6-B83B-536829D07D99}"/>
              </a:ext>
            </a:extLst>
          </p:cNvPr>
          <p:cNvSpPr txBox="1"/>
          <p:nvPr/>
        </p:nvSpPr>
        <p:spPr>
          <a:xfrm>
            <a:off x="535084" y="2793968"/>
            <a:ext cx="11121832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ES" sz="2000" b="1" dirty="0"/>
              <a:t>La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desviación media</a:t>
            </a:r>
            <a:r>
              <a:rPr lang="es-ES" sz="2000" b="1" dirty="0"/>
              <a:t>, DM, de una distribución es un parámetro asociado a su media: es el promedio de las distancias a la media de los valores de todos los individuos.</a:t>
            </a:r>
            <a:endParaRPr lang="es-ES" sz="28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243159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4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5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4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4" grpId="0"/>
      <p:bldP spid="7" grpId="0" animBg="1"/>
      <p:bldP spid="10" grpId="0"/>
      <p:bldP spid="13" grpId="0" animBg="1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12: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Estadística</a:t>
            </a:r>
          </a:p>
        </p:txBody>
      </p:sp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1"/>
            <a:ext cx="11121832" cy="722461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56258"/>
            <a:ext cx="11121832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ES" sz="2000" b="1" dirty="0"/>
              <a:t>Los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parámetros de dispersión </a:t>
            </a:r>
            <a:r>
              <a:rPr lang="es-ES" sz="2000" b="1" dirty="0"/>
              <a:t>son los parámetros que informan sobre el grado de dispersión de los datos.</a:t>
            </a:r>
            <a:endParaRPr lang="es-ES" sz="20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!!Marco 2">
            <a:extLst>
              <a:ext uri="{FF2B5EF4-FFF2-40B4-BE49-F238E27FC236}">
                <a16:creationId xmlns:a16="http://schemas.microsoft.com/office/drawing/2014/main" id="{0533A7E1-D34E-8A10-771E-5178A0F43F4E}"/>
              </a:ext>
            </a:extLst>
          </p:cNvPr>
          <p:cNvSpPr/>
          <p:nvPr/>
        </p:nvSpPr>
        <p:spPr>
          <a:xfrm>
            <a:off x="535084" y="1899154"/>
            <a:ext cx="11121832" cy="722461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0" name="!CuadroTexto 1">
            <a:extLst>
              <a:ext uri="{FF2B5EF4-FFF2-40B4-BE49-F238E27FC236}">
                <a16:creationId xmlns:a16="http://schemas.microsoft.com/office/drawing/2014/main" id="{332B227D-DAD5-7B25-8684-DBA1C11708B7}"/>
              </a:ext>
            </a:extLst>
          </p:cNvPr>
          <p:cNvSpPr txBox="1"/>
          <p:nvPr/>
        </p:nvSpPr>
        <p:spPr>
          <a:xfrm>
            <a:off x="535084" y="1906441"/>
            <a:ext cx="11121832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ES" sz="2000" b="1" dirty="0"/>
              <a:t>El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recorrido</a:t>
            </a:r>
            <a:r>
              <a:rPr lang="es-ES" sz="2000" b="1" dirty="0"/>
              <a:t> de una distribución es la diferencia entre los valores extremos:</a:t>
            </a:r>
          </a:p>
          <a:p>
            <a:pPr algn="ctr"/>
            <a:r>
              <a:rPr lang="es-ES" sz="2000" b="1" dirty="0"/>
              <a:t>RECORRIDO = valor mayor – valor menor</a:t>
            </a:r>
            <a:endParaRPr lang="es-ES" sz="24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3" name="!!Marco 1">
            <a:extLst>
              <a:ext uri="{FF2B5EF4-FFF2-40B4-BE49-F238E27FC236}">
                <a16:creationId xmlns:a16="http://schemas.microsoft.com/office/drawing/2014/main" id="{E486039A-43CB-FC1D-1552-8694A15D2F9D}"/>
              </a:ext>
            </a:extLst>
          </p:cNvPr>
          <p:cNvSpPr/>
          <p:nvPr/>
        </p:nvSpPr>
        <p:spPr>
          <a:xfrm>
            <a:off x="535084" y="2786681"/>
            <a:ext cx="11121832" cy="722461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4" name="!!CuadroTexto 1">
            <a:extLst>
              <a:ext uri="{FF2B5EF4-FFF2-40B4-BE49-F238E27FC236}">
                <a16:creationId xmlns:a16="http://schemas.microsoft.com/office/drawing/2014/main" id="{EA55E11E-BDB8-D7B6-B83B-536829D07D99}"/>
              </a:ext>
            </a:extLst>
          </p:cNvPr>
          <p:cNvSpPr txBox="1"/>
          <p:nvPr/>
        </p:nvSpPr>
        <p:spPr>
          <a:xfrm>
            <a:off x="535084" y="2793968"/>
            <a:ext cx="11121832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ES" sz="2000" b="1" dirty="0"/>
              <a:t>La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desviación media</a:t>
            </a:r>
            <a:r>
              <a:rPr lang="es-ES" sz="2000" b="1" dirty="0"/>
              <a:t>, DM, de una distribución es un parámetro asociado a su media: es el promedio de las distancias a la media de los valores de todos los individuos.</a:t>
            </a:r>
            <a:endParaRPr lang="es-ES" sz="28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25384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12: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Estadística</a:t>
            </a:r>
          </a:p>
        </p:txBody>
      </p:sp>
      <p:sp>
        <p:nvSpPr>
          <p:cNvPr id="7" name="!!Marco 2">
            <a:extLst>
              <a:ext uri="{FF2B5EF4-FFF2-40B4-BE49-F238E27FC236}">
                <a16:creationId xmlns:a16="http://schemas.microsoft.com/office/drawing/2014/main" id="{0533A7E1-D34E-8A10-771E-5178A0F43F4E}"/>
              </a:ext>
            </a:extLst>
          </p:cNvPr>
          <p:cNvSpPr/>
          <p:nvPr/>
        </p:nvSpPr>
        <p:spPr>
          <a:xfrm>
            <a:off x="535084" y="1041904"/>
            <a:ext cx="11121832" cy="722461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0" name="!CuadroTexto 1">
            <a:extLst>
              <a:ext uri="{FF2B5EF4-FFF2-40B4-BE49-F238E27FC236}">
                <a16:creationId xmlns:a16="http://schemas.microsoft.com/office/drawing/2014/main" id="{332B227D-DAD5-7B25-8684-DBA1C11708B7}"/>
              </a:ext>
            </a:extLst>
          </p:cNvPr>
          <p:cNvSpPr txBox="1"/>
          <p:nvPr/>
        </p:nvSpPr>
        <p:spPr>
          <a:xfrm>
            <a:off x="535084" y="1049191"/>
            <a:ext cx="11121832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ES" sz="2000" b="1" dirty="0"/>
              <a:t>El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recorrido</a:t>
            </a:r>
            <a:r>
              <a:rPr lang="es-ES" sz="2000" b="1" dirty="0"/>
              <a:t> de una distribución es la diferencia entre los valores extremos:</a:t>
            </a:r>
          </a:p>
          <a:p>
            <a:pPr algn="ctr"/>
            <a:r>
              <a:rPr lang="es-ES" sz="2000" b="1" dirty="0"/>
              <a:t>RECORRIDO = valor mayor – valor menor</a:t>
            </a:r>
            <a:endParaRPr lang="es-ES" sz="24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3" name="!!Marco 1">
            <a:extLst>
              <a:ext uri="{FF2B5EF4-FFF2-40B4-BE49-F238E27FC236}">
                <a16:creationId xmlns:a16="http://schemas.microsoft.com/office/drawing/2014/main" id="{E486039A-43CB-FC1D-1552-8694A15D2F9D}"/>
              </a:ext>
            </a:extLst>
          </p:cNvPr>
          <p:cNvSpPr/>
          <p:nvPr/>
        </p:nvSpPr>
        <p:spPr>
          <a:xfrm>
            <a:off x="535084" y="1929431"/>
            <a:ext cx="11121832" cy="722461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4" name="!!CuadroTexto 1">
            <a:extLst>
              <a:ext uri="{FF2B5EF4-FFF2-40B4-BE49-F238E27FC236}">
                <a16:creationId xmlns:a16="http://schemas.microsoft.com/office/drawing/2014/main" id="{EA55E11E-BDB8-D7B6-B83B-536829D07D99}"/>
              </a:ext>
            </a:extLst>
          </p:cNvPr>
          <p:cNvSpPr txBox="1"/>
          <p:nvPr/>
        </p:nvSpPr>
        <p:spPr>
          <a:xfrm>
            <a:off x="535084" y="1936718"/>
            <a:ext cx="11121832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ES" sz="2000" b="1" dirty="0"/>
              <a:t>La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desviación media</a:t>
            </a:r>
            <a:r>
              <a:rPr lang="es-ES" sz="2000" b="1" dirty="0"/>
              <a:t>, DM, de una distribución es un parámetro asociado a su media: es el promedio de las distancias a la media de los valores de todos los individuos.</a:t>
            </a:r>
            <a:endParaRPr lang="es-ES" sz="28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74D4F040-E616-0DE8-92CE-EEA60670DE71}"/>
              </a:ext>
            </a:extLst>
          </p:cNvPr>
          <p:cNvSpPr txBox="1"/>
          <p:nvPr/>
        </p:nvSpPr>
        <p:spPr>
          <a:xfrm>
            <a:off x="535084" y="2816958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EJEMPLO: </a:t>
            </a:r>
            <a:r>
              <a:rPr lang="es-ES" sz="2000" b="0" i="0" u="none" strike="noStrike" baseline="0" dirty="0"/>
              <a:t>Edades de varios chicos y chicas: 12, 15, 13, 12, 16, 10, 11, 12, 10, 11, 12, 9.</a:t>
            </a:r>
            <a:r>
              <a:rPr lang="es-ES" sz="2000" b="0" i="0" u="none" strike="noStrike" dirty="0"/>
              <a:t> </a:t>
            </a:r>
          </a:p>
          <a:p>
            <a:pPr algn="l"/>
            <a:r>
              <a:rPr lang="es-ES" sz="2000" b="0" i="0" u="none" strike="noStrike" baseline="0" dirty="0"/>
              <a:t>Calcula el recorrido y su desviación media.</a:t>
            </a:r>
            <a:endParaRPr lang="es-ES" sz="20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39051158-1FF3-06CB-3230-368920E55EB4}"/>
                  </a:ext>
                </a:extLst>
              </p:cNvPr>
              <p:cNvSpPr txBox="1"/>
              <p:nvPr/>
            </p:nvSpPr>
            <p:spPr>
              <a:xfrm>
                <a:off x="567690" y="3634277"/>
                <a:ext cx="316382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ES" sz="2000" b="0" i="1" smtClean="0">
                        <a:latin typeface="Cambria Math" panose="02040503050406030204" pitchFamily="18" charset="0"/>
                      </a:rPr>
                      <m:t>𝑅𝐸𝐶𝑂𝑅𝑅𝐼𝐷𝑂</m:t>
                    </m:r>
                    <m:r>
                      <a:rPr lang="es-ES" sz="2000" b="0" i="1" smtClean="0">
                        <a:latin typeface="Cambria Math" panose="02040503050406030204" pitchFamily="18" charset="0"/>
                      </a:rPr>
                      <m:t>=16−9=7</m:t>
                    </m:r>
                  </m:oMath>
                </a14:m>
                <a:r>
                  <a:rPr lang="es-ES" sz="2000" dirty="0"/>
                  <a:t> </a:t>
                </a:r>
              </a:p>
            </p:txBody>
          </p:sp>
        </mc:Choice>
        <mc:Fallback xmlns="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39051158-1FF3-06CB-3230-368920E55E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690" y="3634277"/>
                <a:ext cx="3163824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CB1E0973-92B4-26D7-0C53-5856E788501B}"/>
                  </a:ext>
                </a:extLst>
              </p:cNvPr>
              <p:cNvSpPr txBox="1"/>
              <p:nvPr/>
            </p:nvSpPr>
            <p:spPr>
              <a:xfrm>
                <a:off x="1618869" y="4155356"/>
                <a:ext cx="8954262" cy="6165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s-E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12+15+13+12+16+10+11+12+10+11+13+9</m:t>
                          </m:r>
                        </m:num>
                        <m:den>
                          <m: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  <m:r>
                        <a:rPr lang="es-E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144</m:t>
                          </m:r>
                        </m:num>
                        <m:den>
                          <m: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  <m:r>
                        <a:rPr lang="es-E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=12 </m:t>
                      </m:r>
                    </m:oMath>
                  </m:oMathPara>
                </a14:m>
                <a:endParaRPr lang="es-ES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CB1E0973-92B4-26D7-0C53-5856E78850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8869" y="4155356"/>
                <a:ext cx="8954262" cy="61651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5" name="Tabla 7">
            <a:extLst>
              <a:ext uri="{FF2B5EF4-FFF2-40B4-BE49-F238E27FC236}">
                <a16:creationId xmlns:a16="http://schemas.microsoft.com/office/drawing/2014/main" id="{99718316-E5E7-7C3F-BA8E-BD7CD438DA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9199202"/>
              </p:ext>
            </p:extLst>
          </p:nvPr>
        </p:nvGraphicFramePr>
        <p:xfrm>
          <a:off x="2934542" y="4940465"/>
          <a:ext cx="6322916" cy="933063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1330292">
                  <a:extLst>
                    <a:ext uri="{9D8B030D-6E8A-4147-A177-3AD203B41FA5}">
                      <a16:colId xmlns:a16="http://schemas.microsoft.com/office/drawing/2014/main" val="1661500128"/>
                    </a:ext>
                  </a:extLst>
                </a:gridCol>
                <a:gridCol w="483108">
                  <a:extLst>
                    <a:ext uri="{9D8B030D-6E8A-4147-A177-3AD203B41FA5}">
                      <a16:colId xmlns:a16="http://schemas.microsoft.com/office/drawing/2014/main" val="2421302338"/>
                    </a:ext>
                  </a:extLst>
                </a:gridCol>
                <a:gridCol w="409956">
                  <a:extLst>
                    <a:ext uri="{9D8B030D-6E8A-4147-A177-3AD203B41FA5}">
                      <a16:colId xmlns:a16="http://schemas.microsoft.com/office/drawing/2014/main" val="2046009987"/>
                    </a:ext>
                  </a:extLst>
                </a:gridCol>
                <a:gridCol w="409956">
                  <a:extLst>
                    <a:ext uri="{9D8B030D-6E8A-4147-A177-3AD203B41FA5}">
                      <a16:colId xmlns:a16="http://schemas.microsoft.com/office/drawing/2014/main" val="627110018"/>
                    </a:ext>
                  </a:extLst>
                </a:gridCol>
                <a:gridCol w="409956">
                  <a:extLst>
                    <a:ext uri="{9D8B030D-6E8A-4147-A177-3AD203B41FA5}">
                      <a16:colId xmlns:a16="http://schemas.microsoft.com/office/drawing/2014/main" val="1204674673"/>
                    </a:ext>
                  </a:extLst>
                </a:gridCol>
                <a:gridCol w="409956">
                  <a:extLst>
                    <a:ext uri="{9D8B030D-6E8A-4147-A177-3AD203B41FA5}">
                      <a16:colId xmlns:a16="http://schemas.microsoft.com/office/drawing/2014/main" val="831989817"/>
                    </a:ext>
                  </a:extLst>
                </a:gridCol>
                <a:gridCol w="409956">
                  <a:extLst>
                    <a:ext uri="{9D8B030D-6E8A-4147-A177-3AD203B41FA5}">
                      <a16:colId xmlns:a16="http://schemas.microsoft.com/office/drawing/2014/main" val="545246935"/>
                    </a:ext>
                  </a:extLst>
                </a:gridCol>
                <a:gridCol w="409956">
                  <a:extLst>
                    <a:ext uri="{9D8B030D-6E8A-4147-A177-3AD203B41FA5}">
                      <a16:colId xmlns:a16="http://schemas.microsoft.com/office/drawing/2014/main" val="1046788839"/>
                    </a:ext>
                  </a:extLst>
                </a:gridCol>
                <a:gridCol w="409956">
                  <a:extLst>
                    <a:ext uri="{9D8B030D-6E8A-4147-A177-3AD203B41FA5}">
                      <a16:colId xmlns:a16="http://schemas.microsoft.com/office/drawing/2014/main" val="4224894685"/>
                    </a:ext>
                  </a:extLst>
                </a:gridCol>
                <a:gridCol w="409956">
                  <a:extLst>
                    <a:ext uri="{9D8B030D-6E8A-4147-A177-3AD203B41FA5}">
                      <a16:colId xmlns:a16="http://schemas.microsoft.com/office/drawing/2014/main" val="3895749249"/>
                    </a:ext>
                  </a:extLst>
                </a:gridCol>
                <a:gridCol w="409956">
                  <a:extLst>
                    <a:ext uri="{9D8B030D-6E8A-4147-A177-3AD203B41FA5}">
                      <a16:colId xmlns:a16="http://schemas.microsoft.com/office/drawing/2014/main" val="4235009403"/>
                    </a:ext>
                  </a:extLst>
                </a:gridCol>
                <a:gridCol w="409956">
                  <a:extLst>
                    <a:ext uri="{9D8B030D-6E8A-4147-A177-3AD203B41FA5}">
                      <a16:colId xmlns:a16="http://schemas.microsoft.com/office/drawing/2014/main" val="454470447"/>
                    </a:ext>
                  </a:extLst>
                </a:gridCol>
                <a:gridCol w="409956">
                  <a:extLst>
                    <a:ext uri="{9D8B030D-6E8A-4147-A177-3AD203B41FA5}">
                      <a16:colId xmlns:a16="http://schemas.microsoft.com/office/drawing/2014/main" val="945257757"/>
                    </a:ext>
                  </a:extLst>
                </a:gridCol>
              </a:tblGrid>
              <a:tr h="353943">
                <a:tc>
                  <a:txBody>
                    <a:bodyPr/>
                    <a:lstStyle/>
                    <a:p>
                      <a:pPr algn="ctr"/>
                      <a:r>
                        <a:rPr lang="es-ES" sz="1600" b="1" dirty="0"/>
                        <a:t>EDADES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0" dirty="0"/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0" dirty="0"/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0" dirty="0"/>
                        <a:t>13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0" dirty="0"/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0" dirty="0"/>
                        <a:t>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0" dirty="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0" dirty="0"/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0" dirty="0"/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0" dirty="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0" dirty="0"/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0" dirty="0"/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0" dirty="0"/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3452666"/>
                  </a:ext>
                </a:extLst>
              </a:tr>
              <a:tr h="231083">
                <a:tc>
                  <a:txBody>
                    <a:bodyPr/>
                    <a:lstStyle/>
                    <a:p>
                      <a:pPr algn="ctr"/>
                      <a:r>
                        <a:rPr lang="es-ES" sz="1600" b="1" dirty="0"/>
                        <a:t>DISTANCIA A LA MEDIA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544048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36EEF663-165F-5C86-9DBC-22DEFF741C3F}"/>
                  </a:ext>
                </a:extLst>
              </p:cNvPr>
              <p:cNvSpPr txBox="1"/>
              <p:nvPr/>
            </p:nvSpPr>
            <p:spPr>
              <a:xfrm>
                <a:off x="2149602" y="6035498"/>
                <a:ext cx="7892796" cy="6109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𝐷𝑀</m:t>
                      </m:r>
                      <m:r>
                        <a:rPr lang="es-E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0+3+1+0+4+2+1+0+2+1+0+3</m:t>
                          </m:r>
                        </m:num>
                        <m:den>
                          <m: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  <m:r>
                        <a:rPr lang="es-E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17</m:t>
                          </m:r>
                        </m:num>
                        <m:den>
                          <m: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  <m:r>
                        <a:rPr lang="es-E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=12</m:t>
                      </m:r>
                    </m:oMath>
                  </m:oMathPara>
                </a14:m>
                <a:endParaRPr lang="es-ES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36EEF663-165F-5C86-9DBC-22DEFF741C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9602" y="6035498"/>
                <a:ext cx="7892796" cy="61093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2765039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uiExpand="1" build="p"/>
      <p:bldP spid="18" grpId="0"/>
      <p:bldP spid="19" grpId="0"/>
      <p:bldP spid="3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LMS_API_VERSION" val="SCORM 2004 (4th edition)"/>
  <p:tag name="ISPRING_ULTRA_SCORM_COURSE_ID" val="EBDD5FC8-69E1-42B2-97D9-40C5AF177753"/>
  <p:tag name="ISPRING_CMI5_LAUNCH_METHOD" val="any window"/>
  <p:tag name="ISPRING_SCORM_ENDPOINT" val="&lt;endpoint&gt;&lt;enable&gt;0&lt;/enable&gt;&lt;lrs&gt;https://&lt;/lrs&gt;&lt;auth&gt;0&lt;/auth&gt;&lt;login&gt;&lt;/login&gt;&lt;password&gt;&lt;/password&gt;&lt;key&gt;&lt;/key&gt;&lt;name&gt;&lt;/name&gt;&lt;email&gt;&lt;/email&gt;&lt;/endpoint&gt;&#10;"/>
  <p:tag name="ISPRING_SCORM_RATE_SLIDES" val="1"/>
  <p:tag name="ISPRINGCLOUDFOLDERID" val="1"/>
  <p:tag name="ISPRINGONLINEFOLDERID" val="1"/>
  <p:tag name="ISPRING_OUTPUT_FOLDER" val="[[&quot;\uFFFD\/\uFFFD\uFFFD{21D528DD-60A0-4F5B-BB24-A0E5BDBD4B43}&quot;,&quot;C:\\Users\\34717\\Desktop\\Apuntes\\2 ESO\\TEMA 12 - Estadística&quot;]]"/>
  <p:tag name="ISPRING_PUBLISH_SETTINGS" val="{&quot;commonSettings&quot;:{&quot;webSettings&quot;:{&quot;useMobileViewer&quot;:&quot;T_FALSE&quot;},&quot;lmsSettings&quot;:{&quot;useMobileViewer&quot;:&quot;T_FALSE&quot;},&quot;cloudSettings&quot;:{&quot;useMobileViewer&quot;:&quot;T_FALSE&quot;},&quot;ispringLmsSettings&quot;:{&quot;useMobileViewer&quot;:&quot;T_FALSE&quot;},&quot;playerId&quot;:&quot;free&quot;,&quot;studioSettings&quot;:{&quot;useMobileViewer&quot;:&quot;T_FALSE&quot;}},&quot;advancedSettings&quot;:{&quot;enableTextAllocation&quot;:&quot;T_TRUE&quot;,&quot;viewingFromLocalDrive&quot;:&quot;T_TRUE&quot;,&quot;contentScale&quot;:75,&quot;contentScaleMode&quot;:&quot;FIT_TO_WINDOW&quot;},&quot;accessibilitySettings&quot;:{&quot;enabled&quot;:&quot;T_FALSE&quot;},&quot;compressionSettings&quot;:{&quot;imageSettings&quot;:{&quot;jpegQuality&quot;:70,&quot;optimizeImageForResolution&quot;:&quot;T_FALSE&quot;},&quot;audioQuality&quot;:70,&quot;videoQuality&quot;:65},&quot;protectionSettings&quot;:{&quot;watermarkEnabled&quot;:&quot;T_FALSE&quot;,&quot;watermarkPosition&quot;:&quot;MIDDLE_CENTER&quot;,&quot;openWatermarkUrl&quot;:&quot;T_FALSE&quot;,&quot;openWatermarkWebPageInNewWindow&quot;:&quot;T_FALSE&quot;,&quot;displayAfterEnabled&quot;:&quot;T_FALSE&quot;,&quot;displayUntilEnabled&quot;:&quot;T_FALSE&quot;,&quot;domainRestrictionEnabled&quot;:&quot;T_FALSE&quot;,&quot;enablePassword&quot;:&quot;T_FALSE&quot;},&quot;videoSettings&quot;:{&quot;videoCompressionSettings&quot;:{&quot;audioQuality&quot;:70,&quot;videoQuality&quot;:75},&quot;secondsOnEachSlide&quot;:5,&quot;hostingSettings&quot;:{}},&quot;ispringOnlineSettings&quot;:{&quot;onlineDestinationFolderId&quot;:&quot;1&quot;},&quot;cloudSettings&quot;:{&quot;onlineDestinationFolderId&quot;:&quot;1&quot;},&quot;wordSettings&quot;:{&quot;printCopies&quot;:1},&quot;studioSettings&quot;:{&quot;onlineDestinationFolderId&quot;:&quot;1&quot;,&quot;uploadSources&quot;:true}}"/>
  <p:tag name="ISPRING_SCORM_RATE_QUIZZES" val="0"/>
  <p:tag name="ISPRING_SCORM_PASSING_SCORE" val="100.000000"/>
  <p:tag name="ISPRING_PRESENTATION_TITLE" val="2. Parámetros de dispersión"/>
  <p:tag name="ISPRING_FIRST_PUBLISH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E53FE9CB-1CA8-4EBE-92A3-7FF5C713FE99}:25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C6FEB947-9FB5-421A-8514-4C2440259DD1}:26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42D66828-AD61-46BC-9C90-2354BDFCE8A4}:259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ersonalizado 1">
      <a:majorFont>
        <a:latin typeface="SF Fedora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769</TotalTime>
  <Words>302</Words>
  <Application>Microsoft Office PowerPoint</Application>
  <PresentationFormat>Panorámica</PresentationFormat>
  <Paragraphs>48</Paragraphs>
  <Slides>3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9" baseType="lpstr">
      <vt:lpstr>Aptos</vt:lpstr>
      <vt:lpstr>Arial</vt:lpstr>
      <vt:lpstr>Cambria Math</vt:lpstr>
      <vt:lpstr>Century Gothic</vt:lpstr>
      <vt:lpstr>SF Fedora</vt:lpstr>
      <vt:lpstr>Tema de Office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 Parámetros de dispersión</dc:title>
  <dc:creator>Illán Linos Souto</dc:creator>
  <cp:lastModifiedBy>Illán Linos</cp:lastModifiedBy>
  <cp:revision>75</cp:revision>
  <dcterms:created xsi:type="dcterms:W3CDTF">2024-08-18T18:48:07Z</dcterms:created>
  <dcterms:modified xsi:type="dcterms:W3CDTF">2025-11-18T13:38:07Z</dcterms:modified>
</cp:coreProperties>
</file>