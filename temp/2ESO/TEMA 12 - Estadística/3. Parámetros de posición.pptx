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BCEAFA"/>
    <a:srgbClr val="B4E8FA"/>
    <a:srgbClr val="C9EEFB"/>
    <a:srgbClr val="A2E1F8"/>
    <a:srgbClr val="BCC6E2"/>
    <a:srgbClr val="A5AED5"/>
    <a:srgbClr val="636EAD"/>
    <a:srgbClr val="383F6C"/>
    <a:srgbClr val="4F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Estadística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Al igual que la mediana parte un rango de datos en 2 mitades, también podemos dividirla en 4 partes mediante los llamados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cuartiles</a:t>
            </a:r>
            <a:r>
              <a:rPr lang="es-ES" sz="2000" b="1" dirty="0"/>
              <a:t> (Q1, Q2 = Me, Q3).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92E483-8DD3-8EB1-C3DE-98A490C59B28}"/>
              </a:ext>
            </a:extLst>
          </p:cNvPr>
          <p:cNvSpPr txBox="1"/>
          <p:nvPr/>
        </p:nvSpPr>
        <p:spPr>
          <a:xfrm>
            <a:off x="832104" y="2027767"/>
            <a:ext cx="83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Q</a:t>
            </a:r>
            <a:r>
              <a:rPr lang="es-ES" sz="2000" baseline="-25000" dirty="0"/>
              <a:t>1</a:t>
            </a:r>
            <a:r>
              <a:rPr lang="es-ES" sz="2000" dirty="0"/>
              <a:t>: Cuartil inferior. Entre 0 y Q</a:t>
            </a:r>
            <a:r>
              <a:rPr lang="es-ES" sz="2000" baseline="-25000" dirty="0"/>
              <a:t>1</a:t>
            </a:r>
            <a:r>
              <a:rPr lang="es-ES" sz="2000" dirty="0"/>
              <a:t> está un 25% de la muestra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15B0F7-D3C3-A934-2A82-48D00C5D5EA6}"/>
              </a:ext>
            </a:extLst>
          </p:cNvPr>
          <p:cNvSpPr txBox="1"/>
          <p:nvPr/>
        </p:nvSpPr>
        <p:spPr>
          <a:xfrm>
            <a:off x="832104" y="2481009"/>
            <a:ext cx="83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Q</a:t>
            </a:r>
            <a:r>
              <a:rPr lang="es-ES" sz="2000" baseline="-25000" dirty="0"/>
              <a:t>3</a:t>
            </a:r>
            <a:r>
              <a:rPr lang="es-ES" sz="2000" dirty="0"/>
              <a:t>: Cuartil superior. Entre 0 y Q</a:t>
            </a:r>
            <a:r>
              <a:rPr lang="es-ES" sz="2000" baseline="-25000" dirty="0"/>
              <a:t>3</a:t>
            </a:r>
            <a:r>
              <a:rPr lang="es-ES" sz="2000" dirty="0"/>
              <a:t> está un 75% de la muestra.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FB501C-D004-E128-8895-9A4C4C9422E6}"/>
              </a:ext>
            </a:extLst>
          </p:cNvPr>
          <p:cNvSpPr txBox="1"/>
          <p:nvPr/>
        </p:nvSpPr>
        <p:spPr>
          <a:xfrm>
            <a:off x="535084" y="300755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/>
              <a:t>Teniendo la siguiente distribución: 1, 2, 2, 2, 3, 4, 5, 6, 6, 7, 8, 8, 8, 9. ¿Cuáles son los cuartiles?</a:t>
            </a:r>
            <a:endParaRPr lang="es-ES" sz="2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517D24-0D5A-0A80-756C-2016930F9E48}"/>
              </a:ext>
            </a:extLst>
          </p:cNvPr>
          <p:cNvSpPr txBox="1"/>
          <p:nvPr/>
        </p:nvSpPr>
        <p:spPr>
          <a:xfrm>
            <a:off x="643232" y="3886792"/>
            <a:ext cx="166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 = 14 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04D352-A6D4-8551-8E95-A3980A82E81B}"/>
              </a:ext>
            </a:extLst>
          </p:cNvPr>
          <p:cNvSpPr txBox="1"/>
          <p:nvPr/>
        </p:nvSpPr>
        <p:spPr>
          <a:xfrm>
            <a:off x="5461760" y="4199300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0" i="0" u="none" strike="noStrike" baseline="0" dirty="0"/>
              <a:t>1  2  2  2  3  4  5  6  6  7   8   8   8   9</a:t>
            </a:r>
            <a:endParaRPr lang="es-ES" sz="2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DA3489B-ACEF-4D19-7EA0-216468F0DB3F}"/>
              </a:ext>
            </a:extLst>
          </p:cNvPr>
          <p:cNvSpPr txBox="1"/>
          <p:nvPr/>
        </p:nvSpPr>
        <p:spPr>
          <a:xfrm>
            <a:off x="574871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DD9B33-A2A3-93E7-6B07-141DD21DBA1C}"/>
              </a:ext>
            </a:extLst>
          </p:cNvPr>
          <p:cNvSpPr txBox="1"/>
          <p:nvPr/>
        </p:nvSpPr>
        <p:spPr>
          <a:xfrm>
            <a:off x="603055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F48DC6A-51CB-FD45-F1C9-89F8DF127BA9}"/>
              </a:ext>
            </a:extLst>
          </p:cNvPr>
          <p:cNvSpPr txBox="1"/>
          <p:nvPr/>
        </p:nvSpPr>
        <p:spPr>
          <a:xfrm>
            <a:off x="9516385" y="3841871"/>
            <a:ext cx="48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7257DFE-A872-D8FE-4C83-D0343D42DB1B}"/>
              </a:ext>
            </a:extLst>
          </p:cNvPr>
          <p:cNvSpPr txBox="1"/>
          <p:nvPr/>
        </p:nvSpPr>
        <p:spPr>
          <a:xfrm>
            <a:off x="631239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E1A85F-F208-04C4-AC55-06DE8B979E1D}"/>
              </a:ext>
            </a:extLst>
          </p:cNvPr>
          <p:cNvSpPr txBox="1"/>
          <p:nvPr/>
        </p:nvSpPr>
        <p:spPr>
          <a:xfrm>
            <a:off x="659423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C6CE04-7D8F-1130-DF09-BADEA50B5795}"/>
              </a:ext>
            </a:extLst>
          </p:cNvPr>
          <p:cNvSpPr txBox="1"/>
          <p:nvPr/>
        </p:nvSpPr>
        <p:spPr>
          <a:xfrm>
            <a:off x="743975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9F6D87B-9530-13E6-E46D-F413E34A00F0}"/>
              </a:ext>
            </a:extLst>
          </p:cNvPr>
          <p:cNvSpPr txBox="1"/>
          <p:nvPr/>
        </p:nvSpPr>
        <p:spPr>
          <a:xfrm>
            <a:off x="772159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EF873EA-D56C-4BFA-FC59-6AB00EF27E77}"/>
              </a:ext>
            </a:extLst>
          </p:cNvPr>
          <p:cNvSpPr txBox="1"/>
          <p:nvPr/>
        </p:nvSpPr>
        <p:spPr>
          <a:xfrm>
            <a:off x="687607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FACB585-2EB2-9653-FB32-AA0AC8506533}"/>
              </a:ext>
            </a:extLst>
          </p:cNvPr>
          <p:cNvSpPr txBox="1"/>
          <p:nvPr/>
        </p:nvSpPr>
        <p:spPr>
          <a:xfrm>
            <a:off x="7157916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99CC90D-9EF6-E2DD-691A-B0B330425145}"/>
              </a:ext>
            </a:extLst>
          </p:cNvPr>
          <p:cNvSpPr txBox="1"/>
          <p:nvPr/>
        </p:nvSpPr>
        <p:spPr>
          <a:xfrm>
            <a:off x="8003438" y="3841871"/>
            <a:ext cx="19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A3D78EB-8236-EF6B-ACDE-D605607859C5}"/>
              </a:ext>
            </a:extLst>
          </p:cNvPr>
          <p:cNvSpPr txBox="1"/>
          <p:nvPr/>
        </p:nvSpPr>
        <p:spPr>
          <a:xfrm>
            <a:off x="8112453" y="3841871"/>
            <a:ext cx="51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9C6100E-8BE2-84DB-286D-1A674DACC3B4}"/>
              </a:ext>
            </a:extLst>
          </p:cNvPr>
          <p:cNvSpPr txBox="1"/>
          <p:nvPr/>
        </p:nvSpPr>
        <p:spPr>
          <a:xfrm>
            <a:off x="8463437" y="3841871"/>
            <a:ext cx="5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D702A4C-93CC-51C4-4B15-7D8DEA9D4347}"/>
              </a:ext>
            </a:extLst>
          </p:cNvPr>
          <p:cNvSpPr txBox="1"/>
          <p:nvPr/>
        </p:nvSpPr>
        <p:spPr>
          <a:xfrm>
            <a:off x="8814420" y="3841871"/>
            <a:ext cx="51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3A86637-C4DB-5DE9-6371-FBDBC2A446DF}"/>
              </a:ext>
            </a:extLst>
          </p:cNvPr>
          <p:cNvSpPr txBox="1"/>
          <p:nvPr/>
        </p:nvSpPr>
        <p:spPr>
          <a:xfrm>
            <a:off x="9165402" y="3841871"/>
            <a:ext cx="51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BE13F1C-F649-9DE5-170B-573E43DE6C59}"/>
                  </a:ext>
                </a:extLst>
              </p:cNvPr>
              <p:cNvSpPr txBox="1"/>
              <p:nvPr/>
            </p:nvSpPr>
            <p:spPr>
              <a:xfrm>
                <a:off x="2287028" y="3734623"/>
                <a:ext cx="1664208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3,5</m:t>
                      </m:r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BE13F1C-F649-9DE5-170B-573E43DE6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028" y="3734623"/>
                <a:ext cx="1664208" cy="6685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D9E7D3AD-EA74-794C-2E58-2B6FC0BD9D7A}"/>
              </a:ext>
            </a:extLst>
          </p:cNvPr>
          <p:cNvCxnSpPr>
            <a:cxnSpLocks/>
          </p:cNvCxnSpPr>
          <p:nvPr/>
        </p:nvCxnSpPr>
        <p:spPr>
          <a:xfrm flipV="1">
            <a:off x="7689846" y="4450079"/>
            <a:ext cx="0" cy="407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770703A-36D4-4F4E-B8C0-4D6107479077}"/>
              </a:ext>
            </a:extLst>
          </p:cNvPr>
          <p:cNvSpPr txBox="1"/>
          <p:nvPr/>
        </p:nvSpPr>
        <p:spPr>
          <a:xfrm>
            <a:off x="7023258" y="4794364"/>
            <a:ext cx="130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Me = 5,5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226AFD9-1187-CD5E-F3DB-1C8BCBC6129C}"/>
              </a:ext>
            </a:extLst>
          </p:cNvPr>
          <p:cNvCxnSpPr>
            <a:cxnSpLocks/>
          </p:cNvCxnSpPr>
          <p:nvPr/>
        </p:nvCxnSpPr>
        <p:spPr>
          <a:xfrm flipV="1">
            <a:off x="6692878" y="4542153"/>
            <a:ext cx="0" cy="5760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A3794C4-AA16-8356-65EC-3656A186846E}"/>
              </a:ext>
            </a:extLst>
          </p:cNvPr>
          <p:cNvSpPr txBox="1"/>
          <p:nvPr/>
        </p:nvSpPr>
        <p:spPr>
          <a:xfrm>
            <a:off x="5951505" y="5079771"/>
            <a:ext cx="130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  <a:r>
              <a:rPr lang="es-ES" baseline="-25000" dirty="0"/>
              <a:t>1</a:t>
            </a:r>
            <a:r>
              <a:rPr lang="es-ES" dirty="0"/>
              <a:t> = 2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60C896A6-E6AD-B9E7-9C9D-5876279BB476}"/>
              </a:ext>
            </a:extLst>
          </p:cNvPr>
          <p:cNvCxnSpPr>
            <a:cxnSpLocks/>
          </p:cNvCxnSpPr>
          <p:nvPr/>
        </p:nvCxnSpPr>
        <p:spPr>
          <a:xfrm flipV="1">
            <a:off x="8730894" y="4542153"/>
            <a:ext cx="0" cy="57600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71296FD-1FB9-F28E-F80D-39F94DA55381}"/>
              </a:ext>
            </a:extLst>
          </p:cNvPr>
          <p:cNvSpPr txBox="1"/>
          <p:nvPr/>
        </p:nvSpPr>
        <p:spPr>
          <a:xfrm>
            <a:off x="7989521" y="5079771"/>
            <a:ext cx="130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Q</a:t>
            </a:r>
            <a:r>
              <a:rPr lang="es-ES" baseline="-25000" dirty="0"/>
              <a:t>3</a:t>
            </a:r>
            <a:r>
              <a:rPr lang="es-ES" dirty="0"/>
              <a:t> = 8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95AEAC6-B0CB-51E1-5D32-8F7E764D2D94}"/>
              </a:ext>
            </a:extLst>
          </p:cNvPr>
          <p:cNvSpPr txBox="1"/>
          <p:nvPr/>
        </p:nvSpPr>
        <p:spPr>
          <a:xfrm>
            <a:off x="535083" y="4459753"/>
            <a:ext cx="4413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i="1" u="none" strike="noStrike" baseline="0" dirty="0"/>
              <a:t>Q</a:t>
            </a:r>
            <a:r>
              <a:rPr lang="es-ES" sz="1800" b="0" i="0" u="none" strike="noStrike" baseline="-25000" dirty="0"/>
              <a:t>1</a:t>
            </a:r>
            <a:r>
              <a:rPr lang="es-ES" sz="1800" b="0" i="0" u="none" strike="noStrike" baseline="0" dirty="0"/>
              <a:t> tiene que dejar a su izquierda “3 elementos y medio”.</a:t>
            </a:r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178C21F-EB99-53B7-95C2-E240536EADD4}"/>
              </a:ext>
            </a:extLst>
          </p:cNvPr>
          <p:cNvSpPr txBox="1"/>
          <p:nvPr/>
        </p:nvSpPr>
        <p:spPr>
          <a:xfrm>
            <a:off x="535083" y="5162698"/>
            <a:ext cx="4413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Me</a:t>
            </a:r>
            <a:r>
              <a:rPr lang="es-ES" sz="1800" b="0" i="0" u="none" strike="noStrike" baseline="0" dirty="0"/>
              <a:t> tiene que dejar a su izquierda 7 individuos (3,5 x 2 = 7)</a:t>
            </a:r>
            <a:endParaRPr lang="es-ES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A86CAC7-7DD0-EA15-A9D2-B197E359776D}"/>
              </a:ext>
            </a:extLst>
          </p:cNvPr>
          <p:cNvSpPr txBox="1"/>
          <p:nvPr/>
        </p:nvSpPr>
        <p:spPr>
          <a:xfrm>
            <a:off x="535083" y="5850399"/>
            <a:ext cx="4413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i="1" u="none" strike="noStrike" baseline="0" dirty="0"/>
              <a:t>Q</a:t>
            </a:r>
            <a:r>
              <a:rPr lang="es-ES" sz="1800" b="0" i="0" u="none" strike="noStrike" baseline="-25000" dirty="0"/>
              <a:t>3</a:t>
            </a:r>
            <a:r>
              <a:rPr lang="es-ES" sz="1800" b="0" i="0" u="none" strike="noStrike" baseline="0" dirty="0"/>
              <a:t> tiene que dejar a su izquierda “10 elementos y medio”. (3,5 x 3 = 10,5)</a:t>
            </a:r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5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5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5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8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95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/>
      <p:bldP spid="8" grpId="0"/>
      <p:bldP spid="11" grpId="0"/>
      <p:bldP spid="12" grpId="0"/>
      <p:bldP spid="15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3" grpId="0"/>
      <p:bldP spid="42" grpId="0"/>
      <p:bldP spid="44" grpId="0"/>
      <p:bldP spid="48" grpId="0"/>
      <p:bldP spid="49" grpId="0"/>
      <p:bldP spid="50" grpId="0"/>
      <p:bldP spid="5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89F77F8-05DA-4366-B02D-80E5477938B7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2 - Estadístic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Parámetros de posición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CE38046-CDC2-427F-B49F-D44D56C5145C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205</Words>
  <Application>Microsoft Office PowerPoint</Application>
  <PresentationFormat>Panorámica</PresentationFormat>
  <Paragraphs>29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Parámetros de posición</dc:title>
  <dc:creator>Illán Linos Souto</dc:creator>
  <cp:lastModifiedBy>Illán Linos</cp:lastModifiedBy>
  <cp:revision>77</cp:revision>
  <dcterms:created xsi:type="dcterms:W3CDTF">2024-08-18T18:48:07Z</dcterms:created>
  <dcterms:modified xsi:type="dcterms:W3CDTF">2025-11-18T13:29:00Z</dcterms:modified>
</cp:coreProperties>
</file>