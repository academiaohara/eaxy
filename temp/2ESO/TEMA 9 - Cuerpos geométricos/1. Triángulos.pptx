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custDataLst>
    <p:tags r:id="rId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076A8-7B17-4855-8EF1-C5523EA851E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F7AB7-35B7-420D-97E5-3824A21979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458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524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6700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0537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7204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F7AB7-35B7-420D-97E5-3824A219792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6402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 seguridad, dos de los ángulos de un triángulo son agudos. Según como sea el otro ángulo,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triángulo es acutángulo, rectángulo u obtusángulo.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37DC8C-424B-658D-7D1B-8208920983A2}"/>
              </a:ext>
            </a:extLst>
          </p:cNvPr>
          <p:cNvSpPr txBox="1"/>
          <p:nvPr/>
        </p:nvSpPr>
        <p:spPr>
          <a:xfrm>
            <a:off x="569806" y="2037888"/>
            <a:ext cx="5719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UN TRIÁNGULO SERÁ, SEGÚN SUS ÁNGULOS: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DED90EE-5CA1-AA2A-B743-D476BDABA12E}"/>
              </a:ext>
            </a:extLst>
          </p:cNvPr>
          <p:cNvSpPr txBox="1"/>
          <p:nvPr/>
        </p:nvSpPr>
        <p:spPr>
          <a:xfrm>
            <a:off x="569806" y="2511402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Acutángulo: </a:t>
            </a:r>
            <a:r>
              <a:rPr lang="es-ES" b="1" dirty="0"/>
              <a:t>Menos de 90º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5153BD-2A4A-B93A-865C-458560A3794B}"/>
              </a:ext>
            </a:extLst>
          </p:cNvPr>
          <p:cNvSpPr txBox="1"/>
          <p:nvPr/>
        </p:nvSpPr>
        <p:spPr>
          <a:xfrm>
            <a:off x="569805" y="3053543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Rectángulo: </a:t>
            </a:r>
            <a:r>
              <a:rPr lang="es-ES" b="1" dirty="0"/>
              <a:t>90º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EB21C7-378B-1351-A9A3-0450A53838D8}"/>
              </a:ext>
            </a:extLst>
          </p:cNvPr>
          <p:cNvSpPr txBox="1"/>
          <p:nvPr/>
        </p:nvSpPr>
        <p:spPr>
          <a:xfrm>
            <a:off x="569804" y="3595684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Obtusángulo: </a:t>
            </a:r>
            <a:r>
              <a:rPr lang="es-ES" b="1" dirty="0"/>
              <a:t>Más de 90º</a:t>
            </a:r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B8D0800C-8568-D5E5-86D7-5C83301161F2}"/>
              </a:ext>
            </a:extLst>
          </p:cNvPr>
          <p:cNvSpPr/>
          <p:nvPr/>
        </p:nvSpPr>
        <p:spPr>
          <a:xfrm>
            <a:off x="5283192" y="2407220"/>
            <a:ext cx="1025460" cy="1426350"/>
          </a:xfrm>
          <a:prstGeom prst="triangle">
            <a:avLst>
              <a:gd name="adj" fmla="val 67126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C0FF76D4-2410-9FB8-C323-F1946AB7A2F2}"/>
              </a:ext>
            </a:extLst>
          </p:cNvPr>
          <p:cNvSpPr/>
          <p:nvPr/>
        </p:nvSpPr>
        <p:spPr>
          <a:xfrm>
            <a:off x="6803919" y="2407220"/>
            <a:ext cx="1025460" cy="1426350"/>
          </a:xfrm>
          <a:prstGeom prst="triangle">
            <a:avLst>
              <a:gd name="adj" fmla="val 100000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9" name="Triángulo isósceles 12">
            <a:extLst>
              <a:ext uri="{FF2B5EF4-FFF2-40B4-BE49-F238E27FC236}">
                <a16:creationId xmlns:a16="http://schemas.microsoft.com/office/drawing/2014/main" id="{FAF5C8DA-1CAD-7FF0-51CA-FAB47C81E2E9}"/>
              </a:ext>
            </a:extLst>
          </p:cNvPr>
          <p:cNvSpPr/>
          <p:nvPr/>
        </p:nvSpPr>
        <p:spPr>
          <a:xfrm>
            <a:off x="8354478" y="2803388"/>
            <a:ext cx="1597182" cy="1037874"/>
          </a:xfrm>
          <a:custGeom>
            <a:avLst/>
            <a:gdLst>
              <a:gd name="connsiteX0" fmla="*/ 0 w 1066067"/>
              <a:gd name="connsiteY0" fmla="*/ 1482832 h 1482832"/>
              <a:gd name="connsiteX1" fmla="*/ 1066067 w 1066067"/>
              <a:gd name="connsiteY1" fmla="*/ 0 h 1482832"/>
              <a:gd name="connsiteX2" fmla="*/ 1066067 w 1066067"/>
              <a:gd name="connsiteY2" fmla="*/ 1482832 h 1482832"/>
              <a:gd name="connsiteX3" fmla="*/ 0 w 1066067"/>
              <a:gd name="connsiteY3" fmla="*/ 1482832 h 1482832"/>
              <a:gd name="connsiteX0" fmla="*/ 0 w 1660427"/>
              <a:gd name="connsiteY0" fmla="*/ 1078972 h 1078972"/>
              <a:gd name="connsiteX1" fmla="*/ 1660427 w 1660427"/>
              <a:gd name="connsiteY1" fmla="*/ 0 h 1078972"/>
              <a:gd name="connsiteX2" fmla="*/ 1066067 w 1660427"/>
              <a:gd name="connsiteY2" fmla="*/ 1078972 h 1078972"/>
              <a:gd name="connsiteX3" fmla="*/ 0 w 1660427"/>
              <a:gd name="connsiteY3" fmla="*/ 1078972 h 107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427" h="1078972">
                <a:moveTo>
                  <a:pt x="0" y="1078972"/>
                </a:moveTo>
                <a:lnTo>
                  <a:pt x="1660427" y="0"/>
                </a:lnTo>
                <a:lnTo>
                  <a:pt x="1066067" y="1078972"/>
                </a:lnTo>
                <a:lnTo>
                  <a:pt x="0" y="1078972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DC01997-9513-8A39-2392-4B6A3CBEFE12}"/>
              </a:ext>
            </a:extLst>
          </p:cNvPr>
          <p:cNvSpPr txBox="1"/>
          <p:nvPr/>
        </p:nvSpPr>
        <p:spPr>
          <a:xfrm>
            <a:off x="569806" y="4280420"/>
            <a:ext cx="5719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UN TRIÁNGULO SERÁ, SEGÚN SUS LADOS: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372629B-EC9B-90EC-77FA-DFA177F819C8}"/>
              </a:ext>
            </a:extLst>
          </p:cNvPr>
          <p:cNvSpPr txBox="1"/>
          <p:nvPr/>
        </p:nvSpPr>
        <p:spPr>
          <a:xfrm>
            <a:off x="569806" y="4814899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Equilátero: </a:t>
            </a:r>
            <a:r>
              <a:rPr lang="es-ES" b="1" dirty="0"/>
              <a:t>3 lados iguales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3A30E79-1CE7-14CD-4202-325E658AF87E}"/>
              </a:ext>
            </a:extLst>
          </p:cNvPr>
          <p:cNvSpPr txBox="1"/>
          <p:nvPr/>
        </p:nvSpPr>
        <p:spPr>
          <a:xfrm>
            <a:off x="569805" y="5357040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Isósceles: </a:t>
            </a:r>
            <a:r>
              <a:rPr lang="es-ES" b="1" dirty="0"/>
              <a:t>2 lados iguales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1AF267-F817-DAF4-F472-2E8197CA92E0}"/>
              </a:ext>
            </a:extLst>
          </p:cNvPr>
          <p:cNvSpPr txBox="1"/>
          <p:nvPr/>
        </p:nvSpPr>
        <p:spPr>
          <a:xfrm>
            <a:off x="569804" y="5899181"/>
            <a:ext cx="382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Escaleno: </a:t>
            </a:r>
            <a:r>
              <a:rPr lang="es-ES" b="1" dirty="0"/>
              <a:t>Ningún lado igual</a:t>
            </a:r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5663B14C-BAC6-7D29-0B84-308FE9E84310}"/>
              </a:ext>
            </a:extLst>
          </p:cNvPr>
          <p:cNvSpPr/>
          <p:nvPr/>
        </p:nvSpPr>
        <p:spPr>
          <a:xfrm>
            <a:off x="5283192" y="4808713"/>
            <a:ext cx="1017608" cy="1397168"/>
          </a:xfrm>
          <a:prstGeom prst="triangle">
            <a:avLst>
              <a:gd name="adj" fmla="val 5015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69A0D7F6-427C-F804-49AF-9325E8433B49}"/>
              </a:ext>
            </a:extLst>
          </p:cNvPr>
          <p:cNvSpPr/>
          <p:nvPr/>
        </p:nvSpPr>
        <p:spPr>
          <a:xfrm>
            <a:off x="6643575" y="4850308"/>
            <a:ext cx="1356810" cy="1356810"/>
          </a:xfrm>
          <a:prstGeom prst="triangle">
            <a:avLst>
              <a:gd name="adj" fmla="val 100000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27" name="Triángulo isósceles 12">
            <a:extLst>
              <a:ext uri="{FF2B5EF4-FFF2-40B4-BE49-F238E27FC236}">
                <a16:creationId xmlns:a16="http://schemas.microsoft.com/office/drawing/2014/main" id="{3E5A5509-D3B1-8754-5037-01C67FFCC98D}"/>
              </a:ext>
            </a:extLst>
          </p:cNvPr>
          <p:cNvSpPr/>
          <p:nvPr/>
        </p:nvSpPr>
        <p:spPr>
          <a:xfrm>
            <a:off x="8359925" y="5200907"/>
            <a:ext cx="1564506" cy="1016640"/>
          </a:xfrm>
          <a:custGeom>
            <a:avLst/>
            <a:gdLst>
              <a:gd name="connsiteX0" fmla="*/ 0 w 1066067"/>
              <a:gd name="connsiteY0" fmla="*/ 1482832 h 1482832"/>
              <a:gd name="connsiteX1" fmla="*/ 1066067 w 1066067"/>
              <a:gd name="connsiteY1" fmla="*/ 0 h 1482832"/>
              <a:gd name="connsiteX2" fmla="*/ 1066067 w 1066067"/>
              <a:gd name="connsiteY2" fmla="*/ 1482832 h 1482832"/>
              <a:gd name="connsiteX3" fmla="*/ 0 w 1066067"/>
              <a:gd name="connsiteY3" fmla="*/ 1482832 h 1482832"/>
              <a:gd name="connsiteX0" fmla="*/ 0 w 1660427"/>
              <a:gd name="connsiteY0" fmla="*/ 1078972 h 1078972"/>
              <a:gd name="connsiteX1" fmla="*/ 1660427 w 1660427"/>
              <a:gd name="connsiteY1" fmla="*/ 0 h 1078972"/>
              <a:gd name="connsiteX2" fmla="*/ 1066067 w 1660427"/>
              <a:gd name="connsiteY2" fmla="*/ 1078972 h 1078972"/>
              <a:gd name="connsiteX3" fmla="*/ 0 w 1660427"/>
              <a:gd name="connsiteY3" fmla="*/ 1078972 h 107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0427" h="1078972">
                <a:moveTo>
                  <a:pt x="0" y="1078972"/>
                </a:moveTo>
                <a:lnTo>
                  <a:pt x="1660427" y="0"/>
                </a:lnTo>
                <a:lnTo>
                  <a:pt x="1066067" y="1078972"/>
                </a:lnTo>
                <a:lnTo>
                  <a:pt x="0" y="1078972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652B7FC-75D5-3257-CBCB-9832C53DF2B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47C58F6-C7F8-9176-DCE8-766B2C59B89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3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  <p:bldP spid="8" grpId="0"/>
      <p:bldP spid="12" grpId="0" animBg="1"/>
      <p:bldP spid="15" grpId="0" animBg="1"/>
      <p:bldP spid="19" grpId="0" animBg="1"/>
      <p:bldP spid="20" grpId="0"/>
      <p:bldP spid="21" grpId="0"/>
      <p:bldP spid="22" grpId="0"/>
      <p:bldP spid="23" grpId="0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mediana</a:t>
            </a:r>
            <a:r>
              <a:rPr lang="es-ES" sz="2000" b="1" dirty="0"/>
              <a:t> de un triángulo a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segmento que va de un vértice al punto medio del lado opuesto.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5781B93-DB16-CC08-AA7F-E66A004F1875}"/>
              </a:ext>
            </a:extLst>
          </p:cNvPr>
          <p:cNvCxnSpPr>
            <a:stCxn id="30" idx="0"/>
            <a:endCxn id="30" idx="3"/>
          </p:cNvCxnSpPr>
          <p:nvPr/>
        </p:nvCxnSpPr>
        <p:spPr>
          <a:xfrm>
            <a:off x="6098986" y="3152652"/>
            <a:ext cx="0" cy="2204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7C2AF22-E6D0-3589-5E72-143A103C8C78}"/>
              </a:ext>
            </a:extLst>
          </p:cNvPr>
          <p:cNvCxnSpPr>
            <a:cxnSpLocks/>
            <a:stCxn id="30" idx="1"/>
            <a:endCxn id="30" idx="4"/>
          </p:cNvCxnSpPr>
          <p:nvPr/>
        </p:nvCxnSpPr>
        <p:spPr>
          <a:xfrm>
            <a:off x="4740055" y="4254749"/>
            <a:ext cx="4076793" cy="1102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9A442234-224B-5AAF-FB76-FD9D7ECF8CB6}"/>
              </a:ext>
            </a:extLst>
          </p:cNvPr>
          <p:cNvCxnSpPr>
            <a:cxnSpLocks/>
            <a:stCxn id="30" idx="2"/>
            <a:endCxn id="30" idx="5"/>
          </p:cNvCxnSpPr>
          <p:nvPr/>
        </p:nvCxnSpPr>
        <p:spPr>
          <a:xfrm flipV="1">
            <a:off x="3381124" y="4254749"/>
            <a:ext cx="4076793" cy="1102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311BFFE-010B-BD2B-FA42-91D4D8F211C2}"/>
              </a:ext>
            </a:extLst>
          </p:cNvPr>
          <p:cNvGrpSpPr/>
          <p:nvPr/>
        </p:nvGrpSpPr>
        <p:grpSpPr>
          <a:xfrm>
            <a:off x="2921000" y="2658339"/>
            <a:ext cx="6350000" cy="2962817"/>
            <a:chOff x="1554594" y="8905079"/>
            <a:chExt cx="7171066" cy="3345916"/>
          </a:xfrm>
        </p:grpSpPr>
        <p:sp>
          <p:nvSpPr>
            <p:cNvPr id="30" name="Triángulo isósceles 29">
              <a:extLst>
                <a:ext uri="{FF2B5EF4-FFF2-40B4-BE49-F238E27FC236}">
                  <a16:creationId xmlns:a16="http://schemas.microsoft.com/office/drawing/2014/main" id="{E60CF067-E015-51C3-537D-A61A3360FDF8}"/>
                </a:ext>
              </a:extLst>
            </p:cNvPr>
            <p:cNvSpPr/>
            <p:nvPr/>
          </p:nvSpPr>
          <p:spPr>
            <a:xfrm>
              <a:off x="2074213" y="9463309"/>
              <a:ext cx="6138573" cy="2489200"/>
            </a:xfrm>
            <a:prstGeom prst="triangl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1" name="!CuadroTexto 1">
              <a:extLst>
                <a:ext uri="{FF2B5EF4-FFF2-40B4-BE49-F238E27FC236}">
                  <a16:creationId xmlns:a16="http://schemas.microsoft.com/office/drawing/2014/main" id="{637B06A3-628C-8ED9-3EA1-597B9ACF3B7C}"/>
                </a:ext>
              </a:extLst>
            </p:cNvPr>
            <p:cNvSpPr txBox="1"/>
            <p:nvPr/>
          </p:nvSpPr>
          <p:spPr>
            <a:xfrm>
              <a:off x="1554594" y="11660121"/>
              <a:ext cx="512874" cy="590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</a:t>
              </a:r>
            </a:p>
          </p:txBody>
        </p:sp>
        <p:sp>
          <p:nvSpPr>
            <p:cNvPr id="32" name="!CuadroTexto 1">
              <a:extLst>
                <a:ext uri="{FF2B5EF4-FFF2-40B4-BE49-F238E27FC236}">
                  <a16:creationId xmlns:a16="http://schemas.microsoft.com/office/drawing/2014/main" id="{32D61F0C-34D1-FDBD-43AB-E6898B811FC0}"/>
                </a:ext>
              </a:extLst>
            </p:cNvPr>
            <p:cNvSpPr txBox="1"/>
            <p:nvPr/>
          </p:nvSpPr>
          <p:spPr>
            <a:xfrm>
              <a:off x="8212786" y="11660121"/>
              <a:ext cx="512874" cy="590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</a:t>
              </a:r>
            </a:p>
          </p:txBody>
        </p:sp>
        <p:sp>
          <p:nvSpPr>
            <p:cNvPr id="33" name="!CuadroTexto 1">
              <a:extLst>
                <a:ext uri="{FF2B5EF4-FFF2-40B4-BE49-F238E27FC236}">
                  <a16:creationId xmlns:a16="http://schemas.microsoft.com/office/drawing/2014/main" id="{7B1DEA57-47C7-8135-D073-187EED2CCCEB}"/>
                </a:ext>
              </a:extLst>
            </p:cNvPr>
            <p:cNvSpPr txBox="1"/>
            <p:nvPr/>
          </p:nvSpPr>
          <p:spPr>
            <a:xfrm>
              <a:off x="4893712" y="8905079"/>
              <a:ext cx="512874" cy="590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</a:p>
          </p:txBody>
        </p:sp>
      </p:grpSp>
      <p:sp>
        <p:nvSpPr>
          <p:cNvPr id="34" name="!CuadroTexto 1">
            <a:extLst>
              <a:ext uri="{FF2B5EF4-FFF2-40B4-BE49-F238E27FC236}">
                <a16:creationId xmlns:a16="http://schemas.microsoft.com/office/drawing/2014/main" id="{5DD594CB-6FA6-68A9-205A-D47EEECB63F3}"/>
              </a:ext>
            </a:extLst>
          </p:cNvPr>
          <p:cNvSpPr txBox="1"/>
          <p:nvPr/>
        </p:nvSpPr>
        <p:spPr>
          <a:xfrm>
            <a:off x="4089311" y="3752675"/>
            <a:ext cx="650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B’</a:t>
            </a:r>
          </a:p>
        </p:txBody>
      </p:sp>
      <p:sp>
        <p:nvSpPr>
          <p:cNvPr id="35" name="!CuadroTexto 1">
            <a:extLst>
              <a:ext uri="{FF2B5EF4-FFF2-40B4-BE49-F238E27FC236}">
                <a16:creationId xmlns:a16="http://schemas.microsoft.com/office/drawing/2014/main" id="{08966F56-B901-6698-07F4-A4A549283FA5}"/>
              </a:ext>
            </a:extLst>
          </p:cNvPr>
          <p:cNvSpPr txBox="1"/>
          <p:nvPr/>
        </p:nvSpPr>
        <p:spPr>
          <a:xfrm>
            <a:off x="7457917" y="3752675"/>
            <a:ext cx="650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A’</a:t>
            </a:r>
          </a:p>
        </p:txBody>
      </p:sp>
      <p:sp>
        <p:nvSpPr>
          <p:cNvPr id="36" name="!CuadroTexto 1">
            <a:extLst>
              <a:ext uri="{FF2B5EF4-FFF2-40B4-BE49-F238E27FC236}">
                <a16:creationId xmlns:a16="http://schemas.microsoft.com/office/drawing/2014/main" id="{5AC4757D-EAD8-A589-45E8-CF1264B4022E}"/>
              </a:ext>
            </a:extLst>
          </p:cNvPr>
          <p:cNvSpPr txBox="1"/>
          <p:nvPr/>
        </p:nvSpPr>
        <p:spPr>
          <a:xfrm>
            <a:off x="5779502" y="5388373"/>
            <a:ext cx="650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C’</a:t>
            </a: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medianas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baricentro.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8651A6-8F9B-9579-E92B-2850B93D6BF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21A521-C206-5A51-0FD0-29D7ED10B5C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635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4" grpId="0"/>
      <p:bldP spid="35" grpId="0"/>
      <p:bldP spid="36" grpId="0"/>
      <p:bldP spid="37" grpId="0" animBg="1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40CF698-F6B4-69FA-189E-2A5A105CA49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ED25C0-634F-AB2A-88CE-BAF733FD8F3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altura de un triángulo es un segmento que va, perpendicularmente, desde un vértice al lado opuesto o a su prolongación.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alturas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ortocentro.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703A60-1BD4-F79E-0E80-7AC787A82893}"/>
              </a:ext>
            </a:extLst>
          </p:cNvPr>
          <p:cNvCxnSpPr>
            <a:cxnSpLocks/>
            <a:stCxn id="7" idx="0"/>
            <a:endCxn id="7" idx="3"/>
          </p:cNvCxnSpPr>
          <p:nvPr/>
        </p:nvCxnSpPr>
        <p:spPr>
          <a:xfrm>
            <a:off x="6091727" y="2973828"/>
            <a:ext cx="0" cy="28352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226858A-A91B-B216-B269-B267B63A486D}"/>
              </a:ext>
            </a:extLst>
          </p:cNvPr>
          <p:cNvSpPr/>
          <p:nvPr/>
        </p:nvSpPr>
        <p:spPr>
          <a:xfrm>
            <a:off x="3674104" y="2973828"/>
            <a:ext cx="5077760" cy="2835201"/>
          </a:xfrm>
          <a:prstGeom prst="triangle">
            <a:avLst>
              <a:gd name="adj" fmla="val 47612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ED3BC6B-2D92-3537-C59C-F12D18E9E1CE}"/>
              </a:ext>
            </a:extLst>
          </p:cNvPr>
          <p:cNvGrpSpPr/>
          <p:nvPr/>
        </p:nvGrpSpPr>
        <p:grpSpPr>
          <a:xfrm rot="2700000">
            <a:off x="5361182" y="533782"/>
            <a:ext cx="3984566" cy="7121265"/>
            <a:chOff x="2822513" y="-2835333"/>
            <a:chExt cx="4635110" cy="8283920"/>
          </a:xfrm>
        </p:grpSpPr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72CAD77-C7E4-905B-AA30-866CDEBE50F9}"/>
                </a:ext>
              </a:extLst>
            </p:cNvPr>
            <p:cNvSpPr>
              <a:spLocks noChangeAspect="1"/>
            </p:cNvSpPr>
            <p:nvPr/>
          </p:nvSpPr>
          <p:spPr>
            <a:xfrm rot="13500000" flipV="1">
              <a:off x="1508509" y="-1521329"/>
              <a:ext cx="6228003" cy="3599995"/>
            </a:xfrm>
            <a:custGeom>
              <a:avLst/>
              <a:gdLst>
                <a:gd name="connsiteX0" fmla="*/ 573290 w 6228000"/>
                <a:gd name="connsiteY0" fmla="*/ 990167 h 3599999"/>
                <a:gd name="connsiteX1" fmla="*/ 573290 w 6228000"/>
                <a:gd name="connsiteY1" fmla="*/ 3014837 h 3599999"/>
                <a:gd name="connsiteX2" fmla="*/ 4075970 w 6228000"/>
                <a:gd name="connsiteY2" fmla="*/ 3014837 h 3599999"/>
                <a:gd name="connsiteX3" fmla="*/ 0 w 6228000"/>
                <a:gd name="connsiteY3" fmla="*/ 0 h 3599999"/>
                <a:gd name="connsiteX4" fmla="*/ 6228000 w 6228000"/>
                <a:gd name="connsiteY4" fmla="*/ 3599999 h 3599999"/>
                <a:gd name="connsiteX5" fmla="*/ 0 w 6228000"/>
                <a:gd name="connsiteY5" fmla="*/ 3599999 h 35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000" h="3599999">
                  <a:moveTo>
                    <a:pt x="573290" y="990167"/>
                  </a:moveTo>
                  <a:lnTo>
                    <a:pt x="573290" y="3014837"/>
                  </a:lnTo>
                  <a:lnTo>
                    <a:pt x="4075970" y="3014837"/>
                  </a:lnTo>
                  <a:close/>
                  <a:moveTo>
                    <a:pt x="0" y="0"/>
                  </a:moveTo>
                  <a:lnTo>
                    <a:pt x="6228000" y="3599999"/>
                  </a:lnTo>
                  <a:lnTo>
                    <a:pt x="0" y="3599999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749D730B-A240-11B8-D1A9-D83F1B0BBD02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3857624" y="1848587"/>
              <a:ext cx="3600000" cy="3599999"/>
            </a:xfrm>
            <a:custGeom>
              <a:avLst/>
              <a:gdLst>
                <a:gd name="connsiteX0" fmla="*/ 602800 w 3600000"/>
                <a:gd name="connsiteY0" fmla="*/ 1409700 h 3600000"/>
                <a:gd name="connsiteX1" fmla="*/ 602800 w 3600000"/>
                <a:gd name="connsiteY1" fmla="*/ 3092900 h 3600000"/>
                <a:gd name="connsiteX2" fmla="*/ 2286000 w 3600000"/>
                <a:gd name="connsiteY2" fmla="*/ 3092900 h 3600000"/>
                <a:gd name="connsiteX3" fmla="*/ 0 w 3600000"/>
                <a:gd name="connsiteY3" fmla="*/ 0 h 3600000"/>
                <a:gd name="connsiteX4" fmla="*/ 3600000 w 3600000"/>
                <a:gd name="connsiteY4" fmla="*/ 3600000 h 3600000"/>
                <a:gd name="connsiteX5" fmla="*/ 0 w 3600000"/>
                <a:gd name="connsiteY5" fmla="*/ 360000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0" h="3600000">
                  <a:moveTo>
                    <a:pt x="602800" y="1409700"/>
                  </a:moveTo>
                  <a:lnTo>
                    <a:pt x="602800" y="3092900"/>
                  </a:lnTo>
                  <a:lnTo>
                    <a:pt x="2286000" y="3092900"/>
                  </a:lnTo>
                  <a:close/>
                  <a:moveTo>
                    <a:pt x="0" y="0"/>
                  </a:moveTo>
                  <a:lnTo>
                    <a:pt x="3600000" y="3600000"/>
                  </a:lnTo>
                  <a:lnTo>
                    <a:pt x="0" y="3600000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s-ES" kern="0">
                <a:solidFill>
                  <a:prstClr val="white"/>
                </a:solidFill>
                <a:latin typeface="Century Gothic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112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7" grpId="0" animBg="1"/>
      <p:bldP spid="38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altura de un triángulo es un segmento que va, perpendicularmente, desde un vértice al lado opuesto o a su prolongación.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alturas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ortocentro.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703A60-1BD4-F79E-0E80-7AC787A82893}"/>
              </a:ext>
            </a:extLst>
          </p:cNvPr>
          <p:cNvCxnSpPr>
            <a:cxnSpLocks/>
            <a:stCxn id="7" idx="0"/>
            <a:endCxn id="7" idx="3"/>
          </p:cNvCxnSpPr>
          <p:nvPr/>
        </p:nvCxnSpPr>
        <p:spPr>
          <a:xfrm>
            <a:off x="6091727" y="2973828"/>
            <a:ext cx="0" cy="28352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DA8DE2-5C12-E3D0-469E-B83ABE4E6479}"/>
              </a:ext>
            </a:extLst>
          </p:cNvPr>
          <p:cNvCxnSpPr>
            <a:cxnSpLocks/>
          </p:cNvCxnSpPr>
          <p:nvPr/>
        </p:nvCxnSpPr>
        <p:spPr>
          <a:xfrm flipH="1" flipV="1">
            <a:off x="5828176" y="3297341"/>
            <a:ext cx="2887286" cy="24798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226858A-A91B-B216-B269-B267B63A486D}"/>
              </a:ext>
            </a:extLst>
          </p:cNvPr>
          <p:cNvSpPr/>
          <p:nvPr/>
        </p:nvSpPr>
        <p:spPr>
          <a:xfrm>
            <a:off x="3674104" y="2973828"/>
            <a:ext cx="5077760" cy="2835201"/>
          </a:xfrm>
          <a:prstGeom prst="triangle">
            <a:avLst>
              <a:gd name="adj" fmla="val 47612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ED3BC6B-2D92-3537-C59C-F12D18E9E1CE}"/>
              </a:ext>
            </a:extLst>
          </p:cNvPr>
          <p:cNvGrpSpPr/>
          <p:nvPr/>
        </p:nvGrpSpPr>
        <p:grpSpPr>
          <a:xfrm rot="10531779">
            <a:off x="3633816" y="2580234"/>
            <a:ext cx="4711976" cy="6393858"/>
            <a:chOff x="1976346" y="-1989166"/>
            <a:chExt cx="5481279" cy="7437753"/>
          </a:xfrm>
        </p:grpSpPr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72CAD77-C7E4-905B-AA30-866CDEBE50F9}"/>
                </a:ext>
              </a:extLst>
            </p:cNvPr>
            <p:cNvSpPr>
              <a:spLocks noChangeAspect="1"/>
            </p:cNvSpPr>
            <p:nvPr/>
          </p:nvSpPr>
          <p:spPr>
            <a:xfrm rot="-8100000" flipV="1">
              <a:off x="662346" y="-675166"/>
              <a:ext cx="6228000" cy="3599999"/>
            </a:xfrm>
            <a:custGeom>
              <a:avLst/>
              <a:gdLst>
                <a:gd name="connsiteX0" fmla="*/ 573290 w 6228000"/>
                <a:gd name="connsiteY0" fmla="*/ 990167 h 3599999"/>
                <a:gd name="connsiteX1" fmla="*/ 573290 w 6228000"/>
                <a:gd name="connsiteY1" fmla="*/ 3014837 h 3599999"/>
                <a:gd name="connsiteX2" fmla="*/ 4075970 w 6228000"/>
                <a:gd name="connsiteY2" fmla="*/ 3014837 h 3599999"/>
                <a:gd name="connsiteX3" fmla="*/ 0 w 6228000"/>
                <a:gd name="connsiteY3" fmla="*/ 0 h 3599999"/>
                <a:gd name="connsiteX4" fmla="*/ 6228000 w 6228000"/>
                <a:gd name="connsiteY4" fmla="*/ 3599999 h 3599999"/>
                <a:gd name="connsiteX5" fmla="*/ 0 w 6228000"/>
                <a:gd name="connsiteY5" fmla="*/ 3599999 h 35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000" h="3599999">
                  <a:moveTo>
                    <a:pt x="573290" y="990167"/>
                  </a:moveTo>
                  <a:lnTo>
                    <a:pt x="573290" y="3014837"/>
                  </a:lnTo>
                  <a:lnTo>
                    <a:pt x="4075970" y="3014837"/>
                  </a:lnTo>
                  <a:close/>
                  <a:moveTo>
                    <a:pt x="0" y="0"/>
                  </a:moveTo>
                  <a:lnTo>
                    <a:pt x="6228000" y="3599999"/>
                  </a:lnTo>
                  <a:lnTo>
                    <a:pt x="0" y="3599999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749D730B-A240-11B8-D1A9-D83F1B0BBD02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3857625" y="1848587"/>
              <a:ext cx="3600000" cy="3600000"/>
            </a:xfrm>
            <a:custGeom>
              <a:avLst/>
              <a:gdLst>
                <a:gd name="connsiteX0" fmla="*/ 602800 w 3600000"/>
                <a:gd name="connsiteY0" fmla="*/ 1409700 h 3600000"/>
                <a:gd name="connsiteX1" fmla="*/ 602800 w 3600000"/>
                <a:gd name="connsiteY1" fmla="*/ 3092900 h 3600000"/>
                <a:gd name="connsiteX2" fmla="*/ 2286000 w 3600000"/>
                <a:gd name="connsiteY2" fmla="*/ 3092900 h 3600000"/>
                <a:gd name="connsiteX3" fmla="*/ 0 w 3600000"/>
                <a:gd name="connsiteY3" fmla="*/ 0 h 3600000"/>
                <a:gd name="connsiteX4" fmla="*/ 3600000 w 3600000"/>
                <a:gd name="connsiteY4" fmla="*/ 3600000 h 3600000"/>
                <a:gd name="connsiteX5" fmla="*/ 0 w 3600000"/>
                <a:gd name="connsiteY5" fmla="*/ 360000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0" h="3600000">
                  <a:moveTo>
                    <a:pt x="602800" y="1409700"/>
                  </a:moveTo>
                  <a:lnTo>
                    <a:pt x="602800" y="3092900"/>
                  </a:lnTo>
                  <a:lnTo>
                    <a:pt x="2286000" y="3092900"/>
                  </a:lnTo>
                  <a:close/>
                  <a:moveTo>
                    <a:pt x="0" y="0"/>
                  </a:moveTo>
                  <a:lnTo>
                    <a:pt x="3600000" y="3600000"/>
                  </a:lnTo>
                  <a:lnTo>
                    <a:pt x="0" y="3600000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s-ES" kern="0">
                <a:solidFill>
                  <a:prstClr val="white"/>
                </a:solidFill>
                <a:latin typeface="Century Gothic"/>
              </a:endParaRPr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95328B8C-F8B2-1330-6E57-21B2C82A890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DE86C26-E45A-8D96-657D-9FB31F4F86B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994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altura de un triángulo es un segmento que va, perpendicularmente, desde un vértice al lado opuesto o a su prolongación.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C62B8932-A12D-9CBF-97E6-C895FF3BC838}"/>
              </a:ext>
            </a:extLst>
          </p:cNvPr>
          <p:cNvSpPr/>
          <p:nvPr/>
        </p:nvSpPr>
        <p:spPr>
          <a:xfrm>
            <a:off x="535084" y="1962990"/>
            <a:ext cx="11121832" cy="51782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30361FC4-9958-4655-94A7-5313A103047E}"/>
              </a:ext>
            </a:extLst>
          </p:cNvPr>
          <p:cNvSpPr txBox="1"/>
          <p:nvPr/>
        </p:nvSpPr>
        <p:spPr>
          <a:xfrm>
            <a:off x="535084" y="20218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tres alturas de un triángulo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cortan en un punto llamado ortocentro.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9703A60-1BD4-F79E-0E80-7AC787A82893}"/>
              </a:ext>
            </a:extLst>
          </p:cNvPr>
          <p:cNvCxnSpPr>
            <a:cxnSpLocks/>
            <a:stCxn id="7" idx="0"/>
            <a:endCxn id="7" idx="3"/>
          </p:cNvCxnSpPr>
          <p:nvPr/>
        </p:nvCxnSpPr>
        <p:spPr>
          <a:xfrm>
            <a:off x="6091727" y="2973828"/>
            <a:ext cx="0" cy="28352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DA8DE2-5C12-E3D0-469E-B83ABE4E6479}"/>
              </a:ext>
            </a:extLst>
          </p:cNvPr>
          <p:cNvCxnSpPr>
            <a:cxnSpLocks/>
          </p:cNvCxnSpPr>
          <p:nvPr/>
        </p:nvCxnSpPr>
        <p:spPr>
          <a:xfrm flipH="1" flipV="1">
            <a:off x="5828176" y="3297341"/>
            <a:ext cx="2887286" cy="24798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B7D01E4-CB87-8801-AA7D-5C6FC53F2F0E}"/>
              </a:ext>
            </a:extLst>
          </p:cNvPr>
          <p:cNvCxnSpPr>
            <a:cxnSpLocks/>
          </p:cNvCxnSpPr>
          <p:nvPr/>
        </p:nvCxnSpPr>
        <p:spPr>
          <a:xfrm flipH="1">
            <a:off x="3674105" y="3276561"/>
            <a:ext cx="2682008" cy="25324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226858A-A91B-B216-B269-B267B63A486D}"/>
              </a:ext>
            </a:extLst>
          </p:cNvPr>
          <p:cNvSpPr/>
          <p:nvPr/>
        </p:nvSpPr>
        <p:spPr>
          <a:xfrm>
            <a:off x="3674104" y="2973828"/>
            <a:ext cx="5077760" cy="2835201"/>
          </a:xfrm>
          <a:prstGeom prst="triangle">
            <a:avLst>
              <a:gd name="adj" fmla="val 47612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154E33E-3C9D-75EA-8480-ED2A1EEEA329}"/>
              </a:ext>
            </a:extLst>
          </p:cNvPr>
          <p:cNvGrpSpPr/>
          <p:nvPr/>
        </p:nvGrpSpPr>
        <p:grpSpPr>
          <a:xfrm flipV="1">
            <a:off x="694817" y="-8930095"/>
            <a:ext cx="12519446" cy="12679074"/>
            <a:chOff x="-257291" y="10912366"/>
            <a:chExt cx="12519446" cy="12679074"/>
          </a:xfrm>
        </p:grpSpPr>
        <p:sp>
          <p:nvSpPr>
            <p:cNvPr id="9" name="Arco 8">
              <a:extLst>
                <a:ext uri="{FF2B5EF4-FFF2-40B4-BE49-F238E27FC236}">
                  <a16:creationId xmlns:a16="http://schemas.microsoft.com/office/drawing/2014/main" id="{ABE5BCA9-A2C0-C558-65DE-C367B2641717}"/>
                </a:ext>
              </a:extLst>
            </p:cNvPr>
            <p:cNvSpPr/>
            <p:nvPr/>
          </p:nvSpPr>
          <p:spPr>
            <a:xfrm rot="1770976">
              <a:off x="-257291" y="11071994"/>
              <a:ext cx="12519446" cy="12519446"/>
            </a:xfrm>
            <a:prstGeom prst="arc">
              <a:avLst>
                <a:gd name="adj1" fmla="val 14020385"/>
                <a:gd name="adj2" fmla="val 14752654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2DC1D6D-418D-038A-EB39-4733ED99D05D}"/>
                </a:ext>
              </a:extLst>
            </p:cNvPr>
            <p:cNvSpPr txBox="1"/>
            <p:nvPr/>
          </p:nvSpPr>
          <p:spPr>
            <a:xfrm rot="10800000">
              <a:off x="6406260" y="10912366"/>
              <a:ext cx="2301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ORTOCENTRO</a:t>
              </a: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A0D1929-C464-D56D-D396-659A533ACA15}"/>
                </a:ext>
              </a:extLst>
            </p:cNvPr>
            <p:cNvSpPr/>
            <p:nvPr/>
          </p:nvSpPr>
          <p:spPr>
            <a:xfrm>
              <a:off x="5071883" y="11054367"/>
              <a:ext cx="143232" cy="14323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ED3BC6B-2D92-3537-C59C-F12D18E9E1CE}"/>
              </a:ext>
            </a:extLst>
          </p:cNvPr>
          <p:cNvGrpSpPr/>
          <p:nvPr/>
        </p:nvGrpSpPr>
        <p:grpSpPr>
          <a:xfrm rot="10920000" flipH="1">
            <a:off x="3953469" y="2553941"/>
            <a:ext cx="4711976" cy="6393858"/>
            <a:chOff x="1976346" y="-1989166"/>
            <a:chExt cx="5481279" cy="7437753"/>
          </a:xfrm>
        </p:grpSpPr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72CAD77-C7E4-905B-AA30-866CDEBE50F9}"/>
                </a:ext>
              </a:extLst>
            </p:cNvPr>
            <p:cNvSpPr>
              <a:spLocks noChangeAspect="1"/>
            </p:cNvSpPr>
            <p:nvPr/>
          </p:nvSpPr>
          <p:spPr>
            <a:xfrm rot="-8100000" flipV="1">
              <a:off x="662346" y="-675166"/>
              <a:ext cx="6228000" cy="3599999"/>
            </a:xfrm>
            <a:custGeom>
              <a:avLst/>
              <a:gdLst>
                <a:gd name="connsiteX0" fmla="*/ 573290 w 6228000"/>
                <a:gd name="connsiteY0" fmla="*/ 990167 h 3599999"/>
                <a:gd name="connsiteX1" fmla="*/ 573290 w 6228000"/>
                <a:gd name="connsiteY1" fmla="*/ 3014837 h 3599999"/>
                <a:gd name="connsiteX2" fmla="*/ 4075970 w 6228000"/>
                <a:gd name="connsiteY2" fmla="*/ 3014837 h 3599999"/>
                <a:gd name="connsiteX3" fmla="*/ 0 w 6228000"/>
                <a:gd name="connsiteY3" fmla="*/ 0 h 3599999"/>
                <a:gd name="connsiteX4" fmla="*/ 6228000 w 6228000"/>
                <a:gd name="connsiteY4" fmla="*/ 3599999 h 3599999"/>
                <a:gd name="connsiteX5" fmla="*/ 0 w 6228000"/>
                <a:gd name="connsiteY5" fmla="*/ 3599999 h 35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8000" h="3599999">
                  <a:moveTo>
                    <a:pt x="573290" y="990167"/>
                  </a:moveTo>
                  <a:lnTo>
                    <a:pt x="573290" y="3014837"/>
                  </a:lnTo>
                  <a:lnTo>
                    <a:pt x="4075970" y="3014837"/>
                  </a:lnTo>
                  <a:close/>
                  <a:moveTo>
                    <a:pt x="0" y="0"/>
                  </a:moveTo>
                  <a:lnTo>
                    <a:pt x="6228000" y="3599999"/>
                  </a:lnTo>
                  <a:lnTo>
                    <a:pt x="0" y="3599999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749D730B-A240-11B8-D1A9-D83F1B0BBD02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3857625" y="1848587"/>
              <a:ext cx="3600000" cy="3600000"/>
            </a:xfrm>
            <a:custGeom>
              <a:avLst/>
              <a:gdLst>
                <a:gd name="connsiteX0" fmla="*/ 602800 w 3600000"/>
                <a:gd name="connsiteY0" fmla="*/ 1409700 h 3600000"/>
                <a:gd name="connsiteX1" fmla="*/ 602800 w 3600000"/>
                <a:gd name="connsiteY1" fmla="*/ 3092900 h 3600000"/>
                <a:gd name="connsiteX2" fmla="*/ 2286000 w 3600000"/>
                <a:gd name="connsiteY2" fmla="*/ 3092900 h 3600000"/>
                <a:gd name="connsiteX3" fmla="*/ 0 w 3600000"/>
                <a:gd name="connsiteY3" fmla="*/ 0 h 3600000"/>
                <a:gd name="connsiteX4" fmla="*/ 3600000 w 3600000"/>
                <a:gd name="connsiteY4" fmla="*/ 3600000 h 3600000"/>
                <a:gd name="connsiteX5" fmla="*/ 0 w 3600000"/>
                <a:gd name="connsiteY5" fmla="*/ 360000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0" h="3600000">
                  <a:moveTo>
                    <a:pt x="602800" y="1409700"/>
                  </a:moveTo>
                  <a:lnTo>
                    <a:pt x="602800" y="3092900"/>
                  </a:lnTo>
                  <a:lnTo>
                    <a:pt x="2286000" y="3092900"/>
                  </a:lnTo>
                  <a:close/>
                  <a:moveTo>
                    <a:pt x="0" y="0"/>
                  </a:moveTo>
                  <a:lnTo>
                    <a:pt x="3600000" y="3600000"/>
                  </a:lnTo>
                  <a:lnTo>
                    <a:pt x="0" y="3600000"/>
                  </a:lnTo>
                  <a:close/>
                </a:path>
              </a:pathLst>
            </a:custGeom>
            <a:solidFill>
              <a:srgbClr val="196B24">
                <a:lumMod val="60000"/>
                <a:lumOff val="40000"/>
                <a:alpha val="54000"/>
              </a:srgbClr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wrap="square" rtlCol="0" anchor="ctr">
              <a:noAutofit/>
            </a:bodyPr>
            <a:lstStyle/>
            <a:p>
              <a:pPr algn="ctr" defTabSz="457200"/>
              <a:endParaRPr lang="es-ES" kern="0">
                <a:solidFill>
                  <a:prstClr val="white"/>
                </a:solidFill>
                <a:latin typeface="Century Gothic"/>
              </a:endParaRPr>
            </a:p>
          </p:txBody>
        </p: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6E2830C-1A99-A470-8028-9E20D3D91A1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9B889C-3DF9-9B55-C8D0-7352E8BD76DC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00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8479E95-F7CE-49C2-BD3C-202E28443696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Triángulo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9 - Cuerpos geométrico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21E8B3E-F439-407B-BC21-6082E3B8893B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921FE88-7011-4ADF-8034-C6B93F225865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10AEB2A-8E50-4EEB-A74A-E2DE4ED4CB48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47DFE3C-D806-4762-A797-E68838FA0AED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05DD7CD-1F2A-46B4-B3D3-A7EF0C91D9B8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262</Words>
  <Application>Microsoft Office PowerPoint</Application>
  <PresentationFormat>Panorámica</PresentationFormat>
  <Paragraphs>34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Triángulos</dc:title>
  <dc:creator>Illán Linos Souto</dc:creator>
  <cp:lastModifiedBy>Illán Linos</cp:lastModifiedBy>
  <cp:revision>51</cp:revision>
  <dcterms:created xsi:type="dcterms:W3CDTF">2024-08-18T18:48:07Z</dcterms:created>
  <dcterms:modified xsi:type="dcterms:W3CDTF">2025-11-18T13:12:07Z</dcterms:modified>
</cp:coreProperties>
</file>