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60" r:id="rId3"/>
    <p:sldId id="257" r:id="rId4"/>
    <p:sldId id="259" r:id="rId5"/>
    <p:sldId id="261" r:id="rId6"/>
  </p:sldIdLst>
  <p:sldSz cx="12192000" cy="6858000"/>
  <p:notesSz cx="6858000" cy="9144000"/>
  <p:custDataLst>
    <p:tags r:id="rId8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0B17"/>
    <a:srgbClr val="F17E60"/>
    <a:srgbClr val="FCF674"/>
    <a:srgbClr val="EF4246"/>
    <a:srgbClr val="D0B0E7"/>
    <a:srgbClr val="FFFFDB"/>
    <a:srgbClr val="ECF7FC"/>
    <a:srgbClr val="0A0A0A"/>
    <a:srgbClr val="EEFBEF"/>
    <a:srgbClr val="84E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48D2A-57A3-4A14-9FB0-9556109D5E86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B7669-081B-4B07-8F37-9586F44A0F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879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B7669-081B-4B07-8F37-9586F44A0FA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6602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B7669-081B-4B07-8F37-9586F44A0FA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4968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B7669-081B-4B07-8F37-9586F44A0FA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1709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B7669-081B-4B07-8F37-9586F44A0FA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6113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B7669-081B-4B07-8F37-9586F44A0FA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40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C73C6762-708B-9DAC-56A5-A964A926188F}"/>
              </a:ext>
            </a:extLst>
          </p:cNvPr>
          <p:cNvSpPr/>
          <p:nvPr/>
        </p:nvSpPr>
        <p:spPr>
          <a:xfrm>
            <a:off x="2608929" y="3901570"/>
            <a:ext cx="1669582" cy="1467712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3B6BFB73-039C-B1DC-79A8-1B0416A498FC}"/>
              </a:ext>
            </a:extLst>
          </p:cNvPr>
          <p:cNvSpPr/>
          <p:nvPr/>
        </p:nvSpPr>
        <p:spPr>
          <a:xfrm>
            <a:off x="8091227" y="1019501"/>
            <a:ext cx="1847088" cy="1170432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EB91429-DEDA-3CC0-5ED2-960238CD4586}"/>
              </a:ext>
            </a:extLst>
          </p:cNvPr>
          <p:cNvSpPr/>
          <p:nvPr/>
        </p:nvSpPr>
        <p:spPr>
          <a:xfrm>
            <a:off x="9062015" y="1635650"/>
            <a:ext cx="876300" cy="554282"/>
          </a:xfrm>
          <a:prstGeom prst="triangle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Arco 10">
            <a:extLst>
              <a:ext uri="{FF2B5EF4-FFF2-40B4-BE49-F238E27FC236}">
                <a16:creationId xmlns:a16="http://schemas.microsoft.com/office/drawing/2014/main" id="{9A957243-7E8A-B15D-5976-0F80F7871DD3}"/>
              </a:ext>
            </a:extLst>
          </p:cNvPr>
          <p:cNvSpPr/>
          <p:nvPr/>
        </p:nvSpPr>
        <p:spPr>
          <a:xfrm>
            <a:off x="9356041" y="1607658"/>
            <a:ext cx="1164548" cy="1164548"/>
          </a:xfrm>
          <a:prstGeom prst="arc">
            <a:avLst>
              <a:gd name="adj1" fmla="val 10875270"/>
              <a:gd name="adj2" fmla="val 12647050"/>
            </a:avLst>
          </a:prstGeom>
          <a:noFill/>
          <a:ln w="12700">
            <a:headEnd type="triangle" w="sm" len="med"/>
            <a:tailEnd type="triangl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91846"/>
            <a:ext cx="7018241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33115"/>
            <a:ext cx="7018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triángulos rectángulos que tengan los mismos ángulos agudos son semejantes.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DDAFFA-B605-6AA6-080B-8DD403D7DCF2}"/>
              </a:ext>
            </a:extLst>
          </p:cNvPr>
          <p:cNvSpPr txBox="1"/>
          <p:nvPr/>
        </p:nvSpPr>
        <p:spPr>
          <a:xfrm>
            <a:off x="9183628" y="1778947"/>
            <a:ext cx="15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α</a:t>
            </a:r>
            <a:endParaRPr lang="es-E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DCBDEA04-1D18-CDA0-BF50-B5FCF838CF7F}"/>
              </a:ext>
            </a:extLst>
          </p:cNvPr>
          <p:cNvSpPr/>
          <p:nvPr/>
        </p:nvSpPr>
        <p:spPr>
          <a:xfrm>
            <a:off x="535084" y="2593723"/>
            <a:ext cx="11123516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A4285D17-49B5-16A0-CDE5-B50461804D2F}"/>
              </a:ext>
            </a:extLst>
          </p:cNvPr>
          <p:cNvSpPr txBox="1"/>
          <p:nvPr/>
        </p:nvSpPr>
        <p:spPr>
          <a:xfrm>
            <a:off x="535084" y="2634992"/>
            <a:ext cx="11123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Teorema de Tales </a:t>
            </a:r>
            <a:r>
              <a:rPr lang="es-ES" sz="2000" b="1" dirty="0"/>
              <a:t>se puede utilizar para calcular la altura de objetos a partir de su sombra.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Gráfico 9" descr="Edificio contorno">
            <a:extLst>
              <a:ext uri="{FF2B5EF4-FFF2-40B4-BE49-F238E27FC236}">
                <a16:creationId xmlns:a16="http://schemas.microsoft.com/office/drawing/2014/main" id="{810CE3E3-4E9E-1D18-7FDB-CDCE1A83A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6582"/>
          <a:stretch/>
        </p:blipFill>
        <p:spPr>
          <a:xfrm>
            <a:off x="3700461" y="3881300"/>
            <a:ext cx="2038350" cy="1700350"/>
          </a:xfrm>
          <a:prstGeom prst="rect">
            <a:avLst/>
          </a:prstGeom>
        </p:spPr>
      </p:pic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2636861C-9445-E771-B286-913FB71C05DC}"/>
              </a:ext>
            </a:extLst>
          </p:cNvPr>
          <p:cNvSpPr/>
          <p:nvPr/>
        </p:nvSpPr>
        <p:spPr>
          <a:xfrm>
            <a:off x="1701680" y="4888168"/>
            <a:ext cx="548640" cy="482304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EC02BB4-D949-CCED-9190-E464C34B68FF}"/>
              </a:ext>
            </a:extLst>
          </p:cNvPr>
          <p:cNvSpPr/>
          <p:nvPr/>
        </p:nvSpPr>
        <p:spPr>
          <a:xfrm>
            <a:off x="2206789" y="4899856"/>
            <a:ext cx="87061" cy="4589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Gráfico 12" descr="Lápiz con relleno sólido">
            <a:extLst>
              <a:ext uri="{FF2B5EF4-FFF2-40B4-BE49-F238E27FC236}">
                <a16:creationId xmlns:a16="http://schemas.microsoft.com/office/drawing/2014/main" id="{0C9567AE-C4E5-A799-70A9-A40EBAA7E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04448">
            <a:off x="2010607" y="4891985"/>
            <a:ext cx="479428" cy="47942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38C7CCD-11B1-F7FC-90C8-AB31E92598B6}"/>
              </a:ext>
            </a:extLst>
          </p:cNvPr>
          <p:cNvSpPr txBox="1"/>
          <p:nvPr/>
        </p:nvSpPr>
        <p:spPr>
          <a:xfrm>
            <a:off x="7781781" y="148797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3731DDB-F14A-0DA6-E661-EA652AE3A935}"/>
              </a:ext>
            </a:extLst>
          </p:cNvPr>
          <p:cNvSpPr txBox="1"/>
          <p:nvPr/>
        </p:nvSpPr>
        <p:spPr>
          <a:xfrm>
            <a:off x="8800702" y="1728125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6805D25-6870-C42E-9E45-D33EB7B68AB9}"/>
              </a:ext>
            </a:extLst>
          </p:cNvPr>
          <p:cNvSpPr txBox="1"/>
          <p:nvPr/>
        </p:nvSpPr>
        <p:spPr>
          <a:xfrm>
            <a:off x="8584749" y="214326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0A61287-2D2D-3E6D-872F-F67CF1EF9DF4}"/>
              </a:ext>
            </a:extLst>
          </p:cNvPr>
          <p:cNvSpPr txBox="1"/>
          <p:nvPr/>
        </p:nvSpPr>
        <p:spPr>
          <a:xfrm>
            <a:off x="9385865" y="214326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DA5BEA-9F9D-90A9-5E52-77545A949F58}"/>
                  </a:ext>
                </a:extLst>
              </p:cNvPr>
              <p:cNvSpPr txBox="1"/>
              <p:nvPr/>
            </p:nvSpPr>
            <p:spPr>
              <a:xfrm>
                <a:off x="10367008" y="1529257"/>
                <a:ext cx="65787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DA5BEA-9F9D-90A9-5E52-77545A949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008" y="1529257"/>
                <a:ext cx="657872" cy="520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7FFF2D88-EB66-DCEE-9B48-12FC21FF161B}"/>
              </a:ext>
            </a:extLst>
          </p:cNvPr>
          <p:cNvSpPr txBox="1"/>
          <p:nvPr/>
        </p:nvSpPr>
        <p:spPr>
          <a:xfrm>
            <a:off x="9571994" y="1138046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Teorema de Tales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0688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7" grpId="0" animBg="1"/>
      <p:bldP spid="11" grpId="0" animBg="1"/>
      <p:bldP spid="6" grpId="0" animBg="1"/>
      <p:bldP spid="24" grpId="0"/>
      <p:bldP spid="4" grpId="0"/>
      <p:bldP spid="5" grpId="0" animBg="1"/>
      <p:bldP spid="8" grpId="0"/>
      <p:bldP spid="16" grpId="0" animBg="1"/>
      <p:bldP spid="17" grpId="0" animBg="1"/>
      <p:bldP spid="15" grpId="0"/>
      <p:bldP spid="18" grpId="0"/>
      <p:bldP spid="19" grpId="0"/>
      <p:bldP spid="20" grpId="0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C73C6762-708B-9DAC-56A5-A964A926188F}"/>
              </a:ext>
            </a:extLst>
          </p:cNvPr>
          <p:cNvSpPr/>
          <p:nvPr/>
        </p:nvSpPr>
        <p:spPr>
          <a:xfrm>
            <a:off x="2608929" y="3901570"/>
            <a:ext cx="1669582" cy="1467712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3B6BFB73-039C-B1DC-79A8-1B0416A498FC}"/>
              </a:ext>
            </a:extLst>
          </p:cNvPr>
          <p:cNvSpPr/>
          <p:nvPr/>
        </p:nvSpPr>
        <p:spPr>
          <a:xfrm>
            <a:off x="8091227" y="1019501"/>
            <a:ext cx="1847088" cy="1170432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EB91429-DEDA-3CC0-5ED2-960238CD4586}"/>
              </a:ext>
            </a:extLst>
          </p:cNvPr>
          <p:cNvSpPr/>
          <p:nvPr/>
        </p:nvSpPr>
        <p:spPr>
          <a:xfrm>
            <a:off x="9062015" y="1635650"/>
            <a:ext cx="876300" cy="554282"/>
          </a:xfrm>
          <a:prstGeom prst="triangle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Arco 10">
            <a:extLst>
              <a:ext uri="{FF2B5EF4-FFF2-40B4-BE49-F238E27FC236}">
                <a16:creationId xmlns:a16="http://schemas.microsoft.com/office/drawing/2014/main" id="{9A957243-7E8A-B15D-5976-0F80F7871DD3}"/>
              </a:ext>
            </a:extLst>
          </p:cNvPr>
          <p:cNvSpPr/>
          <p:nvPr/>
        </p:nvSpPr>
        <p:spPr>
          <a:xfrm>
            <a:off x="9356041" y="1607658"/>
            <a:ext cx="1164548" cy="1164548"/>
          </a:xfrm>
          <a:prstGeom prst="arc">
            <a:avLst>
              <a:gd name="adj1" fmla="val 10875270"/>
              <a:gd name="adj2" fmla="val 12647050"/>
            </a:avLst>
          </a:prstGeom>
          <a:noFill/>
          <a:ln w="12700">
            <a:headEnd type="triangle" w="sm" len="med"/>
            <a:tailEnd type="triangl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91846"/>
            <a:ext cx="7018241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33115"/>
            <a:ext cx="7018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triángulos rectángulos que tengan los mismos ángulos agudos son semejantes.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DDAFFA-B605-6AA6-080B-8DD403D7DCF2}"/>
              </a:ext>
            </a:extLst>
          </p:cNvPr>
          <p:cNvSpPr txBox="1"/>
          <p:nvPr/>
        </p:nvSpPr>
        <p:spPr>
          <a:xfrm>
            <a:off x="9183628" y="1778947"/>
            <a:ext cx="15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α</a:t>
            </a:r>
            <a:endParaRPr lang="es-E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DCBDEA04-1D18-CDA0-BF50-B5FCF838CF7F}"/>
              </a:ext>
            </a:extLst>
          </p:cNvPr>
          <p:cNvSpPr/>
          <p:nvPr/>
        </p:nvSpPr>
        <p:spPr>
          <a:xfrm>
            <a:off x="535084" y="2593723"/>
            <a:ext cx="11123516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A4285D17-49B5-16A0-CDE5-B50461804D2F}"/>
              </a:ext>
            </a:extLst>
          </p:cNvPr>
          <p:cNvSpPr txBox="1"/>
          <p:nvPr/>
        </p:nvSpPr>
        <p:spPr>
          <a:xfrm>
            <a:off x="535084" y="2634992"/>
            <a:ext cx="11123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Teorema de Tales </a:t>
            </a:r>
            <a:r>
              <a:rPr lang="es-ES" sz="2000" b="1" dirty="0"/>
              <a:t>se puede utilizar para calcular la altura de objetos a partir de su sombra.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Gráfico 9" descr="Edificio contorno">
            <a:extLst>
              <a:ext uri="{FF2B5EF4-FFF2-40B4-BE49-F238E27FC236}">
                <a16:creationId xmlns:a16="http://schemas.microsoft.com/office/drawing/2014/main" id="{810CE3E3-4E9E-1D18-7FDB-CDCE1A83A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6582"/>
          <a:stretch/>
        </p:blipFill>
        <p:spPr>
          <a:xfrm>
            <a:off x="3700461" y="3881300"/>
            <a:ext cx="2038350" cy="1700350"/>
          </a:xfrm>
          <a:prstGeom prst="rect">
            <a:avLst/>
          </a:prstGeom>
        </p:spPr>
      </p:pic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2636861C-9445-E771-B286-913FB71C05DC}"/>
              </a:ext>
            </a:extLst>
          </p:cNvPr>
          <p:cNvSpPr/>
          <p:nvPr/>
        </p:nvSpPr>
        <p:spPr>
          <a:xfrm>
            <a:off x="1701680" y="4888168"/>
            <a:ext cx="548640" cy="482304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EC02BB4-D949-CCED-9190-E464C34B68FF}"/>
              </a:ext>
            </a:extLst>
          </p:cNvPr>
          <p:cNvSpPr/>
          <p:nvPr/>
        </p:nvSpPr>
        <p:spPr>
          <a:xfrm>
            <a:off x="2206789" y="4899856"/>
            <a:ext cx="87061" cy="4589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Gráfico 12" descr="Lápiz con relleno sólido">
            <a:extLst>
              <a:ext uri="{FF2B5EF4-FFF2-40B4-BE49-F238E27FC236}">
                <a16:creationId xmlns:a16="http://schemas.microsoft.com/office/drawing/2014/main" id="{0C9567AE-C4E5-A799-70A9-A40EBAA7E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04448">
            <a:off x="2010607" y="4891985"/>
            <a:ext cx="479428" cy="47942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38C7CCD-11B1-F7FC-90C8-AB31E92598B6}"/>
              </a:ext>
            </a:extLst>
          </p:cNvPr>
          <p:cNvSpPr txBox="1"/>
          <p:nvPr/>
        </p:nvSpPr>
        <p:spPr>
          <a:xfrm>
            <a:off x="7781781" y="148797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3731DDB-F14A-0DA6-E661-EA652AE3A935}"/>
              </a:ext>
            </a:extLst>
          </p:cNvPr>
          <p:cNvSpPr txBox="1"/>
          <p:nvPr/>
        </p:nvSpPr>
        <p:spPr>
          <a:xfrm>
            <a:off x="8800702" y="1728125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6805D25-6870-C42E-9E45-D33EB7B68AB9}"/>
              </a:ext>
            </a:extLst>
          </p:cNvPr>
          <p:cNvSpPr txBox="1"/>
          <p:nvPr/>
        </p:nvSpPr>
        <p:spPr>
          <a:xfrm>
            <a:off x="8584749" y="214326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0A61287-2D2D-3E6D-872F-F67CF1EF9DF4}"/>
              </a:ext>
            </a:extLst>
          </p:cNvPr>
          <p:cNvSpPr txBox="1"/>
          <p:nvPr/>
        </p:nvSpPr>
        <p:spPr>
          <a:xfrm>
            <a:off x="9385865" y="214326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DA5BEA-9F9D-90A9-5E52-77545A949F58}"/>
                  </a:ext>
                </a:extLst>
              </p:cNvPr>
              <p:cNvSpPr txBox="1"/>
              <p:nvPr/>
            </p:nvSpPr>
            <p:spPr>
              <a:xfrm>
                <a:off x="10367008" y="1529257"/>
                <a:ext cx="65787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DA5BEA-9F9D-90A9-5E52-77545A949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008" y="1529257"/>
                <a:ext cx="657872" cy="520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7FFF2D88-EB66-DCEE-9B48-12FC21FF161B}"/>
              </a:ext>
            </a:extLst>
          </p:cNvPr>
          <p:cNvSpPr txBox="1"/>
          <p:nvPr/>
        </p:nvSpPr>
        <p:spPr>
          <a:xfrm>
            <a:off x="9571994" y="1138046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Teorema de Tales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2925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C73C6762-708B-9DAC-56A5-A964A926188F}"/>
              </a:ext>
            </a:extLst>
          </p:cNvPr>
          <p:cNvSpPr/>
          <p:nvPr/>
        </p:nvSpPr>
        <p:spPr>
          <a:xfrm>
            <a:off x="2608929" y="3901570"/>
            <a:ext cx="1669582" cy="1467712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3B6BFB73-039C-B1DC-79A8-1B0416A498FC}"/>
              </a:ext>
            </a:extLst>
          </p:cNvPr>
          <p:cNvSpPr/>
          <p:nvPr/>
        </p:nvSpPr>
        <p:spPr>
          <a:xfrm>
            <a:off x="8091227" y="1019501"/>
            <a:ext cx="1847088" cy="1170432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EB91429-DEDA-3CC0-5ED2-960238CD4586}"/>
              </a:ext>
            </a:extLst>
          </p:cNvPr>
          <p:cNvSpPr/>
          <p:nvPr/>
        </p:nvSpPr>
        <p:spPr>
          <a:xfrm>
            <a:off x="9062015" y="1635650"/>
            <a:ext cx="876300" cy="554282"/>
          </a:xfrm>
          <a:prstGeom prst="triangle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Arco 10">
            <a:extLst>
              <a:ext uri="{FF2B5EF4-FFF2-40B4-BE49-F238E27FC236}">
                <a16:creationId xmlns:a16="http://schemas.microsoft.com/office/drawing/2014/main" id="{9A957243-7E8A-B15D-5976-0F80F7871DD3}"/>
              </a:ext>
            </a:extLst>
          </p:cNvPr>
          <p:cNvSpPr/>
          <p:nvPr/>
        </p:nvSpPr>
        <p:spPr>
          <a:xfrm>
            <a:off x="9356041" y="1607658"/>
            <a:ext cx="1164548" cy="1164548"/>
          </a:xfrm>
          <a:prstGeom prst="arc">
            <a:avLst>
              <a:gd name="adj1" fmla="val 10875270"/>
              <a:gd name="adj2" fmla="val 12647050"/>
            </a:avLst>
          </a:prstGeom>
          <a:noFill/>
          <a:ln w="12700">
            <a:headEnd type="triangle" w="sm" len="med"/>
            <a:tailEnd type="triangl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91846"/>
            <a:ext cx="7018241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33115"/>
            <a:ext cx="7018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triángulos rectángulos que tengan los mismos ángulos agudos son semejantes.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DDAFFA-B605-6AA6-080B-8DD403D7DCF2}"/>
              </a:ext>
            </a:extLst>
          </p:cNvPr>
          <p:cNvSpPr txBox="1"/>
          <p:nvPr/>
        </p:nvSpPr>
        <p:spPr>
          <a:xfrm>
            <a:off x="9183628" y="1778947"/>
            <a:ext cx="15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α</a:t>
            </a:r>
            <a:endParaRPr lang="es-E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DCBDEA04-1D18-CDA0-BF50-B5FCF838CF7F}"/>
              </a:ext>
            </a:extLst>
          </p:cNvPr>
          <p:cNvSpPr/>
          <p:nvPr/>
        </p:nvSpPr>
        <p:spPr>
          <a:xfrm>
            <a:off x="535084" y="2593723"/>
            <a:ext cx="11123516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A4285D17-49B5-16A0-CDE5-B50461804D2F}"/>
              </a:ext>
            </a:extLst>
          </p:cNvPr>
          <p:cNvSpPr txBox="1"/>
          <p:nvPr/>
        </p:nvSpPr>
        <p:spPr>
          <a:xfrm>
            <a:off x="535084" y="2634992"/>
            <a:ext cx="11123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Teorema de Tales </a:t>
            </a:r>
            <a:r>
              <a:rPr lang="es-ES" sz="2000" b="1" dirty="0"/>
              <a:t>se puede utilizar para calcular la altura de objetos a partir de su sombra.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Gráfico 9" descr="Edificio contorno">
            <a:extLst>
              <a:ext uri="{FF2B5EF4-FFF2-40B4-BE49-F238E27FC236}">
                <a16:creationId xmlns:a16="http://schemas.microsoft.com/office/drawing/2014/main" id="{810CE3E3-4E9E-1D18-7FDB-CDCE1A83A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6582"/>
          <a:stretch/>
        </p:blipFill>
        <p:spPr>
          <a:xfrm>
            <a:off x="3700461" y="3881300"/>
            <a:ext cx="2038350" cy="1700350"/>
          </a:xfrm>
          <a:prstGeom prst="rect">
            <a:avLst/>
          </a:prstGeom>
        </p:spPr>
      </p:pic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2636861C-9445-E771-B286-913FB71C05DC}"/>
              </a:ext>
            </a:extLst>
          </p:cNvPr>
          <p:cNvSpPr/>
          <p:nvPr/>
        </p:nvSpPr>
        <p:spPr>
          <a:xfrm>
            <a:off x="2606555" y="4888168"/>
            <a:ext cx="548640" cy="482304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EC02BB4-D949-CCED-9190-E464C34B68FF}"/>
              </a:ext>
            </a:extLst>
          </p:cNvPr>
          <p:cNvSpPr/>
          <p:nvPr/>
        </p:nvSpPr>
        <p:spPr>
          <a:xfrm>
            <a:off x="3111664" y="4899856"/>
            <a:ext cx="87061" cy="4589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Gráfico 12" descr="Lápiz con relleno sólido">
            <a:extLst>
              <a:ext uri="{FF2B5EF4-FFF2-40B4-BE49-F238E27FC236}">
                <a16:creationId xmlns:a16="http://schemas.microsoft.com/office/drawing/2014/main" id="{0C9567AE-C4E5-A799-70A9-A40EBAA7E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04448">
            <a:off x="2915482" y="4891985"/>
            <a:ext cx="479428" cy="47942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38C7CCD-11B1-F7FC-90C8-AB31E92598B6}"/>
              </a:ext>
            </a:extLst>
          </p:cNvPr>
          <p:cNvSpPr txBox="1"/>
          <p:nvPr/>
        </p:nvSpPr>
        <p:spPr>
          <a:xfrm>
            <a:off x="7781781" y="148797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3731DDB-F14A-0DA6-E661-EA652AE3A935}"/>
              </a:ext>
            </a:extLst>
          </p:cNvPr>
          <p:cNvSpPr txBox="1"/>
          <p:nvPr/>
        </p:nvSpPr>
        <p:spPr>
          <a:xfrm>
            <a:off x="8800702" y="1728125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6805D25-6870-C42E-9E45-D33EB7B68AB9}"/>
              </a:ext>
            </a:extLst>
          </p:cNvPr>
          <p:cNvSpPr txBox="1"/>
          <p:nvPr/>
        </p:nvSpPr>
        <p:spPr>
          <a:xfrm>
            <a:off x="8584749" y="214326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0A61287-2D2D-3E6D-872F-F67CF1EF9DF4}"/>
              </a:ext>
            </a:extLst>
          </p:cNvPr>
          <p:cNvSpPr txBox="1"/>
          <p:nvPr/>
        </p:nvSpPr>
        <p:spPr>
          <a:xfrm>
            <a:off x="9385865" y="214326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DA5BEA-9F9D-90A9-5E52-77545A949F58}"/>
                  </a:ext>
                </a:extLst>
              </p:cNvPr>
              <p:cNvSpPr txBox="1"/>
              <p:nvPr/>
            </p:nvSpPr>
            <p:spPr>
              <a:xfrm>
                <a:off x="10367008" y="1529257"/>
                <a:ext cx="65787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DA5BEA-9F9D-90A9-5E52-77545A949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008" y="1529257"/>
                <a:ext cx="657872" cy="520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7FFF2D88-EB66-DCEE-9B48-12FC21FF161B}"/>
              </a:ext>
            </a:extLst>
          </p:cNvPr>
          <p:cNvSpPr txBox="1"/>
          <p:nvPr/>
        </p:nvSpPr>
        <p:spPr>
          <a:xfrm>
            <a:off x="9571994" y="1138046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Teorema de Tales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C73C6762-708B-9DAC-56A5-A964A926188F}"/>
              </a:ext>
            </a:extLst>
          </p:cNvPr>
          <p:cNvSpPr/>
          <p:nvPr/>
        </p:nvSpPr>
        <p:spPr>
          <a:xfrm>
            <a:off x="2608929" y="3901570"/>
            <a:ext cx="1669582" cy="1467712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3B6BFB73-039C-B1DC-79A8-1B0416A498FC}"/>
              </a:ext>
            </a:extLst>
          </p:cNvPr>
          <p:cNvSpPr/>
          <p:nvPr/>
        </p:nvSpPr>
        <p:spPr>
          <a:xfrm>
            <a:off x="8091227" y="1019501"/>
            <a:ext cx="1847088" cy="1170432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5EB91429-DEDA-3CC0-5ED2-960238CD4586}"/>
              </a:ext>
            </a:extLst>
          </p:cNvPr>
          <p:cNvSpPr/>
          <p:nvPr/>
        </p:nvSpPr>
        <p:spPr>
          <a:xfrm>
            <a:off x="9062015" y="1635650"/>
            <a:ext cx="876300" cy="554282"/>
          </a:xfrm>
          <a:prstGeom prst="triangle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Arco 10">
            <a:extLst>
              <a:ext uri="{FF2B5EF4-FFF2-40B4-BE49-F238E27FC236}">
                <a16:creationId xmlns:a16="http://schemas.microsoft.com/office/drawing/2014/main" id="{9A957243-7E8A-B15D-5976-0F80F7871DD3}"/>
              </a:ext>
            </a:extLst>
          </p:cNvPr>
          <p:cNvSpPr/>
          <p:nvPr/>
        </p:nvSpPr>
        <p:spPr>
          <a:xfrm>
            <a:off x="9356041" y="1607658"/>
            <a:ext cx="1164548" cy="1164548"/>
          </a:xfrm>
          <a:prstGeom prst="arc">
            <a:avLst>
              <a:gd name="adj1" fmla="val 10875270"/>
              <a:gd name="adj2" fmla="val 12647050"/>
            </a:avLst>
          </a:prstGeom>
          <a:noFill/>
          <a:ln w="12700">
            <a:headEnd type="triangle" w="sm" len="med"/>
            <a:tailEnd type="triangle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91846"/>
            <a:ext cx="7018241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33115"/>
            <a:ext cx="7018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triángulos rectángulos que tengan los mismos ángulos agudos son semejantes.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DDAFFA-B605-6AA6-080B-8DD403D7DCF2}"/>
              </a:ext>
            </a:extLst>
          </p:cNvPr>
          <p:cNvSpPr txBox="1"/>
          <p:nvPr/>
        </p:nvSpPr>
        <p:spPr>
          <a:xfrm>
            <a:off x="9183628" y="1778947"/>
            <a:ext cx="15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α</a:t>
            </a:r>
            <a:endParaRPr lang="es-E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DCBDEA04-1D18-CDA0-BF50-B5FCF838CF7F}"/>
              </a:ext>
            </a:extLst>
          </p:cNvPr>
          <p:cNvSpPr/>
          <p:nvPr/>
        </p:nvSpPr>
        <p:spPr>
          <a:xfrm>
            <a:off x="535084" y="2593723"/>
            <a:ext cx="11123516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A4285D17-49B5-16A0-CDE5-B50461804D2F}"/>
              </a:ext>
            </a:extLst>
          </p:cNvPr>
          <p:cNvSpPr txBox="1"/>
          <p:nvPr/>
        </p:nvSpPr>
        <p:spPr>
          <a:xfrm>
            <a:off x="535084" y="2634992"/>
            <a:ext cx="11123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Teorema de Tales </a:t>
            </a:r>
            <a:r>
              <a:rPr lang="es-ES" sz="2000" b="1" dirty="0"/>
              <a:t>se puede utilizar para calcular la altura de objetos a partir de su sombra.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riángulo isósceles 15">
            <a:extLst>
              <a:ext uri="{FF2B5EF4-FFF2-40B4-BE49-F238E27FC236}">
                <a16:creationId xmlns:a16="http://schemas.microsoft.com/office/drawing/2014/main" id="{2636861C-9445-E771-B286-913FB71C05DC}"/>
              </a:ext>
            </a:extLst>
          </p:cNvPr>
          <p:cNvSpPr/>
          <p:nvPr/>
        </p:nvSpPr>
        <p:spPr>
          <a:xfrm>
            <a:off x="2606555" y="4888168"/>
            <a:ext cx="548640" cy="482304"/>
          </a:xfrm>
          <a:prstGeom prst="triangle">
            <a:avLst>
              <a:gd name="adj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8C7CCD-11B1-F7FC-90C8-AB31E92598B6}"/>
              </a:ext>
            </a:extLst>
          </p:cNvPr>
          <p:cNvSpPr txBox="1"/>
          <p:nvPr/>
        </p:nvSpPr>
        <p:spPr>
          <a:xfrm>
            <a:off x="7781781" y="148797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3731DDB-F14A-0DA6-E661-EA652AE3A935}"/>
              </a:ext>
            </a:extLst>
          </p:cNvPr>
          <p:cNvSpPr txBox="1"/>
          <p:nvPr/>
        </p:nvSpPr>
        <p:spPr>
          <a:xfrm>
            <a:off x="8800702" y="1728125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6805D25-6870-C42E-9E45-D33EB7B68AB9}"/>
              </a:ext>
            </a:extLst>
          </p:cNvPr>
          <p:cNvSpPr txBox="1"/>
          <p:nvPr/>
        </p:nvSpPr>
        <p:spPr>
          <a:xfrm>
            <a:off x="8584749" y="214326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0A61287-2D2D-3E6D-872F-F67CF1EF9DF4}"/>
              </a:ext>
            </a:extLst>
          </p:cNvPr>
          <p:cNvSpPr txBox="1"/>
          <p:nvPr/>
        </p:nvSpPr>
        <p:spPr>
          <a:xfrm>
            <a:off x="9385865" y="2143267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DA5BEA-9F9D-90A9-5E52-77545A949F58}"/>
                  </a:ext>
                </a:extLst>
              </p:cNvPr>
              <p:cNvSpPr txBox="1"/>
              <p:nvPr/>
            </p:nvSpPr>
            <p:spPr>
              <a:xfrm>
                <a:off x="10367008" y="1529257"/>
                <a:ext cx="65787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0DA5BEA-9F9D-90A9-5E52-77545A949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008" y="1529257"/>
                <a:ext cx="657872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7FFF2D88-EB66-DCEE-9B48-12FC21FF161B}"/>
              </a:ext>
            </a:extLst>
          </p:cNvPr>
          <p:cNvSpPr txBox="1"/>
          <p:nvPr/>
        </p:nvSpPr>
        <p:spPr>
          <a:xfrm>
            <a:off x="9571994" y="1138046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Teorema de Tales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CA1942-6ECE-2CFA-C18E-07970E63883B}"/>
              </a:ext>
            </a:extLst>
          </p:cNvPr>
          <p:cNvSpPr txBox="1"/>
          <p:nvPr/>
        </p:nvSpPr>
        <p:spPr>
          <a:xfrm>
            <a:off x="2661581" y="5321657"/>
            <a:ext cx="43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8D8B3E7-DA82-D70D-C99D-560B1A5A3192}"/>
              </a:ext>
            </a:extLst>
          </p:cNvPr>
          <p:cNvSpPr txBox="1"/>
          <p:nvPr/>
        </p:nvSpPr>
        <p:spPr>
          <a:xfrm>
            <a:off x="3119651" y="4909628"/>
            <a:ext cx="43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20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A2443F0-7932-6AAC-42D4-D96237923FB0}"/>
              </a:ext>
            </a:extLst>
          </p:cNvPr>
          <p:cNvCxnSpPr>
            <a:cxnSpLocks/>
          </p:cNvCxnSpPr>
          <p:nvPr/>
        </p:nvCxnSpPr>
        <p:spPr>
          <a:xfrm>
            <a:off x="2580520" y="5873528"/>
            <a:ext cx="1697991" cy="0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A9929BE-4452-D7E0-2AED-D747D133824A}"/>
              </a:ext>
            </a:extLst>
          </p:cNvPr>
          <p:cNvSpPr txBox="1"/>
          <p:nvPr/>
        </p:nvSpPr>
        <p:spPr>
          <a:xfrm>
            <a:off x="3071309" y="5551595"/>
            <a:ext cx="716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1875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0D4525C7-1A4D-4F97-3F76-1DA360746FD6}"/>
              </a:ext>
            </a:extLst>
          </p:cNvPr>
          <p:cNvCxnSpPr>
            <a:cxnSpLocks/>
          </p:cNvCxnSpPr>
          <p:nvPr/>
        </p:nvCxnSpPr>
        <p:spPr>
          <a:xfrm>
            <a:off x="4673807" y="3901570"/>
            <a:ext cx="0" cy="1467712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8A9B840-43CD-36D4-E0A9-6E7F5BDFC55D}"/>
              </a:ext>
            </a:extLst>
          </p:cNvPr>
          <p:cNvSpPr txBox="1"/>
          <p:nvPr/>
        </p:nvSpPr>
        <p:spPr>
          <a:xfrm>
            <a:off x="4180772" y="4450037"/>
            <a:ext cx="716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AE4DD99E-5173-FC93-F341-1262EA317EE8}"/>
                  </a:ext>
                </a:extLst>
              </p:cNvPr>
              <p:cNvSpPr txBox="1"/>
              <p:nvPr/>
            </p:nvSpPr>
            <p:spPr>
              <a:xfrm>
                <a:off x="5179610" y="4210765"/>
                <a:ext cx="639758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1875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=1875∙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=1500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AE4DD99E-5173-FC93-F341-1262EA31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610" y="4210765"/>
                <a:ext cx="6397585" cy="6938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68977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8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DCBDEA04-1D18-CDA0-BF50-B5FCF838CF7F}"/>
              </a:ext>
            </a:extLst>
          </p:cNvPr>
          <p:cNvSpPr/>
          <p:nvPr/>
        </p:nvSpPr>
        <p:spPr>
          <a:xfrm>
            <a:off x="535084" y="1156808"/>
            <a:ext cx="11123516" cy="80339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A4285D17-49B5-16A0-CDE5-B50461804D2F}"/>
              </a:ext>
            </a:extLst>
          </p:cNvPr>
          <p:cNvSpPr txBox="1"/>
          <p:nvPr/>
        </p:nvSpPr>
        <p:spPr>
          <a:xfrm>
            <a:off x="535084" y="1198077"/>
            <a:ext cx="11123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Existe otra forma de calcular objetos verticales utilizando el 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Teorema de Tales</a:t>
            </a:r>
            <a:r>
              <a:rPr lang="es-ES" sz="2000" b="1" dirty="0"/>
              <a:t>, pero esta vez sin necesidad de su sombra.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5DC209C-D698-C130-E9A3-36C746D72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84" y="2194884"/>
            <a:ext cx="4484096" cy="1703322"/>
          </a:xfrm>
          <a:prstGeom prst="rect">
            <a:avLst/>
          </a:prstGeom>
        </p:spPr>
      </p:pic>
      <p:sp>
        <p:nvSpPr>
          <p:cNvPr id="17" name="Triángulo isósceles 16">
            <a:extLst>
              <a:ext uri="{FF2B5EF4-FFF2-40B4-BE49-F238E27FC236}">
                <a16:creationId xmlns:a16="http://schemas.microsoft.com/office/drawing/2014/main" id="{69A0F317-9D61-E96D-49A3-BAFFE0430B69}"/>
              </a:ext>
            </a:extLst>
          </p:cNvPr>
          <p:cNvSpPr/>
          <p:nvPr/>
        </p:nvSpPr>
        <p:spPr>
          <a:xfrm>
            <a:off x="2014277" y="3992488"/>
            <a:ext cx="1847088" cy="1170432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Triángulo isósceles 22">
            <a:extLst>
              <a:ext uri="{FF2B5EF4-FFF2-40B4-BE49-F238E27FC236}">
                <a16:creationId xmlns:a16="http://schemas.microsoft.com/office/drawing/2014/main" id="{76C60969-5B08-84CF-5784-20DD932D26A3}"/>
              </a:ext>
            </a:extLst>
          </p:cNvPr>
          <p:cNvSpPr/>
          <p:nvPr/>
        </p:nvSpPr>
        <p:spPr>
          <a:xfrm>
            <a:off x="2985065" y="4608637"/>
            <a:ext cx="876300" cy="554282"/>
          </a:xfrm>
          <a:prstGeom prst="triangle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B443510-D558-7CF3-B53C-F0320D8B133C}"/>
              </a:ext>
            </a:extLst>
          </p:cNvPr>
          <p:cNvSpPr txBox="1"/>
          <p:nvPr/>
        </p:nvSpPr>
        <p:spPr>
          <a:xfrm>
            <a:off x="1704831" y="446096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E529040-E27D-4AF1-4348-8C085082C681}"/>
              </a:ext>
            </a:extLst>
          </p:cNvPr>
          <p:cNvSpPr txBox="1"/>
          <p:nvPr/>
        </p:nvSpPr>
        <p:spPr>
          <a:xfrm>
            <a:off x="2723752" y="4701112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330EDBC-D954-14DB-EB33-0AEFCE14704E}"/>
              </a:ext>
            </a:extLst>
          </p:cNvPr>
          <p:cNvSpPr txBox="1"/>
          <p:nvPr/>
        </p:nvSpPr>
        <p:spPr>
          <a:xfrm>
            <a:off x="2507799" y="511625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5A097D9-AED7-582F-1C0F-AEA2B4DBD21C}"/>
              </a:ext>
            </a:extLst>
          </p:cNvPr>
          <p:cNvSpPr txBox="1"/>
          <p:nvPr/>
        </p:nvSpPr>
        <p:spPr>
          <a:xfrm>
            <a:off x="3308915" y="5116254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80D630A-DCC1-18F3-9E22-786FA86F568F}"/>
              </a:ext>
            </a:extLst>
          </p:cNvPr>
          <p:cNvSpPr txBox="1"/>
          <p:nvPr/>
        </p:nvSpPr>
        <p:spPr>
          <a:xfrm>
            <a:off x="5281992" y="2158789"/>
            <a:ext cx="498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a: Distancia de tu ojo al objeto; a = 50 cm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4413109-3EFD-DE96-B86C-A29C944248F8}"/>
              </a:ext>
            </a:extLst>
          </p:cNvPr>
          <p:cNvSpPr txBox="1"/>
          <p:nvPr/>
        </p:nvSpPr>
        <p:spPr>
          <a:xfrm>
            <a:off x="5281992" y="2548514"/>
            <a:ext cx="4829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b: Altura de la regla; b = 35 cm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6C8033F-B32C-47C4-9D6E-2997BE3EBE5B}"/>
              </a:ext>
            </a:extLst>
          </p:cNvPr>
          <p:cNvSpPr txBox="1"/>
          <p:nvPr/>
        </p:nvSpPr>
        <p:spPr>
          <a:xfrm>
            <a:off x="5281992" y="2938239"/>
            <a:ext cx="508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c: Altura de la casa desde la mesa; c = ?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C6079CA-5CC0-72E6-2413-218EE6A36038}"/>
              </a:ext>
            </a:extLst>
          </p:cNvPr>
          <p:cNvSpPr txBox="1"/>
          <p:nvPr/>
        </p:nvSpPr>
        <p:spPr>
          <a:xfrm>
            <a:off x="5281992" y="3327964"/>
            <a:ext cx="540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d: Distancia de tu ojo a la casa; d = 4,5 m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56D07B3-6B0D-0D4B-DD7F-055AC1A99ECC}"/>
              </a:ext>
            </a:extLst>
          </p:cNvPr>
          <p:cNvCxnSpPr/>
          <p:nvPr/>
        </p:nvCxnSpPr>
        <p:spPr>
          <a:xfrm>
            <a:off x="3409950" y="3144610"/>
            <a:ext cx="0" cy="70008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B7FD45D-4AEA-2B56-E646-950A28A7E1A8}"/>
              </a:ext>
            </a:extLst>
          </p:cNvPr>
          <p:cNvSpPr txBox="1"/>
          <p:nvPr/>
        </p:nvSpPr>
        <p:spPr>
          <a:xfrm>
            <a:off x="3409950" y="3305308"/>
            <a:ext cx="209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z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E48C1BB-69DF-CAE4-13E0-31C588A195CA}"/>
              </a:ext>
            </a:extLst>
          </p:cNvPr>
          <p:cNvSpPr txBox="1"/>
          <p:nvPr/>
        </p:nvSpPr>
        <p:spPr>
          <a:xfrm>
            <a:off x="5281992" y="3717688"/>
            <a:ext cx="378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z: Altura de la mesa; z = 80 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7A31FB1E-CC26-7F9C-2BC3-FAD61D7C871A}"/>
                  </a:ext>
                </a:extLst>
              </p:cNvPr>
              <p:cNvSpPr txBox="1"/>
              <p:nvPr/>
            </p:nvSpPr>
            <p:spPr>
              <a:xfrm>
                <a:off x="4993496" y="4461942"/>
                <a:ext cx="4769383" cy="701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450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=35∙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450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=315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7A31FB1E-CC26-7F9C-2BC3-FAD61D7C8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496" y="4461942"/>
                <a:ext cx="4769383" cy="7013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BE3C55A4-B854-78D7-7CF1-933F592C8334}"/>
                  </a:ext>
                </a:extLst>
              </p:cNvPr>
              <p:cNvSpPr txBox="1"/>
              <p:nvPr/>
            </p:nvSpPr>
            <p:spPr>
              <a:xfrm>
                <a:off x="1712588" y="5678916"/>
                <a:ext cx="87668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𝑙𝑡𝑢𝑟𝑎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𝑐𝑎𝑠𝑎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=315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+80 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=395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=3,95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BE3C55A4-B854-78D7-7CF1-933F592C8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588" y="5678916"/>
                <a:ext cx="8766824" cy="369332"/>
              </a:xfrm>
              <a:prstGeom prst="rect">
                <a:avLst/>
              </a:prstGeom>
              <a:blipFill>
                <a:blip r:embed="rId8"/>
                <a:stretch>
                  <a:fillRect l="-278" b="-11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71008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7" grpId="0" animBg="1"/>
      <p:bldP spid="23" grpId="0" animBg="1"/>
      <p:bldP spid="27" grpId="0"/>
      <p:bldP spid="30" grpId="0"/>
      <p:bldP spid="31" grpId="0"/>
      <p:bldP spid="32" grpId="0"/>
      <p:bldP spid="35" grpId="0"/>
      <p:bldP spid="36" grpId="0"/>
      <p:bldP spid="37" grpId="0"/>
      <p:bldP spid="38" grpId="0"/>
      <p:bldP spid="41" grpId="0"/>
      <p:bldP spid="43" grpId="0"/>
      <p:bldP spid="44" grpId="0"/>
      <p:bldP spid="4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C07C47B-7FAD-4830-8F3B-0B360DBBE01E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8 - Teorema de Pitágoras. Semejanza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Teorema de Tale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115EB3B-E0A1-4544-9D89-D8714EDC87A5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FE0CCB9-8D82-4DB3-BCE9-EFD09C5085B9}:2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7089752-0579-4EC4-916F-E5F7088A2BC8}:25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4680124-007C-49C1-AF4C-D4C202FBC12F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9BD785E-F780-4CE3-B430-3EB805B9B8CA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353</Words>
  <Application>Microsoft Office PowerPoint</Application>
  <PresentationFormat>Panorámica</PresentationFormat>
  <Paragraphs>64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Teorema de Tales</dc:title>
  <dc:creator>Illán Linos Souto</dc:creator>
  <cp:lastModifiedBy>Illán Linos</cp:lastModifiedBy>
  <cp:revision>67</cp:revision>
  <dcterms:created xsi:type="dcterms:W3CDTF">2024-08-18T18:48:07Z</dcterms:created>
  <dcterms:modified xsi:type="dcterms:W3CDTF">2025-11-18T13:06:36Z</dcterms:modified>
</cp:coreProperties>
</file>