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D0B0E7"/>
    <a:srgbClr val="FFFFDB"/>
    <a:srgbClr val="ECF7FC"/>
    <a:srgbClr val="0A0A0A"/>
    <a:srgbClr val="EEFBEF"/>
    <a:srgbClr val="84E291"/>
    <a:srgbClr val="EDF8FC"/>
    <a:srgbClr val="FCF67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E9014-EDC6-4CAD-8236-FE98A7E1E35A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0D279-5C35-43D9-95DA-0F95D7DBBB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626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0D279-5C35-43D9-95DA-0F95D7DBBBD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245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121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Teorema de Pitágoras. Semejanza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figuras</a:t>
            </a:r>
            <a:r>
              <a:rPr lang="es-ES" sz="2000" b="1" dirty="0"/>
              <a:t> distintas son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semejantes</a:t>
            </a:r>
            <a:r>
              <a:rPr lang="es-ES" sz="2000" b="1" dirty="0"/>
              <a:t> cuando solo difieren en su tamaño. En</a:t>
            </a:r>
          </a:p>
          <a:p>
            <a:r>
              <a:rPr lang="es-ES" sz="2000" b="1" dirty="0"/>
              <a:t>tal caso, los segmentos correspondientes son proporcionales.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C091E606-9A7B-43B1-CE12-8C7075E03D1D}"/>
              </a:ext>
            </a:extLst>
          </p:cNvPr>
          <p:cNvSpPr/>
          <p:nvPr/>
        </p:nvSpPr>
        <p:spPr>
          <a:xfrm>
            <a:off x="535084" y="1891867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D7B8E6F9-DF18-AF5B-EA89-DA2654D832A0}"/>
              </a:ext>
            </a:extLst>
          </p:cNvPr>
          <p:cNvSpPr txBox="1"/>
          <p:nvPr/>
        </p:nvSpPr>
        <p:spPr>
          <a:xfrm>
            <a:off x="535084" y="189915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Cada longitud en una de ellas se obtiene multiplicando la longitud correspondiente</a:t>
            </a:r>
          </a:p>
          <a:p>
            <a:r>
              <a:rPr lang="es-ES" sz="2000" b="1" dirty="0"/>
              <a:t>en la otra por un número fijo, llamado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razón de semejanza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3" name="Imagen 12" descr="Mapa&#10;&#10;Descripción generada automáticamente">
            <a:extLst>
              <a:ext uri="{FF2B5EF4-FFF2-40B4-BE49-F238E27FC236}">
                <a16:creationId xmlns:a16="http://schemas.microsoft.com/office/drawing/2014/main" id="{C7B71CB9-ABAE-2C13-23C2-643492CFB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3029286"/>
            <a:ext cx="4286250" cy="3290788"/>
          </a:xfrm>
          <a:prstGeom prst="rect">
            <a:avLst/>
          </a:prstGeom>
        </p:spPr>
      </p:pic>
      <p:pic>
        <p:nvPicPr>
          <p:cNvPr id="15" name="Gráfico 14" descr="Marcador con relleno sólido">
            <a:extLst>
              <a:ext uri="{FF2B5EF4-FFF2-40B4-BE49-F238E27FC236}">
                <a16:creationId xmlns:a16="http://schemas.microsoft.com/office/drawing/2014/main" id="{00AE350E-BCA2-3C36-7548-1BA45DADEE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96972" y="2896997"/>
            <a:ext cx="541528" cy="541528"/>
          </a:xfrm>
          <a:prstGeom prst="rect">
            <a:avLst/>
          </a:prstGeom>
        </p:spPr>
      </p:pic>
      <p:pic>
        <p:nvPicPr>
          <p:cNvPr id="17" name="Gráfico 16" descr="Marcador con relleno sólido">
            <a:extLst>
              <a:ext uri="{FF2B5EF4-FFF2-40B4-BE49-F238E27FC236}">
                <a16:creationId xmlns:a16="http://schemas.microsoft.com/office/drawing/2014/main" id="{B54964BA-BF30-AD52-3274-557465478D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2372" y="5341525"/>
            <a:ext cx="541528" cy="541528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D60FDFAE-4204-D1E6-270D-8E1590CAED67}"/>
              </a:ext>
            </a:extLst>
          </p:cNvPr>
          <p:cNvCxnSpPr>
            <a:cxnSpLocks/>
          </p:cNvCxnSpPr>
          <p:nvPr/>
        </p:nvCxnSpPr>
        <p:spPr>
          <a:xfrm flipV="1">
            <a:off x="1866900" y="3438525"/>
            <a:ext cx="1034034" cy="217242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F05C533-90DE-8A54-82BC-23A93DE69484}"/>
              </a:ext>
            </a:extLst>
          </p:cNvPr>
          <p:cNvSpPr txBox="1"/>
          <p:nvPr/>
        </p:nvSpPr>
        <p:spPr>
          <a:xfrm rot="17725532">
            <a:off x="1528321" y="4098233"/>
            <a:ext cx="147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700 km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6F52AC6-05D5-BBC8-9202-05B0A5371E30}"/>
              </a:ext>
            </a:extLst>
          </p:cNvPr>
          <p:cNvSpPr txBox="1"/>
          <p:nvPr/>
        </p:nvSpPr>
        <p:spPr>
          <a:xfrm rot="17725532">
            <a:off x="1913045" y="4277966"/>
            <a:ext cx="147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35 cm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43405CD-65B3-E34F-E335-F55414249D4A}"/>
              </a:ext>
            </a:extLst>
          </p:cNvPr>
          <p:cNvSpPr txBox="1"/>
          <p:nvPr/>
        </p:nvSpPr>
        <p:spPr>
          <a:xfrm>
            <a:off x="5340731" y="3219450"/>
            <a:ext cx="4822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Distancia real = 700 km</a:t>
            </a:r>
          </a:p>
          <a:p>
            <a:r>
              <a:rPr lang="es-ES" sz="2000" dirty="0"/>
              <a:t>Distancia en el mapa = 35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48DADA90-EFF5-46AE-284C-0D7A7AB8CC18}"/>
                  </a:ext>
                </a:extLst>
              </p:cNvPr>
              <p:cNvSpPr txBox="1"/>
              <p:nvPr/>
            </p:nvSpPr>
            <p:spPr>
              <a:xfrm>
                <a:off x="5402467" y="4244208"/>
                <a:ext cx="6623673" cy="6221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𝑅𝑎𝑧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𝑠𝑒𝑚𝑒𝑗𝑎𝑛𝑧𝑎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700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𝑐𝑚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=2.000.000=2</m:t>
                      </m:r>
                      <m:r>
                        <a:rPr lang="es-E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48DADA90-EFF5-46AE-284C-0D7A7AB8C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467" y="4244208"/>
                <a:ext cx="6623673" cy="6221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1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/>
      <p:bldP spid="31" grpId="0"/>
      <p:bldP spid="32" grpId="0"/>
      <p:bldP spid="35" grpId="0" build="p"/>
      <p:bldP spid="3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C171CA8-355A-40E5-926B-266EB3F819F8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8 - Teorema de Pitágoras. Semejanz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2. Figuras semejant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0C060AC-EEEA-4FA3-BF27-CA4E0FC9D54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</TotalTime>
  <Words>83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Figuras semejantes</dc:title>
  <dc:creator>Illán Linos Souto</dc:creator>
  <cp:lastModifiedBy>Illán Linos</cp:lastModifiedBy>
  <cp:revision>62</cp:revision>
  <dcterms:created xsi:type="dcterms:W3CDTF">2024-08-18T18:48:07Z</dcterms:created>
  <dcterms:modified xsi:type="dcterms:W3CDTF">2025-11-18T13:05:26Z</dcterms:modified>
</cp:coreProperties>
</file>