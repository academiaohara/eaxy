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7" r:id="rId2"/>
    <p:sldId id="258" r:id="rId3"/>
  </p:sldIdLst>
  <p:sldSz cx="12192000" cy="6858000"/>
  <p:notesSz cx="6858000" cy="9144000"/>
  <p:custDataLst>
    <p:tags r:id="rId5"/>
  </p:custDataLst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EDCDF"/>
    <a:srgbClr val="156082"/>
    <a:srgbClr val="EF4246"/>
    <a:srgbClr val="5759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74" autoAdjust="0"/>
    <p:restoredTop sz="96238" autoAdjust="0"/>
  </p:normalViewPr>
  <p:slideViewPr>
    <p:cSldViewPr snapToGrid="0">
      <p:cViewPr varScale="1">
        <p:scale>
          <a:sx n="107" d="100"/>
          <a:sy n="107" d="100"/>
        </p:scale>
        <p:origin x="630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tags" Target="tags/tag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8E5F42-AC9B-465A-913D-46F3FC977294}" type="datetimeFigureOut">
              <a:rPr lang="es-ES" smtClean="0"/>
              <a:t>17/11/2025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C94BFC-AABC-438D-9050-020F0C4BEA6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126760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C94BFC-AABC-438D-9050-020F0C4BEA65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911696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C94BFC-AABC-438D-9050-020F0C4BEA65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217295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30CC69-0242-EE52-5289-975CBA2714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6F73D9F-B4D1-33D9-1D9E-271DC37A5E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1B39749-7708-B233-4400-98CF8C501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26388BE-A95D-EE17-9576-0B1138379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3D0BC4-CBE6-D467-E4D6-D64D32A57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78896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030BAC-1FB0-491F-B603-3E5454500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2D2B9C2-E0AD-3BBC-D8A3-47A4754CCC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B1FCF2C-2E83-F0B3-7C49-1FAAE1412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A684B2A-CB3A-7102-BDD4-2F18AA9CC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A8DB67A-C1BA-90FE-61D4-ECDD22E4C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72848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BDC9DC-72C3-F198-AFF4-787C9902F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4580639-1DFF-62A6-4B36-1388D36D2A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D1EF8A9-8072-80ED-8C3E-2612BB66F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6F21A17-5845-AA5F-EF08-20FC40F70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ADA33D3-04F5-0B1F-71C9-5784F3658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57462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A352E5-63E6-0BEF-532D-E52C8C5C1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D0E9DDE-BBA1-199E-A343-07F0C4D637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21534CA-3C16-BC29-D85F-2DFF0D4AC4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25BE418-589F-9F63-2F44-25C1FEC28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B9955F2-ABB9-4947-BBFF-5D163FE48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C49642F-2057-D0A7-29F6-105C0BC44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30496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A2EB1B-6FEB-11D6-7747-C644CB42B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E7A958E-B4E1-010E-7195-E2BBB20852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001E33A-EA12-5855-CF73-F53B369C3F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0888ACB-A13F-1F1E-6897-3B8D4972FC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F7CF691-1808-02B7-B038-046B7536E3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7277917-8322-4093-178F-A9DACEF58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4B37C16-BE58-1006-6656-85C156369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0F44860-CAA5-300E-EC8A-678764646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3863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B697BC-44BC-F6A3-3B3A-9061217A6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266EEE2-A47A-6360-2F03-FCB00E03D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C4E4590-3762-5D55-5414-FD37FCCC9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EABE1C9-EE22-D475-B974-B7FD86890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23595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5A1C9C2-287B-BFB5-6360-B6B9BF11D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2A85BED-F9C2-B7AA-F0C1-B4BBE23B3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BA57394-8137-0A52-85CD-7B5C04D76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64524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4E36CD-55FB-DE2E-9C92-ECB6F0128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3189CA2-3ED8-7653-E541-3314D3E7CC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234EC18-037F-C4BA-B572-E9717A54E8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E363633-E074-9B5A-A143-CED74E719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58EB83B-4105-2D5F-9E15-1089C67BC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634990F-A961-2D4E-817B-8363E47BB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69154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DB6008-DB7C-3324-403B-7657B8176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2FD88B2-9A94-BDDB-FAF2-931DA13042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5A41C9A-1AEA-7DDD-D68F-E69F0B3887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E954D82-C7F9-CAFF-7A53-9B8702713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C78EE88-8582-855D-4C7A-80A0B6B1C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C7705F8-A957-7664-DD87-ADB5F3227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53732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58A047-3EF9-CD34-78AF-504143986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C4FC04D-A229-A68C-D470-62CFD3084A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9EF32C-D8D2-51BE-CEBE-3458EDBB7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81F469C-112A-DEC8-A016-1F623F919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690AE46-A55B-56FF-1006-2C0A6D79D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09212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F857533-87A5-755E-31C0-0F39BDFFA8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161402F-BC08-3B7E-9D9B-FB176E46CE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2D70B13-29F6-BFB0-3110-5363018D9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1110C1E-4D6E-44ED-E74C-E8B2893C7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609230-F255-4451-22E1-498837BDB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8114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A11EF0C-DF51-DDFE-8A88-2777D9AAB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42B8EC7-7A82-FD16-3D86-7F6E80B1F3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DCAE80F-9F6E-A95C-C6E1-E800DB8A5A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3E6E93-7F22-48C5-BB25-3E621262F540}" type="datetimeFigureOut">
              <a:rPr lang="es-ES" smtClean="0"/>
              <a:t>17/11/2025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37CFB18-B5E6-AFA1-A378-83FC7C484D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F426725-340B-BBCA-B44B-A0300BEA83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2DBD23-11C2-4AF2-872F-82FAE4265C6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46405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7" Type="http://schemas.openxmlformats.org/officeDocument/2006/relationships/image" Target="../media/image9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6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535084" y="1039706"/>
            <a:ext cx="11121832" cy="420188"/>
          </a:xfrm>
          <a:prstGeom prst="rect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1C6B913A-99FD-1A1D-B485-29712A9AD0B2}"/>
              </a:ext>
            </a:extLst>
          </p:cNvPr>
          <p:cNvSpPr txBox="1"/>
          <p:nvPr/>
        </p:nvSpPr>
        <p:spPr>
          <a:xfrm>
            <a:off x="535084" y="1049745"/>
            <a:ext cx="111218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latin typeface="Century Gothic" panose="020B0502020202020204" pitchFamily="34" charset="0"/>
              </a:rPr>
              <a:t>Consiste en expresar un número como el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producto de números primos </a:t>
            </a:r>
            <a:r>
              <a:rPr lang="es-ES" sz="2000" b="1" dirty="0">
                <a:latin typeface="Century Gothic" panose="020B0502020202020204" pitchFamily="34" charset="0"/>
              </a:rPr>
              <a:t>(factores primos).</a:t>
            </a:r>
          </a:p>
        </p:txBody>
      </p:sp>
      <p:sp>
        <p:nvSpPr>
          <p:cNvPr id="5" name="!Marco 10">
            <a:extLst>
              <a:ext uri="{FF2B5EF4-FFF2-40B4-BE49-F238E27FC236}">
                <a16:creationId xmlns:a16="http://schemas.microsoft.com/office/drawing/2014/main" id="{F0209A7B-03EA-3233-0F7B-91452C56C740}"/>
              </a:ext>
            </a:extLst>
          </p:cNvPr>
          <p:cNvSpPr/>
          <p:nvPr/>
        </p:nvSpPr>
        <p:spPr>
          <a:xfrm>
            <a:off x="535084" y="1689060"/>
            <a:ext cx="11121832" cy="420188"/>
          </a:xfrm>
          <a:prstGeom prst="rect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!CuadroTexto 1">
            <a:extLst>
              <a:ext uri="{FF2B5EF4-FFF2-40B4-BE49-F238E27FC236}">
                <a16:creationId xmlns:a16="http://schemas.microsoft.com/office/drawing/2014/main" id="{13B11B19-64B7-BB7C-192C-1D58222D6FBF}"/>
              </a:ext>
            </a:extLst>
          </p:cNvPr>
          <p:cNvSpPr txBox="1"/>
          <p:nvPr/>
        </p:nvSpPr>
        <p:spPr>
          <a:xfrm>
            <a:off x="535084" y="1699099"/>
            <a:ext cx="111218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latin typeface="Century Gothic" panose="020B0502020202020204" pitchFamily="34" charset="0"/>
              </a:rPr>
              <a:t>Un número primo es aquel que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sólo es divisible por 1 o por sí mismo</a:t>
            </a:r>
            <a:r>
              <a:rPr lang="es-ES" sz="2000" b="1" dirty="0">
                <a:latin typeface="Century Gothic" panose="020B0502020202020204" pitchFamily="34" charset="0"/>
              </a:rPr>
              <a:t>.</a:t>
            </a:r>
          </a:p>
        </p:txBody>
      </p:sp>
      <p:sp>
        <p:nvSpPr>
          <p:cNvPr id="12" name="!CuadroTexto 1">
            <a:extLst>
              <a:ext uri="{FF2B5EF4-FFF2-40B4-BE49-F238E27FC236}">
                <a16:creationId xmlns:a16="http://schemas.microsoft.com/office/drawing/2014/main" id="{924E7391-93A1-8C71-E1B1-B832C3B64895}"/>
              </a:ext>
            </a:extLst>
          </p:cNvPr>
          <p:cNvSpPr txBox="1"/>
          <p:nvPr/>
        </p:nvSpPr>
        <p:spPr>
          <a:xfrm>
            <a:off x="535084" y="2339590"/>
            <a:ext cx="1112183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1º- Se coloca el número que se quiere factorizar</a:t>
            </a:r>
          </a:p>
          <a:p>
            <a:r>
              <a:rPr lang="es-ES" sz="2000" b="1" dirty="0">
                <a:latin typeface="Century Gothic" panose="020B0502020202020204" pitchFamily="34" charset="0"/>
              </a:rPr>
              <a:t>2º- Se traza una línea vertical a su derecha</a:t>
            </a:r>
          </a:p>
          <a:p>
            <a:r>
              <a:rPr lang="es-ES" sz="2000" b="1" dirty="0">
                <a:latin typeface="Century Gothic" panose="020B0502020202020204" pitchFamily="34" charset="0"/>
              </a:rPr>
              <a:t>3º- Se comienza a dividir entre los números primos: 2, 3, 5, 7, …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[de menor a mayor]</a:t>
            </a:r>
          </a:p>
          <a:p>
            <a:r>
              <a:rPr lang="es-ES" sz="2000" b="1" dirty="0">
                <a:latin typeface="Century Gothic" panose="020B0502020202020204" pitchFamily="34" charset="0"/>
              </a:rPr>
              <a:t>4º- Se termina cuando el resultado da 1</a:t>
            </a:r>
          </a:p>
        </p:txBody>
      </p:sp>
      <p:sp>
        <p:nvSpPr>
          <p:cNvPr id="15" name="!Marco 10">
            <a:extLst>
              <a:ext uri="{FF2B5EF4-FFF2-40B4-BE49-F238E27FC236}">
                <a16:creationId xmlns:a16="http://schemas.microsoft.com/office/drawing/2014/main" id="{07B47C6F-2133-961B-9FEF-FC48542AF8BE}"/>
              </a:ext>
            </a:extLst>
          </p:cNvPr>
          <p:cNvSpPr/>
          <p:nvPr/>
        </p:nvSpPr>
        <p:spPr>
          <a:xfrm>
            <a:off x="535084" y="2339590"/>
            <a:ext cx="11121832" cy="1323439"/>
          </a:xfrm>
          <a:prstGeom prst="rect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CC303C38-F184-6451-EF74-5E1E552E7CFB}"/>
              </a:ext>
            </a:extLst>
          </p:cNvPr>
          <p:cNvSpPr txBox="1"/>
          <p:nvPr/>
        </p:nvSpPr>
        <p:spPr>
          <a:xfrm>
            <a:off x="468409" y="3746872"/>
            <a:ext cx="73352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EJEMPLO: </a:t>
            </a:r>
            <a:r>
              <a:rPr lang="es-ES" sz="2000" b="1" dirty="0">
                <a:latin typeface="Century Gothic" panose="020B0502020202020204" pitchFamily="34" charset="0"/>
              </a:rPr>
              <a:t>Descomponer el número 24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68AB25CD-758E-B2AF-9488-CA39460C422E}"/>
              </a:ext>
            </a:extLst>
          </p:cNvPr>
          <p:cNvSpPr txBox="1"/>
          <p:nvPr/>
        </p:nvSpPr>
        <p:spPr>
          <a:xfrm>
            <a:off x="6008418" y="3996851"/>
            <a:ext cx="8636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/>
              <a:t>24</a:t>
            </a:r>
          </a:p>
        </p:txBody>
      </p: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AD5D3C74-BFE2-FAAE-F708-6B11F1CD9053}"/>
              </a:ext>
            </a:extLst>
          </p:cNvPr>
          <p:cNvCxnSpPr>
            <a:cxnSpLocks/>
          </p:cNvCxnSpPr>
          <p:nvPr/>
        </p:nvCxnSpPr>
        <p:spPr>
          <a:xfrm>
            <a:off x="6789201" y="4021651"/>
            <a:ext cx="0" cy="244323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uadroTexto 24">
            <a:extLst>
              <a:ext uri="{FF2B5EF4-FFF2-40B4-BE49-F238E27FC236}">
                <a16:creationId xmlns:a16="http://schemas.microsoft.com/office/drawing/2014/main" id="{717EFFB3-4EC4-66B8-37F0-5EC48B0449FB}"/>
              </a:ext>
            </a:extLst>
          </p:cNvPr>
          <p:cNvSpPr txBox="1"/>
          <p:nvPr/>
        </p:nvSpPr>
        <p:spPr>
          <a:xfrm>
            <a:off x="6691186" y="3996851"/>
            <a:ext cx="8636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/>
              <a:t>2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6595E6F2-F27F-C797-7D5B-C16069D5D949}"/>
              </a:ext>
            </a:extLst>
          </p:cNvPr>
          <p:cNvSpPr txBox="1"/>
          <p:nvPr/>
        </p:nvSpPr>
        <p:spPr>
          <a:xfrm>
            <a:off x="6008418" y="4522946"/>
            <a:ext cx="8636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/>
              <a:t>12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B3BBF9CF-E8E0-5F7F-CE0D-1AE50C8EA9B6}"/>
              </a:ext>
            </a:extLst>
          </p:cNvPr>
          <p:cNvSpPr txBox="1"/>
          <p:nvPr/>
        </p:nvSpPr>
        <p:spPr>
          <a:xfrm>
            <a:off x="6691186" y="4522946"/>
            <a:ext cx="8636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/>
              <a:t>2</a:t>
            </a: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5FC66C0A-AD28-2ACE-9E0C-274508D8E0E9}"/>
              </a:ext>
            </a:extLst>
          </p:cNvPr>
          <p:cNvSpPr txBox="1"/>
          <p:nvPr/>
        </p:nvSpPr>
        <p:spPr>
          <a:xfrm>
            <a:off x="6008418" y="5063442"/>
            <a:ext cx="8636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/>
              <a:t>6</a:t>
            </a: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582C6941-FE3C-9709-59F3-B2001DCBCA9F}"/>
              </a:ext>
            </a:extLst>
          </p:cNvPr>
          <p:cNvSpPr txBox="1"/>
          <p:nvPr/>
        </p:nvSpPr>
        <p:spPr>
          <a:xfrm>
            <a:off x="6691186" y="5063442"/>
            <a:ext cx="8636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/>
              <a:t>2</a:t>
            </a: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45AA3289-6D9E-A4C0-EE00-3001B5F315AF}"/>
              </a:ext>
            </a:extLst>
          </p:cNvPr>
          <p:cNvSpPr txBox="1"/>
          <p:nvPr/>
        </p:nvSpPr>
        <p:spPr>
          <a:xfrm>
            <a:off x="6008418" y="5563400"/>
            <a:ext cx="8636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/>
              <a:t>3</a:t>
            </a:r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99B5CBE7-7A74-4851-40AD-F735036D3047}"/>
              </a:ext>
            </a:extLst>
          </p:cNvPr>
          <p:cNvSpPr txBox="1"/>
          <p:nvPr/>
        </p:nvSpPr>
        <p:spPr>
          <a:xfrm>
            <a:off x="6691185" y="5563400"/>
            <a:ext cx="8636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/>
              <a:t>3</a:t>
            </a:r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735802C0-AB07-E9F0-DC60-2287C07ADAC7}"/>
              </a:ext>
            </a:extLst>
          </p:cNvPr>
          <p:cNvSpPr txBox="1"/>
          <p:nvPr/>
        </p:nvSpPr>
        <p:spPr>
          <a:xfrm>
            <a:off x="6008418" y="6063358"/>
            <a:ext cx="8636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/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CuadroTexto 53">
                <a:extLst>
                  <a:ext uri="{FF2B5EF4-FFF2-40B4-BE49-F238E27FC236}">
                    <a16:creationId xmlns:a16="http://schemas.microsoft.com/office/drawing/2014/main" id="{87125E75-6031-5D06-E0C5-F264212957DD}"/>
                  </a:ext>
                </a:extLst>
              </p:cNvPr>
              <p:cNvSpPr txBox="1"/>
              <p:nvPr/>
            </p:nvSpPr>
            <p:spPr>
              <a:xfrm>
                <a:off x="1024810" y="4482717"/>
                <a:ext cx="226299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𝟐𝟒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𝟐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𝟐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s-ES" sz="2400" b="1" dirty="0"/>
              </a:p>
            </p:txBody>
          </p:sp>
        </mc:Choice>
        <mc:Fallback xmlns="">
          <p:sp>
            <p:nvSpPr>
              <p:cNvPr id="54" name="CuadroTexto 53">
                <a:extLst>
                  <a:ext uri="{FF2B5EF4-FFF2-40B4-BE49-F238E27FC236}">
                    <a16:creationId xmlns:a16="http://schemas.microsoft.com/office/drawing/2014/main" id="{87125E75-6031-5D06-E0C5-F264212957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4810" y="4482717"/>
                <a:ext cx="2262991" cy="369332"/>
              </a:xfrm>
              <a:prstGeom prst="rect">
                <a:avLst/>
              </a:prstGeom>
              <a:blipFill>
                <a:blip r:embed="rId6"/>
                <a:stretch>
                  <a:fillRect l="-2156" r="-2426" b="-9836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CuadroTexto 54">
                <a:extLst>
                  <a:ext uri="{FF2B5EF4-FFF2-40B4-BE49-F238E27FC236}">
                    <a16:creationId xmlns:a16="http://schemas.microsoft.com/office/drawing/2014/main" id="{19825CF3-8A17-7413-895E-82C1056C9E09}"/>
                  </a:ext>
                </a:extLst>
              </p:cNvPr>
              <p:cNvSpPr txBox="1"/>
              <p:nvPr/>
            </p:nvSpPr>
            <p:spPr>
              <a:xfrm>
                <a:off x="1024810" y="5038890"/>
                <a:ext cx="1594924" cy="37766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𝟐𝟒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ES" sz="2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  <m:sup>
                          <m:r>
                            <a:rPr lang="es-ES" sz="24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  <m:r>
                        <a:rPr lang="es-E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s-ES" sz="2400" b="1" dirty="0"/>
              </a:p>
            </p:txBody>
          </p:sp>
        </mc:Choice>
        <mc:Fallback xmlns="">
          <p:sp>
            <p:nvSpPr>
              <p:cNvPr id="55" name="CuadroTexto 54">
                <a:extLst>
                  <a:ext uri="{FF2B5EF4-FFF2-40B4-BE49-F238E27FC236}">
                    <a16:creationId xmlns:a16="http://schemas.microsoft.com/office/drawing/2014/main" id="{19825CF3-8A17-7413-895E-82C1056C9E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4810" y="5038890"/>
                <a:ext cx="1594924" cy="37766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ángulo 2">
            <a:extLst>
              <a:ext uri="{FF2B5EF4-FFF2-40B4-BE49-F238E27FC236}">
                <a16:creationId xmlns:a16="http://schemas.microsoft.com/office/drawing/2014/main" id="{0AE8AA8B-05B0-69EB-CF04-64A40149A782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686DDF0D-B8D4-2D8F-D9E0-A64A9A6C8642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1: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Divisibilidad y Números Enteros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948256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8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8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25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000"/>
                            </p:stCondLst>
                            <p:childTnLst>
                              <p:par>
                                <p:cTn id="3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25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125"/>
                            </p:stCondLst>
                            <p:childTnLst>
                              <p:par>
                                <p:cTn id="4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25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00"/>
                            </p:stCondLst>
                            <p:childTnLst>
                              <p:par>
                                <p:cTn id="7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500"/>
                            </p:stCondLst>
                            <p:childTnLst>
                              <p:par>
                                <p:cTn id="8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25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1025"/>
                            </p:stCondLst>
                            <p:childTnLst>
                              <p:par>
                                <p:cTn id="10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1525"/>
                            </p:stCondLst>
                            <p:childTnLst>
                              <p:par>
                                <p:cTn id="11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2525"/>
                            </p:stCondLst>
                            <p:childTnLst>
                              <p:par>
                                <p:cTn id="1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4" grpId="0"/>
      <p:bldP spid="5" grpId="0" animBg="1"/>
      <p:bldP spid="7" grpId="0"/>
      <p:bldP spid="12" grpId="0" uiExpand="1" build="p"/>
      <p:bldP spid="15" grpId="0" animBg="1"/>
      <p:bldP spid="21" grpId="0"/>
      <p:bldP spid="22" grpId="0" uiExpand="1"/>
      <p:bldP spid="25" grpId="0"/>
      <p:bldP spid="26" grpId="0" uiExpand="1"/>
      <p:bldP spid="27" grpId="0" uiExpand="1"/>
      <p:bldP spid="33" grpId="0" uiExpand="1"/>
      <p:bldP spid="34" grpId="0" uiExpand="1"/>
      <p:bldP spid="35" grpId="0" uiExpand="1"/>
      <p:bldP spid="36" grpId="0" uiExpand="1"/>
      <p:bldP spid="38" grpId="0"/>
      <p:bldP spid="54" grpId="0"/>
      <p:bldP spid="5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02A773-F37C-0816-DC04-7DE1F4D746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!Marco 10">
            <a:extLst>
              <a:ext uri="{FF2B5EF4-FFF2-40B4-BE49-F238E27FC236}">
                <a16:creationId xmlns:a16="http://schemas.microsoft.com/office/drawing/2014/main" id="{6AB6A07D-2FA5-DAC4-611A-CFEE62B95B40}"/>
              </a:ext>
            </a:extLst>
          </p:cNvPr>
          <p:cNvSpPr/>
          <p:nvPr/>
        </p:nvSpPr>
        <p:spPr>
          <a:xfrm>
            <a:off x="535084" y="1039706"/>
            <a:ext cx="11121832" cy="420188"/>
          </a:xfrm>
          <a:prstGeom prst="rect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FF5B9914-58C0-C14F-DFF5-DD271E632F0E}"/>
              </a:ext>
            </a:extLst>
          </p:cNvPr>
          <p:cNvSpPr txBox="1"/>
          <p:nvPr/>
        </p:nvSpPr>
        <p:spPr>
          <a:xfrm>
            <a:off x="535084" y="1049745"/>
            <a:ext cx="111218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latin typeface="Century Gothic" panose="020B0502020202020204" pitchFamily="34" charset="0"/>
              </a:rPr>
              <a:t>Consiste en expresar un número como el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producto de números primos </a:t>
            </a:r>
            <a:r>
              <a:rPr lang="es-ES" sz="2000" b="1" dirty="0">
                <a:latin typeface="Century Gothic" panose="020B0502020202020204" pitchFamily="34" charset="0"/>
              </a:rPr>
              <a:t>(factores primos).</a:t>
            </a:r>
          </a:p>
        </p:txBody>
      </p:sp>
      <p:sp>
        <p:nvSpPr>
          <p:cNvPr id="5" name="!Marco 10">
            <a:extLst>
              <a:ext uri="{FF2B5EF4-FFF2-40B4-BE49-F238E27FC236}">
                <a16:creationId xmlns:a16="http://schemas.microsoft.com/office/drawing/2014/main" id="{D63D7A7B-800B-807F-2C5A-B751EB32D135}"/>
              </a:ext>
            </a:extLst>
          </p:cNvPr>
          <p:cNvSpPr/>
          <p:nvPr/>
        </p:nvSpPr>
        <p:spPr>
          <a:xfrm>
            <a:off x="535084" y="1689060"/>
            <a:ext cx="11121832" cy="420188"/>
          </a:xfrm>
          <a:prstGeom prst="rect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!CuadroTexto 1">
            <a:extLst>
              <a:ext uri="{FF2B5EF4-FFF2-40B4-BE49-F238E27FC236}">
                <a16:creationId xmlns:a16="http://schemas.microsoft.com/office/drawing/2014/main" id="{8B281D14-278F-68E6-F5AE-E1F55004D5E0}"/>
              </a:ext>
            </a:extLst>
          </p:cNvPr>
          <p:cNvSpPr txBox="1"/>
          <p:nvPr/>
        </p:nvSpPr>
        <p:spPr>
          <a:xfrm>
            <a:off x="535084" y="1699099"/>
            <a:ext cx="111218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latin typeface="Century Gothic" panose="020B0502020202020204" pitchFamily="34" charset="0"/>
              </a:rPr>
              <a:t>Un número primo es aquel que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sólo es divisible por 1 o por sí mismo</a:t>
            </a:r>
            <a:r>
              <a:rPr lang="es-ES" sz="2000" b="1" dirty="0">
                <a:latin typeface="Century Gothic" panose="020B0502020202020204" pitchFamily="34" charset="0"/>
              </a:rPr>
              <a:t>.</a:t>
            </a:r>
          </a:p>
        </p:txBody>
      </p:sp>
      <p:sp>
        <p:nvSpPr>
          <p:cNvPr id="12" name="!CuadroTexto 1">
            <a:extLst>
              <a:ext uri="{FF2B5EF4-FFF2-40B4-BE49-F238E27FC236}">
                <a16:creationId xmlns:a16="http://schemas.microsoft.com/office/drawing/2014/main" id="{89300123-49C5-C45E-BC61-840193F91BC6}"/>
              </a:ext>
            </a:extLst>
          </p:cNvPr>
          <p:cNvSpPr txBox="1"/>
          <p:nvPr/>
        </p:nvSpPr>
        <p:spPr>
          <a:xfrm>
            <a:off x="535084" y="2339590"/>
            <a:ext cx="1112183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1º- Se coloca el número que se quiere factorizar</a:t>
            </a:r>
          </a:p>
          <a:p>
            <a:r>
              <a:rPr lang="es-ES" sz="2000" b="1" dirty="0">
                <a:latin typeface="Century Gothic" panose="020B0502020202020204" pitchFamily="34" charset="0"/>
              </a:rPr>
              <a:t>2º- Se traza una línea vertical a su derecha</a:t>
            </a:r>
          </a:p>
          <a:p>
            <a:r>
              <a:rPr lang="es-ES" sz="2000" b="1" dirty="0">
                <a:latin typeface="Century Gothic" panose="020B0502020202020204" pitchFamily="34" charset="0"/>
              </a:rPr>
              <a:t>3º- Se comienza a dividir entre los números primos: 2, 3, 5, 7, …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[de menor a mayor]</a:t>
            </a:r>
          </a:p>
          <a:p>
            <a:r>
              <a:rPr lang="es-ES" sz="2000" b="1" dirty="0">
                <a:latin typeface="Century Gothic" panose="020B0502020202020204" pitchFamily="34" charset="0"/>
              </a:rPr>
              <a:t>4º- Se termina cuando el resultado da 1</a:t>
            </a:r>
          </a:p>
        </p:txBody>
      </p:sp>
      <p:sp>
        <p:nvSpPr>
          <p:cNvPr id="15" name="!Marco 10">
            <a:extLst>
              <a:ext uri="{FF2B5EF4-FFF2-40B4-BE49-F238E27FC236}">
                <a16:creationId xmlns:a16="http://schemas.microsoft.com/office/drawing/2014/main" id="{BCC8F57A-B6F2-09B3-7380-929D4C420375}"/>
              </a:ext>
            </a:extLst>
          </p:cNvPr>
          <p:cNvSpPr/>
          <p:nvPr/>
        </p:nvSpPr>
        <p:spPr>
          <a:xfrm>
            <a:off x="535084" y="2339590"/>
            <a:ext cx="11121832" cy="1323439"/>
          </a:xfrm>
          <a:prstGeom prst="rect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43A9032D-C716-C712-4322-FF781AF71764}"/>
              </a:ext>
            </a:extLst>
          </p:cNvPr>
          <p:cNvSpPr txBox="1"/>
          <p:nvPr/>
        </p:nvSpPr>
        <p:spPr>
          <a:xfrm>
            <a:off x="468409" y="3746872"/>
            <a:ext cx="73352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EJEMPLO: </a:t>
            </a:r>
            <a:r>
              <a:rPr lang="es-ES" sz="2000" b="1" dirty="0">
                <a:latin typeface="Century Gothic" panose="020B0502020202020204" pitchFamily="34" charset="0"/>
              </a:rPr>
              <a:t>Descomponer el número 24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F0D1E37C-7BA6-A732-1431-0C10EF4E2864}"/>
              </a:ext>
            </a:extLst>
          </p:cNvPr>
          <p:cNvSpPr txBox="1"/>
          <p:nvPr/>
        </p:nvSpPr>
        <p:spPr>
          <a:xfrm>
            <a:off x="6008418" y="3996851"/>
            <a:ext cx="8636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/>
              <a:t>24</a:t>
            </a:r>
          </a:p>
        </p:txBody>
      </p: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98C35459-9681-E06F-1E74-CE9874C0FF7F}"/>
              </a:ext>
            </a:extLst>
          </p:cNvPr>
          <p:cNvCxnSpPr>
            <a:cxnSpLocks/>
          </p:cNvCxnSpPr>
          <p:nvPr/>
        </p:nvCxnSpPr>
        <p:spPr>
          <a:xfrm>
            <a:off x="6789201" y="4021651"/>
            <a:ext cx="0" cy="244323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uadroTexto 24">
            <a:extLst>
              <a:ext uri="{FF2B5EF4-FFF2-40B4-BE49-F238E27FC236}">
                <a16:creationId xmlns:a16="http://schemas.microsoft.com/office/drawing/2014/main" id="{10757907-C892-4DDB-A664-58EA320F2343}"/>
              </a:ext>
            </a:extLst>
          </p:cNvPr>
          <p:cNvSpPr txBox="1"/>
          <p:nvPr/>
        </p:nvSpPr>
        <p:spPr>
          <a:xfrm>
            <a:off x="6691186" y="3996851"/>
            <a:ext cx="8636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/>
              <a:t>2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4FC5F79E-C200-503E-D3C1-7087E935F6B9}"/>
              </a:ext>
            </a:extLst>
          </p:cNvPr>
          <p:cNvSpPr txBox="1"/>
          <p:nvPr/>
        </p:nvSpPr>
        <p:spPr>
          <a:xfrm>
            <a:off x="6008418" y="4522946"/>
            <a:ext cx="8636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/>
              <a:t>12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74FE42C4-0AA5-F9A5-6234-0848C9C93945}"/>
              </a:ext>
            </a:extLst>
          </p:cNvPr>
          <p:cNvSpPr txBox="1"/>
          <p:nvPr/>
        </p:nvSpPr>
        <p:spPr>
          <a:xfrm>
            <a:off x="6691186" y="4522946"/>
            <a:ext cx="8636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/>
              <a:t>2</a:t>
            </a: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8E3A503B-2A1A-F8D2-EF9F-B00D66FC32B8}"/>
              </a:ext>
            </a:extLst>
          </p:cNvPr>
          <p:cNvSpPr txBox="1"/>
          <p:nvPr/>
        </p:nvSpPr>
        <p:spPr>
          <a:xfrm>
            <a:off x="6008418" y="5063442"/>
            <a:ext cx="8636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/>
              <a:t>6</a:t>
            </a: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3142BA33-A175-571C-A3BF-3FFB373C38AD}"/>
              </a:ext>
            </a:extLst>
          </p:cNvPr>
          <p:cNvSpPr txBox="1"/>
          <p:nvPr/>
        </p:nvSpPr>
        <p:spPr>
          <a:xfrm>
            <a:off x="6691186" y="5063442"/>
            <a:ext cx="8636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/>
              <a:t>2</a:t>
            </a: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66CBA42E-F2E9-875A-E0D7-F8AB71438E6E}"/>
              </a:ext>
            </a:extLst>
          </p:cNvPr>
          <p:cNvSpPr txBox="1"/>
          <p:nvPr/>
        </p:nvSpPr>
        <p:spPr>
          <a:xfrm>
            <a:off x="6008418" y="5563400"/>
            <a:ext cx="8636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/>
              <a:t>3</a:t>
            </a:r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D13223BB-F2A8-BF41-3927-0E70EACB938E}"/>
              </a:ext>
            </a:extLst>
          </p:cNvPr>
          <p:cNvSpPr txBox="1"/>
          <p:nvPr/>
        </p:nvSpPr>
        <p:spPr>
          <a:xfrm>
            <a:off x="6691185" y="5563400"/>
            <a:ext cx="8636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/>
              <a:t>3</a:t>
            </a:r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2012C5F9-1C88-D5F0-0188-BCF813E8B388}"/>
              </a:ext>
            </a:extLst>
          </p:cNvPr>
          <p:cNvSpPr txBox="1"/>
          <p:nvPr/>
        </p:nvSpPr>
        <p:spPr>
          <a:xfrm>
            <a:off x="6008418" y="6063358"/>
            <a:ext cx="8636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/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CuadroTexto 53">
                <a:extLst>
                  <a:ext uri="{FF2B5EF4-FFF2-40B4-BE49-F238E27FC236}">
                    <a16:creationId xmlns:a16="http://schemas.microsoft.com/office/drawing/2014/main" id="{B8D408DC-25A4-4D04-36BC-E4E1EF43C844}"/>
                  </a:ext>
                </a:extLst>
              </p:cNvPr>
              <p:cNvSpPr txBox="1"/>
              <p:nvPr/>
            </p:nvSpPr>
            <p:spPr>
              <a:xfrm>
                <a:off x="1024810" y="4482717"/>
                <a:ext cx="226299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𝟐𝟒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𝟐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𝟐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s-ES" sz="2400" b="1" dirty="0"/>
              </a:p>
            </p:txBody>
          </p:sp>
        </mc:Choice>
        <mc:Fallback xmlns="">
          <p:sp>
            <p:nvSpPr>
              <p:cNvPr id="54" name="CuadroTexto 53">
                <a:extLst>
                  <a:ext uri="{FF2B5EF4-FFF2-40B4-BE49-F238E27FC236}">
                    <a16:creationId xmlns:a16="http://schemas.microsoft.com/office/drawing/2014/main" id="{B8D408DC-25A4-4D04-36BC-E4E1EF43C8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4810" y="4482717"/>
                <a:ext cx="2262991" cy="369332"/>
              </a:xfrm>
              <a:prstGeom prst="rect">
                <a:avLst/>
              </a:prstGeom>
              <a:blipFill>
                <a:blip r:embed="rId4"/>
                <a:stretch>
                  <a:fillRect l="-2156" r="-2426" b="-9836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CuadroTexto 54">
                <a:extLst>
                  <a:ext uri="{FF2B5EF4-FFF2-40B4-BE49-F238E27FC236}">
                    <a16:creationId xmlns:a16="http://schemas.microsoft.com/office/drawing/2014/main" id="{1D88B40C-DC27-8C05-7E8D-4883B78D1A03}"/>
                  </a:ext>
                </a:extLst>
              </p:cNvPr>
              <p:cNvSpPr txBox="1"/>
              <p:nvPr/>
            </p:nvSpPr>
            <p:spPr>
              <a:xfrm>
                <a:off x="1024810" y="5038890"/>
                <a:ext cx="1594924" cy="37766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𝟐𝟒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ES" sz="2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  <m:sup>
                          <m:r>
                            <a:rPr lang="es-ES" sz="24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  <m:r>
                        <a:rPr lang="es-E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s-ES" sz="2400" b="1" dirty="0"/>
              </a:p>
            </p:txBody>
          </p:sp>
        </mc:Choice>
        <mc:Fallback xmlns="">
          <p:sp>
            <p:nvSpPr>
              <p:cNvPr id="55" name="CuadroTexto 54">
                <a:extLst>
                  <a:ext uri="{FF2B5EF4-FFF2-40B4-BE49-F238E27FC236}">
                    <a16:creationId xmlns:a16="http://schemas.microsoft.com/office/drawing/2014/main" id="{1D88B40C-DC27-8C05-7E8D-4883B78D1A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4810" y="5038890"/>
                <a:ext cx="1594924" cy="37766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ángulo 2">
            <a:extLst>
              <a:ext uri="{FF2B5EF4-FFF2-40B4-BE49-F238E27FC236}">
                <a16:creationId xmlns:a16="http://schemas.microsoft.com/office/drawing/2014/main" id="{A51D2B51-1948-1F1E-7F46-E710E9E470EF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C726131-7F4C-1CB9-8710-AF0E86439440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1: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Divisibilidad y Números Enteros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735768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LMS_API_VERSION" val="SCORM 2004 (4th edition)"/>
  <p:tag name="ISPRING_ULTRA_SCORM_COURSE_ID" val="AAE93C99-F2FB-4C61-8119-72E00C1C4749"/>
  <p:tag name="ISPRING_CMI5_LAUNCH_METHOD" val="any window"/>
  <p:tag name="ISPRING_SCORM_RATE_SLIDES" val="1"/>
  <p:tag name="ISPRINGCLOUDFOLDERID" val="1"/>
  <p:tag name="ISPRINGONLINEFOLDERID" val="1"/>
  <p:tag name="ISPRING_SCORM_PASSING_SCORE" val="100.000000"/>
  <p:tag name="ISPRING_PRESENTATION_TITLE" val="3. Descomposición en factores primos"/>
  <p:tag name="ISPRING_SCORM_ENDPOINT" val="&lt;endpoint&gt;&lt;enable&gt;0&lt;/enable&gt;&lt;lrs&gt;https://&lt;/lrs&gt;&lt;auth&gt;0&lt;/auth&gt;&lt;login&gt;&lt;/login&gt;&lt;password&gt;&lt;/password&gt;&lt;key&gt;&lt;/key&gt;&lt;name&gt;&lt;/name&gt;&lt;email&gt;&lt;/email&gt;&lt;/endpoint&gt;&#10;"/>
  <p:tag name="ISPRING_OUTPUT_FOLDER" val="[[&quot;\uFFFD\/\uFFFD\uFFFD{21D528DD-60A0-4F5B-BB24-A0E5BDBD4B43}&quot;,&quot;C:\\Users\\34717\\Desktop\\Apuntes\\2 ESO\\TEMA 1 - Divisibilidad y números enteros&quot;]]"/>
  <p:tag name="ISPRING_PUBLISH_SETTINGS" val="{&quot;commonSettings&quot;:{&quot;webSettings&quot;:{&quot;useMobileViewer&quot;:&quot;T_FALSE&quot;},&quot;lmsSettings&quot;:{&quot;useMobileViewer&quot;:&quot;T_FALSE&quot;},&quot;cloudSettings&quot;:{&quot;useMobileViewer&quot;:&quot;T_FALSE&quot;},&quot;ispringLmsSettings&quot;:{&quot;useMobileViewer&quot;:&quot;T_FALSE&quot;},&quot;playerId&quot;:&quot;free&quot;,&quot;studioSettings&quot;:{&quot;useMobileViewer&quot;:&quot;T_FALSE&quot;}},&quot;advancedSettings&quot;:{&quot;enableTextAllocation&quot;:&quot;T_TRUE&quot;,&quot;viewingFromLocalDrive&quot;:&quot;T_TRUE&quot;,&quot;contentScale&quot;:75,&quot;contentScaleMode&quot;:&quot;FIT_TO_WINDOW&quot;},&quot;accessibilitySettings&quot;:{&quot;enabled&quot;:&quot;T_FALSE&quot;},&quot;compressionSettings&quot;:{&quot;imageSettings&quot;:{&quot;jpegQuality&quot;:70,&quot;optimizeImageForResolution&quot;:&quot;T_FALSE&quot;},&quot;audioQuality&quot;:70,&quot;videoQuality&quot;:65},&quot;protectionSettings&quot;:{&quot;watermarkEnabled&quot;:&quot;T_FALSE&quot;,&quot;watermarkPosition&quot;:&quot;MIDDLE_CENTER&quot;,&quot;openWatermarkUrl&quot;:&quot;T_FALSE&quot;,&quot;openWatermarkWebPageInNewWindow&quot;:&quot;T_FALSE&quot;,&quot;displayAfterEnabled&quot;:&quot;T_FALSE&quot;,&quot;displayUntilEnabled&quot;:&quot;T_FALSE&quot;,&quot;domainRestrictionEnabled&quot;:&quot;T_FALSE&quot;,&quot;enablePassword&quot;:&quot;T_FALSE&quot;},&quot;videoSettings&quot;:{&quot;videoCompressionSettings&quot;:{&quot;audioQuality&quot;:70,&quot;videoQuality&quot;:75},&quot;secondsOnEachSlide&quot;:5,&quot;hostingSettings&quot;:{}},&quot;ispringOnlineSettings&quot;:{&quot;onlineDestinationFolderId&quot;:&quot;1&quot;},&quot;cloudSettings&quot;:{&quot;onlineDestinationFolderId&quot;:&quot;1&quot;},&quot;wordSettings&quot;:{&quot;printCopies&quot;:1},&quot;studioSettings&quot;:{&quot;onlineDestinationFolderId&quot;:&quot;1&quot;,&quot;uploadSources&quot;:true}}"/>
  <p:tag name="ISPRING_SCORM_RATE_QUIZZES" val="0"/>
  <p:tag name="ISPRING_FIRST_PUBLISH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AC468FC0-1EEC-4284-A38F-9B6E7D46A3AD}:257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A00F2538-3418-4099-83E9-F7C5E8C4A0E3}:258"/>
</p:tagLst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ersonalizado 1">
      <a:majorFont>
        <a:latin typeface="SF Fedora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549</TotalTime>
  <Words>238</Words>
  <Application>Microsoft Office PowerPoint</Application>
  <PresentationFormat>Panorámica</PresentationFormat>
  <Paragraphs>40</Paragraphs>
  <Slides>2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8" baseType="lpstr">
      <vt:lpstr>Aptos</vt:lpstr>
      <vt:lpstr>Arial</vt:lpstr>
      <vt:lpstr>Cambria Math</vt:lpstr>
      <vt:lpstr>Century Gothic</vt:lpstr>
      <vt:lpstr>SF Fedora</vt:lpstr>
      <vt:lpstr>Tema de Office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3. Descomposición en factores primos</dc:title>
  <dc:creator>Illán Linos Souto</dc:creator>
  <cp:lastModifiedBy>Illán Linos</cp:lastModifiedBy>
  <cp:revision>40</cp:revision>
  <dcterms:created xsi:type="dcterms:W3CDTF">2024-08-18T18:48:07Z</dcterms:created>
  <dcterms:modified xsi:type="dcterms:W3CDTF">2025-11-17T18:06:55Z</dcterms:modified>
</cp:coreProperties>
</file>