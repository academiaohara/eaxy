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DCDF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3B9AB-BFA4-4B6A-A7F2-8C115DB323FE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E017F-F60C-47E7-8B22-6EF123AD9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526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E017F-F60C-47E7-8B22-6EF123AD966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2124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E017F-F60C-47E7-8B22-6EF123AD966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06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52322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10126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divisibilidad</a:t>
            </a:r>
            <a:r>
              <a:rPr lang="es-ES" sz="2000" b="1" dirty="0">
                <a:latin typeface="Century Gothic" panose="020B0502020202020204" pitchFamily="34" charset="0"/>
              </a:rPr>
              <a:t> significa que un número se pueda dividir por otro sin dejar resto.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A1C2E3-C3E4-8996-A7F9-B35507F7CB5F}"/>
              </a:ext>
            </a:extLst>
          </p:cNvPr>
          <p:cNvSpPr txBox="1"/>
          <p:nvPr/>
        </p:nvSpPr>
        <p:spPr>
          <a:xfrm>
            <a:off x="637062" y="1799239"/>
            <a:ext cx="5892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10 es divisible por 2 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CE3C600-F8AA-EEC5-A2C1-8A9D96178739}"/>
              </a:ext>
            </a:extLst>
          </p:cNvPr>
          <p:cNvGrpSpPr/>
          <p:nvPr/>
        </p:nvGrpSpPr>
        <p:grpSpPr>
          <a:xfrm>
            <a:off x="5705735" y="1712705"/>
            <a:ext cx="1531726" cy="531814"/>
            <a:chOff x="6772535" y="1872322"/>
            <a:chExt cx="1531726" cy="531814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7E47ECB-5007-652A-F87F-F17C7C176902}"/>
                </a:ext>
              </a:extLst>
            </p:cNvPr>
            <p:cNvSpPr txBox="1"/>
            <p:nvPr/>
          </p:nvSpPr>
          <p:spPr>
            <a:xfrm>
              <a:off x="6772535" y="1872322"/>
              <a:ext cx="6907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>
                  <a:latin typeface="Century Gothic" panose="020B0502020202020204" pitchFamily="34" charset="0"/>
                </a:rPr>
                <a:t>10</a:t>
              </a:r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0D8F13F3-CAAB-08E6-B38E-1026256429DF}"/>
                </a:ext>
              </a:extLst>
            </p:cNvPr>
            <p:cNvGrpSpPr/>
            <p:nvPr/>
          </p:nvGrpSpPr>
          <p:grpSpPr>
            <a:xfrm>
              <a:off x="7478615" y="1994561"/>
              <a:ext cx="825646" cy="409575"/>
              <a:chOff x="4178422" y="7620000"/>
              <a:chExt cx="825646" cy="409575"/>
            </a:xfrm>
          </p:grpSpPr>
          <p:cxnSp>
            <p:nvCxnSpPr>
              <p:cNvPr id="10" name="Conector recto 9">
                <a:extLst>
                  <a:ext uri="{FF2B5EF4-FFF2-40B4-BE49-F238E27FC236}">
                    <a16:creationId xmlns:a16="http://schemas.microsoft.com/office/drawing/2014/main" id="{4CC5E882-DC5F-EE52-F8D0-B80DC633CD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87948" y="7620000"/>
                <a:ext cx="0" cy="4095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AD2FA891-E267-7CCA-1099-6822A21989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8422" y="8010523"/>
                <a:ext cx="82564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496FA7E-F06E-280F-F4E8-C44346D85793}"/>
                </a:ext>
              </a:extLst>
            </p:cNvPr>
            <p:cNvSpPr txBox="1"/>
            <p:nvPr/>
          </p:nvSpPr>
          <p:spPr>
            <a:xfrm>
              <a:off x="7389925" y="1872322"/>
              <a:ext cx="6907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>
                  <a:latin typeface="Century Gothic" panose="020B0502020202020204" pitchFamily="34" charset="0"/>
                </a:rPr>
                <a:t>2</a:t>
              </a: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0A75791-1672-C45E-5AFB-2FF08EC51D60}"/>
              </a:ext>
            </a:extLst>
          </p:cNvPr>
          <p:cNvSpPr txBox="1"/>
          <p:nvPr/>
        </p:nvSpPr>
        <p:spPr>
          <a:xfrm>
            <a:off x="6326660" y="2183487"/>
            <a:ext cx="69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CD66FC3-BA7B-6E99-EE4D-472A1BBDD604}"/>
              </a:ext>
            </a:extLst>
          </p:cNvPr>
          <p:cNvSpPr txBox="1"/>
          <p:nvPr/>
        </p:nvSpPr>
        <p:spPr>
          <a:xfrm>
            <a:off x="5542302" y="2177019"/>
            <a:ext cx="845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800" b="1" dirty="0">
                <a:latin typeface="Century Gothic" panose="020B0502020202020204" pitchFamily="34" charset="0"/>
              </a:rPr>
              <a:t>-10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370E00A-C980-2FE2-F6BE-ABBF1995B85B}"/>
              </a:ext>
            </a:extLst>
          </p:cNvPr>
          <p:cNvCxnSpPr>
            <a:cxnSpLocks/>
          </p:cNvCxnSpPr>
          <p:nvPr/>
        </p:nvCxnSpPr>
        <p:spPr>
          <a:xfrm>
            <a:off x="5658780" y="2768261"/>
            <a:ext cx="69317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2FAC19E-2C06-469E-F4BA-1CFA21577EEC}"/>
              </a:ext>
            </a:extLst>
          </p:cNvPr>
          <p:cNvSpPr txBox="1"/>
          <p:nvPr/>
        </p:nvSpPr>
        <p:spPr>
          <a:xfrm>
            <a:off x="5694609" y="2717209"/>
            <a:ext cx="69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25" name="!Marco 10">
            <a:extLst>
              <a:ext uri="{FF2B5EF4-FFF2-40B4-BE49-F238E27FC236}">
                <a16:creationId xmlns:a16="http://schemas.microsoft.com/office/drawing/2014/main" id="{05BBF1BC-E75D-D117-B4E0-FB4EDF34C1AE}"/>
              </a:ext>
            </a:extLst>
          </p:cNvPr>
          <p:cNvSpPr/>
          <p:nvPr/>
        </p:nvSpPr>
        <p:spPr>
          <a:xfrm>
            <a:off x="535084" y="3319545"/>
            <a:ext cx="11121832" cy="494501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!CuadroTexto 1">
            <a:extLst>
              <a:ext uri="{FF2B5EF4-FFF2-40B4-BE49-F238E27FC236}">
                <a16:creationId xmlns:a16="http://schemas.microsoft.com/office/drawing/2014/main" id="{49C588C8-B5C5-26B3-B636-7151EF8E62A0}"/>
              </a:ext>
            </a:extLst>
          </p:cNvPr>
          <p:cNvSpPr txBox="1"/>
          <p:nvPr/>
        </p:nvSpPr>
        <p:spPr>
          <a:xfrm>
            <a:off x="535084" y="336674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múltiplos</a:t>
            </a:r>
            <a:r>
              <a:rPr lang="es-ES" sz="2000" b="1" dirty="0">
                <a:latin typeface="Century Gothic" panose="020B0502020202020204" pitchFamily="34" charset="0"/>
              </a:rPr>
              <a:t> de un número se obtienen multiplicándolo por otro número natural.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1E1269A-B08F-C75B-26D8-7003B6668442}"/>
              </a:ext>
            </a:extLst>
          </p:cNvPr>
          <p:cNvSpPr txBox="1"/>
          <p:nvPr/>
        </p:nvSpPr>
        <p:spPr>
          <a:xfrm>
            <a:off x="5522464" y="4095449"/>
            <a:ext cx="1658987" cy="2308324"/>
          </a:xfrm>
          <a:prstGeom prst="rect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Century Gothic" panose="020B0502020202020204" pitchFamily="34" charset="0"/>
              </a:rPr>
              <a:t>2 X 1 = 2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2 X 2 = 4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2 X 3 = 6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2 X 4 = 8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2 X 5 = 10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34CFD73-CE63-A813-827D-7846C29F390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F0217B-40B8-C3D6-2E07-DFEFB8698DC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5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25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5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5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5" grpId="0"/>
      <p:bldP spid="15" grpId="0"/>
      <p:bldP spid="16" grpId="0"/>
      <p:bldP spid="22" grpId="0"/>
      <p:bldP spid="25" grpId="0" animBg="1"/>
      <p:bldP spid="26" grpId="0"/>
      <p:bldP spid="27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2FF42-3D0B-E10F-1F6F-5E9E7B6E2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D4E3A5EC-F1D7-871E-03F5-6EBFB530E595}"/>
              </a:ext>
            </a:extLst>
          </p:cNvPr>
          <p:cNvSpPr/>
          <p:nvPr/>
        </p:nvSpPr>
        <p:spPr>
          <a:xfrm>
            <a:off x="535084" y="1039706"/>
            <a:ext cx="11121832" cy="52322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7E29FF9E-9417-394E-16A7-B40FBD6B8CC9}"/>
              </a:ext>
            </a:extLst>
          </p:cNvPr>
          <p:cNvSpPr txBox="1"/>
          <p:nvPr/>
        </p:nvSpPr>
        <p:spPr>
          <a:xfrm>
            <a:off x="535084" y="110126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divisibilidad</a:t>
            </a:r>
            <a:r>
              <a:rPr lang="es-ES" sz="2000" b="1" dirty="0">
                <a:latin typeface="Century Gothic" panose="020B0502020202020204" pitchFamily="34" charset="0"/>
              </a:rPr>
              <a:t> significa que un número se pueda dividir por otro sin dejar resto.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5B54BB-3EB0-5184-9FCD-062943B0C435}"/>
              </a:ext>
            </a:extLst>
          </p:cNvPr>
          <p:cNvSpPr txBox="1"/>
          <p:nvPr/>
        </p:nvSpPr>
        <p:spPr>
          <a:xfrm>
            <a:off x="637062" y="1799239"/>
            <a:ext cx="5892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10 es divisible por 2 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33BAF980-4347-B32C-447D-46FB6B8095DC}"/>
              </a:ext>
            </a:extLst>
          </p:cNvPr>
          <p:cNvGrpSpPr/>
          <p:nvPr/>
        </p:nvGrpSpPr>
        <p:grpSpPr>
          <a:xfrm>
            <a:off x="5705735" y="1712705"/>
            <a:ext cx="1531726" cy="531814"/>
            <a:chOff x="6772535" y="1872322"/>
            <a:chExt cx="1531726" cy="531814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37788278-1853-882C-0558-98EE40E21AC2}"/>
                </a:ext>
              </a:extLst>
            </p:cNvPr>
            <p:cNvSpPr txBox="1"/>
            <p:nvPr/>
          </p:nvSpPr>
          <p:spPr>
            <a:xfrm>
              <a:off x="6772535" y="1872322"/>
              <a:ext cx="6907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>
                  <a:latin typeface="Century Gothic" panose="020B0502020202020204" pitchFamily="34" charset="0"/>
                </a:rPr>
                <a:t>10</a:t>
              </a:r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7221E6FC-0F16-038E-BAEF-6B8B3CDCB43E}"/>
                </a:ext>
              </a:extLst>
            </p:cNvPr>
            <p:cNvGrpSpPr/>
            <p:nvPr/>
          </p:nvGrpSpPr>
          <p:grpSpPr>
            <a:xfrm>
              <a:off x="7478615" y="1994561"/>
              <a:ext cx="825646" cy="409575"/>
              <a:chOff x="4178422" y="7620000"/>
              <a:chExt cx="825646" cy="409575"/>
            </a:xfrm>
          </p:grpSpPr>
          <p:cxnSp>
            <p:nvCxnSpPr>
              <p:cNvPr id="10" name="Conector recto 9">
                <a:extLst>
                  <a:ext uri="{FF2B5EF4-FFF2-40B4-BE49-F238E27FC236}">
                    <a16:creationId xmlns:a16="http://schemas.microsoft.com/office/drawing/2014/main" id="{A8A510E1-2DA0-EA00-D257-B125BA9D69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87948" y="7620000"/>
                <a:ext cx="0" cy="4095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29DF0853-8556-2A57-938D-F5A8F57A4A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8422" y="8010523"/>
                <a:ext cx="82564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5A2050E1-E807-B940-5068-326107068404}"/>
                </a:ext>
              </a:extLst>
            </p:cNvPr>
            <p:cNvSpPr txBox="1"/>
            <p:nvPr/>
          </p:nvSpPr>
          <p:spPr>
            <a:xfrm>
              <a:off x="7389925" y="1872322"/>
              <a:ext cx="6907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>
                  <a:latin typeface="Century Gothic" panose="020B0502020202020204" pitchFamily="34" charset="0"/>
                </a:rPr>
                <a:t>2</a:t>
              </a: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DDBD5C9-F90C-9409-8393-702AEE174E0B}"/>
              </a:ext>
            </a:extLst>
          </p:cNvPr>
          <p:cNvSpPr txBox="1"/>
          <p:nvPr/>
        </p:nvSpPr>
        <p:spPr>
          <a:xfrm>
            <a:off x="6326660" y="2183487"/>
            <a:ext cx="69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F0FB902-ECE5-32BE-6037-9EB7DE945CC0}"/>
              </a:ext>
            </a:extLst>
          </p:cNvPr>
          <p:cNvSpPr txBox="1"/>
          <p:nvPr/>
        </p:nvSpPr>
        <p:spPr>
          <a:xfrm>
            <a:off x="5542302" y="2177019"/>
            <a:ext cx="845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800" b="1" dirty="0">
                <a:latin typeface="Century Gothic" panose="020B0502020202020204" pitchFamily="34" charset="0"/>
              </a:rPr>
              <a:t>-10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01FB0B2-4E02-FBED-4A4D-92EA2F144DEC}"/>
              </a:ext>
            </a:extLst>
          </p:cNvPr>
          <p:cNvCxnSpPr>
            <a:cxnSpLocks/>
          </p:cNvCxnSpPr>
          <p:nvPr/>
        </p:nvCxnSpPr>
        <p:spPr>
          <a:xfrm>
            <a:off x="5658780" y="2768261"/>
            <a:ext cx="69317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9EBA451-7891-4D0A-1172-2F432CFD060B}"/>
              </a:ext>
            </a:extLst>
          </p:cNvPr>
          <p:cNvSpPr txBox="1"/>
          <p:nvPr/>
        </p:nvSpPr>
        <p:spPr>
          <a:xfrm>
            <a:off x="5694609" y="2717209"/>
            <a:ext cx="690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25" name="!Marco 10">
            <a:extLst>
              <a:ext uri="{FF2B5EF4-FFF2-40B4-BE49-F238E27FC236}">
                <a16:creationId xmlns:a16="http://schemas.microsoft.com/office/drawing/2014/main" id="{751BD05F-2E41-64E7-E544-F88829BB9B92}"/>
              </a:ext>
            </a:extLst>
          </p:cNvPr>
          <p:cNvSpPr/>
          <p:nvPr/>
        </p:nvSpPr>
        <p:spPr>
          <a:xfrm>
            <a:off x="535084" y="3319545"/>
            <a:ext cx="11121832" cy="494501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!CuadroTexto 1">
            <a:extLst>
              <a:ext uri="{FF2B5EF4-FFF2-40B4-BE49-F238E27FC236}">
                <a16:creationId xmlns:a16="http://schemas.microsoft.com/office/drawing/2014/main" id="{E7ED1283-3D84-6269-D2C7-22B43F61687B}"/>
              </a:ext>
            </a:extLst>
          </p:cNvPr>
          <p:cNvSpPr txBox="1"/>
          <p:nvPr/>
        </p:nvSpPr>
        <p:spPr>
          <a:xfrm>
            <a:off x="535084" y="336674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múltiplos</a:t>
            </a:r>
            <a:r>
              <a:rPr lang="es-ES" sz="2000" b="1" dirty="0">
                <a:latin typeface="Century Gothic" panose="020B0502020202020204" pitchFamily="34" charset="0"/>
              </a:rPr>
              <a:t> de un número se obtienen multiplicándolo por otro número natural.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2E0288E-290A-0605-1395-F3B3B52F65C6}"/>
              </a:ext>
            </a:extLst>
          </p:cNvPr>
          <p:cNvSpPr txBox="1"/>
          <p:nvPr/>
        </p:nvSpPr>
        <p:spPr>
          <a:xfrm>
            <a:off x="5522464" y="4095449"/>
            <a:ext cx="1658987" cy="2308324"/>
          </a:xfrm>
          <a:prstGeom prst="rect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Century Gothic" panose="020B0502020202020204" pitchFamily="34" charset="0"/>
              </a:rPr>
              <a:t>2 X 1 = 2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2 X 2 = 4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2 X 3 = 6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2 X 4 = 8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2 X 5 = 10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  <a:p>
            <a:pPr algn="ctr"/>
            <a:r>
              <a:rPr lang="es-ES" b="1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C1E1738-1D72-1529-5948-69DDC7E9EC4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60A2FFC-A78E-7730-4BA1-0708A77FA6A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4160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8C1DB7B-18D9-4642-A5BA-EDF650C2950C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1. Divisibilidad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1 - Divisibilidad y números enter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6E4F073-86A7-4F87-8828-D931069A1663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9BD9E15-0748-46F5-B564-6FCF433CD579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154</Words>
  <Application>Microsoft Office PowerPoint</Application>
  <PresentationFormat>Panorámica</PresentationFormat>
  <Paragraphs>36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Divisibilidad</dc:title>
  <dc:creator>Illán Linos Souto</dc:creator>
  <cp:lastModifiedBy>Illán Linos</cp:lastModifiedBy>
  <cp:revision>32</cp:revision>
  <dcterms:created xsi:type="dcterms:W3CDTF">2024-08-18T18:48:07Z</dcterms:created>
  <dcterms:modified xsi:type="dcterms:W3CDTF">2025-11-17T18:07:17Z</dcterms:modified>
</cp:coreProperties>
</file>