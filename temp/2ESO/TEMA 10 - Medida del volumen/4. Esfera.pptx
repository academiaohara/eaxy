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custDataLst>
    <p:tags r:id="rId4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B070"/>
    <a:srgbClr val="F6A924"/>
    <a:srgbClr val="C59203"/>
    <a:srgbClr val="B58603"/>
    <a:srgbClr val="F2B404"/>
    <a:srgbClr val="F8B43F"/>
    <a:srgbClr val="F9C468"/>
    <a:srgbClr val="FFFFFF"/>
    <a:srgbClr val="BCEAFA"/>
    <a:srgbClr val="B4E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66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B6DBE-1D4C-4109-B004-13A544731143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4BF45-98EA-425E-9AC0-5A4D03F947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5496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304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10" Type="http://schemas.openxmlformats.org/officeDocument/2006/relationships/image" Target="../media/image1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10: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Medida del Volumen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El volumen de la esfera es igual a los 2/3 del volumen del cilindro en el cual está</a:t>
            </a:r>
          </a:p>
          <a:p>
            <a:r>
              <a:rPr lang="es-ES" sz="2000" b="1" dirty="0"/>
              <a:t>inscrita.</a:t>
            </a:r>
            <a:endParaRPr lang="es-ES" sz="36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99832933-8838-D4A4-D0FB-012A95BAE52E}"/>
              </a:ext>
            </a:extLst>
          </p:cNvPr>
          <p:cNvSpPr txBox="1"/>
          <p:nvPr/>
        </p:nvSpPr>
        <p:spPr>
          <a:xfrm>
            <a:off x="6813971" y="3567173"/>
            <a:ext cx="2857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53B070"/>
                </a:solidFill>
              </a:rPr>
              <a:t>Volumen de la esfera</a:t>
            </a:r>
          </a:p>
        </p:txBody>
      </p:sp>
      <p:cxnSp>
        <p:nvCxnSpPr>
          <p:cNvPr id="98" name="Conector recto 97">
            <a:extLst>
              <a:ext uri="{FF2B5EF4-FFF2-40B4-BE49-F238E27FC236}">
                <a16:creationId xmlns:a16="http://schemas.microsoft.com/office/drawing/2014/main" id="{0DD377CA-5EA5-2232-2619-126CC3FC032F}"/>
              </a:ext>
            </a:extLst>
          </p:cNvPr>
          <p:cNvCxnSpPr>
            <a:cxnSpLocks/>
          </p:cNvCxnSpPr>
          <p:nvPr/>
        </p:nvCxnSpPr>
        <p:spPr>
          <a:xfrm>
            <a:off x="6892668" y="3940174"/>
            <a:ext cx="2700569" cy="0"/>
          </a:xfrm>
          <a:prstGeom prst="line">
            <a:avLst/>
          </a:prstGeom>
          <a:ln w="38100" cap="rnd">
            <a:solidFill>
              <a:srgbClr val="53B07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20ADC03F-1611-8392-AE31-38131AF6EB84}"/>
                  </a:ext>
                </a:extLst>
              </p:cNvPr>
              <p:cNvSpPr txBox="1"/>
              <p:nvPr/>
            </p:nvSpPr>
            <p:spPr>
              <a:xfrm>
                <a:off x="6351201" y="4102982"/>
                <a:ext cx="3789114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𝐕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𝑪𝑰𝑳𝑰𝑵𝑫𝑹𝑶</m:t>
                          </m:r>
                        </m:sub>
                      </m:sSub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𝛑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𝐫</m:t>
                          </m:r>
                        </m:e>
                        <m:sup>
                          <m:r>
                            <a:rPr lang="es-E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20ADC03F-1611-8392-AE31-38131AF6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201" y="4102982"/>
                <a:ext cx="3789114" cy="5782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uadroTexto 18">
            <a:extLst>
              <a:ext uri="{FF2B5EF4-FFF2-40B4-BE49-F238E27FC236}">
                <a16:creationId xmlns:a16="http://schemas.microsoft.com/office/drawing/2014/main" id="{1917D816-4FBF-91BF-007F-A6A1E7A7D14D}"/>
              </a:ext>
            </a:extLst>
          </p:cNvPr>
          <p:cNvSpPr txBox="1"/>
          <p:nvPr/>
        </p:nvSpPr>
        <p:spPr>
          <a:xfrm>
            <a:off x="6813971" y="2417685"/>
            <a:ext cx="2857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Volumen del cilindro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39FD775C-21A2-B8C4-0267-62CBE7612919}"/>
              </a:ext>
            </a:extLst>
          </p:cNvPr>
          <p:cNvCxnSpPr>
            <a:cxnSpLocks/>
          </p:cNvCxnSpPr>
          <p:nvPr/>
        </p:nvCxnSpPr>
        <p:spPr>
          <a:xfrm>
            <a:off x="6971365" y="2772214"/>
            <a:ext cx="2543175" cy="0"/>
          </a:xfrm>
          <a:prstGeom prst="line">
            <a:avLst/>
          </a:prstGeom>
          <a:ln w="38100"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438E3AB3-FC7C-F5F3-3C1B-23998AB0B13C}"/>
                  </a:ext>
                </a:extLst>
              </p:cNvPr>
              <p:cNvSpPr txBox="1"/>
              <p:nvPr/>
            </p:nvSpPr>
            <p:spPr>
              <a:xfrm>
                <a:off x="6189249" y="2968981"/>
                <a:ext cx="3555973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𝐕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  <m:sub>
                          <m:r>
                            <a:rPr lang="es-ES" sz="2000" b="1" i="0">
                              <a:latin typeface="Cambria Math" panose="02040503050406030204" pitchFamily="18" charset="0"/>
                            </a:rPr>
                            <m:t>𝐛𝐚𝐬𝐞</m:t>
                          </m:r>
                        </m:sub>
                      </m:sSub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𝐀𝐥𝐭𝐮𝐫𝐚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𝛑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𝐫</m:t>
                          </m:r>
                        </m:e>
                        <m:sup>
                          <m:r>
                            <a:rPr lang="es-E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438E3AB3-FC7C-F5F3-3C1B-23998AB0B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249" y="2968981"/>
                <a:ext cx="3555973" cy="314766"/>
              </a:xfrm>
              <a:prstGeom prst="rect">
                <a:avLst/>
              </a:prstGeom>
              <a:blipFill>
                <a:blip r:embed="rId8"/>
                <a:stretch>
                  <a:fillRect l="-856" r="-1027" b="-2115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F596234E-DBA1-2BF9-F30E-10A544D7C090}"/>
                  </a:ext>
                </a:extLst>
              </p:cNvPr>
              <p:cNvSpPr txBox="1"/>
              <p:nvPr/>
            </p:nvSpPr>
            <p:spPr>
              <a:xfrm>
                <a:off x="7482327" y="4852966"/>
                <a:ext cx="1521249" cy="57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𝐕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𝛑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𝐫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F596234E-DBA1-2BF9-F30E-10A544D7C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2327" y="4852966"/>
                <a:ext cx="1521249" cy="5771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upo 50">
            <a:extLst>
              <a:ext uri="{FF2B5EF4-FFF2-40B4-BE49-F238E27FC236}">
                <a16:creationId xmlns:a16="http://schemas.microsoft.com/office/drawing/2014/main" id="{CA7DEBAD-3601-831A-80FF-B8EB809B87EE}"/>
              </a:ext>
            </a:extLst>
          </p:cNvPr>
          <p:cNvGrpSpPr/>
          <p:nvPr/>
        </p:nvGrpSpPr>
        <p:grpSpPr>
          <a:xfrm>
            <a:off x="1531933" y="2198759"/>
            <a:ext cx="3951068" cy="3537048"/>
            <a:chOff x="1214433" y="2357262"/>
            <a:chExt cx="3951068" cy="3537048"/>
          </a:xfrm>
        </p:grpSpPr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99B269E6-AB1B-91E2-3455-1C51C0EC8C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14433" y="2357262"/>
              <a:ext cx="3951068" cy="3537048"/>
            </a:xfrm>
            <a:prstGeom prst="rect">
              <a:avLst/>
            </a:prstGeom>
          </p:spPr>
        </p:pic>
        <p:cxnSp>
          <p:nvCxnSpPr>
            <p:cNvPr id="46" name="Conector recto de flecha 45">
              <a:extLst>
                <a:ext uri="{FF2B5EF4-FFF2-40B4-BE49-F238E27FC236}">
                  <a16:creationId xmlns:a16="http://schemas.microsoft.com/office/drawing/2014/main" id="{3A7F4BBB-F93A-8274-A325-608C06356085}"/>
                </a:ext>
              </a:extLst>
            </p:cNvPr>
            <p:cNvCxnSpPr/>
            <p:nvPr/>
          </p:nvCxnSpPr>
          <p:spPr>
            <a:xfrm>
              <a:off x="3406140" y="2888592"/>
              <a:ext cx="0" cy="1259325"/>
            </a:xfrm>
            <a:prstGeom prst="straightConnector1">
              <a:avLst/>
            </a:prstGeom>
            <a:ln>
              <a:solidFill>
                <a:srgbClr val="C0000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de flecha 46">
              <a:extLst>
                <a:ext uri="{FF2B5EF4-FFF2-40B4-BE49-F238E27FC236}">
                  <a16:creationId xmlns:a16="http://schemas.microsoft.com/office/drawing/2014/main" id="{C977688F-17FD-B588-DB7E-0C6C28989565}"/>
                </a:ext>
              </a:extLst>
            </p:cNvPr>
            <p:cNvCxnSpPr/>
            <p:nvPr/>
          </p:nvCxnSpPr>
          <p:spPr>
            <a:xfrm>
              <a:off x="3406140" y="4147917"/>
              <a:ext cx="0" cy="1259325"/>
            </a:xfrm>
            <a:prstGeom prst="straightConnector1">
              <a:avLst/>
            </a:prstGeom>
            <a:ln>
              <a:solidFill>
                <a:srgbClr val="C0000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CuadroTexto 48">
              <a:extLst>
                <a:ext uri="{FF2B5EF4-FFF2-40B4-BE49-F238E27FC236}">
                  <a16:creationId xmlns:a16="http://schemas.microsoft.com/office/drawing/2014/main" id="{27BCC76E-ED37-1406-CEE8-A5A2695A2F87}"/>
                </a:ext>
              </a:extLst>
            </p:cNvPr>
            <p:cNvSpPr txBox="1"/>
            <p:nvPr/>
          </p:nvSpPr>
          <p:spPr>
            <a:xfrm>
              <a:off x="3467099" y="4622134"/>
              <a:ext cx="1841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i="1" dirty="0">
                  <a:solidFill>
                    <a:srgbClr val="C00000"/>
                  </a:solidFill>
                </a:rPr>
                <a:t>R</a:t>
              </a:r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FF2F0289-BF6C-441F-0D1B-1F3316C4F5E9}"/>
                </a:ext>
              </a:extLst>
            </p:cNvPr>
            <p:cNvSpPr txBox="1"/>
            <p:nvPr/>
          </p:nvSpPr>
          <p:spPr>
            <a:xfrm>
              <a:off x="3189966" y="3275164"/>
              <a:ext cx="1841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i="1" dirty="0">
                  <a:solidFill>
                    <a:srgbClr val="C00000"/>
                  </a:solidFill>
                </a:rPr>
                <a:t>R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324315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1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96" grpId="0"/>
      <p:bldP spid="101" grpId="0"/>
      <p:bldP spid="19" grpId="0"/>
      <p:bldP spid="21" grpId="0"/>
      <p:bldP spid="4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BC139CC8-F404-44EC-9819-7349FAB8CAD1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2 ESO\\TEMA 10 - Medida del volumen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SCORM_PASSING_SCORE" val="100.000000"/>
  <p:tag name="ISPRING_PRESENTATION_TITLE" val="4. Esfera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0BE685D-878E-4C5B-8172-FEF5DC6A198F}:258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</TotalTime>
  <Words>67</Words>
  <Application>Microsoft Office PowerPoint</Application>
  <PresentationFormat>Panorámica</PresentationFormat>
  <Paragraphs>11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Esfera</dc:title>
  <dc:creator>Illán Linos Souto</dc:creator>
  <cp:lastModifiedBy>Illán Linos</cp:lastModifiedBy>
  <cp:revision>73</cp:revision>
  <dcterms:created xsi:type="dcterms:W3CDTF">2024-08-18T18:48:07Z</dcterms:created>
  <dcterms:modified xsi:type="dcterms:W3CDTF">2025-11-18T13:15:06Z</dcterms:modified>
</cp:coreProperties>
</file>