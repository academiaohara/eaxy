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custDataLst>
    <p:tags r:id="rId4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6E18A0-F2EC-4A77-8B54-888BD78A456E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BCC810-CDD3-4282-A4DD-A0A275715C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4171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BCC810-CDD3-4282-A4DD-A0A275715CEE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6659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lenguaje que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utiliza letras en combinación con números y signos </a:t>
            </a:r>
            <a:r>
              <a:rPr lang="es-ES" sz="2000" b="1" dirty="0"/>
              <a:t>se llama lenguaje algebraico.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CuadroTexto 1">
            <a:extLst>
              <a:ext uri="{FF2B5EF4-FFF2-40B4-BE49-F238E27FC236}">
                <a16:creationId xmlns:a16="http://schemas.microsoft.com/office/drawing/2014/main" id="{415F611A-4922-55C4-4C8C-CED2947CC930}"/>
              </a:ext>
            </a:extLst>
          </p:cNvPr>
          <p:cNvSpPr txBox="1"/>
          <p:nvPr/>
        </p:nvSpPr>
        <p:spPr>
          <a:xfrm>
            <a:off x="535084" y="1945967"/>
            <a:ext cx="18747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5" name="CuadroTexto 1">
            <a:extLst>
              <a:ext uri="{FF2B5EF4-FFF2-40B4-BE49-F238E27FC236}">
                <a16:creationId xmlns:a16="http://schemas.microsoft.com/office/drawing/2014/main" id="{7E45F58A-25DC-F4F6-0A9B-CCF23C727021}"/>
              </a:ext>
            </a:extLst>
          </p:cNvPr>
          <p:cNvSpPr txBox="1"/>
          <p:nvPr/>
        </p:nvSpPr>
        <p:spPr>
          <a:xfrm>
            <a:off x="535085" y="2377964"/>
            <a:ext cx="4729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La suma de dos números</a:t>
            </a:r>
            <a:endParaRPr lang="es-ES" sz="20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7" name="CuadroTexto 1">
            <a:extLst>
              <a:ext uri="{FF2B5EF4-FFF2-40B4-BE49-F238E27FC236}">
                <a16:creationId xmlns:a16="http://schemas.microsoft.com/office/drawing/2014/main" id="{3F9BB26A-45D7-81AE-6A0E-438C3A74D9C0}"/>
              </a:ext>
            </a:extLst>
          </p:cNvPr>
          <p:cNvSpPr txBox="1"/>
          <p:nvPr/>
        </p:nvSpPr>
        <p:spPr>
          <a:xfrm>
            <a:off x="535085" y="2803360"/>
            <a:ext cx="4729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latin typeface="Century Gothic" panose="020B0502020202020204" pitchFamily="34" charset="0"/>
              </a:defRPr>
            </a:lvl1pPr>
          </a:lstStyle>
          <a:p>
            <a:r>
              <a:rPr lang="es-ES" dirty="0"/>
              <a:t>Un número aumentado 4 unidades</a:t>
            </a:r>
          </a:p>
        </p:txBody>
      </p:sp>
      <p:sp>
        <p:nvSpPr>
          <p:cNvPr id="8" name="CuadroTexto 1">
            <a:extLst>
              <a:ext uri="{FF2B5EF4-FFF2-40B4-BE49-F238E27FC236}">
                <a16:creationId xmlns:a16="http://schemas.microsoft.com/office/drawing/2014/main" id="{AA66FA67-7A21-EBBF-97DB-E6E31D83803C}"/>
              </a:ext>
            </a:extLst>
          </p:cNvPr>
          <p:cNvSpPr txBox="1"/>
          <p:nvPr/>
        </p:nvSpPr>
        <p:spPr>
          <a:xfrm>
            <a:off x="535084" y="3261086"/>
            <a:ext cx="4729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latin typeface="Century Gothic" panose="020B0502020202020204" pitchFamily="34" charset="0"/>
              </a:defRPr>
            </a:lvl1pPr>
          </a:lstStyle>
          <a:p>
            <a:r>
              <a:rPr lang="es-ES" dirty="0"/>
              <a:t>El triple de un número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A2D5A3E4-F315-E7F2-C986-25E107A5223F}"/>
              </a:ext>
            </a:extLst>
          </p:cNvPr>
          <p:cNvCxnSpPr>
            <a:cxnSpLocks/>
          </p:cNvCxnSpPr>
          <p:nvPr/>
        </p:nvCxnSpPr>
        <p:spPr>
          <a:xfrm>
            <a:off x="3854687" y="2578019"/>
            <a:ext cx="1181100" cy="0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735A9910-B6EB-1FAC-5D3E-00C4020B0E0F}"/>
              </a:ext>
            </a:extLst>
          </p:cNvPr>
          <p:cNvCxnSpPr>
            <a:cxnSpLocks/>
          </p:cNvCxnSpPr>
          <p:nvPr/>
        </p:nvCxnSpPr>
        <p:spPr>
          <a:xfrm>
            <a:off x="5035787" y="3003415"/>
            <a:ext cx="1181100" cy="0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0B1C3937-747D-633D-CD78-E208E082F795}"/>
              </a:ext>
            </a:extLst>
          </p:cNvPr>
          <p:cNvCxnSpPr>
            <a:cxnSpLocks/>
          </p:cNvCxnSpPr>
          <p:nvPr/>
        </p:nvCxnSpPr>
        <p:spPr>
          <a:xfrm>
            <a:off x="3439216" y="3461141"/>
            <a:ext cx="1181100" cy="0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uadroTexto 1">
            <a:extLst>
              <a:ext uri="{FF2B5EF4-FFF2-40B4-BE49-F238E27FC236}">
                <a16:creationId xmlns:a16="http://schemas.microsoft.com/office/drawing/2014/main" id="{60E59AD3-DB43-56A3-D793-D86E3589FA8A}"/>
              </a:ext>
            </a:extLst>
          </p:cNvPr>
          <p:cNvSpPr txBox="1"/>
          <p:nvPr/>
        </p:nvSpPr>
        <p:spPr>
          <a:xfrm>
            <a:off x="5053815" y="2377964"/>
            <a:ext cx="8536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a + b</a:t>
            </a:r>
            <a:endParaRPr lang="es-ES" sz="20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21" name="CuadroTexto 1">
            <a:extLst>
              <a:ext uri="{FF2B5EF4-FFF2-40B4-BE49-F238E27FC236}">
                <a16:creationId xmlns:a16="http://schemas.microsoft.com/office/drawing/2014/main" id="{BFF3D11E-630B-48E1-7D57-7F293C6E7E4F}"/>
              </a:ext>
            </a:extLst>
          </p:cNvPr>
          <p:cNvSpPr txBox="1"/>
          <p:nvPr/>
        </p:nvSpPr>
        <p:spPr>
          <a:xfrm>
            <a:off x="6293087" y="2803360"/>
            <a:ext cx="8536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x + 4</a:t>
            </a:r>
            <a:endParaRPr lang="es-ES" sz="2000" b="1" baseline="30000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1">
                <a:extLst>
                  <a:ext uri="{FF2B5EF4-FFF2-40B4-BE49-F238E27FC236}">
                    <a16:creationId xmlns:a16="http://schemas.microsoft.com/office/drawing/2014/main" id="{6E9516D9-4F1E-19A4-91D5-3F31633B74E2}"/>
                  </a:ext>
                </a:extLst>
              </p:cNvPr>
              <p:cNvSpPr txBox="1"/>
              <p:nvPr/>
            </p:nvSpPr>
            <p:spPr>
              <a:xfrm>
                <a:off x="4656998" y="3261086"/>
                <a:ext cx="85366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>
                    <a:latin typeface="Century Gothic" panose="020B0502020202020204" pitchFamily="34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2000" b="1" dirty="0">
                    <a:latin typeface="Century Gothic" panose="020B0502020202020204" pitchFamily="34" charset="0"/>
                  </a:rPr>
                  <a:t>m</a:t>
                </a:r>
                <a:endParaRPr lang="es-ES" sz="2000" b="1" baseline="30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22" name="CuadroTexto 1">
                <a:extLst>
                  <a:ext uri="{FF2B5EF4-FFF2-40B4-BE49-F238E27FC236}">
                    <a16:creationId xmlns:a16="http://schemas.microsoft.com/office/drawing/2014/main" id="{6E9516D9-4F1E-19A4-91D5-3F31633B7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6998" y="3261086"/>
                <a:ext cx="853665" cy="400110"/>
              </a:xfrm>
              <a:prstGeom prst="rect">
                <a:avLst/>
              </a:prstGeom>
              <a:blipFill>
                <a:blip r:embed="rId6"/>
                <a:stretch>
                  <a:fillRect l="-7857" t="-9091" b="-2575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!Marco 10">
            <a:extLst>
              <a:ext uri="{FF2B5EF4-FFF2-40B4-BE49-F238E27FC236}">
                <a16:creationId xmlns:a16="http://schemas.microsoft.com/office/drawing/2014/main" id="{B2BA8D8C-7CB7-D6B0-4EAF-C96808555F0C}"/>
              </a:ext>
            </a:extLst>
          </p:cNvPr>
          <p:cNvSpPr/>
          <p:nvPr/>
        </p:nvSpPr>
        <p:spPr>
          <a:xfrm>
            <a:off x="535084" y="386125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5" name="!CuadroTexto 1">
            <a:extLst>
              <a:ext uri="{FF2B5EF4-FFF2-40B4-BE49-F238E27FC236}">
                <a16:creationId xmlns:a16="http://schemas.microsoft.com/office/drawing/2014/main" id="{EE6BFE65-E05E-D024-EF94-A23DF5D59AC1}"/>
              </a:ext>
            </a:extLst>
          </p:cNvPr>
          <p:cNvSpPr txBox="1"/>
          <p:nvPr/>
        </p:nvSpPr>
        <p:spPr>
          <a:xfrm>
            <a:off x="535084" y="389040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Una expresión algebraica es el conjunto de números y letras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combinados con los signos de las operaciones aritméticas.</a:t>
            </a: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4D62F661-3B37-7979-2E19-D9CC16B5B056}"/>
              </a:ext>
            </a:extLst>
          </p:cNvPr>
          <p:cNvGrpSpPr/>
          <p:nvPr/>
        </p:nvGrpSpPr>
        <p:grpSpPr>
          <a:xfrm>
            <a:off x="1906632" y="4929376"/>
            <a:ext cx="3004122" cy="1312336"/>
            <a:chOff x="1298936" y="8967096"/>
            <a:chExt cx="3417317" cy="149283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9726C603-3326-BA22-F507-16EF20B7ACA3}"/>
                </a:ext>
              </a:extLst>
            </p:cNvPr>
            <p:cNvSpPr/>
            <p:nvPr/>
          </p:nvSpPr>
          <p:spPr>
            <a:xfrm>
              <a:off x="1298936" y="8967096"/>
              <a:ext cx="3417317" cy="1492839"/>
            </a:xfrm>
            <a:prstGeom prst="rect">
              <a:avLst/>
            </a:prstGeom>
            <a:pattFill prst="wdUpDiag">
              <a:fgClr>
                <a:schemeClr val="bg1"/>
              </a:fgClr>
              <a:bgClr>
                <a:schemeClr val="accent3">
                  <a:lumMod val="20000"/>
                  <a:lumOff val="80000"/>
                </a:schemeClr>
              </a:bgClr>
            </a:patt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0E571B29-D9AD-AEE8-0DBB-4F38C7718469}"/>
                </a:ext>
              </a:extLst>
            </p:cNvPr>
            <p:cNvSpPr/>
            <p:nvPr/>
          </p:nvSpPr>
          <p:spPr>
            <a:xfrm>
              <a:off x="2777010" y="9482931"/>
              <a:ext cx="461168" cy="461168"/>
            </a:xfrm>
            <a:prstGeom prst="ellipse">
              <a:avLst/>
            </a:prstGeom>
            <a:pattFill prst="wdUpDiag">
              <a:fgClr>
                <a:schemeClr val="bg1"/>
              </a:fgClr>
              <a:bgClr>
                <a:schemeClr val="accent3">
                  <a:lumMod val="20000"/>
                  <a:lumOff val="80000"/>
                </a:schemeClr>
              </a:bgClr>
            </a:patt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5836E6B1-0CFB-0D9A-7AD2-0F38BEA5E385}"/>
                </a:ext>
              </a:extLst>
            </p:cNvPr>
            <p:cNvCxnSpPr>
              <a:cxnSpLocks/>
              <a:stCxn id="27" idx="0"/>
              <a:endCxn id="27" idx="2"/>
            </p:cNvCxnSpPr>
            <p:nvPr/>
          </p:nvCxnSpPr>
          <p:spPr>
            <a:xfrm>
              <a:off x="3007595" y="8967096"/>
              <a:ext cx="0" cy="1492839"/>
            </a:xfrm>
            <a:prstGeom prst="line">
              <a:avLst/>
            </a:prstGeom>
            <a:pattFill prst="wdUpDiag">
              <a:fgClr>
                <a:schemeClr val="bg1"/>
              </a:fgClr>
              <a:bgClr>
                <a:schemeClr val="accent3">
                  <a:lumMod val="20000"/>
                  <a:lumOff val="80000"/>
                </a:schemeClr>
              </a:bgClr>
            </a:patt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22EA0A0F-2E15-55BE-2445-276F99094F0B}"/>
                </a:ext>
              </a:extLst>
            </p:cNvPr>
            <p:cNvSpPr/>
            <p:nvPr/>
          </p:nvSpPr>
          <p:spPr>
            <a:xfrm>
              <a:off x="1513900" y="9549973"/>
              <a:ext cx="247420" cy="327083"/>
            </a:xfrm>
            <a:prstGeom prst="ellipse">
              <a:avLst/>
            </a:prstGeom>
            <a:pattFill prst="wdUpDiag">
              <a:fgClr>
                <a:schemeClr val="bg1"/>
              </a:fgClr>
              <a:bgClr>
                <a:schemeClr val="accent3">
                  <a:lumMod val="20000"/>
                  <a:lumOff val="80000"/>
                </a:schemeClr>
              </a:bgClr>
            </a:patt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4" name="Elipse 33">
              <a:extLst>
                <a:ext uri="{FF2B5EF4-FFF2-40B4-BE49-F238E27FC236}">
                  <a16:creationId xmlns:a16="http://schemas.microsoft.com/office/drawing/2014/main" id="{7A72B03D-DB29-3BDA-AA09-A4B10D9A985D}"/>
                </a:ext>
              </a:extLst>
            </p:cNvPr>
            <p:cNvSpPr/>
            <p:nvPr/>
          </p:nvSpPr>
          <p:spPr>
            <a:xfrm>
              <a:off x="4269471" y="9549973"/>
              <a:ext cx="247420" cy="327083"/>
            </a:xfrm>
            <a:prstGeom prst="ellipse">
              <a:avLst/>
            </a:prstGeom>
            <a:pattFill prst="wdUpDiag">
              <a:fgClr>
                <a:schemeClr val="bg1"/>
              </a:fgClr>
              <a:bgClr>
                <a:schemeClr val="accent3">
                  <a:lumMod val="20000"/>
                  <a:lumOff val="80000"/>
                </a:schemeClr>
              </a:bgClr>
            </a:patt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5" name="Rectángulo 34">
              <a:extLst>
                <a:ext uri="{FF2B5EF4-FFF2-40B4-BE49-F238E27FC236}">
                  <a16:creationId xmlns:a16="http://schemas.microsoft.com/office/drawing/2014/main" id="{1FCF03B0-A662-1F1F-6722-5B5D7CB203E8}"/>
                </a:ext>
              </a:extLst>
            </p:cNvPr>
            <p:cNvSpPr/>
            <p:nvPr/>
          </p:nvSpPr>
          <p:spPr>
            <a:xfrm>
              <a:off x="1298936" y="9349206"/>
              <a:ext cx="339363" cy="733694"/>
            </a:xfrm>
            <a:prstGeom prst="rect">
              <a:avLst/>
            </a:prstGeom>
            <a:pattFill prst="wdUpDiag">
              <a:fgClr>
                <a:schemeClr val="bg1"/>
              </a:fgClr>
              <a:bgClr>
                <a:schemeClr val="accent3">
                  <a:lumMod val="20000"/>
                  <a:lumOff val="80000"/>
                </a:schemeClr>
              </a:bgClr>
            </a:patt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ADD1ADAD-6F36-D91A-FCDF-4D5AA1896D99}"/>
                </a:ext>
              </a:extLst>
            </p:cNvPr>
            <p:cNvSpPr/>
            <p:nvPr/>
          </p:nvSpPr>
          <p:spPr>
            <a:xfrm>
              <a:off x="4370748" y="9349206"/>
              <a:ext cx="339363" cy="733694"/>
            </a:xfrm>
            <a:prstGeom prst="rect">
              <a:avLst/>
            </a:prstGeom>
            <a:pattFill prst="wdUpDiag">
              <a:fgClr>
                <a:schemeClr val="bg1"/>
              </a:fgClr>
              <a:bgClr>
                <a:schemeClr val="accent3">
                  <a:lumMod val="20000"/>
                  <a:lumOff val="80000"/>
                </a:schemeClr>
              </a:bgClr>
            </a:patt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45" name="CuadroTexto 1">
            <a:extLst>
              <a:ext uri="{FF2B5EF4-FFF2-40B4-BE49-F238E27FC236}">
                <a16:creationId xmlns:a16="http://schemas.microsoft.com/office/drawing/2014/main" id="{87678A55-4309-2024-9643-D96CA73E51FE}"/>
              </a:ext>
            </a:extLst>
          </p:cNvPr>
          <p:cNvSpPr txBox="1"/>
          <p:nvPr/>
        </p:nvSpPr>
        <p:spPr>
          <a:xfrm>
            <a:off x="1332232" y="5299407"/>
            <a:ext cx="451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X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46" name="CuadroTexto 1">
            <a:extLst>
              <a:ext uri="{FF2B5EF4-FFF2-40B4-BE49-F238E27FC236}">
                <a16:creationId xmlns:a16="http://schemas.microsoft.com/office/drawing/2014/main" id="{72937901-137C-22F7-1085-7F2A4E140FD2}"/>
              </a:ext>
            </a:extLst>
          </p:cNvPr>
          <p:cNvSpPr txBox="1"/>
          <p:nvPr/>
        </p:nvSpPr>
        <p:spPr>
          <a:xfrm>
            <a:off x="3225276" y="6338110"/>
            <a:ext cx="451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Y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6DF541CB-1D3C-EA15-D768-AB273A9CF94B}"/>
              </a:ext>
            </a:extLst>
          </p:cNvPr>
          <p:cNvSpPr txBox="1"/>
          <p:nvPr/>
        </p:nvSpPr>
        <p:spPr>
          <a:xfrm>
            <a:off x="5907480" y="4787897"/>
            <a:ext cx="4518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EL PERÍMETRO DEL CAMPO ES: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385C141-1AFA-0DE9-1DC7-E75E38106997}"/>
              </a:ext>
            </a:extLst>
          </p:cNvPr>
          <p:cNvSpPr txBox="1"/>
          <p:nvPr/>
        </p:nvSpPr>
        <p:spPr>
          <a:xfrm>
            <a:off x="6723638" y="5189612"/>
            <a:ext cx="28864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 = X + Y + X + Y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CFC24C09-6EED-7CD1-CE09-F6F7102D3789}"/>
              </a:ext>
            </a:extLst>
          </p:cNvPr>
          <p:cNvSpPr txBox="1"/>
          <p:nvPr/>
        </p:nvSpPr>
        <p:spPr>
          <a:xfrm>
            <a:off x="5862776" y="5690265"/>
            <a:ext cx="4518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EL ÁREA DEL CAMPO 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A3DA693A-0938-A4D2-5F08-6CE58C608959}"/>
                  </a:ext>
                </a:extLst>
              </p:cNvPr>
              <p:cNvSpPr txBox="1"/>
              <p:nvPr/>
            </p:nvSpPr>
            <p:spPr>
              <a:xfrm>
                <a:off x="6678934" y="6079280"/>
                <a:ext cx="28864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20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 = X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20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Y</a:t>
                </a:r>
              </a:p>
            </p:txBody>
          </p:sp>
        </mc:Choice>
        <mc:Fallback xmlns="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A3DA693A-0938-A4D2-5F08-6CE58C608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8934" y="6079280"/>
                <a:ext cx="2886414" cy="400110"/>
              </a:xfrm>
              <a:prstGeom prst="rect">
                <a:avLst/>
              </a:prstGeom>
              <a:blipFill>
                <a:blip r:embed="rId7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D162EFFF-7849-0BD2-09D0-8B8E02ACFFC4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295BE40-505A-7AD7-A46F-C556756FCEF3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5: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Álgebra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0">
        <p159:morph option="byObject"/>
      </p:transition>
    </mc:Choice>
    <mc:Fallback xmlns=""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275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75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75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875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375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75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75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75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6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400"/>
                            </p:stCondLst>
                            <p:childTnLst>
                              <p:par>
                                <p:cTn id="6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75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65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4" grpId="0"/>
      <p:bldP spid="5" grpId="0"/>
      <p:bldP spid="7" grpId="0"/>
      <p:bldP spid="8" grpId="0"/>
      <p:bldP spid="20" grpId="0"/>
      <p:bldP spid="21" grpId="0"/>
      <p:bldP spid="22" grpId="0"/>
      <p:bldP spid="23" grpId="0" animBg="1"/>
      <p:bldP spid="25" grpId="0"/>
      <p:bldP spid="45" grpId="0"/>
      <p:bldP spid="46" grpId="0"/>
      <p:bldP spid="47" grpId="0"/>
      <p:bldP spid="48" grpId="0"/>
      <p:bldP spid="49" grpId="0"/>
      <p:bldP spid="5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B2A595ED-31F3-4BF1-8B53-18C9A4D7251F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1. Lenguaje algebraico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2 ESO\\TEMA 5 - Álgebra&quot;]]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FEBF8DF-EC40-4DC3-92D8-089B08138CD0}:257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94</Words>
  <Application>Microsoft Office PowerPoint</Application>
  <PresentationFormat>Panorámica</PresentationFormat>
  <Paragraphs>17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Lenguaje algebraico</dc:title>
  <dc:creator>Illán Linos Souto</dc:creator>
  <cp:lastModifiedBy>Illán Linos</cp:lastModifiedBy>
  <cp:revision>45</cp:revision>
  <dcterms:created xsi:type="dcterms:W3CDTF">2024-08-18T18:48:07Z</dcterms:created>
  <dcterms:modified xsi:type="dcterms:W3CDTF">2025-11-18T12:36:06Z</dcterms:modified>
</cp:coreProperties>
</file>