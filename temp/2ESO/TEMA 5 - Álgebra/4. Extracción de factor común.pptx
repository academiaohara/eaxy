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0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156082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89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86A06-350E-48C6-AA2F-C8613EBAE34F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A20EC-0C91-4EDB-8873-6E6C099872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501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A20EC-0C91-4EDB-8873-6E6C0998728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3708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A20EC-0C91-4EDB-8873-6E6C0998728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6679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A20EC-0C91-4EDB-8873-6E6C0998728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721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3023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Extraer factor común </a:t>
            </a:r>
            <a:r>
              <a:rPr lang="es-ES" sz="2000" b="1" dirty="0"/>
              <a:t>consiste en identificar los elementos que se repiten en todos los términos de una expresión algebraica y escribirlos una sola vez, multiplicando por un paréntesis que contiene los términos restantes.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093C9E6-5712-9D01-F756-82CCB9622071}"/>
                  </a:ext>
                </a:extLst>
              </p:cNvPr>
              <p:cNvSpPr txBox="1"/>
              <p:nvPr/>
            </p:nvSpPr>
            <p:spPr>
              <a:xfrm>
                <a:off x="2740968" y="2685072"/>
                <a:ext cx="25212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𝐜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𝐝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093C9E6-5712-9D01-F756-82CCB9622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968" y="2685072"/>
                <a:ext cx="2521203" cy="369332"/>
              </a:xfrm>
              <a:prstGeom prst="rect">
                <a:avLst/>
              </a:prstGeom>
              <a:blipFill>
                <a:blip r:embed="rId6"/>
                <a:stretch>
                  <a:fillRect l="-969" r="-2421" b="-1147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CuadroTexto 1">
            <a:extLst>
              <a:ext uri="{FF2B5EF4-FFF2-40B4-BE49-F238E27FC236}">
                <a16:creationId xmlns:a16="http://schemas.microsoft.com/office/drawing/2014/main" id="{089F0F64-C848-3DE0-4C1C-9A308EF0CCEB}"/>
              </a:ext>
            </a:extLst>
          </p:cNvPr>
          <p:cNvSpPr txBox="1"/>
          <p:nvPr/>
        </p:nvSpPr>
        <p:spPr>
          <a:xfrm>
            <a:off x="535084" y="2198383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id="{FF23570F-B5D8-EF00-9179-C67FCA017C2B}"/>
              </a:ext>
            </a:extLst>
          </p:cNvPr>
          <p:cNvSpPr/>
          <p:nvPr/>
        </p:nvSpPr>
        <p:spPr>
          <a:xfrm>
            <a:off x="5308039" y="2459248"/>
            <a:ext cx="102161" cy="843742"/>
          </a:xfrm>
          <a:prstGeom prst="leftBrace">
            <a:avLst>
              <a:gd name="adj1" fmla="val 6809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891FEF-6E75-7637-AFC0-5A2F45BEC463}"/>
              </a:ext>
            </a:extLst>
          </p:cNvPr>
          <p:cNvSpPr txBox="1"/>
          <p:nvPr/>
        </p:nvSpPr>
        <p:spPr>
          <a:xfrm>
            <a:off x="5428128" y="2413827"/>
            <a:ext cx="6078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Es una suma cuyos sumandos son productos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0A82D5-49B5-72BB-C725-B6CCB13F9DA5}"/>
              </a:ext>
            </a:extLst>
          </p:cNvPr>
          <p:cNvSpPr txBox="1"/>
          <p:nvPr/>
        </p:nvSpPr>
        <p:spPr>
          <a:xfrm>
            <a:off x="5428128" y="2899755"/>
            <a:ext cx="6078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Todos los productos tienen el </a:t>
            </a:r>
            <a:r>
              <a:rPr lang="es-ES" sz="2000" i="1" dirty="0"/>
              <a:t>factor común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92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3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4" grpId="0"/>
      <p:bldP spid="5" grpId="0" animBg="1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3023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Extraer factor común </a:t>
            </a:r>
            <a:r>
              <a:rPr lang="es-ES" sz="2000" b="1" dirty="0"/>
              <a:t>consiste en identificar los elementos que se repiten en todos los términos de una expresión algebraica y escribirlos una sola vez, multiplicando por un paréntesis que contiene los términos restantes.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093C9E6-5712-9D01-F756-82CCB9622071}"/>
                  </a:ext>
                </a:extLst>
              </p:cNvPr>
              <p:cNvSpPr txBox="1"/>
              <p:nvPr/>
            </p:nvSpPr>
            <p:spPr>
              <a:xfrm>
                <a:off x="2740968" y="2685072"/>
                <a:ext cx="25212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𝐜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𝐝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093C9E6-5712-9D01-F756-82CCB9622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968" y="2685072"/>
                <a:ext cx="2521203" cy="369332"/>
              </a:xfrm>
              <a:prstGeom prst="rect">
                <a:avLst/>
              </a:prstGeom>
              <a:blipFill>
                <a:blip r:embed="rId6"/>
                <a:stretch>
                  <a:fillRect l="-969" r="-2421" b="-1147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CuadroTexto 1">
            <a:extLst>
              <a:ext uri="{FF2B5EF4-FFF2-40B4-BE49-F238E27FC236}">
                <a16:creationId xmlns:a16="http://schemas.microsoft.com/office/drawing/2014/main" id="{089F0F64-C848-3DE0-4C1C-9A308EF0CCEB}"/>
              </a:ext>
            </a:extLst>
          </p:cNvPr>
          <p:cNvSpPr txBox="1"/>
          <p:nvPr/>
        </p:nvSpPr>
        <p:spPr>
          <a:xfrm>
            <a:off x="535084" y="2198383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id="{FF23570F-B5D8-EF00-9179-C67FCA017C2B}"/>
              </a:ext>
            </a:extLst>
          </p:cNvPr>
          <p:cNvSpPr/>
          <p:nvPr/>
        </p:nvSpPr>
        <p:spPr>
          <a:xfrm>
            <a:off x="5308039" y="2459248"/>
            <a:ext cx="102161" cy="843742"/>
          </a:xfrm>
          <a:prstGeom prst="leftBrace">
            <a:avLst>
              <a:gd name="adj1" fmla="val 6809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891FEF-6E75-7637-AFC0-5A2F45BEC463}"/>
              </a:ext>
            </a:extLst>
          </p:cNvPr>
          <p:cNvSpPr txBox="1"/>
          <p:nvPr/>
        </p:nvSpPr>
        <p:spPr>
          <a:xfrm>
            <a:off x="5428128" y="2413827"/>
            <a:ext cx="6078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Es una suma cuyos sumandos son productos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0A82D5-49B5-72BB-C725-B6CCB13F9DA5}"/>
              </a:ext>
            </a:extLst>
          </p:cNvPr>
          <p:cNvSpPr txBox="1"/>
          <p:nvPr/>
        </p:nvSpPr>
        <p:spPr>
          <a:xfrm>
            <a:off x="5428128" y="2899755"/>
            <a:ext cx="6078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Todos los productos tienen el </a:t>
            </a:r>
            <a:r>
              <a:rPr lang="es-ES" sz="2000" i="1" dirty="0"/>
              <a:t>factor común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726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30238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Extraer factor común </a:t>
            </a:r>
            <a:r>
              <a:rPr lang="es-ES" sz="2000" b="1" dirty="0"/>
              <a:t>consiste en identificar los elementos que se repiten en todos los términos de una expresión algebraica y escribirlos una sola vez, multiplicando por un paréntesis que contiene los términos restantes.</a:t>
            </a:r>
            <a:endParaRPr lang="es-ES" sz="3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093C9E6-5712-9D01-F756-82CCB9622071}"/>
                  </a:ext>
                </a:extLst>
              </p:cNvPr>
              <p:cNvSpPr txBox="1"/>
              <p:nvPr/>
            </p:nvSpPr>
            <p:spPr>
              <a:xfrm>
                <a:off x="2740968" y="2685072"/>
                <a:ext cx="25212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𝐜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𝐝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093C9E6-5712-9D01-F756-82CCB9622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968" y="2685072"/>
                <a:ext cx="2521203" cy="369332"/>
              </a:xfrm>
              <a:prstGeom prst="rect">
                <a:avLst/>
              </a:prstGeom>
              <a:blipFill>
                <a:blip r:embed="rId6"/>
                <a:stretch>
                  <a:fillRect l="-969" r="-2421" b="-1147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!CuadroTexto 1">
            <a:extLst>
              <a:ext uri="{FF2B5EF4-FFF2-40B4-BE49-F238E27FC236}">
                <a16:creationId xmlns:a16="http://schemas.microsoft.com/office/drawing/2014/main" id="{089F0F64-C848-3DE0-4C1C-9A308EF0CCEB}"/>
              </a:ext>
            </a:extLst>
          </p:cNvPr>
          <p:cNvSpPr txBox="1"/>
          <p:nvPr/>
        </p:nvSpPr>
        <p:spPr>
          <a:xfrm>
            <a:off x="535084" y="2198383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  <a:endParaRPr lang="es-E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brir llave 4">
            <a:extLst>
              <a:ext uri="{FF2B5EF4-FFF2-40B4-BE49-F238E27FC236}">
                <a16:creationId xmlns:a16="http://schemas.microsoft.com/office/drawing/2014/main" id="{FF23570F-B5D8-EF00-9179-C67FCA017C2B}"/>
              </a:ext>
            </a:extLst>
          </p:cNvPr>
          <p:cNvSpPr/>
          <p:nvPr/>
        </p:nvSpPr>
        <p:spPr>
          <a:xfrm>
            <a:off x="5308039" y="2459248"/>
            <a:ext cx="102161" cy="843742"/>
          </a:xfrm>
          <a:prstGeom prst="leftBrace">
            <a:avLst>
              <a:gd name="adj1" fmla="val 68099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891FEF-6E75-7637-AFC0-5A2F45BEC463}"/>
              </a:ext>
            </a:extLst>
          </p:cNvPr>
          <p:cNvSpPr txBox="1"/>
          <p:nvPr/>
        </p:nvSpPr>
        <p:spPr>
          <a:xfrm>
            <a:off x="5428128" y="2413827"/>
            <a:ext cx="6078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Es una suma cuyos sumandos son productos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20A82D5-49B5-72BB-C725-B6CCB13F9DA5}"/>
              </a:ext>
            </a:extLst>
          </p:cNvPr>
          <p:cNvSpPr txBox="1"/>
          <p:nvPr/>
        </p:nvSpPr>
        <p:spPr>
          <a:xfrm>
            <a:off x="5428128" y="2899755"/>
            <a:ext cx="6078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/>
              <a:t>Todos los productos tienen el </a:t>
            </a:r>
            <a:r>
              <a:rPr lang="es-ES" sz="2000" i="1" dirty="0"/>
              <a:t>factor común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5026B2C-F3A3-B0AB-9A38-7EE328F7289C}"/>
                  </a:ext>
                </a:extLst>
              </p:cNvPr>
              <p:cNvSpPr txBox="1"/>
              <p:nvPr/>
            </p:nvSpPr>
            <p:spPr>
              <a:xfrm>
                <a:off x="3663026" y="3699228"/>
                <a:ext cx="486594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𝐛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𝐜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0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𝐚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𝐝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5026B2C-F3A3-B0AB-9A38-7EE328F72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026" y="3699228"/>
                <a:ext cx="4865947" cy="369332"/>
              </a:xfrm>
              <a:prstGeom prst="rect">
                <a:avLst/>
              </a:prstGeom>
              <a:blipFill>
                <a:blip r:embed="rId7"/>
                <a:stretch>
                  <a:fillRect l="-251" r="-1504" b="-3833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B242CC0D-7BFF-5D83-0BCD-509715CCDCBE}"/>
              </a:ext>
            </a:extLst>
          </p:cNvPr>
          <p:cNvSpPr txBox="1"/>
          <p:nvPr/>
        </p:nvSpPr>
        <p:spPr>
          <a:xfrm>
            <a:off x="535084" y="4400600"/>
            <a:ext cx="928619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ES" sz="2000" dirty="0"/>
              <a:t>Que si nos fijamos no deja de ser la aplicación de la propiedad distributiva: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8A25F3E-13CD-E876-DE05-4B249A4488C7}"/>
              </a:ext>
            </a:extLst>
          </p:cNvPr>
          <p:cNvGrpSpPr/>
          <p:nvPr/>
        </p:nvGrpSpPr>
        <p:grpSpPr>
          <a:xfrm>
            <a:off x="2350293" y="4969240"/>
            <a:ext cx="8627932" cy="400110"/>
            <a:chOff x="2350293" y="4969240"/>
            <a:chExt cx="8627932" cy="400110"/>
          </a:xfrm>
        </p:grpSpPr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FB046A95-7409-BB8F-1D15-1B156C36BB00}"/>
                </a:ext>
              </a:extLst>
            </p:cNvPr>
            <p:cNvSpPr txBox="1"/>
            <p:nvPr/>
          </p:nvSpPr>
          <p:spPr>
            <a:xfrm>
              <a:off x="4758401" y="4969240"/>
              <a:ext cx="621982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2000" b="1" dirty="0">
                  <a:latin typeface="Century Gothic" panose="020B0502020202020204" pitchFamily="34" charset="0"/>
                </a:rPr>
                <a:t>a ∙ (b + c) = a ∙ b + a ∙ c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6833F6C-72B1-0209-3602-EA99AC188503}"/>
                </a:ext>
              </a:extLst>
            </p:cNvPr>
            <p:cNvSpPr txBox="1"/>
            <p:nvPr/>
          </p:nvSpPr>
          <p:spPr>
            <a:xfrm>
              <a:off x="2350293" y="4969240"/>
              <a:ext cx="34623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Century Gothic" panose="020B0502020202020204" pitchFamily="34" charset="0"/>
                </a:rPr>
                <a:t>PROPIEDAD DISTRIBUTIVA</a:t>
              </a: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57730770-2F2B-2B9A-EC70-74CDAE42CF21}"/>
                </a:ext>
              </a:extLst>
            </p:cNvPr>
            <p:cNvCxnSpPr/>
            <p:nvPr/>
          </p:nvCxnSpPr>
          <p:spPr>
            <a:xfrm>
              <a:off x="5654039" y="5169295"/>
              <a:ext cx="6629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78864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D5BD77B-AC6F-4620-AB6B-999F32640BDB"/>
  <p:tag name="ISPRING_CMI5_LAUNCH_METHOD" val="any window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2 ESO\\TEMA 5 - Álgebra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FIRST_PUBLISH" val="1"/>
  <p:tag name="ISPRING_ULTRA_SCORM_COURCE_TITLE" val="4. Extracción de factor común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4. Extracción de factor comú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3023E55-C88A-4395-B079-F4643D090E0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B710762-1053-4FE3-B60A-E6A21F771EEF}:2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77F6A16-F0DE-42D2-A456-9EE8F5E69698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784</TotalTime>
  <Words>257</Words>
  <Application>Microsoft Office PowerPoint</Application>
  <PresentationFormat>Panorámica</PresentationFormat>
  <Paragraphs>25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Extracción de factor común</dc:title>
  <dc:creator>Illán Linos Souto</dc:creator>
  <cp:lastModifiedBy>Illán Linos</cp:lastModifiedBy>
  <cp:revision>70</cp:revision>
  <dcterms:created xsi:type="dcterms:W3CDTF">2024-08-18T18:48:07Z</dcterms:created>
  <dcterms:modified xsi:type="dcterms:W3CDTF">2025-11-18T12:56:24Z</dcterms:modified>
</cp:coreProperties>
</file>