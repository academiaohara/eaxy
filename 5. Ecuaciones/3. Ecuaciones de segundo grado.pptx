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5" d="100"/>
          <a:sy n="105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83CD3-BA02-4927-B8B8-7340B9A9C2A5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514D4-F9E1-4163-B7FE-42C3654CED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70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514D4-F9E1-4163-B7FE-42C3654CED4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2212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514D4-F9E1-4163-B7FE-42C3654CED4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109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514D4-F9E1-4163-B7FE-42C3654CED4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149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0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15" Type="http://schemas.openxmlformats.org/officeDocument/2006/relationships/image" Target="../media/image10.png"/><Relationship Id="rId10" Type="http://schemas.openxmlformats.org/officeDocument/2006/relationships/image" Target="../media/image160.png"/><Relationship Id="rId9" Type="http://schemas.openxmlformats.org/officeDocument/2006/relationships/image" Target="../media/image150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/>
              <p:nvPr/>
            </p:nvSpPr>
            <p:spPr>
              <a:xfrm>
                <a:off x="535084" y="1052614"/>
                <a:ext cx="11121832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Una ecuación de segundo grado es de la forma: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𝒃𝒙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𝒄𝒐𝒏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052614"/>
                <a:ext cx="11121832" cy="714876"/>
              </a:xfrm>
              <a:prstGeom prst="rect">
                <a:avLst/>
              </a:prstGeom>
              <a:blipFill>
                <a:blip r:embed="rId6"/>
                <a:stretch>
                  <a:fillRect l="-603" t="-51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7530126F-548A-629F-4C46-B8F7C3064CAC}"/>
              </a:ext>
            </a:extLst>
          </p:cNvPr>
          <p:cNvSpPr txBox="1"/>
          <p:nvPr/>
        </p:nvSpPr>
        <p:spPr>
          <a:xfrm>
            <a:off x="535084" y="1899154"/>
            <a:ext cx="1112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Para solucionar las ecuaciones de segundo grado usaremos, generalmente, la siguiente</a:t>
            </a:r>
          </a:p>
          <a:p>
            <a:r>
              <a:rPr lang="es-ES" dirty="0"/>
              <a:t>ecuación: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575BD4AE-6BE9-68F6-ACF1-A7807B809ACC}"/>
                  </a:ext>
                </a:extLst>
              </p:cNvPr>
              <p:cNvSpPr txBox="1"/>
              <p:nvPr/>
            </p:nvSpPr>
            <p:spPr>
              <a:xfrm>
                <a:off x="4683919" y="2564535"/>
                <a:ext cx="2824162" cy="750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s-E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m:rPr>
                                  <m:sty m:val="p"/>
                                </m:rP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</m:t>
                              </m:r>
                            </m:e>
                          </m:rad>
                        </m:num>
                        <m:den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575BD4AE-6BE9-68F6-ACF1-A7807B809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9" y="2564535"/>
                <a:ext cx="2824162" cy="750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Grupo 83">
            <a:extLst>
              <a:ext uri="{FF2B5EF4-FFF2-40B4-BE49-F238E27FC236}">
                <a16:creationId xmlns:a16="http://schemas.microsoft.com/office/drawing/2014/main" id="{8EE38C1B-6926-C2E6-7079-9E24BF8FCAAF}"/>
              </a:ext>
            </a:extLst>
          </p:cNvPr>
          <p:cNvGrpSpPr/>
          <p:nvPr/>
        </p:nvGrpSpPr>
        <p:grpSpPr>
          <a:xfrm>
            <a:off x="2981326" y="3404765"/>
            <a:ext cx="5800725" cy="742950"/>
            <a:chOff x="2981326" y="3404765"/>
            <a:chExt cx="5800725" cy="742950"/>
          </a:xfrm>
        </p:grpSpPr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E5D331A7-89DF-6CB0-0E36-F4073049EF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3404765"/>
              <a:ext cx="0" cy="74295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335A4ED2-8C71-9B2C-C745-D5C945E0B861}"/>
                </a:ext>
              </a:extLst>
            </p:cNvPr>
            <p:cNvCxnSpPr>
              <a:cxnSpLocks/>
            </p:cNvCxnSpPr>
            <p:nvPr/>
          </p:nvCxnSpPr>
          <p:spPr>
            <a:xfrm>
              <a:off x="2981326" y="4147715"/>
              <a:ext cx="58007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CuadroTexto 70">
            <a:extLst>
              <a:ext uri="{FF2B5EF4-FFF2-40B4-BE49-F238E27FC236}">
                <a16:creationId xmlns:a16="http://schemas.microsoft.com/office/drawing/2014/main" id="{E2E266BD-854F-3CFA-AA21-BE3183BDABCD}"/>
              </a:ext>
            </a:extLst>
          </p:cNvPr>
          <p:cNvSpPr txBox="1"/>
          <p:nvPr/>
        </p:nvSpPr>
        <p:spPr>
          <a:xfrm>
            <a:off x="5156201" y="3477274"/>
            <a:ext cx="18795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 SOLUCIONES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996B9A1E-9A1E-70FA-F198-8BC49ED23083}"/>
              </a:ext>
            </a:extLst>
          </p:cNvPr>
          <p:cNvSpPr/>
          <p:nvPr/>
        </p:nvSpPr>
        <p:spPr>
          <a:xfrm>
            <a:off x="2806066" y="3972455"/>
            <a:ext cx="350520" cy="3505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BB1FDC7B-C6E0-E2F2-5E53-1B4E3234F1ED}"/>
              </a:ext>
            </a:extLst>
          </p:cNvPr>
          <p:cNvSpPr/>
          <p:nvPr/>
        </p:nvSpPr>
        <p:spPr>
          <a:xfrm>
            <a:off x="8606791" y="3972455"/>
            <a:ext cx="350520" cy="3505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2CBF7467-FFF8-2C0C-373C-60EEB608A4C0}"/>
              </a:ext>
            </a:extLst>
          </p:cNvPr>
          <p:cNvCxnSpPr>
            <a:cxnSpLocks/>
          </p:cNvCxnSpPr>
          <p:nvPr/>
        </p:nvCxnSpPr>
        <p:spPr>
          <a:xfrm>
            <a:off x="8728949" y="4147715"/>
            <a:ext cx="106204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83E672F-5F11-1071-41BD-9F70C0332146}"/>
                  </a:ext>
                </a:extLst>
              </p:cNvPr>
              <p:cNvSpPr txBox="1"/>
              <p:nvPr/>
            </p:nvSpPr>
            <p:spPr>
              <a:xfrm>
                <a:off x="1569245" y="4498235"/>
                <a:ext cx="2824162" cy="750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s-E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m:rPr>
                                  <m:sty m:val="p"/>
                                </m:rP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</m:t>
                              </m:r>
                            </m:e>
                          </m:rad>
                        </m:num>
                        <m:den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83E672F-5F11-1071-41BD-9F70C0332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45" y="4498235"/>
                <a:ext cx="2824162" cy="750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4C8DB67-9648-B18A-6944-E144A6DD9FDE}"/>
                  </a:ext>
                </a:extLst>
              </p:cNvPr>
              <p:cNvSpPr txBox="1"/>
              <p:nvPr/>
            </p:nvSpPr>
            <p:spPr>
              <a:xfrm>
                <a:off x="7369970" y="4498235"/>
                <a:ext cx="2824162" cy="750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s-E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m:rPr>
                                  <m:sty m:val="p"/>
                                </m:rP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</m:t>
                              </m:r>
                            </m:e>
                          </m:rad>
                        </m:num>
                        <m:den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4C8DB67-9648-B18A-6944-E144A6DD9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970" y="4498235"/>
                <a:ext cx="2824162" cy="7509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build="p"/>
      <p:bldP spid="24" grpId="0"/>
      <p:bldP spid="71" grpId="0" animBg="1"/>
      <p:bldP spid="74" grpId="0" animBg="1"/>
      <p:bldP spid="75" grpId="0" animBg="1"/>
      <p:bldP spid="82" grpId="0"/>
      <p:bldP spid="8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/>
              <p:nvPr/>
            </p:nvSpPr>
            <p:spPr>
              <a:xfrm>
                <a:off x="535084" y="1052614"/>
                <a:ext cx="11121832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Una ecuación de segundo grado es de la forma: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𝒃𝒙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𝒄𝒐𝒏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052614"/>
                <a:ext cx="11121832" cy="714876"/>
              </a:xfrm>
              <a:prstGeom prst="rect">
                <a:avLst/>
              </a:prstGeom>
              <a:blipFill>
                <a:blip r:embed="rId6"/>
                <a:stretch>
                  <a:fillRect l="-603" t="-51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7530126F-548A-629F-4C46-B8F7C3064CAC}"/>
              </a:ext>
            </a:extLst>
          </p:cNvPr>
          <p:cNvSpPr txBox="1"/>
          <p:nvPr/>
        </p:nvSpPr>
        <p:spPr>
          <a:xfrm>
            <a:off x="535084" y="1899154"/>
            <a:ext cx="1112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Para solucionar las ecuaciones de segundo grado usaremos, generalmente, la siguiente ecuación: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639BE91-848A-93EC-BB3E-4D14D929B158}"/>
                  </a:ext>
                </a:extLst>
              </p:cNvPr>
              <p:cNvSpPr txBox="1"/>
              <p:nvPr/>
            </p:nvSpPr>
            <p:spPr>
              <a:xfrm>
                <a:off x="535085" y="3416097"/>
                <a:ext cx="11121831" cy="6840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dirty="0">
                    <a:solidFill>
                      <a:schemeClr val="tx1"/>
                    </a:solidFill>
                  </a:rPr>
                  <a:t>La expresión</a:t>
                </a:r>
                <a:r>
                  <a:rPr lang="es-E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ES" sz="2000" b="0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es-ES" sz="2000" b="1" i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𝟒𝐚𝐜</m:t>
                    </m:r>
                  </m:oMath>
                </a14:m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ES" dirty="0"/>
                  <a:t>se llama </a:t>
                </a:r>
                <a:r>
                  <a:rPr lang="es-ES" b="1" dirty="0"/>
                  <a:t>discriminante</a:t>
                </a:r>
                <a:r>
                  <a:rPr lang="es-ES" dirty="0"/>
                  <a:t> de la ecuación. El número de soluciones se puede saber según el valor del discriminante: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639BE91-848A-93EC-BB3E-4D14D929B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5" y="3416097"/>
                <a:ext cx="11121831" cy="684098"/>
              </a:xfrm>
              <a:prstGeom prst="rect">
                <a:avLst/>
              </a:prstGeom>
              <a:blipFill>
                <a:blip r:embed="rId7"/>
                <a:stretch>
                  <a:fillRect l="-493" b="-123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upo 25">
            <a:extLst>
              <a:ext uri="{FF2B5EF4-FFF2-40B4-BE49-F238E27FC236}">
                <a16:creationId xmlns:a16="http://schemas.microsoft.com/office/drawing/2014/main" id="{E4F1953F-4082-EF41-BA58-8F6A0C802013}"/>
              </a:ext>
            </a:extLst>
          </p:cNvPr>
          <p:cNvGrpSpPr/>
          <p:nvPr/>
        </p:nvGrpSpPr>
        <p:grpSpPr>
          <a:xfrm>
            <a:off x="742950" y="4198519"/>
            <a:ext cx="4058412" cy="618311"/>
            <a:chOff x="742950" y="4198519"/>
            <a:chExt cx="4058412" cy="618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28EFA545-A3BC-976D-E270-1125AF52E42C}"/>
                    </a:ext>
                  </a:extLst>
                </p:cNvPr>
                <p:cNvSpPr txBox="1"/>
                <p:nvPr/>
              </p:nvSpPr>
              <p:spPr>
                <a:xfrm>
                  <a:off x="742950" y="4346448"/>
                  <a:ext cx="990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dirty="0"/>
                    <a:t>Si </a:t>
                  </a:r>
                  <a14:m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∆=0</m:t>
                      </m:r>
                    </m:oMath>
                  </a14:m>
                  <a:r>
                    <a:rPr lang="es-ES" dirty="0"/>
                    <a:t> </a:t>
                  </a:r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28EFA545-A3BC-976D-E270-1125AF52E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" y="4346448"/>
                  <a:ext cx="99060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5556" t="-8197" b="-2459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67E8E78E-878B-E8DA-0C45-82D6915F58BD}"/>
                </a:ext>
              </a:extLst>
            </p:cNvPr>
            <p:cNvCxnSpPr/>
            <p:nvPr/>
          </p:nvCxnSpPr>
          <p:spPr>
            <a:xfrm>
              <a:off x="1733550" y="4545711"/>
              <a:ext cx="932688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D064FA80-985B-E0C8-76A2-6F31C9179FE6}"/>
                    </a:ext>
                  </a:extLst>
                </p:cNvPr>
                <p:cNvSpPr txBox="1"/>
                <p:nvPr/>
              </p:nvSpPr>
              <p:spPr>
                <a:xfrm>
                  <a:off x="2724150" y="4198519"/>
                  <a:ext cx="2077212" cy="6183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s-ES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s-ES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D064FA80-985B-E0C8-76A2-6F31C9179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150" y="4198519"/>
                  <a:ext cx="2077212" cy="6183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AE551F-2E3A-9F04-4505-F0CF9FB9E9C4}"/>
              </a:ext>
            </a:extLst>
          </p:cNvPr>
          <p:cNvSpPr txBox="1"/>
          <p:nvPr/>
        </p:nvSpPr>
        <p:spPr>
          <a:xfrm>
            <a:off x="4388358" y="4361045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Una solución doble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1AA5E65E-8C2C-BC59-5006-E19F48406EBA}"/>
              </a:ext>
            </a:extLst>
          </p:cNvPr>
          <p:cNvGrpSpPr/>
          <p:nvPr/>
        </p:nvGrpSpPr>
        <p:grpSpPr>
          <a:xfrm>
            <a:off x="742950" y="5027640"/>
            <a:ext cx="3123438" cy="401970"/>
            <a:chOff x="742950" y="5027640"/>
            <a:chExt cx="3123438" cy="4019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426D7583-0468-E424-F349-B7E47A398071}"/>
                    </a:ext>
                  </a:extLst>
                </p:cNvPr>
                <p:cNvSpPr txBox="1"/>
                <p:nvPr/>
              </p:nvSpPr>
              <p:spPr>
                <a:xfrm>
                  <a:off x="742950" y="5043959"/>
                  <a:ext cx="990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dirty="0"/>
                    <a:t>Si </a:t>
                  </a:r>
                  <a14:m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∆&lt;0</m:t>
                      </m:r>
                    </m:oMath>
                  </a14:m>
                  <a:r>
                    <a:rPr lang="es-ES" dirty="0"/>
                    <a:t> </a:t>
                  </a: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426D7583-0468-E424-F349-B7E47A398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" y="5043959"/>
                  <a:ext cx="99060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t="-8197" b="-2459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5A52D8DB-E392-4F96-4BFB-D9DCD9A23272}"/>
                </a:ext>
              </a:extLst>
            </p:cNvPr>
            <p:cNvCxnSpPr/>
            <p:nvPr/>
          </p:nvCxnSpPr>
          <p:spPr>
            <a:xfrm>
              <a:off x="1733550" y="5234424"/>
              <a:ext cx="932688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F665F0B1-7A2F-654F-9233-CA7075FF74F4}"/>
                    </a:ext>
                  </a:extLst>
                </p:cNvPr>
                <p:cNvSpPr txBox="1"/>
                <p:nvPr/>
              </p:nvSpPr>
              <p:spPr>
                <a:xfrm>
                  <a:off x="2666238" y="5027640"/>
                  <a:ext cx="1200150" cy="4019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</m:rad>
                    </m:oMath>
                  </a14:m>
                  <a:r>
                    <a:rPr lang="es-ES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F665F0B1-7A2F-654F-9233-CA7075FF7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6238" y="5027640"/>
                  <a:ext cx="1200150" cy="40197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4EAB2C2-7B25-A593-001E-C8A893780942}"/>
              </a:ext>
            </a:extLst>
          </p:cNvPr>
          <p:cNvSpPr txBox="1"/>
          <p:nvPr/>
        </p:nvSpPr>
        <p:spPr>
          <a:xfrm>
            <a:off x="3330321" y="5050352"/>
            <a:ext cx="264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 tiene solución real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DA989FA-548F-89AF-D38F-52DA6F1A02BA}"/>
              </a:ext>
            </a:extLst>
          </p:cNvPr>
          <p:cNvGrpSpPr/>
          <p:nvPr/>
        </p:nvGrpSpPr>
        <p:grpSpPr>
          <a:xfrm>
            <a:off x="742950" y="5604118"/>
            <a:ext cx="6932642" cy="685124"/>
            <a:chOff x="742950" y="5604118"/>
            <a:chExt cx="6932642" cy="6851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C102BA0D-0FF2-0C55-00A8-81A9AB03CB2B}"/>
                    </a:ext>
                  </a:extLst>
                </p:cNvPr>
                <p:cNvSpPr txBox="1"/>
                <p:nvPr/>
              </p:nvSpPr>
              <p:spPr>
                <a:xfrm>
                  <a:off x="742950" y="5820421"/>
                  <a:ext cx="990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dirty="0"/>
                    <a:t>Si </a:t>
                  </a:r>
                  <a14:m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∆&gt;0</m:t>
                      </m:r>
                    </m:oMath>
                  </a14:m>
                  <a:r>
                    <a:rPr lang="es-ES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C102BA0D-0FF2-0C55-00A8-81A9AB03C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" y="5820421"/>
                  <a:ext cx="99060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5556" t="-10000" b="-26667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EE6F7F56-2823-FD4E-1C5C-E18B6D386794}"/>
                </a:ext>
              </a:extLst>
            </p:cNvPr>
            <p:cNvCxnSpPr/>
            <p:nvPr/>
          </p:nvCxnSpPr>
          <p:spPr>
            <a:xfrm>
              <a:off x="1733550" y="6005087"/>
              <a:ext cx="932688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408334B-1888-96E9-AEBB-303BB79AE45F}"/>
                    </a:ext>
                  </a:extLst>
                </p:cNvPr>
                <p:cNvSpPr txBox="1"/>
                <p:nvPr/>
              </p:nvSpPr>
              <p:spPr>
                <a:xfrm>
                  <a:off x="2668143" y="5604118"/>
                  <a:ext cx="2396490" cy="6851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s-E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s-E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es-ES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m:rPr>
                                    <m:sty m:val="p"/>
                                  </m:rPr>
                                  <a:rPr lang="es-E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ac</m:t>
                                </m:r>
                              </m:e>
                            </m:rad>
                          </m:num>
                          <m:den>
                            <m: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oMath>
                    </m:oMathPara>
                  </a14:m>
                  <a:endParaRPr lang="es-E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408334B-1888-96E9-AEBB-303BB79AE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8143" y="5604118"/>
                  <a:ext cx="2396490" cy="68512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F09A3BB9-4FE0-D804-F9F0-DDDB4BE75C82}"/>
                    </a:ext>
                  </a:extLst>
                </p:cNvPr>
                <p:cNvSpPr txBox="1"/>
                <p:nvPr/>
              </p:nvSpPr>
              <p:spPr>
                <a:xfrm>
                  <a:off x="5326695" y="5604118"/>
                  <a:ext cx="2348897" cy="6851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s-E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s-E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es-ES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m:rPr>
                                    <m:sty m:val="p"/>
                                  </m:rPr>
                                  <a:rPr lang="es-E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ac</m:t>
                                </m:r>
                              </m:e>
                            </m:rad>
                          </m:num>
                          <m:den>
                            <m: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</m:oMath>
                    </m:oMathPara>
                  </a14:m>
                  <a:endParaRPr lang="es-E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F09A3BB9-4FE0-D804-F9F0-DDDB4BE75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6695" y="5604118"/>
                  <a:ext cx="2348897" cy="68512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1FF6C6D5-E9F4-AC15-6862-5B7C822D5D83}"/>
                </a:ext>
              </a:extLst>
            </p:cNvPr>
            <p:cNvSpPr txBox="1"/>
            <p:nvPr/>
          </p:nvSpPr>
          <p:spPr>
            <a:xfrm>
              <a:off x="5007132" y="5818821"/>
              <a:ext cx="323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y</a:t>
              </a:r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DDE464-0999-1F09-19D5-43176694EC54}"/>
              </a:ext>
            </a:extLst>
          </p:cNvPr>
          <p:cNvSpPr txBox="1"/>
          <p:nvPr/>
        </p:nvSpPr>
        <p:spPr>
          <a:xfrm>
            <a:off x="7744206" y="5818821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 soluciones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59866BF-77A7-6D1E-D91E-CD036C6721E1}"/>
                  </a:ext>
                </a:extLst>
              </p:cNvPr>
              <p:cNvSpPr txBox="1"/>
              <p:nvPr/>
            </p:nvSpPr>
            <p:spPr>
              <a:xfrm>
                <a:off x="4683919" y="2564535"/>
                <a:ext cx="2824162" cy="750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s-E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m:rPr>
                                  <m:sty m:val="p"/>
                                </m:rPr>
                                <a:rPr lang="es-E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</m:t>
                              </m:r>
                            </m:e>
                          </m:rad>
                        </m:num>
                        <m:den>
                          <m: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59866BF-77A7-6D1E-D91E-CD036C672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9" y="2564535"/>
                <a:ext cx="2824162" cy="7509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004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5" grpId="0"/>
      <p:bldP spid="18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40011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de segundo grado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incompleta </a:t>
            </a:r>
            <a:r>
              <a:rPr lang="es-ES" sz="2000" b="1" dirty="0"/>
              <a:t>cuando b o c valen 0.</a:t>
            </a:r>
            <a:endParaRPr lang="es-ES" sz="2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FD23359-4020-881E-3EC7-5212CE963C04}"/>
              </a:ext>
            </a:extLst>
          </p:cNvPr>
          <p:cNvSpPr txBox="1"/>
          <p:nvPr/>
        </p:nvSpPr>
        <p:spPr>
          <a:xfrm>
            <a:off x="535084" y="1586956"/>
            <a:ext cx="11121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0" i="0" u="none" strike="noStrike" baseline="0" dirty="0"/>
              <a:t>Aunque pueden resolverse aplicando la formula general, es posible encontrar sus soluciones de forma mucho más sencilla.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5A0FC8D-584D-F20A-7FD1-F690CB7173D4}"/>
              </a:ext>
            </a:extLst>
          </p:cNvPr>
          <p:cNvSpPr txBox="1"/>
          <p:nvPr/>
        </p:nvSpPr>
        <p:spPr>
          <a:xfrm>
            <a:off x="535084" y="2382593"/>
            <a:ext cx="1504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endParaRPr lang="es-E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379AC962-7647-C525-29FB-9FCCF495CAE4}"/>
                  </a:ext>
                </a:extLst>
              </p:cNvPr>
              <p:cNvSpPr txBox="1"/>
              <p:nvPr/>
            </p:nvSpPr>
            <p:spPr>
              <a:xfrm>
                <a:off x="657004" y="2931159"/>
                <a:ext cx="1741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−75=0</m:t>
                    </m:r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379AC962-7647-C525-29FB-9FCCF495C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04" y="2931159"/>
                <a:ext cx="174177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BD72229-A340-8743-CD37-532BA0673A59}"/>
                  </a:ext>
                </a:extLst>
              </p:cNvPr>
              <p:cNvSpPr txBox="1"/>
              <p:nvPr/>
            </p:nvSpPr>
            <p:spPr>
              <a:xfrm>
                <a:off x="2226296" y="2865212"/>
                <a:ext cx="2308700" cy="532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BD72229-A340-8743-CD37-532BA0673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296" y="2865212"/>
                <a:ext cx="2308700" cy="5320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DCA176B-C8EF-6E7E-DC1A-18A95932A5B5}"/>
                  </a:ext>
                </a:extLst>
              </p:cNvPr>
              <p:cNvSpPr txBox="1"/>
              <p:nvPr/>
            </p:nvSpPr>
            <p:spPr>
              <a:xfrm>
                <a:off x="3384964" y="2741405"/>
                <a:ext cx="3785456" cy="718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es-E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s-ES" sz="20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DCA176B-C8EF-6E7E-DC1A-18A95932A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964" y="2741405"/>
                <a:ext cx="3785456" cy="7186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87166E8D-73CF-522C-BB41-9A08313A1621}"/>
                  </a:ext>
                </a:extLst>
              </p:cNvPr>
              <p:cNvSpPr txBox="1"/>
              <p:nvPr/>
            </p:nvSpPr>
            <p:spPr>
              <a:xfrm>
                <a:off x="657004" y="4057088"/>
                <a:ext cx="21014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87166E8D-73CF-522C-BB41-9A08313A1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04" y="4057088"/>
                <a:ext cx="210143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6CFA7FF2-ABFF-554B-4C7E-C4D3C85BA3B4}"/>
                  </a:ext>
                </a:extLst>
              </p:cNvPr>
              <p:cNvSpPr txBox="1"/>
              <p:nvPr/>
            </p:nvSpPr>
            <p:spPr>
              <a:xfrm>
                <a:off x="1915400" y="4057088"/>
                <a:ext cx="23087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+7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6CFA7FF2-ABFF-554B-4C7E-C4D3C85BA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400" y="4057088"/>
                <a:ext cx="230870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BDC1D4E-EF91-8E6C-E4A9-817C650212BF}"/>
              </a:ext>
            </a:extLst>
          </p:cNvPr>
          <p:cNvCxnSpPr/>
          <p:nvPr/>
        </p:nvCxnSpPr>
        <p:spPr>
          <a:xfrm>
            <a:off x="4118229" y="4266669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brir llave 35">
            <a:extLst>
              <a:ext uri="{FF2B5EF4-FFF2-40B4-BE49-F238E27FC236}">
                <a16:creationId xmlns:a16="http://schemas.microsoft.com/office/drawing/2014/main" id="{A140D89E-3CBA-519D-840C-F0246EED9448}"/>
              </a:ext>
            </a:extLst>
          </p:cNvPr>
          <p:cNvSpPr/>
          <p:nvPr/>
        </p:nvSpPr>
        <p:spPr>
          <a:xfrm>
            <a:off x="4662681" y="3857612"/>
            <a:ext cx="100868" cy="818114"/>
          </a:xfrm>
          <a:prstGeom prst="leftBrace">
            <a:avLst>
              <a:gd name="adj1" fmla="val 84091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59286227-C3D6-8E38-3395-ADA35722418B}"/>
                  </a:ext>
                </a:extLst>
              </p:cNvPr>
              <p:cNvSpPr txBox="1"/>
              <p:nvPr/>
            </p:nvSpPr>
            <p:spPr>
              <a:xfrm>
                <a:off x="4752078" y="3777585"/>
                <a:ext cx="9001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59286227-C3D6-8E38-3395-ADA357224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078" y="3777585"/>
                <a:ext cx="90010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7AAB8872-D20F-EA8B-E384-E779C77070EF}"/>
                  </a:ext>
                </a:extLst>
              </p:cNvPr>
              <p:cNvSpPr txBox="1"/>
              <p:nvPr/>
            </p:nvSpPr>
            <p:spPr>
              <a:xfrm>
                <a:off x="4752078" y="4274710"/>
                <a:ext cx="15283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+7</m:t>
                          </m:r>
                        </m:e>
                      </m:d>
                      <m:r>
                        <a:rPr lang="es-ES" sz="20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7AAB8872-D20F-EA8B-E384-E779C7707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078" y="4274710"/>
                <a:ext cx="1528327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5A54E838-8B24-37EB-4213-87D1FAF50729}"/>
              </a:ext>
            </a:extLst>
          </p:cNvPr>
          <p:cNvCxnSpPr>
            <a:cxnSpLocks/>
          </p:cNvCxnSpPr>
          <p:nvPr/>
        </p:nvCxnSpPr>
        <p:spPr>
          <a:xfrm>
            <a:off x="6192299" y="4483733"/>
            <a:ext cx="4738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C0E372A9-FBE1-27B2-E57B-1E7498C988B8}"/>
                  </a:ext>
                </a:extLst>
              </p:cNvPr>
              <p:cNvSpPr txBox="1"/>
              <p:nvPr/>
            </p:nvSpPr>
            <p:spPr>
              <a:xfrm>
                <a:off x="6666167" y="4274710"/>
                <a:ext cx="15283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s-E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C0E372A9-FBE1-27B2-E57B-1E7498C98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167" y="4274710"/>
                <a:ext cx="1528327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85034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build="p"/>
      <p:bldP spid="13" grpId="0"/>
      <p:bldP spid="24" grpId="0"/>
      <p:bldP spid="26" grpId="0"/>
      <p:bldP spid="27" grpId="0"/>
      <p:bldP spid="31" grpId="0"/>
      <p:bldP spid="32" grpId="0"/>
      <p:bldP spid="36" grpId="0" animBg="1"/>
      <p:bldP spid="37" grpId="0"/>
      <p:bldP spid="38" grpId="0"/>
      <p:bldP spid="4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98EFF8F-01BD-4AB4-9CDE-07C4A53DDC3A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5. Ecua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Ecuaciones de segundo grado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8814287-67EE-451E-9AF1-DB9AF6D49F7F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6A85B28-F6AC-47BA-A773-AB49A5D5B8CC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181CE0F-56FF-4DCD-AFF0-95912F0B15FA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240</Words>
  <Application>Microsoft Office PowerPoint</Application>
  <PresentationFormat>Panorámica</PresentationFormat>
  <Paragraphs>42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Ecuaciones de segundo grado</dc:title>
  <dc:creator>Illán Linos Souto</dc:creator>
  <cp:lastModifiedBy>Illán Linos</cp:lastModifiedBy>
  <cp:revision>92</cp:revision>
  <dcterms:created xsi:type="dcterms:W3CDTF">2024-08-18T18:48:07Z</dcterms:created>
  <dcterms:modified xsi:type="dcterms:W3CDTF">2025-11-20T18:25:11Z</dcterms:modified>
</cp:coreProperties>
</file>