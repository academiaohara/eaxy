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custDataLst>
    <p:tags r:id="rId1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33B68-3E65-4467-9E8D-1670ADC0AF82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5F508-95AA-41C4-8954-53EBCF778B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619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43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62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150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954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149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066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17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880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183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12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918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5F508-95AA-41C4-8954-53EBCF778B2E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42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rgbClr val="4E95D9"/>
                </a:solidFill>
              </a:rPr>
              <a:t>se cumple siempre, independientemente de los valores que tomen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C22C9A7C-0BA9-2970-6E28-A5ADDEA84D08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29F2E94-7F5F-E6C4-25A9-3F0BEE911548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rgbClr val="4E95D9"/>
                </a:solidFill>
              </a:rPr>
              <a:t>se cumple solamente para ciertos valores de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4953258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4953258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4959866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4990116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4993291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A485A9-AD5E-C766-FD8D-9E77AEF9002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0798CB-E76A-0B47-FFD9-C30F99FED4B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8" grpId="0" animBg="1"/>
      <p:bldP spid="19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rgbClr val="4E95D9"/>
                </a:solidFill>
              </a:rPr>
              <a:t>se cumple siempre, independientemente de los valores que tomen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C22C9A7C-0BA9-2970-6E28-A5ADDEA84D08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29F2E94-7F5F-E6C4-25A9-3F0BEE911548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rgbClr val="4E95D9"/>
                </a:solidFill>
              </a:rPr>
              <a:t>se cumple solamente para ciertos valores de las letras.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4953258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4953258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4959866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4990116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4993291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495704-7F30-7F39-ED17-E91DB7F8485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BD4ED5-7D64-9E99-282F-22DD73E308F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6205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/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BD1E61B-3D06-97F0-5752-120AE40BC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84" y="1974104"/>
                <a:ext cx="20454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26019623-45C9-E0B1-13DB-7112B3321553}"/>
              </a:ext>
            </a:extLst>
          </p:cNvPr>
          <p:cNvSpPr txBox="1"/>
          <p:nvPr/>
        </p:nvSpPr>
        <p:spPr>
          <a:xfrm>
            <a:off x="535084" y="2481009"/>
            <a:ext cx="1010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igualdad se cumple para cualquier valor de x, es una identidad.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/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s-ES"/>
                </a:defPPr>
                <a:lvl1pPr>
                  <a:defRPr sz="2800" b="1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mtClean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CD88C41-4D03-F02B-819A-4FAF2B4F4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539" y="4492123"/>
                <a:ext cx="1822614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CF46BF5D-9F73-808B-9B35-EC58A0CA47B4}"/>
              </a:ext>
            </a:extLst>
          </p:cNvPr>
          <p:cNvSpPr txBox="1"/>
          <p:nvPr/>
        </p:nvSpPr>
        <p:spPr>
          <a:xfrm>
            <a:off x="535084" y="5708626"/>
            <a:ext cx="10683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2000" b="1"/>
            </a:lvl1pPr>
          </a:lstStyle>
          <a:p>
            <a:r>
              <a:rPr lang="es-ES" dirty="0"/>
              <a:t>Sólo se cumple para x igual a 4, es una ecuación.</a:t>
            </a:r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1886F96D-4C0F-5BED-0566-A58C731DC75C}"/>
              </a:ext>
            </a:extLst>
          </p:cNvPr>
          <p:cNvSpPr/>
          <p:nvPr/>
        </p:nvSpPr>
        <p:spPr>
          <a:xfrm rot="16200000">
            <a:off x="5724313" y="3946431"/>
            <a:ext cx="125391" cy="1138940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49EBC4-A365-71AC-08F3-43180573C772}"/>
              </a:ext>
            </a:extLst>
          </p:cNvPr>
          <p:cNvSpPr txBox="1"/>
          <p:nvPr/>
        </p:nvSpPr>
        <p:spPr>
          <a:xfrm>
            <a:off x="3000565" y="4015693"/>
            <a:ext cx="224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PRIMER MIEMBRO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065DE61-71E2-DA67-3854-A46CB3D25E5B}"/>
              </a:ext>
            </a:extLst>
          </p:cNvPr>
          <p:cNvGrpSpPr/>
          <p:nvPr/>
        </p:nvGrpSpPr>
        <p:grpSpPr>
          <a:xfrm>
            <a:off x="5074193" y="4217338"/>
            <a:ext cx="723870" cy="187841"/>
            <a:chOff x="3971925" y="8517492"/>
            <a:chExt cx="723870" cy="18784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646E872-7A97-8A28-C3A4-5F6E973711A8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AC711DC-1C01-8FAB-731D-2861CB27F42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51E3D27C-D309-D76A-1656-ABA73853FFC9}"/>
              </a:ext>
            </a:extLst>
          </p:cNvPr>
          <p:cNvSpPr/>
          <p:nvPr/>
        </p:nvSpPr>
        <p:spPr>
          <a:xfrm rot="16200000">
            <a:off x="6843168" y="4321485"/>
            <a:ext cx="125390" cy="404213"/>
          </a:xfrm>
          <a:prstGeom prst="rightBrace">
            <a:avLst>
              <a:gd name="adj1" fmla="val 75623"/>
              <a:gd name="adj2" fmla="val 50000"/>
            </a:avLst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96024E-55D7-D73B-07F5-740E0B05B59B}"/>
              </a:ext>
            </a:extLst>
          </p:cNvPr>
          <p:cNvSpPr txBox="1"/>
          <p:nvPr/>
        </p:nvSpPr>
        <p:spPr>
          <a:xfrm>
            <a:off x="7587934" y="4044754"/>
            <a:ext cx="245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SEGUNDO MIEMBRO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081E572-6935-16B9-5CDD-0588B8B80F6D}"/>
              </a:ext>
            </a:extLst>
          </p:cNvPr>
          <p:cNvGrpSpPr/>
          <p:nvPr/>
        </p:nvGrpSpPr>
        <p:grpSpPr>
          <a:xfrm flipH="1">
            <a:off x="6889179" y="4235564"/>
            <a:ext cx="723870" cy="187841"/>
            <a:chOff x="3971925" y="8517492"/>
            <a:chExt cx="723870" cy="187841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F4141A6-BB4B-7F36-5FFC-125E6261C9CD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E6011C-EE4D-3AFE-E2D2-48EFC281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517492"/>
              <a:ext cx="0" cy="187841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BD94279-FDD9-7BAD-6B7E-A5F035B0A017}"/>
              </a:ext>
            </a:extLst>
          </p:cNvPr>
          <p:cNvCxnSpPr>
            <a:cxnSpLocks/>
          </p:cNvCxnSpPr>
          <p:nvPr/>
        </p:nvCxnSpPr>
        <p:spPr>
          <a:xfrm>
            <a:off x="5185187" y="5200146"/>
            <a:ext cx="575896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E2198BE-582A-8657-9D82-3A4A99922C40}"/>
              </a:ext>
            </a:extLst>
          </p:cNvPr>
          <p:cNvCxnSpPr>
            <a:cxnSpLocks/>
          </p:cNvCxnSpPr>
          <p:nvPr/>
        </p:nvCxnSpPr>
        <p:spPr>
          <a:xfrm>
            <a:off x="6080125" y="5200146"/>
            <a:ext cx="285879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BA4E8DD-8DAE-1357-D868-566E1075F6D2}"/>
              </a:ext>
            </a:extLst>
          </p:cNvPr>
          <p:cNvCxnSpPr>
            <a:cxnSpLocks/>
          </p:cNvCxnSpPr>
          <p:nvPr/>
        </p:nvCxnSpPr>
        <p:spPr>
          <a:xfrm>
            <a:off x="6740253" y="5206754"/>
            <a:ext cx="299900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504BACB-9D2E-71F7-DE47-479F6E4E8CBA}"/>
              </a:ext>
            </a:extLst>
          </p:cNvPr>
          <p:cNvGrpSpPr/>
          <p:nvPr/>
        </p:nvGrpSpPr>
        <p:grpSpPr>
          <a:xfrm rot="10800000">
            <a:off x="5462684" y="5237004"/>
            <a:ext cx="3016597" cy="191016"/>
            <a:chOff x="3971925" y="8517492"/>
            <a:chExt cx="723870" cy="191016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77A5F64-63E0-420D-1950-F43CB0273C26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8520667"/>
              <a:ext cx="723870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E95AF96-1B31-0417-E296-73FBC36E03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3287" y="8517492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3BEBDC72-A28C-2F3B-CE06-E60F273DA930}"/>
                </a:ext>
              </a:extLst>
            </p:cNvPr>
            <p:cNvCxnSpPr>
              <a:cxnSpLocks/>
            </p:cNvCxnSpPr>
            <p:nvPr/>
          </p:nvCxnSpPr>
          <p:spPr>
            <a:xfrm>
              <a:off x="4511201" y="8517796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CF47F70A-4D10-CD1B-13A0-BBAEFEFF6682}"/>
                </a:ext>
              </a:extLst>
            </p:cNvPr>
            <p:cNvCxnSpPr>
              <a:cxnSpLocks/>
            </p:cNvCxnSpPr>
            <p:nvPr/>
          </p:nvCxnSpPr>
          <p:spPr>
            <a:xfrm>
              <a:off x="4350770" y="8520667"/>
              <a:ext cx="0" cy="187841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AA2A52F-6B99-0E26-5242-D8FD3BA01923}"/>
              </a:ext>
            </a:extLst>
          </p:cNvPr>
          <p:cNvSpPr txBox="1"/>
          <p:nvPr/>
        </p:nvSpPr>
        <p:spPr>
          <a:xfrm>
            <a:off x="8479282" y="5240179"/>
            <a:ext cx="134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TÉRMINOS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2B05867-85FD-30FD-4080-5E130C81F194}"/>
              </a:ext>
            </a:extLst>
          </p:cNvPr>
          <p:cNvGrpSpPr/>
          <p:nvPr/>
        </p:nvGrpSpPr>
        <p:grpSpPr>
          <a:xfrm flipV="1">
            <a:off x="4501356" y="4908275"/>
            <a:ext cx="1085835" cy="169806"/>
            <a:chOff x="3609960" y="8455188"/>
            <a:chExt cx="1085835" cy="250145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C5CBCC5-3E9C-6634-19A8-395418368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9960" y="8455188"/>
              <a:ext cx="1085835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121444A2-9CCB-B7E5-797A-541777CA940A}"/>
                </a:ext>
              </a:extLst>
            </p:cNvPr>
            <p:cNvCxnSpPr>
              <a:cxnSpLocks/>
            </p:cNvCxnSpPr>
            <p:nvPr/>
          </p:nvCxnSpPr>
          <p:spPr>
            <a:xfrm>
              <a:off x="4680714" y="8455188"/>
              <a:ext cx="0" cy="250145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B8727B0-1001-8519-5710-0E2FA23C8C42}"/>
              </a:ext>
            </a:extLst>
          </p:cNvPr>
          <p:cNvSpPr txBox="1"/>
          <p:nvPr/>
        </p:nvSpPr>
        <p:spPr>
          <a:xfrm>
            <a:off x="3011209" y="4887175"/>
            <a:ext cx="150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INCÓGNITA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9CF6437-BC65-47BA-954A-26E409B86A4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379D677-F6F4-C2F9-EB05-966D4AD5053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2" name="!Marco 10">
            <a:extLst>
              <a:ext uri="{FF2B5EF4-FFF2-40B4-BE49-F238E27FC236}">
                <a16:creationId xmlns:a16="http://schemas.microsoft.com/office/drawing/2014/main" id="{ADFD0F24-4F49-097B-C1AC-126995B46BB9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!CuadroTexto 1">
            <a:extLst>
              <a:ext uri="{FF2B5EF4-FFF2-40B4-BE49-F238E27FC236}">
                <a16:creationId xmlns:a16="http://schemas.microsoft.com/office/drawing/2014/main" id="{1903A82C-1DCF-9944-DFE1-CC731B37DE02}"/>
              </a:ext>
            </a:extLst>
          </p:cNvPr>
          <p:cNvSpPr txBox="1"/>
          <p:nvPr/>
        </p:nvSpPr>
        <p:spPr>
          <a:xfrm>
            <a:off x="535084" y="1078122"/>
            <a:ext cx="11187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identidad es una igualdad algebraica que </a:t>
            </a:r>
            <a:r>
              <a:rPr lang="es-ES" sz="2000" b="1" dirty="0">
                <a:solidFill>
                  <a:srgbClr val="4E95D9"/>
                </a:solidFill>
              </a:rPr>
              <a:t>se cumple siempre, independientemente de los valores que tomen las letras.</a:t>
            </a:r>
          </a:p>
        </p:txBody>
      </p:sp>
      <p:sp>
        <p:nvSpPr>
          <p:cNvPr id="37" name="!Marco 10">
            <a:extLst>
              <a:ext uri="{FF2B5EF4-FFF2-40B4-BE49-F238E27FC236}">
                <a16:creationId xmlns:a16="http://schemas.microsoft.com/office/drawing/2014/main" id="{F6014577-C84C-8139-680B-1936D694A899}"/>
              </a:ext>
            </a:extLst>
          </p:cNvPr>
          <p:cNvSpPr/>
          <p:nvPr/>
        </p:nvSpPr>
        <p:spPr>
          <a:xfrm>
            <a:off x="535084" y="3095348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114D8264-3FF0-6149-EF4B-FA4266315BD0}"/>
              </a:ext>
            </a:extLst>
          </p:cNvPr>
          <p:cNvSpPr txBox="1"/>
          <p:nvPr/>
        </p:nvSpPr>
        <p:spPr>
          <a:xfrm>
            <a:off x="535084" y="312449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es una igualdad entre expresiones algebraicas que </a:t>
            </a:r>
            <a:r>
              <a:rPr lang="es-ES" sz="2000" b="1" dirty="0">
                <a:solidFill>
                  <a:srgbClr val="4E95D9"/>
                </a:solidFill>
              </a:rPr>
              <a:t>se cumple solamente para ciertos valores de las letras.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64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 </a:t>
            </a:r>
            <a:r>
              <a:rPr lang="es-ES" sz="2000" b="1" dirty="0"/>
              <a:t>+ </a:t>
            </a:r>
            <a:r>
              <a:rPr lang="es-ES" sz="2000" b="1" i="1" dirty="0"/>
              <a:t>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rgbClr val="4E95D9"/>
                </a:solidFill>
              </a:rPr>
              <a:t>restamos </a:t>
            </a:r>
            <a:r>
              <a:rPr lang="es-ES" sz="2000" b="1" i="1" dirty="0">
                <a:solidFill>
                  <a:srgbClr val="4E95D9"/>
                </a:solidFill>
              </a:rPr>
              <a:t>a </a:t>
            </a:r>
            <a:r>
              <a:rPr lang="es-ES" sz="2000" b="1" dirty="0">
                <a:solidFill>
                  <a:srgbClr val="4E95D9"/>
                </a:solidFill>
              </a:rPr>
              <a:t>en ambos miembros.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0D7AAF-F9D2-66B7-ABE4-5CE7EDD673A5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702916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0D7AAF-F9D2-66B7-ABE4-5CE7EDD67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7029168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2F9A25E-78D0-3A7C-7F78-9B8C8E5443F9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4986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2F9A25E-78D0-3A7C-7F78-9B8C8E544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498617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6953A5-3CC3-CD6A-A294-1A764D415757}"/>
                  </a:ext>
                </a:extLst>
              </p:cNvPr>
              <p:cNvSpPr txBox="1"/>
              <p:nvPr/>
            </p:nvSpPr>
            <p:spPr>
              <a:xfrm>
                <a:off x="2288549" y="1731301"/>
                <a:ext cx="16430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76953A5-3CC3-CD6A-A294-1A764D415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9" y="1731301"/>
                <a:ext cx="164307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C822F25-E413-BAD9-76FB-3F9460D141AE}"/>
              </a:ext>
            </a:extLst>
          </p:cNvPr>
          <p:cNvCxnSpPr>
            <a:cxnSpLocks/>
          </p:cNvCxnSpPr>
          <p:nvPr/>
        </p:nvCxnSpPr>
        <p:spPr>
          <a:xfrm flipH="1">
            <a:off x="4875828" y="1812709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C74BA27-E0DB-4994-EAC4-39AA56C23278}"/>
              </a:ext>
            </a:extLst>
          </p:cNvPr>
          <p:cNvCxnSpPr>
            <a:cxnSpLocks/>
          </p:cNvCxnSpPr>
          <p:nvPr/>
        </p:nvCxnSpPr>
        <p:spPr>
          <a:xfrm flipH="1">
            <a:off x="5503119" y="1812709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Marco 10">
            <a:extLst>
              <a:ext uri="{FF2B5EF4-FFF2-40B4-BE49-F238E27FC236}">
                <a16:creationId xmlns:a16="http://schemas.microsoft.com/office/drawing/2014/main" id="{E6585EAB-124F-093A-658C-5B12CA9B4FB3}"/>
              </a:ext>
            </a:extLst>
          </p:cNvPr>
          <p:cNvSpPr/>
          <p:nvPr/>
        </p:nvSpPr>
        <p:spPr>
          <a:xfrm>
            <a:off x="535084" y="2340704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E4BF80B4-BBC2-CA46-3B9F-11FBDDEEA0A6}"/>
              </a:ext>
            </a:extLst>
          </p:cNvPr>
          <p:cNvSpPr txBox="1"/>
          <p:nvPr/>
        </p:nvSpPr>
        <p:spPr>
          <a:xfrm>
            <a:off x="535084" y="23479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sumando en un miembro </a:t>
            </a:r>
            <a:r>
              <a:rPr lang="es-ES" sz="2000" b="1" dirty="0">
                <a:solidFill>
                  <a:srgbClr val="4E95D9"/>
                </a:solidFill>
              </a:rPr>
              <a:t>pasa al otro miembro restando.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8347EA71-16ED-F1C4-C901-AF4BA7FA74A4}"/>
              </a:ext>
            </a:extLst>
          </p:cNvPr>
          <p:cNvSpPr/>
          <p:nvPr/>
        </p:nvSpPr>
        <p:spPr>
          <a:xfrm>
            <a:off x="535084" y="3279383"/>
            <a:ext cx="11121832" cy="42157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4507F13F-18A9-89F7-2167-426462B7948B}"/>
              </a:ext>
            </a:extLst>
          </p:cNvPr>
          <p:cNvSpPr txBox="1"/>
          <p:nvPr/>
        </p:nvSpPr>
        <p:spPr>
          <a:xfrm>
            <a:off x="535084" y="328667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 </a:t>
            </a:r>
            <a:r>
              <a:rPr lang="es-ES" sz="2000" b="1" dirty="0"/>
              <a:t>- </a:t>
            </a:r>
            <a:r>
              <a:rPr lang="es-ES" sz="2000" b="1" i="1" dirty="0"/>
              <a:t>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rgbClr val="4E95D9"/>
                </a:solidFill>
              </a:rPr>
              <a:t>sumamos </a:t>
            </a:r>
            <a:r>
              <a:rPr lang="es-ES" sz="2000" b="1" i="1" dirty="0">
                <a:solidFill>
                  <a:srgbClr val="4E95D9"/>
                </a:solidFill>
              </a:rPr>
              <a:t>a </a:t>
            </a:r>
            <a:r>
              <a:rPr lang="es-ES" sz="2000" b="1" dirty="0">
                <a:solidFill>
                  <a:srgbClr val="4E95D9"/>
                </a:solidFill>
              </a:rPr>
              <a:t>en ambos miembros.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3EE2CB1-FEEF-B1C0-7D8A-148F8121E02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702916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3EE2CB1-FEEF-B1C0-7D8A-148F8121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7029168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67C455-BBB4-A33E-E213-37481F9644C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49861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B67C455-BBB4-A33E-E213-37481F96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498617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B642F8-A346-FE8E-3F73-5DD72DD0B56A}"/>
                  </a:ext>
                </a:extLst>
              </p:cNvPr>
              <p:cNvSpPr txBox="1"/>
              <p:nvPr/>
            </p:nvSpPr>
            <p:spPr>
              <a:xfrm>
                <a:off x="2382741" y="3917172"/>
                <a:ext cx="16430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CAB642F8-A346-FE8E-3F73-5DD72DD0B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741" y="3917172"/>
                <a:ext cx="164307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F63A4E1-F2D0-1156-6579-4E2FE9088BBA}"/>
              </a:ext>
            </a:extLst>
          </p:cNvPr>
          <p:cNvCxnSpPr>
            <a:cxnSpLocks/>
          </p:cNvCxnSpPr>
          <p:nvPr/>
        </p:nvCxnSpPr>
        <p:spPr>
          <a:xfrm flipH="1">
            <a:off x="4997353" y="4021806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86E7D5B-FDE6-8FED-BEF2-D09E229E1D71}"/>
              </a:ext>
            </a:extLst>
          </p:cNvPr>
          <p:cNvCxnSpPr>
            <a:cxnSpLocks/>
          </p:cNvCxnSpPr>
          <p:nvPr/>
        </p:nvCxnSpPr>
        <p:spPr>
          <a:xfrm flipH="1">
            <a:off x="5576029" y="4021806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Marco 10">
            <a:extLst>
              <a:ext uri="{FF2B5EF4-FFF2-40B4-BE49-F238E27FC236}">
                <a16:creationId xmlns:a16="http://schemas.microsoft.com/office/drawing/2014/main" id="{EB81211D-8E69-DBB3-607F-1A3A42E1878A}"/>
              </a:ext>
            </a:extLst>
          </p:cNvPr>
          <p:cNvSpPr/>
          <p:nvPr/>
        </p:nvSpPr>
        <p:spPr>
          <a:xfrm>
            <a:off x="535084" y="4659595"/>
            <a:ext cx="9840816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82130BFF-FB14-A35A-1F2D-2F5BAD1758BF}"/>
              </a:ext>
            </a:extLst>
          </p:cNvPr>
          <p:cNvSpPr txBox="1"/>
          <p:nvPr/>
        </p:nvSpPr>
        <p:spPr>
          <a:xfrm>
            <a:off x="535084" y="4666882"/>
            <a:ext cx="9840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restando en un miembro </a:t>
            </a:r>
            <a:r>
              <a:rPr lang="es-ES" sz="2000" b="1" dirty="0">
                <a:solidFill>
                  <a:srgbClr val="4E95D9"/>
                </a:solidFill>
              </a:rPr>
              <a:t>pasa al otro miembro sumando.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93FB64-CDA6-37CB-B94A-4716DE140AB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408E004-A9A4-A31E-1719-43226A78269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59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la ecuación </a:t>
            </a:r>
            <a:r>
              <a:rPr lang="es-ES" sz="2000" b="1" i="1" dirty="0"/>
              <a:t>x/a </a:t>
            </a:r>
            <a:r>
              <a:rPr lang="es-ES" sz="2000" b="1" dirty="0"/>
              <a:t>= </a:t>
            </a:r>
            <a:r>
              <a:rPr lang="es-ES" sz="2000" b="1" i="1" dirty="0"/>
              <a:t>b</a:t>
            </a:r>
            <a:r>
              <a:rPr lang="es-ES" sz="2000" b="1" dirty="0"/>
              <a:t>, </a:t>
            </a:r>
            <a:r>
              <a:rPr lang="es-ES" sz="2000" b="1" dirty="0">
                <a:solidFill>
                  <a:srgbClr val="4E95D9"/>
                </a:solidFill>
              </a:rPr>
              <a:t>multiplicamos </a:t>
            </a:r>
            <a:r>
              <a:rPr lang="es-ES" sz="2000" b="1" i="1" dirty="0">
                <a:solidFill>
                  <a:srgbClr val="4E95D9"/>
                </a:solidFill>
              </a:rPr>
              <a:t>a </a:t>
            </a:r>
            <a:r>
              <a:rPr lang="es-ES" sz="2000" b="1" dirty="0">
                <a:solidFill>
                  <a:srgbClr val="4E95D9"/>
                </a:solidFill>
              </a:rPr>
              <a:t>en ambos miembros.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E6585EAB-124F-093A-658C-5B12CA9B4FB3}"/>
              </a:ext>
            </a:extLst>
          </p:cNvPr>
          <p:cNvSpPr/>
          <p:nvPr/>
        </p:nvSpPr>
        <p:spPr>
          <a:xfrm>
            <a:off x="535084" y="2603774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E4BF80B4-BBC2-CA46-3B9F-11FBDDEEA0A6}"/>
              </a:ext>
            </a:extLst>
          </p:cNvPr>
          <p:cNvSpPr txBox="1"/>
          <p:nvPr/>
        </p:nvSpPr>
        <p:spPr>
          <a:xfrm>
            <a:off x="535084" y="261106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dividiendo en un miembro </a:t>
            </a:r>
            <a:r>
              <a:rPr lang="es-ES" sz="2000" b="1" dirty="0">
                <a:solidFill>
                  <a:srgbClr val="4E95D9"/>
                </a:solidFill>
              </a:rPr>
              <a:t>pasa al otro miembro multiplicando.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11" name="!Marco 10">
            <a:extLst>
              <a:ext uri="{FF2B5EF4-FFF2-40B4-BE49-F238E27FC236}">
                <a16:creationId xmlns:a16="http://schemas.microsoft.com/office/drawing/2014/main" id="{8347EA71-16ED-F1C4-C901-AF4BA7FA74A4}"/>
              </a:ext>
            </a:extLst>
          </p:cNvPr>
          <p:cNvSpPr/>
          <p:nvPr/>
        </p:nvSpPr>
        <p:spPr>
          <a:xfrm>
            <a:off x="535084" y="3491653"/>
            <a:ext cx="11121832" cy="42157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4507F13F-18A9-89F7-2167-426462B7948B}"/>
                  </a:ext>
                </a:extLst>
              </p:cNvPr>
              <p:cNvSpPr txBox="1"/>
              <p:nvPr/>
            </p:nvSpPr>
            <p:spPr>
              <a:xfrm>
                <a:off x="535084" y="3498940"/>
                <a:ext cx="111218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Para resolver la ecuación </a:t>
                </a:r>
                <a:r>
                  <a:rPr lang="es-ES" sz="2000" b="1" i="1" dirty="0"/>
                  <a:t>x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/>
                  <a:t>a </a:t>
                </a:r>
                <a:r>
                  <a:rPr lang="es-ES" sz="2000" b="1" dirty="0"/>
                  <a:t>= </a:t>
                </a:r>
                <a:r>
                  <a:rPr lang="es-ES" sz="2000" b="1" i="1" dirty="0"/>
                  <a:t>b</a:t>
                </a:r>
                <a:r>
                  <a:rPr lang="es-ES" sz="2000" b="1" dirty="0"/>
                  <a:t>,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dividimos </a:t>
                </a:r>
                <a:r>
                  <a:rPr lang="es-ES" sz="2000" b="1" i="1" dirty="0">
                    <a:solidFill>
                      <a:srgbClr val="4E95D9"/>
                    </a:solidFill>
                  </a:rPr>
                  <a:t>a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en ambos miembros.</a:t>
                </a:r>
                <a:endParaRPr lang="es-ES" sz="3200" b="1" dirty="0">
                  <a:solidFill>
                    <a:srgbClr val="4E95D9"/>
                  </a:solidFill>
                </a:endParaRPr>
              </a:p>
            </p:txBody>
          </p:sp>
        </mc:Choice>
        <mc:Fallback>
          <p:sp>
            <p:nvSpPr>
              <p:cNvPr id="12" name="!CuadroTexto 1">
                <a:extLst>
                  <a:ext uri="{FF2B5EF4-FFF2-40B4-BE49-F238E27FC236}">
                    <a16:creationId xmlns:a16="http://schemas.microsoft.com/office/drawing/2014/main" id="{4507F13F-18A9-89F7-2167-426462B79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498940"/>
                <a:ext cx="11121832" cy="400110"/>
              </a:xfrm>
              <a:prstGeom prst="rect">
                <a:avLst/>
              </a:prstGeom>
              <a:blipFill>
                <a:blip r:embed="rId4"/>
                <a:stretch>
                  <a:fillRect l="-603" t="-9091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!Marco 10">
            <a:extLst>
              <a:ext uri="{FF2B5EF4-FFF2-40B4-BE49-F238E27FC236}">
                <a16:creationId xmlns:a16="http://schemas.microsoft.com/office/drawing/2014/main" id="{EB81211D-8E69-DBB3-607F-1A3A42E1878A}"/>
              </a:ext>
            </a:extLst>
          </p:cNvPr>
          <p:cNvSpPr/>
          <p:nvPr/>
        </p:nvSpPr>
        <p:spPr>
          <a:xfrm>
            <a:off x="535084" y="5075065"/>
            <a:ext cx="10303245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82130BFF-FB14-A35A-1F2D-2F5BAD1758BF}"/>
              </a:ext>
            </a:extLst>
          </p:cNvPr>
          <p:cNvSpPr txBox="1"/>
          <p:nvPr/>
        </p:nvSpPr>
        <p:spPr>
          <a:xfrm>
            <a:off x="535084" y="5082352"/>
            <a:ext cx="1047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Como se puede observar un término que está multiplicando en un miembro </a:t>
            </a:r>
            <a:r>
              <a:rPr lang="es-ES" sz="2000" b="1" dirty="0">
                <a:solidFill>
                  <a:srgbClr val="4E95D9"/>
                </a:solidFill>
              </a:rPr>
              <a:t>pasa al otro miembro dividiendo.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06DEE44-188A-399C-46AF-E3F2ABB37FC2}"/>
              </a:ext>
            </a:extLst>
          </p:cNvPr>
          <p:cNvCxnSpPr>
            <a:cxnSpLocks/>
          </p:cNvCxnSpPr>
          <p:nvPr/>
        </p:nvCxnSpPr>
        <p:spPr>
          <a:xfrm flipH="1">
            <a:off x="4781473" y="2127813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A3188D3-6B80-EDE2-9546-4FC5FB2B6F96}"/>
              </a:ext>
            </a:extLst>
          </p:cNvPr>
          <p:cNvCxnSpPr>
            <a:cxnSpLocks/>
          </p:cNvCxnSpPr>
          <p:nvPr/>
        </p:nvCxnSpPr>
        <p:spPr>
          <a:xfrm flipH="1">
            <a:off x="5289911" y="1857132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F2A3AB6-FE14-9D6C-15C9-049167C77F52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1009059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F2A3AB6-FE14-9D6C-15C9-049167C77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1009059" cy="744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62F5210-C8A6-86BA-AF60-E0B8C7CA590E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3384709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62F5210-C8A6-86BA-AF60-E0B8C7CA5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3384709" cy="7440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39C9EF7-EEC0-E423-2AD0-3A1228EFFBB7}"/>
                  </a:ext>
                </a:extLst>
              </p:cNvPr>
              <p:cNvSpPr txBox="1"/>
              <p:nvPr/>
            </p:nvSpPr>
            <p:spPr>
              <a:xfrm>
                <a:off x="3465504" y="1631036"/>
                <a:ext cx="5260992" cy="7440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39C9EF7-EEC0-E423-2AD0-3A1228EF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504" y="1631036"/>
                <a:ext cx="5260992" cy="7440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265D0C5-CAFB-D8C9-CB68-642DB6AE7A70}"/>
              </a:ext>
            </a:extLst>
          </p:cNvPr>
          <p:cNvCxnSpPr>
            <a:cxnSpLocks/>
          </p:cNvCxnSpPr>
          <p:nvPr/>
        </p:nvCxnSpPr>
        <p:spPr>
          <a:xfrm flipH="1">
            <a:off x="5366872" y="4368336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9AB20B5-EBA9-2F78-5017-9AC5AD75F93A}"/>
              </a:ext>
            </a:extLst>
          </p:cNvPr>
          <p:cNvCxnSpPr>
            <a:cxnSpLocks/>
          </p:cNvCxnSpPr>
          <p:nvPr/>
        </p:nvCxnSpPr>
        <p:spPr>
          <a:xfrm flipH="1">
            <a:off x="5843295" y="4614910"/>
            <a:ext cx="326908" cy="3361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C66D820-940B-48A5-EFA9-81EE03C182DB}"/>
                  </a:ext>
                </a:extLst>
              </p:cNvPr>
              <p:cNvSpPr txBox="1"/>
              <p:nvPr/>
            </p:nvSpPr>
            <p:spPr>
              <a:xfrm>
                <a:off x="3109270" y="4040542"/>
                <a:ext cx="5717078" cy="818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s-ES" sz="2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5C66D820-940B-48A5-EFA9-81EE03C18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70" y="4040542"/>
                <a:ext cx="5717078" cy="8184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DAED654-8BB1-B8CC-276A-1DBF09D5C9B2}"/>
                  </a:ext>
                </a:extLst>
              </p:cNvPr>
              <p:cNvSpPr txBox="1"/>
              <p:nvPr/>
            </p:nvSpPr>
            <p:spPr>
              <a:xfrm>
                <a:off x="3108539" y="4049332"/>
                <a:ext cx="4319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s-E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DAED654-8BB1-B8CC-276A-1DBF09D5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539" y="4049332"/>
                <a:ext cx="4319324" cy="8094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A7C103-F41A-270D-44C9-B6C5265318E3}"/>
                  </a:ext>
                </a:extLst>
              </p:cNvPr>
              <p:cNvSpPr txBox="1"/>
              <p:nvPr/>
            </p:nvSpPr>
            <p:spPr>
              <a:xfrm>
                <a:off x="3109270" y="4295371"/>
                <a:ext cx="147636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A7C103-F41A-270D-44C9-B6C52653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270" y="4295371"/>
                <a:ext cx="147636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94076F86-0CF0-2A92-09EA-79B56604797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03D905-E679-EABA-5159-C623EE44BE7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099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" grpId="0" animBg="1"/>
      <p:bldP spid="10" grpId="0"/>
      <p:bldP spid="11" grpId="0" animBg="1"/>
      <p:bldP spid="12" grpId="0"/>
      <p:bldP spid="18" grpId="0" animBg="1"/>
      <p:bldP spid="19" grpId="0"/>
      <p:bldP spid="22" grpId="0"/>
      <p:bldP spid="23" grpId="0"/>
      <p:bldP spid="25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D57213D-27AF-114B-8796-300E9DF49DAC}"/>
                  </a:ext>
                </a:extLst>
              </p:cNvPr>
              <p:cNvSpPr txBox="1"/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D57213D-27AF-114B-8796-300E9DF49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E764272D-A2C3-F91A-AD0E-F263C1831D4C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A87E3F6-69CE-7213-79CA-710BF4B5360D}"/>
                  </a:ext>
                </a:extLst>
              </p:cNvPr>
              <p:cNvSpPr txBox="1"/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A87E3F6-69CE-7213-79CA-710BF4B53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FDD57C2-6C07-D58D-8E28-136444D97D18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B11C260-D342-9E45-464D-A18661D5174A}"/>
              </a:ext>
            </a:extLst>
          </p:cNvPr>
          <p:cNvGrpSpPr/>
          <p:nvPr/>
        </p:nvGrpSpPr>
        <p:grpSpPr>
          <a:xfrm>
            <a:off x="4266566" y="3779987"/>
            <a:ext cx="788988" cy="481158"/>
            <a:chOff x="2780666" y="8373622"/>
            <a:chExt cx="788988" cy="481158"/>
          </a:xfrm>
        </p:grpSpPr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33952F4D-5198-2DE5-B896-003FD9DCA61D}"/>
                </a:ext>
              </a:extLst>
            </p:cNvPr>
            <p:cNvCxnSpPr>
              <a:cxnSpLocks/>
            </p:cNvCxnSpPr>
            <p:nvPr/>
          </p:nvCxnSpPr>
          <p:spPr>
            <a:xfrm>
              <a:off x="2780666" y="8373622"/>
              <a:ext cx="57159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94ABDD1E-46E3-1FFC-DD40-CAFFF7D83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2265" y="8373622"/>
              <a:ext cx="21738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51E5984-3649-4826-EC31-9B3177B8F19E}"/>
              </a:ext>
            </a:extLst>
          </p:cNvPr>
          <p:cNvGrpSpPr/>
          <p:nvPr/>
        </p:nvGrpSpPr>
        <p:grpSpPr>
          <a:xfrm>
            <a:off x="6427907" y="3725225"/>
            <a:ext cx="1397833" cy="544364"/>
            <a:chOff x="4942007" y="8331560"/>
            <a:chExt cx="1397833" cy="544364"/>
          </a:xfrm>
        </p:grpSpPr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4703185C-9BA9-46F2-C581-0AD59E3C0C77}"/>
                </a:ext>
              </a:extLst>
            </p:cNvPr>
            <p:cNvCxnSpPr>
              <a:cxnSpLocks/>
            </p:cNvCxnSpPr>
            <p:nvPr/>
          </p:nvCxnSpPr>
          <p:spPr>
            <a:xfrm>
              <a:off x="4942007" y="8331560"/>
              <a:ext cx="0" cy="52322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20AA337D-339E-6BEF-559C-94775BEBD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2007" y="8364244"/>
              <a:ext cx="1397833" cy="51168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322B183-3429-0C0E-22B4-E4C8354CFFCB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38D9D2F-6224-6E43-F855-5DB0563ED161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2D0319B-EC6F-1BC9-AB9F-9E93B757204F}"/>
              </a:ext>
            </a:extLst>
          </p:cNvPr>
          <p:cNvCxnSpPr>
            <a:cxnSpLocks/>
          </p:cNvCxnSpPr>
          <p:nvPr/>
        </p:nvCxnSpPr>
        <p:spPr>
          <a:xfrm flipH="1">
            <a:off x="6452393" y="4650015"/>
            <a:ext cx="552450" cy="54193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445153D6-58CD-731B-E115-2ED3734B529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0441D6-0A65-7B6E-D5A0-298FD3063EF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58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9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/>
      <p:bldP spid="7" grpId="0"/>
      <p:bldP spid="8" grpId="0"/>
      <p:bldP spid="37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64272D-A2C3-F91A-AD0E-F263C1831D4C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FDD57C2-6C07-D58D-8E28-136444D97D18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322B183-3429-0C0E-22B4-E4C8354CFFCB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38D9D2F-6224-6E43-F855-5DB0563ED161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7F535C-3D26-A162-1E1F-A1335144724C}"/>
                  </a:ext>
                </a:extLst>
              </p:cNvPr>
              <p:cNvSpPr txBox="1"/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07F535C-3D26-A162-1E1F-A1335144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3268789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0EAE9F-794A-C8AC-7498-096A877705A5}"/>
                  </a:ext>
                </a:extLst>
              </p:cNvPr>
              <p:cNvSpPr txBox="1"/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A0EAE9F-794A-C8AC-7498-096A87770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230367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o 10">
            <a:extLst>
              <a:ext uri="{FF2B5EF4-FFF2-40B4-BE49-F238E27FC236}">
                <a16:creationId xmlns:a16="http://schemas.microsoft.com/office/drawing/2014/main" id="{A5A40049-08E4-23B9-387A-724219BDA6E7}"/>
              </a:ext>
            </a:extLst>
          </p:cNvPr>
          <p:cNvGrpSpPr/>
          <p:nvPr/>
        </p:nvGrpSpPr>
        <p:grpSpPr>
          <a:xfrm>
            <a:off x="4266566" y="3779987"/>
            <a:ext cx="788988" cy="481158"/>
            <a:chOff x="2780666" y="8373622"/>
            <a:chExt cx="788988" cy="481158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2EC99180-5C18-9C57-4DFA-DE9E6F354AE2}"/>
                </a:ext>
              </a:extLst>
            </p:cNvPr>
            <p:cNvCxnSpPr>
              <a:cxnSpLocks/>
            </p:cNvCxnSpPr>
            <p:nvPr/>
          </p:nvCxnSpPr>
          <p:spPr>
            <a:xfrm>
              <a:off x="2780666" y="8373622"/>
              <a:ext cx="57159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7FB76E6-C665-1D7F-3EED-A92AA73EF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2265" y="8373622"/>
              <a:ext cx="217389" cy="48115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43A7EFEA-AA3B-56F5-2637-AB02C22AE75C}"/>
              </a:ext>
            </a:extLst>
          </p:cNvPr>
          <p:cNvGrpSpPr/>
          <p:nvPr/>
        </p:nvGrpSpPr>
        <p:grpSpPr>
          <a:xfrm>
            <a:off x="6427907" y="3725225"/>
            <a:ext cx="1397833" cy="544364"/>
            <a:chOff x="4942007" y="8331560"/>
            <a:chExt cx="1397833" cy="544364"/>
          </a:xfrm>
        </p:grpSpPr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29F3241D-DD99-45EC-3053-15AA3B79DAA3}"/>
                </a:ext>
              </a:extLst>
            </p:cNvPr>
            <p:cNvCxnSpPr>
              <a:cxnSpLocks/>
            </p:cNvCxnSpPr>
            <p:nvPr/>
          </p:nvCxnSpPr>
          <p:spPr>
            <a:xfrm>
              <a:off x="4942007" y="8331560"/>
              <a:ext cx="0" cy="52322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ED6A528C-9DDE-D111-12E8-6863442B8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2007" y="8364244"/>
              <a:ext cx="1397833" cy="511680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A2F9E1E-D323-046A-95EC-C7F200815505}"/>
                  </a:ext>
                </a:extLst>
              </p:cNvPr>
              <p:cNvSpPr txBox="1"/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CA2F9E1E-D323-046A-95EC-C7F200815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5072458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512E78C-8BA6-F518-0921-49124D4D6B3B}"/>
              </a:ext>
            </a:extLst>
          </p:cNvPr>
          <p:cNvCxnSpPr>
            <a:cxnSpLocks/>
          </p:cNvCxnSpPr>
          <p:nvPr/>
        </p:nvCxnSpPr>
        <p:spPr>
          <a:xfrm flipH="1">
            <a:off x="6452393" y="4650015"/>
            <a:ext cx="552450" cy="54193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A212EE8E-9DDA-D942-EE0C-D1419F6DACA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FF486E0-00AF-8794-33DA-A5B83787122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516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98B0176-0DC5-6B66-224B-44320DD24928}"/>
              </a:ext>
            </a:extLst>
          </p:cNvPr>
          <p:cNvGrpSpPr/>
          <p:nvPr/>
        </p:nvGrpSpPr>
        <p:grpSpPr>
          <a:xfrm>
            <a:off x="5095875" y="3699677"/>
            <a:ext cx="1171575" cy="523220"/>
            <a:chOff x="5040504" y="8331560"/>
            <a:chExt cx="1171575" cy="523220"/>
          </a:xfrm>
        </p:grpSpPr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5440962-A29E-D720-4150-EDA7886B21DE}"/>
                </a:ext>
              </a:extLst>
            </p:cNvPr>
            <p:cNvCxnSpPr>
              <a:cxnSpLocks/>
            </p:cNvCxnSpPr>
            <p:nvPr/>
          </p:nvCxnSpPr>
          <p:spPr>
            <a:xfrm>
              <a:off x="5040504" y="8331560"/>
              <a:ext cx="341731" cy="505872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E1520EE8-B1C5-836F-9C57-9B3C3FF20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4" y="8357772"/>
              <a:ext cx="801685" cy="49700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/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44CCA5E-FA72-9557-7C7A-A0976795732C}"/>
              </a:ext>
            </a:extLst>
          </p:cNvPr>
          <p:cNvCxnSpPr>
            <a:cxnSpLocks/>
          </p:cNvCxnSpPr>
          <p:nvPr/>
        </p:nvCxnSpPr>
        <p:spPr>
          <a:xfrm>
            <a:off x="6200775" y="4587838"/>
            <a:ext cx="552450" cy="55768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1F5F68A-80B9-4FCD-5BAF-AA7F45FCB6D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393F53-D681-C864-9BB6-70C8F8E0980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387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9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/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65E278F-3C72-9E38-37AC-21BEEDAD0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75100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98B0176-0DC5-6B66-224B-44320DD24928}"/>
              </a:ext>
            </a:extLst>
          </p:cNvPr>
          <p:cNvGrpSpPr/>
          <p:nvPr/>
        </p:nvGrpSpPr>
        <p:grpSpPr>
          <a:xfrm>
            <a:off x="5095875" y="3699677"/>
            <a:ext cx="1171575" cy="523220"/>
            <a:chOff x="5040504" y="8331560"/>
            <a:chExt cx="1171575" cy="523220"/>
          </a:xfrm>
        </p:grpSpPr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5440962-A29E-D720-4150-EDA7886B21DE}"/>
                </a:ext>
              </a:extLst>
            </p:cNvPr>
            <p:cNvCxnSpPr>
              <a:cxnSpLocks/>
            </p:cNvCxnSpPr>
            <p:nvPr/>
          </p:nvCxnSpPr>
          <p:spPr>
            <a:xfrm>
              <a:off x="5040504" y="8331560"/>
              <a:ext cx="341731" cy="505872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E1520EE8-B1C5-836F-9C57-9B3C3FF20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4" y="8357772"/>
              <a:ext cx="801685" cy="49700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/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BE3D9AE-D994-4032-C2D7-4E6D0FAC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5549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44CCA5E-FA72-9557-7C7A-A0976795732C}"/>
              </a:ext>
            </a:extLst>
          </p:cNvPr>
          <p:cNvCxnSpPr>
            <a:cxnSpLocks/>
          </p:cNvCxnSpPr>
          <p:nvPr/>
        </p:nvCxnSpPr>
        <p:spPr>
          <a:xfrm>
            <a:off x="6200775" y="4587838"/>
            <a:ext cx="552450" cy="55768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5022630"/>
                <a:ext cx="44513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08D20BE2-999B-4A08-9356-21215A5D53C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D7A0B9-4204-A0ED-6D9B-6EC14E4A339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922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>
            <a:extLst>
              <a:ext uri="{FF2B5EF4-FFF2-40B4-BE49-F238E27FC236}">
                <a16:creationId xmlns:a16="http://schemas.microsoft.com/office/drawing/2014/main" id="{E0933EBE-00C8-92CB-DDD6-0E948D7B8EB0}"/>
              </a:ext>
            </a:extLst>
          </p:cNvPr>
          <p:cNvGrpSpPr/>
          <p:nvPr/>
        </p:nvGrpSpPr>
        <p:grpSpPr>
          <a:xfrm>
            <a:off x="6198636" y="3655712"/>
            <a:ext cx="603380" cy="552322"/>
            <a:chOff x="4594642" y="8364244"/>
            <a:chExt cx="1676972" cy="490536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5D64460C-E2E5-C872-551A-9C0FCD08DFC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642" y="8364244"/>
              <a:ext cx="787594" cy="47318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F5FE459-A438-D286-10E4-BA55D412E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3" y="8377553"/>
              <a:ext cx="861221" cy="477227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/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D1EBC11-FBC9-0AAB-9D9B-AB387F4367FD}"/>
              </a:ext>
            </a:extLst>
          </p:cNvPr>
          <p:cNvCxnSpPr>
            <a:cxnSpLocks/>
          </p:cNvCxnSpPr>
          <p:nvPr/>
        </p:nvCxnSpPr>
        <p:spPr>
          <a:xfrm>
            <a:off x="5800722" y="4575261"/>
            <a:ext cx="473078" cy="98733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FE929A75-394A-5D9E-3D2B-52DEFA31334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5F50EE-16CA-8F91-CB5D-55D59B913DB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2" name="!Marco 10">
            <a:extLst>
              <a:ext uri="{FF2B5EF4-FFF2-40B4-BE49-F238E27FC236}">
                <a16:creationId xmlns:a16="http://schemas.microsoft.com/office/drawing/2014/main" id="{C687FB8F-0C21-8F99-7C63-8BD087C6895A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D3C3A4BA-B53C-0A91-4F79-E04980C97E6E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5277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7DFE95D-7EFA-D43A-53CF-65EF789BABF3}"/>
              </a:ext>
            </a:extLst>
          </p:cNvPr>
          <p:cNvCxnSpPr>
            <a:cxnSpLocks/>
          </p:cNvCxnSpPr>
          <p:nvPr/>
        </p:nvCxnSpPr>
        <p:spPr>
          <a:xfrm>
            <a:off x="3581400" y="4461199"/>
            <a:ext cx="0" cy="910901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4064817-D110-8DB6-84D2-2DEEDDD75153}"/>
              </a:ext>
            </a:extLst>
          </p:cNvPr>
          <p:cNvSpPr txBox="1"/>
          <p:nvPr/>
        </p:nvSpPr>
        <p:spPr>
          <a:xfrm>
            <a:off x="8352256" y="4269589"/>
            <a:ext cx="224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accent5">
                    <a:lumMod val="75000"/>
                  </a:schemeClr>
                </a:solidFill>
              </a:rPr>
              <a:t>TRANSPONER</a:t>
            </a:r>
            <a:endParaRPr lang="es-E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/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2EE2C3-9F9A-14E0-C5DB-F9DCC5E38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238012"/>
                <a:ext cx="44513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>
            <a:extLst>
              <a:ext uri="{FF2B5EF4-FFF2-40B4-BE49-F238E27FC236}">
                <a16:creationId xmlns:a16="http://schemas.microsoft.com/office/drawing/2014/main" id="{E0933EBE-00C8-92CB-DDD6-0E948D7B8EB0}"/>
              </a:ext>
            </a:extLst>
          </p:cNvPr>
          <p:cNvGrpSpPr/>
          <p:nvPr/>
        </p:nvGrpSpPr>
        <p:grpSpPr>
          <a:xfrm>
            <a:off x="6198636" y="3655712"/>
            <a:ext cx="603380" cy="552322"/>
            <a:chOff x="4594642" y="8364244"/>
            <a:chExt cx="1676972" cy="490536"/>
          </a:xfrm>
        </p:grpSpPr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5D64460C-E2E5-C872-551A-9C0FCD08DFC7}"/>
                </a:ext>
              </a:extLst>
            </p:cNvPr>
            <p:cNvCxnSpPr>
              <a:cxnSpLocks/>
            </p:cNvCxnSpPr>
            <p:nvPr/>
          </p:nvCxnSpPr>
          <p:spPr>
            <a:xfrm>
              <a:off x="4594642" y="8364244"/>
              <a:ext cx="787594" cy="473188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F5FE459-A438-D286-10E4-BA55D412E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393" y="8377553"/>
              <a:ext cx="861221" cy="477227"/>
            </a:xfrm>
            <a:prstGeom prst="straightConnector1">
              <a:avLst/>
            </a:prstGeom>
            <a:ln w="28575">
              <a:solidFill>
                <a:schemeClr val="tx2">
                  <a:lumMod val="75000"/>
                  <a:lumOff val="25000"/>
                </a:schemeClr>
              </a:solidFill>
              <a:headEnd type="none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/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89E0945-1FB5-A00F-7A1F-5EEFCF165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208034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D1EBC11-FBC9-0AAB-9D9B-AB387F4367FD}"/>
              </a:ext>
            </a:extLst>
          </p:cNvPr>
          <p:cNvCxnSpPr>
            <a:cxnSpLocks/>
          </p:cNvCxnSpPr>
          <p:nvPr/>
        </p:nvCxnSpPr>
        <p:spPr>
          <a:xfrm>
            <a:off x="5800722" y="4575261"/>
            <a:ext cx="473078" cy="987339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4980198"/>
                <a:ext cx="4451350" cy="783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7476A1A1-DF2C-E4E7-3582-C06FD9527FF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37F926-DD83-0B06-D8E0-A0CF330C4C4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2" name="!Marco 10">
            <a:extLst>
              <a:ext uri="{FF2B5EF4-FFF2-40B4-BE49-F238E27FC236}">
                <a16:creationId xmlns:a16="http://schemas.microsoft.com/office/drawing/2014/main" id="{EB7D873D-9EE4-14B1-D5B8-ED4545EE203C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04F854C1-23A6-FB23-FD7B-7A34FA12CB3C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321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B90032-ACB2-69B5-E17C-EA51B24AE68B}"/>
              </a:ext>
            </a:extLst>
          </p:cNvPr>
          <p:cNvSpPr txBox="1"/>
          <p:nvPr/>
        </p:nvSpPr>
        <p:spPr>
          <a:xfrm>
            <a:off x="535084" y="1889267"/>
            <a:ext cx="11121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Para transformar una ecuación en otra equivalente, utilizaremos dos recursos:</a:t>
            </a:r>
          </a:p>
          <a:p>
            <a:pPr algn="l"/>
            <a:r>
              <a:rPr lang="es-ES" sz="2000" b="1" i="0" u="none" strike="noStrike" baseline="0" dirty="0"/>
              <a:t>• Reducir sus miembros.</a:t>
            </a:r>
          </a:p>
          <a:p>
            <a:pPr algn="l"/>
            <a:r>
              <a:rPr lang="es-ES" sz="2000" b="1" i="0" u="none" strike="noStrike" baseline="0" dirty="0"/>
              <a:t>• Transponer sus términos, de un miembro al otro.</a:t>
            </a:r>
            <a:endParaRPr lang="es-ES" sz="2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1F6056-7870-71E8-181D-6722B18D6CC2}"/>
              </a:ext>
            </a:extLst>
          </p:cNvPr>
          <p:cNvSpPr txBox="1"/>
          <p:nvPr/>
        </p:nvSpPr>
        <p:spPr>
          <a:xfrm>
            <a:off x="535084" y="2962447"/>
            <a:ext cx="819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F24CC32-C7A6-0AF8-692E-E96BCC1B845E}"/>
              </a:ext>
            </a:extLst>
          </p:cNvPr>
          <p:cNvCxnSpPr>
            <a:cxnSpLocks/>
          </p:cNvCxnSpPr>
          <p:nvPr/>
        </p:nvCxnSpPr>
        <p:spPr>
          <a:xfrm>
            <a:off x="3343275" y="3559765"/>
            <a:ext cx="0" cy="990600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EB7C1E-573F-8719-F37F-63D2AE223AC4}"/>
              </a:ext>
            </a:extLst>
          </p:cNvPr>
          <p:cNvSpPr txBox="1"/>
          <p:nvPr/>
        </p:nvSpPr>
        <p:spPr>
          <a:xfrm>
            <a:off x="8352256" y="3299567"/>
            <a:ext cx="172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REDUCIR</a:t>
            </a:r>
            <a:endParaRPr lang="es-E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/>
              <p:nvPr/>
            </p:nvSpPr>
            <p:spPr>
              <a:xfrm>
                <a:off x="3870325" y="3107720"/>
                <a:ext cx="4451350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s-E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AF6E7EC-155A-F561-DF05-7CBC6A27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25" y="3107720"/>
                <a:ext cx="4451350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9FE42D4-658A-FD1E-AFBF-C11A9839D2AB}"/>
                  </a:ext>
                </a:extLst>
              </p:cNvPr>
              <p:cNvSpPr txBox="1"/>
              <p:nvPr/>
            </p:nvSpPr>
            <p:spPr>
              <a:xfrm>
                <a:off x="3866742" y="4438110"/>
                <a:ext cx="44513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9FE42D4-658A-FD1E-AFBF-C11A9839D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742" y="4438110"/>
                <a:ext cx="44513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82E94B6-D121-4B11-78ED-AE52E2F869B2}"/>
              </a:ext>
            </a:extLst>
          </p:cNvPr>
          <p:cNvCxnSpPr>
            <a:cxnSpLocks/>
          </p:cNvCxnSpPr>
          <p:nvPr/>
        </p:nvCxnSpPr>
        <p:spPr>
          <a:xfrm>
            <a:off x="6376161" y="3947574"/>
            <a:ext cx="0" cy="490536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6CBD3EEF-DFFB-F956-F658-F6B8F55E36F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23253A-0DDB-312D-6129-FA4FFADB1C9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2" name="!Marco 10">
            <a:extLst>
              <a:ext uri="{FF2B5EF4-FFF2-40B4-BE49-F238E27FC236}">
                <a16:creationId xmlns:a16="http://schemas.microsoft.com/office/drawing/2014/main" id="{EF201267-D7AA-1902-FAFD-E180BD12D7B0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793C4250-BEDA-E141-96C0-D9CD4AF6EB13}"/>
              </a:ext>
            </a:extLst>
          </p:cNvPr>
          <p:cNvSpPr txBox="1"/>
          <p:nvPr/>
        </p:nvSpPr>
        <p:spPr>
          <a:xfrm>
            <a:off x="535084" y="106354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una ecuación, iremos simplificando la ecuación </a:t>
            </a:r>
            <a:r>
              <a:rPr lang="es-ES" sz="2000" b="1" dirty="0">
                <a:solidFill>
                  <a:srgbClr val="4E95D9"/>
                </a:solidFill>
              </a:rPr>
              <a:t>hasta quedarnos con la incógnita en un miembro y un número en el otro.</a:t>
            </a:r>
            <a:endParaRPr lang="es-ES" sz="3200" b="1" dirty="0">
              <a:solidFill>
                <a:srgbClr val="4E95D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469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300EB3B-4D18-4448-BEF9-74A9B74337EA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1. Ecuaciones"/>
  <p:tag name="ISPRING_PRESENTATION_TITLE" val="1. Ecuacione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5. Ecua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FB0B0D9-8E1C-40F3-903A-4289CC76EA7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C9F0533-3681-4E98-80C1-02BF70033EE8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EC448C7-A3E4-4D81-ACC1-2782E2C7C1E3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07706ED-6D1D-4A9C-B740-E8A6D61FF8A7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277FC4-0AEF-4523-8CC6-621EADDC566D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95AE429-55A3-41CD-B8AE-1700C830714C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E476F1E-4ABC-4150-9577-D10027C4DF58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3ADD96A-84A7-4894-A66B-764730DBBCE1}:26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22329ED-3A50-4F90-A4DF-1CD1A68F8232}:26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F935E4B-07AE-4B97-A862-05E975D96831}:26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9399FE5-84BC-457C-8794-F257A82A0397}:26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EBB47F2-B9BA-4FB5-B11C-2AA34AE07ADC}:26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1095</Words>
  <Application>Microsoft Office PowerPoint</Application>
  <PresentationFormat>Panorámica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Ecuaciones</dc:title>
  <dc:creator>Illán Linos Souto</dc:creator>
  <cp:lastModifiedBy>Illán Linos</cp:lastModifiedBy>
  <cp:revision>65</cp:revision>
  <dcterms:created xsi:type="dcterms:W3CDTF">2024-08-18T18:48:07Z</dcterms:created>
  <dcterms:modified xsi:type="dcterms:W3CDTF">2025-11-20T18:24:38Z</dcterms:modified>
</cp:coreProperties>
</file>