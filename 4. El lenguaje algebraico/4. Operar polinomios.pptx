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EF4246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68B91-0964-47CC-923F-11CF70D70042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46EC0-91E0-442F-80A7-4E3B79E350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910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46EC0-91E0-442F-80A7-4E3B79E350F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9399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46EC0-91E0-442F-80A7-4E3B79E350F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0384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46EC0-91E0-442F-80A7-4E3B79E350F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9023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46EC0-91E0-442F-80A7-4E3B79E350F6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2565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45.png"/><Relationship Id="rId7" Type="http://schemas.openxmlformats.org/officeDocument/2006/relationships/image" Target="../media/image310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tags" Target="../tags/tag3.xml"/><Relationship Id="rId6" Type="http://schemas.openxmlformats.org/officeDocument/2006/relationships/image" Target="../media/image300.png"/><Relationship Id="rId11" Type="http://schemas.openxmlformats.org/officeDocument/2006/relationships/image" Target="../media/image35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9" Type="http://schemas.openxmlformats.org/officeDocument/2006/relationships/image" Target="../media/image330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00.png"/><Relationship Id="rId9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62.png"/><Relationship Id="rId7" Type="http://schemas.openxmlformats.org/officeDocument/2006/relationships/image" Target="../media/image31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tags" Target="../tags/tag5.xml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Para sumar dos polinomios, agrupamos sus términos y sumamos los monomios semejantes.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!Marco 10">
            <a:extLst>
              <a:ext uri="{FF2B5EF4-FFF2-40B4-BE49-F238E27FC236}">
                <a16:creationId xmlns:a16="http://schemas.microsoft.com/office/drawing/2014/main" id="{CAF0DC20-6DDE-2EFC-F109-2DA1470A7AB2}"/>
              </a:ext>
            </a:extLst>
          </p:cNvPr>
          <p:cNvSpPr/>
          <p:nvPr/>
        </p:nvSpPr>
        <p:spPr>
          <a:xfrm>
            <a:off x="535084" y="1920880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9E8EFBD7-E4E6-B336-FB83-B3D4EB6A3B0B}"/>
              </a:ext>
            </a:extLst>
          </p:cNvPr>
          <p:cNvSpPr txBox="1"/>
          <p:nvPr/>
        </p:nvSpPr>
        <p:spPr>
          <a:xfrm>
            <a:off x="535084" y="192088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restar dos polinomios, se suma al minuendo el opuesto del sustraendo. 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opuesto </a:t>
            </a:r>
            <a:r>
              <a:rPr lang="es-ES" sz="2000" b="1" dirty="0"/>
              <a:t>de un polinomio es el que resulta de cambiar de signo todos sus términos.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2D9BCCB-1AED-6126-08E1-55A5999011C8}"/>
                  </a:ext>
                </a:extLst>
              </p:cNvPr>
              <p:cNvSpPr txBox="1"/>
              <p:nvPr/>
            </p:nvSpPr>
            <p:spPr>
              <a:xfrm>
                <a:off x="535084" y="2770156"/>
                <a:ext cx="11121832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EJEMPLO: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𝑺𝒆𝒂𝒏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𝐁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2D9BCCB-1AED-6126-08E1-55A599901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2770156"/>
                <a:ext cx="11121832" cy="407099"/>
              </a:xfrm>
              <a:prstGeom prst="rect">
                <a:avLst/>
              </a:prstGeom>
              <a:blipFill>
                <a:blip r:embed="rId6"/>
                <a:stretch>
                  <a:fillRect l="-603" t="-5970" b="-2537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F040AD8A-B16B-EF10-87C3-04C53AE26BA4}"/>
              </a:ext>
            </a:extLst>
          </p:cNvPr>
          <p:cNvSpPr/>
          <p:nvPr/>
        </p:nvSpPr>
        <p:spPr>
          <a:xfrm>
            <a:off x="3287538" y="3508439"/>
            <a:ext cx="1019175" cy="407099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tx1"/>
                </a:solidFill>
              </a:rPr>
              <a:t>A + B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A3557901-22C7-710D-2994-0E1D87AEC0ED}"/>
              </a:ext>
            </a:extLst>
          </p:cNvPr>
          <p:cNvGrpSpPr/>
          <p:nvPr/>
        </p:nvGrpSpPr>
        <p:grpSpPr>
          <a:xfrm>
            <a:off x="2957527" y="4120896"/>
            <a:ext cx="1876420" cy="407101"/>
            <a:chOff x="2628343" y="4120896"/>
            <a:chExt cx="1876420" cy="4071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D76F561B-2D54-45CB-5C03-E35E74686CF2}"/>
                    </a:ext>
                  </a:extLst>
                </p:cNvPr>
                <p:cNvSpPr txBox="1"/>
                <p:nvPr/>
              </p:nvSpPr>
              <p:spPr>
                <a:xfrm>
                  <a:off x="2628343" y="4120898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D76F561B-2D54-45CB-5C03-E35E74686C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8343" y="4120898"/>
                  <a:ext cx="593724" cy="4070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5A4D649D-3D91-41F8-B458-DAF08BB20ECA}"/>
                    </a:ext>
                  </a:extLst>
                </p:cNvPr>
                <p:cNvSpPr txBox="1"/>
                <p:nvPr/>
              </p:nvSpPr>
              <p:spPr>
                <a:xfrm>
                  <a:off x="3269691" y="4120897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5A4D649D-3D91-41F8-B458-DAF08BB20E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9691" y="4120897"/>
                  <a:ext cx="593724" cy="407099"/>
                </a:xfrm>
                <a:prstGeom prst="rect">
                  <a:avLst/>
                </a:prstGeom>
                <a:blipFill>
                  <a:blip r:embed="rId8"/>
                  <a:stretch>
                    <a:fillRect r="-12245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385AFF20-7E1B-39B9-58C2-E8D9E25C95D2}"/>
                    </a:ext>
                  </a:extLst>
                </p:cNvPr>
                <p:cNvSpPr txBox="1"/>
                <p:nvPr/>
              </p:nvSpPr>
              <p:spPr>
                <a:xfrm>
                  <a:off x="3911039" y="4120896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   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385AFF20-7E1B-39B9-58C2-E8D9E25C95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1039" y="4120896"/>
                  <a:ext cx="593724" cy="407099"/>
                </a:xfrm>
                <a:prstGeom prst="rect">
                  <a:avLst/>
                </a:prstGeom>
                <a:blipFill>
                  <a:blip r:embed="rId9"/>
                  <a:stretch>
                    <a:fillRect r="-16495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DDBBD9FA-4FDA-96AD-3D44-5B4D78A94F4B}"/>
              </a:ext>
            </a:extLst>
          </p:cNvPr>
          <p:cNvGrpSpPr/>
          <p:nvPr/>
        </p:nvGrpSpPr>
        <p:grpSpPr>
          <a:xfrm>
            <a:off x="2309829" y="4527994"/>
            <a:ext cx="2536818" cy="407101"/>
            <a:chOff x="1980645" y="4527994"/>
            <a:chExt cx="2536818" cy="4071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0D706437-161B-F8EF-1FCC-8B3755AE3DA4}"/>
                    </a:ext>
                  </a:extLst>
                </p:cNvPr>
                <p:cNvSpPr txBox="1"/>
                <p:nvPr/>
              </p:nvSpPr>
              <p:spPr>
                <a:xfrm>
                  <a:off x="2430780" y="4527996"/>
                  <a:ext cx="791287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0D706437-161B-F8EF-1FCC-8B3755AE3D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0780" y="4527996"/>
                  <a:ext cx="791287" cy="4070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58375C2D-0CA7-EF6E-5570-AAE82FEC953C}"/>
                    </a:ext>
                  </a:extLst>
                </p:cNvPr>
                <p:cNvSpPr txBox="1"/>
                <p:nvPr/>
              </p:nvSpPr>
              <p:spPr>
                <a:xfrm>
                  <a:off x="1980645" y="4527994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58375C2D-0CA7-EF6E-5570-AAE82FEC95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0645" y="4527994"/>
                  <a:ext cx="593724" cy="4070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22D32568-2080-EF1C-4C67-741AFBDAEF88}"/>
                    </a:ext>
                  </a:extLst>
                </p:cNvPr>
                <p:cNvSpPr txBox="1"/>
                <p:nvPr/>
              </p:nvSpPr>
              <p:spPr>
                <a:xfrm>
                  <a:off x="3923739" y="4527994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22D32568-2080-EF1C-4C67-741AFBDAEF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739" y="4527994"/>
                  <a:ext cx="593724" cy="407099"/>
                </a:xfrm>
                <a:prstGeom prst="rect">
                  <a:avLst/>
                </a:prstGeom>
                <a:blipFill>
                  <a:blip r:embed="rId12"/>
                  <a:stretch>
                    <a:fillRect r="-13402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66207C3-341A-C578-C2BC-ECE67A0B9799}"/>
              </a:ext>
            </a:extLst>
          </p:cNvPr>
          <p:cNvCxnSpPr/>
          <p:nvPr/>
        </p:nvCxnSpPr>
        <p:spPr>
          <a:xfrm>
            <a:off x="2309829" y="4948133"/>
            <a:ext cx="2681002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upo 29">
            <a:extLst>
              <a:ext uri="{FF2B5EF4-FFF2-40B4-BE49-F238E27FC236}">
                <a16:creationId xmlns:a16="http://schemas.microsoft.com/office/drawing/2014/main" id="{50147FAF-A57A-869D-57B9-128CE1DD5FA8}"/>
              </a:ext>
            </a:extLst>
          </p:cNvPr>
          <p:cNvGrpSpPr/>
          <p:nvPr/>
        </p:nvGrpSpPr>
        <p:grpSpPr>
          <a:xfrm>
            <a:off x="2267341" y="4931568"/>
            <a:ext cx="2536818" cy="407099"/>
            <a:chOff x="1938157" y="4931568"/>
            <a:chExt cx="2536818" cy="4070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067408C5-9676-813F-351C-1EE3BEED205D}"/>
                    </a:ext>
                  </a:extLst>
                </p:cNvPr>
                <p:cNvSpPr txBox="1"/>
                <p:nvPr/>
              </p:nvSpPr>
              <p:spPr>
                <a:xfrm>
                  <a:off x="3227203" y="4931568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067408C5-9676-813F-351C-1EE3BEED20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203" y="4931568"/>
                  <a:ext cx="593724" cy="407099"/>
                </a:xfrm>
                <a:prstGeom prst="rect">
                  <a:avLst/>
                </a:prstGeom>
                <a:blipFill>
                  <a:blip r:embed="rId13"/>
                  <a:stretch>
                    <a:fillRect r="-12245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A1415DD8-D304-B678-0A24-5C83CD40962C}"/>
                    </a:ext>
                  </a:extLst>
                </p:cNvPr>
                <p:cNvSpPr txBox="1"/>
                <p:nvPr/>
              </p:nvSpPr>
              <p:spPr>
                <a:xfrm>
                  <a:off x="2439421" y="4931568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A1415DD8-D304-B678-0A24-5C83CD4096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9421" y="4931568"/>
                  <a:ext cx="593724" cy="407099"/>
                </a:xfrm>
                <a:prstGeom prst="rect">
                  <a:avLst/>
                </a:prstGeom>
                <a:blipFill>
                  <a:blip r:embed="rId14"/>
                  <a:stretch>
                    <a:fillRect r="-27551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A693B694-2C21-EEED-F0E4-AA384CA22F88}"/>
                    </a:ext>
                  </a:extLst>
                </p:cNvPr>
                <p:cNvSpPr txBox="1"/>
                <p:nvPr/>
              </p:nvSpPr>
              <p:spPr>
                <a:xfrm>
                  <a:off x="1938157" y="4931568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A693B694-2C21-EEED-F0E4-AA384CA22F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8157" y="4931568"/>
                  <a:ext cx="593724" cy="4070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448EAC71-0CB6-8048-DF16-8551A2B71A35}"/>
                    </a:ext>
                  </a:extLst>
                </p:cNvPr>
                <p:cNvSpPr txBox="1"/>
                <p:nvPr/>
              </p:nvSpPr>
              <p:spPr>
                <a:xfrm>
                  <a:off x="3881251" y="4931568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448EAC71-0CB6-8048-DF16-8551A2B71A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1251" y="4931568"/>
                  <a:ext cx="593724" cy="407099"/>
                </a:xfrm>
                <a:prstGeom prst="rect">
                  <a:avLst/>
                </a:prstGeom>
                <a:blipFill>
                  <a:blip r:embed="rId16"/>
                  <a:stretch>
                    <a:fillRect r="-13402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EA5E4E28-F791-D81D-F0F4-CBC9F4221F9E}"/>
              </a:ext>
            </a:extLst>
          </p:cNvPr>
          <p:cNvSpPr txBox="1"/>
          <p:nvPr/>
        </p:nvSpPr>
        <p:spPr>
          <a:xfrm>
            <a:off x="1336693" y="4137470"/>
            <a:ext cx="364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9963072-CFB2-3631-0E08-D8F7431A8340}"/>
              </a:ext>
            </a:extLst>
          </p:cNvPr>
          <p:cNvSpPr txBox="1"/>
          <p:nvPr/>
        </p:nvSpPr>
        <p:spPr>
          <a:xfrm>
            <a:off x="1336693" y="4546877"/>
            <a:ext cx="364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91ACD2-E530-44F4-1BA1-76EEFA44D6AC}"/>
              </a:ext>
            </a:extLst>
          </p:cNvPr>
          <p:cNvSpPr txBox="1"/>
          <p:nvPr/>
        </p:nvSpPr>
        <p:spPr>
          <a:xfrm>
            <a:off x="1013116" y="4551640"/>
            <a:ext cx="364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+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E66B9CF1-5135-0800-6EAB-8D54A0341AEF}"/>
              </a:ext>
            </a:extLst>
          </p:cNvPr>
          <p:cNvCxnSpPr/>
          <p:nvPr/>
        </p:nvCxnSpPr>
        <p:spPr>
          <a:xfrm flipH="1">
            <a:off x="1072134" y="4948133"/>
            <a:ext cx="62865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E9A9848-AA7A-6CF5-9DBA-2B59FA731E2E}"/>
              </a:ext>
            </a:extLst>
          </p:cNvPr>
          <p:cNvSpPr txBox="1"/>
          <p:nvPr/>
        </p:nvSpPr>
        <p:spPr>
          <a:xfrm>
            <a:off x="946050" y="4961047"/>
            <a:ext cx="862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solidFill>
                  <a:schemeClr val="tx1"/>
                </a:solidFill>
              </a:rPr>
              <a:t>A + B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1E875879-7DE6-042B-753C-C150EB9B11DF}"/>
              </a:ext>
            </a:extLst>
          </p:cNvPr>
          <p:cNvCxnSpPr>
            <a:cxnSpLocks/>
          </p:cNvCxnSpPr>
          <p:nvPr/>
        </p:nvCxnSpPr>
        <p:spPr>
          <a:xfrm>
            <a:off x="1833579" y="4322136"/>
            <a:ext cx="433762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56AA25FD-9FBD-C359-5E7E-9C76540A249F}"/>
              </a:ext>
            </a:extLst>
          </p:cNvPr>
          <p:cNvCxnSpPr>
            <a:cxnSpLocks/>
          </p:cNvCxnSpPr>
          <p:nvPr/>
        </p:nvCxnSpPr>
        <p:spPr>
          <a:xfrm>
            <a:off x="1833579" y="4731543"/>
            <a:ext cx="433762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A931752F-F315-4819-BA4B-8E70597987D8}"/>
              </a:ext>
            </a:extLst>
          </p:cNvPr>
          <p:cNvCxnSpPr>
            <a:cxnSpLocks/>
          </p:cNvCxnSpPr>
          <p:nvPr/>
        </p:nvCxnSpPr>
        <p:spPr>
          <a:xfrm>
            <a:off x="1833579" y="5135117"/>
            <a:ext cx="433762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78AB848-49C5-E9A3-17E5-17692270835B}"/>
              </a:ext>
            </a:extLst>
          </p:cNvPr>
          <p:cNvSpPr/>
          <p:nvPr/>
        </p:nvSpPr>
        <p:spPr>
          <a:xfrm>
            <a:off x="8550552" y="3508439"/>
            <a:ext cx="1019175" cy="407099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tx1"/>
                </a:solidFill>
              </a:rPr>
              <a:t>A - B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B5B4C5C2-DBAA-C7FA-4FE4-ABECE42E77A5}"/>
              </a:ext>
            </a:extLst>
          </p:cNvPr>
          <p:cNvGrpSpPr/>
          <p:nvPr/>
        </p:nvGrpSpPr>
        <p:grpSpPr>
          <a:xfrm>
            <a:off x="8220541" y="4120896"/>
            <a:ext cx="1876420" cy="407101"/>
            <a:chOff x="2628343" y="4120896"/>
            <a:chExt cx="1876420" cy="4071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A5ABDB47-CFBE-35E8-5FC0-2A8698E58830}"/>
                    </a:ext>
                  </a:extLst>
                </p:cNvPr>
                <p:cNvSpPr txBox="1"/>
                <p:nvPr/>
              </p:nvSpPr>
              <p:spPr>
                <a:xfrm>
                  <a:off x="2628343" y="4120898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A5ABDB47-CFBE-35E8-5FC0-2A8698E588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8343" y="4120898"/>
                  <a:ext cx="593724" cy="4070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D99FA1B5-6B27-D6C0-C75B-2B601E798CD6}"/>
                    </a:ext>
                  </a:extLst>
                </p:cNvPr>
                <p:cNvSpPr txBox="1"/>
                <p:nvPr/>
              </p:nvSpPr>
              <p:spPr>
                <a:xfrm>
                  <a:off x="3269691" y="4120897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D99FA1B5-6B27-D6C0-C75B-2B601E798C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9691" y="4120897"/>
                  <a:ext cx="593724" cy="407099"/>
                </a:xfrm>
                <a:prstGeom prst="rect">
                  <a:avLst/>
                </a:prstGeom>
                <a:blipFill>
                  <a:blip r:embed="rId18"/>
                  <a:stretch>
                    <a:fillRect r="-12371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E9AD9A79-D95C-1E80-06A2-FAE27F7D4A9E}"/>
                    </a:ext>
                  </a:extLst>
                </p:cNvPr>
                <p:cNvSpPr txBox="1"/>
                <p:nvPr/>
              </p:nvSpPr>
              <p:spPr>
                <a:xfrm>
                  <a:off x="3911039" y="4120896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   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E9AD9A79-D95C-1E80-06A2-FAE27F7D4A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1039" y="4120896"/>
                  <a:ext cx="593724" cy="407099"/>
                </a:xfrm>
                <a:prstGeom prst="rect">
                  <a:avLst/>
                </a:prstGeom>
                <a:blipFill>
                  <a:blip r:embed="rId19"/>
                  <a:stretch>
                    <a:fillRect r="-16495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37FEC497-881B-A760-E36C-E19070436028}"/>
              </a:ext>
            </a:extLst>
          </p:cNvPr>
          <p:cNvGrpSpPr/>
          <p:nvPr/>
        </p:nvGrpSpPr>
        <p:grpSpPr>
          <a:xfrm>
            <a:off x="7506161" y="4527994"/>
            <a:ext cx="2603500" cy="407101"/>
            <a:chOff x="1913963" y="4527994"/>
            <a:chExt cx="2603500" cy="4071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FB5D0092-0C6D-25D4-0B61-1025AB06520C}"/>
                    </a:ext>
                  </a:extLst>
                </p:cNvPr>
                <p:cNvSpPr txBox="1"/>
                <p:nvPr/>
              </p:nvSpPr>
              <p:spPr>
                <a:xfrm>
                  <a:off x="2430780" y="4527996"/>
                  <a:ext cx="791287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FB5D0092-0C6D-25D4-0B61-1025AB065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0780" y="4527996"/>
                  <a:ext cx="791287" cy="4070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33ABEE6A-AC5A-BE33-C6FC-DEA4914AA4CF}"/>
                    </a:ext>
                  </a:extLst>
                </p:cNvPr>
                <p:cNvSpPr txBox="1"/>
                <p:nvPr/>
              </p:nvSpPr>
              <p:spPr>
                <a:xfrm>
                  <a:off x="1913963" y="4527994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33ABEE6A-AC5A-BE33-C6FC-DEA4914AA4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3963" y="4527994"/>
                  <a:ext cx="593724" cy="407099"/>
                </a:xfrm>
                <a:prstGeom prst="rect">
                  <a:avLst/>
                </a:prstGeom>
                <a:blipFill>
                  <a:blip r:embed="rId21"/>
                  <a:stretch>
                    <a:fillRect r="-2041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5F8E6E15-3AC3-3441-B248-BA4A5F9480C4}"/>
                    </a:ext>
                  </a:extLst>
                </p:cNvPr>
                <p:cNvSpPr txBox="1"/>
                <p:nvPr/>
              </p:nvSpPr>
              <p:spPr>
                <a:xfrm>
                  <a:off x="3923739" y="4527994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5F8E6E15-3AC3-3441-B248-BA4A5F948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739" y="4527994"/>
                  <a:ext cx="593724" cy="407099"/>
                </a:xfrm>
                <a:prstGeom prst="rect">
                  <a:avLst/>
                </a:prstGeom>
                <a:blipFill>
                  <a:blip r:embed="rId22"/>
                  <a:stretch>
                    <a:fillRect r="-14433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8123F6B3-ADED-CB29-3E57-BCB16FB3B72B}"/>
              </a:ext>
            </a:extLst>
          </p:cNvPr>
          <p:cNvCxnSpPr/>
          <p:nvPr/>
        </p:nvCxnSpPr>
        <p:spPr>
          <a:xfrm>
            <a:off x="7572843" y="4948133"/>
            <a:ext cx="2681002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upo 46">
            <a:extLst>
              <a:ext uri="{FF2B5EF4-FFF2-40B4-BE49-F238E27FC236}">
                <a16:creationId xmlns:a16="http://schemas.microsoft.com/office/drawing/2014/main" id="{AA96B42A-B025-5F5F-58F7-A01630926DA2}"/>
              </a:ext>
            </a:extLst>
          </p:cNvPr>
          <p:cNvGrpSpPr/>
          <p:nvPr/>
        </p:nvGrpSpPr>
        <p:grpSpPr>
          <a:xfrm>
            <a:off x="7506161" y="4931568"/>
            <a:ext cx="2561012" cy="409385"/>
            <a:chOff x="1913963" y="4931568"/>
            <a:chExt cx="2561012" cy="4093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96B11C63-6215-4C7D-AB07-F531CFBE2151}"/>
                    </a:ext>
                  </a:extLst>
                </p:cNvPr>
                <p:cNvSpPr txBox="1"/>
                <p:nvPr/>
              </p:nvSpPr>
              <p:spPr>
                <a:xfrm>
                  <a:off x="3227203" y="4931568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96B11C63-6215-4C7D-AB07-F531CFBE21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203" y="4931568"/>
                  <a:ext cx="593724" cy="407099"/>
                </a:xfrm>
                <a:prstGeom prst="rect">
                  <a:avLst/>
                </a:prstGeom>
                <a:blipFill>
                  <a:blip r:embed="rId23"/>
                  <a:stretch>
                    <a:fillRect r="-12371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9A226943-4EEA-7F0F-7DD3-9A65621834FD}"/>
                    </a:ext>
                  </a:extLst>
                </p:cNvPr>
                <p:cNvSpPr txBox="1"/>
                <p:nvPr/>
              </p:nvSpPr>
              <p:spPr>
                <a:xfrm>
                  <a:off x="2439421" y="4931568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9A226943-4EEA-7F0F-7DD3-9A65621834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9421" y="4931568"/>
                  <a:ext cx="593724" cy="407099"/>
                </a:xfrm>
                <a:prstGeom prst="rect">
                  <a:avLst/>
                </a:prstGeom>
                <a:blipFill>
                  <a:blip r:embed="rId24"/>
                  <a:stretch>
                    <a:fillRect r="-2886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ED12A501-649B-5B86-78DE-4BD8037538B7}"/>
                    </a:ext>
                  </a:extLst>
                </p:cNvPr>
                <p:cNvSpPr txBox="1"/>
                <p:nvPr/>
              </p:nvSpPr>
              <p:spPr>
                <a:xfrm>
                  <a:off x="1913963" y="4933854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ED12A501-649B-5B86-78DE-4BD803753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3963" y="4933854"/>
                  <a:ext cx="593724" cy="407099"/>
                </a:xfrm>
                <a:prstGeom prst="rect">
                  <a:avLst/>
                </a:prstGeom>
                <a:blipFill>
                  <a:blip r:embed="rId25"/>
                  <a:stretch>
                    <a:fillRect r="-2041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AE4E4202-49E4-5287-92F6-89BF4B3501C6}"/>
                    </a:ext>
                  </a:extLst>
                </p:cNvPr>
                <p:cNvSpPr txBox="1"/>
                <p:nvPr/>
              </p:nvSpPr>
              <p:spPr>
                <a:xfrm>
                  <a:off x="3881251" y="4931568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AE4E4202-49E4-5287-92F6-89BF4B3501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1251" y="4931568"/>
                  <a:ext cx="593724" cy="407099"/>
                </a:xfrm>
                <a:prstGeom prst="rect">
                  <a:avLst/>
                </a:prstGeom>
                <a:blipFill>
                  <a:blip r:embed="rId26"/>
                  <a:stretch>
                    <a:fillRect r="-14433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EF33DBD-75CD-F8A6-08D3-57AB5061F54D}"/>
              </a:ext>
            </a:extLst>
          </p:cNvPr>
          <p:cNvSpPr txBox="1"/>
          <p:nvPr/>
        </p:nvSpPr>
        <p:spPr>
          <a:xfrm>
            <a:off x="6599707" y="4137470"/>
            <a:ext cx="364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6F386E94-9214-1653-3A5A-D0034C3A2DA0}"/>
              </a:ext>
            </a:extLst>
          </p:cNvPr>
          <p:cNvSpPr txBox="1"/>
          <p:nvPr/>
        </p:nvSpPr>
        <p:spPr>
          <a:xfrm>
            <a:off x="6599707" y="4546877"/>
            <a:ext cx="364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53E3826-094F-341D-6B8E-EED4FCD1F3DF}"/>
              </a:ext>
            </a:extLst>
          </p:cNvPr>
          <p:cNvSpPr txBox="1"/>
          <p:nvPr/>
        </p:nvSpPr>
        <p:spPr>
          <a:xfrm>
            <a:off x="6276130" y="4551640"/>
            <a:ext cx="364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-</a:t>
            </a: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9F39B2F8-04A6-0169-022C-8002287DEA21}"/>
              </a:ext>
            </a:extLst>
          </p:cNvPr>
          <p:cNvCxnSpPr/>
          <p:nvPr/>
        </p:nvCxnSpPr>
        <p:spPr>
          <a:xfrm flipH="1">
            <a:off x="6335148" y="4948133"/>
            <a:ext cx="62865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6526D0C6-9A16-5255-C99C-E18502E635D5}"/>
              </a:ext>
            </a:extLst>
          </p:cNvPr>
          <p:cNvSpPr txBox="1"/>
          <p:nvPr/>
        </p:nvSpPr>
        <p:spPr>
          <a:xfrm>
            <a:off x="6209064" y="4961047"/>
            <a:ext cx="862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solidFill>
                  <a:schemeClr val="tx1"/>
                </a:solidFill>
              </a:rPr>
              <a:t>A - B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A6D01BFE-7BBF-8AC5-BDF5-766FD3BA272A}"/>
              </a:ext>
            </a:extLst>
          </p:cNvPr>
          <p:cNvCxnSpPr>
            <a:cxnSpLocks/>
          </p:cNvCxnSpPr>
          <p:nvPr/>
        </p:nvCxnSpPr>
        <p:spPr>
          <a:xfrm>
            <a:off x="7096593" y="4322136"/>
            <a:ext cx="433762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1907E6B6-6638-4FE0-16B1-1E1B357EAC00}"/>
              </a:ext>
            </a:extLst>
          </p:cNvPr>
          <p:cNvCxnSpPr>
            <a:cxnSpLocks/>
          </p:cNvCxnSpPr>
          <p:nvPr/>
        </p:nvCxnSpPr>
        <p:spPr>
          <a:xfrm>
            <a:off x="7096593" y="4731543"/>
            <a:ext cx="433762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DF589508-8FEB-7191-3A59-FE378B9CF949}"/>
              </a:ext>
            </a:extLst>
          </p:cNvPr>
          <p:cNvCxnSpPr>
            <a:cxnSpLocks/>
          </p:cNvCxnSpPr>
          <p:nvPr/>
        </p:nvCxnSpPr>
        <p:spPr>
          <a:xfrm>
            <a:off x="7096593" y="5135117"/>
            <a:ext cx="433762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500"/>
                            </p:stCondLst>
                            <p:childTnLst>
                              <p:par>
                                <p:cTn id="1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0" grpId="0" animBg="1"/>
      <p:bldP spid="11" grpId="0"/>
      <p:bldP spid="15" grpId="0"/>
      <p:bldP spid="3" grpId="0" animBg="1"/>
      <p:bldP spid="7" grpId="0"/>
      <p:bldP spid="9" grpId="0"/>
      <p:bldP spid="13" grpId="0"/>
      <p:bldP spid="21" grpId="0"/>
      <p:bldP spid="32" grpId="0" animBg="1"/>
      <p:bldP spid="52" grpId="0"/>
      <p:bldP spid="53" grpId="0"/>
      <p:bldP spid="54" grpId="0"/>
      <p:bldP spid="6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multiplicar un monomio por un polinomio</a:t>
            </a:r>
            <a:r>
              <a:rPr lang="es-ES" sz="2000" b="1" dirty="0"/>
              <a:t>, se multiplica el monomio por</a:t>
            </a:r>
          </a:p>
          <a:p>
            <a:r>
              <a:rPr lang="es-ES" sz="2000" b="1" dirty="0"/>
              <a:t>cada término del polinomio y se suman los resultados.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A31969E-73E3-542E-407D-92C055C06D0B}"/>
                  </a:ext>
                </a:extLst>
              </p:cNvPr>
              <p:cNvSpPr txBox="1"/>
              <p:nvPr/>
            </p:nvSpPr>
            <p:spPr>
              <a:xfrm>
                <a:off x="1542034" y="1894155"/>
                <a:ext cx="9107931" cy="508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sSup>
                                <m:sSup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s-ES" sz="2000" b="1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𝟔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A31969E-73E3-542E-407D-92C055C06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034" y="1894155"/>
                <a:ext cx="9107931" cy="5084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!Marco 10">
            <a:extLst>
              <a:ext uri="{FF2B5EF4-FFF2-40B4-BE49-F238E27FC236}">
                <a16:creationId xmlns:a16="http://schemas.microsoft.com/office/drawing/2014/main" id="{7B9B2D9B-D8A3-9802-018E-6BF9E33ED030}"/>
              </a:ext>
            </a:extLst>
          </p:cNvPr>
          <p:cNvSpPr/>
          <p:nvPr/>
        </p:nvSpPr>
        <p:spPr>
          <a:xfrm>
            <a:off x="535084" y="2536218"/>
            <a:ext cx="11121832" cy="101566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!CuadroTexto 1">
            <a:extLst>
              <a:ext uri="{FF2B5EF4-FFF2-40B4-BE49-F238E27FC236}">
                <a16:creationId xmlns:a16="http://schemas.microsoft.com/office/drawing/2014/main" id="{4A13357F-C732-ECE9-8F7B-40A59A33FCE0}"/>
              </a:ext>
            </a:extLst>
          </p:cNvPr>
          <p:cNvSpPr txBox="1"/>
          <p:nvPr/>
        </p:nvSpPr>
        <p:spPr>
          <a:xfrm>
            <a:off x="535084" y="2536219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multiplicar dos polinomios</a:t>
            </a:r>
            <a:r>
              <a:rPr lang="es-ES" sz="2000" b="1" dirty="0"/>
              <a:t>, se multiplica cada monomio de uno de los factores por todos y cada uno de los monomios del otro factor y, después, se suman los monomios semejantes obtenidos.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F58C6EFD-6B95-E286-8536-DDF3ADD43776}"/>
                  </a:ext>
                </a:extLst>
              </p:cNvPr>
              <p:cNvSpPr txBox="1"/>
              <p:nvPr/>
            </p:nvSpPr>
            <p:spPr>
              <a:xfrm>
                <a:off x="535084" y="3605978"/>
                <a:ext cx="11121832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EJEMPLO: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𝑺𝒆𝒂𝒏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F58C6EFD-6B95-E286-8536-DDF3ADD43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3605978"/>
                <a:ext cx="11121832" cy="407099"/>
              </a:xfrm>
              <a:prstGeom prst="rect">
                <a:avLst/>
              </a:prstGeom>
              <a:blipFill>
                <a:blip r:embed="rId7"/>
                <a:stretch>
                  <a:fillRect l="-603" t="-7576" b="-2727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upo 64">
            <a:extLst>
              <a:ext uri="{FF2B5EF4-FFF2-40B4-BE49-F238E27FC236}">
                <a16:creationId xmlns:a16="http://schemas.microsoft.com/office/drawing/2014/main" id="{37DCED7D-8CB9-866A-A517-6CFA05B75482}"/>
              </a:ext>
            </a:extLst>
          </p:cNvPr>
          <p:cNvGrpSpPr/>
          <p:nvPr/>
        </p:nvGrpSpPr>
        <p:grpSpPr>
          <a:xfrm>
            <a:off x="3850817" y="4191217"/>
            <a:ext cx="2572408" cy="427292"/>
            <a:chOff x="1932355" y="4120896"/>
            <a:chExt cx="2572408" cy="427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895DC7FA-A918-E74E-D6FB-748C22D4429F}"/>
                    </a:ext>
                  </a:extLst>
                </p:cNvPr>
                <p:cNvSpPr txBox="1"/>
                <p:nvPr/>
              </p:nvSpPr>
              <p:spPr>
                <a:xfrm>
                  <a:off x="1932355" y="4141089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895DC7FA-A918-E74E-D6FB-748C22D442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2355" y="4141089"/>
                  <a:ext cx="593724" cy="4070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05DD7EFB-790C-1669-EC2E-87408C61F8E9}"/>
                    </a:ext>
                  </a:extLst>
                </p:cNvPr>
                <p:cNvSpPr txBox="1"/>
                <p:nvPr/>
              </p:nvSpPr>
              <p:spPr>
                <a:xfrm>
                  <a:off x="2450530" y="4120897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05DD7EFB-790C-1669-EC2E-87408C61F8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0530" y="4120897"/>
                  <a:ext cx="593724" cy="407099"/>
                </a:xfrm>
                <a:prstGeom prst="rect">
                  <a:avLst/>
                </a:prstGeom>
                <a:blipFill>
                  <a:blip r:embed="rId9"/>
                  <a:stretch>
                    <a:fillRect r="-2886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55BBC8B1-7E62-4CC1-885F-A5F997E4280C}"/>
                    </a:ext>
                  </a:extLst>
                </p:cNvPr>
                <p:cNvSpPr txBox="1"/>
                <p:nvPr/>
              </p:nvSpPr>
              <p:spPr>
                <a:xfrm>
                  <a:off x="3911039" y="4120896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55BBC8B1-7E62-4CC1-885F-A5F997E428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1039" y="4120896"/>
                  <a:ext cx="593724" cy="4070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10E9809B-EE63-DE57-1382-F9290510E9AF}"/>
              </a:ext>
            </a:extLst>
          </p:cNvPr>
          <p:cNvGrpSpPr/>
          <p:nvPr/>
        </p:nvGrpSpPr>
        <p:grpSpPr>
          <a:xfrm>
            <a:off x="5163640" y="4598315"/>
            <a:ext cx="1272285" cy="407101"/>
            <a:chOff x="3245178" y="4527994"/>
            <a:chExt cx="1272285" cy="4071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3B4F322D-9DB2-15C3-3B4C-10441D7747FC}"/>
                    </a:ext>
                  </a:extLst>
                </p:cNvPr>
                <p:cNvSpPr txBox="1"/>
                <p:nvPr/>
              </p:nvSpPr>
              <p:spPr>
                <a:xfrm>
                  <a:off x="3245178" y="4527996"/>
                  <a:ext cx="791287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3B4F322D-9DB2-15C3-3B4C-10441D7747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5178" y="4527996"/>
                  <a:ext cx="791287" cy="4070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EF076FDB-3BBB-6C03-88D5-1CE4C91ABE58}"/>
                    </a:ext>
                  </a:extLst>
                </p:cNvPr>
                <p:cNvSpPr txBox="1"/>
                <p:nvPr/>
              </p:nvSpPr>
              <p:spPr>
                <a:xfrm>
                  <a:off x="3923739" y="4527994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EF076FDB-3BBB-6C03-88D5-1CE4C91AB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739" y="4527994"/>
                  <a:ext cx="593724" cy="4070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CFD71930-8DC2-F32A-4B75-D7869FD9BFAD}"/>
              </a:ext>
            </a:extLst>
          </p:cNvPr>
          <p:cNvCxnSpPr>
            <a:cxnSpLocks/>
          </p:cNvCxnSpPr>
          <p:nvPr/>
        </p:nvCxnSpPr>
        <p:spPr>
          <a:xfrm>
            <a:off x="2919413" y="5018454"/>
            <a:ext cx="3660696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Grupo 73">
            <a:extLst>
              <a:ext uri="{FF2B5EF4-FFF2-40B4-BE49-F238E27FC236}">
                <a16:creationId xmlns:a16="http://schemas.microsoft.com/office/drawing/2014/main" id="{6A0A18D2-4E5F-CDAD-AFA2-A7954ECE5016}"/>
              </a:ext>
            </a:extLst>
          </p:cNvPr>
          <p:cNvGrpSpPr/>
          <p:nvPr/>
        </p:nvGrpSpPr>
        <p:grpSpPr>
          <a:xfrm>
            <a:off x="3487365" y="4997055"/>
            <a:ext cx="2906072" cy="411933"/>
            <a:chOff x="1568903" y="4926734"/>
            <a:chExt cx="2906072" cy="4119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51E17609-CF63-A818-4E41-73073F2BE1C2}"/>
                    </a:ext>
                  </a:extLst>
                </p:cNvPr>
                <p:cNvSpPr txBox="1"/>
                <p:nvPr/>
              </p:nvSpPr>
              <p:spPr>
                <a:xfrm>
                  <a:off x="2439421" y="4931568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51E17609-CF63-A818-4E41-73073F2BE1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9421" y="4931568"/>
                  <a:ext cx="593724" cy="407099"/>
                </a:xfrm>
                <a:prstGeom prst="rect">
                  <a:avLst/>
                </a:prstGeom>
                <a:blipFill>
                  <a:blip r:embed="rId13"/>
                  <a:stretch>
                    <a:fillRect r="-2886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BB0B2985-5B08-454A-1B7E-0441AF13C889}"/>
                    </a:ext>
                  </a:extLst>
                </p:cNvPr>
                <p:cNvSpPr txBox="1"/>
                <p:nvPr/>
              </p:nvSpPr>
              <p:spPr>
                <a:xfrm>
                  <a:off x="1568903" y="4926734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𝟏𝟓</m:t>
                            </m:r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BB0B2985-5B08-454A-1B7E-0441AF13C8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8903" y="4926734"/>
                  <a:ext cx="593724" cy="407099"/>
                </a:xfrm>
                <a:prstGeom prst="rect">
                  <a:avLst/>
                </a:prstGeom>
                <a:blipFill>
                  <a:blip r:embed="rId14"/>
                  <a:stretch>
                    <a:fillRect r="-54639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F5BCBD0A-37A0-F09E-DC29-80FE36E47983}"/>
                    </a:ext>
                  </a:extLst>
                </p:cNvPr>
                <p:cNvSpPr txBox="1"/>
                <p:nvPr/>
              </p:nvSpPr>
              <p:spPr>
                <a:xfrm>
                  <a:off x="3881251" y="4931568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F5BCBD0A-37A0-F09E-DC29-80FE36E479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1251" y="4931568"/>
                  <a:ext cx="593724" cy="4070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9" name="CuadroTexto 78">
            <a:extLst>
              <a:ext uri="{FF2B5EF4-FFF2-40B4-BE49-F238E27FC236}">
                <a16:creationId xmlns:a16="http://schemas.microsoft.com/office/drawing/2014/main" id="{DE2FCED7-F31A-C3CE-DA01-FE60B97094FE}"/>
              </a:ext>
            </a:extLst>
          </p:cNvPr>
          <p:cNvSpPr txBox="1"/>
          <p:nvPr/>
        </p:nvSpPr>
        <p:spPr>
          <a:xfrm>
            <a:off x="7164728" y="4223150"/>
            <a:ext cx="364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P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2D978F7B-27B3-EF37-D539-47FD9A728644}"/>
              </a:ext>
            </a:extLst>
          </p:cNvPr>
          <p:cNvSpPr txBox="1"/>
          <p:nvPr/>
        </p:nvSpPr>
        <p:spPr>
          <a:xfrm>
            <a:off x="7164728" y="4632557"/>
            <a:ext cx="364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Q</a:t>
            </a:r>
          </a:p>
        </p:txBody>
      </p: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382C2056-7F36-3082-B788-00CF7027C106}"/>
              </a:ext>
            </a:extLst>
          </p:cNvPr>
          <p:cNvCxnSpPr>
            <a:cxnSpLocks/>
          </p:cNvCxnSpPr>
          <p:nvPr/>
        </p:nvCxnSpPr>
        <p:spPr>
          <a:xfrm flipH="1" flipV="1">
            <a:off x="6682271" y="4414960"/>
            <a:ext cx="433762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6FC88A4A-08C0-C67A-22F8-64376DD56961}"/>
              </a:ext>
            </a:extLst>
          </p:cNvPr>
          <p:cNvCxnSpPr>
            <a:cxnSpLocks/>
          </p:cNvCxnSpPr>
          <p:nvPr/>
        </p:nvCxnSpPr>
        <p:spPr>
          <a:xfrm flipH="1" flipV="1">
            <a:off x="6682271" y="4824367"/>
            <a:ext cx="433762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9DE67DD1-4773-8832-CCAE-8E1B89355F9C}"/>
              </a:ext>
            </a:extLst>
          </p:cNvPr>
          <p:cNvCxnSpPr>
            <a:cxnSpLocks/>
          </p:cNvCxnSpPr>
          <p:nvPr/>
        </p:nvCxnSpPr>
        <p:spPr>
          <a:xfrm flipH="1" flipV="1">
            <a:off x="6682271" y="5200605"/>
            <a:ext cx="433762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8" name="Grupo 87">
            <a:extLst>
              <a:ext uri="{FF2B5EF4-FFF2-40B4-BE49-F238E27FC236}">
                <a16:creationId xmlns:a16="http://schemas.microsoft.com/office/drawing/2014/main" id="{C43FB5CF-DB7D-3FD4-6510-78AC82206B56}"/>
              </a:ext>
            </a:extLst>
          </p:cNvPr>
          <p:cNvGrpSpPr/>
          <p:nvPr/>
        </p:nvGrpSpPr>
        <p:grpSpPr>
          <a:xfrm>
            <a:off x="2850676" y="5405359"/>
            <a:ext cx="2865437" cy="407099"/>
            <a:chOff x="1719076" y="4931568"/>
            <a:chExt cx="2865437" cy="4070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CuadroTexto 89">
                  <a:extLst>
                    <a:ext uri="{FF2B5EF4-FFF2-40B4-BE49-F238E27FC236}">
                      <a16:creationId xmlns:a16="http://schemas.microsoft.com/office/drawing/2014/main" id="{1C177F29-3E06-C6C6-0445-FC2DEE3BA331}"/>
                    </a:ext>
                  </a:extLst>
                </p:cNvPr>
                <p:cNvSpPr txBox="1"/>
                <p:nvPr/>
              </p:nvSpPr>
              <p:spPr>
                <a:xfrm>
                  <a:off x="2353697" y="4931568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90" name="CuadroTexto 89">
                  <a:extLst>
                    <a:ext uri="{FF2B5EF4-FFF2-40B4-BE49-F238E27FC236}">
                      <a16:creationId xmlns:a16="http://schemas.microsoft.com/office/drawing/2014/main" id="{1C177F29-3E06-C6C6-0445-FC2DEE3BA3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3697" y="4931568"/>
                  <a:ext cx="593724" cy="407099"/>
                </a:xfrm>
                <a:prstGeom prst="rect">
                  <a:avLst/>
                </a:prstGeom>
                <a:blipFill>
                  <a:blip r:embed="rId16"/>
                  <a:stretch>
                    <a:fillRect r="-54639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CuadroTexto 90">
                  <a:extLst>
                    <a:ext uri="{FF2B5EF4-FFF2-40B4-BE49-F238E27FC236}">
                      <a16:creationId xmlns:a16="http://schemas.microsoft.com/office/drawing/2014/main" id="{911B8260-90D9-0E48-F766-6F328D4527C1}"/>
                    </a:ext>
                  </a:extLst>
                </p:cNvPr>
                <p:cNvSpPr txBox="1"/>
                <p:nvPr/>
              </p:nvSpPr>
              <p:spPr>
                <a:xfrm>
                  <a:off x="1719076" y="4931568"/>
                  <a:ext cx="593724" cy="4062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91" name="CuadroTexto 90">
                  <a:extLst>
                    <a:ext uri="{FF2B5EF4-FFF2-40B4-BE49-F238E27FC236}">
                      <a16:creationId xmlns:a16="http://schemas.microsoft.com/office/drawing/2014/main" id="{911B8260-90D9-0E48-F766-6F328D452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9076" y="4931568"/>
                  <a:ext cx="593724" cy="406265"/>
                </a:xfrm>
                <a:prstGeom prst="rect">
                  <a:avLst/>
                </a:prstGeom>
                <a:blipFill>
                  <a:blip r:embed="rId17"/>
                  <a:stretch>
                    <a:fillRect r="-2268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CuadroTexto 91">
                  <a:extLst>
                    <a:ext uri="{FF2B5EF4-FFF2-40B4-BE49-F238E27FC236}">
                      <a16:creationId xmlns:a16="http://schemas.microsoft.com/office/drawing/2014/main" id="{A71FF65D-CC0F-B08D-CDF5-DD965219F071}"/>
                    </a:ext>
                  </a:extLst>
                </p:cNvPr>
                <p:cNvSpPr txBox="1"/>
                <p:nvPr/>
              </p:nvSpPr>
              <p:spPr>
                <a:xfrm>
                  <a:off x="3990789" y="4931568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92" name="CuadroTexto 91">
                  <a:extLst>
                    <a:ext uri="{FF2B5EF4-FFF2-40B4-BE49-F238E27FC236}">
                      <a16:creationId xmlns:a16="http://schemas.microsoft.com/office/drawing/2014/main" id="{A71FF65D-CC0F-B08D-CDF5-DD965219F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0789" y="4931568"/>
                  <a:ext cx="593724" cy="407099"/>
                </a:xfrm>
                <a:prstGeom prst="rect">
                  <a:avLst/>
                </a:prstGeom>
                <a:blipFill>
                  <a:blip r:embed="rId18"/>
                  <a:stretch>
                    <a:fillRect r="-12245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F2D8082C-A245-D66B-170B-511414C9BFDC}"/>
              </a:ext>
            </a:extLst>
          </p:cNvPr>
          <p:cNvCxnSpPr>
            <a:cxnSpLocks/>
          </p:cNvCxnSpPr>
          <p:nvPr/>
        </p:nvCxnSpPr>
        <p:spPr>
          <a:xfrm>
            <a:off x="2919413" y="5825131"/>
            <a:ext cx="3660696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CuadroTexto 95">
            <a:extLst>
              <a:ext uri="{FF2B5EF4-FFF2-40B4-BE49-F238E27FC236}">
                <a16:creationId xmlns:a16="http://schemas.microsoft.com/office/drawing/2014/main" id="{2884E494-3475-B3A0-CBBE-F57F79A01653}"/>
              </a:ext>
            </a:extLst>
          </p:cNvPr>
          <p:cNvSpPr txBox="1"/>
          <p:nvPr/>
        </p:nvSpPr>
        <p:spPr>
          <a:xfrm>
            <a:off x="7160268" y="5026213"/>
            <a:ext cx="273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Producto de -3 por P</a:t>
            </a:r>
          </a:p>
        </p:txBody>
      </p: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65740DDA-F567-7B88-E6BE-E4DFA704163C}"/>
              </a:ext>
            </a:extLst>
          </p:cNvPr>
          <p:cNvCxnSpPr>
            <a:cxnSpLocks/>
          </p:cNvCxnSpPr>
          <p:nvPr/>
        </p:nvCxnSpPr>
        <p:spPr>
          <a:xfrm flipH="1" flipV="1">
            <a:off x="6682271" y="5616796"/>
            <a:ext cx="433762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CuadroTexto 97">
            <a:extLst>
              <a:ext uri="{FF2B5EF4-FFF2-40B4-BE49-F238E27FC236}">
                <a16:creationId xmlns:a16="http://schemas.microsoft.com/office/drawing/2014/main" id="{28A695EE-7E02-6BCB-4CE0-304D60501155}"/>
              </a:ext>
            </a:extLst>
          </p:cNvPr>
          <p:cNvSpPr txBox="1"/>
          <p:nvPr/>
        </p:nvSpPr>
        <p:spPr>
          <a:xfrm>
            <a:off x="7160268" y="5436054"/>
            <a:ext cx="273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Producto de 6x por P</a:t>
            </a:r>
          </a:p>
        </p:txBody>
      </p: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02DF3EC2-9D72-294C-37FA-C919ADAA8CB7}"/>
              </a:ext>
            </a:extLst>
          </p:cNvPr>
          <p:cNvGrpSpPr/>
          <p:nvPr/>
        </p:nvGrpSpPr>
        <p:grpSpPr>
          <a:xfrm>
            <a:off x="2850676" y="5868679"/>
            <a:ext cx="3542761" cy="407099"/>
            <a:chOff x="1002826" y="5917076"/>
            <a:chExt cx="3542761" cy="4070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CuadroTexto 99">
                  <a:extLst>
                    <a:ext uri="{FF2B5EF4-FFF2-40B4-BE49-F238E27FC236}">
                      <a16:creationId xmlns:a16="http://schemas.microsoft.com/office/drawing/2014/main" id="{2D0DBA81-70CF-AA6F-36B6-E93AA0595A4E}"/>
                    </a:ext>
                  </a:extLst>
                </p:cNvPr>
                <p:cNvSpPr txBox="1"/>
                <p:nvPr/>
              </p:nvSpPr>
              <p:spPr>
                <a:xfrm>
                  <a:off x="1637447" y="5917076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𝟐𝟕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100" name="CuadroTexto 99">
                  <a:extLst>
                    <a:ext uri="{FF2B5EF4-FFF2-40B4-BE49-F238E27FC236}">
                      <a16:creationId xmlns:a16="http://schemas.microsoft.com/office/drawing/2014/main" id="{2D0DBA81-70CF-AA6F-36B6-E93AA0595A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7447" y="5917076"/>
                  <a:ext cx="593724" cy="407099"/>
                </a:xfrm>
                <a:prstGeom prst="rect">
                  <a:avLst/>
                </a:prstGeom>
                <a:blipFill>
                  <a:blip r:embed="rId19"/>
                  <a:stretch>
                    <a:fillRect r="-54639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CuadroTexto 100">
                  <a:extLst>
                    <a:ext uri="{FF2B5EF4-FFF2-40B4-BE49-F238E27FC236}">
                      <a16:creationId xmlns:a16="http://schemas.microsoft.com/office/drawing/2014/main" id="{F1C4084C-B1A7-E9B0-35E5-E34410404328}"/>
                    </a:ext>
                  </a:extLst>
                </p:cNvPr>
                <p:cNvSpPr txBox="1"/>
                <p:nvPr/>
              </p:nvSpPr>
              <p:spPr>
                <a:xfrm>
                  <a:off x="1002826" y="5917493"/>
                  <a:ext cx="593724" cy="4062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101" name="CuadroTexto 100">
                  <a:extLst>
                    <a:ext uri="{FF2B5EF4-FFF2-40B4-BE49-F238E27FC236}">
                      <a16:creationId xmlns:a16="http://schemas.microsoft.com/office/drawing/2014/main" id="{F1C4084C-B1A7-E9B0-35E5-E344104043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826" y="5917493"/>
                  <a:ext cx="593724" cy="406265"/>
                </a:xfrm>
                <a:prstGeom prst="rect">
                  <a:avLst/>
                </a:prstGeom>
                <a:blipFill>
                  <a:blip r:embed="rId20"/>
                  <a:stretch>
                    <a:fillRect r="-2268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CuadroTexto 101">
                  <a:extLst>
                    <a:ext uri="{FF2B5EF4-FFF2-40B4-BE49-F238E27FC236}">
                      <a16:creationId xmlns:a16="http://schemas.microsoft.com/office/drawing/2014/main" id="{0917B8D7-EB4F-ECC7-1760-2E17CCB70022}"/>
                    </a:ext>
                  </a:extLst>
                </p:cNvPr>
                <p:cNvSpPr txBox="1"/>
                <p:nvPr/>
              </p:nvSpPr>
              <p:spPr>
                <a:xfrm>
                  <a:off x="3274539" y="5917076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102" name="CuadroTexto 101">
                  <a:extLst>
                    <a:ext uri="{FF2B5EF4-FFF2-40B4-BE49-F238E27FC236}">
                      <a16:creationId xmlns:a16="http://schemas.microsoft.com/office/drawing/2014/main" id="{0917B8D7-EB4F-ECC7-1760-2E17CCB70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4539" y="5917076"/>
                  <a:ext cx="593724" cy="407099"/>
                </a:xfrm>
                <a:prstGeom prst="rect">
                  <a:avLst/>
                </a:prstGeom>
                <a:blipFill>
                  <a:blip r:embed="rId21"/>
                  <a:stretch>
                    <a:fillRect r="-12245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CuadroTexto 102">
                  <a:extLst>
                    <a:ext uri="{FF2B5EF4-FFF2-40B4-BE49-F238E27FC236}">
                      <a16:creationId xmlns:a16="http://schemas.microsoft.com/office/drawing/2014/main" id="{2B8CF7F5-5110-47BC-F74B-E75283431798}"/>
                    </a:ext>
                  </a:extLst>
                </p:cNvPr>
                <p:cNvSpPr txBox="1"/>
                <p:nvPr/>
              </p:nvSpPr>
              <p:spPr>
                <a:xfrm>
                  <a:off x="2521142" y="5917076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s-E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103" name="CuadroTexto 102">
                  <a:extLst>
                    <a:ext uri="{FF2B5EF4-FFF2-40B4-BE49-F238E27FC236}">
                      <a16:creationId xmlns:a16="http://schemas.microsoft.com/office/drawing/2014/main" id="{2B8CF7F5-5110-47BC-F74B-E752834317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1142" y="5917076"/>
                  <a:ext cx="593724" cy="407099"/>
                </a:xfrm>
                <a:prstGeom prst="rect">
                  <a:avLst/>
                </a:prstGeom>
                <a:blipFill>
                  <a:blip r:embed="rId22"/>
                  <a:stretch>
                    <a:fillRect r="-2886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CuadroTexto 103">
                  <a:extLst>
                    <a:ext uri="{FF2B5EF4-FFF2-40B4-BE49-F238E27FC236}">
                      <a16:creationId xmlns:a16="http://schemas.microsoft.com/office/drawing/2014/main" id="{672165A3-FDA8-9BDF-E7BF-1490C28D9FD2}"/>
                    </a:ext>
                  </a:extLst>
                </p:cNvPr>
                <p:cNvSpPr txBox="1"/>
                <p:nvPr/>
              </p:nvSpPr>
              <p:spPr>
                <a:xfrm>
                  <a:off x="3951863" y="5917076"/>
                  <a:ext cx="593724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104" name="CuadroTexto 103">
                  <a:extLst>
                    <a:ext uri="{FF2B5EF4-FFF2-40B4-BE49-F238E27FC236}">
                      <a16:creationId xmlns:a16="http://schemas.microsoft.com/office/drawing/2014/main" id="{672165A3-FDA8-9BDF-E7BF-1490C28D9F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1863" y="5917076"/>
                  <a:ext cx="593724" cy="4070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53734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7" grpId="0"/>
      <p:bldP spid="20" grpId="0" animBg="1"/>
      <p:bldP spid="22" grpId="0"/>
      <p:bldP spid="24" grpId="0"/>
      <p:bldP spid="79" grpId="0"/>
      <p:bldP spid="80" grpId="0"/>
      <p:bldP spid="96" grpId="0"/>
      <p:bldP spid="9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multiplicar un monomio por un polinomio</a:t>
            </a:r>
            <a:r>
              <a:rPr lang="es-ES" sz="2000" b="1" dirty="0"/>
              <a:t>, se multiplica el monomio por</a:t>
            </a:r>
          </a:p>
          <a:p>
            <a:r>
              <a:rPr lang="es-ES" sz="2000" b="1" dirty="0"/>
              <a:t>cada término del polinomio y se suman los resultados.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A31969E-73E3-542E-407D-92C055C06D0B}"/>
                  </a:ext>
                </a:extLst>
              </p:cNvPr>
              <p:cNvSpPr txBox="1"/>
              <p:nvPr/>
            </p:nvSpPr>
            <p:spPr>
              <a:xfrm>
                <a:off x="1542034" y="1894155"/>
                <a:ext cx="9107931" cy="508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sSup>
                                <m:sSup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s-ES" sz="2000" b="1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𝟔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A31969E-73E3-542E-407D-92C055C06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034" y="1894155"/>
                <a:ext cx="9107931" cy="5084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!Marco 10">
            <a:extLst>
              <a:ext uri="{FF2B5EF4-FFF2-40B4-BE49-F238E27FC236}">
                <a16:creationId xmlns:a16="http://schemas.microsoft.com/office/drawing/2014/main" id="{7B9B2D9B-D8A3-9802-018E-6BF9E33ED030}"/>
              </a:ext>
            </a:extLst>
          </p:cNvPr>
          <p:cNvSpPr/>
          <p:nvPr/>
        </p:nvSpPr>
        <p:spPr>
          <a:xfrm>
            <a:off x="535084" y="2536218"/>
            <a:ext cx="11121832" cy="101566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!CuadroTexto 1">
            <a:extLst>
              <a:ext uri="{FF2B5EF4-FFF2-40B4-BE49-F238E27FC236}">
                <a16:creationId xmlns:a16="http://schemas.microsoft.com/office/drawing/2014/main" id="{4A13357F-C732-ECE9-8F7B-40A59A33FCE0}"/>
              </a:ext>
            </a:extLst>
          </p:cNvPr>
          <p:cNvSpPr txBox="1"/>
          <p:nvPr/>
        </p:nvSpPr>
        <p:spPr>
          <a:xfrm>
            <a:off x="535084" y="2536219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multiplicar dos polinomios</a:t>
            </a:r>
            <a:r>
              <a:rPr lang="es-ES" sz="2000" b="1" dirty="0"/>
              <a:t>, se multiplica cada monomio de uno de los factores por todos y cada uno de los monomios del otro factor y, después, se suman los monomios semejantes obtenidos.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F58C6EFD-6B95-E286-8536-DDF3ADD43776}"/>
                  </a:ext>
                </a:extLst>
              </p:cNvPr>
              <p:cNvSpPr txBox="1"/>
              <p:nvPr/>
            </p:nvSpPr>
            <p:spPr>
              <a:xfrm>
                <a:off x="535084" y="3605978"/>
                <a:ext cx="5198966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EJEMPLO: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𝑺𝒆𝒂𝒏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r>
                      <a:rPr lang="es-E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F58C6EFD-6B95-E286-8536-DDF3ADD43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3605978"/>
                <a:ext cx="5198966" cy="407099"/>
              </a:xfrm>
              <a:prstGeom prst="rect">
                <a:avLst/>
              </a:prstGeom>
              <a:blipFill>
                <a:blip r:embed="rId7"/>
                <a:stretch>
                  <a:fillRect l="-1290" t="-7576" b="-2727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FE9DFA4-EF60-B3FF-2178-D47AFCCD22D2}"/>
                  </a:ext>
                </a:extLst>
              </p:cNvPr>
              <p:cNvSpPr txBox="1"/>
              <p:nvPr/>
            </p:nvSpPr>
            <p:spPr>
              <a:xfrm>
                <a:off x="3272272" y="4574307"/>
                <a:ext cx="3081338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s-E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)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s-E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400" b="1" dirty="0"/>
                  <a:t> 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FE9DFA4-EF60-B3FF-2178-D47AFCCD2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272" y="4574307"/>
                <a:ext cx="3081338" cy="47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upo 18">
            <a:extLst>
              <a:ext uri="{FF2B5EF4-FFF2-40B4-BE49-F238E27FC236}">
                <a16:creationId xmlns:a16="http://schemas.microsoft.com/office/drawing/2014/main" id="{0B46C16F-E3FC-D935-5D40-1C349A2425A7}"/>
              </a:ext>
            </a:extLst>
          </p:cNvPr>
          <p:cNvGrpSpPr/>
          <p:nvPr/>
        </p:nvGrpSpPr>
        <p:grpSpPr>
          <a:xfrm>
            <a:off x="3627874" y="4371975"/>
            <a:ext cx="2286000" cy="297656"/>
            <a:chOff x="3416300" y="4483745"/>
            <a:chExt cx="1522413" cy="185886"/>
          </a:xfrm>
        </p:grpSpPr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E937692E-2AE8-6A8E-5A30-2BC00A0C20B7}"/>
                </a:ext>
              </a:extLst>
            </p:cNvPr>
            <p:cNvCxnSpPr>
              <a:cxnSpLocks/>
            </p:cNvCxnSpPr>
            <p:nvPr/>
          </p:nvCxnSpPr>
          <p:spPr>
            <a:xfrm>
              <a:off x="3416300" y="4483820"/>
              <a:ext cx="0" cy="185811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EDBFE2E7-84B5-7CA4-ABA1-FEF3508592FF}"/>
                </a:ext>
              </a:extLst>
            </p:cNvPr>
            <p:cNvCxnSpPr>
              <a:cxnSpLocks/>
            </p:cNvCxnSpPr>
            <p:nvPr/>
          </p:nvCxnSpPr>
          <p:spPr>
            <a:xfrm>
              <a:off x="3416300" y="4483820"/>
              <a:ext cx="1522413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14A79D4A-5AA6-E078-4F82-6507CED36ABF}"/>
                </a:ext>
              </a:extLst>
            </p:cNvPr>
            <p:cNvCxnSpPr>
              <a:cxnSpLocks/>
            </p:cNvCxnSpPr>
            <p:nvPr/>
          </p:nvCxnSpPr>
          <p:spPr>
            <a:xfrm>
              <a:off x="4938713" y="4483745"/>
              <a:ext cx="0" cy="185886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FCC9B25-8B59-F85E-D277-FE65D751743B}"/>
              </a:ext>
            </a:extLst>
          </p:cNvPr>
          <p:cNvGrpSpPr/>
          <p:nvPr/>
        </p:nvGrpSpPr>
        <p:grpSpPr>
          <a:xfrm>
            <a:off x="3762812" y="4483745"/>
            <a:ext cx="1536698" cy="185886"/>
            <a:chOff x="3416300" y="4483745"/>
            <a:chExt cx="1522413" cy="185886"/>
          </a:xfrm>
        </p:grpSpPr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8119D109-8378-616D-237D-F85519C42577}"/>
                </a:ext>
              </a:extLst>
            </p:cNvPr>
            <p:cNvCxnSpPr>
              <a:cxnSpLocks/>
            </p:cNvCxnSpPr>
            <p:nvPr/>
          </p:nvCxnSpPr>
          <p:spPr>
            <a:xfrm>
              <a:off x="3416300" y="4483820"/>
              <a:ext cx="0" cy="185811"/>
            </a:xfrm>
            <a:prstGeom prst="line">
              <a:avLst/>
            </a:prstGeom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FA49799E-F86C-40D0-2D7E-3E25D0D3178B}"/>
                </a:ext>
              </a:extLst>
            </p:cNvPr>
            <p:cNvCxnSpPr>
              <a:cxnSpLocks/>
            </p:cNvCxnSpPr>
            <p:nvPr/>
          </p:nvCxnSpPr>
          <p:spPr>
            <a:xfrm>
              <a:off x="3416300" y="4483820"/>
              <a:ext cx="1522413" cy="0"/>
            </a:xfrm>
            <a:prstGeom prst="line">
              <a:avLst/>
            </a:prstGeom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976725D5-6015-17C3-09F3-11989DD1714A}"/>
                </a:ext>
              </a:extLst>
            </p:cNvPr>
            <p:cNvCxnSpPr>
              <a:cxnSpLocks/>
            </p:cNvCxnSpPr>
            <p:nvPr/>
          </p:nvCxnSpPr>
          <p:spPr>
            <a:xfrm>
              <a:off x="4938713" y="4483745"/>
              <a:ext cx="0" cy="185886"/>
            </a:xfrm>
            <a:prstGeom prst="line">
              <a:avLst/>
            </a:prstGeom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CD65E856-A2B3-1602-01E9-417B539800DA}"/>
              </a:ext>
            </a:extLst>
          </p:cNvPr>
          <p:cNvGrpSpPr/>
          <p:nvPr/>
        </p:nvGrpSpPr>
        <p:grpSpPr>
          <a:xfrm flipV="1">
            <a:off x="4492267" y="5041865"/>
            <a:ext cx="785812" cy="151162"/>
            <a:chOff x="3416300" y="4483745"/>
            <a:chExt cx="1522413" cy="185886"/>
          </a:xfrm>
        </p:grpSpPr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8F730BA8-E96A-06A0-8025-907CD971EBB6}"/>
                </a:ext>
              </a:extLst>
            </p:cNvPr>
            <p:cNvCxnSpPr>
              <a:cxnSpLocks/>
            </p:cNvCxnSpPr>
            <p:nvPr/>
          </p:nvCxnSpPr>
          <p:spPr>
            <a:xfrm>
              <a:off x="3416300" y="4483820"/>
              <a:ext cx="0" cy="18581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2831BF57-8391-FCFC-6C8B-3A5CB027DD88}"/>
                </a:ext>
              </a:extLst>
            </p:cNvPr>
            <p:cNvCxnSpPr>
              <a:cxnSpLocks/>
            </p:cNvCxnSpPr>
            <p:nvPr/>
          </p:nvCxnSpPr>
          <p:spPr>
            <a:xfrm>
              <a:off x="3416300" y="4483820"/>
              <a:ext cx="1522413" cy="0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4EE7D560-6042-AF15-9A13-3359CF0A763C}"/>
                </a:ext>
              </a:extLst>
            </p:cNvPr>
            <p:cNvCxnSpPr>
              <a:cxnSpLocks/>
            </p:cNvCxnSpPr>
            <p:nvPr/>
          </p:nvCxnSpPr>
          <p:spPr>
            <a:xfrm>
              <a:off x="4938713" y="4483745"/>
              <a:ext cx="0" cy="185886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146027BB-2D8B-E4B9-A9CA-A85948712AC8}"/>
              </a:ext>
            </a:extLst>
          </p:cNvPr>
          <p:cNvGrpSpPr/>
          <p:nvPr/>
        </p:nvGrpSpPr>
        <p:grpSpPr>
          <a:xfrm flipV="1">
            <a:off x="4423209" y="5044307"/>
            <a:ext cx="1490665" cy="242068"/>
            <a:chOff x="3416300" y="4483745"/>
            <a:chExt cx="1522413" cy="185886"/>
          </a:xfrm>
        </p:grpSpPr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61968608-8CAC-8C18-95ED-7F6B752DECD5}"/>
                </a:ext>
              </a:extLst>
            </p:cNvPr>
            <p:cNvCxnSpPr>
              <a:cxnSpLocks/>
            </p:cNvCxnSpPr>
            <p:nvPr/>
          </p:nvCxnSpPr>
          <p:spPr>
            <a:xfrm>
              <a:off x="3416300" y="4483820"/>
              <a:ext cx="0" cy="185811"/>
            </a:xfrm>
            <a:prstGeom prst="line">
              <a:avLst/>
            </a:prstGeom>
            <a:ln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F3B2394E-D645-E75C-E60D-C4451BA56788}"/>
                </a:ext>
              </a:extLst>
            </p:cNvPr>
            <p:cNvCxnSpPr>
              <a:cxnSpLocks/>
            </p:cNvCxnSpPr>
            <p:nvPr/>
          </p:nvCxnSpPr>
          <p:spPr>
            <a:xfrm>
              <a:off x="3416300" y="4483820"/>
              <a:ext cx="1522413" cy="0"/>
            </a:xfrm>
            <a:prstGeom prst="line">
              <a:avLst/>
            </a:prstGeom>
            <a:ln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AE1B3E1-34FF-656C-F59D-A72BABD3C668}"/>
                </a:ext>
              </a:extLst>
            </p:cNvPr>
            <p:cNvCxnSpPr>
              <a:cxnSpLocks/>
            </p:cNvCxnSpPr>
            <p:nvPr/>
          </p:nvCxnSpPr>
          <p:spPr>
            <a:xfrm>
              <a:off x="4938713" y="4483745"/>
              <a:ext cx="0" cy="185886"/>
            </a:xfrm>
            <a:prstGeom prst="line">
              <a:avLst/>
            </a:prstGeom>
            <a:ln cap="rnd">
              <a:solidFill>
                <a:schemeClr val="accent3">
                  <a:lumMod val="60000"/>
                  <a:lumOff val="40000"/>
                </a:schemeClr>
              </a:solidFill>
              <a:round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FF236E9-33EF-C177-3EAF-A8F340D638A6}"/>
                  </a:ext>
                </a:extLst>
              </p:cNvPr>
              <p:cNvSpPr txBox="1"/>
              <p:nvPr/>
            </p:nvSpPr>
            <p:spPr>
              <a:xfrm>
                <a:off x="6028965" y="4574307"/>
                <a:ext cx="3215480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s-ES" sz="2400" b="1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400" b="1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sSup>
                        <m:sSupPr>
                          <m:ctrlP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4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FF236E9-33EF-C177-3EAF-A8F340D63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965" y="4574307"/>
                <a:ext cx="3215480" cy="47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5385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6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6CABC7-DCBF-C123-B38B-8EABC56C1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0C3FF10-FF40-0394-4D02-D1A949D6BF6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AC7B5D0-AE33-07AD-31A7-2212BA9ADFB3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16C026A1-292B-43CB-F5CD-161FB85410A9}"/>
              </a:ext>
            </a:extLst>
          </p:cNvPr>
          <p:cNvSpPr/>
          <p:nvPr/>
        </p:nvSpPr>
        <p:spPr>
          <a:xfrm>
            <a:off x="535084" y="1052614"/>
            <a:ext cx="11121832" cy="42325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CA1B6D3C-B135-EFE1-C163-46E869FC2B3F}"/>
              </a:ext>
            </a:extLst>
          </p:cNvPr>
          <p:cNvSpPr txBox="1"/>
          <p:nvPr/>
        </p:nvSpPr>
        <p:spPr>
          <a:xfrm>
            <a:off x="535084" y="105261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división de polinomios </a:t>
            </a:r>
            <a:r>
              <a:rPr lang="es-ES" sz="2000" b="1" dirty="0"/>
              <a:t>es similar a la división entera de números naturales.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3D48E281-56E4-4D1E-B095-897FE0DAC332}"/>
                  </a:ext>
                </a:extLst>
              </p:cNvPr>
              <p:cNvSpPr txBox="1"/>
              <p:nvPr/>
            </p:nvSpPr>
            <p:spPr>
              <a:xfrm>
                <a:off x="1503273" y="1606695"/>
                <a:ext cx="354991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𝟏𝟑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3D48E281-56E4-4D1E-B095-897FE0DAC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273" y="1606695"/>
                <a:ext cx="3549919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75388BF-99C3-5CDA-C12F-A7D28ED293EF}"/>
                  </a:ext>
                </a:extLst>
              </p:cNvPr>
              <p:cNvSpPr txBox="1"/>
              <p:nvPr/>
            </p:nvSpPr>
            <p:spPr>
              <a:xfrm>
                <a:off x="5564401" y="1612985"/>
                <a:ext cx="2034936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𝐐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75388BF-99C3-5CDA-C12F-A7D28ED29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401" y="1612985"/>
                <a:ext cx="2034936" cy="407099"/>
              </a:xfrm>
              <a:prstGeom prst="rect">
                <a:avLst/>
              </a:prstGeom>
              <a:blipFill>
                <a:blip r:embed="rId7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43EEFA8-5A9C-2D66-A534-13467C10E6C5}"/>
                  </a:ext>
                </a:extLst>
              </p:cNvPr>
              <p:cNvSpPr txBox="1"/>
              <p:nvPr/>
            </p:nvSpPr>
            <p:spPr>
              <a:xfrm>
                <a:off x="7715930" y="1606695"/>
                <a:ext cx="203493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𝐐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43EEFA8-5A9C-2D66-A534-13467C10E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0" y="1606695"/>
                <a:ext cx="2034936" cy="400110"/>
              </a:xfrm>
              <a:prstGeom prst="rect">
                <a:avLst/>
              </a:prstGeom>
              <a:blipFill>
                <a:blip r:embed="rId8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Grupo 70">
            <a:extLst>
              <a:ext uri="{FF2B5EF4-FFF2-40B4-BE49-F238E27FC236}">
                <a16:creationId xmlns:a16="http://schemas.microsoft.com/office/drawing/2014/main" id="{E469BDE5-A5C5-09DA-EEEB-E9586DD10106}"/>
              </a:ext>
            </a:extLst>
          </p:cNvPr>
          <p:cNvGrpSpPr/>
          <p:nvPr/>
        </p:nvGrpSpPr>
        <p:grpSpPr>
          <a:xfrm>
            <a:off x="3296094" y="2303739"/>
            <a:ext cx="4672475" cy="423595"/>
            <a:chOff x="3296094" y="2303739"/>
            <a:chExt cx="4672475" cy="423595"/>
          </a:xfrm>
        </p:grpSpPr>
        <p:sp>
          <p:nvSpPr>
            <p:cNvPr id="7" name="Forma en L 6">
              <a:extLst>
                <a:ext uri="{FF2B5EF4-FFF2-40B4-BE49-F238E27FC236}">
                  <a16:creationId xmlns:a16="http://schemas.microsoft.com/office/drawing/2014/main" id="{416D7B38-65E0-E7B5-C4E7-54172B6AE998}"/>
                </a:ext>
              </a:extLst>
            </p:cNvPr>
            <p:cNvSpPr/>
            <p:nvPr/>
          </p:nvSpPr>
          <p:spPr>
            <a:xfrm>
              <a:off x="6330762" y="2327224"/>
              <a:ext cx="1637807" cy="400110"/>
            </a:xfrm>
            <a:prstGeom prst="corner">
              <a:avLst>
                <a:gd name="adj1" fmla="val 5036"/>
                <a:gd name="adj2" fmla="val 5036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6F909427-3A6F-C4B7-EDB3-6154D4EB8ECB}"/>
                    </a:ext>
                  </a:extLst>
                </p:cNvPr>
                <p:cNvSpPr txBox="1"/>
                <p:nvPr/>
              </p:nvSpPr>
              <p:spPr>
                <a:xfrm>
                  <a:off x="6330762" y="2303739"/>
                  <a:ext cx="1042587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es-ES" sz="2000" b="1" dirty="0"/>
                </a:p>
              </p:txBody>
            </p:sp>
          </mc:Choice>
          <mc:Fallback xmlns="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6F909427-3A6F-C4B7-EDB3-6154D4EB8E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0762" y="2303739"/>
                  <a:ext cx="1042587" cy="4070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CCC53BD1-257D-2CE4-EDA8-1E147FBE0EE0}"/>
                    </a:ext>
                  </a:extLst>
                </p:cNvPr>
                <p:cNvSpPr txBox="1"/>
                <p:nvPr/>
              </p:nvSpPr>
              <p:spPr>
                <a:xfrm>
                  <a:off x="3296094" y="2303739"/>
                  <a:ext cx="2835646" cy="4070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𝟏𝟑</m:t>
                        </m:r>
                      </m:oMath>
                    </m:oMathPara>
                  </a14:m>
                  <a:endParaRPr lang="es-ES" sz="2000" b="1" dirty="0"/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CCC53BD1-257D-2CE4-EDA8-1E147FBE0E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6094" y="2303739"/>
                  <a:ext cx="2835646" cy="4070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FD01BD54-918D-AFA6-8DEC-E84891F9E1B6}"/>
                  </a:ext>
                </a:extLst>
              </p:cNvPr>
              <p:cNvSpPr txBox="1"/>
              <p:nvPr/>
            </p:nvSpPr>
            <p:spPr>
              <a:xfrm>
                <a:off x="3188867" y="2759111"/>
                <a:ext cx="153140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FD01BD54-918D-AFA6-8DEC-E84891F9E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867" y="2759111"/>
                <a:ext cx="1531400" cy="4070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44CA3EF2-0F3C-7D9E-BD8B-08700E9E4408}"/>
              </a:ext>
            </a:extLst>
          </p:cNvPr>
          <p:cNvCxnSpPr>
            <a:cxnSpLocks/>
          </p:cNvCxnSpPr>
          <p:nvPr/>
        </p:nvCxnSpPr>
        <p:spPr>
          <a:xfrm>
            <a:off x="3296094" y="3157420"/>
            <a:ext cx="1315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D207C77D-203F-FAC8-45BD-595922F181DB}"/>
                  </a:ext>
                </a:extLst>
              </p:cNvPr>
              <p:cNvSpPr txBox="1"/>
              <p:nvPr/>
            </p:nvSpPr>
            <p:spPr>
              <a:xfrm>
                <a:off x="3486594" y="3257485"/>
                <a:ext cx="2835646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𝟏𝟑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D207C77D-203F-FAC8-45BD-595922F18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594" y="3257485"/>
                <a:ext cx="2835646" cy="4070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279E6FD8-ACA4-2424-8AE1-2D36E7C1C340}"/>
                  </a:ext>
                </a:extLst>
              </p:cNvPr>
              <p:cNvSpPr txBox="1"/>
              <p:nvPr/>
            </p:nvSpPr>
            <p:spPr>
              <a:xfrm>
                <a:off x="3486594" y="3742732"/>
                <a:ext cx="240950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279E6FD8-ACA4-2424-8AE1-2D36E7C1C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594" y="3742732"/>
                <a:ext cx="2409501" cy="4070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E61960FC-0BBA-2B49-8884-D0AD0A77CDA1}"/>
              </a:ext>
            </a:extLst>
          </p:cNvPr>
          <p:cNvCxnSpPr>
            <a:cxnSpLocks/>
          </p:cNvCxnSpPr>
          <p:nvPr/>
        </p:nvCxnSpPr>
        <p:spPr>
          <a:xfrm>
            <a:off x="3778694" y="4149831"/>
            <a:ext cx="2299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A98588CE-D497-DC9D-BD0E-1FE247E44F81}"/>
                  </a:ext>
                </a:extLst>
              </p:cNvPr>
              <p:cNvSpPr txBox="1"/>
              <p:nvPr/>
            </p:nvSpPr>
            <p:spPr>
              <a:xfrm>
                <a:off x="4312094" y="4227979"/>
                <a:ext cx="240950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𝟏𝟑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A98588CE-D497-DC9D-BD0E-1FE247E44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094" y="4227979"/>
                <a:ext cx="2409501" cy="4070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9DECFCB1-742C-31E5-58E3-82972EE9300B}"/>
                  </a:ext>
                </a:extLst>
              </p:cNvPr>
              <p:cNvSpPr txBox="1"/>
              <p:nvPr/>
            </p:nvSpPr>
            <p:spPr>
              <a:xfrm>
                <a:off x="4311930" y="4665303"/>
                <a:ext cx="240950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9DECFCB1-742C-31E5-58E3-82972EE93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930" y="4665303"/>
                <a:ext cx="2409501" cy="4070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D927174E-0D7E-E41E-BECA-CFF0704CC42C}"/>
              </a:ext>
            </a:extLst>
          </p:cNvPr>
          <p:cNvCxnSpPr>
            <a:cxnSpLocks/>
          </p:cNvCxnSpPr>
          <p:nvPr/>
        </p:nvCxnSpPr>
        <p:spPr>
          <a:xfrm>
            <a:off x="4746220" y="5044680"/>
            <a:ext cx="13322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C9FAE06F-1717-1FC0-D303-857E563685F9}"/>
                  </a:ext>
                </a:extLst>
              </p:cNvPr>
              <p:cNvSpPr txBox="1"/>
              <p:nvPr/>
            </p:nvSpPr>
            <p:spPr>
              <a:xfrm>
                <a:off x="5492722" y="5100051"/>
                <a:ext cx="87611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C9FAE06F-1717-1FC0-D303-857E56368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722" y="5100051"/>
                <a:ext cx="876110" cy="4070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F7FDFE2D-190C-1F9F-6B5F-7972FDC081D4}"/>
                  </a:ext>
                </a:extLst>
              </p:cNvPr>
              <p:cNvSpPr txBox="1"/>
              <p:nvPr/>
            </p:nvSpPr>
            <p:spPr>
              <a:xfrm>
                <a:off x="6355258" y="2756846"/>
                <a:ext cx="61046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F7FDFE2D-190C-1F9F-6B5F-7972FDC08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258" y="2756846"/>
                <a:ext cx="610460" cy="4070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8287769B-5F51-ABF6-9600-FE479F1D66CA}"/>
                  </a:ext>
                </a:extLst>
              </p:cNvPr>
              <p:cNvSpPr txBox="1"/>
              <p:nvPr/>
            </p:nvSpPr>
            <p:spPr>
              <a:xfrm>
                <a:off x="535084" y="5517120"/>
                <a:ext cx="7905224" cy="681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dirty="0"/>
                  <a:t>Dividendo = Divisor · Cociente + Resto</a:t>
                </a:r>
              </a:p>
              <a:p>
                <a:r>
                  <a:rPr lang="es-ES" dirty="0"/>
                  <a:t>Por tanto: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ES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1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s-ES" sz="1800" b="1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1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8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s-ES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1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1800" b="1" i="1" smtClean="0"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s-ES" sz="1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ES" sz="1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1800" b="1" i="1" smtClean="0"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s-ES" sz="1800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800" b="1" i="0" smtClean="0">
                            <a:latin typeface="Cambria Math" panose="02040503050406030204" pitchFamily="18" charset="0"/>
                          </a:rPr>
                          <m:t>𝟐𝐱</m:t>
                        </m:r>
                        <m:r>
                          <a:rPr lang="es-ES" sz="1800" b="1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1800" b="1" i="0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s-E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E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s-E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s-E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endParaRPr lang="es-ES" b="1" dirty="0"/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8287769B-5F51-ABF6-9600-FE479F1D6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5517120"/>
                <a:ext cx="7905224" cy="681982"/>
              </a:xfrm>
              <a:prstGeom prst="rect">
                <a:avLst/>
              </a:prstGeom>
              <a:blipFill>
                <a:blip r:embed="rId18"/>
                <a:stretch>
                  <a:fillRect l="-694" t="-4464" b="-982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8760989F-E470-2045-3684-05098D244D21}"/>
                  </a:ext>
                </a:extLst>
              </p:cNvPr>
              <p:cNvSpPr txBox="1"/>
              <p:nvPr/>
            </p:nvSpPr>
            <p:spPr>
              <a:xfrm>
                <a:off x="7281909" y="2764466"/>
                <a:ext cx="61046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8760989F-E470-2045-3684-05098D244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909" y="2764466"/>
                <a:ext cx="610460" cy="4070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DF0D70D9-C380-E9E4-0C03-1993B4130F37}"/>
                  </a:ext>
                </a:extLst>
              </p:cNvPr>
              <p:cNvSpPr txBox="1"/>
              <p:nvPr/>
            </p:nvSpPr>
            <p:spPr>
              <a:xfrm>
                <a:off x="6630944" y="2768035"/>
                <a:ext cx="879595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DF0D70D9-C380-E9E4-0C03-1993B4130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944" y="2768035"/>
                <a:ext cx="879595" cy="4070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upo 81">
            <a:extLst>
              <a:ext uri="{FF2B5EF4-FFF2-40B4-BE49-F238E27FC236}">
                <a16:creationId xmlns:a16="http://schemas.microsoft.com/office/drawing/2014/main" id="{0711419E-56F1-3D48-CDD9-E99D399EAC93}"/>
              </a:ext>
            </a:extLst>
          </p:cNvPr>
          <p:cNvGrpSpPr/>
          <p:nvPr/>
        </p:nvGrpSpPr>
        <p:grpSpPr>
          <a:xfrm>
            <a:off x="6604882" y="3123464"/>
            <a:ext cx="2731273" cy="368358"/>
            <a:chOff x="6604881" y="3123464"/>
            <a:chExt cx="2676613" cy="368358"/>
          </a:xfrm>
        </p:grpSpPr>
        <p:cxnSp>
          <p:nvCxnSpPr>
            <p:cNvPr id="76" name="Conector recto de flecha 75">
              <a:extLst>
                <a:ext uri="{FF2B5EF4-FFF2-40B4-BE49-F238E27FC236}">
                  <a16:creationId xmlns:a16="http://schemas.microsoft.com/office/drawing/2014/main" id="{306A6EA0-9596-F1AE-C135-C6B2218EA0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881" y="3123464"/>
              <a:ext cx="0" cy="305536"/>
            </a:xfrm>
            <a:prstGeom prst="straightConnector1">
              <a:avLst/>
            </a:prstGeom>
            <a:ln>
              <a:solidFill>
                <a:srgbClr val="EF424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24FBAD92-8189-4EF8-242C-986AB3D72696}"/>
                </a:ext>
              </a:extLst>
            </p:cNvPr>
            <p:cNvCxnSpPr>
              <a:cxnSpLocks/>
            </p:cNvCxnSpPr>
            <p:nvPr/>
          </p:nvCxnSpPr>
          <p:spPr>
            <a:xfrm>
              <a:off x="6604881" y="3429000"/>
              <a:ext cx="2676612" cy="0"/>
            </a:xfrm>
            <a:prstGeom prst="line">
              <a:avLst/>
            </a:prstGeom>
            <a:ln cap="rnd">
              <a:solidFill>
                <a:srgbClr val="EF424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97A83E49-B6AE-8F86-6CC3-3BBB5348B130}"/>
                </a:ext>
              </a:extLst>
            </p:cNvPr>
            <p:cNvCxnSpPr>
              <a:cxnSpLocks/>
              <a:stCxn id="84" idx="0"/>
            </p:cNvCxnSpPr>
            <p:nvPr/>
          </p:nvCxnSpPr>
          <p:spPr>
            <a:xfrm flipV="1">
              <a:off x="9281493" y="3428888"/>
              <a:ext cx="1" cy="62934"/>
            </a:xfrm>
            <a:prstGeom prst="line">
              <a:avLst/>
            </a:prstGeom>
            <a:ln cap="rnd">
              <a:solidFill>
                <a:srgbClr val="EF424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FCF0694B-25B9-7052-BCF9-3FF9BD494472}"/>
                  </a:ext>
                </a:extLst>
              </p:cNvPr>
              <p:cNvSpPr txBox="1"/>
              <p:nvPr/>
            </p:nvSpPr>
            <p:spPr>
              <a:xfrm>
                <a:off x="7429113" y="3461034"/>
                <a:ext cx="2409502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b="1" i="0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0" smtClean="0">
                              <a:latin typeface="Cambria Math" panose="02040503050406030204" pitchFamily="18" charset="0"/>
                            </a:rPr>
                            <m:t>𝟐𝐱</m:t>
                          </m:r>
                        </m:e>
                      </m:d>
                      <m:r>
                        <a:rPr lang="es-ES" b="1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FCF0694B-25B9-7052-BCF9-3FF9BD494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113" y="3461034"/>
                <a:ext cx="2409502" cy="375552"/>
              </a:xfrm>
              <a:prstGeom prst="rect">
                <a:avLst/>
              </a:prstGeom>
              <a:blipFill>
                <a:blip r:embed="rId21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Elipse 83">
            <a:extLst>
              <a:ext uri="{FF2B5EF4-FFF2-40B4-BE49-F238E27FC236}">
                <a16:creationId xmlns:a16="http://schemas.microsoft.com/office/drawing/2014/main" id="{36D54840-CE1A-0643-84D8-8FC8A84F0747}"/>
              </a:ext>
            </a:extLst>
          </p:cNvPr>
          <p:cNvSpPr/>
          <p:nvPr/>
        </p:nvSpPr>
        <p:spPr>
          <a:xfrm>
            <a:off x="9167819" y="3491822"/>
            <a:ext cx="336668" cy="336668"/>
          </a:xfrm>
          <a:prstGeom prst="ellipse">
            <a:avLst/>
          </a:prstGeom>
          <a:noFill/>
          <a:ln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92" name="Grupo 91">
            <a:extLst>
              <a:ext uri="{FF2B5EF4-FFF2-40B4-BE49-F238E27FC236}">
                <a16:creationId xmlns:a16="http://schemas.microsoft.com/office/drawing/2014/main" id="{CC5E4471-D982-E198-C13B-D234B270DDAE}"/>
              </a:ext>
            </a:extLst>
          </p:cNvPr>
          <p:cNvGrpSpPr/>
          <p:nvPr/>
        </p:nvGrpSpPr>
        <p:grpSpPr>
          <a:xfrm>
            <a:off x="7149665" y="3145448"/>
            <a:ext cx="2731273" cy="945538"/>
            <a:chOff x="6604881" y="3123464"/>
            <a:chExt cx="2676613" cy="346778"/>
          </a:xfrm>
        </p:grpSpPr>
        <p:cxnSp>
          <p:nvCxnSpPr>
            <p:cNvPr id="93" name="Conector recto de flecha 92">
              <a:extLst>
                <a:ext uri="{FF2B5EF4-FFF2-40B4-BE49-F238E27FC236}">
                  <a16:creationId xmlns:a16="http://schemas.microsoft.com/office/drawing/2014/main" id="{C63B1BC5-651F-B5E6-D8BA-D38A61B00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881" y="3123464"/>
              <a:ext cx="0" cy="305536"/>
            </a:xfrm>
            <a:prstGeom prst="straightConnector1">
              <a:avLst/>
            </a:prstGeom>
            <a:ln>
              <a:solidFill>
                <a:srgbClr val="EF424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8B0367EC-9D4B-2AD0-5722-EBB35AD9AC5A}"/>
                </a:ext>
              </a:extLst>
            </p:cNvPr>
            <p:cNvCxnSpPr>
              <a:cxnSpLocks/>
            </p:cNvCxnSpPr>
            <p:nvPr/>
          </p:nvCxnSpPr>
          <p:spPr>
            <a:xfrm>
              <a:off x="6604881" y="3429000"/>
              <a:ext cx="2676612" cy="0"/>
            </a:xfrm>
            <a:prstGeom prst="line">
              <a:avLst/>
            </a:prstGeom>
            <a:ln cap="rnd">
              <a:solidFill>
                <a:srgbClr val="EF424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381160E4-3B0A-8A63-EBA8-ABA75E302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81494" y="3428888"/>
              <a:ext cx="0" cy="41354"/>
            </a:xfrm>
            <a:prstGeom prst="line">
              <a:avLst/>
            </a:prstGeom>
            <a:ln cap="rnd">
              <a:solidFill>
                <a:srgbClr val="EF424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979EB612-1CAF-6678-3B75-ED3642669E39}"/>
              </a:ext>
            </a:extLst>
          </p:cNvPr>
          <p:cNvGrpSpPr/>
          <p:nvPr/>
        </p:nvGrpSpPr>
        <p:grpSpPr>
          <a:xfrm>
            <a:off x="7587139" y="3131673"/>
            <a:ext cx="2731273" cy="1615582"/>
            <a:chOff x="6604881" y="3123464"/>
            <a:chExt cx="2676613" cy="326201"/>
          </a:xfrm>
        </p:grpSpPr>
        <p:cxnSp>
          <p:nvCxnSpPr>
            <p:cNvPr id="97" name="Conector recto de flecha 96">
              <a:extLst>
                <a:ext uri="{FF2B5EF4-FFF2-40B4-BE49-F238E27FC236}">
                  <a16:creationId xmlns:a16="http://schemas.microsoft.com/office/drawing/2014/main" id="{43FCC50D-FCF6-85C0-42EE-549398951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881" y="3123464"/>
              <a:ext cx="0" cy="305536"/>
            </a:xfrm>
            <a:prstGeom prst="straightConnector1">
              <a:avLst/>
            </a:prstGeom>
            <a:ln>
              <a:solidFill>
                <a:srgbClr val="EF424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cto 97">
              <a:extLst>
                <a:ext uri="{FF2B5EF4-FFF2-40B4-BE49-F238E27FC236}">
                  <a16:creationId xmlns:a16="http://schemas.microsoft.com/office/drawing/2014/main" id="{8596C130-F994-E698-4AC9-91AEBA255924}"/>
                </a:ext>
              </a:extLst>
            </p:cNvPr>
            <p:cNvCxnSpPr>
              <a:cxnSpLocks/>
            </p:cNvCxnSpPr>
            <p:nvPr/>
          </p:nvCxnSpPr>
          <p:spPr>
            <a:xfrm>
              <a:off x="6604881" y="3428519"/>
              <a:ext cx="2676612" cy="0"/>
            </a:xfrm>
            <a:prstGeom prst="line">
              <a:avLst/>
            </a:prstGeom>
            <a:ln cap="rnd">
              <a:solidFill>
                <a:srgbClr val="EF424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recto 98">
              <a:extLst>
                <a:ext uri="{FF2B5EF4-FFF2-40B4-BE49-F238E27FC236}">
                  <a16:creationId xmlns:a16="http://schemas.microsoft.com/office/drawing/2014/main" id="{BF7E1BFE-A9AB-7C1A-5B1B-DDE78BD4D5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81494" y="3428888"/>
              <a:ext cx="0" cy="20777"/>
            </a:xfrm>
            <a:prstGeom prst="line">
              <a:avLst/>
            </a:prstGeom>
            <a:ln cap="rnd">
              <a:solidFill>
                <a:srgbClr val="EF424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CuadroTexto 101">
                <a:extLst>
                  <a:ext uri="{FF2B5EF4-FFF2-40B4-BE49-F238E27FC236}">
                    <a16:creationId xmlns:a16="http://schemas.microsoft.com/office/drawing/2014/main" id="{27049D63-48A0-0C86-4E17-8A0B46641FF2}"/>
                  </a:ext>
                </a:extLst>
              </p:cNvPr>
              <p:cNvSpPr txBox="1"/>
              <p:nvPr/>
            </p:nvSpPr>
            <p:spPr>
              <a:xfrm>
                <a:off x="7783266" y="4123635"/>
                <a:ext cx="2409502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b="1" i="0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0" smtClean="0">
                              <a:latin typeface="Cambria Math" panose="02040503050406030204" pitchFamily="18" charset="0"/>
                            </a:rPr>
                            <m:t>𝟐𝐱</m:t>
                          </m:r>
                        </m:e>
                      </m:d>
                      <m:r>
                        <a:rPr lang="es-ES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102" name="CuadroTexto 101">
                <a:extLst>
                  <a:ext uri="{FF2B5EF4-FFF2-40B4-BE49-F238E27FC236}">
                    <a16:creationId xmlns:a16="http://schemas.microsoft.com/office/drawing/2014/main" id="{27049D63-48A0-0C86-4E17-8A0B46641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266" y="4123635"/>
                <a:ext cx="2409502" cy="375552"/>
              </a:xfrm>
              <a:prstGeom prst="rect">
                <a:avLst/>
              </a:prstGeom>
              <a:blipFill>
                <a:blip r:embed="rId22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Elipse 102">
            <a:extLst>
              <a:ext uri="{FF2B5EF4-FFF2-40B4-BE49-F238E27FC236}">
                <a16:creationId xmlns:a16="http://schemas.microsoft.com/office/drawing/2014/main" id="{3D526157-ECC9-9309-4226-6D46639D7817}"/>
              </a:ext>
            </a:extLst>
          </p:cNvPr>
          <p:cNvSpPr/>
          <p:nvPr/>
        </p:nvSpPr>
        <p:spPr>
          <a:xfrm>
            <a:off x="9613528" y="4103741"/>
            <a:ext cx="534818" cy="439150"/>
          </a:xfrm>
          <a:prstGeom prst="ellipse">
            <a:avLst/>
          </a:prstGeom>
          <a:noFill/>
          <a:ln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CuadroTexto 103">
                <a:extLst>
                  <a:ext uri="{FF2B5EF4-FFF2-40B4-BE49-F238E27FC236}">
                    <a16:creationId xmlns:a16="http://schemas.microsoft.com/office/drawing/2014/main" id="{52FB1B22-CED8-6258-26CF-AB34FD4A0CB2}"/>
                  </a:ext>
                </a:extLst>
              </p:cNvPr>
              <p:cNvSpPr txBox="1"/>
              <p:nvPr/>
            </p:nvSpPr>
            <p:spPr>
              <a:xfrm>
                <a:off x="8790620" y="4702274"/>
                <a:ext cx="174953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b="1" i="0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0" smtClean="0">
                              <a:latin typeface="Cambria Math" panose="02040503050406030204" pitchFamily="18" charset="0"/>
                            </a:rPr>
                            <m:t>𝟐𝐱</m:t>
                          </m:r>
                        </m:e>
                      </m:d>
                      <m:r>
                        <a:rPr lang="es-ES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104" name="CuadroTexto 103">
                <a:extLst>
                  <a:ext uri="{FF2B5EF4-FFF2-40B4-BE49-F238E27FC236}">
                    <a16:creationId xmlns:a16="http://schemas.microsoft.com/office/drawing/2014/main" id="{52FB1B22-CED8-6258-26CF-AB34FD4A0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620" y="4702274"/>
                <a:ext cx="1749535" cy="375552"/>
              </a:xfrm>
              <a:prstGeom prst="rect">
                <a:avLst/>
              </a:prstGeom>
              <a:blipFill>
                <a:blip r:embed="rId23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Elipse 104">
            <a:extLst>
              <a:ext uri="{FF2B5EF4-FFF2-40B4-BE49-F238E27FC236}">
                <a16:creationId xmlns:a16="http://schemas.microsoft.com/office/drawing/2014/main" id="{D98388CD-D4D1-571A-B6B3-370EBE647307}"/>
              </a:ext>
            </a:extLst>
          </p:cNvPr>
          <p:cNvSpPr/>
          <p:nvPr/>
        </p:nvSpPr>
        <p:spPr>
          <a:xfrm>
            <a:off x="10201275" y="4759274"/>
            <a:ext cx="228600" cy="282231"/>
          </a:xfrm>
          <a:prstGeom prst="ellipse">
            <a:avLst/>
          </a:prstGeom>
          <a:noFill/>
          <a:ln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CuadroTexto 105">
                <a:extLst>
                  <a:ext uri="{FF2B5EF4-FFF2-40B4-BE49-F238E27FC236}">
                    <a16:creationId xmlns:a16="http://schemas.microsoft.com/office/drawing/2014/main" id="{6C8B16B0-F673-F7A0-07E4-F81952B414C9}"/>
                  </a:ext>
                </a:extLst>
              </p:cNvPr>
              <p:cNvSpPr txBox="1"/>
              <p:nvPr/>
            </p:nvSpPr>
            <p:spPr>
              <a:xfrm>
                <a:off x="114300" y="2775536"/>
                <a:ext cx="2675667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𝑅𝑒𝑠𝑡𝑎𝑚𝑜𝑠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∙(2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+3)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 xmlns="">
          <p:sp>
            <p:nvSpPr>
              <p:cNvPr id="106" name="CuadroTexto 105">
                <a:extLst>
                  <a:ext uri="{FF2B5EF4-FFF2-40B4-BE49-F238E27FC236}">
                    <a16:creationId xmlns:a16="http://schemas.microsoft.com/office/drawing/2014/main" id="{6C8B16B0-F673-F7A0-07E4-F81952B41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2775536"/>
                <a:ext cx="2675667" cy="375552"/>
              </a:xfrm>
              <a:prstGeom prst="rect">
                <a:avLst/>
              </a:prstGeom>
              <a:blipFill>
                <a:blip r:embed="rId24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Conector recto de flecha 107">
            <a:extLst>
              <a:ext uri="{FF2B5EF4-FFF2-40B4-BE49-F238E27FC236}">
                <a16:creationId xmlns:a16="http://schemas.microsoft.com/office/drawing/2014/main" id="{B0AC489D-F85B-BB47-B713-3FDCDC577823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2589942" y="2962661"/>
            <a:ext cx="598925" cy="651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CuadroTexto 110">
                <a:extLst>
                  <a:ext uri="{FF2B5EF4-FFF2-40B4-BE49-F238E27FC236}">
                    <a16:creationId xmlns:a16="http://schemas.microsoft.com/office/drawing/2014/main" id="{613D10B9-668F-522B-0937-1C8DD9E197D9}"/>
                  </a:ext>
                </a:extLst>
              </p:cNvPr>
              <p:cNvSpPr txBox="1"/>
              <p:nvPr/>
            </p:nvSpPr>
            <p:spPr>
              <a:xfrm>
                <a:off x="114300" y="3768385"/>
                <a:ext cx="29358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𝑅𝑒𝑠𝑡𝑎𝑚𝑜𝑠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−5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+3</m:t>
                        </m:r>
                      </m:e>
                    </m:d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 xmlns="">
          <p:sp>
            <p:nvSpPr>
              <p:cNvPr id="111" name="CuadroTexto 110">
                <a:extLst>
                  <a:ext uri="{FF2B5EF4-FFF2-40B4-BE49-F238E27FC236}">
                    <a16:creationId xmlns:a16="http://schemas.microsoft.com/office/drawing/2014/main" id="{613D10B9-668F-522B-0937-1C8DD9E19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3768385"/>
                <a:ext cx="2935867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802CCC2C-E826-317E-21E2-5DC0280F1EFD}"/>
              </a:ext>
            </a:extLst>
          </p:cNvPr>
          <p:cNvCxnSpPr>
            <a:cxnSpLocks/>
          </p:cNvCxnSpPr>
          <p:nvPr/>
        </p:nvCxnSpPr>
        <p:spPr>
          <a:xfrm>
            <a:off x="2867497" y="3953051"/>
            <a:ext cx="911197" cy="0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CuadroTexto 115">
                <a:extLst>
                  <a:ext uri="{FF2B5EF4-FFF2-40B4-BE49-F238E27FC236}">
                    <a16:creationId xmlns:a16="http://schemas.microsoft.com/office/drawing/2014/main" id="{688C94E5-3C32-EDF6-46D5-6BEFAB30328E}"/>
                  </a:ext>
                </a:extLst>
              </p:cNvPr>
              <p:cNvSpPr txBox="1"/>
              <p:nvPr/>
            </p:nvSpPr>
            <p:spPr>
              <a:xfrm>
                <a:off x="114300" y="4656168"/>
                <a:ext cx="24095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𝑅𝑒𝑠𝑡𝑎𝑚𝑜𝑠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2∙(2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+3)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 xmlns="">
          <p:sp>
            <p:nvSpPr>
              <p:cNvPr id="116" name="CuadroTexto 115">
                <a:extLst>
                  <a:ext uri="{FF2B5EF4-FFF2-40B4-BE49-F238E27FC236}">
                    <a16:creationId xmlns:a16="http://schemas.microsoft.com/office/drawing/2014/main" id="{688C94E5-3C32-EDF6-46D5-6BEFAB303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4656168"/>
                <a:ext cx="2409502" cy="369332"/>
              </a:xfrm>
              <a:prstGeom prst="rect">
                <a:avLst/>
              </a:prstGeom>
              <a:blipFill>
                <a:blip r:embed="rId2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5D9B55F8-2E7B-283A-1D6C-E3A8CD4701EA}"/>
              </a:ext>
            </a:extLst>
          </p:cNvPr>
          <p:cNvCxnSpPr>
            <a:cxnSpLocks/>
          </p:cNvCxnSpPr>
          <p:nvPr/>
        </p:nvCxnSpPr>
        <p:spPr>
          <a:xfrm>
            <a:off x="2542584" y="4850558"/>
            <a:ext cx="2177683" cy="0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0304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5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50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4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0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3500"/>
                            </p:stCondLst>
                            <p:childTnLst>
                              <p:par>
                                <p:cTn id="1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0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5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0"/>
                            </p:stCondLst>
                            <p:childTnLst>
                              <p:par>
                                <p:cTn id="1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500"/>
                            </p:stCondLst>
                            <p:childTnLst>
                              <p:par>
                                <p:cTn id="1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10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10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7" grpId="0"/>
      <p:bldP spid="8" grpId="0"/>
      <p:bldP spid="9" grpId="0"/>
      <p:bldP spid="38" grpId="0"/>
      <p:bldP spid="42" grpId="0"/>
      <p:bldP spid="43" grpId="0"/>
      <p:bldP spid="46" grpId="0"/>
      <p:bldP spid="47" grpId="0"/>
      <p:bldP spid="53" grpId="0"/>
      <p:bldP spid="54" grpId="0"/>
      <p:bldP spid="68" grpId="0" build="p"/>
      <p:bldP spid="73" grpId="0"/>
      <p:bldP spid="74" grpId="0"/>
      <p:bldP spid="83" grpId="0"/>
      <p:bldP spid="84" grpId="0" animBg="1"/>
      <p:bldP spid="102" grpId="0"/>
      <p:bldP spid="103" grpId="0" animBg="1"/>
      <p:bldP spid="104" grpId="0"/>
      <p:bldP spid="105" grpId="0" animBg="1"/>
      <p:bldP spid="106" grpId="0"/>
      <p:bldP spid="111" grpId="0"/>
      <p:bldP spid="1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00D7B52-00F2-4364-AFE9-E352E84CD6F4"/>
  <p:tag name="ISPRING_CMI5_LAUNCH_METHOD" val="any window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3 ESO\\4. El lenguaje algebraico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FIRST_PUBLISH" val="1"/>
  <p:tag name="ISPRING_ULTRA_SCORM_COURCE_TITLE" val="4. Operar polinomio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4. Operar polinomio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CEECDEC-73E8-468F-AC48-C9F3555D2E70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69B6BE5-DA32-4277-A074-92E6DCA4F55A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D4285D9-2508-4518-810E-345DE728343F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9DA71DF-79B1-4599-9767-0BB224EE3F95}:26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539</Words>
  <Application>Microsoft Office PowerPoint</Application>
  <PresentationFormat>Panorámica</PresentationFormat>
  <Paragraphs>96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Operar polinomios</dc:title>
  <dc:creator>Illán Linos Souto</dc:creator>
  <cp:lastModifiedBy>Illán Linos</cp:lastModifiedBy>
  <cp:revision>89</cp:revision>
  <dcterms:created xsi:type="dcterms:W3CDTF">2024-08-18T18:48:07Z</dcterms:created>
  <dcterms:modified xsi:type="dcterms:W3CDTF">2025-11-20T18:11:20Z</dcterms:modified>
</cp:coreProperties>
</file>