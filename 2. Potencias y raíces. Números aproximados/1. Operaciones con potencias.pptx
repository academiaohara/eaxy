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D77047-246B-46B4-A3EA-13E2CE126D21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FDAA-8D22-45B8-92E8-F681F9AD0FA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375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1797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516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6541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FDAA-8D22-45B8-92E8-F681F9AD0FA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419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rgbClr val="4E95D9"/>
                </a:solidFill>
              </a:rPr>
              <a:t>potencia</a:t>
            </a:r>
            <a:r>
              <a:rPr lang="es-ES" sz="2000" b="1" dirty="0"/>
              <a:t> de un </a:t>
            </a:r>
            <a:r>
              <a:rPr lang="es-ES" sz="2000" b="1" dirty="0">
                <a:solidFill>
                  <a:srgbClr val="4E95D9"/>
                </a:solidFill>
              </a:rPr>
              <a:t>producto</a:t>
            </a:r>
            <a:r>
              <a:rPr lang="es-ES" sz="2000" b="1" dirty="0"/>
              <a:t> es igual al producto de las potencias de los factores.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27475" y="1763106"/>
                <a:ext cx="23370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75" y="1763106"/>
                <a:ext cx="2337050" cy="369332"/>
              </a:xfrm>
              <a:prstGeom prst="rect">
                <a:avLst/>
              </a:prstGeom>
              <a:blipFill>
                <a:blip r:embed="rId6"/>
                <a:stretch>
                  <a:fillRect l="-3646" b="-3770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265899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054896" y="2692286"/>
                <a:ext cx="408220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𝟐𝟏𝟔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896" y="2692286"/>
                <a:ext cx="4082208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/>
              <p:nvPr/>
            </p:nvSpPr>
            <p:spPr>
              <a:xfrm>
                <a:off x="3607306" y="3252134"/>
                <a:ext cx="4977388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𝟐𝟏𝟔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306" y="3252134"/>
                <a:ext cx="4977388" cy="3776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FBADEE86-479B-E339-6E7C-F143CFFBD6D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308070-8442-E40C-28F7-130228A27CB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</a:t>
            </a:r>
            <a:r>
              <a:rPr lang="es-ES" sz="2000" b="1" dirty="0">
                <a:solidFill>
                  <a:srgbClr val="4E95D9"/>
                </a:solidFill>
              </a:rPr>
              <a:t>potencia </a:t>
            </a:r>
            <a:r>
              <a:rPr lang="es-ES" sz="2000" b="1" dirty="0"/>
              <a:t>de un </a:t>
            </a:r>
            <a:r>
              <a:rPr lang="es-ES" sz="2000" b="1" dirty="0">
                <a:solidFill>
                  <a:srgbClr val="4E95D9"/>
                </a:solidFill>
              </a:rPr>
              <a:t>cociente </a:t>
            </a:r>
            <a:r>
              <a:rPr lang="es-ES" sz="2000" b="1" dirty="0"/>
              <a:t>es igual al cociente de las potencias del dividendo y del divisor.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27475" y="1960332"/>
                <a:ext cx="22888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475" y="1960332"/>
                <a:ext cx="2288832" cy="369332"/>
              </a:xfrm>
              <a:prstGeom prst="rect">
                <a:avLst/>
              </a:prstGeom>
              <a:blipFill>
                <a:blip r:embed="rId6"/>
                <a:stretch>
                  <a:fillRect l="-3723" b="-3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218178" y="2791515"/>
                <a:ext cx="375564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178" y="2791515"/>
                <a:ext cx="3755644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/>
              <p:nvPr/>
            </p:nvSpPr>
            <p:spPr>
              <a:xfrm>
                <a:off x="3773537" y="3365672"/>
                <a:ext cx="4644926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7505FBD-35F1-BB57-4845-E9FEB3EA4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537" y="3365672"/>
                <a:ext cx="4644926" cy="3776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1CD8DF22-0E7B-2893-051C-F87A0C35113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D98DCC-7F36-E8D8-2903-CD9A788FE13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94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rgbClr val="4E95D9"/>
                </a:solidFill>
              </a:rPr>
              <a:t>multiplicar </a:t>
            </a:r>
            <a:r>
              <a:rPr lang="es-ES" sz="2000" b="1" dirty="0"/>
              <a:t>dos </a:t>
            </a:r>
            <a:r>
              <a:rPr lang="es-ES" sz="2000" b="1" dirty="0">
                <a:solidFill>
                  <a:srgbClr val="4E95D9"/>
                </a:solidFill>
              </a:rPr>
              <a:t>potencias </a:t>
            </a:r>
            <a:r>
              <a:rPr lang="es-ES" sz="2000" b="1" dirty="0"/>
              <a:t>de la </a:t>
            </a:r>
            <a:r>
              <a:rPr lang="es-ES" sz="2000" b="1" dirty="0">
                <a:solidFill>
                  <a:srgbClr val="4E95D9"/>
                </a:solidFill>
              </a:rPr>
              <a:t>misma base,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/>
              <a:t>se deja la base y se suman los exponentes.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4999642" y="1960086"/>
                <a:ext cx="21927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642" y="1960086"/>
                <a:ext cx="2192716" cy="369332"/>
              </a:xfrm>
              <a:prstGeom prst="rect">
                <a:avLst/>
              </a:prstGeom>
              <a:blipFill>
                <a:blip r:embed="rId6"/>
                <a:stretch>
                  <a:fillRect l="-1111" b="-3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067303" y="2791515"/>
                <a:ext cx="405739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𝟕𝟖𝟏𝟐𝟓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303" y="2791515"/>
                <a:ext cx="4057393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Marco 10">
            <a:extLst>
              <a:ext uri="{FF2B5EF4-FFF2-40B4-BE49-F238E27FC236}">
                <a16:creationId xmlns:a16="http://schemas.microsoft.com/office/drawing/2014/main" id="{F7DC7C6C-33BF-3E13-3148-BE9329CA96E7}"/>
              </a:ext>
            </a:extLst>
          </p:cNvPr>
          <p:cNvSpPr/>
          <p:nvPr/>
        </p:nvSpPr>
        <p:spPr>
          <a:xfrm>
            <a:off x="535084" y="3437660"/>
            <a:ext cx="11121832" cy="40812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595928C1-AB39-E359-6D97-F8AC1F0F646A}"/>
              </a:ext>
            </a:extLst>
          </p:cNvPr>
          <p:cNvSpPr txBox="1"/>
          <p:nvPr/>
        </p:nvSpPr>
        <p:spPr>
          <a:xfrm>
            <a:off x="535084" y="342135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rgbClr val="4E95D9"/>
                </a:solidFill>
              </a:rPr>
              <a:t>dividir</a:t>
            </a:r>
            <a:r>
              <a:rPr lang="es-ES" sz="2000" b="1" dirty="0"/>
              <a:t> dos </a:t>
            </a:r>
            <a:r>
              <a:rPr lang="es-ES" sz="2000" b="1" dirty="0">
                <a:solidFill>
                  <a:srgbClr val="4E95D9"/>
                </a:solidFill>
              </a:rPr>
              <a:t>potencias</a:t>
            </a:r>
            <a:r>
              <a:rPr lang="es-ES" sz="2000" b="1" dirty="0"/>
              <a:t> de la </a:t>
            </a:r>
            <a:r>
              <a:rPr lang="es-ES" sz="2000" b="1" dirty="0">
                <a:solidFill>
                  <a:srgbClr val="4E95D9"/>
                </a:solidFill>
              </a:rPr>
              <a:t>misma base, </a:t>
            </a:r>
            <a:r>
              <a:rPr lang="es-ES" sz="2000" b="1" dirty="0"/>
              <a:t>se deja la base y se restan los exponentes.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1C94E8F-8E45-601C-92F4-9AA42C32D815}"/>
                  </a:ext>
                </a:extLst>
              </p:cNvPr>
              <p:cNvSpPr txBox="1"/>
              <p:nvPr/>
            </p:nvSpPr>
            <p:spPr>
              <a:xfrm>
                <a:off x="5044815" y="4073636"/>
                <a:ext cx="21023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1C94E8F-8E45-601C-92F4-9AA42C32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815" y="4073636"/>
                <a:ext cx="2102370" cy="369332"/>
              </a:xfrm>
              <a:prstGeom prst="rect">
                <a:avLst/>
              </a:prstGeom>
              <a:blipFill>
                <a:blip r:embed="rId8"/>
                <a:stretch>
                  <a:fillRect l="-1163"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!CuadroTexto 1">
            <a:extLst>
              <a:ext uri="{FF2B5EF4-FFF2-40B4-BE49-F238E27FC236}">
                <a16:creationId xmlns:a16="http://schemas.microsoft.com/office/drawing/2014/main" id="{047FE521-F403-A272-5AC3-9C8B9D0423EB}"/>
              </a:ext>
            </a:extLst>
          </p:cNvPr>
          <p:cNvSpPr txBox="1"/>
          <p:nvPr/>
        </p:nvSpPr>
        <p:spPr>
          <a:xfrm>
            <a:off x="535084" y="4478596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59C67F-2B2B-9DA2-5EEF-BBA56172F6B6}"/>
                  </a:ext>
                </a:extLst>
              </p:cNvPr>
              <p:cNvSpPr txBox="1"/>
              <p:nvPr/>
            </p:nvSpPr>
            <p:spPr>
              <a:xfrm>
                <a:off x="4251648" y="4917078"/>
                <a:ext cx="3688702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𝟓𝟏𝟐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459C67F-2B2B-9DA2-5EEF-BBA56172F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648" y="4917078"/>
                <a:ext cx="3688702" cy="3776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ángulo 10">
            <a:extLst>
              <a:ext uri="{FF2B5EF4-FFF2-40B4-BE49-F238E27FC236}">
                <a16:creationId xmlns:a16="http://schemas.microsoft.com/office/drawing/2014/main" id="{C32DB8C0-B470-3648-3FAC-BA7D75F6EF3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39B747-4C62-376F-73F3-CAD3B3F2DDE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528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  <p:bldP spid="4" grpId="0" animBg="1"/>
      <p:bldP spid="5" grpId="0"/>
      <p:bldP spid="7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5669"/>
            <a:ext cx="11121832" cy="675275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2936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</a:t>
            </a:r>
            <a:r>
              <a:rPr lang="es-ES" sz="2000" b="1" dirty="0">
                <a:solidFill>
                  <a:srgbClr val="4E95D9"/>
                </a:solidFill>
              </a:rPr>
              <a:t>elevar</a:t>
            </a:r>
            <a:r>
              <a:rPr lang="es-ES" sz="2000" b="1" dirty="0"/>
              <a:t> una </a:t>
            </a:r>
            <a:r>
              <a:rPr lang="es-ES" sz="2000" b="1" dirty="0">
                <a:solidFill>
                  <a:srgbClr val="4E95D9"/>
                </a:solidFill>
              </a:rPr>
              <a:t>potencia</a:t>
            </a:r>
            <a:r>
              <a:rPr lang="es-ES" sz="2000" b="1" dirty="0"/>
              <a:t> a </a:t>
            </a:r>
            <a:r>
              <a:rPr lang="es-ES" sz="2000" b="1" dirty="0">
                <a:solidFill>
                  <a:srgbClr val="4E95D9"/>
                </a:solidFill>
              </a:rPr>
              <a:t>otra potencia,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dirty="0"/>
              <a:t>se deja la base y se multiplican los exponentes.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/>
              <p:nvPr/>
            </p:nvSpPr>
            <p:spPr>
              <a:xfrm>
                <a:off x="5128683" y="1933485"/>
                <a:ext cx="19346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F1A966A-F2FE-79A3-84EB-2A06293CF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83" y="1933485"/>
                <a:ext cx="1934632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CuadroTexto 1">
            <a:extLst>
              <a:ext uri="{FF2B5EF4-FFF2-40B4-BE49-F238E27FC236}">
                <a16:creationId xmlns:a16="http://schemas.microsoft.com/office/drawing/2014/main" id="{16688913-A229-B2FB-B0F2-A3B7F3C8893F}"/>
              </a:ext>
            </a:extLst>
          </p:cNvPr>
          <p:cNvSpPr txBox="1"/>
          <p:nvPr/>
        </p:nvSpPr>
        <p:spPr>
          <a:xfrm>
            <a:off x="535084" y="2391405"/>
            <a:ext cx="1488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/>
              <p:nvPr/>
            </p:nvSpPr>
            <p:spPr>
              <a:xfrm>
                <a:off x="4548588" y="2791515"/>
                <a:ext cx="3094822" cy="4992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  <m:sup>
                                  <m:r>
                                    <a:rPr lang="es-ES" sz="2400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𝟕𝟖𝟏𝟐𝟓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96C324F-0A28-64E9-FC29-1737A6B95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88" y="2791515"/>
                <a:ext cx="3094822" cy="4992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1C924C94-1701-B92C-2F34-561C1C6C096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B42463-7836-8FD7-5647-390D4D89AB9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Potencias y Raíces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26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E5A0DF8-AEA5-4DAB-BE06-C535E975B650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ULTRA_SCORM_COURCE_TITLE" val="1. Operaciones con potencia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2. Potencias y raíces. Números aproximados&quot;]]"/>
  <p:tag name="ISPRING_SCORM_RATE_QUIZZES" val="0"/>
  <p:tag name="ISPRING_PRESENTATION_TITLE" val="1. Operaciones con potencia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65D2DC6-8415-4B8D-8C85-7962BDBDE8F1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7F7D88E-CFEE-4D57-B533-26A96FB57E3A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64ADFD-ACF6-4AD9-BB68-1CECA7E80902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17AAAB2-710D-4DF0-B41A-EBCB05D6D706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227</Words>
  <Application>Microsoft Office PowerPoint</Application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Operaciones con potencias</dc:title>
  <dc:creator>Illán Linos Souto</dc:creator>
  <cp:lastModifiedBy>Illán Linos</cp:lastModifiedBy>
  <cp:revision>55</cp:revision>
  <dcterms:created xsi:type="dcterms:W3CDTF">2024-08-18T18:48:07Z</dcterms:created>
  <dcterms:modified xsi:type="dcterms:W3CDTF">2025-11-20T16:18:45Z</dcterms:modified>
</cp:coreProperties>
</file>