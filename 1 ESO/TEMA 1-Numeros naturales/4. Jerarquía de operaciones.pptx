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2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DBFAC-3A58-4FF5-8A73-EC863AD1DBB4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9B6CC-4AF3-4319-8A42-79678CDF8D4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085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9B6CC-4AF3-4319-8A42-79678CDF8D4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1335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9B6CC-4AF3-4319-8A42-79678CDF8D47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189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4" y="574828"/>
            <a:ext cx="76292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0" name="Modelo 3D 119" descr="Pirámide gris tetragonal">
                <a:extLst>
                  <a:ext uri="{FF2B5EF4-FFF2-40B4-BE49-F238E27FC236}">
                    <a16:creationId xmlns:a16="http://schemas.microsoft.com/office/drawing/2014/main" id="{19DAFA3D-F7A7-8904-17F8-1C9C4ACF4F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3826327"/>
                  </p:ext>
                </p:extLst>
              </p:nvPr>
            </p:nvGraphicFramePr>
            <p:xfrm>
              <a:off x="457376" y="2597049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0" name="Modelo 3D 119" descr="Pirámide gris tetragonal">
                <a:extLst>
                  <a:ext uri="{FF2B5EF4-FFF2-40B4-BE49-F238E27FC236}">
                    <a16:creationId xmlns:a16="http://schemas.microsoft.com/office/drawing/2014/main" id="{19DAFA3D-F7A7-8904-17F8-1C9C4ACF4F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2597049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4950520"/>
                  </p:ext>
                </p:extLst>
              </p:nvPr>
            </p:nvGraphicFramePr>
            <p:xfrm>
              <a:off x="457376" y="3435312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3435312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2" name="Modelo 3D 121" descr="Pirámide gris tetragonal">
                <a:extLst>
                  <a:ext uri="{FF2B5EF4-FFF2-40B4-BE49-F238E27FC236}">
                    <a16:creationId xmlns:a16="http://schemas.microsoft.com/office/drawing/2014/main" id="{2C02C81C-67F2-AD2D-477E-97A0545867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6500306"/>
                  </p:ext>
                </p:extLst>
              </p:nvPr>
            </p:nvGraphicFramePr>
            <p:xfrm>
              <a:off x="476701" y="433381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2" name="Modelo 3D 121" descr="Pirámide gris tetragonal">
                <a:extLst>
                  <a:ext uri="{FF2B5EF4-FFF2-40B4-BE49-F238E27FC236}">
                    <a16:creationId xmlns:a16="http://schemas.microsoft.com/office/drawing/2014/main" id="{2C02C81C-67F2-AD2D-477E-97A0545867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701" y="433381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78430" y="255004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INTRODUCCIÓN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5375D2F7-7865-C0DC-FB51-CF0DB74A84F6}"/>
              </a:ext>
            </a:extLst>
          </p:cNvPr>
          <p:cNvSpPr txBox="1"/>
          <p:nvPr/>
        </p:nvSpPr>
        <p:spPr>
          <a:xfrm>
            <a:off x="978430" y="510346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JERARQUÍA DE OPERACIONES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78430" y="3392122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SUMAS Y RESTAS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4E211F80-FA16-3055-47BD-2FF04C708E61}"/>
              </a:ext>
            </a:extLst>
          </p:cNvPr>
          <p:cNvSpPr txBox="1"/>
          <p:nvPr/>
        </p:nvSpPr>
        <p:spPr>
          <a:xfrm>
            <a:off x="978430" y="429062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MULTIPLICACIÓN Y DIVISIÓN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5943658"/>
                  </p:ext>
                </p:extLst>
              </p:nvPr>
            </p:nvGraphicFramePr>
            <p:xfrm>
              <a:off x="457747" y="5118567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747" y="5118567"/>
                <a:ext cx="463450" cy="61613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4" grpId="0"/>
      <p:bldP spid="124" grpId="1"/>
      <p:bldP spid="125" grpId="0"/>
      <p:bldP spid="1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139827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7121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Para resolver expresiones con operaciones combinadas, seguiremos el siguiente orden: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1º- Paréntesis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Multiplicaciones y divisiones (de izquierda a derecha)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3º -Sumas y restas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E5BA6-4754-EC68-8FAB-4DF31894AEA7}"/>
              </a:ext>
            </a:extLst>
          </p:cNvPr>
          <p:cNvSpPr txBox="1"/>
          <p:nvPr/>
        </p:nvSpPr>
        <p:spPr>
          <a:xfrm>
            <a:off x="535084" y="2674289"/>
            <a:ext cx="1457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FC5ACECC-001B-7769-EBC3-1C4D2EBB0C2E}"/>
                  </a:ext>
                </a:extLst>
              </p:cNvPr>
              <p:cNvSpPr txBox="1"/>
              <p:nvPr/>
            </p:nvSpPr>
            <p:spPr>
              <a:xfrm>
                <a:off x="629774" y="3110657"/>
                <a:ext cx="22086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1) 4+3-2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FC5ACECC-001B-7769-EBC3-1C4D2EBB0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3110657"/>
                <a:ext cx="2208676" cy="400110"/>
              </a:xfrm>
              <a:prstGeom prst="rect">
                <a:avLst/>
              </a:prstGeom>
              <a:blipFill>
                <a:blip r:embed="rId6"/>
                <a:stretch>
                  <a:fillRect l="-2755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7C7F32D2-D4F6-3309-FF1F-8578A6EB5F09}"/>
                  </a:ext>
                </a:extLst>
              </p:cNvPr>
              <p:cNvSpPr txBox="1"/>
              <p:nvPr/>
            </p:nvSpPr>
            <p:spPr>
              <a:xfrm>
                <a:off x="629774" y="3555495"/>
                <a:ext cx="29478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2) 4+(3-2)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7C7F32D2-D4F6-3309-FF1F-8578A6EB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3555495"/>
                <a:ext cx="2947816" cy="400110"/>
              </a:xfrm>
              <a:prstGeom prst="rect">
                <a:avLst/>
              </a:prstGeom>
              <a:blipFill>
                <a:blip r:embed="rId7"/>
                <a:stretch>
                  <a:fillRect l="-2066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!CuadroTexto 1">
                <a:extLst>
                  <a:ext uri="{FF2B5EF4-FFF2-40B4-BE49-F238E27FC236}">
                    <a16:creationId xmlns:a16="http://schemas.microsoft.com/office/drawing/2014/main" id="{0FD20618-6CB0-4DAB-5A0D-97DEBD2C99A8}"/>
                  </a:ext>
                </a:extLst>
              </p:cNvPr>
              <p:cNvSpPr txBox="1"/>
              <p:nvPr/>
            </p:nvSpPr>
            <p:spPr>
              <a:xfrm>
                <a:off x="629774" y="4000333"/>
                <a:ext cx="26053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3) 6:3</a:t>
                </a:r>
                <a14:m>
                  <m:oMath xmlns:m="http://schemas.openxmlformats.org/officeDocument/2006/math">
                    <m:r>
                      <a:rPr lang="es-E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(2+3)</a:t>
                </a:r>
              </a:p>
            </p:txBody>
          </p:sp>
        </mc:Choice>
        <mc:Fallback xmlns="">
          <p:sp>
            <p:nvSpPr>
              <p:cNvPr id="8" name="!CuadroTexto 1">
                <a:extLst>
                  <a:ext uri="{FF2B5EF4-FFF2-40B4-BE49-F238E27FC236}">
                    <a16:creationId xmlns:a16="http://schemas.microsoft.com/office/drawing/2014/main" id="{0FD20618-6CB0-4DAB-5A0D-97DEBD2C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4000333"/>
                <a:ext cx="2605398" cy="400110"/>
              </a:xfrm>
              <a:prstGeom prst="rect">
                <a:avLst/>
              </a:prstGeom>
              <a:blipFill>
                <a:blip r:embed="rId8"/>
                <a:stretch>
                  <a:fillRect l="-2336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C23E481-C8CA-59CA-FC2C-3E5760A15772}"/>
                  </a:ext>
                </a:extLst>
              </p:cNvPr>
              <p:cNvSpPr txBox="1"/>
              <p:nvPr/>
            </p:nvSpPr>
            <p:spPr>
              <a:xfrm>
                <a:off x="5058408" y="3042555"/>
                <a:ext cx="20751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C23E481-C8CA-59CA-FC2C-3E5760A15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408" y="3042555"/>
                <a:ext cx="207518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0180784-335F-F4F5-541C-204AC7B50CD4}"/>
                  </a:ext>
                </a:extLst>
              </p:cNvPr>
              <p:cNvSpPr txBox="1"/>
              <p:nvPr/>
            </p:nvSpPr>
            <p:spPr>
              <a:xfrm>
                <a:off x="4955045" y="3740161"/>
                <a:ext cx="22819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0180784-335F-F4F5-541C-204AC7B50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045" y="3740161"/>
                <a:ext cx="228190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75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75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75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  <p:bldP spid="8" grpId="0"/>
      <p:bldP spid="12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139827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7121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Para resolver expresiones con operaciones combinadas, seguiremos el siguiente orden: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1º- Paréntesis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Multiplicaciones y divisiones (de izquierda a derecha)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3º -Sumas y restas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E5BA6-4754-EC68-8FAB-4DF31894AEA7}"/>
              </a:ext>
            </a:extLst>
          </p:cNvPr>
          <p:cNvSpPr txBox="1"/>
          <p:nvPr/>
        </p:nvSpPr>
        <p:spPr>
          <a:xfrm>
            <a:off x="535084" y="2674289"/>
            <a:ext cx="1457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FC5ACECC-001B-7769-EBC3-1C4D2EBB0C2E}"/>
                  </a:ext>
                </a:extLst>
              </p:cNvPr>
              <p:cNvSpPr txBox="1"/>
              <p:nvPr/>
            </p:nvSpPr>
            <p:spPr>
              <a:xfrm>
                <a:off x="629774" y="3110657"/>
                <a:ext cx="22086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1) 4+3-2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3=1</a:t>
                </a: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FC5ACECC-001B-7769-EBC3-1C4D2EBB0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3110657"/>
                <a:ext cx="2208676" cy="400110"/>
              </a:xfrm>
              <a:prstGeom prst="rect">
                <a:avLst/>
              </a:prstGeom>
              <a:blipFill>
                <a:blip r:embed="rId6"/>
                <a:stretch>
                  <a:fillRect l="-2755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7C7F32D2-D4F6-3309-FF1F-8578A6EB5F09}"/>
                  </a:ext>
                </a:extLst>
              </p:cNvPr>
              <p:cNvSpPr txBox="1"/>
              <p:nvPr/>
            </p:nvSpPr>
            <p:spPr>
              <a:xfrm>
                <a:off x="629774" y="3555495"/>
                <a:ext cx="29478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rgbClr val="156082"/>
                    </a:solidFill>
                    <a:latin typeface="Century Gothic" panose="020B0502020202020204" pitchFamily="34" charset="0"/>
                  </a:rPr>
                  <a:t>2) 4+(3-2)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156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rgbClr val="156082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7C7F32D2-D4F6-3309-FF1F-8578A6EB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3555495"/>
                <a:ext cx="2947816" cy="400110"/>
              </a:xfrm>
              <a:prstGeom prst="rect">
                <a:avLst/>
              </a:prstGeom>
              <a:blipFill>
                <a:blip r:embed="rId7"/>
                <a:stretch>
                  <a:fillRect l="-2066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!CuadroTexto 1">
                <a:extLst>
                  <a:ext uri="{FF2B5EF4-FFF2-40B4-BE49-F238E27FC236}">
                    <a16:creationId xmlns:a16="http://schemas.microsoft.com/office/drawing/2014/main" id="{0FD20618-6CB0-4DAB-5A0D-97DEBD2C99A8}"/>
                  </a:ext>
                </a:extLst>
              </p:cNvPr>
              <p:cNvSpPr txBox="1"/>
              <p:nvPr/>
            </p:nvSpPr>
            <p:spPr>
              <a:xfrm>
                <a:off x="629774" y="4000333"/>
                <a:ext cx="26053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3) 6:3</a:t>
                </a:r>
                <a14:m>
                  <m:oMath xmlns:m="http://schemas.openxmlformats.org/officeDocument/2006/math">
                    <m:r>
                      <a:rPr lang="es-E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(2+3)</a:t>
                </a:r>
              </a:p>
            </p:txBody>
          </p:sp>
        </mc:Choice>
        <mc:Fallback xmlns="">
          <p:sp>
            <p:nvSpPr>
              <p:cNvPr id="8" name="!CuadroTexto 1">
                <a:extLst>
                  <a:ext uri="{FF2B5EF4-FFF2-40B4-BE49-F238E27FC236}">
                    <a16:creationId xmlns:a16="http://schemas.microsoft.com/office/drawing/2014/main" id="{0FD20618-6CB0-4DAB-5A0D-97DEBD2C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4000333"/>
                <a:ext cx="2605398" cy="400110"/>
              </a:xfrm>
              <a:prstGeom prst="rect">
                <a:avLst/>
              </a:prstGeom>
              <a:blipFill>
                <a:blip r:embed="rId8"/>
                <a:stretch>
                  <a:fillRect l="-2336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C23E481-C8CA-59CA-FC2C-3E5760A15772}"/>
                  </a:ext>
                </a:extLst>
              </p:cNvPr>
              <p:cNvSpPr txBox="1"/>
              <p:nvPr/>
            </p:nvSpPr>
            <p:spPr>
              <a:xfrm>
                <a:off x="4909327" y="3039718"/>
                <a:ext cx="23733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C23E481-C8CA-59CA-FC2C-3E5760A15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327" y="3039718"/>
                <a:ext cx="237334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0180784-335F-F4F5-541C-204AC7B50CD4}"/>
                  </a:ext>
                </a:extLst>
              </p:cNvPr>
              <p:cNvSpPr txBox="1"/>
              <p:nvPr/>
            </p:nvSpPr>
            <p:spPr>
              <a:xfrm>
                <a:off x="5379422" y="3641460"/>
                <a:ext cx="14331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800" b="1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0180784-335F-F4F5-541C-204AC7B50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422" y="3641460"/>
                <a:ext cx="143314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C4C3A3B-6343-9FA0-A69F-3256014FD766}"/>
                  </a:ext>
                </a:extLst>
              </p:cNvPr>
              <p:cNvSpPr txBox="1"/>
              <p:nvPr/>
            </p:nvSpPr>
            <p:spPr>
              <a:xfrm>
                <a:off x="5276059" y="4243202"/>
                <a:ext cx="16398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C4C3A3B-6343-9FA0-A69F-3256014FD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59" y="4243202"/>
                <a:ext cx="163987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52267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139827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7121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Para resolver expresiones con operaciones combinadas, seguiremos el siguiente orden: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1º- Paréntesis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Multiplicaciones y divisiones (de izquierda a derecha)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3º -Sumas y restas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E5BA6-4754-EC68-8FAB-4DF31894AEA7}"/>
              </a:ext>
            </a:extLst>
          </p:cNvPr>
          <p:cNvSpPr txBox="1"/>
          <p:nvPr/>
        </p:nvSpPr>
        <p:spPr>
          <a:xfrm>
            <a:off x="535084" y="2674289"/>
            <a:ext cx="1457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FC5ACECC-001B-7769-EBC3-1C4D2EBB0C2E}"/>
                  </a:ext>
                </a:extLst>
              </p:cNvPr>
              <p:cNvSpPr txBox="1"/>
              <p:nvPr/>
            </p:nvSpPr>
            <p:spPr>
              <a:xfrm>
                <a:off x="629774" y="3110657"/>
                <a:ext cx="22086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1) 4+3-2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3=1</a:t>
                </a: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FC5ACECC-001B-7769-EBC3-1C4D2EBB0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3110657"/>
                <a:ext cx="2208676" cy="400110"/>
              </a:xfrm>
              <a:prstGeom prst="rect">
                <a:avLst/>
              </a:prstGeom>
              <a:blipFill>
                <a:blip r:embed="rId6"/>
                <a:stretch>
                  <a:fillRect l="-2755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7C7F32D2-D4F6-3309-FF1F-8578A6EB5F09}"/>
                  </a:ext>
                </a:extLst>
              </p:cNvPr>
              <p:cNvSpPr txBox="1"/>
              <p:nvPr/>
            </p:nvSpPr>
            <p:spPr>
              <a:xfrm>
                <a:off x="629774" y="3555495"/>
                <a:ext cx="29478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2) 4+(3-2)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3=7</a:t>
                </a:r>
              </a:p>
            </p:txBody>
          </p:sp>
        </mc:Choice>
        <mc:Fallback xmlns="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7C7F32D2-D4F6-3309-FF1F-8578A6EB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3555495"/>
                <a:ext cx="2947816" cy="400110"/>
              </a:xfrm>
              <a:prstGeom prst="rect">
                <a:avLst/>
              </a:prstGeom>
              <a:blipFill>
                <a:blip r:embed="rId7"/>
                <a:stretch>
                  <a:fillRect l="-2066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!CuadroTexto 1">
                <a:extLst>
                  <a:ext uri="{FF2B5EF4-FFF2-40B4-BE49-F238E27FC236}">
                    <a16:creationId xmlns:a16="http://schemas.microsoft.com/office/drawing/2014/main" id="{0FD20618-6CB0-4DAB-5A0D-97DEBD2C99A8}"/>
                  </a:ext>
                </a:extLst>
              </p:cNvPr>
              <p:cNvSpPr txBox="1"/>
              <p:nvPr/>
            </p:nvSpPr>
            <p:spPr>
              <a:xfrm>
                <a:off x="629774" y="4000333"/>
                <a:ext cx="26053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rgbClr val="156082"/>
                    </a:solidFill>
                    <a:latin typeface="Century Gothic" panose="020B0502020202020204" pitchFamily="34" charset="0"/>
                  </a:rPr>
                  <a:t>3) 6:3</a:t>
                </a:r>
                <a14:m>
                  <m:oMath xmlns:m="http://schemas.openxmlformats.org/officeDocument/2006/math">
                    <m:r>
                      <a:rPr lang="es-ES" sz="2000" b="1" i="1">
                        <a:solidFill>
                          <a:srgbClr val="156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rgbClr val="156082"/>
                    </a:solidFill>
                    <a:latin typeface="Century Gothic" panose="020B0502020202020204" pitchFamily="34" charset="0"/>
                  </a:rPr>
                  <a:t>(2+3)</a:t>
                </a:r>
              </a:p>
            </p:txBody>
          </p:sp>
        </mc:Choice>
        <mc:Fallback xmlns="">
          <p:sp>
            <p:nvSpPr>
              <p:cNvPr id="8" name="!CuadroTexto 1">
                <a:extLst>
                  <a:ext uri="{FF2B5EF4-FFF2-40B4-BE49-F238E27FC236}">
                    <a16:creationId xmlns:a16="http://schemas.microsoft.com/office/drawing/2014/main" id="{0FD20618-6CB0-4DAB-5A0D-97DEBD2C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4" y="4000333"/>
                <a:ext cx="2605398" cy="400110"/>
              </a:xfrm>
              <a:prstGeom prst="rect">
                <a:avLst/>
              </a:prstGeom>
              <a:blipFill>
                <a:blip r:embed="rId8"/>
                <a:stretch>
                  <a:fillRect l="-2336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C23E481-C8CA-59CA-FC2C-3E5760A15772}"/>
                  </a:ext>
                </a:extLst>
              </p:cNvPr>
              <p:cNvSpPr txBox="1"/>
              <p:nvPr/>
            </p:nvSpPr>
            <p:spPr>
              <a:xfrm>
                <a:off x="5044393" y="3029668"/>
                <a:ext cx="21032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8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ES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b="1" dirty="0"/>
                  <a:t>:</a:t>
                </a:r>
                <a14:m>
                  <m:oMath xmlns:m="http://schemas.openxmlformats.org/officeDocument/2006/math">
                    <m:r>
                      <a:rPr lang="es-ES" sz="28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8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8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sz="28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8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sz="28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sz="28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C23E481-C8CA-59CA-FC2C-3E5760A15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93" y="3029668"/>
                <a:ext cx="2103204" cy="430887"/>
              </a:xfrm>
              <a:prstGeom prst="rect">
                <a:avLst/>
              </a:prstGeom>
              <a:blipFill>
                <a:blip r:embed="rId9"/>
                <a:stretch>
                  <a:fillRect t="-25352" b="-4788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34BC4A2-1C9C-EA4C-8971-10926EB6ADF6}"/>
                  </a:ext>
                </a:extLst>
              </p:cNvPr>
              <p:cNvSpPr txBox="1"/>
              <p:nvPr/>
            </p:nvSpPr>
            <p:spPr>
              <a:xfrm>
                <a:off x="5514489" y="3617124"/>
                <a:ext cx="11630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8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ES" sz="28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:</a:t>
                </a:r>
                <a14:m>
                  <m:oMath xmlns:m="http://schemas.openxmlformats.org/officeDocument/2006/math">
                    <m:r>
                      <a:rPr lang="es-ES" sz="2800" b="1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8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</m:oMath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34BC4A2-1C9C-EA4C-8971-10926EB6A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489" y="3617124"/>
                <a:ext cx="1163011" cy="430887"/>
              </a:xfrm>
              <a:prstGeom prst="rect">
                <a:avLst/>
              </a:prstGeom>
              <a:blipFill>
                <a:blip r:embed="rId10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DCDA9F8-9BBF-FFC6-8ED4-8C679FC195C3}"/>
                  </a:ext>
                </a:extLst>
              </p:cNvPr>
              <p:cNvSpPr txBox="1"/>
              <p:nvPr/>
            </p:nvSpPr>
            <p:spPr>
              <a:xfrm>
                <a:off x="5252012" y="4204581"/>
                <a:ext cx="168796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dirty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dirty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DCDA9F8-9BBF-FFC6-8ED4-8C679FC19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012" y="4204581"/>
                <a:ext cx="168796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34322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2CAD9B0-461D-4183-82B4-20B40B16CD6C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1 ESO\\TEMA 1-Numeros naturales\\Horizontal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4. Jerarquía de operacio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9D724B0-8EE0-4BCD-9186-33E2146AE923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769BC8-B5A1-444E-8925-E8D7E15C8B71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D1E9435-6870-4A03-AB8E-9FE33AC2B89C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F5EA19D-659D-4B56-AC15-BEC06E8E1D59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240</Words>
  <Application>Microsoft Office PowerPoint</Application>
  <PresentationFormat>Panorámica</PresentationFormat>
  <Paragraphs>43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Jerarquía de operaciones</dc:title>
  <dc:creator>Illán Linos Souto</dc:creator>
  <cp:lastModifiedBy>Illán Linos</cp:lastModifiedBy>
  <cp:revision>26</cp:revision>
  <dcterms:created xsi:type="dcterms:W3CDTF">2024-08-18T18:48:07Z</dcterms:created>
  <dcterms:modified xsi:type="dcterms:W3CDTF">2025-11-17T11:43:44Z</dcterms:modified>
</cp:coreProperties>
</file>