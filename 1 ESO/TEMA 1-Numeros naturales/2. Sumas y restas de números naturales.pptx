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8" r:id="rId4"/>
    <p:sldId id="269" r:id="rId5"/>
    <p:sldId id="270" r:id="rId6"/>
  </p:sldIdLst>
  <p:sldSz cx="12192000" cy="6858000"/>
  <p:notesSz cx="6858000" cy="9144000"/>
  <p:custDataLst>
    <p:tags r:id="rId8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F12981-2966-4BAF-B44E-AD260C2AB649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1886B-9960-4462-BFFF-934A844CE15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5084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1886B-9960-4462-BFFF-934A844CE15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0666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1886B-9960-4462-BFFF-934A844CE153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451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1886B-9960-4462-BFFF-934A844CE153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4146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1886B-9960-4462-BFFF-934A844CE153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0275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1886B-9960-4462-BFFF-934A844CE153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1464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.xml"/><Relationship Id="rId7" Type="http://schemas.microsoft.com/office/2017/06/relationships/model3d" Target="../media/model3d2.glb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microsoft.com/office/2017/06/relationships/model3d" Target="../media/model3d1.glb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4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4" y="574828"/>
            <a:ext cx="762922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</a:t>
            </a:r>
          </a:p>
          <a:p>
            <a:r>
              <a:rPr lang="es-ES" sz="4800" dirty="0">
                <a:latin typeface="SF Fedora" panose="00000400000000000000" pitchFamily="2" charset="0"/>
                <a:cs typeface="SF Fedora" panose="00000400000000000000" pitchFamily="2" charset="0"/>
              </a:rPr>
              <a:t>Los Números Naturales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0" name="Modelo 3D 119" descr="Pirámide gris tetragonal">
                <a:extLst>
                  <a:ext uri="{FF2B5EF4-FFF2-40B4-BE49-F238E27FC236}">
                    <a16:creationId xmlns:a16="http://schemas.microsoft.com/office/drawing/2014/main" id="{19DAFA3D-F7A7-8904-17F8-1C9C4ACF4FE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93826327"/>
                  </p:ext>
                </p:extLst>
              </p:nvPr>
            </p:nvGraphicFramePr>
            <p:xfrm>
              <a:off x="457376" y="2597049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0" name="Modelo 3D 119" descr="Pirámide gris tetragonal">
                <a:extLst>
                  <a:ext uri="{FF2B5EF4-FFF2-40B4-BE49-F238E27FC236}">
                    <a16:creationId xmlns:a16="http://schemas.microsoft.com/office/drawing/2014/main" id="{19DAFA3D-F7A7-8904-17F8-1C9C4ACF4FE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7376" y="2597049"/>
                <a:ext cx="444496" cy="5599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42373457"/>
                  </p:ext>
                </p:extLst>
              </p:nvPr>
            </p:nvGraphicFramePr>
            <p:xfrm>
              <a:off x="457376" y="4295513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7376" y="4295513"/>
                <a:ext cx="444496" cy="5599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2" name="Modelo 3D 121" descr="Pirámide gris tetragonal">
                <a:extLst>
                  <a:ext uri="{FF2B5EF4-FFF2-40B4-BE49-F238E27FC236}">
                    <a16:creationId xmlns:a16="http://schemas.microsoft.com/office/drawing/2014/main" id="{2C02C81C-67F2-AD2D-477E-97A05458673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83594506"/>
                  </p:ext>
                </p:extLst>
              </p:nvPr>
            </p:nvGraphicFramePr>
            <p:xfrm>
              <a:off x="457376" y="5146656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2" name="Modelo 3D 121" descr="Pirámide gris tetragonal">
                <a:extLst>
                  <a:ext uri="{FF2B5EF4-FFF2-40B4-BE49-F238E27FC236}">
                    <a16:creationId xmlns:a16="http://schemas.microsoft.com/office/drawing/2014/main" id="{2C02C81C-67F2-AD2D-477E-97A0545867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7376" y="5146656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23" name="CuadroTexto 122">
            <a:extLst>
              <a:ext uri="{FF2B5EF4-FFF2-40B4-BE49-F238E27FC236}">
                <a16:creationId xmlns:a16="http://schemas.microsoft.com/office/drawing/2014/main" id="{11EB6959-DCB4-183D-2777-3FB76BB9132E}"/>
              </a:ext>
            </a:extLst>
          </p:cNvPr>
          <p:cNvSpPr txBox="1"/>
          <p:nvPr/>
        </p:nvSpPr>
        <p:spPr>
          <a:xfrm>
            <a:off x="978430" y="2550040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INTRODUCCIÓN</a:t>
            </a:r>
          </a:p>
        </p:txBody>
      </p: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5375D2F7-7865-C0DC-FB51-CF0DB74A84F6}"/>
              </a:ext>
            </a:extLst>
          </p:cNvPr>
          <p:cNvSpPr txBox="1"/>
          <p:nvPr/>
        </p:nvSpPr>
        <p:spPr>
          <a:xfrm>
            <a:off x="978430" y="3381606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SUMAS Y RESTAS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1B37A2FE-1AD7-51E6-B562-8151DEE82E4C}"/>
              </a:ext>
            </a:extLst>
          </p:cNvPr>
          <p:cNvSpPr txBox="1"/>
          <p:nvPr/>
        </p:nvSpPr>
        <p:spPr>
          <a:xfrm>
            <a:off x="978430" y="4252324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MULTIPLICACIÓN Y DIVISIÓN</a:t>
            </a:r>
          </a:p>
        </p:txBody>
      </p:sp>
      <p:sp>
        <p:nvSpPr>
          <p:cNvPr id="126" name="CuadroTexto 125">
            <a:extLst>
              <a:ext uri="{FF2B5EF4-FFF2-40B4-BE49-F238E27FC236}">
                <a16:creationId xmlns:a16="http://schemas.microsoft.com/office/drawing/2014/main" id="{4E211F80-FA16-3055-47BD-2FF04C708E61}"/>
              </a:ext>
            </a:extLst>
          </p:cNvPr>
          <p:cNvSpPr txBox="1"/>
          <p:nvPr/>
        </p:nvSpPr>
        <p:spPr>
          <a:xfrm>
            <a:off x="978430" y="5103467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JERARQUÍA DE OPERACIONES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07811511"/>
                  </p:ext>
                </p:extLst>
              </p:nvPr>
            </p:nvGraphicFramePr>
            <p:xfrm>
              <a:off x="447897" y="3416281"/>
              <a:ext cx="463450" cy="616130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463450" cy="61613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828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7897" y="3416281"/>
                <a:ext cx="463450" cy="61613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3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3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3" dur="1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" dur="1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1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123" grpId="0"/>
      <p:bldP spid="124" grpId="0"/>
      <p:bldP spid="124" grpId="1"/>
      <p:bldP spid="125" grpId="0"/>
      <p:bldP spid="1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53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Los Números Naturales</a:t>
            </a:r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A77665D5-7D91-4703-BED8-BBC05689FC64}"/>
              </a:ext>
            </a:extLst>
          </p:cNvPr>
          <p:cNvSpPr txBox="1"/>
          <p:nvPr/>
        </p:nvSpPr>
        <p:spPr>
          <a:xfrm>
            <a:off x="4964072" y="3126957"/>
            <a:ext cx="6692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El equipo ciclista cuesta en total:</a:t>
            </a:r>
            <a:endParaRPr lang="es-ES" sz="24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3" y="1220168"/>
            <a:ext cx="11121831" cy="523181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070B7AA7-77CB-BF43-24F9-F4EFC1B5219E}"/>
              </a:ext>
            </a:extLst>
          </p:cNvPr>
          <p:cNvGrpSpPr/>
          <p:nvPr/>
        </p:nvGrpSpPr>
        <p:grpSpPr>
          <a:xfrm>
            <a:off x="1586358" y="2151899"/>
            <a:ext cx="4064508" cy="3520095"/>
            <a:chOff x="1586358" y="2151899"/>
            <a:chExt cx="4064508" cy="3520095"/>
          </a:xfrm>
        </p:grpSpPr>
        <p:pic>
          <p:nvPicPr>
            <p:cNvPr id="10" name="Imagen 9" descr="Imagen digital de una bicicleta&#10;&#10;Descripción generada automáticamente con confianza media">
              <a:extLst>
                <a:ext uri="{FF2B5EF4-FFF2-40B4-BE49-F238E27FC236}">
                  <a16:creationId xmlns:a16="http://schemas.microsoft.com/office/drawing/2014/main" id="{E5FF60FA-42BF-1B2A-47D7-4528B832F8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43302" y="3992546"/>
              <a:ext cx="1944624" cy="1679448"/>
            </a:xfrm>
            <a:prstGeom prst="rect">
              <a:avLst/>
            </a:prstGeom>
          </p:spPr>
        </p:pic>
        <p:pic>
          <p:nvPicPr>
            <p:cNvPr id="12" name="Imagen 11" descr="Logotipo&#10;&#10;Descripción generada automáticamente">
              <a:extLst>
                <a:ext uri="{FF2B5EF4-FFF2-40B4-BE49-F238E27FC236}">
                  <a16:creationId xmlns:a16="http://schemas.microsoft.com/office/drawing/2014/main" id="{E0BBA18B-EA64-8DDF-8922-437B2797D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7576" y="2151899"/>
              <a:ext cx="1465726" cy="1465726"/>
            </a:xfrm>
            <a:prstGeom prst="rect">
              <a:avLst/>
            </a:prstGeom>
          </p:spPr>
        </p:pic>
        <p:pic>
          <p:nvPicPr>
            <p:cNvPr id="15" name="Imagen 14" descr="Imagen que contiene cama&#10;&#10;Descripción generada automáticamente">
              <a:extLst>
                <a:ext uri="{FF2B5EF4-FFF2-40B4-BE49-F238E27FC236}">
                  <a16:creationId xmlns:a16="http://schemas.microsoft.com/office/drawing/2014/main" id="{C8E8267F-63F1-CA86-D35C-BE0A66F5F9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1193" y="3603230"/>
              <a:ext cx="1438492" cy="1438492"/>
            </a:xfrm>
            <a:prstGeom prst="rect">
              <a:avLst/>
            </a:prstGeom>
          </p:spPr>
        </p:pic>
        <p:pic>
          <p:nvPicPr>
            <p:cNvPr id="18" name="Imagen 17" descr="Un dibujo de una mujer con un traje de color negro&#10;&#10;Descripción generada automáticamente con confianza baja">
              <a:extLst>
                <a:ext uri="{FF2B5EF4-FFF2-40B4-BE49-F238E27FC236}">
                  <a16:creationId xmlns:a16="http://schemas.microsoft.com/office/drawing/2014/main" id="{A0BE46F5-D94F-900F-B218-7A7E06DDF1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96414" y="2204000"/>
              <a:ext cx="1838400" cy="1838400"/>
            </a:xfrm>
            <a:prstGeom prst="rect">
              <a:avLst/>
            </a:prstGeom>
          </p:spPr>
        </p:pic>
        <p:sp>
          <p:nvSpPr>
            <p:cNvPr id="19" name="!Marco 10">
              <a:extLst>
                <a:ext uri="{FF2B5EF4-FFF2-40B4-BE49-F238E27FC236}">
                  <a16:creationId xmlns:a16="http://schemas.microsoft.com/office/drawing/2014/main" id="{E6982C5F-B677-5718-D1F6-DAEB95A1106B}"/>
                </a:ext>
              </a:extLst>
            </p:cNvPr>
            <p:cNvSpPr/>
            <p:nvPr/>
          </p:nvSpPr>
          <p:spPr>
            <a:xfrm>
              <a:off x="1586358" y="4504375"/>
              <a:ext cx="832104" cy="42127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b="1" dirty="0">
                  <a:solidFill>
                    <a:schemeClr val="tx1"/>
                  </a:solidFill>
                </a:rPr>
                <a:t>38€</a:t>
              </a:r>
            </a:p>
          </p:txBody>
        </p:sp>
        <p:sp>
          <p:nvSpPr>
            <p:cNvPr id="20" name="!Marco 10">
              <a:extLst>
                <a:ext uri="{FF2B5EF4-FFF2-40B4-BE49-F238E27FC236}">
                  <a16:creationId xmlns:a16="http://schemas.microsoft.com/office/drawing/2014/main" id="{795FB457-9F18-B2DD-D1B0-B478488984B6}"/>
                </a:ext>
              </a:extLst>
            </p:cNvPr>
            <p:cNvSpPr/>
            <p:nvPr/>
          </p:nvSpPr>
          <p:spPr>
            <a:xfrm>
              <a:off x="4818762" y="5158388"/>
              <a:ext cx="832104" cy="42127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b="1">
                  <a:solidFill>
                    <a:schemeClr val="tx1"/>
                  </a:solidFill>
                </a:rPr>
                <a:t>583€</a:t>
              </a:r>
              <a:endParaRPr lang="es-E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!Marco 10">
              <a:extLst>
                <a:ext uri="{FF2B5EF4-FFF2-40B4-BE49-F238E27FC236}">
                  <a16:creationId xmlns:a16="http://schemas.microsoft.com/office/drawing/2014/main" id="{91E0D7B0-7EC8-4FCF-71BE-33F442AF8D38}"/>
                </a:ext>
              </a:extLst>
            </p:cNvPr>
            <p:cNvSpPr/>
            <p:nvPr/>
          </p:nvSpPr>
          <p:spPr>
            <a:xfrm>
              <a:off x="4315614" y="3509137"/>
              <a:ext cx="832104" cy="42127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b="1" dirty="0">
                  <a:solidFill>
                    <a:schemeClr val="tx1"/>
                  </a:solidFill>
                </a:rPr>
                <a:t>45€</a:t>
              </a:r>
            </a:p>
          </p:txBody>
        </p:sp>
        <p:sp>
          <p:nvSpPr>
            <p:cNvPr id="23" name="!Marco 10">
              <a:extLst>
                <a:ext uri="{FF2B5EF4-FFF2-40B4-BE49-F238E27FC236}">
                  <a16:creationId xmlns:a16="http://schemas.microsoft.com/office/drawing/2014/main" id="{30806E38-E0AC-7F76-DA8D-8D8E47AF8FD0}"/>
                </a:ext>
              </a:extLst>
            </p:cNvPr>
            <p:cNvSpPr/>
            <p:nvPr/>
          </p:nvSpPr>
          <p:spPr>
            <a:xfrm>
              <a:off x="1631670" y="3052677"/>
              <a:ext cx="832104" cy="42127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b="1" dirty="0">
                  <a:solidFill>
                    <a:schemeClr val="tx1"/>
                  </a:solidFill>
                </a:rPr>
                <a:t>162€</a:t>
              </a:r>
            </a:p>
          </p:txBody>
        </p:sp>
      </p:grp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281703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Recuerda que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sumar</a:t>
            </a:r>
            <a:r>
              <a:rPr lang="es-ES" sz="2000" b="1" dirty="0">
                <a:latin typeface="Century Gothic" panose="020B0502020202020204" pitchFamily="34" charset="0"/>
              </a:rPr>
              <a:t> es unir, juntar, añadir.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5" name="!CuadroTexto 1">
            <a:extLst>
              <a:ext uri="{FF2B5EF4-FFF2-40B4-BE49-F238E27FC236}">
                <a16:creationId xmlns:a16="http://schemas.microsoft.com/office/drawing/2014/main" id="{3705B933-E79A-0522-F2EF-4B398AB2BB2C}"/>
              </a:ext>
            </a:extLst>
          </p:cNvPr>
          <p:cNvSpPr txBox="1"/>
          <p:nvPr/>
        </p:nvSpPr>
        <p:spPr>
          <a:xfrm>
            <a:off x="4964072" y="3565450"/>
            <a:ext cx="6692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583 + 162 + 45 + 38 = 828€</a:t>
            </a:r>
            <a:endParaRPr lang="es-ES" sz="24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475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24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53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Los Números Naturales</a:t>
            </a:r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A77665D5-7D91-4703-BED8-BBC05689FC64}"/>
              </a:ext>
            </a:extLst>
          </p:cNvPr>
          <p:cNvSpPr txBox="1"/>
          <p:nvPr/>
        </p:nvSpPr>
        <p:spPr>
          <a:xfrm>
            <a:off x="4964072" y="3733316"/>
            <a:ext cx="6692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El dinero que nos queda es:</a:t>
            </a:r>
            <a:endParaRPr lang="es-ES" sz="24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152808"/>
            <a:ext cx="11121832" cy="855416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21426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Restar</a:t>
            </a:r>
            <a:r>
              <a:rPr lang="es-ES" sz="2000" b="1" dirty="0">
                <a:latin typeface="Century Gothic" panose="020B0502020202020204" pitchFamily="34" charset="0"/>
              </a:rPr>
              <a:t> es quitar, suprimir, hallar lo que falta o lo que sobra; es decir, calcular la diferencia.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5" name="!CuadroTexto 1">
            <a:extLst>
              <a:ext uri="{FF2B5EF4-FFF2-40B4-BE49-F238E27FC236}">
                <a16:creationId xmlns:a16="http://schemas.microsoft.com/office/drawing/2014/main" id="{3705B933-E79A-0522-F2EF-4B398AB2BB2C}"/>
              </a:ext>
            </a:extLst>
          </p:cNvPr>
          <p:cNvSpPr txBox="1"/>
          <p:nvPr/>
        </p:nvSpPr>
        <p:spPr>
          <a:xfrm>
            <a:off x="4964072" y="4171809"/>
            <a:ext cx="6692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828 - 693 = 135€</a:t>
            </a:r>
            <a:endParaRPr lang="es-ES" sz="24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F5B84E80-DA6F-1433-9BB2-75DA2E6C04AC}"/>
              </a:ext>
            </a:extLst>
          </p:cNvPr>
          <p:cNvGrpSpPr/>
          <p:nvPr/>
        </p:nvGrpSpPr>
        <p:grpSpPr>
          <a:xfrm>
            <a:off x="6957188" y="2022956"/>
            <a:ext cx="2790249" cy="1656616"/>
            <a:chOff x="6957188" y="2022956"/>
            <a:chExt cx="2790249" cy="1656616"/>
          </a:xfrm>
        </p:grpSpPr>
        <p:pic>
          <p:nvPicPr>
            <p:cNvPr id="4" name="Imagen 3" descr="Un celular encima de una maleta&#10;&#10;Descripción generada automáticamente con confianza media">
              <a:extLst>
                <a:ext uri="{FF2B5EF4-FFF2-40B4-BE49-F238E27FC236}">
                  <a16:creationId xmlns:a16="http://schemas.microsoft.com/office/drawing/2014/main" id="{E518A627-268B-598C-6A11-62234C3F4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57188" y="2022956"/>
              <a:ext cx="1732546" cy="1656616"/>
            </a:xfrm>
            <a:prstGeom prst="rect">
              <a:avLst/>
            </a:prstGeom>
          </p:spPr>
        </p:pic>
        <p:sp>
          <p:nvSpPr>
            <p:cNvPr id="9" name="!Marco 10">
              <a:extLst>
                <a:ext uri="{FF2B5EF4-FFF2-40B4-BE49-F238E27FC236}">
                  <a16:creationId xmlns:a16="http://schemas.microsoft.com/office/drawing/2014/main" id="{D344BC57-F9B3-A3E8-B780-021A65C7549F}"/>
                </a:ext>
              </a:extLst>
            </p:cNvPr>
            <p:cNvSpPr/>
            <p:nvPr/>
          </p:nvSpPr>
          <p:spPr>
            <a:xfrm>
              <a:off x="8915333" y="2621411"/>
              <a:ext cx="832104" cy="42127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b="1" dirty="0">
                  <a:solidFill>
                    <a:schemeClr val="tx1"/>
                  </a:solidFill>
                </a:rPr>
                <a:t>828€</a:t>
              </a: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34E8E04-3D3C-E5B4-E37F-26C662222D56}"/>
              </a:ext>
            </a:extLst>
          </p:cNvPr>
          <p:cNvGrpSpPr/>
          <p:nvPr/>
        </p:nvGrpSpPr>
        <p:grpSpPr>
          <a:xfrm>
            <a:off x="1586358" y="2151899"/>
            <a:ext cx="4064508" cy="3520095"/>
            <a:chOff x="1586358" y="2151899"/>
            <a:chExt cx="4064508" cy="3520095"/>
          </a:xfrm>
        </p:grpSpPr>
        <p:pic>
          <p:nvPicPr>
            <p:cNvPr id="16" name="Imagen 15" descr="Imagen digital de una bicicleta&#10;&#10;Descripción generada automáticamente con confianza media">
              <a:extLst>
                <a:ext uri="{FF2B5EF4-FFF2-40B4-BE49-F238E27FC236}">
                  <a16:creationId xmlns:a16="http://schemas.microsoft.com/office/drawing/2014/main" id="{7EF475E9-5A48-BD51-BF61-7018E1C56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43302" y="3992546"/>
              <a:ext cx="1944624" cy="1679448"/>
            </a:xfrm>
            <a:prstGeom prst="rect">
              <a:avLst/>
            </a:prstGeom>
          </p:spPr>
        </p:pic>
        <p:pic>
          <p:nvPicPr>
            <p:cNvPr id="17" name="Imagen 16" descr="Logotipo&#10;&#10;Descripción generada automáticamente">
              <a:extLst>
                <a:ext uri="{FF2B5EF4-FFF2-40B4-BE49-F238E27FC236}">
                  <a16:creationId xmlns:a16="http://schemas.microsoft.com/office/drawing/2014/main" id="{B98D06A4-D14F-63F5-77A3-088017C53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7576" y="2151899"/>
              <a:ext cx="1465726" cy="1465726"/>
            </a:xfrm>
            <a:prstGeom prst="rect">
              <a:avLst/>
            </a:prstGeom>
          </p:spPr>
        </p:pic>
        <p:pic>
          <p:nvPicPr>
            <p:cNvPr id="22" name="Imagen 21" descr="Imagen que contiene cama&#10;&#10;Descripción generada automáticamente">
              <a:extLst>
                <a:ext uri="{FF2B5EF4-FFF2-40B4-BE49-F238E27FC236}">
                  <a16:creationId xmlns:a16="http://schemas.microsoft.com/office/drawing/2014/main" id="{A3DC6710-44DE-621D-42B4-7D9C4CDDC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1193" y="3603230"/>
              <a:ext cx="1438492" cy="1438492"/>
            </a:xfrm>
            <a:prstGeom prst="rect">
              <a:avLst/>
            </a:prstGeom>
          </p:spPr>
        </p:pic>
        <p:pic>
          <p:nvPicPr>
            <p:cNvPr id="26" name="Imagen 25" descr="Un dibujo de una mujer con un traje de color negro&#10;&#10;Descripción generada automáticamente con confianza baja">
              <a:extLst>
                <a:ext uri="{FF2B5EF4-FFF2-40B4-BE49-F238E27FC236}">
                  <a16:creationId xmlns:a16="http://schemas.microsoft.com/office/drawing/2014/main" id="{283F0CD5-79DE-067C-FFEC-3F6548A478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96414" y="2204000"/>
              <a:ext cx="1838400" cy="1838400"/>
            </a:xfrm>
            <a:prstGeom prst="rect">
              <a:avLst/>
            </a:prstGeom>
          </p:spPr>
        </p:pic>
        <p:sp>
          <p:nvSpPr>
            <p:cNvPr id="27" name="!Marco 10">
              <a:extLst>
                <a:ext uri="{FF2B5EF4-FFF2-40B4-BE49-F238E27FC236}">
                  <a16:creationId xmlns:a16="http://schemas.microsoft.com/office/drawing/2014/main" id="{0CD9984B-4C86-AF98-CE0F-25777B2A2D3D}"/>
                </a:ext>
              </a:extLst>
            </p:cNvPr>
            <p:cNvSpPr/>
            <p:nvPr/>
          </p:nvSpPr>
          <p:spPr>
            <a:xfrm>
              <a:off x="1586358" y="4504375"/>
              <a:ext cx="832104" cy="42127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b="1" dirty="0">
                  <a:solidFill>
                    <a:schemeClr val="tx1"/>
                  </a:solidFill>
                </a:rPr>
                <a:t>38€</a:t>
              </a:r>
            </a:p>
          </p:txBody>
        </p:sp>
        <p:sp>
          <p:nvSpPr>
            <p:cNvPr id="28" name="!Marco 10">
              <a:extLst>
                <a:ext uri="{FF2B5EF4-FFF2-40B4-BE49-F238E27FC236}">
                  <a16:creationId xmlns:a16="http://schemas.microsoft.com/office/drawing/2014/main" id="{66383511-3B3A-7CC1-EC35-8D35E5A68ED1}"/>
                </a:ext>
              </a:extLst>
            </p:cNvPr>
            <p:cNvSpPr/>
            <p:nvPr/>
          </p:nvSpPr>
          <p:spPr>
            <a:xfrm>
              <a:off x="4818762" y="5158388"/>
              <a:ext cx="832104" cy="42127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b="1">
                  <a:solidFill>
                    <a:schemeClr val="tx1"/>
                  </a:solidFill>
                </a:rPr>
                <a:t>583€</a:t>
              </a:r>
              <a:endParaRPr lang="es-E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!Marco 10">
              <a:extLst>
                <a:ext uri="{FF2B5EF4-FFF2-40B4-BE49-F238E27FC236}">
                  <a16:creationId xmlns:a16="http://schemas.microsoft.com/office/drawing/2014/main" id="{9927F5C0-0374-BD63-A04D-55323FBEC528}"/>
                </a:ext>
              </a:extLst>
            </p:cNvPr>
            <p:cNvSpPr/>
            <p:nvPr/>
          </p:nvSpPr>
          <p:spPr>
            <a:xfrm>
              <a:off x="4315614" y="3509137"/>
              <a:ext cx="832104" cy="42127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b="1" dirty="0">
                  <a:solidFill>
                    <a:schemeClr val="tx1"/>
                  </a:solidFill>
                </a:rPr>
                <a:t>45€</a:t>
              </a:r>
            </a:p>
          </p:txBody>
        </p:sp>
        <p:sp>
          <p:nvSpPr>
            <p:cNvPr id="30" name="!Marco 10">
              <a:extLst>
                <a:ext uri="{FF2B5EF4-FFF2-40B4-BE49-F238E27FC236}">
                  <a16:creationId xmlns:a16="http://schemas.microsoft.com/office/drawing/2014/main" id="{B2C9480C-F154-881E-2633-0ADC72A0EE07}"/>
                </a:ext>
              </a:extLst>
            </p:cNvPr>
            <p:cNvSpPr/>
            <p:nvPr/>
          </p:nvSpPr>
          <p:spPr>
            <a:xfrm>
              <a:off x="1631670" y="3052677"/>
              <a:ext cx="832104" cy="42127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b="1" dirty="0">
                  <a:solidFill>
                    <a:schemeClr val="tx1"/>
                  </a:solidFill>
                </a:rPr>
                <a:t>162€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934794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25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75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2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25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24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53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Los Números Naturales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152808"/>
            <a:ext cx="11121832" cy="855416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226573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Los paréntesis empaquetan resultados parciales,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modificando el orden en que han de hacerse las operaciones</a:t>
            </a:r>
            <a:r>
              <a:rPr lang="es-ES" sz="2000" b="1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3" name="!CuadroTexto 1">
            <a:extLst>
              <a:ext uri="{FF2B5EF4-FFF2-40B4-BE49-F238E27FC236}">
                <a16:creationId xmlns:a16="http://schemas.microsoft.com/office/drawing/2014/main" id="{E42DE741-8DF8-6853-531A-D303B7593D0A}"/>
              </a:ext>
            </a:extLst>
          </p:cNvPr>
          <p:cNvSpPr txBox="1"/>
          <p:nvPr/>
        </p:nvSpPr>
        <p:spPr>
          <a:xfrm>
            <a:off x="2812969" y="2357639"/>
            <a:ext cx="3189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9 – 1 + 3</a:t>
            </a:r>
            <a:endParaRPr lang="es-ES" sz="24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!CuadroTexto 1">
            <a:extLst>
              <a:ext uri="{FF2B5EF4-FFF2-40B4-BE49-F238E27FC236}">
                <a16:creationId xmlns:a16="http://schemas.microsoft.com/office/drawing/2014/main" id="{36551AE8-2B7B-9A8F-9F0D-32366F1E8348}"/>
              </a:ext>
            </a:extLst>
          </p:cNvPr>
          <p:cNvSpPr txBox="1"/>
          <p:nvPr/>
        </p:nvSpPr>
        <p:spPr>
          <a:xfrm>
            <a:off x="2812969" y="2819304"/>
            <a:ext cx="3189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8 + 3</a:t>
            </a:r>
            <a:endParaRPr lang="es-ES" sz="24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!CuadroTexto 1">
            <a:extLst>
              <a:ext uri="{FF2B5EF4-FFF2-40B4-BE49-F238E27FC236}">
                <a16:creationId xmlns:a16="http://schemas.microsoft.com/office/drawing/2014/main" id="{6F8CD9CB-56AD-D81F-7A04-320AD8B31028}"/>
              </a:ext>
            </a:extLst>
          </p:cNvPr>
          <p:cNvSpPr txBox="1"/>
          <p:nvPr/>
        </p:nvSpPr>
        <p:spPr>
          <a:xfrm>
            <a:off x="2812969" y="3280969"/>
            <a:ext cx="3189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11</a:t>
            </a:r>
            <a:endParaRPr lang="es-ES" sz="24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!CuadroTexto 1">
            <a:extLst>
              <a:ext uri="{FF2B5EF4-FFF2-40B4-BE49-F238E27FC236}">
                <a16:creationId xmlns:a16="http://schemas.microsoft.com/office/drawing/2014/main" id="{0D35694E-C481-752F-3EA6-B166B4918F92}"/>
              </a:ext>
            </a:extLst>
          </p:cNvPr>
          <p:cNvSpPr txBox="1"/>
          <p:nvPr/>
        </p:nvSpPr>
        <p:spPr>
          <a:xfrm>
            <a:off x="6002297" y="2357639"/>
            <a:ext cx="3189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9 – (1 + 3)</a:t>
            </a:r>
            <a:endParaRPr lang="es-ES" sz="24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!CuadroTexto 1">
            <a:extLst>
              <a:ext uri="{FF2B5EF4-FFF2-40B4-BE49-F238E27FC236}">
                <a16:creationId xmlns:a16="http://schemas.microsoft.com/office/drawing/2014/main" id="{BA957DFB-981B-A45E-79FB-606FF666C2C5}"/>
              </a:ext>
            </a:extLst>
          </p:cNvPr>
          <p:cNvSpPr txBox="1"/>
          <p:nvPr/>
        </p:nvSpPr>
        <p:spPr>
          <a:xfrm>
            <a:off x="6002297" y="2819304"/>
            <a:ext cx="3189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9 - 4</a:t>
            </a:r>
            <a:endParaRPr lang="es-ES" sz="24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!CuadroTexto 1">
            <a:extLst>
              <a:ext uri="{FF2B5EF4-FFF2-40B4-BE49-F238E27FC236}">
                <a16:creationId xmlns:a16="http://schemas.microsoft.com/office/drawing/2014/main" id="{A903BC9D-6E0A-65BC-A3CE-4A0DA17CD24C}"/>
              </a:ext>
            </a:extLst>
          </p:cNvPr>
          <p:cNvSpPr txBox="1"/>
          <p:nvPr/>
        </p:nvSpPr>
        <p:spPr>
          <a:xfrm>
            <a:off x="6002297" y="3280969"/>
            <a:ext cx="3189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5</a:t>
            </a:r>
            <a:endParaRPr lang="es-ES" sz="24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CF4266FD-5B41-9F15-A6BA-B721C09C1E2B}"/>
              </a:ext>
            </a:extLst>
          </p:cNvPr>
          <p:cNvCxnSpPr/>
          <p:nvPr/>
        </p:nvCxnSpPr>
        <p:spPr>
          <a:xfrm>
            <a:off x="3956050" y="2749550"/>
            <a:ext cx="127000" cy="14605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ACC6BAD-D168-EB74-C0E4-4A7B400AB5E5}"/>
              </a:ext>
            </a:extLst>
          </p:cNvPr>
          <p:cNvCxnSpPr>
            <a:cxnSpLocks/>
          </p:cNvCxnSpPr>
          <p:nvPr/>
        </p:nvCxnSpPr>
        <p:spPr>
          <a:xfrm flipH="1">
            <a:off x="4196984" y="2746279"/>
            <a:ext cx="115460" cy="149321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870BABFE-04AF-9779-FDBF-B2871C540D4B}"/>
              </a:ext>
            </a:extLst>
          </p:cNvPr>
          <p:cNvCxnSpPr/>
          <p:nvPr/>
        </p:nvCxnSpPr>
        <p:spPr>
          <a:xfrm>
            <a:off x="4213195" y="3204673"/>
            <a:ext cx="127000" cy="14605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2E797DB0-564D-464E-0717-309E0FD20F23}"/>
              </a:ext>
            </a:extLst>
          </p:cNvPr>
          <p:cNvCxnSpPr>
            <a:cxnSpLocks/>
          </p:cNvCxnSpPr>
          <p:nvPr/>
        </p:nvCxnSpPr>
        <p:spPr>
          <a:xfrm flipH="1">
            <a:off x="4454129" y="3201402"/>
            <a:ext cx="115460" cy="149321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894FE9A6-C2EC-6C84-87B0-67644DC08B5E}"/>
              </a:ext>
            </a:extLst>
          </p:cNvPr>
          <p:cNvCxnSpPr/>
          <p:nvPr/>
        </p:nvCxnSpPr>
        <p:spPr>
          <a:xfrm>
            <a:off x="7423465" y="3204673"/>
            <a:ext cx="127000" cy="14605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223A0A79-A36A-4215-0548-92D6B63F74C0}"/>
              </a:ext>
            </a:extLst>
          </p:cNvPr>
          <p:cNvCxnSpPr>
            <a:cxnSpLocks/>
          </p:cNvCxnSpPr>
          <p:nvPr/>
        </p:nvCxnSpPr>
        <p:spPr>
          <a:xfrm flipH="1">
            <a:off x="7664399" y="3201402"/>
            <a:ext cx="115460" cy="149321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31CB95E9-11E7-9BE0-C36F-3998519C3A43}"/>
              </a:ext>
            </a:extLst>
          </p:cNvPr>
          <p:cNvCxnSpPr/>
          <p:nvPr/>
        </p:nvCxnSpPr>
        <p:spPr>
          <a:xfrm>
            <a:off x="7680610" y="2747914"/>
            <a:ext cx="127000" cy="14605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A043391D-2DB7-6F93-8C8B-CA6A26BA3F41}"/>
              </a:ext>
            </a:extLst>
          </p:cNvPr>
          <p:cNvCxnSpPr>
            <a:cxnSpLocks/>
          </p:cNvCxnSpPr>
          <p:nvPr/>
        </p:nvCxnSpPr>
        <p:spPr>
          <a:xfrm flipH="1">
            <a:off x="7921544" y="2744643"/>
            <a:ext cx="115460" cy="149321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643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7" grpId="0"/>
      <p:bldP spid="8" grpId="0"/>
      <p:bldP spid="11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53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Los Números Naturales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152808"/>
            <a:ext cx="11121832" cy="803392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194890"/>
            <a:ext cx="112124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Propiedad conmutativa: </a:t>
            </a:r>
            <a:r>
              <a:rPr lang="es-ES" sz="2000" b="1" dirty="0">
                <a:latin typeface="Century Gothic" panose="020B0502020202020204" pitchFamily="34" charset="0"/>
              </a:rPr>
              <a:t>La suma no varía al cambiar el orden de los sumandos.</a:t>
            </a:r>
          </a:p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a + b = b + a</a:t>
            </a:r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08109D53-4675-6003-2FBE-C74CA0D7682B}"/>
              </a:ext>
            </a:extLst>
          </p:cNvPr>
          <p:cNvSpPr txBox="1"/>
          <p:nvPr/>
        </p:nvSpPr>
        <p:spPr>
          <a:xfrm>
            <a:off x="3702078" y="2159136"/>
            <a:ext cx="1917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8 + 6 = 14</a:t>
            </a:r>
            <a:endParaRPr lang="es-ES" sz="24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C00F724D-F0FB-0EBC-D477-628909D63B40}"/>
              </a:ext>
            </a:extLst>
          </p:cNvPr>
          <p:cNvSpPr txBox="1"/>
          <p:nvPr/>
        </p:nvSpPr>
        <p:spPr>
          <a:xfrm>
            <a:off x="6572252" y="2159135"/>
            <a:ext cx="1917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6 + 8 = 14</a:t>
            </a:r>
            <a:endParaRPr lang="es-ES" sz="24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!Marco 10">
            <a:extLst>
              <a:ext uri="{FF2B5EF4-FFF2-40B4-BE49-F238E27FC236}">
                <a16:creationId xmlns:a16="http://schemas.microsoft.com/office/drawing/2014/main" id="{8A81465F-C39E-E86D-A534-2B3560DEEFF3}"/>
              </a:ext>
            </a:extLst>
          </p:cNvPr>
          <p:cNvSpPr/>
          <p:nvPr/>
        </p:nvSpPr>
        <p:spPr>
          <a:xfrm>
            <a:off x="535084" y="2853350"/>
            <a:ext cx="11121832" cy="1151300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F0FBBA83-E9B3-3372-C349-29904D76C353}"/>
              </a:ext>
            </a:extLst>
          </p:cNvPr>
          <p:cNvSpPr txBox="1"/>
          <p:nvPr/>
        </p:nvSpPr>
        <p:spPr>
          <a:xfrm>
            <a:off x="535084" y="2921169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Propiedad asociativa: </a:t>
            </a:r>
            <a:r>
              <a:rPr lang="es-ES" sz="2000" b="1" dirty="0">
                <a:latin typeface="Century Gothic" panose="020B0502020202020204" pitchFamily="34" charset="0"/>
              </a:rPr>
              <a:t>El resultado de la suma es independiente a como se agrupen los sumandos.</a:t>
            </a:r>
          </a:p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(a + b) + c = a + (b + c)</a:t>
            </a:r>
          </a:p>
        </p:txBody>
      </p:sp>
      <p:sp>
        <p:nvSpPr>
          <p:cNvPr id="12" name="!CuadroTexto 1">
            <a:extLst>
              <a:ext uri="{FF2B5EF4-FFF2-40B4-BE49-F238E27FC236}">
                <a16:creationId xmlns:a16="http://schemas.microsoft.com/office/drawing/2014/main" id="{D183B239-9410-2239-0E17-FA484426720E}"/>
              </a:ext>
            </a:extLst>
          </p:cNvPr>
          <p:cNvSpPr txBox="1"/>
          <p:nvPr/>
        </p:nvSpPr>
        <p:spPr>
          <a:xfrm>
            <a:off x="3182112" y="4237200"/>
            <a:ext cx="243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(8 + 6) + 3 = 17</a:t>
            </a:r>
            <a:endParaRPr lang="es-ES" sz="24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6" name="!CuadroTexto 1">
            <a:extLst>
              <a:ext uri="{FF2B5EF4-FFF2-40B4-BE49-F238E27FC236}">
                <a16:creationId xmlns:a16="http://schemas.microsoft.com/office/drawing/2014/main" id="{E3C0FF5E-E8D9-031F-16B2-6D78ABD4B675}"/>
              </a:ext>
            </a:extLst>
          </p:cNvPr>
          <p:cNvSpPr txBox="1"/>
          <p:nvPr/>
        </p:nvSpPr>
        <p:spPr>
          <a:xfrm>
            <a:off x="6572252" y="4237199"/>
            <a:ext cx="243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8 + (6 + 3) = 17</a:t>
            </a:r>
            <a:endParaRPr lang="es-ES" sz="24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1272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75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6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5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/>
      <p:bldP spid="5" grpId="0"/>
      <p:bldP spid="9" grpId="0" animBg="1"/>
      <p:bldP spid="10" grpId="0"/>
      <p:bldP spid="12" grpId="0"/>
      <p:bldP spid="1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C2EEB943-53F2-4793-8BD9-BBF015425510"/>
  <p:tag name="ISPRING_CMI5_LAUNCH_METHOD" val="any window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1 ESO\\TEMA 1-Numeros naturales\\Horizontal&quot;]]"/>
  <p:tag name="ISPRING_SCORM_PASSING_SCORE" val="100.000000"/>
  <p:tag name="ISPRING_PRESENTATION_TITLE" val="2. Sumas y restas de números naturale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6133AE2-54BD-44D9-83E3-0B830A0C6133}:2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F6B4A47-324F-4018-B003-0ED80AAF7830}:25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E07E1BF-CD93-42ED-B2D0-16673B7963A7}:26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DB55CF8-D752-47A8-988A-B0C138334994}:26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228FF95-1E90-465E-80DE-4E61CCF7A962}:27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244</Words>
  <Application>Microsoft Office PowerPoint</Application>
  <PresentationFormat>Panorámica</PresentationFormat>
  <Paragraphs>45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Aptos</vt:lpstr>
      <vt:lpstr>Arial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Sumas y restas de números naturales</dc:title>
  <dc:creator>Illán Linos Souto</dc:creator>
  <cp:lastModifiedBy>Illán Linos</cp:lastModifiedBy>
  <cp:revision>20</cp:revision>
  <dcterms:created xsi:type="dcterms:W3CDTF">2024-08-18T18:48:07Z</dcterms:created>
  <dcterms:modified xsi:type="dcterms:W3CDTF">2025-11-17T11:44:27Z</dcterms:modified>
</cp:coreProperties>
</file>