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3" r:id="rId6"/>
    <p:sldId id="262" r:id="rId7"/>
    <p:sldId id="264" r:id="rId8"/>
  </p:sldIdLst>
  <p:sldSz cx="12192000" cy="6858000"/>
  <p:notesSz cx="6858000" cy="9144000"/>
  <p:custDataLst>
    <p:tags r:id="rId10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55304-685D-4B82-A021-9BF3B9780731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325C5-C87D-49FB-A684-DB66088DFFE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591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325C5-C87D-49FB-A684-DB66088DFFE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221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15/11/2025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6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4" y="574828"/>
            <a:ext cx="762922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0" name="Modelo 3D 119" descr="Pirámide gris tetragonal">
                <a:extLst>
                  <a:ext uri="{FF2B5EF4-FFF2-40B4-BE49-F238E27FC236}">
                    <a16:creationId xmlns:a16="http://schemas.microsoft.com/office/drawing/2014/main" id="{19DAFA3D-F7A7-8904-17F8-1C9C4ACF4F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93826327"/>
                  </p:ext>
                </p:extLst>
              </p:nvPr>
            </p:nvGraphicFramePr>
            <p:xfrm>
              <a:off x="457376" y="2597049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0" name="Modelo 3D 119" descr="Pirámide gris tetragonal">
                <a:extLst>
                  <a:ext uri="{FF2B5EF4-FFF2-40B4-BE49-F238E27FC236}">
                    <a16:creationId xmlns:a16="http://schemas.microsoft.com/office/drawing/2014/main" id="{19DAFA3D-F7A7-8904-17F8-1C9C4ACF4F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376" y="2597049"/>
                <a:ext cx="444496" cy="55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34950520"/>
                  </p:ext>
                </p:extLst>
              </p:nvPr>
            </p:nvGraphicFramePr>
            <p:xfrm>
              <a:off x="457376" y="3435312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376" y="3435312"/>
                <a:ext cx="444496" cy="559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2" name="Modelo 3D 121" descr="Pirámide gris tetragonal">
                <a:extLst>
                  <a:ext uri="{FF2B5EF4-FFF2-40B4-BE49-F238E27FC236}">
                    <a16:creationId xmlns:a16="http://schemas.microsoft.com/office/drawing/2014/main" id="{2C02C81C-67F2-AD2D-477E-97A0545867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83594506"/>
                  </p:ext>
                </p:extLst>
              </p:nvPr>
            </p:nvGraphicFramePr>
            <p:xfrm>
              <a:off x="457376" y="5146656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2" name="Modelo 3D 121" descr="Pirámide gris tetragonal">
                <a:extLst>
                  <a:ext uri="{FF2B5EF4-FFF2-40B4-BE49-F238E27FC236}">
                    <a16:creationId xmlns:a16="http://schemas.microsoft.com/office/drawing/2014/main" id="{2C02C81C-67F2-AD2D-477E-97A0545867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376" y="5146656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78430" y="2550040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INTRODUCCIÓN</a:t>
            </a:r>
          </a:p>
        </p:txBody>
      </p:sp>
      <p:sp>
        <p:nvSpPr>
          <p:cNvPr id="124" name="CuadroTexto 123">
            <a:extLst>
              <a:ext uri="{FF2B5EF4-FFF2-40B4-BE49-F238E27FC236}">
                <a16:creationId xmlns:a16="http://schemas.microsoft.com/office/drawing/2014/main" id="{5375D2F7-7865-C0DC-FB51-CF0DB74A84F6}"/>
              </a:ext>
            </a:extLst>
          </p:cNvPr>
          <p:cNvSpPr txBox="1"/>
          <p:nvPr/>
        </p:nvSpPr>
        <p:spPr>
          <a:xfrm>
            <a:off x="978430" y="425341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MULTIPLICACIÓN Y DIVISIÓN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78430" y="3392122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SUMAS Y RESTAS</a:t>
            </a:r>
          </a:p>
        </p:txBody>
      </p:sp>
      <p:sp>
        <p:nvSpPr>
          <p:cNvPr id="126" name="CuadroTexto 125">
            <a:extLst>
              <a:ext uri="{FF2B5EF4-FFF2-40B4-BE49-F238E27FC236}">
                <a16:creationId xmlns:a16="http://schemas.microsoft.com/office/drawing/2014/main" id="{4E211F80-FA16-3055-47BD-2FF04C708E61}"/>
              </a:ext>
            </a:extLst>
          </p:cNvPr>
          <p:cNvSpPr txBox="1"/>
          <p:nvPr/>
        </p:nvSpPr>
        <p:spPr>
          <a:xfrm>
            <a:off x="978430" y="510346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JERARQUÍA DE OPERACIONES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648770"/>
                  </p:ext>
                </p:extLst>
              </p:nvPr>
            </p:nvGraphicFramePr>
            <p:xfrm>
              <a:off x="457376" y="4273575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57376" y="4273575"/>
                <a:ext cx="463450" cy="61613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3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3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4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1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4" grpId="0"/>
      <p:bldP spid="124" grpId="1"/>
      <p:bldP spid="125" grpId="0"/>
      <p:bldP spid="1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214738"/>
            <a:ext cx="11121832" cy="524985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6657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Multiplicar</a:t>
            </a:r>
            <a:r>
              <a:rPr lang="es-ES" sz="2000" b="1" dirty="0">
                <a:latin typeface="Century Gothic" panose="020B0502020202020204" pitchFamily="34" charset="0"/>
              </a:rPr>
              <a:t> es una forma abreviada de realizar una suma repetida de sumandos iguales.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1E5BA6-4754-EC68-8FAB-4DF31894AEA7}"/>
              </a:ext>
            </a:extLst>
          </p:cNvPr>
          <p:cNvSpPr txBox="1"/>
          <p:nvPr/>
        </p:nvSpPr>
        <p:spPr>
          <a:xfrm>
            <a:off x="809625" y="1988853"/>
            <a:ext cx="104092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dirty="0"/>
              <a:t>Si una entrada al cine cuesta 8 €, ¿cuánto costarían 5 entradas?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1" name="Imagen 10" descr="Imagen que contiene peine&#10;&#10;Descripción generada automáticamente">
            <a:extLst>
              <a:ext uri="{FF2B5EF4-FFF2-40B4-BE49-F238E27FC236}">
                <a16:creationId xmlns:a16="http://schemas.microsoft.com/office/drawing/2014/main" id="{AD15C45E-D94F-7562-0930-4A2794B78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025" y="2635514"/>
            <a:ext cx="1466088" cy="1466088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EA5F242D-2987-D0CE-56C3-A5AB5CBB7389}"/>
              </a:ext>
            </a:extLst>
          </p:cNvPr>
          <p:cNvSpPr/>
          <p:nvPr/>
        </p:nvSpPr>
        <p:spPr>
          <a:xfrm>
            <a:off x="1605087" y="3709410"/>
            <a:ext cx="758952" cy="39751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8€</a:t>
            </a:r>
          </a:p>
        </p:txBody>
      </p:sp>
      <p:pic>
        <p:nvPicPr>
          <p:cNvPr id="14" name="Imagen 13" descr="Imagen que contiene peine&#10;&#10;Descripción generada automáticamente">
            <a:extLst>
              <a:ext uri="{FF2B5EF4-FFF2-40B4-BE49-F238E27FC236}">
                <a16:creationId xmlns:a16="http://schemas.microsoft.com/office/drawing/2014/main" id="{CDAA765D-EB71-C637-C8C8-F82D361EC5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714" y="2651277"/>
            <a:ext cx="1466088" cy="1466088"/>
          </a:xfrm>
          <a:prstGeom prst="rect">
            <a:avLst/>
          </a:prstGeom>
        </p:spPr>
      </p:pic>
      <p:pic>
        <p:nvPicPr>
          <p:cNvPr id="16" name="Imagen 15" descr="Imagen que contiene peine&#10;&#10;Descripción generada automáticamente">
            <a:extLst>
              <a:ext uri="{FF2B5EF4-FFF2-40B4-BE49-F238E27FC236}">
                <a16:creationId xmlns:a16="http://schemas.microsoft.com/office/drawing/2014/main" id="{16F6C248-E02E-8470-677B-20C9F183C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889" y="2651277"/>
            <a:ext cx="1466088" cy="1466088"/>
          </a:xfrm>
          <a:prstGeom prst="rect">
            <a:avLst/>
          </a:prstGeom>
        </p:spPr>
      </p:pic>
      <p:pic>
        <p:nvPicPr>
          <p:cNvPr id="17" name="Imagen 16" descr="Imagen que contiene peine&#10;&#10;Descripción generada automáticamente">
            <a:extLst>
              <a:ext uri="{FF2B5EF4-FFF2-40B4-BE49-F238E27FC236}">
                <a16:creationId xmlns:a16="http://schemas.microsoft.com/office/drawing/2014/main" id="{F4E47EE6-3642-41A4-4D21-D5D2CC4CC6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569" y="2651277"/>
            <a:ext cx="1466088" cy="1466088"/>
          </a:xfrm>
          <a:prstGeom prst="rect">
            <a:avLst/>
          </a:prstGeom>
        </p:spPr>
      </p:pic>
      <p:pic>
        <p:nvPicPr>
          <p:cNvPr id="22" name="Imagen 21" descr="Imagen que contiene peine&#10;&#10;Descripción generada automáticamente">
            <a:extLst>
              <a:ext uri="{FF2B5EF4-FFF2-40B4-BE49-F238E27FC236}">
                <a16:creationId xmlns:a16="http://schemas.microsoft.com/office/drawing/2014/main" id="{53513824-7ABB-9DFE-91A4-5CD4A7100C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758" y="2651277"/>
            <a:ext cx="1466088" cy="1466088"/>
          </a:xfrm>
          <a:prstGeom prst="rect">
            <a:avLst/>
          </a:prstGeom>
        </p:spPr>
      </p:pic>
      <p:pic>
        <p:nvPicPr>
          <p:cNvPr id="26" name="Imagen 25" descr="Imagen que contiene peine&#10;&#10;Descripción generada automáticamente">
            <a:extLst>
              <a:ext uri="{FF2B5EF4-FFF2-40B4-BE49-F238E27FC236}">
                <a16:creationId xmlns:a16="http://schemas.microsoft.com/office/drawing/2014/main" id="{01216145-CBDA-008C-B492-3F7DEBE3D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2227" y="2651277"/>
            <a:ext cx="1466088" cy="1466088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3CBD9AA1-B934-92BD-8832-02B0E1D751AC}"/>
              </a:ext>
            </a:extLst>
          </p:cNvPr>
          <p:cNvSpPr/>
          <p:nvPr/>
        </p:nvSpPr>
        <p:spPr>
          <a:xfrm>
            <a:off x="3629085" y="3735614"/>
            <a:ext cx="758952" cy="39751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¿?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657C2755-CA1F-96BC-4F82-E1763D16A94D}"/>
                  </a:ext>
                </a:extLst>
              </p:cNvPr>
              <p:cNvSpPr txBox="1"/>
              <p:nvPr/>
            </p:nvSpPr>
            <p:spPr>
              <a:xfrm>
                <a:off x="5564116" y="3168877"/>
                <a:ext cx="516417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0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€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657C2755-CA1F-96BC-4F82-E1763D16A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116" y="3168877"/>
                <a:ext cx="516417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5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5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13" grpId="0" animBg="1"/>
      <p:bldP spid="27" grpId="0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152458"/>
            <a:ext cx="11121832" cy="803392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!CuadroTexto 1">
                <a:extLst>
                  <a:ext uri="{FF2B5EF4-FFF2-40B4-BE49-F238E27FC236}">
                    <a16:creationId xmlns:a16="http://schemas.microsoft.com/office/drawing/2014/main" id="{1C6B913A-99FD-1A1D-B485-29712A9AD0B2}"/>
                  </a:ext>
                </a:extLst>
              </p:cNvPr>
              <p:cNvSpPr txBox="1"/>
              <p:nvPr/>
            </p:nvSpPr>
            <p:spPr>
              <a:xfrm>
                <a:off x="535084" y="1200211"/>
                <a:ext cx="111218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Propiedad conmutativa: </a:t>
                </a:r>
                <a:r>
                  <a:rPr lang="es-ES" sz="2000" b="1" dirty="0">
                    <a:latin typeface="Century Gothic" panose="020B0502020202020204" pitchFamily="34" charset="0"/>
                  </a:rPr>
                  <a:t>El producto no varía al cambiar el orden de los factores.</a:t>
                </a:r>
              </a:p>
              <a:p>
                <a:pPr algn="ctr"/>
                <a:r>
                  <a:rPr lang="es-ES" sz="2000" b="1" i="1" dirty="0">
                    <a:latin typeface="Century Gothic" panose="020B0502020202020204" pitchFamily="34" charset="0"/>
                  </a:rPr>
                  <a:t>a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i="1" dirty="0">
                    <a:latin typeface="Century Gothic" panose="020B0502020202020204" pitchFamily="34" charset="0"/>
                  </a:rPr>
                  <a:t> b = b</a:t>
                </a:r>
                <a:r>
                  <a:rPr lang="es-ES" sz="2000" b="1" i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 </m:t>
                    </m:r>
                  </m:oMath>
                </a14:m>
                <a:r>
                  <a:rPr lang="es-ES" sz="2000" b="1" i="1" dirty="0">
                    <a:latin typeface="Century Gothic" panose="020B0502020202020204" pitchFamily="34" charset="0"/>
                  </a:rPr>
                  <a:t>a</a:t>
                </a:r>
              </a:p>
            </p:txBody>
          </p:sp>
        </mc:Choice>
        <mc:Fallback xmlns="">
          <p:sp>
            <p:nvSpPr>
              <p:cNvPr id="24" name="!CuadroTexto 1">
                <a:extLst>
                  <a:ext uri="{FF2B5EF4-FFF2-40B4-BE49-F238E27FC236}">
                    <a16:creationId xmlns:a16="http://schemas.microsoft.com/office/drawing/2014/main" id="{1C6B913A-99FD-1A1D-B485-29712A9AD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1200211"/>
                <a:ext cx="11121832" cy="707886"/>
              </a:xfrm>
              <a:prstGeom prst="rect">
                <a:avLst/>
              </a:prstGeom>
              <a:blipFill>
                <a:blip r:embed="rId6"/>
                <a:stretch>
                  <a:fillRect l="-603" t="-5172" b="-146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E4730DF-B263-D6F1-4494-4E4B71616CF7}"/>
                  </a:ext>
                </a:extLst>
              </p:cNvPr>
              <p:cNvSpPr txBox="1"/>
              <p:nvPr/>
            </p:nvSpPr>
            <p:spPr>
              <a:xfrm>
                <a:off x="4673334" y="2271199"/>
                <a:ext cx="284533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0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E4730DF-B263-D6F1-4494-4E4B71616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334" y="2271199"/>
                <a:ext cx="2845331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!Marco 10">
            <a:extLst>
              <a:ext uri="{FF2B5EF4-FFF2-40B4-BE49-F238E27FC236}">
                <a16:creationId xmlns:a16="http://schemas.microsoft.com/office/drawing/2014/main" id="{0A0CF901-1FC1-3360-410F-4FC82B6FBD9E}"/>
              </a:ext>
            </a:extLst>
          </p:cNvPr>
          <p:cNvSpPr/>
          <p:nvPr/>
        </p:nvSpPr>
        <p:spPr>
          <a:xfrm>
            <a:off x="535084" y="3003482"/>
            <a:ext cx="11121832" cy="872557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!CuadroTexto 1">
                <a:extLst>
                  <a:ext uri="{FF2B5EF4-FFF2-40B4-BE49-F238E27FC236}">
                    <a16:creationId xmlns:a16="http://schemas.microsoft.com/office/drawing/2014/main" id="{0510D8F7-CCDB-AD99-7657-A86774DDB179}"/>
                  </a:ext>
                </a:extLst>
              </p:cNvPr>
              <p:cNvSpPr txBox="1"/>
              <p:nvPr/>
            </p:nvSpPr>
            <p:spPr>
              <a:xfrm>
                <a:off x="535084" y="3085817"/>
                <a:ext cx="1112183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  <a:latin typeface="Century Gothic" panose="020B0502020202020204" pitchFamily="34" charset="0"/>
                  </a:rPr>
                  <a:t>Propiedad asociativa: </a:t>
                </a:r>
                <a:r>
                  <a:rPr lang="es-ES" sz="2000" b="1" dirty="0">
                    <a:latin typeface="Century Gothic" panose="020B0502020202020204" pitchFamily="34" charset="0"/>
                  </a:rPr>
                  <a:t>El resultado es independiente de cómo se agrupen los factores</a:t>
                </a:r>
              </a:p>
              <a:p>
                <a:pPr algn="ctr"/>
                <a:r>
                  <a:rPr lang="es-ES" sz="2000" b="1" i="1" dirty="0">
                    <a:latin typeface="Century Gothic" panose="020B0502020202020204" pitchFamily="34" charset="0"/>
                  </a:rPr>
                  <a:t>(a </a:t>
                </a:r>
                <a14:m>
                  <m:oMath xmlns:m="http://schemas.openxmlformats.org/officeDocument/2006/math"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i="1" dirty="0">
                    <a:latin typeface="Century Gothic" panose="020B0502020202020204" pitchFamily="34" charset="0"/>
                  </a:rPr>
                  <a:t> b)</a:t>
                </a:r>
                <a:r>
                  <a:rPr lang="es-ES" sz="20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i="1" dirty="0">
                    <a:latin typeface="Century Gothic" panose="020B0502020202020204" pitchFamily="34" charset="0"/>
                  </a:rPr>
                  <a:t> c = a 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i="1" dirty="0">
                    <a:latin typeface="Century Gothic" panose="020B0502020202020204" pitchFamily="34" charset="0"/>
                  </a:rPr>
                  <a:t> (b </a:t>
                </a:r>
                <a14:m>
                  <m:oMath xmlns:m="http://schemas.openxmlformats.org/officeDocument/2006/math">
                    <m:r>
                      <a:rPr lang="es-ES" sz="20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es-ES" sz="2000" b="1" i="1" dirty="0">
                    <a:latin typeface="Century Gothic" panose="020B0502020202020204" pitchFamily="34" charset="0"/>
                  </a:rPr>
                  <a:t> c)</a:t>
                </a:r>
              </a:p>
            </p:txBody>
          </p:sp>
        </mc:Choice>
        <mc:Fallback xmlns="">
          <p:sp>
            <p:nvSpPr>
              <p:cNvPr id="7" name="!CuadroTexto 1">
                <a:extLst>
                  <a:ext uri="{FF2B5EF4-FFF2-40B4-BE49-F238E27FC236}">
                    <a16:creationId xmlns:a16="http://schemas.microsoft.com/office/drawing/2014/main" id="{0510D8F7-CCDB-AD99-7657-A86774DDB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084" y="3085817"/>
                <a:ext cx="11121832" cy="707886"/>
              </a:xfrm>
              <a:prstGeom prst="rect">
                <a:avLst/>
              </a:prstGeom>
              <a:blipFill>
                <a:blip r:embed="rId8"/>
                <a:stretch>
                  <a:fillRect l="-603" t="-4310" b="-146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4A036B6-481B-D9C8-35AA-B0AE7E359285}"/>
                  </a:ext>
                </a:extLst>
              </p:cNvPr>
              <p:cNvSpPr txBox="1"/>
              <p:nvPr/>
            </p:nvSpPr>
            <p:spPr>
              <a:xfrm>
                <a:off x="3899853" y="4177435"/>
                <a:ext cx="439229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E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s-ES" sz="28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𝟖𝟎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4A036B6-481B-D9C8-35AA-B0AE7E359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9853" y="4177435"/>
                <a:ext cx="4392293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60709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1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4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5" grpId="0" animBg="1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152458"/>
            <a:ext cx="11121832" cy="1184342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36798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Propiedad distributiva: </a:t>
            </a:r>
            <a:r>
              <a:rPr lang="es-ES" sz="2000" b="1" dirty="0"/>
              <a:t>El producto de un número por una suma (o resta) es igual a la suma (o resta) de los productos del número por cada sumando.</a:t>
            </a:r>
          </a:p>
          <a:p>
            <a:pPr algn="ctr"/>
            <a:r>
              <a:rPr lang="pt-BR" sz="2000" b="1" i="1" dirty="0">
                <a:latin typeface="Century Gothic" panose="020B0502020202020204" pitchFamily="34" charset="0"/>
              </a:rPr>
              <a:t>a ∙ (b + c) = a ∙ b + a ∙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6BE9139-0C0A-602E-91C6-0C9A2609347D}"/>
                  </a:ext>
                </a:extLst>
              </p:cNvPr>
              <p:cNvSpPr txBox="1"/>
              <p:nvPr/>
            </p:nvSpPr>
            <p:spPr>
              <a:xfrm>
                <a:off x="4203302" y="2665676"/>
                <a:ext cx="378539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8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𝟕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𝟓𝟔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6BE9139-0C0A-602E-91C6-0C9A26093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3302" y="2665676"/>
                <a:ext cx="378539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2AB7E58-3733-85B5-3940-AEE36D620034}"/>
                  </a:ext>
                </a:extLst>
              </p:cNvPr>
              <p:cNvSpPr txBox="1"/>
              <p:nvPr/>
            </p:nvSpPr>
            <p:spPr>
              <a:xfrm>
                <a:off x="3816496" y="3425439"/>
                <a:ext cx="45590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𝟒𝟎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𝟏𝟔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𝟓𝟔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2AB7E58-3733-85B5-3940-AEE36D6200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6496" y="3425439"/>
                <a:ext cx="455900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C3E4696-C583-9CC8-E259-AAE55BCF06BF}"/>
                  </a:ext>
                </a:extLst>
              </p:cNvPr>
              <p:cNvSpPr txBox="1"/>
              <p:nvPr/>
            </p:nvSpPr>
            <p:spPr>
              <a:xfrm>
                <a:off x="4093045" y="4185202"/>
                <a:ext cx="400590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800" b="1" smtClean="0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28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  <m:r>
                            <a:rPr lang="es-E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8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s-ES" sz="28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800" b="1">
                          <a:latin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r>
                        <a:rPr lang="es-ES" sz="28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s-ES" sz="28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𝟖</m:t>
                      </m:r>
                      <m:r>
                        <a:rPr lang="es-ES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s-ES" sz="28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s-ES" sz="2800" b="1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4C3E4696-C583-9CC8-E259-AAE55BCF0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3045" y="4185202"/>
                <a:ext cx="4005905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987216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214738"/>
            <a:ext cx="11121832" cy="524985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7717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Dividir</a:t>
            </a:r>
            <a:r>
              <a:rPr lang="es-ES" sz="2000" b="1" dirty="0"/>
              <a:t> es repartir en partes iguales.</a:t>
            </a:r>
            <a:endParaRPr lang="es-ES" sz="24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1E5BA6-4754-EC68-8FAB-4DF31894AEA7}"/>
              </a:ext>
            </a:extLst>
          </p:cNvPr>
          <p:cNvSpPr txBox="1"/>
          <p:nvPr/>
        </p:nvSpPr>
        <p:spPr>
          <a:xfrm>
            <a:off x="809625" y="1988853"/>
            <a:ext cx="104092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 </a:t>
            </a:r>
            <a:r>
              <a:rPr lang="es-ES" sz="2000" i="1" dirty="0"/>
              <a:t>Se distribuyen 150 bombones en 6 cajas iguales. ¿Cuántos bombones irán en cada caja?</a:t>
            </a:r>
            <a:endParaRPr lang="es-ES" sz="20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Imagen 8" descr="Un pastel con un guante de béisbol&#10;&#10;Descripción generada automáticamente con confianza media">
            <a:extLst>
              <a:ext uri="{FF2B5EF4-FFF2-40B4-BE49-F238E27FC236}">
                <a16:creationId xmlns:a16="http://schemas.microsoft.com/office/drawing/2014/main" id="{C3274CB0-5432-41BF-6365-2C757A637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362" y="3191435"/>
            <a:ext cx="1600620" cy="1071216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EA5F242D-2987-D0CE-56C3-A5AB5CBB7389}"/>
              </a:ext>
            </a:extLst>
          </p:cNvPr>
          <p:cNvSpPr/>
          <p:nvPr/>
        </p:nvSpPr>
        <p:spPr>
          <a:xfrm>
            <a:off x="1851343" y="4063894"/>
            <a:ext cx="758952" cy="39751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150</a:t>
            </a:r>
          </a:p>
        </p:txBody>
      </p:sp>
      <p:pic>
        <p:nvPicPr>
          <p:cNvPr id="12" name="Imagen 11" descr="Una caja de donas&#10;&#10;Descripción generada automáticamente con confianza media">
            <a:extLst>
              <a:ext uri="{FF2B5EF4-FFF2-40B4-BE49-F238E27FC236}">
                <a16:creationId xmlns:a16="http://schemas.microsoft.com/office/drawing/2014/main" id="{BC545C56-B30F-3062-7252-DF604C77D5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63" b="20295"/>
          <a:stretch/>
        </p:blipFill>
        <p:spPr>
          <a:xfrm>
            <a:off x="2895437" y="3140529"/>
            <a:ext cx="2262108" cy="1306179"/>
          </a:xfrm>
          <a:prstGeom prst="rect">
            <a:avLst/>
          </a:prstGeom>
        </p:spPr>
      </p:pic>
      <p:sp>
        <p:nvSpPr>
          <p:cNvPr id="27" name="Rectángulo 26">
            <a:extLst>
              <a:ext uri="{FF2B5EF4-FFF2-40B4-BE49-F238E27FC236}">
                <a16:creationId xmlns:a16="http://schemas.microsoft.com/office/drawing/2014/main" id="{3CBD9AA1-B934-92BD-8832-02B0E1D751AC}"/>
              </a:ext>
            </a:extLst>
          </p:cNvPr>
          <p:cNvSpPr/>
          <p:nvPr/>
        </p:nvSpPr>
        <p:spPr>
          <a:xfrm>
            <a:off x="4247650" y="4063894"/>
            <a:ext cx="758952" cy="397514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>
                <a:solidFill>
                  <a:schemeClr val="tx1"/>
                </a:solidFill>
              </a:rPr>
              <a:t>6</a:t>
            </a:r>
            <a:endParaRPr lang="es-ES" b="1" dirty="0">
              <a:solidFill>
                <a:schemeClr val="tx1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47E2B38-90E5-CE9F-96B1-F5D77AF7F9AC}"/>
              </a:ext>
            </a:extLst>
          </p:cNvPr>
          <p:cNvGrpSpPr/>
          <p:nvPr/>
        </p:nvGrpSpPr>
        <p:grpSpPr>
          <a:xfrm>
            <a:off x="7226675" y="3044125"/>
            <a:ext cx="1758575" cy="529944"/>
            <a:chOff x="7226675" y="3044125"/>
            <a:chExt cx="1758575" cy="529944"/>
          </a:xfrm>
        </p:grpSpPr>
        <p:sp>
          <p:nvSpPr>
            <p:cNvPr id="15" name="Forma en L 14">
              <a:extLst>
                <a:ext uri="{FF2B5EF4-FFF2-40B4-BE49-F238E27FC236}">
                  <a16:creationId xmlns:a16="http://schemas.microsoft.com/office/drawing/2014/main" id="{3AADEC29-B550-4431-43DB-44B762E09426}"/>
                </a:ext>
              </a:extLst>
            </p:cNvPr>
            <p:cNvSpPr/>
            <p:nvPr/>
          </p:nvSpPr>
          <p:spPr>
            <a:xfrm>
              <a:off x="8113059" y="3081618"/>
              <a:ext cx="872191" cy="461682"/>
            </a:xfrm>
            <a:prstGeom prst="corner">
              <a:avLst>
                <a:gd name="adj1" fmla="val 5036"/>
                <a:gd name="adj2" fmla="val 5036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E64FC39-5E6A-61BD-D426-D9BABD734812}"/>
                </a:ext>
              </a:extLst>
            </p:cNvPr>
            <p:cNvSpPr txBox="1"/>
            <p:nvPr/>
          </p:nvSpPr>
          <p:spPr>
            <a:xfrm>
              <a:off x="8185152" y="3044125"/>
              <a:ext cx="3137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6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DFB8A56D-2F7D-7E9F-79DC-83E306AEA0DF}"/>
                </a:ext>
              </a:extLst>
            </p:cNvPr>
            <p:cNvSpPr txBox="1"/>
            <p:nvPr/>
          </p:nvSpPr>
          <p:spPr>
            <a:xfrm>
              <a:off x="7226675" y="3050849"/>
              <a:ext cx="8000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/>
                <a:t>150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22F9928-AF0F-599F-578C-16AB71864B1E}"/>
              </a:ext>
            </a:extLst>
          </p:cNvPr>
          <p:cNvSpPr txBox="1"/>
          <p:nvPr/>
        </p:nvSpPr>
        <p:spPr>
          <a:xfrm>
            <a:off x="7226675" y="3543300"/>
            <a:ext cx="800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800" b="1" dirty="0"/>
              <a:t>30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FBCF904-15D8-35DC-BC6B-45919B420C63}"/>
              </a:ext>
            </a:extLst>
          </p:cNvPr>
          <p:cNvSpPr txBox="1"/>
          <p:nvPr/>
        </p:nvSpPr>
        <p:spPr>
          <a:xfrm>
            <a:off x="8194117" y="3538821"/>
            <a:ext cx="31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2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7420F9B-20E2-CE67-C428-931BDBF9EFF1}"/>
              </a:ext>
            </a:extLst>
          </p:cNvPr>
          <p:cNvSpPr txBox="1"/>
          <p:nvPr/>
        </p:nvSpPr>
        <p:spPr>
          <a:xfrm>
            <a:off x="8432801" y="3538821"/>
            <a:ext cx="3137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5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3D00702-85D4-C165-EE18-9E0EDAEED684}"/>
              </a:ext>
            </a:extLst>
          </p:cNvPr>
          <p:cNvSpPr txBox="1"/>
          <p:nvPr/>
        </p:nvSpPr>
        <p:spPr>
          <a:xfrm>
            <a:off x="7226675" y="4035751"/>
            <a:ext cx="800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800" b="1" dirty="0"/>
              <a:t>0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5CA7746-D725-751C-6262-E288C6A89959}"/>
              </a:ext>
            </a:extLst>
          </p:cNvPr>
          <p:cNvSpPr txBox="1"/>
          <p:nvPr/>
        </p:nvSpPr>
        <p:spPr>
          <a:xfrm>
            <a:off x="3582988" y="5057605"/>
            <a:ext cx="5026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/>
              <a:t>25 bombones por caja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0620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5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13" grpId="0" animBg="1"/>
      <p:bldP spid="27" grpId="0" animBg="1"/>
      <p:bldP spid="21" grpId="0"/>
      <p:bldP spid="23" grpId="0"/>
      <p:bldP spid="25" grpId="0"/>
      <p:bldP spid="28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214738"/>
            <a:ext cx="11121832" cy="524985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27717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división </a:t>
            </a:r>
            <a:r>
              <a:rPr lang="es-ES" sz="2000" b="1" dirty="0"/>
              <a:t>es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exacta </a:t>
            </a:r>
            <a:r>
              <a:rPr lang="es-ES" sz="2000" b="1" dirty="0"/>
              <a:t>cuando el resto es 0</a:t>
            </a:r>
            <a:endParaRPr lang="es-ES" sz="2400" b="1" dirty="0">
              <a:latin typeface="Century Gothic" panose="020B0502020202020204" pitchFamily="34" charset="0"/>
            </a:endParaRPr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CD051613-FA72-5158-436D-C4257A1EB228}"/>
              </a:ext>
            </a:extLst>
          </p:cNvPr>
          <p:cNvGrpSpPr/>
          <p:nvPr/>
        </p:nvGrpSpPr>
        <p:grpSpPr>
          <a:xfrm>
            <a:off x="3192837" y="1970093"/>
            <a:ext cx="6598863" cy="1022395"/>
            <a:chOff x="3192837" y="1970093"/>
            <a:chExt cx="6598863" cy="1022395"/>
          </a:xfrm>
        </p:grpSpPr>
        <p:sp>
          <p:nvSpPr>
            <p:cNvPr id="15" name="Forma en L 14">
              <a:extLst>
                <a:ext uri="{FF2B5EF4-FFF2-40B4-BE49-F238E27FC236}">
                  <a16:creationId xmlns:a16="http://schemas.microsoft.com/office/drawing/2014/main" id="{3AADEC29-B550-4431-43DB-44B762E09426}"/>
                </a:ext>
              </a:extLst>
            </p:cNvPr>
            <p:cNvSpPr/>
            <p:nvPr/>
          </p:nvSpPr>
          <p:spPr>
            <a:xfrm>
              <a:off x="4079221" y="2007586"/>
              <a:ext cx="872191" cy="461682"/>
            </a:xfrm>
            <a:prstGeom prst="corner">
              <a:avLst>
                <a:gd name="adj1" fmla="val 5036"/>
                <a:gd name="adj2" fmla="val 5036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E64FC39-5E6A-61BD-D426-D9BABD734812}"/>
                </a:ext>
              </a:extLst>
            </p:cNvPr>
            <p:cNvSpPr txBox="1"/>
            <p:nvPr/>
          </p:nvSpPr>
          <p:spPr>
            <a:xfrm>
              <a:off x="4151314" y="1970093"/>
              <a:ext cx="3137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d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DFB8A56D-2F7D-7E9F-79DC-83E306AEA0DF}"/>
                </a:ext>
              </a:extLst>
            </p:cNvPr>
            <p:cNvSpPr txBox="1"/>
            <p:nvPr/>
          </p:nvSpPr>
          <p:spPr>
            <a:xfrm>
              <a:off x="3192837" y="1976817"/>
              <a:ext cx="8000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/>
                <a:t>D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122F9928-AF0F-599F-578C-16AB71864B1E}"/>
                </a:ext>
              </a:extLst>
            </p:cNvPr>
            <p:cNvSpPr txBox="1"/>
            <p:nvPr/>
          </p:nvSpPr>
          <p:spPr>
            <a:xfrm>
              <a:off x="3192837" y="2469268"/>
              <a:ext cx="8000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/>
                <a:t>0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7FBCF904-15D8-35DC-BC6B-45919B420C63}"/>
                </a:ext>
              </a:extLst>
            </p:cNvPr>
            <p:cNvSpPr txBox="1"/>
            <p:nvPr/>
          </p:nvSpPr>
          <p:spPr>
            <a:xfrm>
              <a:off x="4160279" y="2464789"/>
              <a:ext cx="3137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c</a:t>
              </a:r>
            </a:p>
          </p:txBody>
        </p: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08655E20-1EE1-D511-2565-6F495C8160FF}"/>
                </a:ext>
              </a:extLst>
            </p:cNvPr>
            <p:cNvCxnSpPr>
              <a:cxnSpLocks/>
            </p:cNvCxnSpPr>
            <p:nvPr/>
          </p:nvCxnSpPr>
          <p:spPr>
            <a:xfrm>
              <a:off x="5310187" y="2500037"/>
              <a:ext cx="823913" cy="0"/>
            </a:xfrm>
            <a:prstGeom prst="straightConnector1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7E675B9E-15D6-9834-0C28-FE563833B932}"/>
                    </a:ext>
                  </a:extLst>
                </p:cNvPr>
                <p:cNvSpPr txBox="1"/>
                <p:nvPr/>
              </p:nvSpPr>
              <p:spPr>
                <a:xfrm>
                  <a:off x="6276975" y="2231703"/>
                  <a:ext cx="351472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2800" b="1" dirty="0"/>
                    <a:t>D = d </a:t>
                  </a:r>
                  <a14:m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800" b="1" dirty="0"/>
                    <a:t> c</a:t>
                  </a:r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7E675B9E-15D6-9834-0C28-FE563833B9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6975" y="2231703"/>
                  <a:ext cx="3514725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3646" t="-11628" b="-3139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!Marco 10">
            <a:extLst>
              <a:ext uri="{FF2B5EF4-FFF2-40B4-BE49-F238E27FC236}">
                <a16:creationId xmlns:a16="http://schemas.microsoft.com/office/drawing/2014/main" id="{9D0936C1-BCF0-5B3E-29E0-3AFD5AD8AA29}"/>
              </a:ext>
            </a:extLst>
          </p:cNvPr>
          <p:cNvSpPr/>
          <p:nvPr/>
        </p:nvSpPr>
        <p:spPr>
          <a:xfrm>
            <a:off x="535084" y="3182492"/>
            <a:ext cx="11121832" cy="524985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!CuadroTexto 1">
            <a:extLst>
              <a:ext uri="{FF2B5EF4-FFF2-40B4-BE49-F238E27FC236}">
                <a16:creationId xmlns:a16="http://schemas.microsoft.com/office/drawing/2014/main" id="{5DB1A201-F79E-FE47-1433-82CFBFAB7226}"/>
              </a:ext>
            </a:extLst>
          </p:cNvPr>
          <p:cNvSpPr txBox="1"/>
          <p:nvPr/>
        </p:nvSpPr>
        <p:spPr>
          <a:xfrm>
            <a:off x="535084" y="324492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división </a:t>
            </a:r>
            <a:r>
              <a:rPr lang="es-ES" sz="2000" b="1" dirty="0"/>
              <a:t>es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entera </a:t>
            </a:r>
            <a:r>
              <a:rPr lang="es-ES" sz="2000" b="1" dirty="0"/>
              <a:t>cuando el resto es distinto a 0</a:t>
            </a:r>
            <a:endParaRPr lang="es-ES" sz="2400" b="1" dirty="0">
              <a:latin typeface="Century Gothic" panose="020B0502020202020204" pitchFamily="34" charset="0"/>
            </a:endParaRP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BF45F95C-EE8F-DF40-5956-BC3170119CDB}"/>
              </a:ext>
            </a:extLst>
          </p:cNvPr>
          <p:cNvGrpSpPr/>
          <p:nvPr/>
        </p:nvGrpSpPr>
        <p:grpSpPr>
          <a:xfrm>
            <a:off x="3192837" y="3937847"/>
            <a:ext cx="6598863" cy="1022395"/>
            <a:chOff x="3192837" y="3937847"/>
            <a:chExt cx="6598863" cy="1022395"/>
          </a:xfrm>
        </p:grpSpPr>
        <p:sp>
          <p:nvSpPr>
            <p:cNvPr id="38" name="Forma en L 37">
              <a:extLst>
                <a:ext uri="{FF2B5EF4-FFF2-40B4-BE49-F238E27FC236}">
                  <a16:creationId xmlns:a16="http://schemas.microsoft.com/office/drawing/2014/main" id="{6355BB03-7E5A-1AB3-028A-09BEB9FB299D}"/>
                </a:ext>
              </a:extLst>
            </p:cNvPr>
            <p:cNvSpPr/>
            <p:nvPr/>
          </p:nvSpPr>
          <p:spPr>
            <a:xfrm>
              <a:off x="4079221" y="3975340"/>
              <a:ext cx="872191" cy="461682"/>
            </a:xfrm>
            <a:prstGeom prst="corner">
              <a:avLst>
                <a:gd name="adj1" fmla="val 5036"/>
                <a:gd name="adj2" fmla="val 5036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7D2AB960-4451-7199-C5DF-D8B9BA60407D}"/>
                </a:ext>
              </a:extLst>
            </p:cNvPr>
            <p:cNvSpPr txBox="1"/>
            <p:nvPr/>
          </p:nvSpPr>
          <p:spPr>
            <a:xfrm>
              <a:off x="4151314" y="3937847"/>
              <a:ext cx="3137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d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0DE94E91-12B0-EB2A-2967-20494005BE0A}"/>
                </a:ext>
              </a:extLst>
            </p:cNvPr>
            <p:cNvSpPr txBox="1"/>
            <p:nvPr/>
          </p:nvSpPr>
          <p:spPr>
            <a:xfrm>
              <a:off x="3192837" y="3944571"/>
              <a:ext cx="8000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/>
                <a:t>D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22ED7153-9392-E64C-672B-64311879DFDA}"/>
                </a:ext>
              </a:extLst>
            </p:cNvPr>
            <p:cNvSpPr txBox="1"/>
            <p:nvPr/>
          </p:nvSpPr>
          <p:spPr>
            <a:xfrm>
              <a:off x="3192837" y="4437022"/>
              <a:ext cx="8000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/>
                <a:t>r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B4C9588C-A79E-CA47-D5B9-11D5EBF2FC86}"/>
                </a:ext>
              </a:extLst>
            </p:cNvPr>
            <p:cNvSpPr txBox="1"/>
            <p:nvPr/>
          </p:nvSpPr>
          <p:spPr>
            <a:xfrm>
              <a:off x="4160279" y="4432543"/>
              <a:ext cx="3137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c</a:t>
              </a:r>
            </a:p>
          </p:txBody>
        </p: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B2C39ADB-DB39-DEF3-87CB-255989449916}"/>
                </a:ext>
              </a:extLst>
            </p:cNvPr>
            <p:cNvCxnSpPr>
              <a:cxnSpLocks/>
            </p:cNvCxnSpPr>
            <p:nvPr/>
          </p:nvCxnSpPr>
          <p:spPr>
            <a:xfrm>
              <a:off x="5310187" y="4467791"/>
              <a:ext cx="823913" cy="0"/>
            </a:xfrm>
            <a:prstGeom prst="straightConnector1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CBE135BA-F8EF-5533-A687-7FEB9DE3278C}"/>
                    </a:ext>
                  </a:extLst>
                </p:cNvPr>
                <p:cNvSpPr txBox="1"/>
                <p:nvPr/>
              </p:nvSpPr>
              <p:spPr>
                <a:xfrm>
                  <a:off x="6276975" y="4199457"/>
                  <a:ext cx="351472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2800" b="1" dirty="0"/>
                    <a:t>D = d </a:t>
                  </a:r>
                  <a14:m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800" b="1" dirty="0"/>
                    <a:t> c + r</a:t>
                  </a:r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CBE135BA-F8EF-5533-A687-7FEB9DE327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6975" y="4199457"/>
                  <a:ext cx="3514725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3646" t="-12791" b="-3139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204497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6" grpId="0" animBg="1"/>
      <p:bldP spid="3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A79542-00B3-6D5D-5F5C-A3BBF503B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163B2658-52DD-DDE8-70FD-F7EFDE427C5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FEB62618-05C7-4C48-8F17-D8A9C4C8608E}"/>
              </a:ext>
            </a:extLst>
          </p:cNvPr>
          <p:cNvSpPr txBox="1"/>
          <p:nvPr/>
        </p:nvSpPr>
        <p:spPr>
          <a:xfrm>
            <a:off x="3601" y="33951"/>
            <a:ext cx="105342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Los Números Naturales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075F4407-8694-ACAF-2D97-959127FD3643}"/>
              </a:ext>
            </a:extLst>
          </p:cNvPr>
          <p:cNvSpPr/>
          <p:nvPr/>
        </p:nvSpPr>
        <p:spPr>
          <a:xfrm>
            <a:off x="535084" y="1214738"/>
            <a:ext cx="11121832" cy="524985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8D1F3A3D-F9FB-D8FA-B28B-870A84C1BD58}"/>
              </a:ext>
            </a:extLst>
          </p:cNvPr>
          <p:cNvSpPr txBox="1"/>
          <p:nvPr/>
        </p:nvSpPr>
        <p:spPr>
          <a:xfrm>
            <a:off x="535084" y="127717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división </a:t>
            </a:r>
            <a:r>
              <a:rPr lang="es-ES" sz="2000" b="1" dirty="0"/>
              <a:t>es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exacta </a:t>
            </a:r>
            <a:r>
              <a:rPr lang="es-ES" sz="2000" b="1" dirty="0"/>
              <a:t>cuando el resto es 0</a:t>
            </a:r>
            <a:endParaRPr lang="es-ES" sz="2400" b="1" dirty="0">
              <a:latin typeface="Century Gothic" panose="020B0502020202020204" pitchFamily="34" charset="0"/>
            </a:endParaRPr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FB022536-6BB4-BD98-F11F-A6F66EB33306}"/>
              </a:ext>
            </a:extLst>
          </p:cNvPr>
          <p:cNvGrpSpPr/>
          <p:nvPr/>
        </p:nvGrpSpPr>
        <p:grpSpPr>
          <a:xfrm>
            <a:off x="3192837" y="1970093"/>
            <a:ext cx="6598863" cy="1022395"/>
            <a:chOff x="3192837" y="1970093"/>
            <a:chExt cx="6598863" cy="1022395"/>
          </a:xfrm>
        </p:grpSpPr>
        <p:sp>
          <p:nvSpPr>
            <p:cNvPr id="15" name="Forma en L 14">
              <a:extLst>
                <a:ext uri="{FF2B5EF4-FFF2-40B4-BE49-F238E27FC236}">
                  <a16:creationId xmlns:a16="http://schemas.microsoft.com/office/drawing/2014/main" id="{6643FD72-FDA2-EE85-F8BA-6CEE75942450}"/>
                </a:ext>
              </a:extLst>
            </p:cNvPr>
            <p:cNvSpPr/>
            <p:nvPr/>
          </p:nvSpPr>
          <p:spPr>
            <a:xfrm>
              <a:off x="4079221" y="2007586"/>
              <a:ext cx="872191" cy="461682"/>
            </a:xfrm>
            <a:prstGeom prst="corner">
              <a:avLst>
                <a:gd name="adj1" fmla="val 5036"/>
                <a:gd name="adj2" fmla="val 5036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C1B5B88F-B637-1245-D832-0E1C15D02C5F}"/>
                </a:ext>
              </a:extLst>
            </p:cNvPr>
            <p:cNvSpPr txBox="1"/>
            <p:nvPr/>
          </p:nvSpPr>
          <p:spPr>
            <a:xfrm>
              <a:off x="4151314" y="1970093"/>
              <a:ext cx="3137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d</a:t>
              </a: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C1582B4F-DD0C-1507-0FA8-CD7A1F8E2AFA}"/>
                </a:ext>
              </a:extLst>
            </p:cNvPr>
            <p:cNvSpPr txBox="1"/>
            <p:nvPr/>
          </p:nvSpPr>
          <p:spPr>
            <a:xfrm>
              <a:off x="3192837" y="1976817"/>
              <a:ext cx="8000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/>
                <a:t>D</a:t>
              </a: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59A9B4E1-E27D-3B3E-C8B7-7D511F69E0F4}"/>
                </a:ext>
              </a:extLst>
            </p:cNvPr>
            <p:cNvSpPr txBox="1"/>
            <p:nvPr/>
          </p:nvSpPr>
          <p:spPr>
            <a:xfrm>
              <a:off x="3192837" y="2469268"/>
              <a:ext cx="8000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/>
                <a:t>0</a:t>
              </a: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D2ECE1F-25B0-698F-CEA3-1C7AE09938A2}"/>
                </a:ext>
              </a:extLst>
            </p:cNvPr>
            <p:cNvSpPr txBox="1"/>
            <p:nvPr/>
          </p:nvSpPr>
          <p:spPr>
            <a:xfrm>
              <a:off x="4160279" y="2464789"/>
              <a:ext cx="3137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c</a:t>
              </a:r>
            </a:p>
          </p:txBody>
        </p:sp>
        <p:cxnSp>
          <p:nvCxnSpPr>
            <p:cNvPr id="32" name="Conector recto de flecha 31">
              <a:extLst>
                <a:ext uri="{FF2B5EF4-FFF2-40B4-BE49-F238E27FC236}">
                  <a16:creationId xmlns:a16="http://schemas.microsoft.com/office/drawing/2014/main" id="{DF03FB84-816A-2EBD-95DE-62BEA3A06B91}"/>
                </a:ext>
              </a:extLst>
            </p:cNvPr>
            <p:cNvCxnSpPr>
              <a:cxnSpLocks/>
            </p:cNvCxnSpPr>
            <p:nvPr/>
          </p:nvCxnSpPr>
          <p:spPr>
            <a:xfrm>
              <a:off x="5310187" y="2500037"/>
              <a:ext cx="823913" cy="0"/>
            </a:xfrm>
            <a:prstGeom prst="straightConnector1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2290542D-CAAD-F16F-3B28-A43A2E889DC5}"/>
                    </a:ext>
                  </a:extLst>
                </p:cNvPr>
                <p:cNvSpPr txBox="1"/>
                <p:nvPr/>
              </p:nvSpPr>
              <p:spPr>
                <a:xfrm>
                  <a:off x="6276975" y="2231703"/>
                  <a:ext cx="351472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2800" b="1" dirty="0"/>
                    <a:t>D = d </a:t>
                  </a:r>
                  <a14:m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800" b="1" dirty="0"/>
                    <a:t> c</a:t>
                  </a:r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2290542D-CAAD-F16F-3B28-A43A2E889D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6975" y="2231703"/>
                  <a:ext cx="3514725" cy="523220"/>
                </a:xfrm>
                <a:prstGeom prst="rect">
                  <a:avLst/>
                </a:prstGeom>
                <a:blipFill>
                  <a:blip r:embed="rId3"/>
                  <a:stretch>
                    <a:fillRect l="-3646" t="-11628" b="-3139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!Marco 10">
            <a:extLst>
              <a:ext uri="{FF2B5EF4-FFF2-40B4-BE49-F238E27FC236}">
                <a16:creationId xmlns:a16="http://schemas.microsoft.com/office/drawing/2014/main" id="{96AF30F4-C2EF-E3DD-B3B0-08A4659231CD}"/>
              </a:ext>
            </a:extLst>
          </p:cNvPr>
          <p:cNvSpPr/>
          <p:nvPr/>
        </p:nvSpPr>
        <p:spPr>
          <a:xfrm>
            <a:off x="535084" y="3182492"/>
            <a:ext cx="11121832" cy="524985"/>
          </a:xfrm>
          <a:prstGeom prst="rect">
            <a:avLst/>
          </a:prstGeom>
          <a:noFill/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!CuadroTexto 1">
            <a:extLst>
              <a:ext uri="{FF2B5EF4-FFF2-40B4-BE49-F238E27FC236}">
                <a16:creationId xmlns:a16="http://schemas.microsoft.com/office/drawing/2014/main" id="{D3252E22-191C-06C5-1877-C6E24DB16B74}"/>
              </a:ext>
            </a:extLst>
          </p:cNvPr>
          <p:cNvSpPr txBox="1"/>
          <p:nvPr/>
        </p:nvSpPr>
        <p:spPr>
          <a:xfrm>
            <a:off x="535084" y="3244929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división </a:t>
            </a:r>
            <a:r>
              <a:rPr lang="es-ES" sz="2000" b="1" dirty="0"/>
              <a:t>es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entera </a:t>
            </a:r>
            <a:r>
              <a:rPr lang="es-ES" sz="2000" b="1" dirty="0"/>
              <a:t>cuando el resto es distinto a 0</a:t>
            </a:r>
            <a:endParaRPr lang="es-ES" sz="2400" b="1" dirty="0">
              <a:latin typeface="Century Gothic" panose="020B0502020202020204" pitchFamily="34" charset="0"/>
            </a:endParaRPr>
          </a:p>
        </p:txBody>
      </p:sp>
      <p:grpSp>
        <p:nvGrpSpPr>
          <p:cNvPr id="46" name="Grupo 45">
            <a:extLst>
              <a:ext uri="{FF2B5EF4-FFF2-40B4-BE49-F238E27FC236}">
                <a16:creationId xmlns:a16="http://schemas.microsoft.com/office/drawing/2014/main" id="{4E19B796-9678-FAAC-3F73-7DFD25997A88}"/>
              </a:ext>
            </a:extLst>
          </p:cNvPr>
          <p:cNvGrpSpPr/>
          <p:nvPr/>
        </p:nvGrpSpPr>
        <p:grpSpPr>
          <a:xfrm>
            <a:off x="3192837" y="3937847"/>
            <a:ext cx="6598863" cy="1022395"/>
            <a:chOff x="3192837" y="3937847"/>
            <a:chExt cx="6598863" cy="1022395"/>
          </a:xfrm>
        </p:grpSpPr>
        <p:sp>
          <p:nvSpPr>
            <p:cNvPr id="38" name="Forma en L 37">
              <a:extLst>
                <a:ext uri="{FF2B5EF4-FFF2-40B4-BE49-F238E27FC236}">
                  <a16:creationId xmlns:a16="http://schemas.microsoft.com/office/drawing/2014/main" id="{F1DAFA2E-739E-8E1F-FD75-2E2912C44275}"/>
                </a:ext>
              </a:extLst>
            </p:cNvPr>
            <p:cNvSpPr/>
            <p:nvPr/>
          </p:nvSpPr>
          <p:spPr>
            <a:xfrm>
              <a:off x="4079221" y="3975340"/>
              <a:ext cx="872191" cy="461682"/>
            </a:xfrm>
            <a:prstGeom prst="corner">
              <a:avLst>
                <a:gd name="adj1" fmla="val 5036"/>
                <a:gd name="adj2" fmla="val 5036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13D0FC6C-9D9A-E795-EC94-1C1DCB0E1EEA}"/>
                </a:ext>
              </a:extLst>
            </p:cNvPr>
            <p:cNvSpPr txBox="1"/>
            <p:nvPr/>
          </p:nvSpPr>
          <p:spPr>
            <a:xfrm>
              <a:off x="4151314" y="3937847"/>
              <a:ext cx="3137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d</a:t>
              </a:r>
            </a:p>
          </p:txBody>
        </p:sp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60AB49E7-5DCA-C5F4-E793-9E26F3642FB5}"/>
                </a:ext>
              </a:extLst>
            </p:cNvPr>
            <p:cNvSpPr txBox="1"/>
            <p:nvPr/>
          </p:nvSpPr>
          <p:spPr>
            <a:xfrm>
              <a:off x="3192837" y="3944571"/>
              <a:ext cx="8000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/>
                <a:t>D</a:t>
              </a:r>
            </a:p>
          </p:txBody>
        </p:sp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DC9A2415-FFF6-F299-13F7-7A2BCB33A0C0}"/>
                </a:ext>
              </a:extLst>
            </p:cNvPr>
            <p:cNvSpPr txBox="1"/>
            <p:nvPr/>
          </p:nvSpPr>
          <p:spPr>
            <a:xfrm>
              <a:off x="3192837" y="4437022"/>
              <a:ext cx="80009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ES" sz="2800" b="1" dirty="0"/>
                <a:t>r</a:t>
              </a:r>
            </a:p>
          </p:txBody>
        </p: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F8E0B8E5-FBF3-23D9-54CB-73E725CBBF99}"/>
                </a:ext>
              </a:extLst>
            </p:cNvPr>
            <p:cNvSpPr txBox="1"/>
            <p:nvPr/>
          </p:nvSpPr>
          <p:spPr>
            <a:xfrm>
              <a:off x="4160279" y="4432543"/>
              <a:ext cx="31376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800" b="1" dirty="0"/>
                <a:t>c</a:t>
              </a:r>
            </a:p>
          </p:txBody>
        </p:sp>
        <p:cxnSp>
          <p:nvCxnSpPr>
            <p:cNvPr id="43" name="Conector recto de flecha 42">
              <a:extLst>
                <a:ext uri="{FF2B5EF4-FFF2-40B4-BE49-F238E27FC236}">
                  <a16:creationId xmlns:a16="http://schemas.microsoft.com/office/drawing/2014/main" id="{6CDC8F05-7491-97C3-6F1A-BEBAF30C6511}"/>
                </a:ext>
              </a:extLst>
            </p:cNvPr>
            <p:cNvCxnSpPr>
              <a:cxnSpLocks/>
            </p:cNvCxnSpPr>
            <p:nvPr/>
          </p:nvCxnSpPr>
          <p:spPr>
            <a:xfrm>
              <a:off x="5310187" y="4467791"/>
              <a:ext cx="823913" cy="0"/>
            </a:xfrm>
            <a:prstGeom prst="straightConnector1">
              <a:avLst/>
            </a:prstGeom>
            <a:ln w="38100">
              <a:solidFill>
                <a:schemeClr val="accent4">
                  <a:lumMod val="60000"/>
                  <a:lumOff val="4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7534B58F-5278-FECB-8217-C87620924048}"/>
                    </a:ext>
                  </a:extLst>
                </p:cNvPr>
                <p:cNvSpPr txBox="1"/>
                <p:nvPr/>
              </p:nvSpPr>
              <p:spPr>
                <a:xfrm>
                  <a:off x="6276975" y="4199457"/>
                  <a:ext cx="351472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2800" b="1" dirty="0"/>
                    <a:t>D = d </a:t>
                  </a:r>
                  <a14:m>
                    <m:oMath xmlns:m="http://schemas.openxmlformats.org/officeDocument/2006/math">
                      <m:r>
                        <a:rPr lang="es-E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s-ES" sz="2800" b="1" dirty="0"/>
                    <a:t> c + r</a:t>
                  </a:r>
                </a:p>
              </p:txBody>
            </p:sp>
          </mc:Choice>
          <mc:Fallback xmlns="">
            <p:sp>
              <p:nvSpPr>
                <p:cNvPr id="44" name="CuadroTexto 43">
                  <a:extLst>
                    <a:ext uri="{FF2B5EF4-FFF2-40B4-BE49-F238E27FC236}">
                      <a16:creationId xmlns:a16="http://schemas.microsoft.com/office/drawing/2014/main" id="{7534B58F-5278-FECB-8217-C87620924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6975" y="4199457"/>
                  <a:ext cx="3514725" cy="523220"/>
                </a:xfrm>
                <a:prstGeom prst="rect">
                  <a:avLst/>
                </a:prstGeom>
                <a:blipFill>
                  <a:blip r:embed="rId4"/>
                  <a:stretch>
                    <a:fillRect l="-3646" t="-12791" b="-31395"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2149431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8CD7D3B-664F-46CA-A009-497A00F3225C"/>
  <p:tag name="ISPRING_CMI5_LAUNCH_METHOD" val="any window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SLIDES" val="1"/>
  <p:tag name="ISPRINGCLOUDFOLDERID" val="1"/>
  <p:tag name="ISPRINGONLINEFOLDERID" val="1"/>
  <p:tag name="ISPRING_OUTPUT_FOLDER" val="[[&quot;\uFFFD\/\uFFFD\uFFFD{21D528DD-60A0-4F5B-BB24-A0E5BDBD4B43}&quot;,&quot;C:\\Users\\34717\\Desktop\\Apuntes\\1 ESO\\TEMA 1-Numeros naturales\\Horizontal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SCORM_PASSING_SCORE" val="100.000000"/>
  <p:tag name="ISPRING_PRESENTATION_TITLE" val="3. Multiplicación y división de números natural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D683342-CD7B-486E-A0BC-7B99F3ECFC7E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AC15338-46ED-42D6-91A1-4A311F403FA8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FF13097-C79F-4F70-A72B-938F4B4FC6EA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B9D285C-DC68-4D3A-9DB2-5C3B30A4C5AA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B916746F-ECFB-43C3-949D-6D28A19FD177}:26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CB59DDF3-4DEA-416F-ABEF-9F385F274EBC}:26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BD0BD42-2972-4E65-8F97-86D185BB7297}:264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377</Words>
  <Application>Microsoft Office PowerPoint</Application>
  <PresentationFormat>Panorámica</PresentationFormat>
  <Paragraphs>64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Multiplicación y división de números naturales</dc:title>
  <dc:creator>Illán Linos Souto</dc:creator>
  <cp:lastModifiedBy>Illán Linos</cp:lastModifiedBy>
  <cp:revision>21</cp:revision>
  <dcterms:created xsi:type="dcterms:W3CDTF">2024-08-18T18:48:07Z</dcterms:created>
  <dcterms:modified xsi:type="dcterms:W3CDTF">2025-11-15T14:22:23Z</dcterms:modified>
</cp:coreProperties>
</file>