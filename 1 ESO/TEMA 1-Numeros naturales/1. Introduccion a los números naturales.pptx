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6" r:id="rId4"/>
    <p:sldId id="267" r:id="rId5"/>
    <p:sldId id="265" r:id="rId6"/>
    <p:sldId id="268" r:id="rId7"/>
  </p:sldIdLst>
  <p:sldSz cx="12192000" cy="6858000"/>
  <p:notesSz cx="6858000" cy="9144000"/>
  <p:custDataLst>
    <p:tags r:id="rId9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30687-6960-4E88-9566-095D71E67C95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9C621-68FC-4B65-8147-52E0C9F577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131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9C621-68FC-4B65-8147-52E0C9F5770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8392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9C621-68FC-4B65-8147-52E0C9F577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0349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9C621-68FC-4B65-8147-52E0C9F5770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5440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9C621-68FC-4B65-8147-52E0C9F577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358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9C621-68FC-4B65-8147-52E0C9F5770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946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9C621-68FC-4B65-8147-52E0C9F5770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338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4" y="574828"/>
            <a:ext cx="76292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CAD1D2C-F593-7285-EC3F-417E093E22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0319497"/>
                  </p:ext>
                </p:extLst>
              </p:nvPr>
            </p:nvGraphicFramePr>
            <p:xfrm>
              <a:off x="457376" y="4295513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CAD1D2C-F593-7285-EC3F-417E093E22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4295513"/>
                <a:ext cx="444496" cy="5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F0394A42-7C8A-2CFC-95EB-72B410152F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0506289"/>
                  </p:ext>
                </p:extLst>
              </p:nvPr>
            </p:nvGraphicFramePr>
            <p:xfrm>
              <a:off x="457376" y="514665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F0394A42-7C8A-2CFC-95EB-72B410152F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514665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EAB59F3A-FAA2-D514-B441-C9C6AD0A197F}"/>
              </a:ext>
            </a:extLst>
          </p:cNvPr>
          <p:cNvSpPr txBox="1"/>
          <p:nvPr/>
        </p:nvSpPr>
        <p:spPr>
          <a:xfrm>
            <a:off x="978430" y="255004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INTRODUCCIÓN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06E057-B61C-CC1D-1783-64A05EDF1B37}"/>
              </a:ext>
            </a:extLst>
          </p:cNvPr>
          <p:cNvSpPr txBox="1"/>
          <p:nvPr/>
        </p:nvSpPr>
        <p:spPr>
          <a:xfrm>
            <a:off x="978430" y="338160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SUMAS Y RESTAS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284638-BFA9-4B0E-E990-A5FB99A009D4}"/>
              </a:ext>
            </a:extLst>
          </p:cNvPr>
          <p:cNvSpPr txBox="1"/>
          <p:nvPr/>
        </p:nvSpPr>
        <p:spPr>
          <a:xfrm>
            <a:off x="978430" y="42523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MULTIPLICACIÓN Y DIVISIÓN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ED72F9-DD99-4550-748F-4D163E09B984}"/>
              </a:ext>
            </a:extLst>
          </p:cNvPr>
          <p:cNvSpPr txBox="1"/>
          <p:nvPr/>
        </p:nvSpPr>
        <p:spPr>
          <a:xfrm>
            <a:off x="978430" y="510346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JERARQUÍA DE OPERACIONES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elo 3D 9" descr="Pirámide roja tetragonal">
                <a:extLst>
                  <a:ext uri="{FF2B5EF4-FFF2-40B4-BE49-F238E27FC236}">
                    <a16:creationId xmlns:a16="http://schemas.microsoft.com/office/drawing/2014/main" id="{8C063590-C38D-1C76-1CD0-6C284B2F648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6961974"/>
                  </p:ext>
                </p:extLst>
              </p:nvPr>
            </p:nvGraphicFramePr>
            <p:xfrm>
              <a:off x="438423" y="2565139"/>
              <a:ext cx="463449" cy="616131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49" cy="616131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7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elo 3D 9" descr="Pirámide roja tetragonal">
                <a:extLst>
                  <a:ext uri="{FF2B5EF4-FFF2-40B4-BE49-F238E27FC236}">
                    <a16:creationId xmlns:a16="http://schemas.microsoft.com/office/drawing/2014/main" id="{8C063590-C38D-1C76-1CD0-6C284B2F64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8423" y="2565139"/>
                <a:ext cx="463449" cy="616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C8A83C15-1107-581D-3C2F-5361ABF277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0027295"/>
                  </p:ext>
                </p:extLst>
              </p:nvPr>
            </p:nvGraphicFramePr>
            <p:xfrm>
              <a:off x="457376" y="345841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C8A83C15-1107-581D-3C2F-5361ABF277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3458415"/>
                <a:ext cx="444496" cy="559952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5" grpId="0"/>
      <p:bldP spid="5" grpId="1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A77665D5-7D91-4703-BED8-BBC05689FC64}"/>
              </a:ext>
            </a:extLst>
          </p:cNvPr>
          <p:cNvSpPr txBox="1"/>
          <p:nvPr/>
        </p:nvSpPr>
        <p:spPr>
          <a:xfrm>
            <a:off x="535084" y="124514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Los números naturales surgen por la necesidad de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contar cosas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1377950" y="1152808"/>
            <a:ext cx="9436100" cy="59054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3908F75-FE36-D410-6925-BE2C93D3D3C4}"/>
              </a:ext>
            </a:extLst>
          </p:cNvPr>
          <p:cNvGrpSpPr/>
          <p:nvPr/>
        </p:nvGrpSpPr>
        <p:grpSpPr>
          <a:xfrm>
            <a:off x="533516" y="2149161"/>
            <a:ext cx="3478116" cy="2344184"/>
            <a:chOff x="533516" y="2149161"/>
            <a:chExt cx="3478116" cy="2344184"/>
          </a:xfrm>
        </p:grpSpPr>
        <p:sp>
          <p:nvSpPr>
            <p:cNvPr id="14" name="!CuadroTexto 1">
              <a:extLst>
                <a:ext uri="{FF2B5EF4-FFF2-40B4-BE49-F238E27FC236}">
                  <a16:creationId xmlns:a16="http://schemas.microsoft.com/office/drawing/2014/main" id="{817C9EA2-D050-8D25-48F0-626D9CD15D4D}"/>
                </a:ext>
              </a:extLst>
            </p:cNvPr>
            <p:cNvSpPr txBox="1"/>
            <p:nvPr/>
          </p:nvSpPr>
          <p:spPr>
            <a:xfrm>
              <a:off x="533516" y="2149161"/>
              <a:ext cx="34781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EL HOMBRE PRIMITIVO</a:t>
              </a: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CAD6E527-D9A0-ADE8-A95F-2E2EE67B81B1}"/>
                </a:ext>
              </a:extLst>
            </p:cNvPr>
            <p:cNvCxnSpPr>
              <a:cxnSpLocks/>
            </p:cNvCxnSpPr>
            <p:nvPr/>
          </p:nvCxnSpPr>
          <p:spPr>
            <a:xfrm>
              <a:off x="721161" y="2569297"/>
              <a:ext cx="3102826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Imagen 21" descr="Imagen que contiene medidor, reloj&#10;&#10;Descripción generada automáticamente">
              <a:extLst>
                <a:ext uri="{FF2B5EF4-FFF2-40B4-BE49-F238E27FC236}">
                  <a16:creationId xmlns:a16="http://schemas.microsoft.com/office/drawing/2014/main" id="{903F661F-F876-A8F2-93BF-CD73B6DD5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857" y="2955083"/>
              <a:ext cx="3019434" cy="1538262"/>
            </a:xfrm>
            <a:prstGeom prst="rect">
              <a:avLst/>
            </a:prstGeom>
          </p:spPr>
        </p:pic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4AFD738E-ABC8-9DAC-CB4D-7FE0045A0CBB}"/>
              </a:ext>
            </a:extLst>
          </p:cNvPr>
          <p:cNvGrpSpPr/>
          <p:nvPr/>
        </p:nvGrpSpPr>
        <p:grpSpPr>
          <a:xfrm>
            <a:off x="4356942" y="2149161"/>
            <a:ext cx="3478116" cy="2544196"/>
            <a:chOff x="4356942" y="2149161"/>
            <a:chExt cx="3478116" cy="2544196"/>
          </a:xfrm>
        </p:grpSpPr>
        <p:pic>
          <p:nvPicPr>
            <p:cNvPr id="32" name="Imagen 31" descr="Diagrama&#10;&#10;Descripción generada automáticamente con confianza media">
              <a:extLst>
                <a:ext uri="{FF2B5EF4-FFF2-40B4-BE49-F238E27FC236}">
                  <a16:creationId xmlns:a16="http://schemas.microsoft.com/office/drawing/2014/main" id="{73EA6749-CB0D-2F8D-AB7D-0D38389C2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745" y="2836849"/>
              <a:ext cx="1856510" cy="1856508"/>
            </a:xfrm>
            <a:prstGeom prst="rect">
              <a:avLst/>
            </a:prstGeom>
          </p:spPr>
        </p:pic>
        <p:sp>
          <p:nvSpPr>
            <p:cNvPr id="35" name="!CuadroTexto 1">
              <a:extLst>
                <a:ext uri="{FF2B5EF4-FFF2-40B4-BE49-F238E27FC236}">
                  <a16:creationId xmlns:a16="http://schemas.microsoft.com/office/drawing/2014/main" id="{13947407-8250-14A5-E669-5A89FFFB3D96}"/>
                </a:ext>
              </a:extLst>
            </p:cNvPr>
            <p:cNvSpPr txBox="1"/>
            <p:nvPr/>
          </p:nvSpPr>
          <p:spPr>
            <a:xfrm>
              <a:off x="4356942" y="2149161"/>
              <a:ext cx="34781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LOS EGIPCIOS</a:t>
              </a:r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54F1C3CB-79C5-ACD5-83A6-13D05A23D03E}"/>
                </a:ext>
              </a:extLst>
            </p:cNvPr>
            <p:cNvCxnSpPr>
              <a:cxnSpLocks/>
            </p:cNvCxnSpPr>
            <p:nvPr/>
          </p:nvCxnSpPr>
          <p:spPr>
            <a:xfrm>
              <a:off x="4544587" y="2569297"/>
              <a:ext cx="3102826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9D759BC4-5DF6-FA19-396C-5711BD030525}"/>
              </a:ext>
            </a:extLst>
          </p:cNvPr>
          <p:cNvGrpSpPr/>
          <p:nvPr/>
        </p:nvGrpSpPr>
        <p:grpSpPr>
          <a:xfrm>
            <a:off x="7951027" y="2149161"/>
            <a:ext cx="3478116" cy="2344184"/>
            <a:chOff x="7951027" y="2149161"/>
            <a:chExt cx="3478116" cy="2344184"/>
          </a:xfrm>
        </p:grpSpPr>
        <p:sp>
          <p:nvSpPr>
            <p:cNvPr id="37" name="!CuadroTexto 1">
              <a:extLst>
                <a:ext uri="{FF2B5EF4-FFF2-40B4-BE49-F238E27FC236}">
                  <a16:creationId xmlns:a16="http://schemas.microsoft.com/office/drawing/2014/main" id="{217FC151-057C-3883-37C0-17DFC78BA73F}"/>
                </a:ext>
              </a:extLst>
            </p:cNvPr>
            <p:cNvSpPr txBox="1"/>
            <p:nvPr/>
          </p:nvSpPr>
          <p:spPr>
            <a:xfrm>
              <a:off x="7951027" y="2149161"/>
              <a:ext cx="34781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LOS ROMANOS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0FCE6A23-4395-5BAC-EF5F-BE3E885D009C}"/>
                </a:ext>
              </a:extLst>
            </p:cNvPr>
            <p:cNvCxnSpPr>
              <a:cxnSpLocks/>
            </p:cNvCxnSpPr>
            <p:nvPr/>
          </p:nvCxnSpPr>
          <p:spPr>
            <a:xfrm>
              <a:off x="8138672" y="2569297"/>
              <a:ext cx="3102826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Imagen 38" descr="Imagen que contiene medidor, reloj&#10;&#10;Descripción generada automáticamente">
              <a:extLst>
                <a:ext uri="{FF2B5EF4-FFF2-40B4-BE49-F238E27FC236}">
                  <a16:creationId xmlns:a16="http://schemas.microsoft.com/office/drawing/2014/main" id="{95F7573D-90B3-0CC3-BE58-055A41212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0368" y="2955083"/>
              <a:ext cx="3019434" cy="1538262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A77665D5-7D91-4703-BED8-BBC05689FC64}"/>
              </a:ext>
            </a:extLst>
          </p:cNvPr>
          <p:cNvSpPr txBox="1"/>
          <p:nvPr/>
        </p:nvSpPr>
        <p:spPr>
          <a:xfrm>
            <a:off x="535084" y="124514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Los números naturales surgen por la necesidad de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contar cosas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1377950" y="1152808"/>
            <a:ext cx="9436100" cy="59054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791AD6-48FA-2731-0B0F-B7224CC0D648}"/>
              </a:ext>
            </a:extLst>
          </p:cNvPr>
          <p:cNvSpPr txBox="1"/>
          <p:nvPr/>
        </p:nvSpPr>
        <p:spPr>
          <a:xfrm>
            <a:off x="4096454" y="2684292"/>
            <a:ext cx="3999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0  1  2  3  4  5  6  7  8  9</a:t>
            </a:r>
          </a:p>
        </p:txBody>
      </p:sp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F0AA0E6A-1393-0DCF-4603-FA8E4BB8A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17" y="3800691"/>
            <a:ext cx="588756" cy="588756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14BF92EE-7E86-C6F2-075A-EF1732231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17" y="4603705"/>
            <a:ext cx="588756" cy="588756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D652D3A9-47D6-7773-570C-C94DD8AA9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842" y="4603705"/>
            <a:ext cx="588756" cy="588756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C01390CE-9ADB-31D7-37E4-0D6A80A9F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867" y="4603705"/>
            <a:ext cx="588756" cy="588756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C7ACC0A6-00E0-2E66-C58A-6B489819D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92" y="4603705"/>
            <a:ext cx="588756" cy="588756"/>
          </a:xfrm>
          <a:prstGeom prst="rect">
            <a:avLst/>
          </a:prstGeom>
        </p:spPr>
      </p:pic>
      <p:pic>
        <p:nvPicPr>
          <p:cNvPr id="15" name="Imagen 14" descr="Logotipo&#10;&#10;Descripción generada automáticamente">
            <a:extLst>
              <a:ext uri="{FF2B5EF4-FFF2-40B4-BE49-F238E27FC236}">
                <a16:creationId xmlns:a16="http://schemas.microsoft.com/office/drawing/2014/main" id="{EA4F819C-8025-DB35-88A6-61AB8BCBB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918" y="4603705"/>
            <a:ext cx="588756" cy="588756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9F5034E8-67C8-3EB5-B2F0-015F2857A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918" y="3800691"/>
            <a:ext cx="588756" cy="588756"/>
          </a:xfrm>
          <a:prstGeom prst="rect">
            <a:avLst/>
          </a:prstGeom>
        </p:spPr>
      </p:pic>
      <p:pic>
        <p:nvPicPr>
          <p:cNvPr id="18" name="Imagen 17" descr="Logotipo&#10;&#10;Descripción generada automáticamente">
            <a:extLst>
              <a:ext uri="{FF2B5EF4-FFF2-40B4-BE49-F238E27FC236}">
                <a16:creationId xmlns:a16="http://schemas.microsoft.com/office/drawing/2014/main" id="{116F3485-2427-C8B0-9F9B-F3689E2932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867" y="3800691"/>
            <a:ext cx="588756" cy="588756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F5A3DC01-6EE8-512A-95E3-9F65A0C34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92" y="3800691"/>
            <a:ext cx="588756" cy="588756"/>
          </a:xfrm>
          <a:prstGeom prst="rect">
            <a:avLst/>
          </a:prstGeom>
        </p:spPr>
      </p:pic>
      <p:pic>
        <p:nvPicPr>
          <p:cNvPr id="20" name="Imagen 19" descr="Logotipo&#10;&#10;Descripción generada automáticamente">
            <a:extLst>
              <a:ext uri="{FF2B5EF4-FFF2-40B4-BE49-F238E27FC236}">
                <a16:creationId xmlns:a16="http://schemas.microsoft.com/office/drawing/2014/main" id="{FB801902-5BCC-39F4-AEDE-08461C010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842" y="3800691"/>
            <a:ext cx="588756" cy="588756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F50A12F4-F56F-1367-205A-567C7E937FB5}"/>
              </a:ext>
            </a:extLst>
          </p:cNvPr>
          <p:cNvSpPr txBox="1"/>
          <p:nvPr/>
        </p:nvSpPr>
        <p:spPr>
          <a:xfrm>
            <a:off x="3434404" y="3376551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91D97BE-DA4A-0424-A7B0-CEC98E3D727F}"/>
              </a:ext>
            </a:extLst>
          </p:cNvPr>
          <p:cNvSpPr txBox="1"/>
          <p:nvPr/>
        </p:nvSpPr>
        <p:spPr>
          <a:xfrm>
            <a:off x="4680430" y="3376551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8811B1D-1040-47CB-4803-EC1734530BC9}"/>
              </a:ext>
            </a:extLst>
          </p:cNvPr>
          <p:cNvSpPr txBox="1"/>
          <p:nvPr/>
        </p:nvSpPr>
        <p:spPr>
          <a:xfrm>
            <a:off x="5926456" y="3376551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C402C6B-DCEB-4F68-E5F7-C8703658BEFB}"/>
              </a:ext>
            </a:extLst>
          </p:cNvPr>
          <p:cNvSpPr txBox="1"/>
          <p:nvPr/>
        </p:nvSpPr>
        <p:spPr>
          <a:xfrm>
            <a:off x="7172482" y="3376551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1618CF-1EC6-C367-690B-3D1965591848}"/>
              </a:ext>
            </a:extLst>
          </p:cNvPr>
          <p:cNvSpPr txBox="1"/>
          <p:nvPr/>
        </p:nvSpPr>
        <p:spPr>
          <a:xfrm>
            <a:off x="8418508" y="3376551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758A8AC-8CBF-0602-FD4D-11A224828364}"/>
              </a:ext>
            </a:extLst>
          </p:cNvPr>
          <p:cNvSpPr txBox="1"/>
          <p:nvPr/>
        </p:nvSpPr>
        <p:spPr>
          <a:xfrm>
            <a:off x="3432052" y="5252235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FE3501F-61A7-EEF8-5862-1032F65A5F31}"/>
              </a:ext>
            </a:extLst>
          </p:cNvPr>
          <p:cNvSpPr txBox="1"/>
          <p:nvPr/>
        </p:nvSpPr>
        <p:spPr>
          <a:xfrm>
            <a:off x="4680430" y="5252235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D0656CB-A841-611E-8356-101413B4614B}"/>
              </a:ext>
            </a:extLst>
          </p:cNvPr>
          <p:cNvSpPr txBox="1"/>
          <p:nvPr/>
        </p:nvSpPr>
        <p:spPr>
          <a:xfrm>
            <a:off x="5937211" y="5252234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617E137-4DA2-4CB2-FA6A-AE2CCD077EDC}"/>
              </a:ext>
            </a:extLst>
          </p:cNvPr>
          <p:cNvSpPr txBox="1"/>
          <p:nvPr/>
        </p:nvSpPr>
        <p:spPr>
          <a:xfrm>
            <a:off x="7176513" y="5252234"/>
            <a:ext cx="317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43D395C-3D49-D7BD-14B7-44D409725D6C}"/>
              </a:ext>
            </a:extLst>
          </p:cNvPr>
          <p:cNvSpPr txBox="1"/>
          <p:nvPr/>
        </p:nvSpPr>
        <p:spPr>
          <a:xfrm>
            <a:off x="8171653" y="5252235"/>
            <a:ext cx="81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6219D91-F5E4-0806-577B-5DC83D08D652}"/>
              </a:ext>
            </a:extLst>
          </p:cNvPr>
          <p:cNvSpPr txBox="1"/>
          <p:nvPr/>
        </p:nvSpPr>
        <p:spPr>
          <a:xfrm>
            <a:off x="342464" y="3838216"/>
            <a:ext cx="2382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 PELOTAS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F862BE7-84C5-119C-4965-C8D5CBEE2C21}"/>
              </a:ext>
            </a:extLst>
          </p:cNvPr>
          <p:cNvGrpSpPr/>
          <p:nvPr/>
        </p:nvGrpSpPr>
        <p:grpSpPr>
          <a:xfrm>
            <a:off x="535084" y="2086999"/>
            <a:ext cx="11121832" cy="461665"/>
            <a:chOff x="535084" y="2086999"/>
            <a:chExt cx="11121832" cy="461665"/>
          </a:xfrm>
        </p:grpSpPr>
        <p:sp>
          <p:nvSpPr>
            <p:cNvPr id="4" name="!CuadroTexto 1">
              <a:extLst>
                <a:ext uri="{FF2B5EF4-FFF2-40B4-BE49-F238E27FC236}">
                  <a16:creationId xmlns:a16="http://schemas.microsoft.com/office/drawing/2014/main" id="{1CBDD138-E369-0674-B47A-AED22F605A71}"/>
                </a:ext>
              </a:extLst>
            </p:cNvPr>
            <p:cNvSpPr txBox="1"/>
            <p:nvPr/>
          </p:nvSpPr>
          <p:spPr>
            <a:xfrm>
              <a:off x="535084" y="2086999"/>
              <a:ext cx="11121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NOSOTROS: SISTEMA DECIMAL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A753A5E1-1E5A-754F-AC28-FF16BA3FA797}"/>
                </a:ext>
              </a:extLst>
            </p:cNvPr>
            <p:cNvCxnSpPr>
              <a:cxnSpLocks/>
            </p:cNvCxnSpPr>
            <p:nvPr/>
          </p:nvCxnSpPr>
          <p:spPr>
            <a:xfrm>
              <a:off x="2844800" y="2547412"/>
              <a:ext cx="6362700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274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5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75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50"/>
                            </p:stCondLst>
                            <p:childTnLst>
                              <p:par>
                                <p:cTn id="9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3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A77665D5-7D91-4703-BED8-BBC05689FC64}"/>
              </a:ext>
            </a:extLst>
          </p:cNvPr>
          <p:cNvSpPr txBox="1"/>
          <p:nvPr/>
        </p:nvSpPr>
        <p:spPr>
          <a:xfrm>
            <a:off x="535084" y="124514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Los números naturales surgen por la necesidad de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contar cosas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1377950" y="1152808"/>
            <a:ext cx="9436100" cy="59054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791AD6-48FA-2731-0B0F-B7224CC0D648}"/>
              </a:ext>
            </a:extLst>
          </p:cNvPr>
          <p:cNvSpPr txBox="1"/>
          <p:nvPr/>
        </p:nvSpPr>
        <p:spPr>
          <a:xfrm>
            <a:off x="4096454" y="2684292"/>
            <a:ext cx="3999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0  1  2  3  4  5  6  7  8  9</a:t>
            </a: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1CBDD138-E369-0674-B47A-AED22F605A71}"/>
              </a:ext>
            </a:extLst>
          </p:cNvPr>
          <p:cNvSpPr txBox="1"/>
          <p:nvPr/>
        </p:nvSpPr>
        <p:spPr>
          <a:xfrm>
            <a:off x="535084" y="2086999"/>
            <a:ext cx="11121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NOSOTROS: SISTEMA DECIMAL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753A5E1-1E5A-754F-AC28-FF16BA3FA797}"/>
              </a:ext>
            </a:extLst>
          </p:cNvPr>
          <p:cNvCxnSpPr>
            <a:cxnSpLocks/>
          </p:cNvCxnSpPr>
          <p:nvPr/>
        </p:nvCxnSpPr>
        <p:spPr>
          <a:xfrm>
            <a:off x="2844800" y="2547412"/>
            <a:ext cx="6362700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a 39">
            <a:extLst>
              <a:ext uri="{FF2B5EF4-FFF2-40B4-BE49-F238E27FC236}">
                <a16:creationId xmlns:a16="http://schemas.microsoft.com/office/drawing/2014/main" id="{FE5F4975-14CC-3FB0-EEE1-CF861C2E2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481012"/>
              </p:ext>
            </p:extLst>
          </p:nvPr>
        </p:nvGraphicFramePr>
        <p:xfrm>
          <a:off x="1549485" y="3771657"/>
          <a:ext cx="9093028" cy="927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9004">
                  <a:extLst>
                    <a:ext uri="{9D8B030D-6E8A-4147-A177-3AD203B41FA5}">
                      <a16:colId xmlns:a16="http://schemas.microsoft.com/office/drawing/2014/main" val="4011330400"/>
                    </a:ext>
                  </a:extLst>
                </a:gridCol>
                <a:gridCol w="1299004">
                  <a:extLst>
                    <a:ext uri="{9D8B030D-6E8A-4147-A177-3AD203B41FA5}">
                      <a16:colId xmlns:a16="http://schemas.microsoft.com/office/drawing/2014/main" val="1744599519"/>
                    </a:ext>
                  </a:extLst>
                </a:gridCol>
                <a:gridCol w="1299004">
                  <a:extLst>
                    <a:ext uri="{9D8B030D-6E8A-4147-A177-3AD203B41FA5}">
                      <a16:colId xmlns:a16="http://schemas.microsoft.com/office/drawing/2014/main" val="3526290429"/>
                    </a:ext>
                  </a:extLst>
                </a:gridCol>
                <a:gridCol w="1299004">
                  <a:extLst>
                    <a:ext uri="{9D8B030D-6E8A-4147-A177-3AD203B41FA5}">
                      <a16:colId xmlns:a16="http://schemas.microsoft.com/office/drawing/2014/main" val="2577628527"/>
                    </a:ext>
                  </a:extLst>
                </a:gridCol>
                <a:gridCol w="1299004">
                  <a:extLst>
                    <a:ext uri="{9D8B030D-6E8A-4147-A177-3AD203B41FA5}">
                      <a16:colId xmlns:a16="http://schemas.microsoft.com/office/drawing/2014/main" val="241985849"/>
                    </a:ext>
                  </a:extLst>
                </a:gridCol>
                <a:gridCol w="1299004">
                  <a:extLst>
                    <a:ext uri="{9D8B030D-6E8A-4147-A177-3AD203B41FA5}">
                      <a16:colId xmlns:a16="http://schemas.microsoft.com/office/drawing/2014/main" val="3714373275"/>
                    </a:ext>
                  </a:extLst>
                </a:gridCol>
                <a:gridCol w="1299004">
                  <a:extLst>
                    <a:ext uri="{9D8B030D-6E8A-4147-A177-3AD203B41FA5}">
                      <a16:colId xmlns:a16="http://schemas.microsoft.com/office/drawing/2014/main" val="3679556122"/>
                    </a:ext>
                  </a:extLst>
                </a:gridCol>
              </a:tblGrid>
              <a:tr h="496533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UNIDADES DE MILLÓN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CENTENAS DE MILLAR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DECENAS DE MILLAR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UNIDADES DE MILLAR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CENTENAS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DECENAS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UNIDADES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268563"/>
                  </a:ext>
                </a:extLst>
              </a:tr>
              <a:tr h="409568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80864"/>
                  </a:ext>
                </a:extLst>
              </a:tr>
            </a:tbl>
          </a:graphicData>
        </a:graphic>
      </p:graphicFrame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D8B4B99A-E29A-A9C3-B766-A556B08CEC14}"/>
              </a:ext>
            </a:extLst>
          </p:cNvPr>
          <p:cNvCxnSpPr/>
          <p:nvPr/>
        </p:nvCxnSpPr>
        <p:spPr>
          <a:xfrm>
            <a:off x="4791075" y="4619962"/>
            <a:ext cx="1123950" cy="1095375"/>
          </a:xfrm>
          <a:prstGeom prst="bentConnector3">
            <a:avLst>
              <a:gd name="adj1" fmla="val 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780F3D49-9E0D-8E60-30A4-B0C860B939CE}"/>
              </a:ext>
            </a:extLst>
          </p:cNvPr>
          <p:cNvCxnSpPr>
            <a:cxnSpLocks/>
          </p:cNvCxnSpPr>
          <p:nvPr/>
        </p:nvCxnSpPr>
        <p:spPr>
          <a:xfrm>
            <a:off x="7381790" y="4619961"/>
            <a:ext cx="804952" cy="658102"/>
          </a:xfrm>
          <a:prstGeom prst="bentConnector3">
            <a:avLst>
              <a:gd name="adj1" fmla="val 178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5329C49-3DB4-9A08-33A8-8B663D75E8AB}"/>
              </a:ext>
            </a:extLst>
          </p:cNvPr>
          <p:cNvSpPr txBox="1"/>
          <p:nvPr/>
        </p:nvSpPr>
        <p:spPr>
          <a:xfrm>
            <a:off x="5749430" y="5492054"/>
            <a:ext cx="288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30 000 unidades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36EF519-5F84-D313-B252-B074AAF479E0}"/>
              </a:ext>
            </a:extLst>
          </p:cNvPr>
          <p:cNvSpPr txBox="1"/>
          <p:nvPr/>
        </p:nvSpPr>
        <p:spPr>
          <a:xfrm>
            <a:off x="7946964" y="5022839"/>
            <a:ext cx="2590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300 unidades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4FBD87A8-8715-D20B-2020-B436B3144966}"/>
              </a:ext>
            </a:extLst>
          </p:cNvPr>
          <p:cNvCxnSpPr>
            <a:cxnSpLocks/>
          </p:cNvCxnSpPr>
          <p:nvPr/>
        </p:nvCxnSpPr>
        <p:spPr>
          <a:xfrm flipV="1">
            <a:off x="8047920" y="3376193"/>
            <a:ext cx="0" cy="3954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BE41679-55D1-E8E5-0883-78D87F478661}"/>
              </a:ext>
            </a:extLst>
          </p:cNvPr>
          <p:cNvCxnSpPr>
            <a:cxnSpLocks/>
          </p:cNvCxnSpPr>
          <p:nvPr/>
        </p:nvCxnSpPr>
        <p:spPr>
          <a:xfrm flipV="1">
            <a:off x="9343320" y="3376193"/>
            <a:ext cx="0" cy="3954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085395-45C8-4827-62B8-1E55835F9E80}"/>
              </a:ext>
            </a:extLst>
          </p:cNvPr>
          <p:cNvGrpSpPr/>
          <p:nvPr/>
        </p:nvGrpSpPr>
        <p:grpSpPr>
          <a:xfrm>
            <a:off x="8044128" y="3253634"/>
            <a:ext cx="544914" cy="369332"/>
            <a:chOff x="8044128" y="3253634"/>
            <a:chExt cx="544914" cy="369332"/>
          </a:xfrm>
        </p:grpSpPr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F8CC3207-25E7-2C03-95B4-3CE6536CDAC3}"/>
                </a:ext>
              </a:extLst>
            </p:cNvPr>
            <p:cNvSpPr/>
            <p:nvPr/>
          </p:nvSpPr>
          <p:spPr>
            <a:xfrm>
              <a:off x="8173849" y="3286039"/>
              <a:ext cx="304522" cy="30452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C17876C9-E049-4DC3-CFA1-11C6D1A66F1E}"/>
                </a:ext>
              </a:extLst>
            </p:cNvPr>
            <p:cNvSpPr txBox="1"/>
            <p:nvPr/>
          </p:nvSpPr>
          <p:spPr>
            <a:xfrm>
              <a:off x="8044128" y="3253634"/>
              <a:ext cx="54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E2100F79-E045-7949-8281-AE095092B6C7}"/>
              </a:ext>
            </a:extLst>
          </p:cNvPr>
          <p:cNvGrpSpPr/>
          <p:nvPr/>
        </p:nvGrpSpPr>
        <p:grpSpPr>
          <a:xfrm>
            <a:off x="9390944" y="3286039"/>
            <a:ext cx="544914" cy="369332"/>
            <a:chOff x="9390944" y="3286039"/>
            <a:chExt cx="544914" cy="369332"/>
          </a:xfrm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D572297C-81C1-1705-D766-61679CB2D305}"/>
                </a:ext>
              </a:extLst>
            </p:cNvPr>
            <p:cNvSpPr/>
            <p:nvPr/>
          </p:nvSpPr>
          <p:spPr>
            <a:xfrm>
              <a:off x="9520665" y="3318444"/>
              <a:ext cx="304522" cy="30452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D429918B-B1E2-B5DF-AD2D-9BC921EC8347}"/>
                </a:ext>
              </a:extLst>
            </p:cNvPr>
            <p:cNvSpPr txBox="1"/>
            <p:nvPr/>
          </p:nvSpPr>
          <p:spPr>
            <a:xfrm>
              <a:off x="9390944" y="3286039"/>
              <a:ext cx="54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10</a:t>
              </a:r>
            </a:p>
          </p:txBody>
        </p:sp>
      </p:grpSp>
      <p:sp>
        <p:nvSpPr>
          <p:cNvPr id="72" name="Arco 71">
            <a:extLst>
              <a:ext uri="{FF2B5EF4-FFF2-40B4-BE49-F238E27FC236}">
                <a16:creationId xmlns:a16="http://schemas.microsoft.com/office/drawing/2014/main" id="{8D66DB85-89FA-3C59-6378-F006F058A68E}"/>
              </a:ext>
            </a:extLst>
          </p:cNvPr>
          <p:cNvSpPr/>
          <p:nvPr/>
        </p:nvSpPr>
        <p:spPr>
          <a:xfrm>
            <a:off x="7875586" y="3442809"/>
            <a:ext cx="572260" cy="388808"/>
          </a:xfrm>
          <a:prstGeom prst="arc">
            <a:avLst>
              <a:gd name="adj1" fmla="val 11399103"/>
              <a:gd name="adj2" fmla="val 16259000"/>
            </a:avLst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810A7A5A-1CCE-F204-4178-A476F964AD68}"/>
              </a:ext>
            </a:extLst>
          </p:cNvPr>
          <p:cNvSpPr txBox="1"/>
          <p:nvPr/>
        </p:nvSpPr>
        <p:spPr>
          <a:xfrm>
            <a:off x="7544664" y="3452547"/>
            <a:ext cx="54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74" name="Arco 73">
            <a:extLst>
              <a:ext uri="{FF2B5EF4-FFF2-40B4-BE49-F238E27FC236}">
                <a16:creationId xmlns:a16="http://schemas.microsoft.com/office/drawing/2014/main" id="{C34B4FAB-CA61-AEA0-1A3D-17677DED47A2}"/>
              </a:ext>
            </a:extLst>
          </p:cNvPr>
          <p:cNvSpPr/>
          <p:nvPr/>
        </p:nvSpPr>
        <p:spPr>
          <a:xfrm>
            <a:off x="9234535" y="3446154"/>
            <a:ext cx="572260" cy="388808"/>
          </a:xfrm>
          <a:prstGeom prst="arc">
            <a:avLst>
              <a:gd name="adj1" fmla="val 11399103"/>
              <a:gd name="adj2" fmla="val 16259000"/>
            </a:avLst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CBC735D5-A601-D259-B146-6DEFD2D15A56}"/>
              </a:ext>
            </a:extLst>
          </p:cNvPr>
          <p:cNvSpPr txBox="1"/>
          <p:nvPr/>
        </p:nvSpPr>
        <p:spPr>
          <a:xfrm>
            <a:off x="8903613" y="3455892"/>
            <a:ext cx="54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967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72" grpId="0" animBg="1"/>
      <p:bldP spid="73" grpId="0"/>
      <p:bldP spid="74" grpId="0" animBg="1"/>
      <p:bldP spid="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A77665D5-7D91-4703-BED8-BBC05689FC64}"/>
              </a:ext>
            </a:extLst>
          </p:cNvPr>
          <p:cNvSpPr txBox="1"/>
          <p:nvPr/>
        </p:nvSpPr>
        <p:spPr>
          <a:xfrm>
            <a:off x="535084" y="1208899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redondear un número a un determinado orden de unidades:</a:t>
            </a:r>
          </a:p>
          <a:p>
            <a:r>
              <a:rPr lang="es-ES" sz="2000" b="1" dirty="0"/>
              <a:t>• Se sustituyen por ceros todas las cifras a la derecha de dicho orden.</a:t>
            </a:r>
          </a:p>
          <a:p>
            <a:r>
              <a:rPr lang="es-ES" sz="2000" b="1" dirty="0"/>
              <a:t>• Si la primera cifra sustituida es mayor o igual que cinco, se suma una unidad a la cifra anterior.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481743" y="1162732"/>
            <a:ext cx="11228920" cy="1415772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0A549789-E515-F3D2-D6A8-F8BC069DF0BD}"/>
              </a:ext>
            </a:extLst>
          </p:cNvPr>
          <p:cNvSpPr txBox="1"/>
          <p:nvPr/>
        </p:nvSpPr>
        <p:spPr>
          <a:xfrm>
            <a:off x="508915" y="2826051"/>
            <a:ext cx="4861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Aproximaciones del número 293 518:</a:t>
            </a:r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5FD61AC9-625E-4381-DA8B-7A631FB1AB10}"/>
              </a:ext>
            </a:extLst>
          </p:cNvPr>
          <p:cNvSpPr txBox="1"/>
          <p:nvPr/>
        </p:nvSpPr>
        <p:spPr>
          <a:xfrm>
            <a:off x="481745" y="3349990"/>
            <a:ext cx="518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 las centenas de millar</a:t>
            </a:r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6042EFEB-E56D-3621-85F7-BEAFCA2407E9}"/>
              </a:ext>
            </a:extLst>
          </p:cNvPr>
          <p:cNvSpPr txBox="1"/>
          <p:nvPr/>
        </p:nvSpPr>
        <p:spPr>
          <a:xfrm>
            <a:off x="481744" y="4031970"/>
            <a:ext cx="518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 las decenas de millar</a:t>
            </a:r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B592935F-743E-F902-EAC9-E0B6E1F92481}"/>
              </a:ext>
            </a:extLst>
          </p:cNvPr>
          <p:cNvSpPr txBox="1"/>
          <p:nvPr/>
        </p:nvSpPr>
        <p:spPr>
          <a:xfrm>
            <a:off x="481743" y="4670279"/>
            <a:ext cx="518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 los millares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12DBE74-53C8-987D-0FBB-1C3BBEE41F9C}"/>
              </a:ext>
            </a:extLst>
          </p:cNvPr>
          <p:cNvCxnSpPr/>
          <p:nvPr/>
        </p:nvCxnSpPr>
        <p:spPr>
          <a:xfrm>
            <a:off x="3726180" y="3581400"/>
            <a:ext cx="113538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D473719-1DD7-49DB-EA17-E42460AE4510}"/>
              </a:ext>
            </a:extLst>
          </p:cNvPr>
          <p:cNvCxnSpPr/>
          <p:nvPr/>
        </p:nvCxnSpPr>
        <p:spPr>
          <a:xfrm>
            <a:off x="2310765" y="4887911"/>
            <a:ext cx="113538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5E04B02-128C-568B-C578-4F2B0E45C4D6}"/>
              </a:ext>
            </a:extLst>
          </p:cNvPr>
          <p:cNvCxnSpPr>
            <a:cxnSpLocks/>
          </p:cNvCxnSpPr>
          <p:nvPr/>
        </p:nvCxnSpPr>
        <p:spPr>
          <a:xfrm>
            <a:off x="6096000" y="3581400"/>
            <a:ext cx="60325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CuadroTexto 1">
            <a:extLst>
              <a:ext uri="{FF2B5EF4-FFF2-40B4-BE49-F238E27FC236}">
                <a16:creationId xmlns:a16="http://schemas.microsoft.com/office/drawing/2014/main" id="{D983E282-2B11-F0D7-9E0F-54DFC4FF3258}"/>
              </a:ext>
            </a:extLst>
          </p:cNvPr>
          <p:cNvSpPr txBox="1"/>
          <p:nvPr/>
        </p:nvSpPr>
        <p:spPr>
          <a:xfrm>
            <a:off x="6699250" y="3384313"/>
            <a:ext cx="123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300 000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632D155-D112-AB2C-FF4D-31710C2E7175}"/>
              </a:ext>
            </a:extLst>
          </p:cNvPr>
          <p:cNvGrpSpPr/>
          <p:nvPr/>
        </p:nvGrpSpPr>
        <p:grpSpPr>
          <a:xfrm>
            <a:off x="4861561" y="3051498"/>
            <a:ext cx="1234440" cy="732925"/>
            <a:chOff x="4861561" y="3051498"/>
            <a:chExt cx="1234440" cy="732925"/>
          </a:xfrm>
        </p:grpSpPr>
        <p:sp>
          <p:nvSpPr>
            <p:cNvPr id="23" name="!CuadroTexto 1">
              <a:extLst>
                <a:ext uri="{FF2B5EF4-FFF2-40B4-BE49-F238E27FC236}">
                  <a16:creationId xmlns:a16="http://schemas.microsoft.com/office/drawing/2014/main" id="{E7506188-AF9F-9DB4-23CA-4AB2F4662351}"/>
                </a:ext>
              </a:extLst>
            </p:cNvPr>
            <p:cNvSpPr txBox="1"/>
            <p:nvPr/>
          </p:nvSpPr>
          <p:spPr>
            <a:xfrm>
              <a:off x="4861561" y="3384313"/>
              <a:ext cx="123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>
                  <a:latin typeface="Century Gothic" panose="020B0502020202020204" pitchFamily="34" charset="0"/>
                </a:rPr>
                <a:t>2 93 518</a:t>
              </a:r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32D60045-CC26-CFF2-F5D9-048FFC85F9BA}"/>
                </a:ext>
              </a:extLst>
            </p:cNvPr>
            <p:cNvCxnSpPr/>
            <p:nvPr/>
          </p:nvCxnSpPr>
          <p:spPr>
            <a:xfrm>
              <a:off x="5133976" y="3384313"/>
              <a:ext cx="0" cy="40011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85522868-3C0E-E376-65B6-CEE2542B4CAE}"/>
                </a:ext>
              </a:extLst>
            </p:cNvPr>
            <p:cNvCxnSpPr/>
            <p:nvPr/>
          </p:nvCxnSpPr>
          <p:spPr>
            <a:xfrm>
              <a:off x="5124452" y="3721525"/>
              <a:ext cx="9096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Arco 30">
              <a:extLst>
                <a:ext uri="{FF2B5EF4-FFF2-40B4-BE49-F238E27FC236}">
                  <a16:creationId xmlns:a16="http://schemas.microsoft.com/office/drawing/2014/main" id="{9D717656-0C78-A313-1E71-12DF96AA71DE}"/>
                </a:ext>
              </a:extLst>
            </p:cNvPr>
            <p:cNvSpPr/>
            <p:nvPr/>
          </p:nvSpPr>
          <p:spPr>
            <a:xfrm>
              <a:off x="5006975" y="3303824"/>
              <a:ext cx="257175" cy="319304"/>
            </a:xfrm>
            <a:prstGeom prst="arc">
              <a:avLst>
                <a:gd name="adj1" fmla="val 11399103"/>
                <a:gd name="adj2" fmla="val 20429038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D490D184-EE0B-5BE5-108A-3730AD4B2157}"/>
                </a:ext>
              </a:extLst>
            </p:cNvPr>
            <p:cNvSpPr txBox="1"/>
            <p:nvPr/>
          </p:nvSpPr>
          <p:spPr>
            <a:xfrm>
              <a:off x="5020860" y="3051498"/>
              <a:ext cx="54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+1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E468DBAD-1535-0B7F-7C3D-03371ED4EC0A}"/>
              </a:ext>
            </a:extLst>
          </p:cNvPr>
          <p:cNvGrpSpPr/>
          <p:nvPr/>
        </p:nvGrpSpPr>
        <p:grpSpPr>
          <a:xfrm>
            <a:off x="4772661" y="4058374"/>
            <a:ext cx="1234440" cy="400110"/>
            <a:chOff x="4772661" y="4058374"/>
            <a:chExt cx="1234440" cy="400110"/>
          </a:xfrm>
        </p:grpSpPr>
        <p:sp>
          <p:nvSpPr>
            <p:cNvPr id="33" name="!CuadroTexto 1">
              <a:extLst>
                <a:ext uri="{FF2B5EF4-FFF2-40B4-BE49-F238E27FC236}">
                  <a16:creationId xmlns:a16="http://schemas.microsoft.com/office/drawing/2014/main" id="{077E3B22-E377-2B81-6C5E-037E279EB290}"/>
                </a:ext>
              </a:extLst>
            </p:cNvPr>
            <p:cNvSpPr txBox="1"/>
            <p:nvPr/>
          </p:nvSpPr>
          <p:spPr>
            <a:xfrm>
              <a:off x="4772661" y="4058374"/>
              <a:ext cx="123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>
                  <a:latin typeface="Century Gothic" panose="020B0502020202020204" pitchFamily="34" charset="0"/>
                </a:rPr>
                <a:t>29 3 518</a:t>
              </a: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816455BA-9D6A-5888-41D7-D370F3FC8F4A}"/>
                </a:ext>
              </a:extLst>
            </p:cNvPr>
            <p:cNvCxnSpPr/>
            <p:nvPr/>
          </p:nvCxnSpPr>
          <p:spPr>
            <a:xfrm>
              <a:off x="5184776" y="4058374"/>
              <a:ext cx="0" cy="40011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D328A040-847E-0846-0C65-3FFB068250E9}"/>
                </a:ext>
              </a:extLst>
            </p:cNvPr>
            <p:cNvCxnSpPr>
              <a:cxnSpLocks/>
            </p:cNvCxnSpPr>
            <p:nvPr/>
          </p:nvCxnSpPr>
          <p:spPr>
            <a:xfrm>
              <a:off x="5175250" y="4395586"/>
              <a:ext cx="7794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12B586EF-0424-EED6-298B-E23D40944363}"/>
              </a:ext>
            </a:extLst>
          </p:cNvPr>
          <p:cNvCxnSpPr>
            <a:cxnSpLocks/>
          </p:cNvCxnSpPr>
          <p:nvPr/>
        </p:nvCxnSpPr>
        <p:spPr>
          <a:xfrm>
            <a:off x="6007100" y="4255461"/>
            <a:ext cx="60325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!CuadroTexto 1">
            <a:extLst>
              <a:ext uri="{FF2B5EF4-FFF2-40B4-BE49-F238E27FC236}">
                <a16:creationId xmlns:a16="http://schemas.microsoft.com/office/drawing/2014/main" id="{10F4D125-BCCD-982D-AFEB-32BDE23F0DE4}"/>
              </a:ext>
            </a:extLst>
          </p:cNvPr>
          <p:cNvSpPr txBox="1"/>
          <p:nvPr/>
        </p:nvSpPr>
        <p:spPr>
          <a:xfrm>
            <a:off x="6610350" y="4058374"/>
            <a:ext cx="123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290 000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750ACD8C-2767-7EFC-B175-44E5DBA2D6BF}"/>
              </a:ext>
            </a:extLst>
          </p:cNvPr>
          <p:cNvCxnSpPr>
            <a:cxnSpLocks/>
          </p:cNvCxnSpPr>
          <p:nvPr/>
        </p:nvCxnSpPr>
        <p:spPr>
          <a:xfrm>
            <a:off x="4754879" y="4867366"/>
            <a:ext cx="60325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!CuadroTexto 1">
            <a:extLst>
              <a:ext uri="{FF2B5EF4-FFF2-40B4-BE49-F238E27FC236}">
                <a16:creationId xmlns:a16="http://schemas.microsoft.com/office/drawing/2014/main" id="{557B8375-CBF0-7745-2B67-ABBDEC4A58C5}"/>
              </a:ext>
            </a:extLst>
          </p:cNvPr>
          <p:cNvSpPr txBox="1"/>
          <p:nvPr/>
        </p:nvSpPr>
        <p:spPr>
          <a:xfrm>
            <a:off x="5358129" y="4670279"/>
            <a:ext cx="123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294 000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5110298-EEA9-0F8C-A6FB-644DC5EE3F03}"/>
              </a:ext>
            </a:extLst>
          </p:cNvPr>
          <p:cNvCxnSpPr/>
          <p:nvPr/>
        </p:nvCxnSpPr>
        <p:spPr>
          <a:xfrm>
            <a:off x="3619500" y="4255221"/>
            <a:ext cx="113538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A8F47ED2-8C36-E9ED-BDCF-86A6075B9490}"/>
              </a:ext>
            </a:extLst>
          </p:cNvPr>
          <p:cNvGrpSpPr/>
          <p:nvPr/>
        </p:nvGrpSpPr>
        <p:grpSpPr>
          <a:xfrm>
            <a:off x="3520440" y="4320284"/>
            <a:ext cx="1234440" cy="752486"/>
            <a:chOff x="3520440" y="4320284"/>
            <a:chExt cx="1234440" cy="752486"/>
          </a:xfrm>
        </p:grpSpPr>
        <p:sp>
          <p:nvSpPr>
            <p:cNvPr id="47" name="!CuadroTexto 1">
              <a:extLst>
                <a:ext uri="{FF2B5EF4-FFF2-40B4-BE49-F238E27FC236}">
                  <a16:creationId xmlns:a16="http://schemas.microsoft.com/office/drawing/2014/main" id="{3F211D77-7740-D7EC-B1A3-01E3F7497BEC}"/>
                </a:ext>
              </a:extLst>
            </p:cNvPr>
            <p:cNvSpPr txBox="1"/>
            <p:nvPr/>
          </p:nvSpPr>
          <p:spPr>
            <a:xfrm>
              <a:off x="3520440" y="4670279"/>
              <a:ext cx="123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>
                  <a:latin typeface="Century Gothic" panose="020B0502020202020204" pitchFamily="34" charset="0"/>
                </a:rPr>
                <a:t>293 518</a:t>
              </a:r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FE567AE8-E835-B2E3-F204-BF34E1FF0EFA}"/>
                </a:ext>
              </a:extLst>
            </p:cNvPr>
            <p:cNvCxnSpPr/>
            <p:nvPr/>
          </p:nvCxnSpPr>
          <p:spPr>
            <a:xfrm>
              <a:off x="4068286" y="4672660"/>
              <a:ext cx="0" cy="40011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364A2741-964D-7E4A-C6B3-BF35D3BE9AF1}"/>
                </a:ext>
              </a:extLst>
            </p:cNvPr>
            <p:cNvCxnSpPr>
              <a:cxnSpLocks/>
            </p:cNvCxnSpPr>
            <p:nvPr/>
          </p:nvCxnSpPr>
          <p:spPr>
            <a:xfrm>
              <a:off x="4075431" y="5007491"/>
              <a:ext cx="5203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DE8567BE-919E-28FC-FA85-8AB630BD2CB8}"/>
                </a:ext>
              </a:extLst>
            </p:cNvPr>
            <p:cNvSpPr txBox="1"/>
            <p:nvPr/>
          </p:nvSpPr>
          <p:spPr>
            <a:xfrm>
              <a:off x="3896955" y="4320284"/>
              <a:ext cx="54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+1</a:t>
              </a:r>
            </a:p>
          </p:txBody>
        </p:sp>
        <p:sp>
          <p:nvSpPr>
            <p:cNvPr id="76" name="Arco 75">
              <a:extLst>
                <a:ext uri="{FF2B5EF4-FFF2-40B4-BE49-F238E27FC236}">
                  <a16:creationId xmlns:a16="http://schemas.microsoft.com/office/drawing/2014/main" id="{E9E7D3D1-67D1-1A69-1AC1-9B65C202FCD4}"/>
                </a:ext>
              </a:extLst>
            </p:cNvPr>
            <p:cNvSpPr/>
            <p:nvPr/>
          </p:nvSpPr>
          <p:spPr>
            <a:xfrm>
              <a:off x="3946843" y="4606444"/>
              <a:ext cx="257175" cy="319304"/>
            </a:xfrm>
            <a:prstGeom prst="arc">
              <a:avLst>
                <a:gd name="adj1" fmla="val 11399103"/>
                <a:gd name="adj2" fmla="val 20429038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1852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9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10" grpId="0"/>
      <p:bldP spid="11" grpId="0"/>
      <p:bldP spid="12" grpId="0"/>
      <p:bldP spid="30" grpId="0"/>
      <p:bldP spid="39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DD796-68FA-AE85-B274-EC7A5D679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573419-E097-8CBA-86AE-2CA41464FD5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F9A3C5C-9C16-CAD8-6913-0AE9A81DBB1C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45E0D61F-F58B-9699-330F-74C220590EC6}"/>
              </a:ext>
            </a:extLst>
          </p:cNvPr>
          <p:cNvSpPr txBox="1"/>
          <p:nvPr/>
        </p:nvSpPr>
        <p:spPr>
          <a:xfrm>
            <a:off x="535084" y="1208899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redondear un número a un determinado orden de unidades:</a:t>
            </a:r>
          </a:p>
          <a:p>
            <a:r>
              <a:rPr lang="es-ES" sz="2000" b="1" dirty="0"/>
              <a:t>• Se sustituyen por ceros todas las cifras a la derecha de dicho orden.</a:t>
            </a:r>
          </a:p>
          <a:p>
            <a:r>
              <a:rPr lang="es-ES" sz="2000" b="1" dirty="0"/>
              <a:t>• Si la primera cifra sustituida es mayor o igual que cinco, se suma una unidad a la cifra anterior.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E9ED0A64-985E-D59B-C28D-B5B7E9B49E59}"/>
              </a:ext>
            </a:extLst>
          </p:cNvPr>
          <p:cNvSpPr/>
          <p:nvPr/>
        </p:nvSpPr>
        <p:spPr>
          <a:xfrm>
            <a:off x="481743" y="1162732"/>
            <a:ext cx="11228920" cy="1415772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7EF085AA-4553-7055-9B40-97260AFA523D}"/>
              </a:ext>
            </a:extLst>
          </p:cNvPr>
          <p:cNvSpPr txBox="1"/>
          <p:nvPr/>
        </p:nvSpPr>
        <p:spPr>
          <a:xfrm>
            <a:off x="508915" y="2826051"/>
            <a:ext cx="4861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Aproximaciones del número 293 518:</a:t>
            </a:r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78D85CC9-9866-37F5-4D06-7EB49111314F}"/>
              </a:ext>
            </a:extLst>
          </p:cNvPr>
          <p:cNvSpPr txBox="1"/>
          <p:nvPr/>
        </p:nvSpPr>
        <p:spPr>
          <a:xfrm>
            <a:off x="481745" y="3349990"/>
            <a:ext cx="518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 las centenas de millar</a:t>
            </a:r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74BC74D6-6252-D4A7-C7BE-E1F737622DBC}"/>
              </a:ext>
            </a:extLst>
          </p:cNvPr>
          <p:cNvSpPr txBox="1"/>
          <p:nvPr/>
        </p:nvSpPr>
        <p:spPr>
          <a:xfrm>
            <a:off x="481744" y="4031970"/>
            <a:ext cx="518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 las decenas de millar</a:t>
            </a:r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96347445-ABFE-C485-F79E-6A5C72A5F53C}"/>
              </a:ext>
            </a:extLst>
          </p:cNvPr>
          <p:cNvSpPr txBox="1"/>
          <p:nvPr/>
        </p:nvSpPr>
        <p:spPr>
          <a:xfrm>
            <a:off x="481743" y="4670279"/>
            <a:ext cx="518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 los millares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98A986A-DDE5-50E4-97B3-7A5557648E1A}"/>
              </a:ext>
            </a:extLst>
          </p:cNvPr>
          <p:cNvCxnSpPr/>
          <p:nvPr/>
        </p:nvCxnSpPr>
        <p:spPr>
          <a:xfrm>
            <a:off x="3726180" y="3581400"/>
            <a:ext cx="113538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B4CA5F2-4925-DE81-5051-6660DBA53F59}"/>
              </a:ext>
            </a:extLst>
          </p:cNvPr>
          <p:cNvCxnSpPr/>
          <p:nvPr/>
        </p:nvCxnSpPr>
        <p:spPr>
          <a:xfrm>
            <a:off x="2310765" y="4887911"/>
            <a:ext cx="113538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09B2D02-E5B2-0081-E1B4-BDBB3B15F6A6}"/>
              </a:ext>
            </a:extLst>
          </p:cNvPr>
          <p:cNvCxnSpPr>
            <a:cxnSpLocks/>
          </p:cNvCxnSpPr>
          <p:nvPr/>
        </p:nvCxnSpPr>
        <p:spPr>
          <a:xfrm>
            <a:off x="6096000" y="3581400"/>
            <a:ext cx="60325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CuadroTexto 1">
            <a:extLst>
              <a:ext uri="{FF2B5EF4-FFF2-40B4-BE49-F238E27FC236}">
                <a16:creationId xmlns:a16="http://schemas.microsoft.com/office/drawing/2014/main" id="{C40B3AA1-3479-AEF5-FA4B-12A7462A9072}"/>
              </a:ext>
            </a:extLst>
          </p:cNvPr>
          <p:cNvSpPr txBox="1"/>
          <p:nvPr/>
        </p:nvSpPr>
        <p:spPr>
          <a:xfrm>
            <a:off x="6699250" y="3384313"/>
            <a:ext cx="123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300 000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2F5E665-CC27-B828-9766-5BC138A886FB}"/>
              </a:ext>
            </a:extLst>
          </p:cNvPr>
          <p:cNvGrpSpPr/>
          <p:nvPr/>
        </p:nvGrpSpPr>
        <p:grpSpPr>
          <a:xfrm>
            <a:off x="4861561" y="3051498"/>
            <a:ext cx="1234440" cy="732925"/>
            <a:chOff x="4861561" y="3051498"/>
            <a:chExt cx="1234440" cy="732925"/>
          </a:xfrm>
        </p:grpSpPr>
        <p:sp>
          <p:nvSpPr>
            <p:cNvPr id="23" name="!CuadroTexto 1">
              <a:extLst>
                <a:ext uri="{FF2B5EF4-FFF2-40B4-BE49-F238E27FC236}">
                  <a16:creationId xmlns:a16="http://schemas.microsoft.com/office/drawing/2014/main" id="{C53F3563-C5E5-2388-3B9B-AC343E531CC8}"/>
                </a:ext>
              </a:extLst>
            </p:cNvPr>
            <p:cNvSpPr txBox="1"/>
            <p:nvPr/>
          </p:nvSpPr>
          <p:spPr>
            <a:xfrm>
              <a:off x="4861561" y="3384313"/>
              <a:ext cx="123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>
                  <a:latin typeface="Century Gothic" panose="020B0502020202020204" pitchFamily="34" charset="0"/>
                </a:rPr>
                <a:t>2 93 518</a:t>
              </a:r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96C816BB-3386-E2EA-6242-99717A8AA8EF}"/>
                </a:ext>
              </a:extLst>
            </p:cNvPr>
            <p:cNvCxnSpPr/>
            <p:nvPr/>
          </p:nvCxnSpPr>
          <p:spPr>
            <a:xfrm>
              <a:off x="5133976" y="3384313"/>
              <a:ext cx="0" cy="40011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256C4C58-460A-D197-5E96-46EF8186FCE5}"/>
                </a:ext>
              </a:extLst>
            </p:cNvPr>
            <p:cNvCxnSpPr/>
            <p:nvPr/>
          </p:nvCxnSpPr>
          <p:spPr>
            <a:xfrm>
              <a:off x="5124452" y="3721525"/>
              <a:ext cx="9096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Arco 30">
              <a:extLst>
                <a:ext uri="{FF2B5EF4-FFF2-40B4-BE49-F238E27FC236}">
                  <a16:creationId xmlns:a16="http://schemas.microsoft.com/office/drawing/2014/main" id="{8AE72A91-11D3-3F2E-B4A9-4D145E520372}"/>
                </a:ext>
              </a:extLst>
            </p:cNvPr>
            <p:cNvSpPr/>
            <p:nvPr/>
          </p:nvSpPr>
          <p:spPr>
            <a:xfrm>
              <a:off x="5006975" y="3303824"/>
              <a:ext cx="257175" cy="319304"/>
            </a:xfrm>
            <a:prstGeom prst="arc">
              <a:avLst>
                <a:gd name="adj1" fmla="val 11399103"/>
                <a:gd name="adj2" fmla="val 20429038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CD197187-182C-E9C1-61E9-3CAF00F33CD3}"/>
                </a:ext>
              </a:extLst>
            </p:cNvPr>
            <p:cNvSpPr txBox="1"/>
            <p:nvPr/>
          </p:nvSpPr>
          <p:spPr>
            <a:xfrm>
              <a:off x="5020860" y="3051498"/>
              <a:ext cx="54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+1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4F94470-DAEF-C64A-9761-80EA90E9DEEB}"/>
              </a:ext>
            </a:extLst>
          </p:cNvPr>
          <p:cNvGrpSpPr/>
          <p:nvPr/>
        </p:nvGrpSpPr>
        <p:grpSpPr>
          <a:xfrm>
            <a:off x="4772661" y="4058374"/>
            <a:ext cx="1234440" cy="400110"/>
            <a:chOff x="4772661" y="4058374"/>
            <a:chExt cx="1234440" cy="400110"/>
          </a:xfrm>
        </p:grpSpPr>
        <p:sp>
          <p:nvSpPr>
            <p:cNvPr id="33" name="!CuadroTexto 1">
              <a:extLst>
                <a:ext uri="{FF2B5EF4-FFF2-40B4-BE49-F238E27FC236}">
                  <a16:creationId xmlns:a16="http://schemas.microsoft.com/office/drawing/2014/main" id="{4962CDB6-47CB-958E-81E2-71A5C0AFD160}"/>
                </a:ext>
              </a:extLst>
            </p:cNvPr>
            <p:cNvSpPr txBox="1"/>
            <p:nvPr/>
          </p:nvSpPr>
          <p:spPr>
            <a:xfrm>
              <a:off x="4772661" y="4058374"/>
              <a:ext cx="123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>
                  <a:latin typeface="Century Gothic" panose="020B0502020202020204" pitchFamily="34" charset="0"/>
                </a:rPr>
                <a:t>29 3 518</a:t>
              </a: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547DD49C-9861-96A7-49BB-7FD6251CCAB8}"/>
                </a:ext>
              </a:extLst>
            </p:cNvPr>
            <p:cNvCxnSpPr/>
            <p:nvPr/>
          </p:nvCxnSpPr>
          <p:spPr>
            <a:xfrm>
              <a:off x="5184776" y="4058374"/>
              <a:ext cx="0" cy="40011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05E09218-3A0E-12C3-3FDA-9504C9E56ECD}"/>
                </a:ext>
              </a:extLst>
            </p:cNvPr>
            <p:cNvCxnSpPr>
              <a:cxnSpLocks/>
            </p:cNvCxnSpPr>
            <p:nvPr/>
          </p:nvCxnSpPr>
          <p:spPr>
            <a:xfrm>
              <a:off x="5175250" y="4395586"/>
              <a:ext cx="7794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F93374C6-88CC-61D8-7220-2E0087DA1DCB}"/>
              </a:ext>
            </a:extLst>
          </p:cNvPr>
          <p:cNvCxnSpPr>
            <a:cxnSpLocks/>
          </p:cNvCxnSpPr>
          <p:nvPr/>
        </p:nvCxnSpPr>
        <p:spPr>
          <a:xfrm>
            <a:off x="6007100" y="4255461"/>
            <a:ext cx="60325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!CuadroTexto 1">
            <a:extLst>
              <a:ext uri="{FF2B5EF4-FFF2-40B4-BE49-F238E27FC236}">
                <a16:creationId xmlns:a16="http://schemas.microsoft.com/office/drawing/2014/main" id="{05CEA32C-EF1C-4B63-931A-9C4958BEC9B6}"/>
              </a:ext>
            </a:extLst>
          </p:cNvPr>
          <p:cNvSpPr txBox="1"/>
          <p:nvPr/>
        </p:nvSpPr>
        <p:spPr>
          <a:xfrm>
            <a:off x="6610350" y="4058374"/>
            <a:ext cx="123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290 000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00F1643E-8DF1-ACCD-FFE6-B5585EA1B21B}"/>
              </a:ext>
            </a:extLst>
          </p:cNvPr>
          <p:cNvCxnSpPr>
            <a:cxnSpLocks/>
          </p:cNvCxnSpPr>
          <p:nvPr/>
        </p:nvCxnSpPr>
        <p:spPr>
          <a:xfrm>
            <a:off x="4754879" y="4867366"/>
            <a:ext cx="60325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!CuadroTexto 1">
            <a:extLst>
              <a:ext uri="{FF2B5EF4-FFF2-40B4-BE49-F238E27FC236}">
                <a16:creationId xmlns:a16="http://schemas.microsoft.com/office/drawing/2014/main" id="{06019503-BD3E-B32C-4684-67D536E2B961}"/>
              </a:ext>
            </a:extLst>
          </p:cNvPr>
          <p:cNvSpPr txBox="1"/>
          <p:nvPr/>
        </p:nvSpPr>
        <p:spPr>
          <a:xfrm>
            <a:off x="5358129" y="4670279"/>
            <a:ext cx="1234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294 000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D658FF7-99C2-6FE2-4251-170805704FF9}"/>
              </a:ext>
            </a:extLst>
          </p:cNvPr>
          <p:cNvCxnSpPr/>
          <p:nvPr/>
        </p:nvCxnSpPr>
        <p:spPr>
          <a:xfrm>
            <a:off x="3619500" y="4255221"/>
            <a:ext cx="1135380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1FDC1E16-8695-3F01-711A-CE1EAF1259E3}"/>
              </a:ext>
            </a:extLst>
          </p:cNvPr>
          <p:cNvGrpSpPr/>
          <p:nvPr/>
        </p:nvGrpSpPr>
        <p:grpSpPr>
          <a:xfrm>
            <a:off x="3520440" y="4320284"/>
            <a:ext cx="1234440" cy="752486"/>
            <a:chOff x="3520440" y="4320284"/>
            <a:chExt cx="1234440" cy="752486"/>
          </a:xfrm>
        </p:grpSpPr>
        <p:sp>
          <p:nvSpPr>
            <p:cNvPr id="47" name="!CuadroTexto 1">
              <a:extLst>
                <a:ext uri="{FF2B5EF4-FFF2-40B4-BE49-F238E27FC236}">
                  <a16:creationId xmlns:a16="http://schemas.microsoft.com/office/drawing/2014/main" id="{717D3ED8-1312-5FDF-19EF-4935CF2BEE82}"/>
                </a:ext>
              </a:extLst>
            </p:cNvPr>
            <p:cNvSpPr txBox="1"/>
            <p:nvPr/>
          </p:nvSpPr>
          <p:spPr>
            <a:xfrm>
              <a:off x="3520440" y="4670279"/>
              <a:ext cx="1234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>
                  <a:latin typeface="Century Gothic" panose="020B0502020202020204" pitchFamily="34" charset="0"/>
                </a:rPr>
                <a:t>293 518</a:t>
              </a:r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A424E29A-F870-B180-DFB6-C9033480E814}"/>
                </a:ext>
              </a:extLst>
            </p:cNvPr>
            <p:cNvCxnSpPr/>
            <p:nvPr/>
          </p:nvCxnSpPr>
          <p:spPr>
            <a:xfrm>
              <a:off x="4068286" y="4672660"/>
              <a:ext cx="0" cy="40011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354936EB-FA04-9742-92FE-E46C0838A7A4}"/>
                </a:ext>
              </a:extLst>
            </p:cNvPr>
            <p:cNvCxnSpPr>
              <a:cxnSpLocks/>
            </p:cNvCxnSpPr>
            <p:nvPr/>
          </p:nvCxnSpPr>
          <p:spPr>
            <a:xfrm>
              <a:off x="4075431" y="5007491"/>
              <a:ext cx="5203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1640D515-8915-C632-75C3-8CA95EDCCA31}"/>
                </a:ext>
              </a:extLst>
            </p:cNvPr>
            <p:cNvSpPr txBox="1"/>
            <p:nvPr/>
          </p:nvSpPr>
          <p:spPr>
            <a:xfrm>
              <a:off x="3896955" y="4320284"/>
              <a:ext cx="544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+1</a:t>
              </a:r>
            </a:p>
          </p:txBody>
        </p:sp>
        <p:sp>
          <p:nvSpPr>
            <p:cNvPr id="76" name="Arco 75">
              <a:extLst>
                <a:ext uri="{FF2B5EF4-FFF2-40B4-BE49-F238E27FC236}">
                  <a16:creationId xmlns:a16="http://schemas.microsoft.com/office/drawing/2014/main" id="{3DD51378-F010-2D9F-79C5-5022D092FF31}"/>
                </a:ext>
              </a:extLst>
            </p:cNvPr>
            <p:cNvSpPr/>
            <p:nvPr/>
          </p:nvSpPr>
          <p:spPr>
            <a:xfrm>
              <a:off x="3946843" y="4606444"/>
              <a:ext cx="257175" cy="319304"/>
            </a:xfrm>
            <a:prstGeom prst="arc">
              <a:avLst>
                <a:gd name="adj1" fmla="val 11399103"/>
                <a:gd name="adj2" fmla="val 20429038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5822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340C8EF-A866-4E85-846D-7E850D6AED86"/>
  <p:tag name="ISPRING_CMI5_LAUNCH_METHOD" val="any window"/>
  <p:tag name="ISPRING_SCORM_REPORT_STATUS" val="0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\/\uFFFD\uFFFD{21D528DD-60A0-4F5B-BB24-A0E5BDBD4B43}&quot;,&quot;C:\\Users\\34717\\Desktop\\Apuntes\\1 ESO\\TEMA 1-Numeros naturales\\Horizontal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,&quot;invertReadingOrder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-CONVERTER_ISPRING_GRADING_SETTINGS_V2" val="{&quot;alternatives&quot;:[{&quot;slides&quot;:{&quot;slides_to_view&quot;:{&quot;percent&quot;:100},&quot;group_id&quot;:&quot;all slides&quot;},&quot;pass_materials&quot;:{&quot;slide_uids&quot;:[]},&quot;name&quot;:&quot;&quot;}]}"/>
  <p:tag name="ISPRING-CONVERTER_ISPRING_CURRENT_GRADING_VERSION" val="v2"/>
  <p:tag name="ISPRING_PRESENTATION_TITLE" val="1. Introduccion a los números naturales"/>
  <p:tag name="ISPRING_FIRST_PUBLISH" val="1"/>
  <p:tag name="ISPRING_UUID" val="{B4816ECE-2B25-4EA4-B10A-F15B33E6E319}"/>
  <p:tag name="ISPRING_RESOURCE_FOLDER" val="C:\Users\34717\Desktop\Apuntes\1 ESO\TEMA 1-Numeros naturales\Horizontal\1. Introduccion a los números naturales\"/>
  <p:tag name="ISPRING_PRESENTATION_PATH" val="C:\Users\34717\Desktop\Apuntes\1 ESO\TEMA 1-Numeros naturales\Horizontal\1. Introduccion a los números naturales.pptx"/>
  <p:tag name="ISPRING_PROJECT_VERSION" val="9.3"/>
  <p:tag name="ISPRING_PROJECT_FOLDER_UPDA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FC2841F-5DDF-482C-9E2F-D9D0D3C7DD93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3F428A-0971-4B32-9624-160B7B2CCAB8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013CA7A-9E0E-4080-8CF9-F3887A0797D7}:26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3CF6BD8-A5D7-4C00-AC59-CB16024DFB74}:26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61832FB-DC40-4B84-B814-4ADDFDA8FDFA}:26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96D9A75-5604-45EB-BC06-8AD811812A11}:26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328</Words>
  <Application>Microsoft Office PowerPoint</Application>
  <PresentationFormat>Panorámica</PresentationFormat>
  <Paragraphs>86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Introduccion a los números naturales</dc:title>
  <dc:creator>Illán Linos Souto</dc:creator>
  <cp:lastModifiedBy>Illán Linos</cp:lastModifiedBy>
  <cp:revision>20</cp:revision>
  <dcterms:created xsi:type="dcterms:W3CDTF">2024-08-18T18:48:07Z</dcterms:created>
  <dcterms:modified xsi:type="dcterms:W3CDTF">2025-11-15T10:54:43Z</dcterms:modified>
</cp:coreProperties>
</file>