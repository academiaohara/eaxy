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4E008-4FBE-411B-8A8C-9B0A96113F79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15123-729D-4BE3-BE11-BE4626FD9D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011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615123-729D-4BE3-BE11-BE4626FD9D5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4191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>
                <a:latin typeface="SF Fedora" panose="00000400000000000000" pitchFamily="2" charset="0"/>
                <a:cs typeface="SF Fedora" panose="00000400000000000000" pitchFamily="2" charset="0"/>
              </a:rPr>
              <a:t>Progresiones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progresión geométrica </a:t>
            </a:r>
            <a:r>
              <a:rPr lang="es-ES" sz="2000" b="1" dirty="0"/>
              <a:t>es una sucesión en la que se pasa de cada término</a:t>
            </a:r>
          </a:p>
          <a:p>
            <a:r>
              <a:rPr lang="es-ES" sz="2000" b="1" dirty="0"/>
              <a:t>al siguiente multiplicando por un número fijo, </a:t>
            </a:r>
            <a:r>
              <a:rPr lang="es-ES" sz="2000" b="1" i="1" dirty="0"/>
              <a:t>r</a:t>
            </a:r>
            <a:r>
              <a:rPr lang="es-ES" sz="2000" b="1" dirty="0"/>
              <a:t>, llamado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razón</a:t>
            </a:r>
            <a:r>
              <a:rPr lang="es-ES" sz="2000" b="1" dirty="0"/>
              <a:t>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93693203-0A9F-3409-8621-001F45B562E3}"/>
              </a:ext>
            </a:extLst>
          </p:cNvPr>
          <p:cNvSpPr/>
          <p:nvPr/>
        </p:nvSpPr>
        <p:spPr>
          <a:xfrm>
            <a:off x="535084" y="186545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CuadroTexto 1">
            <a:extLst>
              <a:ext uri="{FF2B5EF4-FFF2-40B4-BE49-F238E27FC236}">
                <a16:creationId xmlns:a16="http://schemas.microsoft.com/office/drawing/2014/main" id="{8A69E5C4-3BB2-AF8D-1A64-FF035AA551A6}"/>
              </a:ext>
            </a:extLst>
          </p:cNvPr>
          <p:cNvSpPr txBox="1"/>
          <p:nvPr/>
        </p:nvSpPr>
        <p:spPr>
          <a:xfrm>
            <a:off x="535084" y="187274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término general </a:t>
            </a:r>
            <a:r>
              <a:rPr lang="es-ES" sz="2000" b="1" i="1" dirty="0"/>
              <a:t>a</a:t>
            </a:r>
            <a:r>
              <a:rPr lang="es-ES" sz="2000" b="1" i="1" baseline="-25000" dirty="0"/>
              <a:t>n</a:t>
            </a:r>
            <a:r>
              <a:rPr lang="es-ES" sz="2000" b="1" i="1" dirty="0"/>
              <a:t> </a:t>
            </a:r>
            <a:r>
              <a:rPr lang="es-ES" sz="2000" b="1" dirty="0"/>
              <a:t>de una progresión geométrica cuyo primer término es </a:t>
            </a:r>
            <a:r>
              <a:rPr lang="es-ES" sz="2000" b="1" i="1" dirty="0"/>
              <a:t>a</a:t>
            </a:r>
            <a:r>
              <a:rPr lang="es-ES" sz="2000" b="1" baseline="-25000" dirty="0"/>
              <a:t>1</a:t>
            </a:r>
            <a:r>
              <a:rPr lang="es-ES" sz="2000" b="1" dirty="0"/>
              <a:t> y cuya razón es </a:t>
            </a:r>
            <a:r>
              <a:rPr lang="es-ES" sz="2000" b="1" i="1" dirty="0"/>
              <a:t>r </a:t>
            </a:r>
            <a:r>
              <a:rPr lang="es-ES" sz="2000" b="1" dirty="0"/>
              <a:t>se obtiene razonando del siguiente modo:</a:t>
            </a:r>
            <a:endParaRPr lang="es-ES" sz="4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C3732B5-28D2-4DB8-3D2F-FCA5B97ED609}"/>
              </a:ext>
            </a:extLst>
          </p:cNvPr>
          <p:cNvSpPr txBox="1"/>
          <p:nvPr/>
        </p:nvSpPr>
        <p:spPr>
          <a:xfrm>
            <a:off x="535082" y="2681937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Para pasar de </a:t>
            </a:r>
            <a:r>
              <a:rPr lang="es-ES" sz="2000" i="1" dirty="0"/>
              <a:t>a</a:t>
            </a:r>
            <a:r>
              <a:rPr lang="es-ES" sz="2000" dirty="0"/>
              <a:t>1 a </a:t>
            </a:r>
            <a:r>
              <a:rPr lang="es-ES" sz="2000" i="1" dirty="0"/>
              <a:t>an </a:t>
            </a:r>
            <a:r>
              <a:rPr lang="es-ES" sz="2000" dirty="0"/>
              <a:t>hemos de dar </a:t>
            </a:r>
            <a:r>
              <a:rPr lang="es-ES" sz="2000" i="1" dirty="0"/>
              <a:t>n </a:t>
            </a:r>
            <a:r>
              <a:rPr lang="es-ES" sz="2000" dirty="0"/>
              <a:t>– 1 pasos. Cada paso consiste en multiplicar por </a:t>
            </a:r>
            <a:r>
              <a:rPr lang="es-ES" sz="2000" i="1" dirty="0"/>
              <a:t>r</a:t>
            </a:r>
            <a:r>
              <a:rPr lang="es-ES" sz="2000" dirty="0"/>
              <a:t>. Por tanto:</a:t>
            </a: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2779366-1276-650F-F880-BBFF5B3A9872}"/>
                  </a:ext>
                </a:extLst>
              </p:cNvPr>
              <p:cNvSpPr txBox="1"/>
              <p:nvPr/>
            </p:nvSpPr>
            <p:spPr>
              <a:xfrm>
                <a:off x="6579919" y="4997266"/>
                <a:ext cx="1548950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s-E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2779366-1276-650F-F880-BBFF5B3A9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9919" y="4997266"/>
                <a:ext cx="1548950" cy="314766"/>
              </a:xfrm>
              <a:prstGeom prst="rect">
                <a:avLst/>
              </a:prstGeom>
              <a:blipFill>
                <a:blip r:embed="rId6"/>
                <a:stretch>
                  <a:fillRect l="-1575" r="-1181" b="-1568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3FDBBC5D-4EDB-FF46-410A-53C7057B384F}"/>
              </a:ext>
            </a:extLst>
          </p:cNvPr>
          <p:cNvSpPr txBox="1"/>
          <p:nvPr/>
        </p:nvSpPr>
        <p:spPr>
          <a:xfrm>
            <a:off x="4125884" y="4816428"/>
            <a:ext cx="12477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a</a:t>
            </a:r>
            <a:r>
              <a:rPr lang="es-ES" sz="2000" baseline="-25000" dirty="0"/>
              <a:t>1</a:t>
            </a:r>
            <a:r>
              <a:rPr lang="es-ES" sz="2000" dirty="0"/>
              <a:t> = 5</a:t>
            </a:r>
          </a:p>
          <a:p>
            <a:r>
              <a:rPr lang="es-ES" sz="2000" dirty="0"/>
              <a:t>r = 3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3B0432D-5AC6-DD49-4A46-F545B41B0560}"/>
              </a:ext>
            </a:extLst>
          </p:cNvPr>
          <p:cNvCxnSpPr/>
          <p:nvPr/>
        </p:nvCxnSpPr>
        <p:spPr>
          <a:xfrm>
            <a:off x="5116465" y="5170371"/>
            <a:ext cx="1295714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5E44EFC-1031-E2FF-EA53-C578CDE6232A}"/>
                  </a:ext>
                </a:extLst>
              </p:cNvPr>
              <p:cNvSpPr txBox="1"/>
              <p:nvPr/>
            </p:nvSpPr>
            <p:spPr>
              <a:xfrm>
                <a:off x="5265705" y="3418270"/>
                <a:ext cx="1660583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b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𝐧</m:t>
                          </m:r>
                        </m:sub>
                      </m:sSub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s-E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B5E44EFC-1031-E2FF-EA53-C578CDE62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705" y="3418270"/>
                <a:ext cx="1660583" cy="314766"/>
              </a:xfrm>
              <a:prstGeom prst="rect">
                <a:avLst/>
              </a:prstGeom>
              <a:blipFill>
                <a:blip r:embed="rId7"/>
                <a:stretch>
                  <a:fillRect l="-1471" r="-1103" b="-2156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uadroTexto 10">
            <a:extLst>
              <a:ext uri="{FF2B5EF4-FFF2-40B4-BE49-F238E27FC236}">
                <a16:creationId xmlns:a16="http://schemas.microsoft.com/office/drawing/2014/main" id="{3C3D7669-AE42-5D9F-FF30-1674296F4937}"/>
              </a:ext>
            </a:extLst>
          </p:cNvPr>
          <p:cNvSpPr txBox="1"/>
          <p:nvPr/>
        </p:nvSpPr>
        <p:spPr>
          <a:xfrm>
            <a:off x="535080" y="3862892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a)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dirty="0"/>
              <a:t>5, 15, 45, 135, … ¿Cuál es el término general de la sucesión a? ¿Qué valor </a:t>
            </a:r>
          </a:p>
          <a:p>
            <a:r>
              <a:rPr lang="es-ES" sz="2000" dirty="0"/>
              <a:t>tomará el término 100 de la sucesión?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58D770A-BD04-2213-B4DC-10032A7CE102}"/>
                  </a:ext>
                </a:extLst>
              </p:cNvPr>
              <p:cNvSpPr txBox="1"/>
              <p:nvPr/>
            </p:nvSpPr>
            <p:spPr>
              <a:xfrm>
                <a:off x="3875259" y="5831784"/>
                <a:ext cx="44414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s-E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s-E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=5∙</m:t>
                      </m:r>
                      <m:sSup>
                        <m:sSupPr>
                          <m:ctrlP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=98415</m:t>
                      </m:r>
                    </m:oMath>
                  </m:oMathPara>
                </a14:m>
                <a:endParaRPr lang="es-ES" sz="24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158D770A-BD04-2213-B4DC-10032A7CE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259" y="5831784"/>
                <a:ext cx="4441472" cy="369332"/>
              </a:xfrm>
              <a:prstGeom prst="rect">
                <a:avLst/>
              </a:prstGeom>
              <a:blipFill>
                <a:blip r:embed="rId8"/>
                <a:stretch>
                  <a:fillRect r="-549" b="-1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1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8" grpId="0"/>
      <p:bldP spid="9" grpId="0"/>
      <p:bldP spid="14" grpId="0"/>
      <p:bldP spid="10" grpId="0"/>
      <p:bldP spid="11" grpId="0" uiExpand="1" build="p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0A51282-587E-45DC-8C58-51D4D0E4E499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3. Progres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Progresiones geométric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9F2D7AF-6EA2-4350-9E55-B6351443220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144</Words>
  <Application>Microsoft Office PowerPoint</Application>
  <PresentationFormat>Panorámica</PresentationFormat>
  <Paragraphs>13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Progresiones geométricas</dc:title>
  <dc:creator>Illán Linos Souto</dc:creator>
  <cp:lastModifiedBy>Illán Linos</cp:lastModifiedBy>
  <cp:revision>76</cp:revision>
  <dcterms:created xsi:type="dcterms:W3CDTF">2024-08-18T18:48:07Z</dcterms:created>
  <dcterms:modified xsi:type="dcterms:W3CDTF">2025-11-20T16:20:11Z</dcterms:modified>
</cp:coreProperties>
</file>