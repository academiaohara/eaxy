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3E8C0-DB53-46D2-9FE0-33FA08B620A5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B8BC7-47C5-4214-9853-AEC8F32D2F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3147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B8BC7-47C5-4214-9853-AEC8F32D2F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802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Progresiones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10655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progresión aritmética </a:t>
            </a:r>
            <a:r>
              <a:rPr lang="es-ES" sz="2000" b="1" dirty="0"/>
              <a:t>es una sucesión en la que se pasa de cada término al siguiente sumando un mismo número (positivo o negativo), al que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diferencia, </a:t>
            </a:r>
            <a:r>
              <a:rPr lang="es-ES" sz="2000" b="1" i="1" dirty="0"/>
              <a:t>d</a:t>
            </a:r>
            <a:r>
              <a:rPr lang="es-ES" sz="2000" b="1" dirty="0"/>
              <a:t>, de la progresión.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93693203-0A9F-3409-8621-001F45B562E3}"/>
              </a:ext>
            </a:extLst>
          </p:cNvPr>
          <p:cNvSpPr/>
          <p:nvPr/>
        </p:nvSpPr>
        <p:spPr>
          <a:xfrm>
            <a:off x="535084" y="2258646"/>
            <a:ext cx="11121832" cy="10655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8A69E5C4-3BB2-AF8D-1A64-FF035AA551A6}"/>
              </a:ext>
            </a:extLst>
          </p:cNvPr>
          <p:cNvSpPr txBox="1"/>
          <p:nvPr/>
        </p:nvSpPr>
        <p:spPr>
          <a:xfrm>
            <a:off x="535084" y="2265933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término general </a:t>
            </a:r>
            <a:r>
              <a:rPr lang="es-ES" sz="2000" b="1" i="1" dirty="0"/>
              <a:t>a</a:t>
            </a:r>
            <a:r>
              <a:rPr lang="es-ES" sz="2000" b="1" i="1" baseline="-25000" dirty="0"/>
              <a:t>n</a:t>
            </a:r>
            <a:r>
              <a:rPr lang="es-ES" sz="2000" b="1" i="1" dirty="0"/>
              <a:t> </a:t>
            </a:r>
            <a:r>
              <a:rPr lang="es-ES" sz="2000" b="1" dirty="0"/>
              <a:t>de una progresión aritmética cuyo primer término es </a:t>
            </a:r>
            <a:r>
              <a:rPr lang="es-ES" sz="2000" b="1" i="1" dirty="0"/>
              <a:t>a</a:t>
            </a:r>
            <a:r>
              <a:rPr lang="es-ES" sz="2000" b="1" baseline="-25000" dirty="0"/>
              <a:t>1</a:t>
            </a:r>
            <a:r>
              <a:rPr lang="es-ES" sz="2000" b="1" dirty="0"/>
              <a:t> y cuya diferencia es </a:t>
            </a:r>
            <a:r>
              <a:rPr lang="es-ES" sz="2000" b="1" i="1" dirty="0"/>
              <a:t>d </a:t>
            </a:r>
            <a:r>
              <a:rPr lang="es-ES" sz="2000" b="1" dirty="0"/>
              <a:t>se obtiene razonando así:</a:t>
            </a:r>
          </a:p>
          <a:p>
            <a:r>
              <a:rPr lang="es-ES" sz="2000" b="1" dirty="0"/>
              <a:t>Para pasar de </a:t>
            </a:r>
            <a:r>
              <a:rPr lang="es-ES" sz="2000" b="1" i="1" dirty="0"/>
              <a:t>a</a:t>
            </a:r>
            <a:r>
              <a:rPr lang="es-ES" sz="2000" b="1" baseline="-25000" dirty="0"/>
              <a:t>1</a:t>
            </a:r>
            <a:r>
              <a:rPr lang="es-ES" sz="2000" b="1" dirty="0"/>
              <a:t> a </a:t>
            </a:r>
            <a:r>
              <a:rPr lang="es-ES" sz="2000" b="1" i="1" dirty="0"/>
              <a:t>a</a:t>
            </a:r>
            <a:r>
              <a:rPr lang="es-ES" sz="2000" b="1" i="1" baseline="-25000" dirty="0"/>
              <a:t>n</a:t>
            </a:r>
            <a:r>
              <a:rPr lang="es-ES" sz="2000" b="1" i="1" dirty="0"/>
              <a:t> </a:t>
            </a:r>
            <a:r>
              <a:rPr lang="es-ES" sz="2000" b="1" dirty="0"/>
              <a:t>damos </a:t>
            </a:r>
            <a:r>
              <a:rPr lang="es-ES" sz="2000" b="1" i="1" dirty="0"/>
              <a:t>n </a:t>
            </a:r>
            <a:r>
              <a:rPr lang="es-ES" sz="2000" b="1" dirty="0"/>
              <a:t>– 1 pasos de amplitud </a:t>
            </a:r>
            <a:r>
              <a:rPr lang="es-ES" sz="2000" b="1" i="1" dirty="0"/>
              <a:t>d</a:t>
            </a:r>
            <a:r>
              <a:rPr lang="es-ES" sz="2000" b="1" dirty="0"/>
              <a:t>. Por tanto: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00EC887-6A7E-7C35-215F-6E3F017D5FC6}"/>
                  </a:ext>
                </a:extLst>
              </p:cNvPr>
              <p:cNvSpPr txBox="1"/>
              <p:nvPr/>
            </p:nvSpPr>
            <p:spPr>
              <a:xfrm>
                <a:off x="4858064" y="3468321"/>
                <a:ext cx="24758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00EC887-6A7E-7C35-215F-6E3F017D5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064" y="3468321"/>
                <a:ext cx="2475871" cy="307777"/>
              </a:xfrm>
              <a:prstGeom prst="rect">
                <a:avLst/>
              </a:prstGeom>
              <a:blipFill>
                <a:blip r:embed="rId6"/>
                <a:stretch>
                  <a:fillRect r="-739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C3732B5-28D2-4DB8-3D2F-FCA5B97ED609}"/>
              </a:ext>
            </a:extLst>
          </p:cNvPr>
          <p:cNvSpPr txBox="1"/>
          <p:nvPr/>
        </p:nvSpPr>
        <p:spPr>
          <a:xfrm>
            <a:off x="535083" y="3941480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a)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dirty="0"/>
              <a:t>1, 6, 11, 16, … ¿Cuál es el término general de la sucesión a? ¿Qué valor </a:t>
            </a:r>
          </a:p>
          <a:p>
            <a:r>
              <a:rPr lang="es-ES" sz="2000" dirty="0"/>
              <a:t>tomará el término 100 de la sucesión?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2779366-1276-650F-F880-BBFF5B3A9872}"/>
                  </a:ext>
                </a:extLst>
              </p:cNvPr>
              <p:cNvSpPr txBox="1"/>
              <p:nvPr/>
            </p:nvSpPr>
            <p:spPr>
              <a:xfrm>
                <a:off x="6179869" y="4997266"/>
                <a:ext cx="23081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2779366-1276-650F-F880-BBFF5B3A9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869" y="4997266"/>
                <a:ext cx="2308131" cy="307777"/>
              </a:xfrm>
              <a:prstGeom prst="rect">
                <a:avLst/>
              </a:prstGeom>
              <a:blipFill>
                <a:blip r:embed="rId7"/>
                <a:stretch>
                  <a:fillRect l="-794" r="-2116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9E91423-9C98-385E-EE97-9A49EF233F2A}"/>
                  </a:ext>
                </a:extLst>
              </p:cNvPr>
              <p:cNvSpPr txBox="1"/>
              <p:nvPr/>
            </p:nvSpPr>
            <p:spPr>
              <a:xfrm>
                <a:off x="4282552" y="5873528"/>
                <a:ext cx="36268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𝟒𝟗𝟔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9E91423-9C98-385E-EE97-9A49EF23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552" y="5873528"/>
                <a:ext cx="3626890" cy="307777"/>
              </a:xfrm>
              <a:prstGeom prst="rect">
                <a:avLst/>
              </a:prstGeom>
              <a:blipFill>
                <a:blip r:embed="rId8"/>
                <a:stretch>
                  <a:fillRect l="-337" r="-1010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3FDBBC5D-4EDB-FF46-410A-53C7057B384F}"/>
              </a:ext>
            </a:extLst>
          </p:cNvPr>
          <p:cNvSpPr txBox="1"/>
          <p:nvPr/>
        </p:nvSpPr>
        <p:spPr>
          <a:xfrm>
            <a:off x="3725834" y="4816428"/>
            <a:ext cx="1247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a</a:t>
            </a:r>
            <a:r>
              <a:rPr lang="es-ES" sz="2000" baseline="-25000" dirty="0"/>
              <a:t>1</a:t>
            </a:r>
            <a:r>
              <a:rPr lang="es-ES" sz="2000" dirty="0"/>
              <a:t> = 1</a:t>
            </a:r>
          </a:p>
          <a:p>
            <a:r>
              <a:rPr lang="es-ES" sz="2000" dirty="0"/>
              <a:t>d = 5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3B0432D-5AC6-DD49-4A46-F545B41B0560}"/>
              </a:ext>
            </a:extLst>
          </p:cNvPr>
          <p:cNvCxnSpPr/>
          <p:nvPr/>
        </p:nvCxnSpPr>
        <p:spPr>
          <a:xfrm>
            <a:off x="4716415" y="5170371"/>
            <a:ext cx="1295714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75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7" grpId="0"/>
      <p:bldP spid="8" grpId="0" uiExpand="1" build="p"/>
      <p:bldP spid="9" grpId="0"/>
      <p:bldP spid="12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E2C9E34-2CD9-4D22-A9ED-21F54EB40AE4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3. Progres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Progresiones aritmétic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DF8E6A-CE76-4A74-A447-7AB04385AB94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153</Words>
  <Application>Microsoft Office PowerPoint</Application>
  <PresentationFormat>Panorámica</PresentationFormat>
  <Paragraphs>12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Progresiones aritméticas</dc:title>
  <dc:creator>Illán Linos Souto</dc:creator>
  <cp:lastModifiedBy>Illán Linos</cp:lastModifiedBy>
  <cp:revision>77</cp:revision>
  <dcterms:created xsi:type="dcterms:W3CDTF">2024-08-18T18:48:07Z</dcterms:created>
  <dcterms:modified xsi:type="dcterms:W3CDTF">2025-11-20T16:20:28Z</dcterms:modified>
</cp:coreProperties>
</file>